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21205-22AD-EE5E-8A7E-16916DEFA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4A8A80-20D2-5B08-2AEB-875A75842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B04D0-B396-5232-7181-00A1C63A8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08/25/2026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D4A98-D596-E043-899E-1F3887945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CAF28-BADF-DDB1-6B61-7FC45D791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40345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3A9D4-89CB-781C-551A-F82A0F427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E12AC-A913-CA9F-2B1D-B9143F30B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1223-357D-F025-0E4A-8BD4AC4F2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08/25/2026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166D4-CED3-B6CD-64C7-D9BEAA194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C728A-44CB-746A-E9A8-4FB40B86F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7915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3872B-F268-1C99-E449-A68C15B61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B7174-CB4D-73B9-9C44-C1557BEE0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D4C1E-8B48-5AB1-CEB8-98EAAE7DE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08/25/2026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EDA56-96AD-A440-DA3C-3D3811BC1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04AD5-A67E-1098-C002-ECE183D5F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67436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55F76-6259-784D-9F78-46288984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C11C-4706-19D5-1094-D7D8B06EE6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9177C-9CCB-6A71-A1D1-EF587F882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26307-98CD-9311-BAF3-B3DE30D51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08/25/2026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718668-E2EB-F393-9CD6-20C4BDB12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5522BB-8CC2-8049-5FA6-3F44E455F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2010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41E28-0248-6668-91AC-D3797EA5D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3D184-3D37-B65E-8F3B-7FC1DDC93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7E2128-6CEB-9FC4-7785-610A1EF26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0FE8E-3C69-9A56-F2F3-6F72FDBF46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813E6F-D4B4-A7C9-96B0-2AFEBA8A06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FB8737-34AF-2398-C789-305EDB34F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08/25/2026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034679-9A04-7A01-6FAA-5EACFAF9B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CAFE4-7163-6DBD-F0D4-9E6507307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82927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81495-0B87-25E9-00A6-BD511D1B1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4F69ED-1CCE-F6E6-8AE4-9BEAFAD5C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08/25/2026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EA7045-C45B-AF78-C6DA-9CE535359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60168-61FA-B014-0B80-0EBA6585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22059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900136-6833-1639-ED72-2CE672186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08/25/2026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835579-EDE9-7900-E9DD-88AD869FB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2A838-7903-01B1-D965-E05F7A68D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49371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5EC5F-0A93-E012-9632-5C96116F5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82371-BB62-9F70-E1E1-FF57A6E4F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D7607A-4F03-DDB9-11B5-7ED1BB6E3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2FD46-7A7A-5C6F-0E48-1C82CFA24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08/25/2026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32A2C-542D-7037-D0D4-67F816C8C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A5CB3-97B8-D2F4-17A6-A08839E97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14050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EF6F8-BBE4-B474-0CFB-4CDD0AE69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584C7D-F16A-4395-B41B-73C96FDFCF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B61C0-6D15-6D99-0916-9DE6A02F8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646F7-A3AE-53B5-CC3C-FB2D78FF7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08/25/2026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2C126-B81A-81FD-671F-75E929A8B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774ECC-784B-24F0-E912-3DA04AF8B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0295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F5488-0E33-E6D2-DF23-E4855CE5D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B8EF47-C4A5-697C-88AE-BD4DF420A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0DDC8-3137-CA3E-E838-E299AC1E2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08/25/2026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FDF9E-0E5C-C1D2-BFA9-AFB7B643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7F3E7-DA60-ECE4-9578-E23ABB598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73799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E5DE3F-9D46-AA8B-F9E7-A587FCDE5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B65356-4E09-CB41-EFD9-E7D6BBC0B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D69BC-C620-4B67-8B10-7276DE15F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08/25/2026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BAB51-E25A-40C2-B88D-9B88D7D7A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09E76-E7EB-5D8D-C8E0-5111892EB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6746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2187D8-3D27-9065-0D4D-9C08EED8F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76C46-09E9-4AEC-8919-BB6C2F205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D2F82-5FD1-6284-466B-F828A86BDA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26BA47-DACA-4AF9-9804-DDBF2735F23A}" type="datetimeFigureOut">
              <a:rPr lang="LID4096" smtClean="0"/>
              <a:t>08/25/2026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62F98-E253-5A2C-5090-8DFC4085CC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2AE60-CD72-2141-D51B-CD839A1A7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25435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grossirm@hotmail.com" TargetMode="External"/><Relationship Id="rId4" Type="http://schemas.openxmlformats.org/officeDocument/2006/relationships/hyperlink" Target="https://www.youtube.com/live/J4ieku-yXrY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LR-RY/VoFLibrary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pii/S0264127522010620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60F8067-F041-88C3-544B-B69757BCB1C1}"/>
              </a:ext>
            </a:extLst>
          </p:cNvPr>
          <p:cNvSpPr txBox="1"/>
          <p:nvPr/>
        </p:nvSpPr>
        <p:spPr>
          <a:xfrm>
            <a:off x="383449" y="5166609"/>
            <a:ext cx="5434225" cy="13234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GB" b="1" u="none" strike="noStrike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Physical experiments as an alternative to modelling:  </a:t>
            </a:r>
          </a:p>
          <a:p>
            <a:endParaRPr lang="en-GB" sz="1400" b="1" u="none" strike="noStrike" dirty="0">
              <a:solidFill>
                <a:srgbClr val="0033CC"/>
              </a:solidFill>
              <a:effectLst/>
              <a:latin typeface="Google Sans"/>
            </a:endParaRPr>
          </a:p>
          <a:p>
            <a:r>
              <a:rPr lang="en-GB" sz="1400" b="0" u="none" strike="noStrike" dirty="0">
                <a:effectLst/>
                <a:latin typeface="Google Sans"/>
              </a:rPr>
              <a:t>X-ray diffraction (XRD) methods are </a:t>
            </a:r>
            <a:r>
              <a:rPr lang="en-GB" sz="1400" dirty="0"/>
              <a:t>analytical techniques used to determine the atomic and molecular structure, crystal phases, and spacing of crystalline materials</a:t>
            </a:r>
            <a:endParaRPr lang="LID4096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44223F-9C72-7FE2-BC56-F51F51C7A6D0}"/>
              </a:ext>
            </a:extLst>
          </p:cNvPr>
          <p:cNvSpPr txBox="1"/>
          <p:nvPr/>
        </p:nvSpPr>
        <p:spPr>
          <a:xfrm>
            <a:off x="6374327" y="5166610"/>
            <a:ext cx="5330227" cy="13234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pPr algn="ctr"/>
            <a:r>
              <a:rPr lang="en-GB" sz="2000" b="0" u="none" strike="noStrike" dirty="0">
                <a:solidFill>
                  <a:srgbClr val="0000FF"/>
                </a:solidFill>
                <a:effectLst/>
                <a:latin typeface="Google Sans"/>
              </a:rPr>
              <a:t>“</a:t>
            </a:r>
            <a:r>
              <a:rPr lang="en-GB" sz="2000" b="1" u="none" strike="noStrike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Simulating process …</a:t>
            </a:r>
            <a:r>
              <a:rPr lang="en-GB" sz="2000" b="0" u="none" strike="noStrike" dirty="0">
                <a:solidFill>
                  <a:srgbClr val="0000FF"/>
                </a:solidFill>
                <a:effectLst/>
                <a:latin typeface="Google Sans"/>
              </a:rPr>
              <a:t> helps you to understand what kind of parameters and process you have to optimize in order to attain the final product you are design” </a:t>
            </a:r>
            <a:endParaRPr lang="LID4096" sz="2000" dirty="0">
              <a:solidFill>
                <a:srgbClr val="0000FF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56FF761-0F0D-FEB4-93EF-6DFD8CF94FAB}"/>
              </a:ext>
            </a:extLst>
          </p:cNvPr>
          <p:cNvGrpSpPr/>
          <p:nvPr/>
        </p:nvGrpSpPr>
        <p:grpSpPr>
          <a:xfrm>
            <a:off x="383449" y="351004"/>
            <a:ext cx="8287358" cy="4448616"/>
            <a:chOff x="1019175" y="566738"/>
            <a:chExt cx="7880381" cy="419538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A06272D-A459-6C70-2B9F-A831D0E16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571"/>
            <a:stretch>
              <a:fillRect/>
            </a:stretch>
          </p:blipFill>
          <p:spPr>
            <a:xfrm>
              <a:off x="1019175" y="566738"/>
              <a:ext cx="7880381" cy="4195386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81E36BD-83A9-55B7-DD6B-66DEA6787204}"/>
                </a:ext>
              </a:extLst>
            </p:cNvPr>
            <p:cNvSpPr/>
            <p:nvPr/>
          </p:nvSpPr>
          <p:spPr>
            <a:xfrm>
              <a:off x="5060887" y="1692997"/>
              <a:ext cx="3630440" cy="2353901"/>
            </a:xfrm>
            <a:prstGeom prst="rect">
              <a:avLst/>
            </a:prstGeom>
            <a:noFill/>
            <a:ln w="57150"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19DF604-9E93-43FF-11A1-4B14133977C3}"/>
                </a:ext>
              </a:extLst>
            </p:cNvPr>
            <p:cNvSpPr txBox="1"/>
            <p:nvPr/>
          </p:nvSpPr>
          <p:spPr>
            <a:xfrm>
              <a:off x="7329329" y="3390960"/>
              <a:ext cx="1404795" cy="493437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GB" sz="2800" b="1" u="none" strike="noStrike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oogle Sans"/>
                </a:rPr>
                <a:t>Focus</a:t>
              </a:r>
              <a:endParaRPr lang="LID4096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47F5E987-F0AA-51AA-9A1B-9FAB50D2D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0481" y="351004"/>
            <a:ext cx="2438400" cy="6667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F2BA2A-DB9C-ED23-EBB1-E9F45B03A8CE}"/>
              </a:ext>
            </a:extLst>
          </p:cNvPr>
          <p:cNvSpPr txBox="1"/>
          <p:nvPr/>
        </p:nvSpPr>
        <p:spPr>
          <a:xfrm>
            <a:off x="8830490" y="4541235"/>
            <a:ext cx="2908391" cy="276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r"/>
            <a:r>
              <a:rPr lang="LID4096" sz="1200" dirty="0">
                <a:hlinkClick r:id="rId4"/>
              </a:rPr>
              <a:t>https://www.youtube.com/live/J4ieku-yXrY</a:t>
            </a:r>
            <a:endParaRPr lang="pt-BR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483117-E90A-BBC8-1308-968FDF713DEA}"/>
              </a:ext>
            </a:extLst>
          </p:cNvPr>
          <p:cNvSpPr txBox="1"/>
          <p:nvPr/>
        </p:nvSpPr>
        <p:spPr>
          <a:xfrm>
            <a:off x="9417135" y="1017754"/>
            <a:ext cx="230483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 algn="r">
              <a:defRPr sz="2800" b="1" u="none" strike="noStrike">
                <a:solidFill>
                  <a:srgbClr val="FF0000"/>
                </a:solidFill>
                <a:effectLst/>
                <a:latin typeface="Google Sans"/>
              </a:defRPr>
            </a:lvl1pPr>
          </a:lstStyle>
          <a:p>
            <a:r>
              <a:rPr lang="en-US" dirty="0"/>
              <a:t>Paanduv </a:t>
            </a:r>
          </a:p>
          <a:p>
            <a:r>
              <a:rPr lang="en-US" dirty="0"/>
              <a:t>Applications</a:t>
            </a:r>
          </a:p>
          <a:p>
            <a:endParaRPr lang="en-US" dirty="0"/>
          </a:p>
          <a:p>
            <a:r>
              <a:rPr lang="LID4096" dirty="0"/>
              <a:t>AM PravaH®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1B3A1E-7538-3DEA-8B52-D7298409C0C2}"/>
              </a:ext>
            </a:extLst>
          </p:cNvPr>
          <p:cNvSpPr txBox="1"/>
          <p:nvPr/>
        </p:nvSpPr>
        <p:spPr>
          <a:xfrm>
            <a:off x="9483634" y="6618339"/>
            <a:ext cx="2708366" cy="2462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LID4096"/>
            </a:defPPr>
            <a:lvl1pPr algn="r">
              <a:defRPr sz="2800" b="1" u="none" strike="noStrike">
                <a:solidFill>
                  <a:srgbClr val="FF0000"/>
                </a:solidFill>
                <a:effectLst/>
                <a:latin typeface="Google Sans"/>
              </a:defRPr>
            </a:lvl1pPr>
          </a:lstStyle>
          <a:p>
            <a:r>
              <a:rPr lang="pt-BR" sz="1000" dirty="0"/>
              <a:t>Rodrigo M Grossi – </a:t>
            </a:r>
            <a:r>
              <a:rPr lang="pt-BR" sz="1000" dirty="0">
                <a:hlinkClick r:id="rId5"/>
              </a:rPr>
              <a:t>grossirm@hotmail</a:t>
            </a:r>
            <a:r>
              <a:rPr lang="pt-BR" sz="1000">
                <a:hlinkClick r:id="rId5"/>
              </a:rPr>
              <a:t>.com</a:t>
            </a:r>
            <a:endParaRPr lang="LID4096" sz="1000" dirty="0"/>
          </a:p>
        </p:txBody>
      </p:sp>
    </p:spTree>
    <p:extLst>
      <p:ext uri="{BB962C8B-B14F-4D97-AF65-F5344CB8AC3E}">
        <p14:creationId xmlns:p14="http://schemas.microsoft.com/office/powerpoint/2010/main" val="3954042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D5A4F41C-7B9C-8F0B-ED94-16CEA8C41DB9}"/>
              </a:ext>
            </a:extLst>
          </p:cNvPr>
          <p:cNvGrpSpPr/>
          <p:nvPr/>
        </p:nvGrpSpPr>
        <p:grpSpPr>
          <a:xfrm>
            <a:off x="607054" y="495112"/>
            <a:ext cx="10925552" cy="6129542"/>
            <a:chOff x="607054" y="495112"/>
            <a:chExt cx="10925552" cy="612954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DC42CEF-AD24-C393-6ED0-35BE5728F93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07054" y="495112"/>
              <a:ext cx="10925552" cy="6129542"/>
              <a:chOff x="607054" y="495112"/>
              <a:chExt cx="10925552" cy="6129542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82EBD62A-9AA4-2364-9DB5-A2E80B72F2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b="3135"/>
              <a:stretch>
                <a:fillRect/>
              </a:stretch>
            </p:blipFill>
            <p:spPr>
              <a:xfrm>
                <a:off x="607054" y="495112"/>
                <a:ext cx="10851664" cy="522667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957222-A3DB-85F2-F22A-343ED12BEC06}"/>
                  </a:ext>
                </a:extLst>
              </p:cNvPr>
              <p:cNvSpPr txBox="1"/>
              <p:nvPr/>
            </p:nvSpPr>
            <p:spPr>
              <a:xfrm>
                <a:off x="6326109" y="2786174"/>
                <a:ext cx="363270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2000" b="1" u="none" strike="noStrike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Laser heat input … latent input </a:t>
                </a:r>
                <a:endParaRPr lang="LID4096" sz="20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1F4CE9-F311-EE29-6519-1396E63DC8DB}"/>
                  </a:ext>
                </a:extLst>
              </p:cNvPr>
              <p:cNvSpPr txBox="1"/>
              <p:nvPr/>
            </p:nvSpPr>
            <p:spPr>
              <a:xfrm>
                <a:off x="976264" y="5916768"/>
                <a:ext cx="10556342" cy="70788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2000" b="0" u="none" strike="noStrike" dirty="0">
                    <a:solidFill>
                      <a:srgbClr val="0000FF"/>
                    </a:solidFill>
                    <a:effectLst/>
                    <a:latin typeface="Google Sans"/>
                  </a:rPr>
                  <a:t>“This gives you the basis of how the simulation solver is modelled and </a:t>
                </a:r>
                <a:r>
                  <a:rPr lang="en-GB" sz="2000" b="0" u="none" strike="noStrike" dirty="0">
                    <a:solidFill>
                      <a:srgbClr val="FF0000"/>
                    </a:solidFill>
                    <a:effectLst/>
                    <a:latin typeface="Google Sans"/>
                  </a:rPr>
                  <a:t>how we can rely on the data that has been predicted </a:t>
                </a:r>
                <a:r>
                  <a:rPr lang="en-GB" sz="2000" b="1" u="none" strike="noStrike" dirty="0">
                    <a:solidFill>
                      <a:srgbClr val="00B050"/>
                    </a:solidFill>
                    <a:effectLst/>
                    <a:latin typeface="Google Sans"/>
                  </a:rPr>
                  <a:t>… based on this robust physic equations that are provided” </a:t>
                </a:r>
                <a:endParaRPr lang="LID4096" sz="2000" b="1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4601D0C4-AB71-192A-6BAE-2D32411C5691}"/>
                  </a:ext>
                </a:extLst>
              </p:cNvPr>
              <p:cNvCxnSpPr/>
              <p:nvPr/>
            </p:nvCxnSpPr>
            <p:spPr>
              <a:xfrm>
                <a:off x="878186" y="2598345"/>
                <a:ext cx="2770361" cy="0"/>
              </a:xfrm>
              <a:prstGeom prst="line">
                <a:avLst/>
              </a:prstGeom>
              <a:ln w="38100">
                <a:solidFill>
                  <a:srgbClr val="0033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51581D6-050B-AB35-E91D-BE6723F29376}"/>
                  </a:ext>
                </a:extLst>
              </p:cNvPr>
              <p:cNvCxnSpPr/>
              <p:nvPr/>
            </p:nvCxnSpPr>
            <p:spPr>
              <a:xfrm>
                <a:off x="2687370" y="3429000"/>
                <a:ext cx="219456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83735AB-302F-C9AE-3FF8-46C47F14FFAA}"/>
                  </a:ext>
                </a:extLst>
              </p:cNvPr>
              <p:cNvCxnSpPr/>
              <p:nvPr/>
            </p:nvCxnSpPr>
            <p:spPr>
              <a:xfrm>
                <a:off x="956649" y="4441479"/>
                <a:ext cx="219456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EAF8CEC-4854-3856-02CD-A95D3AB85367}"/>
                  </a:ext>
                </a:extLst>
              </p:cNvPr>
              <p:cNvCxnSpPr/>
              <p:nvPr/>
            </p:nvCxnSpPr>
            <p:spPr>
              <a:xfrm>
                <a:off x="765017" y="5472065"/>
                <a:ext cx="219456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Arrow: Down 12">
                <a:extLst>
                  <a:ext uri="{FF2B5EF4-FFF2-40B4-BE49-F238E27FC236}">
                    <a16:creationId xmlns:a16="http://schemas.microsoft.com/office/drawing/2014/main" id="{1A9F3B76-7F9F-DA46-531F-9DF3B645F5B1}"/>
                  </a:ext>
                </a:extLst>
              </p:cNvPr>
              <p:cNvSpPr/>
              <p:nvPr/>
            </p:nvSpPr>
            <p:spPr>
              <a:xfrm>
                <a:off x="6096000" y="3612333"/>
                <a:ext cx="316871" cy="271604"/>
              </a:xfrm>
              <a:prstGeom prst="downArrow">
                <a:avLst/>
              </a:prstGeom>
              <a:solidFill>
                <a:srgbClr val="0033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" name="Arrow: Down 13">
                <a:extLst>
                  <a:ext uri="{FF2B5EF4-FFF2-40B4-BE49-F238E27FC236}">
                    <a16:creationId xmlns:a16="http://schemas.microsoft.com/office/drawing/2014/main" id="{C36CF552-73B3-9AF1-3656-6D52BC8B12E6}"/>
                  </a:ext>
                </a:extLst>
              </p:cNvPr>
              <p:cNvSpPr/>
              <p:nvPr/>
            </p:nvSpPr>
            <p:spPr>
              <a:xfrm>
                <a:off x="7119796" y="3612333"/>
                <a:ext cx="316871" cy="271604"/>
              </a:xfrm>
              <a:prstGeom prst="downArrow">
                <a:avLst/>
              </a:prstGeom>
              <a:solidFill>
                <a:srgbClr val="0033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5" name="Arrow: Down 14">
                <a:extLst>
                  <a:ext uri="{FF2B5EF4-FFF2-40B4-BE49-F238E27FC236}">
                    <a16:creationId xmlns:a16="http://schemas.microsoft.com/office/drawing/2014/main" id="{FA345EE5-1FBC-C64A-AA9E-36628533B164}"/>
                  </a:ext>
                </a:extLst>
              </p:cNvPr>
              <p:cNvSpPr/>
              <p:nvPr/>
            </p:nvSpPr>
            <p:spPr>
              <a:xfrm>
                <a:off x="8947087" y="4769667"/>
                <a:ext cx="316871" cy="271604"/>
              </a:xfrm>
              <a:prstGeom prst="downArrow">
                <a:avLst/>
              </a:prstGeom>
              <a:solidFill>
                <a:srgbClr val="0033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6" name="Arrow: Down 15">
                <a:extLst>
                  <a:ext uri="{FF2B5EF4-FFF2-40B4-BE49-F238E27FC236}">
                    <a16:creationId xmlns:a16="http://schemas.microsoft.com/office/drawing/2014/main" id="{68520981-5B4A-BFEB-72E1-C0718E35858C}"/>
                  </a:ext>
                </a:extLst>
              </p:cNvPr>
              <p:cNvSpPr/>
              <p:nvPr/>
            </p:nvSpPr>
            <p:spPr>
              <a:xfrm>
                <a:off x="10631031" y="4769667"/>
                <a:ext cx="316871" cy="271604"/>
              </a:xfrm>
              <a:prstGeom prst="downArrow">
                <a:avLst/>
              </a:prstGeom>
              <a:solidFill>
                <a:srgbClr val="0033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AA139EA-9305-9CAD-BBCE-A72932AD9499}"/>
                  </a:ext>
                </a:extLst>
              </p:cNvPr>
              <p:cNvCxnSpPr/>
              <p:nvPr/>
            </p:nvCxnSpPr>
            <p:spPr>
              <a:xfrm>
                <a:off x="3238122" y="5618430"/>
                <a:ext cx="219456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C9FB577-F992-4E60-14EB-5332DB8C4422}"/>
                  </a:ext>
                </a:extLst>
              </p:cNvPr>
              <p:cNvSpPr txBox="1"/>
              <p:nvPr/>
            </p:nvSpPr>
            <p:spPr>
              <a:xfrm>
                <a:off x="956649" y="2583479"/>
                <a:ext cx="363270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000" b="1" u="none" strike="noStrike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Volum</a:t>
                </a:r>
                <a:r>
                  <a:rPr lang="en-GB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e of fluid method</a:t>
                </a:r>
                <a:endParaRPr lang="LID4096" sz="20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2EAE0F0-62B5-17B4-5D8A-18633E1A3D31}"/>
                  </a:ext>
                </a:extLst>
              </p:cNvPr>
              <p:cNvSpPr txBox="1"/>
              <p:nvPr/>
            </p:nvSpPr>
            <p:spPr>
              <a:xfrm>
                <a:off x="10702141" y="565429"/>
                <a:ext cx="636419" cy="40011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2000" b="1" u="none" strike="noStrike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CFD</a:t>
                </a:r>
                <a:endParaRPr lang="LID4096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F1E3B3D-BF74-FBBD-5231-49BE03323EE8}"/>
                  </a:ext>
                </a:extLst>
              </p:cNvPr>
              <p:cNvSpPr txBox="1"/>
              <p:nvPr/>
            </p:nvSpPr>
            <p:spPr>
              <a:xfrm>
                <a:off x="9759272" y="3256601"/>
                <a:ext cx="136860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200" b="1" u="none" strike="noStrike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Surface tension </a:t>
                </a:r>
              </a:p>
              <a:p>
                <a:pPr algn="r"/>
                <a:r>
                  <a:rPr lang="en-GB" sz="1200" b="1" u="none" strike="noStrike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Marangoni force</a:t>
                </a:r>
                <a:endParaRPr lang="LID4096" sz="12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7AF0705-8CE9-94F0-E953-8CD5B4245D40}"/>
                </a:ext>
              </a:extLst>
            </p:cNvPr>
            <p:cNvSpPr txBox="1"/>
            <p:nvPr/>
          </p:nvSpPr>
          <p:spPr>
            <a:xfrm>
              <a:off x="7596420" y="1625151"/>
              <a:ext cx="386229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LID4096" dirty="0">
                  <a:hlinkClick r:id="rId3"/>
                </a:rPr>
                <a:t>https://github.com/DLR-RY/VoFLibrary</a:t>
              </a:r>
              <a:endParaRPr lang="LID4096" dirty="0"/>
            </a:p>
          </p:txBody>
        </p:sp>
      </p:grpSp>
    </p:spTree>
    <p:extLst>
      <p:ext uri="{BB962C8B-B14F-4D97-AF65-F5344CB8AC3E}">
        <p14:creationId xmlns:p14="http://schemas.microsoft.com/office/powerpoint/2010/main" val="1172744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13E570-24CC-8B0D-7693-50EC246CC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26" y="738186"/>
            <a:ext cx="6704494" cy="267440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D01C7E-B3FC-4DD0-BC6B-0EACED4A0C83}"/>
              </a:ext>
            </a:extLst>
          </p:cNvPr>
          <p:cNvSpPr txBox="1"/>
          <p:nvPr/>
        </p:nvSpPr>
        <p:spPr>
          <a:xfrm>
            <a:off x="5014368" y="2772763"/>
            <a:ext cx="1846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3200" b="1" u="none" strike="noStrike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Melt poll</a:t>
            </a:r>
            <a:endParaRPr lang="LID4096" sz="32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FE87C6-FCB1-6346-F3A8-83FA8F6A2E37}"/>
              </a:ext>
            </a:extLst>
          </p:cNvPr>
          <p:cNvSpPr txBox="1"/>
          <p:nvPr/>
        </p:nvSpPr>
        <p:spPr>
          <a:xfrm>
            <a:off x="7469360" y="5703355"/>
            <a:ext cx="3996998" cy="10048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pPr algn="r"/>
            <a:r>
              <a:rPr lang="en-GB" b="0" u="none" strike="noStrike" dirty="0">
                <a:solidFill>
                  <a:srgbClr val="0000FF"/>
                </a:solidFill>
                <a:effectLst/>
                <a:latin typeface="Google Sans"/>
              </a:rPr>
              <a:t>Fusion of the layer that has been deposited with the substrate and subsequent cooling …</a:t>
            </a:r>
            <a:endParaRPr lang="LID4096" b="1" dirty="0">
              <a:solidFill>
                <a:srgbClr val="0000FF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51EEF44-FF16-C19F-64B4-191DB87D79C4}"/>
              </a:ext>
            </a:extLst>
          </p:cNvPr>
          <p:cNvGrpSpPr>
            <a:grpSpLocks noChangeAspect="1"/>
          </p:cNvGrpSpPr>
          <p:nvPr/>
        </p:nvGrpSpPr>
        <p:grpSpPr>
          <a:xfrm>
            <a:off x="7469360" y="738186"/>
            <a:ext cx="3996998" cy="4867380"/>
            <a:chOff x="7342871" y="503473"/>
            <a:chExt cx="3996998" cy="486738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8034D57-30FE-FA52-00D7-9687491F9D00}"/>
                </a:ext>
              </a:extLst>
            </p:cNvPr>
            <p:cNvGrpSpPr/>
            <p:nvPr/>
          </p:nvGrpSpPr>
          <p:grpSpPr>
            <a:xfrm>
              <a:off x="7342871" y="503473"/>
              <a:ext cx="3996998" cy="4867380"/>
              <a:chOff x="7342871" y="503473"/>
              <a:chExt cx="3996998" cy="4867380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48848509-2653-03AA-0598-B11D91C6B8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42872" y="503473"/>
                <a:ext cx="1623076" cy="77465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431B4F1-17A7-54B6-40AD-3422DFDACD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42871" y="1346826"/>
                <a:ext cx="3356817" cy="811538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00C80813-33E5-1059-5623-E4D11200B5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42872" y="2227067"/>
                <a:ext cx="3356817" cy="719318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ECC80CAC-FA3A-9ACB-7201-4D62EB9764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42872" y="3015088"/>
                <a:ext cx="3996996" cy="1051311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2FD3CF1B-EFD1-EB5F-3711-F97CA1AC08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42873" y="4135102"/>
                <a:ext cx="3996996" cy="1235751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20567695-1E13-EF3E-93A5-B3C71BAFEA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r="24256" b="44865"/>
              <a:stretch>
                <a:fillRect/>
              </a:stretch>
            </p:blipFill>
            <p:spPr>
              <a:xfrm>
                <a:off x="9035358" y="503473"/>
                <a:ext cx="2304510" cy="774650"/>
              </a:xfrm>
              <a:prstGeom prst="rect">
                <a:avLst/>
              </a:prstGeom>
            </p:spPr>
          </p:pic>
        </p:grp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3D482E6-AB0E-CDA6-7E20-7B99C5E66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r="24256" b="44865"/>
            <a:stretch>
              <a:fillRect/>
            </a:stretch>
          </p:blipFill>
          <p:spPr>
            <a:xfrm>
              <a:off x="10773624" y="1346826"/>
              <a:ext cx="566244" cy="811538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7E00417-6214-2166-483F-44BE8A4A3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r="24256" b="44865"/>
            <a:stretch>
              <a:fillRect/>
            </a:stretch>
          </p:blipFill>
          <p:spPr>
            <a:xfrm>
              <a:off x="10773624" y="2227067"/>
              <a:ext cx="566244" cy="719318"/>
            </a:xfrm>
            <a:prstGeom prst="rect">
              <a:avLst/>
            </a:prstGeom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4FFF748-D339-1F0B-D9C3-7B91CD605998}"/>
              </a:ext>
            </a:extLst>
          </p:cNvPr>
          <p:cNvSpPr txBox="1"/>
          <p:nvPr/>
        </p:nvSpPr>
        <p:spPr>
          <a:xfrm>
            <a:off x="399473" y="3525844"/>
            <a:ext cx="6426970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GB" sz="2000" b="1" u="none" strike="noStrike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Multiphysics melt poll dynamics </a:t>
            </a:r>
          </a:p>
          <a:p>
            <a:r>
              <a:rPr lang="en-GB" sz="2000" dirty="0">
                <a:solidFill>
                  <a:srgbClr val="0000FF"/>
                </a:solidFill>
                <a:latin typeface="Google Sans"/>
              </a:rPr>
              <a:t>	Marangoni convections</a:t>
            </a:r>
          </a:p>
          <a:p>
            <a:r>
              <a:rPr lang="en-GB" sz="2000" dirty="0">
                <a:solidFill>
                  <a:srgbClr val="0000FF"/>
                </a:solidFill>
                <a:latin typeface="Google Sans"/>
              </a:rPr>
              <a:t>	Energy transference </a:t>
            </a:r>
            <a:r>
              <a:rPr lang="en-GB" sz="1600" dirty="0">
                <a:solidFill>
                  <a:srgbClr val="0000FF"/>
                </a:solidFill>
                <a:latin typeface="Google Sans"/>
              </a:rPr>
              <a:t>(enough to fuse with the substrate!)</a:t>
            </a:r>
            <a:endParaRPr lang="LID4096" sz="1600" dirty="0">
              <a:solidFill>
                <a:srgbClr val="0000FF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C782D6F-1F22-715E-7E98-A3F2E40BC6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4184" y="5146807"/>
            <a:ext cx="4347147" cy="159911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13EEC47-2D0C-005F-590D-F6FC47AF6D74}"/>
              </a:ext>
            </a:extLst>
          </p:cNvPr>
          <p:cNvSpPr txBox="1"/>
          <p:nvPr/>
        </p:nvSpPr>
        <p:spPr>
          <a:xfrm>
            <a:off x="392230" y="4625856"/>
            <a:ext cx="4632615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sz="2000" b="1" u="none" strike="noStrike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defRPr>
            </a:lvl1pPr>
          </a:lstStyle>
          <a:p>
            <a:r>
              <a:rPr lang="en-GB" dirty="0"/>
              <a:t>Subsequent microstructure analysis  … </a:t>
            </a:r>
            <a:endParaRPr lang="LID4096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C98EEA-03D2-20A4-D28D-687EA5AC8214}"/>
              </a:ext>
            </a:extLst>
          </p:cNvPr>
          <p:cNvSpPr txBox="1"/>
          <p:nvPr/>
        </p:nvSpPr>
        <p:spPr>
          <a:xfrm>
            <a:off x="7469360" y="237723"/>
            <a:ext cx="3996998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r"/>
            <a:r>
              <a:rPr lang="en-GB" sz="1600" b="1" u="none" strike="noStrike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Identification of straitening mechanisms!</a:t>
            </a:r>
            <a:endParaRPr lang="LID4096" sz="1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71E2CE-5DCE-40D1-3DAC-F3B0B162CD3A}"/>
              </a:ext>
            </a:extLst>
          </p:cNvPr>
          <p:cNvSpPr txBox="1"/>
          <p:nvPr/>
        </p:nvSpPr>
        <p:spPr>
          <a:xfrm>
            <a:off x="4783600" y="5277003"/>
            <a:ext cx="2226878" cy="70788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sz="2000" b="1" u="none" strike="noStrike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defRPr>
            </a:lvl1pPr>
          </a:lstStyle>
          <a:p>
            <a:r>
              <a:rPr lang="en-GB" dirty="0"/>
              <a:t>Monte Carlo Potts model, spins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F01882-48CD-0534-9C9A-0E516E3BD90D}"/>
              </a:ext>
            </a:extLst>
          </p:cNvPr>
          <p:cNvSpPr txBox="1"/>
          <p:nvPr/>
        </p:nvSpPr>
        <p:spPr>
          <a:xfrm>
            <a:off x="4783600" y="6122101"/>
            <a:ext cx="2226878" cy="3385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LID4096" sz="1600" b="1" dirty="0"/>
              <a:t>epitaxial grain growth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772496-BBAE-CD3E-3263-F757BEBC59DB}"/>
              </a:ext>
            </a:extLst>
          </p:cNvPr>
          <p:cNvSpPr txBox="1"/>
          <p:nvPr/>
        </p:nvSpPr>
        <p:spPr>
          <a:xfrm>
            <a:off x="10747409" y="833236"/>
            <a:ext cx="636419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GB" sz="2000" b="1" u="none" strike="noStrik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CFD</a:t>
            </a:r>
            <a:endParaRPr lang="LID4096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E6F0F8-A9B2-4B6B-746C-57DA011FDA86}"/>
              </a:ext>
            </a:extLst>
          </p:cNvPr>
          <p:cNvSpPr txBox="1"/>
          <p:nvPr/>
        </p:nvSpPr>
        <p:spPr>
          <a:xfrm>
            <a:off x="5163708" y="4625856"/>
            <a:ext cx="838740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GB" sz="2000" b="1" u="none" strike="noStrik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+ CFD</a:t>
            </a:r>
            <a:endParaRPr lang="LID4096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62795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B561111-5D2B-376B-D5DA-84505DE1F511}"/>
              </a:ext>
            </a:extLst>
          </p:cNvPr>
          <p:cNvSpPr txBox="1"/>
          <p:nvPr/>
        </p:nvSpPr>
        <p:spPr>
          <a:xfrm>
            <a:off x="5763118" y="247060"/>
            <a:ext cx="4748128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r"/>
            <a:r>
              <a:rPr lang="en-GB" sz="2400" b="1" u="none" strike="noStrike" dirty="0">
                <a:solidFill>
                  <a:srgbClr val="0000FF"/>
                </a:solidFill>
                <a:effectLst/>
                <a:latin typeface="Google Sans"/>
              </a:rPr>
              <a:t>Increase control of microstructure </a:t>
            </a:r>
            <a:endParaRPr lang="LID4096" sz="2400" b="1" dirty="0">
              <a:solidFill>
                <a:srgbClr val="0000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39FC83-9D0E-2E82-2F1D-BB619E4D3C7E}"/>
              </a:ext>
            </a:extLst>
          </p:cNvPr>
          <p:cNvSpPr txBox="1"/>
          <p:nvPr/>
        </p:nvSpPr>
        <p:spPr>
          <a:xfrm>
            <a:off x="616411" y="5727656"/>
            <a:ext cx="9894836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GB" sz="2000" b="1" u="none" strike="noStrike" dirty="0">
                <a:solidFill>
                  <a:srgbClr val="FF0000"/>
                </a:solidFill>
                <a:effectLst/>
                <a:latin typeface="Google Sans"/>
              </a:rPr>
              <a:t>Grain siz</a:t>
            </a:r>
            <a:r>
              <a:rPr lang="en-GB" sz="2000" b="1" dirty="0">
                <a:solidFill>
                  <a:srgbClr val="FF0000"/>
                </a:solidFill>
                <a:latin typeface="Google Sans"/>
              </a:rPr>
              <a:t>e control </a:t>
            </a:r>
            <a:r>
              <a:rPr lang="en-GB" sz="2000" dirty="0">
                <a:solidFill>
                  <a:srgbClr val="0000FF"/>
                </a:solidFill>
                <a:latin typeface="Google Sans"/>
              </a:rPr>
              <a:t>|</a:t>
            </a:r>
            <a:r>
              <a:rPr lang="en-GB" dirty="0">
                <a:solidFill>
                  <a:srgbClr val="0000FF"/>
                </a:solidFill>
                <a:latin typeface="Google Sans"/>
              </a:rPr>
              <a:t> solid solution </a:t>
            </a:r>
            <a:r>
              <a:rPr lang="en-GB" b="0" u="none" strike="noStrike" dirty="0">
                <a:solidFill>
                  <a:srgbClr val="0000FF"/>
                </a:solidFill>
                <a:effectLst/>
                <a:latin typeface="Google Sans"/>
              </a:rPr>
              <a:t>straitening | intermetallic compounds | precipitations | deformation</a:t>
            </a:r>
            <a:endParaRPr lang="LID4096" sz="2000" b="1" dirty="0">
              <a:solidFill>
                <a:srgbClr val="0000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709EC9-BF83-785E-1A50-56D530915BC5}"/>
              </a:ext>
            </a:extLst>
          </p:cNvPr>
          <p:cNvSpPr txBox="1"/>
          <p:nvPr/>
        </p:nvSpPr>
        <p:spPr>
          <a:xfrm>
            <a:off x="611281" y="6117575"/>
            <a:ext cx="2750228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Google Sans"/>
              </a:rPr>
              <a:t>Grain size straitening</a:t>
            </a:r>
            <a:endParaRPr lang="LID4096" sz="2000" b="1" dirty="0">
              <a:solidFill>
                <a:srgbClr val="FF0000"/>
              </a:solidFill>
              <a:latin typeface="Google San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E3BEF83-2710-9209-CAED-74E6EAD75BAC}"/>
              </a:ext>
            </a:extLst>
          </p:cNvPr>
          <p:cNvGrpSpPr>
            <a:grpSpLocks noChangeAspect="1"/>
          </p:cNvGrpSpPr>
          <p:nvPr/>
        </p:nvGrpSpPr>
        <p:grpSpPr>
          <a:xfrm>
            <a:off x="611282" y="867812"/>
            <a:ext cx="9899964" cy="4685768"/>
            <a:chOff x="611282" y="702347"/>
            <a:chExt cx="9899964" cy="4685768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4761736B-A362-9CE0-DE82-7F06702FF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3101" y="702347"/>
              <a:ext cx="9858145" cy="4685768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" name="Arrow: Down 3">
              <a:extLst>
                <a:ext uri="{FF2B5EF4-FFF2-40B4-BE49-F238E27FC236}">
                  <a16:creationId xmlns:a16="http://schemas.microsoft.com/office/drawing/2014/main" id="{2E03A7B3-2FD7-CFFD-89F1-99BB2E1D575A}"/>
                </a:ext>
              </a:extLst>
            </p:cNvPr>
            <p:cNvSpPr/>
            <p:nvPr/>
          </p:nvSpPr>
          <p:spPr>
            <a:xfrm rot="2585751">
              <a:off x="5303520" y="4089528"/>
              <a:ext cx="316871" cy="271604"/>
            </a:xfrm>
            <a:prstGeom prst="downArrow">
              <a:avLst/>
            </a:prstGeom>
            <a:solidFill>
              <a:srgbClr val="0033CC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283831D-587C-9DC2-1B57-41CCCA46F6C1}"/>
                </a:ext>
              </a:extLst>
            </p:cNvPr>
            <p:cNvCxnSpPr/>
            <p:nvPr/>
          </p:nvCxnSpPr>
          <p:spPr>
            <a:xfrm>
              <a:off x="3431175" y="4602562"/>
              <a:ext cx="219456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C81980A-C2DC-2B6B-9C7E-3E7C1D3ED16E}"/>
                </a:ext>
              </a:extLst>
            </p:cNvPr>
            <p:cNvGrpSpPr/>
            <p:nvPr/>
          </p:nvGrpSpPr>
          <p:grpSpPr>
            <a:xfrm>
              <a:off x="611282" y="4226393"/>
              <a:ext cx="2108185" cy="1010908"/>
              <a:chOff x="611282" y="4226393"/>
              <a:chExt cx="2108185" cy="1010908"/>
            </a:xfrm>
          </p:grpSpPr>
          <p:sp>
            <p:nvSpPr>
              <p:cNvPr id="5" name="Arrow: Down 4">
                <a:extLst>
                  <a:ext uri="{FF2B5EF4-FFF2-40B4-BE49-F238E27FC236}">
                    <a16:creationId xmlns:a16="http://schemas.microsoft.com/office/drawing/2014/main" id="{1452BF17-2E2E-BADD-E2BD-8A4F4853DA19}"/>
                  </a:ext>
                </a:extLst>
              </p:cNvPr>
              <p:cNvSpPr/>
              <p:nvPr/>
            </p:nvSpPr>
            <p:spPr>
              <a:xfrm rot="16200000">
                <a:off x="1946249" y="4455375"/>
                <a:ext cx="316871" cy="271604"/>
              </a:xfrm>
              <a:prstGeom prst="down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" name="Arrow: Down 7">
                <a:extLst>
                  <a:ext uri="{FF2B5EF4-FFF2-40B4-BE49-F238E27FC236}">
                    <a16:creationId xmlns:a16="http://schemas.microsoft.com/office/drawing/2014/main" id="{220D5992-2FC0-9FD8-66D1-0BC5A524C6F6}"/>
                  </a:ext>
                </a:extLst>
              </p:cNvPr>
              <p:cNvSpPr/>
              <p:nvPr/>
            </p:nvSpPr>
            <p:spPr>
              <a:xfrm rot="16200000">
                <a:off x="2185739" y="4694865"/>
                <a:ext cx="316871" cy="271604"/>
              </a:xfrm>
              <a:prstGeom prst="downArrow">
                <a:avLst/>
              </a:prstGeom>
              <a:solidFill>
                <a:srgbClr val="0033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9" name="Arrow: Down 8">
                <a:extLst>
                  <a:ext uri="{FF2B5EF4-FFF2-40B4-BE49-F238E27FC236}">
                    <a16:creationId xmlns:a16="http://schemas.microsoft.com/office/drawing/2014/main" id="{D4669587-7ECE-E3E4-9CCE-3204D4E62F89}"/>
                  </a:ext>
                </a:extLst>
              </p:cNvPr>
              <p:cNvSpPr/>
              <p:nvPr/>
            </p:nvSpPr>
            <p:spPr>
              <a:xfrm rot="16200000">
                <a:off x="2425229" y="4943064"/>
                <a:ext cx="316871" cy="271604"/>
              </a:xfrm>
              <a:prstGeom prst="downArrow">
                <a:avLst/>
              </a:prstGeom>
              <a:solidFill>
                <a:srgbClr val="0033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EBEB72B-AF1C-2B27-F9B4-F30480D7E847}"/>
                  </a:ext>
                </a:extLst>
              </p:cNvPr>
              <p:cNvSpPr txBox="1"/>
              <p:nvPr/>
            </p:nvSpPr>
            <p:spPr>
              <a:xfrm>
                <a:off x="611282" y="4226393"/>
                <a:ext cx="1477345" cy="523220"/>
              </a:xfrm>
              <a:prstGeom prst="rect">
                <a:avLst/>
              </a:prstGeom>
              <a:noFill/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2800" b="1" u="none" strike="noStrike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Focus</a:t>
                </a:r>
                <a:endParaRPr lang="LID4096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27697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636A66-884C-D3AC-F1C2-0B558F37033B}"/>
              </a:ext>
            </a:extLst>
          </p:cNvPr>
          <p:cNvSpPr txBox="1"/>
          <p:nvPr/>
        </p:nvSpPr>
        <p:spPr>
          <a:xfrm>
            <a:off x="11416937" y="6454826"/>
            <a:ext cx="7714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000" b="1" u="none" strike="noStrike" dirty="0">
                <a:solidFill>
                  <a:srgbClr val="FF0000"/>
                </a:solidFill>
                <a:effectLst/>
                <a:latin typeface="Google Sans"/>
              </a:rPr>
              <a:t>12:25</a:t>
            </a:r>
            <a:endParaRPr lang="LID4096" sz="2000" b="1" dirty="0">
              <a:solidFill>
                <a:srgbClr val="00B05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E36554-4818-ACA0-3A6B-D49FC8227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26" y="426311"/>
            <a:ext cx="6076950" cy="6667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256726-67DA-BCA2-02A7-C1F23E9125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123" r="3189" b="7426"/>
          <a:stretch>
            <a:fillRect/>
          </a:stretch>
        </p:blipFill>
        <p:spPr>
          <a:xfrm>
            <a:off x="426164" y="2294242"/>
            <a:ext cx="6948921" cy="279676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44240C-5D00-A9E8-3292-25F0954CA254}"/>
              </a:ext>
            </a:extLst>
          </p:cNvPr>
          <p:cNvSpPr txBox="1"/>
          <p:nvPr/>
        </p:nvSpPr>
        <p:spPr>
          <a:xfrm>
            <a:off x="400803" y="5189192"/>
            <a:ext cx="6948921" cy="13234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GB" sz="2000" b="1" u="none" strike="noStrike" dirty="0">
                <a:solidFill>
                  <a:srgbClr val="FF0000"/>
                </a:solidFill>
                <a:effectLst/>
                <a:latin typeface="Google Sans"/>
              </a:rPr>
              <a:t>Phace changes …. CFD </a:t>
            </a:r>
            <a:r>
              <a:rPr lang="en-GB" sz="2000" dirty="0">
                <a:solidFill>
                  <a:srgbClr val="0000FF"/>
                </a:solidFill>
                <a:latin typeface="Google Sans"/>
              </a:rPr>
              <a:t>| … to  Monte Carlo (grain growth) … microstructure (temperatures .. )</a:t>
            </a:r>
            <a:endParaRPr lang="en-GB" sz="2000" b="1" dirty="0">
              <a:solidFill>
                <a:srgbClr val="0000FF"/>
              </a:solidFill>
              <a:latin typeface="Google Sans"/>
            </a:endParaRPr>
          </a:p>
          <a:p>
            <a:r>
              <a:rPr lang="en-GB" sz="2000" b="1" dirty="0">
                <a:latin typeface="Google Sans"/>
              </a:rPr>
              <a:t>Grain nucleation, growth, size evolution </a:t>
            </a:r>
          </a:p>
          <a:p>
            <a:r>
              <a:rPr lang="en-GB" sz="2000" b="1" dirty="0">
                <a:solidFill>
                  <a:srgbClr val="0033CC"/>
                </a:solidFill>
                <a:latin typeface="Google Sans"/>
              </a:rPr>
              <a:t>The </a:t>
            </a:r>
            <a:r>
              <a:rPr lang="en-GB" sz="2000" b="1" dirty="0">
                <a:solidFill>
                  <a:srgbClr val="FF0000"/>
                </a:solidFill>
                <a:latin typeface="Google Sans"/>
              </a:rPr>
              <a:t>straitening is inversely proportional to the grain size</a:t>
            </a:r>
            <a:endParaRPr lang="LID4096" sz="2000" b="1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92E9E5-102B-C1F3-0752-9EF03D70C81D}"/>
              </a:ext>
            </a:extLst>
          </p:cNvPr>
          <p:cNvSpPr txBox="1"/>
          <p:nvPr/>
        </p:nvSpPr>
        <p:spPr>
          <a:xfrm>
            <a:off x="8449020" y="5832158"/>
            <a:ext cx="3046294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GB" sz="2000" b="1" dirty="0">
                <a:latin typeface="Google Sans"/>
              </a:rPr>
              <a:t>microstructure prediction</a:t>
            </a:r>
            <a:endParaRPr lang="LID4096" sz="20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EFF3F0-06A7-AF66-025C-AFE0F0301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8149" y="583474"/>
            <a:ext cx="2676525" cy="10191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768D7C2-3B3A-3BDD-84EB-AD4371194041}"/>
              </a:ext>
            </a:extLst>
          </p:cNvPr>
          <p:cNvSpPr txBox="1"/>
          <p:nvPr/>
        </p:nvSpPr>
        <p:spPr>
          <a:xfrm>
            <a:off x="9051412" y="1651032"/>
            <a:ext cx="23655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u="none" strike="noStrike" dirty="0">
                <a:solidFill>
                  <a:srgbClr val="FF0000"/>
                </a:solidFill>
                <a:effectLst/>
                <a:latin typeface="Google Sans"/>
              </a:rPr>
              <a:t>Hall-</a:t>
            </a:r>
            <a:r>
              <a:rPr lang="en-GB" sz="2000" b="1" u="none" strike="noStrike" dirty="0" err="1">
                <a:solidFill>
                  <a:srgbClr val="FF0000"/>
                </a:solidFill>
                <a:effectLst/>
                <a:latin typeface="Google Sans"/>
              </a:rPr>
              <a:t>petch</a:t>
            </a:r>
            <a:r>
              <a:rPr lang="en-GB" sz="2000" b="1" u="none" strike="noStrike" dirty="0">
                <a:solidFill>
                  <a:srgbClr val="FF0000"/>
                </a:solidFill>
                <a:effectLst/>
                <a:latin typeface="Google Sans"/>
              </a:rPr>
              <a:t> equation</a:t>
            </a:r>
          </a:p>
          <a:p>
            <a:r>
              <a:rPr lang="en-GB" sz="2000" dirty="0">
                <a:solidFill>
                  <a:srgbClr val="0000FF"/>
                </a:solidFill>
                <a:latin typeface="Google Sans"/>
              </a:rPr>
              <a:t>microstructure</a:t>
            </a:r>
            <a:endParaRPr lang="LID4096" sz="2000" b="1" dirty="0">
              <a:solidFill>
                <a:srgbClr val="00B05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E50DA34-4F5A-65BF-DF1E-D734E5F39B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9344" y="2336419"/>
            <a:ext cx="3983749" cy="293614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A0BB031-9336-1160-2E99-96260FBC4986}"/>
              </a:ext>
            </a:extLst>
          </p:cNvPr>
          <p:cNvSpPr txBox="1"/>
          <p:nvPr/>
        </p:nvSpPr>
        <p:spPr>
          <a:xfrm>
            <a:off x="400803" y="453927"/>
            <a:ext cx="8447105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Grain nucleation, growth and grain size evolution predicted via</a:t>
            </a:r>
          </a:p>
          <a:p>
            <a:r>
              <a:rPr lang="en-US" b="1" dirty="0"/>
              <a:t>Monte Carlo Potts modelling</a:t>
            </a:r>
            <a:r>
              <a:rPr lang="en-US" dirty="0"/>
              <a:t> </a:t>
            </a:r>
            <a:endParaRPr lang="LID4096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384E7A-81C7-3E3F-A791-16F255EF09E2}"/>
              </a:ext>
            </a:extLst>
          </p:cNvPr>
          <p:cNvSpPr txBox="1"/>
          <p:nvPr/>
        </p:nvSpPr>
        <p:spPr>
          <a:xfrm>
            <a:off x="3476531" y="762297"/>
            <a:ext cx="5342599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sz="2000" b="1" u="none" strike="noStrike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defRPr>
            </a:lvl1pPr>
          </a:lstStyle>
          <a:p>
            <a:r>
              <a:rPr lang="LID4096" sz="1200" dirty="0">
                <a:hlinkClick r:id="rId6"/>
              </a:rPr>
              <a:t>https://www.sciencedirect.com/science/article/pii/S0264127522010620</a:t>
            </a:r>
            <a:endParaRPr lang="LID4096" sz="1200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A319CBDB-0FAE-07E7-71EC-8B695ABB7027}"/>
              </a:ext>
            </a:extLst>
          </p:cNvPr>
          <p:cNvSpPr/>
          <p:nvPr/>
        </p:nvSpPr>
        <p:spPr>
          <a:xfrm rot="2497508">
            <a:off x="7458031" y="497263"/>
            <a:ext cx="316871" cy="271604"/>
          </a:xfrm>
          <a:prstGeom prst="downArrow">
            <a:avLst/>
          </a:prstGeom>
          <a:solidFill>
            <a:srgbClr val="0033CC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6902B0-1632-1F7E-2417-2BBE7C78435B}"/>
              </a:ext>
            </a:extLst>
          </p:cNvPr>
          <p:cNvSpPr txBox="1"/>
          <p:nvPr/>
        </p:nvSpPr>
        <p:spPr>
          <a:xfrm>
            <a:off x="377326" y="1111259"/>
            <a:ext cx="69489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 full-scale Monte Carlo Potts model and real time conversion under non-uniform temperature distribution</a:t>
            </a:r>
            <a:endParaRPr lang="LID4096" sz="1200" dirty="0"/>
          </a:p>
        </p:txBody>
      </p:sp>
    </p:spTree>
    <p:extLst>
      <p:ext uri="{BB962C8B-B14F-4D97-AF65-F5344CB8AC3E}">
        <p14:creationId xmlns:p14="http://schemas.microsoft.com/office/powerpoint/2010/main" val="2716403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D0D116-1D32-79E2-9BCB-5824DFDAAE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5" t="36444" r="43429" b="20381"/>
          <a:stretch>
            <a:fillRect/>
          </a:stretch>
        </p:blipFill>
        <p:spPr>
          <a:xfrm>
            <a:off x="296090" y="163286"/>
            <a:ext cx="5329647" cy="245207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0E7E77-9A8D-A973-C671-40C2F83A4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262" y="163286"/>
            <a:ext cx="5329647" cy="246375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324DDA-E7D4-60A8-55CC-9026B2BFF4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2666"/>
          <a:stretch>
            <a:fillRect/>
          </a:stretch>
        </p:blipFill>
        <p:spPr>
          <a:xfrm>
            <a:off x="5355771" y="3069141"/>
            <a:ext cx="6540138" cy="352107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DCEC407-BA8C-6F0D-88E7-B31B66FD0C81}"/>
              </a:ext>
            </a:extLst>
          </p:cNvPr>
          <p:cNvGrpSpPr>
            <a:grpSpLocks noChangeAspect="1"/>
          </p:cNvGrpSpPr>
          <p:nvPr/>
        </p:nvGrpSpPr>
        <p:grpSpPr>
          <a:xfrm>
            <a:off x="247574" y="3069140"/>
            <a:ext cx="4929672" cy="3521069"/>
            <a:chOff x="296090" y="3039292"/>
            <a:chExt cx="3879670" cy="277109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D65BFA4-C088-CCD1-D809-A96E27A28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39417"/>
            <a:stretch>
              <a:fillRect/>
            </a:stretch>
          </p:blipFill>
          <p:spPr>
            <a:xfrm>
              <a:off x="296090" y="3039292"/>
              <a:ext cx="3879670" cy="277109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BC298BB-4B19-C6B0-4E56-ED59232E5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1195" t="66875" b="20550"/>
            <a:stretch>
              <a:fillRect/>
            </a:stretch>
          </p:blipFill>
          <p:spPr>
            <a:xfrm>
              <a:off x="2734811" y="5399314"/>
              <a:ext cx="1366311" cy="19158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D3DEF22-4651-6263-442C-E57D4CEEA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1195" t="29436" r="6113" b="57988"/>
            <a:stretch>
              <a:fillRect/>
            </a:stretch>
          </p:blipFill>
          <p:spPr>
            <a:xfrm>
              <a:off x="2950045" y="4244294"/>
              <a:ext cx="1151077" cy="19158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913554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A785C8-1B44-7AC8-7F1F-A9091FD86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61" y="360997"/>
            <a:ext cx="9010650" cy="50387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A647F7-E57D-EA63-A89C-E626D095C9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192" t="21310" r="22891" b="61968"/>
          <a:stretch>
            <a:fillRect/>
          </a:stretch>
        </p:blipFill>
        <p:spPr>
          <a:xfrm>
            <a:off x="8490855" y="4204447"/>
            <a:ext cx="3358351" cy="225642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DAD40A5-168F-A2B6-B576-C69A2A4C37C4}"/>
              </a:ext>
            </a:extLst>
          </p:cNvPr>
          <p:cNvGrpSpPr/>
          <p:nvPr/>
        </p:nvGrpSpPr>
        <p:grpSpPr>
          <a:xfrm>
            <a:off x="9469211" y="2041004"/>
            <a:ext cx="2379995" cy="2030253"/>
            <a:chOff x="9469211" y="2041004"/>
            <a:chExt cx="2379995" cy="203025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53FD2BA-5C47-5E56-133C-518C3CD32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4097"/>
            <a:stretch>
              <a:fillRect/>
            </a:stretch>
          </p:blipFill>
          <p:spPr>
            <a:xfrm>
              <a:off x="9469211" y="2041004"/>
              <a:ext cx="2379995" cy="203025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FBB8D5E-3F08-4615-8116-D57A2CD6D324}"/>
                </a:ext>
              </a:extLst>
            </p:cNvPr>
            <p:cNvCxnSpPr/>
            <p:nvPr/>
          </p:nvCxnSpPr>
          <p:spPr>
            <a:xfrm>
              <a:off x="9584559" y="3960222"/>
              <a:ext cx="219456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85DACB8-7440-104F-8E17-D928EA97EDA2}"/>
              </a:ext>
            </a:extLst>
          </p:cNvPr>
          <p:cNvSpPr txBox="1"/>
          <p:nvPr/>
        </p:nvSpPr>
        <p:spPr>
          <a:xfrm>
            <a:off x="748938" y="5902625"/>
            <a:ext cx="6096000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LID4096" sz="2800" b="1" dirty="0"/>
              <a:t>epidexial grain growth</a:t>
            </a:r>
          </a:p>
        </p:txBody>
      </p:sp>
    </p:spTree>
    <p:extLst>
      <p:ext uri="{BB962C8B-B14F-4D97-AF65-F5344CB8AC3E}">
        <p14:creationId xmlns:p14="http://schemas.microsoft.com/office/powerpoint/2010/main" val="360295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8659DA48-A83C-8D14-3FF4-53F220923698}"/>
              </a:ext>
            </a:extLst>
          </p:cNvPr>
          <p:cNvGrpSpPr>
            <a:grpSpLocks noChangeAspect="1"/>
          </p:cNvGrpSpPr>
          <p:nvPr/>
        </p:nvGrpSpPr>
        <p:grpSpPr>
          <a:xfrm>
            <a:off x="405648" y="289333"/>
            <a:ext cx="6579615" cy="2985759"/>
            <a:chOff x="942975" y="1090612"/>
            <a:chExt cx="10306050" cy="467677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0B56A9D-5091-AF70-A8E9-3F8429BAE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2975" y="1090612"/>
              <a:ext cx="10306050" cy="467677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7074D1E-D49F-4FC0-8A73-ABEFEC1886BB}"/>
                </a:ext>
              </a:extLst>
            </p:cNvPr>
            <p:cNvCxnSpPr/>
            <p:nvPr/>
          </p:nvCxnSpPr>
          <p:spPr>
            <a:xfrm>
              <a:off x="5630867" y="3010987"/>
              <a:ext cx="219456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C032DF6-352C-A6D8-B649-213503DAD67B}"/>
                </a:ext>
              </a:extLst>
            </p:cNvPr>
            <p:cNvCxnSpPr/>
            <p:nvPr/>
          </p:nvCxnSpPr>
          <p:spPr>
            <a:xfrm>
              <a:off x="6828295" y="3511730"/>
              <a:ext cx="219456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830954F-812A-F757-0F1C-75D02C9A78B6}"/>
                </a:ext>
              </a:extLst>
            </p:cNvPr>
            <p:cNvCxnSpPr/>
            <p:nvPr/>
          </p:nvCxnSpPr>
          <p:spPr>
            <a:xfrm>
              <a:off x="7572878" y="4386942"/>
              <a:ext cx="219456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Arrow: Down 11">
              <a:extLst>
                <a:ext uri="{FF2B5EF4-FFF2-40B4-BE49-F238E27FC236}">
                  <a16:creationId xmlns:a16="http://schemas.microsoft.com/office/drawing/2014/main" id="{73A5AC3E-9D5C-C1EF-A2C0-7B63ED5B0625}"/>
                </a:ext>
              </a:extLst>
            </p:cNvPr>
            <p:cNvSpPr/>
            <p:nvPr/>
          </p:nvSpPr>
          <p:spPr>
            <a:xfrm>
              <a:off x="8353287" y="4990550"/>
              <a:ext cx="316871" cy="271604"/>
            </a:xfrm>
            <a:prstGeom prst="downArrow">
              <a:avLst/>
            </a:prstGeom>
            <a:solidFill>
              <a:srgbClr val="0033CC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8C323193-B206-987C-E6A1-E396E7078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526" y="3368748"/>
            <a:ext cx="4600412" cy="265758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0DEAF47-DC81-F9D3-18E8-4DCA8394CA11}"/>
              </a:ext>
            </a:extLst>
          </p:cNvPr>
          <p:cNvSpPr txBox="1"/>
          <p:nvPr/>
        </p:nvSpPr>
        <p:spPr>
          <a:xfrm>
            <a:off x="405648" y="3754817"/>
            <a:ext cx="493320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FF"/>
                </a:solidFill>
              </a:rPr>
              <a:t>Wire Laser Additive Manufacturing (WLAM)</a:t>
            </a:r>
            <a:endParaRPr lang="LID4096" b="1" dirty="0">
              <a:solidFill>
                <a:srgbClr val="0000F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88D17B-FA98-2635-E65B-0831902C18CB}"/>
              </a:ext>
            </a:extLst>
          </p:cNvPr>
          <p:cNvSpPr txBox="1"/>
          <p:nvPr/>
        </p:nvSpPr>
        <p:spPr>
          <a:xfrm>
            <a:off x="405648" y="4262035"/>
            <a:ext cx="4933202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LID4096" dirty="0"/>
              <a:t>"cutting the lab work and analysis using microstructure“</a:t>
            </a:r>
            <a:endParaRPr lang="pt-BR" dirty="0"/>
          </a:p>
          <a:p>
            <a:r>
              <a:rPr lang="pt-BR" b="1" dirty="0">
                <a:solidFill>
                  <a:srgbClr val="0000FF"/>
                </a:solidFill>
              </a:rPr>
              <a:t>… LPBF - </a:t>
            </a:r>
            <a:r>
              <a:rPr lang="en-US" b="1" dirty="0">
                <a:solidFill>
                  <a:srgbClr val="0000FF"/>
                </a:solidFill>
              </a:rPr>
              <a:t>Laser Powder Bed Fusion</a:t>
            </a:r>
            <a:endParaRPr lang="LID4096" b="1" dirty="0">
              <a:solidFill>
                <a:srgbClr val="0000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F34519-6940-F4DE-9A51-F390F6FC0F0B}"/>
              </a:ext>
            </a:extLst>
          </p:cNvPr>
          <p:cNvSpPr txBox="1"/>
          <p:nvPr/>
        </p:nvSpPr>
        <p:spPr>
          <a:xfrm>
            <a:off x="7282699" y="1053679"/>
            <a:ext cx="4324074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b="1" noProof="0" dirty="0">
                <a:solidFill>
                  <a:srgbClr val="0000FF"/>
                </a:solidFill>
              </a:rPr>
              <a:t>Process parameter optimization</a:t>
            </a:r>
          </a:p>
          <a:p>
            <a:endParaRPr lang="en-US" b="1" noProof="0" dirty="0">
              <a:solidFill>
                <a:srgbClr val="0000FF"/>
              </a:solidFill>
            </a:endParaRPr>
          </a:p>
          <a:p>
            <a:r>
              <a:rPr lang="en-US" b="1" noProof="0" dirty="0">
                <a:solidFill>
                  <a:srgbClr val="0000FF"/>
                </a:solidFill>
              </a:rPr>
              <a:t>Uniform and defect free tracks</a:t>
            </a:r>
          </a:p>
          <a:p>
            <a:endParaRPr lang="en-US" b="1" dirty="0">
              <a:solidFill>
                <a:srgbClr val="0000FF"/>
              </a:solidFill>
            </a:endParaRPr>
          </a:p>
          <a:p>
            <a:r>
              <a:rPr lang="en-US" b="1" dirty="0">
                <a:solidFill>
                  <a:srgbClr val="0000FF"/>
                </a:solidFill>
              </a:rPr>
              <a:t>Design of experiments </a:t>
            </a:r>
            <a:endParaRPr lang="en-US" b="1" noProof="0" dirty="0">
              <a:solidFill>
                <a:srgbClr val="0000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CB6A0C-DBC9-DBAC-FEC7-1B8D588FBC37}"/>
              </a:ext>
            </a:extLst>
          </p:cNvPr>
          <p:cNvSpPr txBox="1"/>
          <p:nvPr/>
        </p:nvSpPr>
        <p:spPr>
          <a:xfrm>
            <a:off x="405648" y="5383932"/>
            <a:ext cx="493320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VAM - Volumetric Additive Manufacturing </a:t>
            </a:r>
            <a:endParaRPr lang="LID4096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792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354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47</cp:revision>
  <dcterms:created xsi:type="dcterms:W3CDTF">2026-08-21T17:33:14Z</dcterms:created>
  <dcterms:modified xsi:type="dcterms:W3CDTF">2026-08-25T17:24:44Z</dcterms:modified>
</cp:coreProperties>
</file>