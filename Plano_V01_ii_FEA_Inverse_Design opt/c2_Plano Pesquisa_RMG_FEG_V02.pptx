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3" r:id="rId2"/>
    <p:sldId id="316" r:id="rId3"/>
    <p:sldId id="311" r:id="rId4"/>
    <p:sldId id="308" r:id="rId5"/>
    <p:sldId id="315" r:id="rId6"/>
    <p:sldId id="309" r:id="rId7"/>
    <p:sldId id="261" r:id="rId8"/>
    <p:sldId id="312" r:id="rId9"/>
    <p:sldId id="260" r:id="rId10"/>
    <p:sldId id="262" r:id="rId11"/>
    <p:sldId id="283" r:id="rId12"/>
    <p:sldId id="322" r:id="rId13"/>
    <p:sldId id="319" r:id="rId14"/>
    <p:sldId id="299" r:id="rId15"/>
    <p:sldId id="258" r:id="rId16"/>
    <p:sldId id="259" r:id="rId17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E:\15_REPOS\09_CFD__Off\101_-RoadMap_PHD_FEG\_data\laplace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4455930005122673E-2"/>
          <c:y val="4.867850236075056E-2"/>
          <c:w val="0.90825318417392076"/>
          <c:h val="0.73137515898043448"/>
        </c:manualLayout>
      </c:layout>
      <c:surface3DChart>
        <c:wireframe val="0"/>
        <c:ser>
          <c:idx val="0"/>
          <c:order val="0"/>
          <c:tx>
            <c:v>1</c:v>
          </c:tx>
          <c:spPr>
            <a:solidFill>
              <a:schemeClr val="accent1"/>
            </a:solidFill>
            <a:ln/>
            <a:effectLst/>
            <a:sp3d/>
          </c:spPr>
          <c:val>
            <c:numRef>
              <c:f>'Laplace-Z'!$C$6:$AE$6</c:f>
              <c:numCache>
                <c:formatCode>0</c:formatCode>
                <c:ptCount val="2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47-4ACA-A15C-C3E6E993577A}"/>
            </c:ext>
          </c:extLst>
        </c:ser>
        <c:ser>
          <c:idx val="1"/>
          <c:order val="1"/>
          <c:tx>
            <c:v>2</c:v>
          </c:tx>
          <c:spPr>
            <a:solidFill>
              <a:schemeClr val="accent2"/>
            </a:solidFill>
            <a:ln/>
            <a:effectLst/>
            <a:sp3d/>
          </c:spPr>
          <c:val>
            <c:numRef>
              <c:f>'Laplace-Z'!$C$7:$AE$7</c:f>
              <c:numCache>
                <c:formatCode>0</c:formatCode>
                <c:ptCount val="29"/>
                <c:pt idx="0">
                  <c:v>0</c:v>
                </c:pt>
                <c:pt idx="1">
                  <c:v>0.53672478122959288</c:v>
                </c:pt>
                <c:pt idx="2">
                  <c:v>1.0733185325704175</c:v>
                </c:pt>
                <c:pt idx="3">
                  <c:v>1.6090852822997501</c:v>
                </c:pt>
                <c:pt idx="4">
                  <c:v>2.1422062288715926</c:v>
                </c:pt>
                <c:pt idx="5">
                  <c:v>2.6692028274641064</c:v>
                </c:pt>
                <c:pt idx="6">
                  <c:v>3.184466624179465</c:v>
                </c:pt>
                <c:pt idx="7">
                  <c:v>3.6799365509350581</c:v>
                </c:pt>
                <c:pt idx="8">
                  <c:v>4.1450412055931274</c:v>
                </c:pt>
                <c:pt idx="9">
                  <c:v>4.5670423425404785</c:v>
                </c:pt>
                <c:pt idx="10">
                  <c:v>4.9318883869136183</c:v>
                </c:pt>
                <c:pt idx="11">
                  <c:v>5.225586101978501</c:v>
                </c:pt>
                <c:pt idx="12">
                  <c:v>5.4359228651601166</c:v>
                </c:pt>
                <c:pt idx="13">
                  <c:v>5.5541749545049193</c:v>
                </c:pt>
                <c:pt idx="14">
                  <c:v>5.5763302188085824</c:v>
                </c:pt>
                <c:pt idx="15">
                  <c:v>5.5034474077590563</c:v>
                </c:pt>
                <c:pt idx="16">
                  <c:v>5.341090356674524</c:v>
                </c:pt>
                <c:pt idx="17">
                  <c:v>5.0981763014120141</c:v>
                </c:pt>
                <c:pt idx="18">
                  <c:v>4.7856725981038242</c:v>
                </c:pt>
                <c:pt idx="19">
                  <c:v>4.4154138227779329</c:v>
                </c:pt>
                <c:pt idx="20">
                  <c:v>3.9991329416256782</c:v>
                </c:pt>
                <c:pt idx="21">
                  <c:v>3.5477206259240699</c:v>
                </c:pt>
                <c:pt idx="22">
                  <c:v>3.0707123407504766</c:v>
                </c:pt>
                <c:pt idx="23">
                  <c:v>2.5759983966966242</c:v>
                </c:pt>
                <c:pt idx="24">
                  <c:v>2.0697389459985001</c:v>
                </c:pt>
                <c:pt idx="25">
                  <c:v>1.5564502625142715</c:v>
                </c:pt>
                <c:pt idx="26">
                  <c:v>1.0392197180620513</c:v>
                </c:pt>
                <c:pt idx="27">
                  <c:v>0.52000743063427124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47-4ACA-A15C-C3E6E993577A}"/>
            </c:ext>
          </c:extLst>
        </c:ser>
        <c:ser>
          <c:idx val="2"/>
          <c:order val="2"/>
          <c:tx>
            <c:v>3</c:v>
          </c:tx>
          <c:spPr>
            <a:solidFill>
              <a:schemeClr val="accent3"/>
            </a:solidFill>
            <a:ln/>
            <a:effectLst/>
            <a:sp3d/>
          </c:spPr>
          <c:val>
            <c:numRef>
              <c:f>'Laplace-Z'!$C$8:$AE$8</c:f>
              <c:numCache>
                <c:formatCode>0</c:formatCode>
                <c:ptCount val="29"/>
                <c:pt idx="0">
                  <c:v>0</c:v>
                </c:pt>
                <c:pt idx="1">
                  <c:v>1.0735856896201352</c:v>
                </c:pt>
                <c:pt idx="2">
                  <c:v>2.1474726875870163</c:v>
                </c:pt>
                <c:pt idx="3">
                  <c:v>3.2208281609462914</c:v>
                </c:pt>
                <c:pt idx="4">
                  <c:v>4.2905513531355091</c:v>
                </c:pt>
                <c:pt idx="5">
                  <c:v>5.3501553009034968</c:v>
                </c:pt>
                <c:pt idx="6">
                  <c:v>6.3887457916938217</c:v>
                </c:pt>
                <c:pt idx="7">
                  <c:v>7.3902584282664536</c:v>
                </c:pt>
                <c:pt idx="8">
                  <c:v>8.3332069602187779</c:v>
                </c:pt>
                <c:pt idx="9">
                  <c:v>9.1912614454579398</c:v>
                </c:pt>
                <c:pt idx="10">
                  <c:v>9.9349471400405989</c:v>
                </c:pt>
                <c:pt idx="11">
                  <c:v>10.534555366680056</c:v>
                </c:pt>
                <c:pt idx="12">
                  <c:v>10.963952654234724</c:v>
                </c:pt>
                <c:pt idx="13">
                  <c:v>11.204468928661877</c:v>
                </c:pt>
                <c:pt idx="14">
                  <c:v>11.247720572178663</c:v>
                </c:pt>
                <c:pt idx="15">
                  <c:v>11.096390889237981</c:v>
                </c:pt>
                <c:pt idx="16">
                  <c:v>10.762759205234232</c:v>
                </c:pt>
                <c:pt idx="17">
                  <c:v>10.265963229153947</c:v>
                </c:pt>
                <c:pt idx="18">
                  <c:v>9.6291205262561057</c:v>
                </c:pt>
                <c:pt idx="19">
                  <c:v>8.8768690343448426</c:v>
                </c:pt>
                <c:pt idx="20">
                  <c:v>8.0334153369501333</c:v>
                </c:pt>
                <c:pt idx="21">
                  <c:v>7.1210536691266659</c:v>
                </c:pt>
                <c:pt idx="22">
                  <c:v>6.1591449089257848</c:v>
                </c:pt>
                <c:pt idx="23">
                  <c:v>5.1635547006919928</c:v>
                </c:pt>
                <c:pt idx="24">
                  <c:v>4.1465171072759555</c:v>
                </c:pt>
                <c:pt idx="25">
                  <c:v>3.1168497551943903</c:v>
                </c:pt>
                <c:pt idx="26">
                  <c:v>2.0804258081785894</c:v>
                </c:pt>
                <c:pt idx="27">
                  <c:v>1.0408118435552267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47-4ACA-A15C-C3E6E993577A}"/>
            </c:ext>
          </c:extLst>
        </c:ser>
        <c:ser>
          <c:idx val="3"/>
          <c:order val="3"/>
          <c:tx>
            <c:v>4</c:v>
          </c:tx>
          <c:spPr>
            <a:solidFill>
              <a:schemeClr val="accent4"/>
            </a:solidFill>
            <a:ln/>
            <a:effectLst/>
            <a:sp3d/>
          </c:spPr>
          <c:val>
            <c:numRef>
              <c:f>'Laplace-Z'!$C$9:$AE$9</c:f>
              <c:numCache>
                <c:formatCode>0</c:formatCode>
                <c:ptCount val="29"/>
                <c:pt idx="0">
                  <c:v>0</c:v>
                </c:pt>
                <c:pt idx="1">
                  <c:v>1.6101539135344192</c:v>
                </c:pt>
                <c:pt idx="2">
                  <c:v>3.2221726273716471</c:v>
                </c:pt>
                <c:pt idx="3">
                  <c:v>4.8362226312659633</c:v>
                </c:pt>
                <c:pt idx="4">
                  <c:v>6.4490393883957502</c:v>
                </c:pt>
                <c:pt idx="5">
                  <c:v>8.0521484974914976</c:v>
                </c:pt>
                <c:pt idx="6">
                  <c:v>9.6301329100293849</c:v>
                </c:pt>
                <c:pt idx="7">
                  <c:v>11.159176604028559</c:v>
                </c:pt>
                <c:pt idx="8">
                  <c:v>12.606300398170911</c:v>
                </c:pt>
                <c:pt idx="9">
                  <c:v>13.929883874912255</c:v>
                </c:pt>
                <c:pt idx="10">
                  <c:v>15.08211838009937</c:v>
                </c:pt>
                <c:pt idx="11">
                  <c:v>16.013770781528393</c:v>
                </c:pt>
                <c:pt idx="12">
                  <c:v>16.680898672252511</c:v>
                </c:pt>
                <c:pt idx="13">
                  <c:v>17.052062633648706</c:v>
                </c:pt>
                <c:pt idx="14">
                  <c:v>17.113727136751738</c:v>
                </c:pt>
                <c:pt idx="15">
                  <c:v>16.87167091941032</c:v>
                </c:pt>
                <c:pt idx="16">
                  <c:v>16.347626377544927</c:v>
                </c:pt>
                <c:pt idx="17">
                  <c:v>15.573830143447395</c:v>
                </c:pt>
                <c:pt idx="18">
                  <c:v>14.588009392237673</c:v>
                </c:pt>
                <c:pt idx="19">
                  <c:v>13.429557074442537</c:v>
                </c:pt>
                <c:pt idx="20">
                  <c:v>12.136634327214464</c:v>
                </c:pt>
                <c:pt idx="21">
                  <c:v>10.743959926144143</c:v>
                </c:pt>
                <c:pt idx="22">
                  <c:v>9.281282038438281</c:v>
                </c:pt>
                <c:pt idx="23">
                  <c:v>7.772578022511027</c:v>
                </c:pt>
                <c:pt idx="24">
                  <c:v>6.2359407708966543</c:v>
                </c:pt>
                <c:pt idx="25">
                  <c:v>4.6840173810689425</c:v>
                </c:pt>
                <c:pt idx="26">
                  <c:v>3.1248290455563597</c:v>
                </c:pt>
                <c:pt idx="27">
                  <c:v>1.5628167803082165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A47-4ACA-A15C-C3E6E993577A}"/>
            </c:ext>
          </c:extLst>
        </c:ser>
        <c:ser>
          <c:idx val="4"/>
          <c:order val="4"/>
          <c:tx>
            <c:v>5</c:v>
          </c:tx>
          <c:spPr>
            <a:solidFill>
              <a:schemeClr val="accent5"/>
            </a:solidFill>
            <a:ln/>
            <a:effectLst/>
            <a:sp3d/>
          </c:spPr>
          <c:val>
            <c:numRef>
              <c:f>'Laplace-Z'!$C$10:$AE$10</c:f>
              <c:numCache>
                <c:formatCode>0</c:formatCode>
                <c:ptCount val="29"/>
                <c:pt idx="0">
                  <c:v>0</c:v>
                </c:pt>
                <c:pt idx="1">
                  <c:v>2.1448691411561773</c:v>
                </c:pt>
                <c:pt idx="2">
                  <c:v>4.2948605985927992</c:v>
                </c:pt>
                <c:pt idx="3">
                  <c:v>6.4528763727172951</c:v>
                </c:pt>
                <c:pt idx="4">
                  <c:v>8.6172668339259886</c:v>
                </c:pt>
                <c:pt idx="5">
                  <c:v>10.779302840252663</c:v>
                </c:pt>
                <c:pt idx="6">
                  <c:v>12.920500818131302</c:v>
                </c:pt>
                <c:pt idx="7">
                  <c:v>15.010057361214884</c:v>
                </c:pt>
                <c:pt idx="8">
                  <c:v>17.002978551266551</c:v>
                </c:pt>
                <c:pt idx="9">
                  <c:v>18.839900660732535</c:v>
                </c:pt>
                <c:pt idx="10">
                  <c:v>20.449917557501564</c:v>
                </c:pt>
                <c:pt idx="11">
                  <c:v>21.757556639552014</c:v>
                </c:pt>
                <c:pt idx="12">
                  <c:v>22.693854457027911</c:v>
                </c:pt>
                <c:pt idx="13">
                  <c:v>23.209201443539996</c:v>
                </c:pt>
                <c:pt idx="14">
                  <c:v>23.283499808600119</c:v>
                </c:pt>
                <c:pt idx="15">
                  <c:v>22.928984290523772</c:v>
                </c:pt>
                <c:pt idx="16">
                  <c:v>22.182289685448787</c:v>
                </c:pt>
                <c:pt idx="17">
                  <c:v>21.093765123292279</c:v>
                </c:pt>
                <c:pt idx="18">
                  <c:v>19.71957203131015</c:v>
                </c:pt>
                <c:pt idx="19">
                  <c:v>18.11675584841235</c:v>
                </c:pt>
                <c:pt idx="20">
                  <c:v>16.339642727265812</c:v>
                </c:pt>
                <c:pt idx="21">
                  <c:v>14.436904182568359</c:v>
                </c:pt>
                <c:pt idx="22">
                  <c:v>12.449475867757485</c:v>
                </c:pt>
                <c:pt idx="23">
                  <c:v>10.409560556144177</c:v>
                </c:pt>
                <c:pt idx="24">
                  <c:v>8.3406713876182508</c:v>
                </c:pt>
                <c:pt idx="25">
                  <c:v>6.2584651676423171</c:v>
                </c:pt>
                <c:pt idx="26">
                  <c:v>4.1720655460358405</c:v>
                </c:pt>
                <c:pt idx="27">
                  <c:v>2.085629577827826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A47-4ACA-A15C-C3E6E993577A}"/>
            </c:ext>
          </c:extLst>
        </c:ser>
        <c:ser>
          <c:idx val="5"/>
          <c:order val="5"/>
          <c:tx>
            <c:v>6</c:v>
          </c:tx>
          <c:spPr>
            <a:solidFill>
              <a:schemeClr val="accent6"/>
            </a:solidFill>
            <a:ln/>
            <a:effectLst/>
            <a:sp3d/>
          </c:spPr>
          <c:val>
            <c:numRef>
              <c:f>'Laplace-Z'!$C$11:$AE$11</c:f>
              <c:numCache>
                <c:formatCode>0</c:formatCode>
                <c:ptCount val="29"/>
                <c:pt idx="0">
                  <c:v>0</c:v>
                </c:pt>
                <c:pt idx="1">
                  <c:v>2.6744766243963318</c:v>
                </c:pt>
                <c:pt idx="2">
                  <c:v>5.3595479512854958</c:v>
                </c:pt>
                <c:pt idx="3">
                  <c:v>8.0631872134311706</c:v>
                </c:pt>
                <c:pt idx="4">
                  <c:v>10.787887376665457</c:v>
                </c:pt>
                <c:pt idx="5">
                  <c:v>13.527339367246762</c:v>
                </c:pt>
                <c:pt idx="6">
                  <c:v>16.26255846917892</c:v>
                </c:pt>
                <c:pt idx="7">
                  <c:v>18.957624645226808</c:v>
                </c:pt>
                <c:pt idx="8">
                  <c:v>21.555708697834483</c:v>
                </c:pt>
                <c:pt idx="9">
                  <c:v>23.976876413400916</c:v>
                </c:pt>
                <c:pt idx="10">
                  <c:v>26.120148515771284</c:v>
                </c:pt>
                <c:pt idx="11">
                  <c:v>27.872737579940015</c:v>
                </c:pt>
                <c:pt idx="12">
                  <c:v>29.127814605776948</c:v>
                </c:pt>
                <c:pt idx="13">
                  <c:v>29.807442125025094</c:v>
                </c:pt>
                <c:pt idx="14">
                  <c:v>29.882139362816694</c:v>
                </c:pt>
                <c:pt idx="15">
                  <c:v>29.378529455461486</c:v>
                </c:pt>
                <c:pt idx="16">
                  <c:v>28.358835181448192</c:v>
                </c:pt>
                <c:pt idx="17">
                  <c:v>26.899420031654763</c:v>
                </c:pt>
                <c:pt idx="18">
                  <c:v>25.079807795117905</c:v>
                </c:pt>
                <c:pt idx="19">
                  <c:v>22.978299539643444</c:v>
                </c:pt>
                <c:pt idx="20">
                  <c:v>20.66832166466596</c:v>
                </c:pt>
                <c:pt idx="21">
                  <c:v>18.214579578051541</c:v>
                </c:pt>
                <c:pt idx="22">
                  <c:v>15.670193429013651</c:v>
                </c:pt>
                <c:pt idx="23">
                  <c:v>13.075548211900244</c:v>
                </c:pt>
                <c:pt idx="24">
                  <c:v>10.458744126287801</c:v>
                </c:pt>
                <c:pt idx="25">
                  <c:v>7.8371246681615307</c:v>
                </c:pt>
                <c:pt idx="26">
                  <c:v>5.2193495831502625</c:v>
                </c:pt>
                <c:pt idx="27">
                  <c:v>2.6076399119520435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A47-4ACA-A15C-C3E6E993577A}"/>
            </c:ext>
          </c:extLst>
        </c:ser>
        <c:ser>
          <c:idx val="6"/>
          <c:order val="6"/>
          <c:tx>
            <c:v>7</c:v>
          </c:tx>
          <c:spPr>
            <a:solidFill>
              <a:schemeClr val="accent1">
                <a:lumMod val="60000"/>
              </a:schemeClr>
            </a:solidFill>
            <a:ln/>
            <a:effectLst/>
            <a:sp3d/>
          </c:spPr>
          <c:val>
            <c:numRef>
              <c:f>'Laplace-Z'!$C$12:$AE$12</c:f>
              <c:numCache>
                <c:formatCode>0</c:formatCode>
                <c:ptCount val="29"/>
                <c:pt idx="0">
                  <c:v>0</c:v>
                </c:pt>
                <c:pt idx="1">
                  <c:v>3.1935062938491394</c:v>
                </c:pt>
                <c:pt idx="2">
                  <c:v>6.4056946973417475</c:v>
                </c:pt>
                <c:pt idx="3">
                  <c:v>9.652473664422752</c:v>
                </c:pt>
                <c:pt idx="4">
                  <c:v>12.943800288292215</c:v>
                </c:pt>
                <c:pt idx="5">
                  <c:v>16.279659027738028</c:v>
                </c:pt>
                <c:pt idx="6">
                  <c:v>19.644823678707041</c:v>
                </c:pt>
                <c:pt idx="7">
                  <c:v>23.002231505793659</c:v>
                </c:pt>
                <c:pt idx="8">
                  <c:v>26.285414095073119</c:v>
                </c:pt>
                <c:pt idx="9">
                  <c:v>29.391807097105143</c:v>
                </c:pt>
                <c:pt idx="10">
                  <c:v>32.181121544502162</c:v>
                </c:pt>
                <c:pt idx="11">
                  <c:v>34.485488992093565</c:v>
                </c:pt>
                <c:pt idx="12">
                  <c:v>36.137282101247067</c:v>
                </c:pt>
                <c:pt idx="13">
                  <c:v>37.010670534905408</c:v>
                </c:pt>
                <c:pt idx="14">
                  <c:v>37.05914334614625</c:v>
                </c:pt>
                <c:pt idx="15">
                  <c:v>36.344216206707316</c:v>
                </c:pt>
                <c:pt idx="16">
                  <c:v>34.975158590474493</c:v>
                </c:pt>
                <c:pt idx="17">
                  <c:v>33.065328521499559</c:v>
                </c:pt>
                <c:pt idx="18">
                  <c:v>30.721994933955834</c:v>
                </c:pt>
                <c:pt idx="19">
                  <c:v>28.048366262297101</c:v>
                </c:pt>
                <c:pt idx="20">
                  <c:v>25.140815314344536</c:v>
                </c:pt>
                <c:pt idx="21">
                  <c:v>22.082945562759583</c:v>
                </c:pt>
                <c:pt idx="22">
                  <c:v>18.941211530181381</c:v>
                </c:pt>
                <c:pt idx="23">
                  <c:v>15.763730132169993</c:v>
                </c:pt>
                <c:pt idx="24">
                  <c:v>12.58166067015766</c:v>
                </c:pt>
                <c:pt idx="25">
                  <c:v>9.4119605723628581</c:v>
                </c:pt>
                <c:pt idx="26">
                  <c:v>6.2605808760390396</c:v>
                </c:pt>
                <c:pt idx="27">
                  <c:v>3.1255848679247062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47-4ACA-A15C-C3E6E993577A}"/>
            </c:ext>
          </c:extLst>
        </c:ser>
        <c:ser>
          <c:idx val="7"/>
          <c:order val="7"/>
          <c:tx>
            <c:v>8</c:v>
          </c:tx>
          <c:spPr>
            <a:solidFill>
              <a:schemeClr val="accent2">
                <a:lumMod val="60000"/>
              </a:schemeClr>
            </a:solidFill>
            <a:ln/>
            <a:effectLst/>
            <a:sp3d/>
          </c:spPr>
          <c:val>
            <c:numRef>
              <c:f>'Laplace-Z'!$C$13:$AE$13</c:f>
              <c:numCache>
                <c:formatCode>0</c:formatCode>
                <c:ptCount val="29"/>
                <c:pt idx="0">
                  <c:v>0</c:v>
                </c:pt>
                <c:pt idx="1">
                  <c:v>3.6938725984075291</c:v>
                </c:pt>
                <c:pt idx="2">
                  <c:v>7.4172810799850497</c:v>
                </c:pt>
                <c:pt idx="3">
                  <c:v>11.197252642067134</c:v>
                </c:pt>
                <c:pt idx="4">
                  <c:v>15.055229487575888</c:v>
                </c:pt>
                <c:pt idx="5">
                  <c:v>19.002727464307981</c:v>
                </c:pt>
                <c:pt idx="6">
                  <c:v>23.034904711762874</c:v>
                </c:pt>
                <c:pt idx="7">
                  <c:v>27.121125051473449</c:v>
                </c:pt>
                <c:pt idx="8">
                  <c:v>31.191971364535078</c:v>
                </c:pt>
                <c:pt idx="9">
                  <c:v>35.123878237417415</c:v>
                </c:pt>
                <c:pt idx="10">
                  <c:v>38.72710236218208</c:v>
                </c:pt>
                <c:pt idx="11">
                  <c:v>41.750874215466752</c:v>
                </c:pt>
                <c:pt idx="12">
                  <c:v>43.925212685277728</c:v>
                </c:pt>
                <c:pt idx="13">
                  <c:v>45.038872459010264</c:v>
                </c:pt>
                <c:pt idx="14">
                  <c:v>44.999605219925883</c:v>
                </c:pt>
                <c:pt idx="15">
                  <c:v>43.964091740212517</c:v>
                </c:pt>
                <c:pt idx="16">
                  <c:v>42.132313107695211</c:v>
                </c:pt>
                <c:pt idx="17">
                  <c:v>39.664799195114576</c:v>
                </c:pt>
                <c:pt idx="18">
                  <c:v>36.694535191086189</c:v>
                </c:pt>
                <c:pt idx="19">
                  <c:v>33.3524117547773</c:v>
                </c:pt>
                <c:pt idx="20">
                  <c:v>29.76368159975706</c:v>
                </c:pt>
                <c:pt idx="21">
                  <c:v>26.035225750649694</c:v>
                </c:pt>
                <c:pt idx="22">
                  <c:v>22.248021730007892</c:v>
                </c:pt>
                <c:pt idx="23">
                  <c:v>18.456538448831431</c:v>
                </c:pt>
                <c:pt idx="24">
                  <c:v>14.692238725288549</c:v>
                </c:pt>
                <c:pt idx="25">
                  <c:v>10.968498666569385</c:v>
                </c:pt>
                <c:pt idx="26">
                  <c:v>7.2854422441670019</c:v>
                </c:pt>
                <c:pt idx="27">
                  <c:v>3.6341233912669662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A47-4ACA-A15C-C3E6E993577A}"/>
            </c:ext>
          </c:extLst>
        </c:ser>
        <c:ser>
          <c:idx val="8"/>
          <c:order val="8"/>
          <c:tx>
            <c:v>9</c:v>
          </c:tx>
          <c:spPr>
            <a:solidFill>
              <a:schemeClr val="accent3">
                <a:lumMod val="60000"/>
              </a:schemeClr>
            </a:solidFill>
            <a:ln/>
            <a:effectLst/>
            <a:sp3d/>
          </c:spPr>
          <c:val>
            <c:numRef>
              <c:f>'Laplace-Z'!$C$14:$AE$14</c:f>
              <c:numCache>
                <c:formatCode>0</c:formatCode>
                <c:ptCount val="29"/>
                <c:pt idx="0">
                  <c:v>0</c:v>
                </c:pt>
                <c:pt idx="1">
                  <c:v>4.164723178950875</c:v>
                </c:pt>
                <c:pt idx="2">
                  <c:v>8.3723367307157268</c:v>
                </c:pt>
                <c:pt idx="3">
                  <c:v>12.66406919238436</c:v>
                </c:pt>
                <c:pt idx="4">
                  <c:v>17.077188890546807</c:v>
                </c:pt>
                <c:pt idx="5">
                  <c:v>21.641174201558066</c:v>
                </c:pt>
                <c:pt idx="6">
                  <c:v>26.371004157679749</c:v>
                </c:pt>
                <c:pt idx="7">
                  <c:v>31.255455869392268</c:v>
                </c:pt>
                <c:pt idx="8">
                  <c:v>36.237531159293823</c:v>
                </c:pt>
                <c:pt idx="9">
                  <c:v>41.184693628297083</c:v>
                </c:pt>
                <c:pt idx="10">
                  <c:v>45.852594594433455</c:v>
                </c:pt>
                <c:pt idx="11">
                  <c:v>49.865749570330138</c:v>
                </c:pt>
                <c:pt idx="12">
                  <c:v>52.773876967024265</c:v>
                </c:pt>
                <c:pt idx="13">
                  <c:v>54.220055727767679</c:v>
                </c:pt>
                <c:pt idx="14">
                  <c:v>53.936368141413212</c:v>
                </c:pt>
                <c:pt idx="15">
                  <c:v>52.380288309371593</c:v>
                </c:pt>
                <c:pt idx="16">
                  <c:v>49.925259949257821</c:v>
                </c:pt>
                <c:pt idx="17">
                  <c:v>46.767077851419636</c:v>
                </c:pt>
                <c:pt idx="18">
                  <c:v>43.038992951201493</c:v>
                </c:pt>
                <c:pt idx="19">
                  <c:v>38.903121211793298</c:v>
                </c:pt>
                <c:pt idx="20">
                  <c:v>34.526328722187628</c:v>
                </c:pt>
                <c:pt idx="21">
                  <c:v>30.046305704942721</c:v>
                </c:pt>
                <c:pt idx="22">
                  <c:v>25.559157748220223</c:v>
                </c:pt>
                <c:pt idx="23">
                  <c:v>21.122203315726392</c:v>
                </c:pt>
                <c:pt idx="24">
                  <c:v>16.762289541252816</c:v>
                </c:pt>
                <c:pt idx="25">
                  <c:v>12.484376900476612</c:v>
                </c:pt>
                <c:pt idx="26">
                  <c:v>8.2785805272495914</c:v>
                </c:pt>
                <c:pt idx="27">
                  <c:v>4.1254713658309701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A47-4ACA-A15C-C3E6E993577A}"/>
            </c:ext>
          </c:extLst>
        </c:ser>
        <c:ser>
          <c:idx val="9"/>
          <c:order val="9"/>
          <c:tx>
            <c:v>10</c:v>
          </c:tx>
          <c:spPr>
            <a:solidFill>
              <a:schemeClr val="accent4">
                <a:lumMod val="60000"/>
              </a:schemeClr>
            </a:solidFill>
            <a:ln/>
            <a:effectLst/>
            <a:sp3d/>
          </c:spPr>
          <c:val>
            <c:numRef>
              <c:f>'Laplace-Z'!$C$15:$AE$15</c:f>
              <c:numCache>
                <c:formatCode>0</c:formatCode>
                <c:ptCount val="29"/>
                <c:pt idx="0">
                  <c:v>0</c:v>
                </c:pt>
                <c:pt idx="1">
                  <c:v>4.5927045632980317</c:v>
                </c:pt>
                <c:pt idx="2">
                  <c:v>9.2433073245193142</c:v>
                </c:pt>
                <c:pt idx="3">
                  <c:v>14.009543152595754</c:v>
                </c:pt>
                <c:pt idx="4">
                  <c:v>18.948335830687924</c:v>
                </c:pt>
                <c:pt idx="5">
                  <c:v>24.113835392174401</c:v>
                </c:pt>
                <c:pt idx="6">
                  <c:v>29.552544238658054</c:v>
                </c:pt>
                <c:pt idx="7">
                  <c:v>35.292226222482299</c:v>
                </c:pt>
                <c:pt idx="8">
                  <c:v>41.318065344193201</c:v>
                </c:pt>
                <c:pt idx="9">
                  <c:v>47.524828831659065</c:v>
                </c:pt>
                <c:pt idx="10">
                  <c:v>53.632886975016248</c:v>
                </c:pt>
                <c:pt idx="11">
                  <c:v>59.08570267357365</c:v>
                </c:pt>
                <c:pt idx="12">
                  <c:v>63.084537290646864</c:v>
                </c:pt>
                <c:pt idx="13">
                  <c:v>65.1311518667668</c:v>
                </c:pt>
                <c:pt idx="14">
                  <c:v>64.145571194808412</c:v>
                </c:pt>
                <c:pt idx="15">
                  <c:v>61.695483481094179</c:v>
                </c:pt>
                <c:pt idx="16">
                  <c:v>58.421412870575743</c:v>
                </c:pt>
                <c:pt idx="17">
                  <c:v>54.439313614063963</c:v>
                </c:pt>
                <c:pt idx="18">
                  <c:v>49.791293158037064</c:v>
                </c:pt>
                <c:pt idx="19">
                  <c:v>44.694807242376221</c:v>
                </c:pt>
                <c:pt idx="20">
                  <c:v>39.392260961207704</c:v>
                </c:pt>
                <c:pt idx="21">
                  <c:v>34.064562287944995</c:v>
                </c:pt>
                <c:pt idx="22">
                  <c:v>28.820147312507615</c:v>
                </c:pt>
                <c:pt idx="23">
                  <c:v>23.71086834810578</c:v>
                </c:pt>
                <c:pt idx="24">
                  <c:v>18.750372383723942</c:v>
                </c:pt>
                <c:pt idx="25">
                  <c:v>13.928163251247685</c:v>
                </c:pt>
                <c:pt idx="26">
                  <c:v>9.2190464637456415</c:v>
                </c:pt>
                <c:pt idx="27">
                  <c:v>4.5891865544677817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A47-4ACA-A15C-C3E6E993577A}"/>
            </c:ext>
          </c:extLst>
        </c:ser>
        <c:ser>
          <c:idx val="10"/>
          <c:order val="10"/>
          <c:tx>
            <c:v>11</c:v>
          </c:tx>
          <c:spPr>
            <a:solidFill>
              <a:schemeClr val="accent5">
                <a:lumMod val="60000"/>
              </a:schemeClr>
            </a:solidFill>
            <a:ln/>
            <a:effectLst/>
            <a:sp3d/>
          </c:spPr>
          <c:val>
            <c:numRef>
              <c:f>'Laplace-Z'!$C$16:$AE$16</c:f>
              <c:numCache>
                <c:formatCode>0</c:formatCode>
                <c:ptCount val="29"/>
                <c:pt idx="0">
                  <c:v>0</c:v>
                </c:pt>
                <c:pt idx="1">
                  <c:v>4.9628096107817745</c:v>
                </c:pt>
                <c:pt idx="2">
                  <c:v>9.9986796768368542</c:v>
                </c:pt>
                <c:pt idx="3">
                  <c:v>15.182505984096512</c:v>
                </c:pt>
                <c:pt idx="4">
                  <c:v>20.592829967085578</c:v>
                </c:pt>
                <c:pt idx="5">
                  <c:v>26.313346871280551</c:v>
                </c:pt>
                <c:pt idx="6">
                  <c:v>32.433173222080256</c:v>
                </c:pt>
                <c:pt idx="7">
                  <c:v>39.042900942409176</c:v>
                </c:pt>
                <c:pt idx="8">
                  <c:v>46.217733387140413</c:v>
                </c:pt>
                <c:pt idx="9">
                  <c:v>53.963722134143445</c:v>
                </c:pt>
                <c:pt idx="10">
                  <c:v>62.068467879541927</c:v>
                </c:pt>
                <c:pt idx="11">
                  <c:v>69.75967656599579</c:v>
                </c:pt>
                <c:pt idx="12">
                  <c:v>75.347453079667744</c:v>
                </c:pt>
                <c:pt idx="13">
                  <c:v>79.074477212664206</c:v>
                </c:pt>
                <c:pt idx="14">
                  <c:v>75.819318737811301</c:v>
                </c:pt>
                <c:pt idx="15">
                  <c:v>71.83470284718868</c:v>
                </c:pt>
                <c:pt idx="16">
                  <c:v>67.625639313982148</c:v>
                </c:pt>
                <c:pt idx="17">
                  <c:v>62.777518731143786</c:v>
                </c:pt>
                <c:pt idx="18">
                  <c:v>56.992109735770427</c:v>
                </c:pt>
                <c:pt idx="19">
                  <c:v>50.692606150007329</c:v>
                </c:pt>
                <c:pt idx="20">
                  <c:v>44.283398039281799</c:v>
                </c:pt>
                <c:pt idx="21">
                  <c:v>37.999585624518517</c:v>
                </c:pt>
                <c:pt idx="22">
                  <c:v>31.946047341381018</c:v>
                </c:pt>
                <c:pt idx="23">
                  <c:v>26.15079102163002</c:v>
                </c:pt>
                <c:pt idx="24">
                  <c:v>20.600201594174557</c:v>
                </c:pt>
                <c:pt idx="25">
                  <c:v>15.258881756889458</c:v>
                </c:pt>
                <c:pt idx="26">
                  <c:v>10.080270476806387</c:v>
                </c:pt>
                <c:pt idx="27">
                  <c:v>5.0122334038414245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A47-4ACA-A15C-C3E6E993577A}"/>
            </c:ext>
          </c:extLst>
        </c:ser>
        <c:ser>
          <c:idx val="11"/>
          <c:order val="11"/>
          <c:tx>
            <c:v>12</c:v>
          </c:tx>
          <c:spPr>
            <a:solidFill>
              <a:schemeClr val="accent6">
                <a:lumMod val="60000"/>
              </a:schemeClr>
            </a:solidFill>
            <a:ln/>
            <a:effectLst/>
            <a:sp3d/>
          </c:spPr>
          <c:val>
            <c:numRef>
              <c:f>'Laplace-Z'!$C$17:$AE$17</c:f>
              <c:numCache>
                <c:formatCode>0</c:formatCode>
                <c:ptCount val="29"/>
                <c:pt idx="0">
                  <c:v>0</c:v>
                </c:pt>
                <c:pt idx="1">
                  <c:v>5.2598764893297991</c:v>
                </c:pt>
                <c:pt idx="2">
                  <c:v>10.606131182974943</c:v>
                </c:pt>
                <c:pt idx="3">
                  <c:v>16.129017415735792</c:v>
                </c:pt>
                <c:pt idx="4">
                  <c:v>21.927185582534218</c:v>
                </c:pt>
                <c:pt idx="5">
                  <c:v>28.113608279000228</c:v>
                </c:pt>
                <c:pt idx="6">
                  <c:v>34.823961793192382</c:v>
                </c:pt>
                <c:pt idx="7">
                  <c:v>42.228530004343213</c:v>
                </c:pt>
                <c:pt idx="8">
                  <c:v>50.546298945253596</c:v>
                </c:pt>
                <c:pt idx="9">
                  <c:v>60.043904050544796</c:v>
                </c:pt>
                <c:pt idx="10">
                  <c:v>70.917621248445698</c:v>
                </c:pt>
                <c:pt idx="11">
                  <c:v>82.537107935539595</c:v>
                </c:pt>
                <c:pt idx="12">
                  <c:v>89.471140253801835</c:v>
                </c:pt>
                <c:pt idx="13">
                  <c:v>100</c:v>
                </c:pt>
                <c:pt idx="14">
                  <c:v>88.222548314024067</c:v>
                </c:pt>
                <c:pt idx="15">
                  <c:v>82.198400318754892</c:v>
                </c:pt>
                <c:pt idx="16">
                  <c:v>77.468957934341219</c:v>
                </c:pt>
                <c:pt idx="17">
                  <c:v>72.053051970449275</c:v>
                </c:pt>
                <c:pt idx="18">
                  <c:v>64.707065253806476</c:v>
                </c:pt>
                <c:pt idx="19">
                  <c:v>56.800157315199165</c:v>
                </c:pt>
                <c:pt idx="20">
                  <c:v>49.049188538508353</c:v>
                </c:pt>
                <c:pt idx="21">
                  <c:v>41.704383052353634</c:v>
                </c:pt>
                <c:pt idx="22">
                  <c:v>34.813710454910918</c:v>
                </c:pt>
                <c:pt idx="23">
                  <c:v>28.346086574157187</c:v>
                </c:pt>
                <c:pt idx="24">
                  <c:v>22.240793912946849</c:v>
                </c:pt>
                <c:pt idx="25">
                  <c:v>16.426915931886345</c:v>
                </c:pt>
                <c:pt idx="26">
                  <c:v>10.830935096345463</c:v>
                </c:pt>
                <c:pt idx="27">
                  <c:v>5.3794815352141043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8A47-4ACA-A15C-C3E6E993577A}"/>
            </c:ext>
          </c:extLst>
        </c:ser>
        <c:ser>
          <c:idx val="12"/>
          <c:order val="12"/>
          <c:tx>
            <c:v>13</c:v>
          </c:tx>
          <c:spPr>
            <a:solidFill>
              <a:schemeClr val="accent1">
                <a:lumMod val="80000"/>
                <a:lumOff val="20000"/>
              </a:schemeClr>
            </a:solidFill>
            <a:ln/>
            <a:effectLst/>
            <a:sp3d/>
          </c:spPr>
          <c:val>
            <c:numRef>
              <c:f>'Laplace-Z'!$C$18:$AE$18</c:f>
              <c:numCache>
                <c:formatCode>0</c:formatCode>
                <c:ptCount val="29"/>
                <c:pt idx="0">
                  <c:v>0</c:v>
                </c:pt>
                <c:pt idx="1">
                  <c:v>5.4705876883622526</c:v>
                </c:pt>
                <c:pt idx="2">
                  <c:v>11.036986838456187</c:v>
                </c:pt>
                <c:pt idx="3">
                  <c:v>16.800293416700999</c:v>
                </c:pt>
                <c:pt idx="4">
                  <c:v>22.873341061204691</c:v>
                </c:pt>
                <c:pt idx="5">
                  <c:v>29.38999777458924</c:v>
                </c:pt>
                <c:pt idx="6">
                  <c:v>36.520595383113118</c:v>
                </c:pt>
                <c:pt idx="7">
                  <c:v>44.501014946401341</c:v>
                </c:pt>
                <c:pt idx="8">
                  <c:v>53.695077799555818</c:v>
                </c:pt>
                <c:pt idx="9">
                  <c:v>64.748012095333237</c:v>
                </c:pt>
                <c:pt idx="10">
                  <c:v>79.021028273976981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94.872488541416089</c:v>
                </c:pt>
                <c:pt idx="15">
                  <c:v>91.267411307991921</c:v>
                </c:pt>
                <c:pt idx="16">
                  <c:v>87.99876363014036</c:v>
                </c:pt>
                <c:pt idx="17">
                  <c:v>83.258694883742308</c:v>
                </c:pt>
                <c:pt idx="18">
                  <c:v>72.982978407199653</c:v>
                </c:pt>
                <c:pt idx="19">
                  <c:v>62.751811409720517</c:v>
                </c:pt>
                <c:pt idx="20">
                  <c:v>53.408860879769804</c:v>
                </c:pt>
                <c:pt idx="21">
                  <c:v>44.955093019303817</c:v>
                </c:pt>
                <c:pt idx="22">
                  <c:v>37.258367962866174</c:v>
                </c:pt>
                <c:pt idx="23">
                  <c:v>30.179089360890885</c:v>
                </c:pt>
                <c:pt idx="24">
                  <c:v>23.590003378871611</c:v>
                </c:pt>
                <c:pt idx="25">
                  <c:v>17.377076640138291</c:v>
                </c:pt>
                <c:pt idx="26">
                  <c:v>11.437086948354189</c:v>
                </c:pt>
                <c:pt idx="27">
                  <c:v>5.6747624784010702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A47-4ACA-A15C-C3E6E993577A}"/>
            </c:ext>
          </c:extLst>
        </c:ser>
        <c:ser>
          <c:idx val="13"/>
          <c:order val="13"/>
          <c:tx>
            <c:v>14</c:v>
          </c:tx>
          <c:spPr>
            <a:solidFill>
              <a:schemeClr val="accent2">
                <a:lumMod val="80000"/>
                <a:lumOff val="20000"/>
              </a:schemeClr>
            </a:solidFill>
            <a:ln/>
            <a:effectLst/>
            <a:sp3d/>
          </c:spPr>
          <c:val>
            <c:numRef>
              <c:f>'Laplace-Z'!$C$19:$AE$19</c:f>
              <c:numCache>
                <c:formatCode>0</c:formatCode>
                <c:ptCount val="29"/>
                <c:pt idx="0">
                  <c:v>0</c:v>
                </c:pt>
                <c:pt idx="1">
                  <c:v>5.585510061062017</c:v>
                </c:pt>
                <c:pt idx="2">
                  <c:v>11.270970873856253</c:v>
                </c:pt>
                <c:pt idx="3">
                  <c:v>17.161874912685583</c:v>
                </c:pt>
                <c:pt idx="4">
                  <c:v>23.375941762017298</c:v>
                </c:pt>
                <c:pt idx="5">
                  <c:v>30.052504886924627</c:v>
                </c:pt>
                <c:pt idx="6">
                  <c:v>37.367465866059575</c:v>
                </c:pt>
                <c:pt idx="7">
                  <c:v>45.559911589743109</c:v>
                </c:pt>
                <c:pt idx="8">
                  <c:v>54.985031801796993</c:v>
                </c:pt>
                <c:pt idx="9">
                  <c:v>66.232071200455522</c:v>
                </c:pt>
                <c:pt idx="10">
                  <c:v>80.418491817581355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81.214370168241743</c:v>
                </c:pt>
                <c:pt idx="19">
                  <c:v>67.815285552478699</c:v>
                </c:pt>
                <c:pt idx="20">
                  <c:v>56.87939171470174</c:v>
                </c:pt>
                <c:pt idx="21">
                  <c:v>47.448802722108823</c:v>
                </c:pt>
                <c:pt idx="22">
                  <c:v>39.085620019383583</c:v>
                </c:pt>
                <c:pt idx="23">
                  <c:v>31.52193645762398</c:v>
                </c:pt>
                <c:pt idx="24">
                  <c:v>24.563084356415477</c:v>
                </c:pt>
                <c:pt idx="25">
                  <c:v>18.054323268706877</c:v>
                </c:pt>
                <c:pt idx="26">
                  <c:v>11.865587675547463</c:v>
                </c:pt>
                <c:pt idx="27">
                  <c:v>5.8824861249569969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A47-4ACA-A15C-C3E6E993577A}"/>
            </c:ext>
          </c:extLst>
        </c:ser>
        <c:ser>
          <c:idx val="14"/>
          <c:order val="14"/>
          <c:tx>
            <c:v>15</c:v>
          </c:tx>
          <c:spPr>
            <a:solidFill>
              <a:schemeClr val="accent3">
                <a:lumMod val="80000"/>
                <a:lumOff val="20000"/>
              </a:schemeClr>
            </a:solidFill>
            <a:ln/>
            <a:effectLst/>
            <a:sp3d/>
          </c:spPr>
          <c:val>
            <c:numRef>
              <c:f>'Laplace-Z'!$C$20:$AE$20</c:f>
              <c:numCache>
                <c:formatCode>0</c:formatCode>
                <c:ptCount val="29"/>
                <c:pt idx="0">
                  <c:v>0</c:v>
                </c:pt>
                <c:pt idx="1">
                  <c:v>5.6005043359092213</c:v>
                </c:pt>
                <c:pt idx="2">
                  <c:v>11.299547497375928</c:v>
                </c:pt>
                <c:pt idx="3">
                  <c:v>17.200340139007043</c:v>
                </c:pt>
                <c:pt idx="4">
                  <c:v>23.416100415686763</c:v>
                </c:pt>
                <c:pt idx="5">
                  <c:v>30.076672538419579</c:v>
                </c:pt>
                <c:pt idx="6">
                  <c:v>37.336910275488989</c:v>
                </c:pt>
                <c:pt idx="7">
                  <c:v>45.386188536127037</c:v>
                </c:pt>
                <c:pt idx="8">
                  <c:v>54.453113133356908</c:v>
                </c:pt>
                <c:pt idx="9">
                  <c:v>64.776782574300071</c:v>
                </c:pt>
                <c:pt idx="10">
                  <c:v>76.42088265324314</c:v>
                </c:pt>
                <c:pt idx="11">
                  <c:v>88.406352024561244</c:v>
                </c:pt>
                <c:pt idx="12">
                  <c:v>94.919817124392068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84.059239777490461</c:v>
                </c:pt>
                <c:pt idx="19">
                  <c:v>70.415601312835321</c:v>
                </c:pt>
                <c:pt idx="20">
                  <c:v>58.844655620820873</c:v>
                </c:pt>
                <c:pt idx="21">
                  <c:v>48.875146132596399</c:v>
                </c:pt>
                <c:pt idx="22">
                  <c:v>40.113411956208679</c:v>
                </c:pt>
                <c:pt idx="23">
                  <c:v>32.25998750130347</c:v>
                </c:pt>
                <c:pt idx="24">
                  <c:v>25.086103944878431</c:v>
                </c:pt>
                <c:pt idx="25">
                  <c:v>18.411566587902705</c:v>
                </c:pt>
                <c:pt idx="26">
                  <c:v>12.088467995976494</c:v>
                </c:pt>
                <c:pt idx="27">
                  <c:v>5.9895988839177461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A47-4ACA-A15C-C3E6E993577A}"/>
            </c:ext>
          </c:extLst>
        </c:ser>
        <c:ser>
          <c:idx val="15"/>
          <c:order val="15"/>
          <c:tx>
            <c:v>16</c:v>
          </c:tx>
          <c:spPr>
            <a:solidFill>
              <a:schemeClr val="accent4">
                <a:lumMod val="80000"/>
                <a:lumOff val="20000"/>
              </a:schemeClr>
            </a:solidFill>
            <a:ln/>
            <a:effectLst/>
            <a:sp3d/>
          </c:spPr>
          <c:val>
            <c:numRef>
              <c:f>'Laplace-Z'!$C$21:$AE$21</c:f>
              <c:numCache>
                <c:formatCode>0</c:formatCode>
                <c:ptCount val="29"/>
                <c:pt idx="0">
                  <c:v>0</c:v>
                </c:pt>
                <c:pt idx="1">
                  <c:v>5.5169823728318814</c:v>
                </c:pt>
                <c:pt idx="2">
                  <c:v>11.126410356541086</c:v>
                </c:pt>
                <c:pt idx="3">
                  <c:v>16.923884181712189</c:v>
                </c:pt>
                <c:pt idx="4">
                  <c:v>23.011501433702843</c:v>
                </c:pt>
                <c:pt idx="5">
                  <c:v>29.501233115097509</c:v>
                </c:pt>
                <c:pt idx="6">
                  <c:v>36.517373289228907</c:v>
                </c:pt>
                <c:pt idx="7">
                  <c:v>44.194874965013632</c:v>
                </c:pt>
                <c:pt idx="8">
                  <c:v>52.664498269131848</c:v>
                </c:pt>
                <c:pt idx="9">
                  <c:v>62.001101299737826</c:v>
                </c:pt>
                <c:pt idx="10">
                  <c:v>72.081929354370146</c:v>
                </c:pt>
                <c:pt idx="11">
                  <c:v>82.284723095629346</c:v>
                </c:pt>
                <c:pt idx="12">
                  <c:v>91.272922136550633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84.607008157166803</c:v>
                </c:pt>
                <c:pt idx="19">
                  <c:v>70.943254230397841</c:v>
                </c:pt>
                <c:pt idx="20">
                  <c:v>59.208519024328538</c:v>
                </c:pt>
                <c:pt idx="21">
                  <c:v>49.093752290175615</c:v>
                </c:pt>
                <c:pt idx="22">
                  <c:v>40.232931530816685</c:v>
                </c:pt>
                <c:pt idx="23">
                  <c:v>32.318531672522937</c:v>
                </c:pt>
                <c:pt idx="24">
                  <c:v>25.10980586711549</c:v>
                </c:pt>
                <c:pt idx="25">
                  <c:v>18.417392537978508</c:v>
                </c:pt>
                <c:pt idx="26">
                  <c:v>12.0871319946082</c:v>
                </c:pt>
                <c:pt idx="27">
                  <c:v>5.9874457911369028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8A47-4ACA-A15C-C3E6E993577A}"/>
            </c:ext>
          </c:extLst>
        </c:ser>
        <c:ser>
          <c:idx val="16"/>
          <c:order val="16"/>
          <c:tx>
            <c:v>17</c:v>
          </c:tx>
          <c:spPr>
            <a:solidFill>
              <a:schemeClr val="accent5">
                <a:lumMod val="80000"/>
                <a:lumOff val="20000"/>
              </a:schemeClr>
            </a:solidFill>
            <a:ln/>
            <a:effectLst/>
            <a:sp3d/>
          </c:spPr>
          <c:val>
            <c:numRef>
              <c:f>'Laplace-Z'!$C$22:$AE$22</c:f>
              <c:numCache>
                <c:formatCode>0</c:formatCode>
                <c:ptCount val="29"/>
                <c:pt idx="0">
                  <c:v>0</c:v>
                </c:pt>
                <c:pt idx="1">
                  <c:v>5.3410372153620518</c:v>
                </c:pt>
                <c:pt idx="2">
                  <c:v>10.765262847887907</c:v>
                </c:pt>
                <c:pt idx="3">
                  <c:v>16.35733102490364</c:v>
                </c:pt>
                <c:pt idx="4">
                  <c:v>22.204842151897871</c:v>
                </c:pt>
                <c:pt idx="5">
                  <c:v>28.399443967844203</c:v>
                </c:pt>
                <c:pt idx="6">
                  <c:v>35.036534689977145</c:v>
                </c:pt>
                <c:pt idx="7">
                  <c:v>42.211497177076396</c:v>
                </c:pt>
                <c:pt idx="8">
                  <c:v>50.008955159169808</c:v>
                </c:pt>
                <c:pt idx="9">
                  <c:v>58.481237553289532</c:v>
                </c:pt>
                <c:pt idx="10">
                  <c:v>67.621041928778553</c:v>
                </c:pt>
                <c:pt idx="11">
                  <c:v>77.377708819041658</c:v>
                </c:pt>
                <c:pt idx="12">
                  <c:v>87.887155965153013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83.425558464543755</c:v>
                </c:pt>
                <c:pt idx="19">
                  <c:v>69.541917454445326</c:v>
                </c:pt>
                <c:pt idx="20">
                  <c:v>57.952448534568106</c:v>
                </c:pt>
                <c:pt idx="21">
                  <c:v>48.058449280004389</c:v>
                </c:pt>
                <c:pt idx="22">
                  <c:v>39.406066293319128</c:v>
                </c:pt>
                <c:pt idx="23">
                  <c:v>31.671434632016268</c:v>
                </c:pt>
                <c:pt idx="24">
                  <c:v>24.617222834673402</c:v>
                </c:pt>
                <c:pt idx="25">
                  <c:v>18.061086328370148</c:v>
                </c:pt>
                <c:pt idx="26">
                  <c:v>11.855234331245823</c:v>
                </c:pt>
                <c:pt idx="27">
                  <c:v>5.87305649841002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A47-4ACA-A15C-C3E6E993577A}"/>
            </c:ext>
          </c:extLst>
        </c:ser>
        <c:ser>
          <c:idx val="17"/>
          <c:order val="17"/>
          <c:tx>
            <c:v>18</c:v>
          </c:tx>
          <c:spPr>
            <a:solidFill>
              <a:schemeClr val="accent6">
                <a:lumMod val="80000"/>
                <a:lumOff val="20000"/>
              </a:schemeClr>
            </a:solidFill>
            <a:ln/>
            <a:effectLst/>
            <a:sp3d/>
          </c:spPr>
          <c:val>
            <c:numRef>
              <c:f>'Laplace-Z'!$C$23:$AE$23</c:f>
              <c:numCache>
                <c:formatCode>0</c:formatCode>
                <c:ptCount val="29"/>
                <c:pt idx="0">
                  <c:v>0</c:v>
                </c:pt>
                <c:pt idx="1">
                  <c:v>5.0819257390963282</c:v>
                </c:pt>
                <c:pt idx="2">
                  <c:v>10.236307806408007</c:v>
                </c:pt>
                <c:pt idx="3">
                  <c:v>15.535380668325818</c:v>
                </c:pt>
                <c:pt idx="4">
                  <c:v>21.051145991213268</c:v>
                </c:pt>
                <c:pt idx="5">
                  <c:v>26.855224735985139</c:v>
                </c:pt>
                <c:pt idx="6">
                  <c:v>33.017884894922688</c:v>
                </c:pt>
                <c:pt idx="7">
                  <c:v>39.605682903135296</c:v>
                </c:pt>
                <c:pt idx="8">
                  <c:v>46.678641921121603</c:v>
                </c:pt>
                <c:pt idx="9">
                  <c:v>54.293898551308857</c:v>
                </c:pt>
                <c:pt idx="10">
                  <c:v>62.543328784379007</c:v>
                </c:pt>
                <c:pt idx="11">
                  <c:v>71.717939099285047</c:v>
                </c:pt>
                <c:pt idx="12">
                  <c:v>82.898003184221977</c:v>
                </c:pt>
                <c:pt idx="13">
                  <c:v>100</c:v>
                </c:pt>
                <c:pt idx="14">
                  <c:v>92.771789924639961</c:v>
                </c:pt>
                <c:pt idx="15">
                  <c:v>91.239257206667958</c:v>
                </c:pt>
                <c:pt idx="16">
                  <c:v>92.638042814678428</c:v>
                </c:pt>
                <c:pt idx="17">
                  <c:v>100</c:v>
                </c:pt>
                <c:pt idx="18">
                  <c:v>79.553329414770829</c:v>
                </c:pt>
                <c:pt idx="19">
                  <c:v>65.846438282797536</c:v>
                </c:pt>
                <c:pt idx="20">
                  <c:v>55.000942871103135</c:v>
                </c:pt>
                <c:pt idx="21">
                  <c:v>45.781566184592961</c:v>
                </c:pt>
                <c:pt idx="22">
                  <c:v>37.661484896445884</c:v>
                </c:pt>
                <c:pt idx="23">
                  <c:v>30.343949551035006</c:v>
                </c:pt>
                <c:pt idx="24">
                  <c:v>23.626591082180301</c:v>
                </c:pt>
                <c:pt idx="25">
                  <c:v>17.354515473718553</c:v>
                </c:pt>
                <c:pt idx="26">
                  <c:v>11.399674691733846</c:v>
                </c:pt>
                <c:pt idx="27">
                  <c:v>5.6495499128617332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8A47-4ACA-A15C-C3E6E993577A}"/>
            </c:ext>
          </c:extLst>
        </c:ser>
        <c:ser>
          <c:idx val="18"/>
          <c:order val="18"/>
          <c:tx>
            <c:v>19</c:v>
          </c:tx>
          <c:spPr>
            <a:solidFill>
              <a:schemeClr val="accent1">
                <a:lumMod val="80000"/>
              </a:schemeClr>
            </a:solidFill>
            <a:ln/>
            <a:effectLst/>
            <a:sp3d/>
          </c:spPr>
          <c:val>
            <c:numRef>
              <c:f>'Laplace-Z'!$C$24:$AE$24</c:f>
              <c:numCache>
                <c:formatCode>0</c:formatCode>
                <c:ptCount val="29"/>
                <c:pt idx="0">
                  <c:v>0</c:v>
                </c:pt>
                <c:pt idx="1">
                  <c:v>4.7503795119571279</c:v>
                </c:pt>
                <c:pt idx="2">
                  <c:v>9.5626962029490414</c:v>
                </c:pt>
                <c:pt idx="3">
                  <c:v>14.496782725926781</c:v>
                </c:pt>
                <c:pt idx="4">
                  <c:v>19.609189456934118</c:v>
                </c:pt>
                <c:pt idx="5">
                  <c:v>24.952482511662541</c:v>
                </c:pt>
                <c:pt idx="6">
                  <c:v>30.574158060986399</c:v>
                </c:pt>
                <c:pt idx="7">
                  <c:v>36.514767805763761</c:v>
                </c:pt>
                <c:pt idx="8">
                  <c:v>42.806087747023525</c:v>
                </c:pt>
                <c:pt idx="9">
                  <c:v>49.472436472576561</c:v>
                </c:pt>
                <c:pt idx="10">
                  <c:v>56.540477538844911</c:v>
                </c:pt>
                <c:pt idx="11">
                  <c:v>64.052746530902965</c:v>
                </c:pt>
                <c:pt idx="12">
                  <c:v>71.98693347509068</c:v>
                </c:pt>
                <c:pt idx="13">
                  <c:v>79.454212202808776</c:v>
                </c:pt>
                <c:pt idx="14">
                  <c:v>79.847917351538655</c:v>
                </c:pt>
                <c:pt idx="15">
                  <c:v>79.54720971638622</c:v>
                </c:pt>
                <c:pt idx="16">
                  <c:v>79.312923630728662</c:v>
                </c:pt>
                <c:pt idx="17">
                  <c:v>78.162696798927172</c:v>
                </c:pt>
                <c:pt idx="18">
                  <c:v>68.941347026112879</c:v>
                </c:pt>
                <c:pt idx="19">
                  <c:v>59.289595342280066</c:v>
                </c:pt>
                <c:pt idx="20">
                  <c:v>50.423353694264875</c:v>
                </c:pt>
                <c:pt idx="21">
                  <c:v>42.405423666270416</c:v>
                </c:pt>
                <c:pt idx="22">
                  <c:v>35.114391992647526</c:v>
                </c:pt>
                <c:pt idx="23">
                  <c:v>28.416318460191928</c:v>
                </c:pt>
                <c:pt idx="24">
                  <c:v>22.190702080019992</c:v>
                </c:pt>
                <c:pt idx="25">
                  <c:v>16.33072885760944</c:v>
                </c:pt>
                <c:pt idx="26">
                  <c:v>10.739410712030207</c:v>
                </c:pt>
                <c:pt idx="27">
                  <c:v>5.3254723152526324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8A47-4ACA-A15C-C3E6E993577A}"/>
            </c:ext>
          </c:extLst>
        </c:ser>
        <c:ser>
          <c:idx val="19"/>
          <c:order val="19"/>
          <c:tx>
            <c:v>20</c:v>
          </c:tx>
          <c:spPr>
            <a:solidFill>
              <a:schemeClr val="accent2">
                <a:lumMod val="80000"/>
              </a:schemeClr>
            </a:solidFill>
            <a:ln/>
            <a:effectLst/>
            <a:sp3d/>
          </c:spPr>
          <c:val>
            <c:numRef>
              <c:f>'Laplace-Z'!$C$25:$AE$25</c:f>
              <c:numCache>
                <c:formatCode>0</c:formatCode>
                <c:ptCount val="29"/>
                <c:pt idx="0">
                  <c:v>0</c:v>
                </c:pt>
                <c:pt idx="1">
                  <c:v>4.3569168973006196</c:v>
                </c:pt>
                <c:pt idx="2">
                  <c:v>8.7673478000432361</c:v>
                </c:pt>
                <c:pt idx="3">
                  <c:v>13.279908028066021</c:v>
                </c:pt>
                <c:pt idx="4">
                  <c:v>17.936398241187991</c:v>
                </c:pt>
                <c:pt idx="5">
                  <c:v>22.771415099353074</c:v>
                </c:pt>
                <c:pt idx="6">
                  <c:v>27.811557317384548</c:v>
                </c:pt>
                <c:pt idx="7">
                  <c:v>33.073203078790144</c:v>
                </c:pt>
                <c:pt idx="8">
                  <c:v>38.558563072524933</c:v>
                </c:pt>
                <c:pt idx="9">
                  <c:v>44.249335757221189</c:v>
                </c:pt>
                <c:pt idx="10">
                  <c:v>50.093445576366406</c:v>
                </c:pt>
                <c:pt idx="11">
                  <c:v>55.965675350564339</c:v>
                </c:pt>
                <c:pt idx="12">
                  <c:v>61.54280327496317</c:v>
                </c:pt>
                <c:pt idx="13">
                  <c:v>65.982025631507696</c:v>
                </c:pt>
                <c:pt idx="14">
                  <c:v>67.618483353242652</c:v>
                </c:pt>
                <c:pt idx="15">
                  <c:v>67.788765180705553</c:v>
                </c:pt>
                <c:pt idx="16">
                  <c:v>66.903769106570849</c:v>
                </c:pt>
                <c:pt idx="17">
                  <c:v>64.396543753177426</c:v>
                </c:pt>
                <c:pt idx="18">
                  <c:v>58.759797879230035</c:v>
                </c:pt>
                <c:pt idx="19">
                  <c:v>51.947276898481434</c:v>
                </c:pt>
                <c:pt idx="20">
                  <c:v>44.997488998834044</c:v>
                </c:pt>
                <c:pt idx="21">
                  <c:v>38.302418597428698</c:v>
                </c:pt>
                <c:pt idx="22">
                  <c:v>31.974374600013387</c:v>
                </c:pt>
                <c:pt idx="23">
                  <c:v>26.0162600249826</c:v>
                </c:pt>
                <c:pt idx="24">
                  <c:v>20.389194453061609</c:v>
                </c:pt>
                <c:pt idx="25">
                  <c:v>15.038305324288038</c:v>
                </c:pt>
                <c:pt idx="26">
                  <c:v>9.9017780463340141</c:v>
                </c:pt>
                <c:pt idx="27">
                  <c:v>4.9129322714612522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8A47-4ACA-A15C-C3E6E993577A}"/>
            </c:ext>
          </c:extLst>
        </c:ser>
        <c:ser>
          <c:idx val="20"/>
          <c:order val="20"/>
          <c:tx>
            <c:v>21</c:v>
          </c:tx>
          <c:spPr>
            <a:solidFill>
              <a:schemeClr val="accent3">
                <a:lumMod val="80000"/>
              </a:schemeClr>
            </a:solidFill>
            <a:ln/>
            <a:effectLst/>
            <a:sp3d/>
          </c:spPr>
          <c:val>
            <c:numRef>
              <c:f>'Laplace-Z'!$C$26:$AE$26</c:f>
              <c:numCache>
                <c:formatCode>0</c:formatCode>
                <c:ptCount val="29"/>
                <c:pt idx="0">
                  <c:v>0</c:v>
                </c:pt>
                <c:pt idx="1">
                  <c:v>3.9099599561559453</c:v>
                </c:pt>
                <c:pt idx="2">
                  <c:v>7.8699013839723087</c:v>
                </c:pt>
                <c:pt idx="3">
                  <c:v>11.919144691193452</c:v>
                </c:pt>
                <c:pt idx="4">
                  <c:v>16.085129794257377</c:v>
                </c:pt>
                <c:pt idx="5">
                  <c:v>20.385277575658804</c:v>
                </c:pt>
                <c:pt idx="6">
                  <c:v>24.827511738980469</c:v>
                </c:pt>
                <c:pt idx="7">
                  <c:v>29.407983912085292</c:v>
                </c:pt>
                <c:pt idx="8">
                  <c:v>34.105684350374915</c:v>
                </c:pt>
                <c:pt idx="9">
                  <c:v>38.872953455129178</c:v>
                </c:pt>
                <c:pt idx="10">
                  <c:v>43.618344606053896</c:v>
                </c:pt>
                <c:pt idx="11">
                  <c:v>48.173751514675914</c:v>
                </c:pt>
                <c:pt idx="12">
                  <c:v>52.23661885561669</c:v>
                </c:pt>
                <c:pt idx="13">
                  <c:v>55.31264028174472</c:v>
                </c:pt>
                <c:pt idx="14">
                  <c:v>56.855259512084466</c:v>
                </c:pt>
                <c:pt idx="15">
                  <c:v>57.085631398705743</c:v>
                </c:pt>
                <c:pt idx="16">
                  <c:v>56.1168762920083</c:v>
                </c:pt>
                <c:pt idx="17">
                  <c:v>53.759944779245217</c:v>
                </c:pt>
                <c:pt idx="18">
                  <c:v>49.754059044544391</c:v>
                </c:pt>
                <c:pt idx="19">
                  <c:v>44.742261774045204</c:v>
                </c:pt>
                <c:pt idx="20">
                  <c:v>39.316943322501551</c:v>
                </c:pt>
                <c:pt idx="21">
                  <c:v>33.832422381223552</c:v>
                </c:pt>
                <c:pt idx="22">
                  <c:v>28.464460329509279</c:v>
                </c:pt>
                <c:pt idx="23">
                  <c:v>23.285181051901674</c:v>
                </c:pt>
                <c:pt idx="24">
                  <c:v>18.311533598189328</c:v>
                </c:pt>
                <c:pt idx="25">
                  <c:v>13.531537007860299</c:v>
                </c:pt>
                <c:pt idx="26">
                  <c:v>8.9164742186142369</c:v>
                </c:pt>
                <c:pt idx="27">
                  <c:v>4.4244820936880274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A47-4ACA-A15C-C3E6E993577A}"/>
            </c:ext>
          </c:extLst>
        </c:ser>
        <c:ser>
          <c:idx val="21"/>
          <c:order val="21"/>
          <c:tx>
            <c:v>22</c:v>
          </c:tx>
          <c:spPr>
            <a:solidFill>
              <a:schemeClr val="accent4">
                <a:lumMod val="80000"/>
              </a:schemeClr>
            </a:solidFill>
            <a:ln/>
            <a:effectLst/>
            <a:sp3d/>
          </c:spPr>
          <c:val>
            <c:numRef>
              <c:f>'Laplace-Z'!$C$27:$AE$27</c:f>
              <c:numCache>
                <c:formatCode>0</c:formatCode>
                <c:ptCount val="29"/>
                <c:pt idx="0">
                  <c:v>0</c:v>
                </c:pt>
                <c:pt idx="1">
                  <c:v>3.4130397226124733</c:v>
                </c:pt>
                <c:pt idx="2">
                  <c:v>6.8831820722379726</c:v>
                </c:pt>
                <c:pt idx="3">
                  <c:v>10.441678004853131</c:v>
                </c:pt>
                <c:pt idx="4">
                  <c:v>14.099744897495533</c:v>
                </c:pt>
                <c:pt idx="5">
                  <c:v>17.857105748191969</c:v>
                </c:pt>
                <c:pt idx="6">
                  <c:v>21.705284013302482</c:v>
                </c:pt>
                <c:pt idx="7">
                  <c:v>25.62559406301234</c:v>
                </c:pt>
                <c:pt idx="8">
                  <c:v>29.583294339391237</c:v>
                </c:pt>
                <c:pt idx="9">
                  <c:v>33.518504628331165</c:v>
                </c:pt>
                <c:pt idx="10">
                  <c:v>37.333280303708733</c:v>
                </c:pt>
                <c:pt idx="11">
                  <c:v>40.874415892109383</c:v>
                </c:pt>
                <c:pt idx="12">
                  <c:v>43.917325223511028</c:v>
                </c:pt>
                <c:pt idx="13">
                  <c:v>46.176698911773485</c:v>
                </c:pt>
                <c:pt idx="14">
                  <c:v>47.404322507995452</c:v>
                </c:pt>
                <c:pt idx="15">
                  <c:v>47.581662550500788</c:v>
                </c:pt>
                <c:pt idx="16">
                  <c:v>46.71819700324631</c:v>
                </c:pt>
                <c:pt idx="17">
                  <c:v>44.772337044561667</c:v>
                </c:pt>
                <c:pt idx="18">
                  <c:v>41.754268902165173</c:v>
                </c:pt>
                <c:pt idx="19">
                  <c:v>37.950804796185352</c:v>
                </c:pt>
                <c:pt idx="20">
                  <c:v>33.695636137444758</c:v>
                </c:pt>
                <c:pt idx="21">
                  <c:v>29.245901279523707</c:v>
                </c:pt>
                <c:pt idx="22">
                  <c:v>24.765894165535343</c:v>
                </c:pt>
                <c:pt idx="23">
                  <c:v>20.348496931476902</c:v>
                </c:pt>
                <c:pt idx="24">
                  <c:v>16.040243423828031</c:v>
                </c:pt>
                <c:pt idx="25">
                  <c:v>11.859850601138429</c:v>
                </c:pt>
                <c:pt idx="26">
                  <c:v>7.8081091753786858</c:v>
                </c:pt>
                <c:pt idx="27">
                  <c:v>3.8685249227996112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8A47-4ACA-A15C-C3E6E993577A}"/>
            </c:ext>
          </c:extLst>
        </c:ser>
        <c:ser>
          <c:idx val="22"/>
          <c:order val="22"/>
          <c:tx>
            <c:v>23</c:v>
          </c:tx>
          <c:spPr>
            <a:solidFill>
              <a:schemeClr val="accent5">
                <a:lumMod val="80000"/>
              </a:schemeClr>
            </a:solidFill>
            <a:ln/>
            <a:effectLst/>
            <a:sp3d/>
          </c:spPr>
          <c:val>
            <c:numRef>
              <c:f>'Laplace-Z'!$C$28:$AE$28</c:f>
              <c:numCache>
                <c:formatCode>0</c:formatCode>
                <c:ptCount val="29"/>
                <c:pt idx="0">
                  <c:v>0</c:v>
                </c:pt>
                <c:pt idx="1">
                  <c:v>2.8590330882667221</c:v>
                </c:pt>
                <c:pt idx="2">
                  <c:v>5.8081351494139559</c:v>
                </c:pt>
                <c:pt idx="3">
                  <c:v>8.8646750398339123</c:v>
                </c:pt>
                <c:pt idx="4">
                  <c:v>12.015108054945186</c:v>
                </c:pt>
                <c:pt idx="5">
                  <c:v>15.238164213715775</c:v>
                </c:pt>
                <c:pt idx="6">
                  <c:v>18.510976135136044</c:v>
                </c:pt>
                <c:pt idx="7">
                  <c:v>21.805867770322873</c:v>
                </c:pt>
                <c:pt idx="8">
                  <c:v>25.083448599628966</c:v>
                </c:pt>
                <c:pt idx="9">
                  <c:v>28.284543790339434</c:v>
                </c:pt>
                <c:pt idx="10">
                  <c:v>31.321907491745108</c:v>
                </c:pt>
                <c:pt idx="11">
                  <c:v>34.073355326082016</c:v>
                </c:pt>
                <c:pt idx="12">
                  <c:v>36.381613269904747</c:v>
                </c:pt>
                <c:pt idx="13">
                  <c:v>38.072551151656683</c:v>
                </c:pt>
                <c:pt idx="14">
                  <c:v>39.003710487869775</c:v>
                </c:pt>
                <c:pt idx="15">
                  <c:v>39.118539105535639</c:v>
                </c:pt>
                <c:pt idx="16">
                  <c:v>38.401950769856143</c:v>
                </c:pt>
                <c:pt idx="17">
                  <c:v>36.856975307429536</c:v>
                </c:pt>
                <c:pt idx="18">
                  <c:v>34.539911762338321</c:v>
                </c:pt>
                <c:pt idx="19">
                  <c:v>31.611088340486283</c:v>
                </c:pt>
                <c:pt idx="20">
                  <c:v>28.268929454719142</c:v>
                </c:pt>
                <c:pt idx="21">
                  <c:v>24.689684276171693</c:v>
                </c:pt>
                <c:pt idx="22">
                  <c:v>21.004746628429501</c:v>
                </c:pt>
                <c:pt idx="23">
                  <c:v>17.302693412648274</c:v>
                </c:pt>
                <c:pt idx="24">
                  <c:v>13.641111997249757</c:v>
                </c:pt>
                <c:pt idx="25">
                  <c:v>10.05952681874202</c:v>
                </c:pt>
                <c:pt idx="26">
                  <c:v>6.5875952950920063</c:v>
                </c:pt>
                <c:pt idx="27">
                  <c:v>3.241511040799026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8A47-4ACA-A15C-C3E6E993577A}"/>
            </c:ext>
          </c:extLst>
        </c:ser>
        <c:ser>
          <c:idx val="23"/>
          <c:order val="23"/>
          <c:tx>
            <c:v>24</c:v>
          </c:tx>
          <c:spPr>
            <a:solidFill>
              <a:schemeClr val="accent6">
                <a:lumMod val="80000"/>
              </a:schemeClr>
            </a:solidFill>
            <a:ln/>
            <a:effectLst/>
            <a:sp3d/>
          </c:spPr>
          <c:val>
            <c:numRef>
              <c:f>'Laplace-Z'!$C$29:$AE$29</c:f>
              <c:numCache>
                <c:formatCode>0</c:formatCode>
                <c:ptCount val="29"/>
                <c:pt idx="0">
                  <c:v>0</c:v>
                </c:pt>
                <c:pt idx="1">
                  <c:v>2.2149711997351869</c:v>
                </c:pt>
                <c:pt idx="2">
                  <c:v>4.6256726023468575</c:v>
                </c:pt>
                <c:pt idx="3">
                  <c:v>7.1938089748168048</c:v>
                </c:pt>
                <c:pt idx="4">
                  <c:v>9.8578848358494717</c:v>
                </c:pt>
                <c:pt idx="5">
                  <c:v>12.569509062126558</c:v>
                </c:pt>
                <c:pt idx="6">
                  <c:v>15.294634562571023</c:v>
                </c:pt>
                <c:pt idx="7">
                  <c:v>18.003500665203052</c:v>
                </c:pt>
                <c:pt idx="8">
                  <c:v>20.66013783828706</c:v>
                </c:pt>
                <c:pt idx="9">
                  <c:v>23.214363538157222</c:v>
                </c:pt>
                <c:pt idx="10">
                  <c:v>25.596498476783715</c:v>
                </c:pt>
                <c:pt idx="11">
                  <c:v>27.715530817731391</c:v>
                </c:pt>
                <c:pt idx="12">
                  <c:v>29.463265520934453</c:v>
                </c:pt>
                <c:pt idx="13">
                  <c:v>30.728224073515051</c:v>
                </c:pt>
                <c:pt idx="14">
                  <c:v>31.419469501286436</c:v>
                </c:pt>
                <c:pt idx="15">
                  <c:v>31.486871354536291</c:v>
                </c:pt>
                <c:pt idx="16">
                  <c:v>30.914129058929721</c:v>
                </c:pt>
                <c:pt idx="17">
                  <c:v>29.713737835952362</c:v>
                </c:pt>
                <c:pt idx="18">
                  <c:v>27.937349416510568</c:v>
                </c:pt>
                <c:pt idx="19">
                  <c:v>25.684740722319063</c:v>
                </c:pt>
                <c:pt idx="20">
                  <c:v>23.079340412538045</c:v>
                </c:pt>
                <c:pt idx="21">
                  <c:v>20.239188439397694</c:v>
                </c:pt>
                <c:pt idx="22">
                  <c:v>17.260740021753058</c:v>
                </c:pt>
                <c:pt idx="23">
                  <c:v>14.216439464110065</c:v>
                </c:pt>
                <c:pt idx="24">
                  <c:v>11.162001169431701</c:v>
                </c:pt>
                <c:pt idx="25">
                  <c:v>8.1495613281390433</c:v>
                </c:pt>
                <c:pt idx="26">
                  <c:v>5.2412410906043965</c:v>
                </c:pt>
                <c:pt idx="27">
                  <c:v>2.5099260165500143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8A47-4ACA-A15C-C3E6E993577A}"/>
            </c:ext>
          </c:extLst>
        </c:ser>
        <c:ser>
          <c:idx val="24"/>
          <c:order val="24"/>
          <c:tx>
            <c:v>25</c:v>
          </c:tx>
          <c:spPr>
            <a:solidFill>
              <a:schemeClr val="accent1">
                <a:lumMod val="60000"/>
                <a:lumOff val="40000"/>
              </a:schemeClr>
            </a:solidFill>
            <a:ln/>
            <a:effectLst/>
            <a:sp3d/>
          </c:spPr>
          <c:val>
            <c:numRef>
              <c:f>'Laplace-Z'!$C$30:$AE$30</c:f>
              <c:numCache>
                <c:formatCode>0</c:formatCode>
                <c:ptCount val="29"/>
                <c:pt idx="0">
                  <c:v>0</c:v>
                </c:pt>
                <c:pt idx="1">
                  <c:v>1.375189539431104</c:v>
                </c:pt>
                <c:pt idx="2">
                  <c:v>3.2857926885942352</c:v>
                </c:pt>
                <c:pt idx="3">
                  <c:v>5.4270279328795388</c:v>
                </c:pt>
                <c:pt idx="4">
                  <c:v>7.6531438401294469</c:v>
                </c:pt>
                <c:pt idx="5">
                  <c:v>9.8873881465361357</c:v>
                </c:pt>
                <c:pt idx="6">
                  <c:v>12.094591534454606</c:v>
                </c:pt>
                <c:pt idx="7">
                  <c:v>14.253403993186486</c:v>
                </c:pt>
                <c:pt idx="8">
                  <c:v>16.339281231662365</c:v>
                </c:pt>
                <c:pt idx="9">
                  <c:v>18.316316898221</c:v>
                </c:pt>
                <c:pt idx="10">
                  <c:v>20.134234291594957</c:v>
                </c:pt>
                <c:pt idx="11">
                  <c:v>21.729045018148646</c:v>
                </c:pt>
                <c:pt idx="12">
                  <c:v>23.027733532513512</c:v>
                </c:pt>
                <c:pt idx="13">
                  <c:v>23.957648171164124</c:v>
                </c:pt>
                <c:pt idx="14">
                  <c:v>24.459108616252919</c:v>
                </c:pt>
                <c:pt idx="15">
                  <c:v>24.495382849363651</c:v>
                </c:pt>
                <c:pt idx="16">
                  <c:v>24.053990027773288</c:v>
                </c:pt>
                <c:pt idx="17">
                  <c:v>23.146529983931593</c:v>
                </c:pt>
                <c:pt idx="18">
                  <c:v>21.811038330907667</c:v>
                </c:pt>
                <c:pt idx="19">
                  <c:v>20.111214011025918</c:v>
                </c:pt>
                <c:pt idx="20">
                  <c:v>18.124530234798616</c:v>
                </c:pt>
                <c:pt idx="21">
                  <c:v>15.927013660285866</c:v>
                </c:pt>
                <c:pt idx="22">
                  <c:v>13.5826070370727</c:v>
                </c:pt>
                <c:pt idx="23">
                  <c:v>11.140341082571677</c:v>
                </c:pt>
                <c:pt idx="24">
                  <c:v>8.6409056453859332</c:v>
                </c:pt>
                <c:pt idx="25">
                  <c:v>6.1354856854588187</c:v>
                </c:pt>
                <c:pt idx="26">
                  <c:v>3.7178869132343557</c:v>
                </c:pt>
                <c:pt idx="27">
                  <c:v>1.5569532324460926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8A47-4ACA-A15C-C3E6E993577A}"/>
            </c:ext>
          </c:extLst>
        </c:ser>
        <c:ser>
          <c:idx val="25"/>
          <c:order val="25"/>
          <c:tx>
            <c:v>26</c:v>
          </c:tx>
          <c:spPr>
            <a:solidFill>
              <a:schemeClr val="accent2">
                <a:lumMod val="60000"/>
                <a:lumOff val="40000"/>
              </a:schemeClr>
            </a:solidFill>
            <a:ln/>
            <a:effectLst/>
            <a:sp3d/>
          </c:spPr>
          <c:val>
            <c:numRef>
              <c:f>'Laplace-Z'!$C$31:$AE$31</c:f>
              <c:numCache>
                <c:formatCode>0</c:formatCode>
                <c:ptCount val="29"/>
                <c:pt idx="0">
                  <c:v>0</c:v>
                </c:pt>
                <c:pt idx="1">
                  <c:v>0</c:v>
                </c:pt>
                <c:pt idx="2">
                  <c:v>1.7152927887902898</c:v>
                </c:pt>
                <c:pt idx="3">
                  <c:v>3.5753845141607248</c:v>
                </c:pt>
                <c:pt idx="4">
                  <c:v>5.4402981388254421</c:v>
                </c:pt>
                <c:pt idx="5">
                  <c:v>7.2323361827248114</c:v>
                </c:pt>
                <c:pt idx="6">
                  <c:v>8.9429706830135114</c:v>
                </c:pt>
                <c:pt idx="7">
                  <c:v>10.576275930939756</c:v>
                </c:pt>
                <c:pt idx="8">
                  <c:v>12.127300766569</c:v>
                </c:pt>
                <c:pt idx="9">
                  <c:v>13.57742346658496</c:v>
                </c:pt>
                <c:pt idx="10">
                  <c:v>14.895111431423764</c:v>
                </c:pt>
                <c:pt idx="11">
                  <c:v>16.0387153521445</c:v>
                </c:pt>
                <c:pt idx="12">
                  <c:v>16.961008318542611</c:v>
                </c:pt>
                <c:pt idx="13">
                  <c:v>17.615558197433671</c:v>
                </c:pt>
                <c:pt idx="14">
                  <c:v>17.963964472772489</c:v>
                </c:pt>
                <c:pt idx="15">
                  <c:v>17.981590728873577</c:v>
                </c:pt>
                <c:pt idx="16">
                  <c:v>17.65994635296035</c:v>
                </c:pt>
                <c:pt idx="17">
                  <c:v>17.007380636204161</c:v>
                </c:pt>
                <c:pt idx="18">
                  <c:v>16.04908544361291</c:v>
                </c:pt>
                <c:pt idx="19">
                  <c:v>14.824570700034295</c:v>
                </c:pt>
                <c:pt idx="20">
                  <c:v>13.380574891572991</c:v>
                </c:pt>
                <c:pt idx="21">
                  <c:v>11.76174866226366</c:v>
                </c:pt>
                <c:pt idx="22">
                  <c:v>10.002350374009858</c:v>
                </c:pt>
                <c:pt idx="23">
                  <c:v>8.12142599725499</c:v>
                </c:pt>
                <c:pt idx="24">
                  <c:v>6.1258049141688611</c:v>
                </c:pt>
                <c:pt idx="25">
                  <c:v>4.033595386303471</c:v>
                </c:pt>
                <c:pt idx="26">
                  <c:v>1.9378705748844567</c:v>
                </c:pt>
                <c:pt idx="27">
                  <c:v>0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8A47-4ACA-A15C-C3E6E993577A}"/>
            </c:ext>
          </c:extLst>
        </c:ser>
        <c:ser>
          <c:idx val="26"/>
          <c:order val="26"/>
          <c:tx>
            <c:v>27</c:v>
          </c:tx>
          <c:spPr>
            <a:solidFill>
              <a:schemeClr val="accent3">
                <a:lumMod val="60000"/>
                <a:lumOff val="40000"/>
              </a:schemeClr>
            </a:solidFill>
            <a:ln/>
            <a:effectLst/>
            <a:sp3d/>
          </c:spPr>
          <c:val>
            <c:numRef>
              <c:f>'Laplace-Z'!$C$32:$AE$32</c:f>
              <c:numCache>
                <c:formatCode>0</c:formatCode>
                <c:ptCount val="2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1.7189309071966896</c:v>
                </c:pt>
                <c:pt idx="4">
                  <c:v>3.300344476462338</c:v>
                </c:pt>
                <c:pt idx="5">
                  <c:v>4.6587078190605036</c:v>
                </c:pt>
                <c:pt idx="6">
                  <c:v>5.8687017269583013</c:v>
                </c:pt>
                <c:pt idx="7">
                  <c:v>6.9814526460413511</c:v>
                </c:pt>
                <c:pt idx="8">
                  <c:v>8.0162477907744645</c:v>
                </c:pt>
                <c:pt idx="9">
                  <c:v>8.9709905060976922</c:v>
                </c:pt>
                <c:pt idx="10">
                  <c:v>9.8300982564045913</c:v>
                </c:pt>
                <c:pt idx="11">
                  <c:v>10.569721837589178</c:v>
                </c:pt>
                <c:pt idx="12">
                  <c:v>11.16205071483051</c:v>
                </c:pt>
                <c:pt idx="13">
                  <c:v>11.579635542931818</c:v>
                </c:pt>
                <c:pt idx="14">
                  <c:v>11.799623192402633</c:v>
                </c:pt>
                <c:pt idx="15">
                  <c:v>11.807091181704443</c:v>
                </c:pt>
                <c:pt idx="16">
                  <c:v>11.596845027313671</c:v>
                </c:pt>
                <c:pt idx="17">
                  <c:v>11.173980779768984</c:v>
                </c:pt>
                <c:pt idx="18">
                  <c:v>10.553371017770569</c:v>
                </c:pt>
                <c:pt idx="19">
                  <c:v>9.7574260823843453</c:v>
                </c:pt>
                <c:pt idx="20">
                  <c:v>8.8114660719529354</c:v>
                </c:pt>
                <c:pt idx="21">
                  <c:v>7.737069996478338</c:v>
                </c:pt>
                <c:pt idx="22">
                  <c:v>6.543631890366175</c:v>
                </c:pt>
                <c:pt idx="23">
                  <c:v>5.2172171383672143</c:v>
                </c:pt>
                <c:pt idx="24">
                  <c:v>3.7072991806266571</c:v>
                </c:pt>
                <c:pt idx="25">
                  <c:v>1.9352236417325321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8A47-4ACA-A15C-C3E6E993577A}"/>
            </c:ext>
          </c:extLst>
        </c:ser>
        <c:ser>
          <c:idx val="27"/>
          <c:order val="27"/>
          <c:tx>
            <c:v>28</c:v>
          </c:tx>
          <c:spPr>
            <a:solidFill>
              <a:schemeClr val="accent4">
                <a:lumMod val="60000"/>
                <a:lumOff val="40000"/>
              </a:schemeClr>
            </a:solidFill>
            <a:ln/>
            <a:effectLst/>
            <a:sp3d/>
          </c:spPr>
          <c:val>
            <c:numRef>
              <c:f>'Laplace-Z'!$C$33:$AE$33</c:f>
              <c:numCache>
                <c:formatCode>0</c:formatCode>
                <c:ptCount val="2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1.3834504782589074</c:v>
                </c:pt>
                <c:pt idx="5">
                  <c:v>2.2334608836784366</c:v>
                </c:pt>
                <c:pt idx="6">
                  <c:v>2.8916894546100926</c:v>
                </c:pt>
                <c:pt idx="7">
                  <c:v>3.4645999330873325</c:v>
                </c:pt>
                <c:pt idx="8">
                  <c:v>3.9852626775440863</c:v>
                </c:pt>
                <c:pt idx="9">
                  <c:v>4.4602082059185886</c:v>
                </c:pt>
                <c:pt idx="10">
                  <c:v>4.8845849169783593</c:v>
                </c:pt>
                <c:pt idx="11">
                  <c:v>5.2480384504555797</c:v>
                </c:pt>
                <c:pt idx="12">
                  <c:v>5.5378521953607773</c:v>
                </c:pt>
                <c:pt idx="13">
                  <c:v>5.7413246243431777</c:v>
                </c:pt>
                <c:pt idx="14">
                  <c:v>5.8478156009546716</c:v>
                </c:pt>
                <c:pt idx="15">
                  <c:v>5.8503192470486916</c:v>
                </c:pt>
                <c:pt idx="16">
                  <c:v>5.7463746723839204</c:v>
                </c:pt>
                <c:pt idx="17">
                  <c:v>5.5383386758580482</c:v>
                </c:pt>
                <c:pt idx="18">
                  <c:v>5.2330032856924085</c:v>
                </c:pt>
                <c:pt idx="19">
                  <c:v>4.8403072261524835</c:v>
                </c:pt>
                <c:pt idx="20">
                  <c:v>4.3708030113326268</c:v>
                </c:pt>
                <c:pt idx="21">
                  <c:v>3.8314418589056332</c:v>
                </c:pt>
                <c:pt idx="22">
                  <c:v>3.2178970938783062</c:v>
                </c:pt>
                <c:pt idx="23">
                  <c:v>2.4965167246768609</c:v>
                </c:pt>
                <c:pt idx="24">
                  <c:v>1.5509539763258795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8A47-4ACA-A15C-C3E6E993577A}"/>
            </c:ext>
          </c:extLst>
        </c:ser>
        <c:ser>
          <c:idx val="28"/>
          <c:order val="28"/>
          <c:tx>
            <c:v>29</c:v>
          </c:tx>
          <c:spPr>
            <a:solidFill>
              <a:schemeClr val="accent5">
                <a:lumMod val="60000"/>
                <a:lumOff val="40000"/>
              </a:schemeClr>
            </a:solidFill>
            <a:ln/>
            <a:effectLst/>
            <a:sp3d/>
          </c:spPr>
          <c:val>
            <c:numRef>
              <c:f>'Laplace-Z'!$C$34:$AE$34</c:f>
              <c:numCache>
                <c:formatCode>0</c:formatCode>
                <c:ptCount val="2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8A47-4ACA-A15C-C3E6E993577A}"/>
            </c:ext>
          </c:extLst>
        </c:ser>
        <c:bandFmts>
          <c:bandFmt>
            <c:idx val="0"/>
            <c:spPr>
              <a:solidFill>
                <a:schemeClr val="accent1"/>
              </a:solidFill>
              <a:ln/>
              <a:effectLst/>
              <a:sp3d/>
            </c:spPr>
          </c:bandFmt>
          <c:bandFmt>
            <c:idx val="1"/>
            <c:spPr>
              <a:solidFill>
                <a:schemeClr val="accent2"/>
              </a:solidFill>
              <a:ln/>
              <a:effectLst/>
              <a:sp3d/>
            </c:spPr>
          </c:bandFmt>
          <c:bandFmt>
            <c:idx val="2"/>
            <c:spPr>
              <a:solidFill>
                <a:schemeClr val="accent3"/>
              </a:solidFill>
              <a:ln/>
              <a:effectLst/>
              <a:sp3d/>
            </c:spPr>
          </c:bandFmt>
          <c:bandFmt>
            <c:idx val="3"/>
            <c:spPr>
              <a:solidFill>
                <a:schemeClr val="accent4"/>
              </a:solidFill>
              <a:ln/>
              <a:effectLst/>
              <a:sp3d/>
            </c:spPr>
          </c:bandFmt>
          <c:bandFmt>
            <c:idx val="4"/>
            <c:spPr>
              <a:solidFill>
                <a:schemeClr val="accent5"/>
              </a:solidFill>
              <a:ln/>
              <a:effectLst/>
              <a:sp3d/>
            </c:spPr>
          </c:bandFmt>
          <c:bandFmt>
            <c:idx val="5"/>
            <c:spPr>
              <a:solidFill>
                <a:schemeClr val="accent6"/>
              </a:solidFill>
              <a:ln/>
              <a:effectLst/>
              <a:sp3d/>
            </c:spPr>
          </c:bandFmt>
          <c:bandFmt>
            <c:idx val="6"/>
            <c:spPr>
              <a:solidFill>
                <a:schemeClr val="accent1">
                  <a:lumMod val="60000"/>
                </a:schemeClr>
              </a:solidFill>
              <a:ln/>
              <a:effectLst/>
              <a:sp3d/>
            </c:spPr>
          </c:bandFmt>
          <c:bandFmt>
            <c:idx val="7"/>
            <c:spPr>
              <a:solidFill>
                <a:schemeClr val="accent2">
                  <a:lumMod val="60000"/>
                </a:schemeClr>
              </a:solidFill>
              <a:ln/>
              <a:effectLst/>
              <a:sp3d/>
            </c:spPr>
          </c:bandFmt>
          <c:bandFmt>
            <c:idx val="8"/>
            <c:spPr>
              <a:solidFill>
                <a:schemeClr val="accent3">
                  <a:lumMod val="60000"/>
                </a:schemeClr>
              </a:solidFill>
              <a:ln/>
              <a:effectLst/>
              <a:sp3d/>
            </c:spPr>
          </c:bandFmt>
          <c:bandFmt>
            <c:idx val="9"/>
            <c:spPr>
              <a:solidFill>
                <a:schemeClr val="accent4">
                  <a:lumMod val="60000"/>
                </a:schemeClr>
              </a:solidFill>
              <a:ln/>
              <a:effectLst/>
              <a:sp3d/>
            </c:spPr>
          </c:bandFmt>
        </c:bandFmts>
        <c:axId val="261799504"/>
        <c:axId val="1"/>
        <c:axId val="2"/>
      </c:surface3DChart>
      <c:catAx>
        <c:axId val="2617995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LID4096"/>
          </a:p>
        </c:txPr>
        <c:crossAx val="261799504"/>
        <c:crosses val="autoZero"/>
        <c:crossBetween val="midCat"/>
      </c:valAx>
      <c:serAx>
        <c:axId val="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5">
            <a:solidFill>
              <a:srgbClr val="C7C7C7"/>
            </a:solidFill>
            <a:prstDash val="solid"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808080"/>
                </a:solidFill>
                <a:latin typeface="Calibri"/>
                <a:ea typeface="Calibri"/>
                <a:cs typeface="Calibri"/>
              </a:defRPr>
            </a:pPr>
            <a:endParaRPr lang="LID4096"/>
          </a:p>
        </c:txPr>
        <c:crossAx val="1"/>
        <c:crosses val="autoZero"/>
        <c:tickLblSkip val="6"/>
        <c:tickMarkSkip val="1"/>
      </c:serAx>
      <c:spPr>
        <a:noFill/>
        <a:ln w="25400">
          <a:noFill/>
        </a:ln>
      </c:spPr>
    </c:plotArea>
    <c:legend>
      <c:legendPos val="b"/>
      <c:layout>
        <c:manualLayout>
          <c:xMode val="edge"/>
          <c:yMode val="edge"/>
          <c:x val="0.14494566967007913"/>
          <c:y val="0.90563686892079664"/>
          <c:w val="0.83228263133774949"/>
          <c:h val="7.47552879419484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LID4096"/>
        </a:p>
      </c:txPr>
    </c:legend>
    <c:plotVisOnly val="1"/>
    <c:dispBlanksAs val="zero"/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>
      <a:outerShdw blurRad="50800" dist="38100" dir="8100000" algn="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LID4096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2C527-4CFD-466E-8267-110163BF194A}" type="datetimeFigureOut">
              <a:rPr lang="LID4096" smtClean="0"/>
              <a:t>08/21/2026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80EA9F-5FB0-4899-B338-A8A8F77D566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98882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CAF84-5AEF-6290-58A3-A8AD9F5FC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72AE51-A365-5B30-7CA1-0F1A84773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64866-91AF-DC14-2FF8-190B72FCE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EF425-1142-E4D5-6103-1559AD89C9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2B40A-C99B-4123-9E10-3052575DA6B4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0258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BA785-0899-AEEF-2D20-9C5042A6A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95E98C-5C33-6159-A1D3-4B32306D9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E7DF9-FAA7-622B-4457-BD0B00549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F8E85-941D-6662-66CB-8F84C35B5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2B40A-C99B-4123-9E10-3052575DA6B4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34166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34935-9E63-6126-7FAC-4C1F517F2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A9963D-87D1-F1CD-599E-683D811EA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ED4EF-40B0-2312-826B-4E4BF7588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BD2A-D9FF-4BF5-9B01-142BC0E12BC9}" type="datetimeFigureOut">
              <a:rPr lang="LID4096" smtClean="0"/>
              <a:t>08/21/2026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74C77-4629-DA40-70F0-41F4AE504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A923D-2033-EF6B-800B-F086EAB97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7450-6B51-4B52-A7B4-FCE063AC1E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07574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6EB93-3AD3-4AA1-04AB-8D626BD41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C77B6-8F5D-9FD1-6FD1-9B44CA33C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614CA-7ED3-1E19-31E7-8B284314D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BD2A-D9FF-4BF5-9B01-142BC0E12BC9}" type="datetimeFigureOut">
              <a:rPr lang="LID4096" smtClean="0"/>
              <a:t>08/21/2026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EF3A1-EA63-6FD6-47A0-03E6F6676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28CB0-ED9C-85CA-ECD6-FACD7D48D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7450-6B51-4B52-A7B4-FCE063AC1E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56583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BB101-2F1B-3A85-DC38-2C7E91E89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51D70-9283-3918-A9B0-DFD568D06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08FE1-5FC1-8E8E-CFD8-B8910B14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BD2A-D9FF-4BF5-9B01-142BC0E12BC9}" type="datetimeFigureOut">
              <a:rPr lang="LID4096" smtClean="0"/>
              <a:t>08/21/2026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5BC16-0212-FC13-C905-D784FBD1A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9E223-5D05-7ED5-AD3E-9ABDD70C4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7450-6B51-4B52-A7B4-FCE063AC1E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9205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C0F7B-6082-9255-EB25-49F1F414E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61B66-3462-F2A5-6CC5-E36C0C9FA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87495-A897-7757-0C9D-93F908D29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A8092-8AC4-0834-519E-8EC3CCDEC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BD2A-D9FF-4BF5-9B01-142BC0E12BC9}" type="datetimeFigureOut">
              <a:rPr lang="LID4096" smtClean="0"/>
              <a:t>08/21/2026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82371-8B2D-7535-591E-3A11A6B8F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3D534-606B-E803-FC40-6E74F272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7450-6B51-4B52-A7B4-FCE063AC1E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3936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0354-F560-BC88-C100-3E0B8BF24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05962-B6C5-3D67-210A-5B2369054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D8202-EBC6-FDD9-8655-93F0A2487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C7F7ED-FBAB-6932-88E5-A52F9E903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85521C-5147-E9A6-3CAA-ADFF461B35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FD9B7F-A4A4-3444-D339-E3581E60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BD2A-D9FF-4BF5-9B01-142BC0E12BC9}" type="datetimeFigureOut">
              <a:rPr lang="LID4096" smtClean="0"/>
              <a:t>08/21/2026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ACF7B3-9C8F-A709-54AD-E4F14B068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09BD6F-D8DD-BF8B-DAD5-678E8EAA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7450-6B51-4B52-A7B4-FCE063AC1E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5856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5765-3076-C820-8619-ACBAC5D26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F759B-5365-3983-9889-86B8C7C89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BD2A-D9FF-4BF5-9B01-142BC0E12BC9}" type="datetimeFigureOut">
              <a:rPr lang="LID4096" smtClean="0"/>
              <a:t>08/21/2026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17B230-50B9-34DF-A5BE-82D29F2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6F3BD8-ABD8-CAB1-CD5B-8C5F132F9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7450-6B51-4B52-A7B4-FCE063AC1E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32778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DABC73-1764-AC6D-7DC5-22C761222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BD2A-D9FF-4BF5-9B01-142BC0E12BC9}" type="datetimeFigureOut">
              <a:rPr lang="LID4096" smtClean="0"/>
              <a:t>08/21/2026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2B6690-FF5D-1E01-65C8-56A769F6A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9AE1F-9461-CA24-5E5E-81439EABF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7450-6B51-4B52-A7B4-FCE063AC1E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20436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FAEBA-AA1F-8AB7-6012-3B5371EBC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49E07-4DB9-0E20-6CA8-F2B81C092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2A37B8-B95B-7C32-F732-6DCB75199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3B221-BB5F-DB40-CEB3-D9E2B5FEB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BD2A-D9FF-4BF5-9B01-142BC0E12BC9}" type="datetimeFigureOut">
              <a:rPr lang="LID4096" smtClean="0"/>
              <a:t>08/21/2026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B58F2-61D5-55E5-89D7-03E1AB4A5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7B60F-7646-4742-44F5-70436A177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7450-6B51-4B52-A7B4-FCE063AC1E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8133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0D2E-8118-6DC6-F689-D0D24BFA7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3756BD-6B4A-E759-E14A-673BA637F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0D8AE6-260C-0E9E-544E-62B401A61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09B4A-6439-8BE6-7BB5-37878635E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BD2A-D9FF-4BF5-9B01-142BC0E12BC9}" type="datetimeFigureOut">
              <a:rPr lang="LID4096" smtClean="0"/>
              <a:t>08/21/2026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B9CA0-7CA6-7B66-5A07-A2449F2F4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1C09D-8E99-8271-E293-5BA673471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7450-6B51-4B52-A7B4-FCE063AC1E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73296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24A7-0722-5C76-8466-20AC8AA55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7F4724-E534-3DAF-1D2B-D01F27AE0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BC017-5D8D-084E-BF6C-92567C617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BD2A-D9FF-4BF5-9B01-142BC0E12BC9}" type="datetimeFigureOut">
              <a:rPr lang="LID4096" smtClean="0"/>
              <a:t>08/21/2026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4B75A-EC6F-1AAA-919A-84C09CC29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FDCCE-6A3F-A18B-FCF7-DEF27156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7450-6B51-4B52-A7B4-FCE063AC1E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4703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339902-0E69-6C50-50F8-D9B5B65B1C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74920A-162C-E6A5-9F2B-D8232916E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B86C9-6F98-F645-59CC-E9AB25213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BD2A-D9FF-4BF5-9B01-142BC0E12BC9}" type="datetimeFigureOut">
              <a:rPr lang="LID4096" smtClean="0"/>
              <a:t>08/21/2026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B7148-D52E-4A13-1C94-DF4C0893A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2656F-74D2-0A6A-C844-4A9E84FD8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7450-6B51-4B52-A7B4-FCE063AC1E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2246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ED1B9B-1F5F-0F07-B2B4-EB96BAF0C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2C658-F2B2-DA54-AC49-B96A1982F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7B1A7-E7E2-23B2-E542-4D9892721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2BD2A-D9FF-4BF5-9B01-142BC0E12BC9}" type="datetimeFigureOut">
              <a:rPr lang="LID4096" smtClean="0"/>
              <a:t>08/21/2026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D8149-CD74-385C-9BC0-BA823575F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377F2-A655-76A0-5347-1583DCFF7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67450-6B51-4B52-A7B4-FCE063AC1E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20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2.png"/><Relationship Id="rId7" Type="http://schemas.openxmlformats.org/officeDocument/2006/relationships/image" Target="../media/image23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16.png"/><Relationship Id="rId5" Type="http://schemas.openxmlformats.org/officeDocument/2006/relationships/image" Target="../media/image210.png"/><Relationship Id="rId10" Type="http://schemas.openxmlformats.org/officeDocument/2006/relationships/image" Target="../media/image15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image" Target="../media/image2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wmf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etami2022.wixsite.com/betami" TargetMode="External"/><Relationship Id="rId2" Type="http://schemas.openxmlformats.org/officeDocument/2006/relationships/hyperlink" Target="https://grossirm.github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feed/update/urn:li:activity:7288190650825531392/" TargetMode="External"/><Relationship Id="rId5" Type="http://schemas.openxmlformats.org/officeDocument/2006/relationships/hyperlink" Target="https://www.linkedin.com/pulse/pest-mode-rodrigo-m-grossi-ccyvf/?trackingId=N1AH7NyIQZy3zF30RhEUlA%3D%3D" TargetMode="External"/><Relationship Id="rId4" Type="http://schemas.openxmlformats.org/officeDocument/2006/relationships/hyperlink" Target="https://www.linkedin.com/pulse/mf-pest-trough-despair-isto-mesmo-o-cocho-do-rodrigo-m-grossi-spzuf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ature.com/articles/s41467-026-72612-4" TargetMode="External"/><Relationship Id="rId5" Type="http://schemas.openxmlformats.org/officeDocument/2006/relationships/image" Target="../media/image9.jpeg"/><Relationship Id="rId4" Type="http://schemas.openxmlformats.org/officeDocument/2006/relationships/image" Target="../media/image3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etami2022.wixsite.com/betami" TargetMode="External"/><Relationship Id="rId2" Type="http://schemas.openxmlformats.org/officeDocument/2006/relationships/hyperlink" Target="https://grossirm.github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feed/update/urn:li:activity:7288190650825531392/" TargetMode="External"/><Relationship Id="rId5" Type="http://schemas.openxmlformats.org/officeDocument/2006/relationships/hyperlink" Target="https://www.linkedin.com/pulse/pest-mode-rodrigo-m-grossi-ccyvf/?trackingId=N1AH7NyIQZy3zF30RhEUlA%3D%3D" TargetMode="External"/><Relationship Id="rId4" Type="http://schemas.openxmlformats.org/officeDocument/2006/relationships/hyperlink" Target="https://www.linkedin.com/pulse/mf-pest-trough-despair-isto-mesmo-o-cocho-do-rodrigo-m-grossi-spzuf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andfonline.com/doi/full/10.1080/15376494.2026.2692514" TargetMode="External"/><Relationship Id="rId4" Type="http://schemas.openxmlformats.org/officeDocument/2006/relationships/hyperlink" Target="https://grabcad.com/library/ge-jet-engine-bracket-challenge-1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e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EC8A85-18E6-2644-74B8-CA1161148293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DB0719-901A-0993-3818-BD6ED9081DDF}"/>
              </a:ext>
            </a:extLst>
          </p:cNvPr>
          <p:cNvSpPr txBox="1"/>
          <p:nvPr/>
        </p:nvSpPr>
        <p:spPr>
          <a:xfrm>
            <a:off x="1" y="365"/>
            <a:ext cx="6591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bg1">
                    <a:lumMod val="65000"/>
                  </a:schemeClr>
                </a:solidFill>
              </a:rPr>
              <a:t>Proposta Doutorado - Engenharia Mecânica – 1º semestre 2027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0F84BC-C3D2-0212-3134-7883633D6143}"/>
              </a:ext>
            </a:extLst>
          </p:cNvPr>
          <p:cNvSpPr txBox="1"/>
          <p:nvPr/>
        </p:nvSpPr>
        <p:spPr>
          <a:xfrm>
            <a:off x="297724" y="503682"/>
            <a:ext cx="6293577" cy="6204936"/>
          </a:xfrm>
          <a:prstGeom prst="rect">
            <a:avLst/>
          </a:prstGeom>
          <a:solidFill>
            <a:srgbClr val="A7E8FF"/>
          </a:solidFill>
          <a:effectLst/>
        </p:spPr>
        <p:txBody>
          <a:bodyPr wrap="none" lIns="91440" tIns="91440" rIns="91440" bIns="91440" rtlCol="0" anchor="t" anchorCtr="0">
            <a:noAutofit/>
          </a:bodyPr>
          <a:lstStyle>
            <a:defPPr>
              <a:defRPr lang="LID4096"/>
            </a:defPPr>
            <a:lvl1pPr algn="ctr">
              <a:defRPr sz="36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l"/>
            <a:endParaRPr lang="pt-BR" u="sng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32B4FB8-8BBA-3DA7-C984-9D5280D25488}"/>
              </a:ext>
            </a:extLst>
          </p:cNvPr>
          <p:cNvGrpSpPr/>
          <p:nvPr/>
        </p:nvGrpSpPr>
        <p:grpSpPr>
          <a:xfrm>
            <a:off x="442573" y="529253"/>
            <a:ext cx="6063006" cy="6044147"/>
            <a:chOff x="5668418" y="372006"/>
            <a:chExt cx="6063006" cy="6044147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35F5956-A279-218E-5DCF-2CAE419E9104}"/>
                </a:ext>
              </a:extLst>
            </p:cNvPr>
            <p:cNvGrpSpPr/>
            <p:nvPr/>
          </p:nvGrpSpPr>
          <p:grpSpPr>
            <a:xfrm>
              <a:off x="5712305" y="3094262"/>
              <a:ext cx="3407577" cy="1885969"/>
              <a:chOff x="6178952" y="4366766"/>
              <a:chExt cx="4811155" cy="2582433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90A62B8A-BC7D-EB67-F1A5-B7D24AE1B2F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178952" y="4366766"/>
                <a:ext cx="4811155" cy="2582433"/>
                <a:chOff x="6612774" y="3332502"/>
                <a:chExt cx="4250457" cy="2281474"/>
              </a:xfrm>
            </p:grpSpPr>
            <p:pic>
              <p:nvPicPr>
                <p:cNvPr id="70" name="Picture 69">
                  <a:extLst>
                    <a:ext uri="{FF2B5EF4-FFF2-40B4-BE49-F238E27FC236}">
                      <a16:creationId xmlns:a16="http://schemas.microsoft.com/office/drawing/2014/main" id="{AAC48BFF-D1AF-0C06-D6D7-96F16180DB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5807" b="54338"/>
                <a:stretch>
                  <a:fillRect/>
                </a:stretch>
              </p:blipFill>
              <p:spPr>
                <a:xfrm>
                  <a:off x="6612774" y="3332502"/>
                  <a:ext cx="4250457" cy="2281474"/>
                </a:xfrm>
                <a:prstGeom prst="rect">
                  <a:avLst/>
                </a:prstGeom>
                <a:ln w="19050">
                  <a:noFill/>
                </a:ln>
              </p:spPr>
            </p:pic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037913B1-75C3-2FD0-8A95-E9AA8E061D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21117" y="3502743"/>
                  <a:ext cx="0" cy="1963112"/>
                </a:xfrm>
                <a:prstGeom prst="line">
                  <a:avLst/>
                </a:prstGeom>
                <a:ln w="1016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BD1B1DE3-E1FD-EB32-DB94-3323C07CDE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59810" y="5766380"/>
                <a:ext cx="0" cy="1022879"/>
              </a:xfrm>
              <a:prstGeom prst="line">
                <a:avLst/>
              </a:prstGeom>
              <a:ln w="1016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84D28AC-F02F-48A7-4B30-B50B44FEF8C1}"/>
                </a:ext>
              </a:extLst>
            </p:cNvPr>
            <p:cNvSpPr txBox="1"/>
            <p:nvPr/>
          </p:nvSpPr>
          <p:spPr>
            <a:xfrm>
              <a:off x="5686524" y="372006"/>
              <a:ext cx="3108175" cy="461665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LID4096"/>
              </a:defPPr>
              <a:lvl1pPr algn="ctr">
                <a:defRPr b="1">
                  <a:latin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pPr algn="l"/>
              <a:r>
                <a:rPr lang="pt-BR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Premissas</a:t>
              </a:r>
              <a:endParaRPr lang="pt-BR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C089718-85DC-CCD5-A1FD-92CE514CB402}"/>
                </a:ext>
              </a:extLst>
            </p:cNvPr>
            <p:cNvSpPr txBox="1"/>
            <p:nvPr/>
          </p:nvSpPr>
          <p:spPr>
            <a:xfrm>
              <a:off x="5668418" y="2653780"/>
              <a:ext cx="3128764" cy="461665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LID4096"/>
              </a:defPPr>
              <a:lvl1pPr>
                <a:defRPr sz="24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pt-BR" dirty="0"/>
                <a:t>Resultados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Object 4">
                  <a:extLst>
                    <a:ext uri="{63B3BB69-23CF-44E3-9099-C40C66FF867C}">
                      <a14:compatExt spid="_x0000_s1028"/>
                    </a:ext>
                    <a:ext uri="{FF2B5EF4-FFF2-40B4-BE49-F238E27FC236}">
                      <a16:creationId xmlns:a16="http://schemas.microsoft.com/office/drawing/2014/main" id="{E430C16B-3F4E-6F88-3F5B-353667E881B0}"/>
                    </a:ext>
                  </a:extLst>
                </p:cNvPr>
                <p:cNvSpPr txBox="1"/>
                <p:nvPr/>
              </p:nvSpPr>
              <p:spPr>
                <a:xfrm>
                  <a:off x="10661031" y="3751732"/>
                  <a:ext cx="901577" cy="252134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0000FF"/>
                  </a:solidFill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anchor="ctr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1600" b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𝐓</m:t>
                        </m:r>
                        <m:r>
                          <a:rPr lang="pt-BR" sz="1600" b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=</m:t>
                        </m:r>
                        <m:r>
                          <a:rPr lang="pt-BR" sz="1600" b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𝐤𝐛</m:t>
                        </m:r>
                      </m:oMath>
                    </m:oMathPara>
                  </a14:m>
                  <a:endParaRPr lang="en-GB" sz="1600" b="1" dirty="0">
                    <a:solidFill>
                      <a:srgbClr val="0000FF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7" name="Object 4">
                  <a:extLst>
                    <a:ext uri="{63B3BB69-23CF-44E3-9099-C40C66FF867C}">
                      <a14:compatExt xmlns:a14="http://schemas.microsoft.com/office/drawing/2010/main" spid="_x0000_s1028"/>
                    </a:ext>
                    <a:ext uri="{FF2B5EF4-FFF2-40B4-BE49-F238E27FC236}">
                      <a16:creationId xmlns:a16="http://schemas.microsoft.com/office/drawing/2014/main" id="{E430C16B-3F4E-6F88-3F5B-353667E881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1031" y="3751732"/>
                  <a:ext cx="901577" cy="25213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175">
                  <a:solidFill>
                    <a:srgbClr val="0000FF"/>
                  </a:solidFill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Object 4">
                  <a:extLst>
                    <a:ext uri="{63B3BB69-23CF-44E3-9099-C40C66FF867C}">
                      <a14:compatExt spid="_x0000_s1028"/>
                    </a:ext>
                    <a:ext uri="{FF2B5EF4-FFF2-40B4-BE49-F238E27FC236}">
                      <a16:creationId xmlns:a16="http://schemas.microsoft.com/office/drawing/2014/main" id="{1EF9D302-04F8-A8BB-8839-6D37B9BFD7CF}"/>
                    </a:ext>
                  </a:extLst>
                </p:cNvPr>
                <p:cNvSpPr txBox="1"/>
                <p:nvPr/>
              </p:nvSpPr>
              <p:spPr>
                <a:xfrm>
                  <a:off x="9315024" y="3623047"/>
                  <a:ext cx="2250031" cy="1167674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anchor="t" anchorCtr="0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sz="3200" b="1" i="0" dirty="0" smtClean="0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𝐡</m:t>
                        </m:r>
                      </m:oMath>
                    </m:oMathPara>
                  </a14:m>
                  <a:endParaRPr lang="en-GB" sz="32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endParaRPr>
                </a:p>
                <a:p>
                  <a:pPr lvl="0">
                    <a:defRPr/>
                  </a:pPr>
                  <a:r>
                    <a:rPr lang="pt-BR" sz="2000" b="1" dirty="0">
                      <a:solidFill>
                        <a:srgbClr val="00B050"/>
                      </a:solidFill>
                      <a:latin typeface="Calibri (Body)"/>
                      <a:ea typeface="Cambria Math" panose="02040503050406030204" pitchFamily="18" charset="0"/>
                    </a:rPr>
                    <a:t>Carga – Potencial - Gradiente</a:t>
                  </a:r>
                  <a:endParaRPr lang="pt-BR" sz="2800" b="1" dirty="0">
                    <a:solidFill>
                      <a:srgbClr val="00B050"/>
                    </a:solidFill>
                    <a:latin typeface="Calibri (Body)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1" name="Object 4">
                  <a:extLst>
                    <a:ext uri="{63B3BB69-23CF-44E3-9099-C40C66FF867C}">
                      <a14:compatExt xmlns:a14="http://schemas.microsoft.com/office/drawing/2010/main" spid="_x0000_s1028"/>
                    </a:ext>
                    <a:ext uri="{FF2B5EF4-FFF2-40B4-BE49-F238E27FC236}">
                      <a16:creationId xmlns:a16="http://schemas.microsoft.com/office/drawing/2014/main" id="{1EF9D302-04F8-A8BB-8839-6D37B9BFD7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5024" y="3623047"/>
                  <a:ext cx="2250031" cy="116767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175">
                  <a:solidFill>
                    <a:schemeClr val="tx1"/>
                  </a:solidFill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7C0CDF6-C515-837C-07B7-109215E1A960}"/>
                </a:ext>
              </a:extLst>
            </p:cNvPr>
            <p:cNvSpPr txBox="1"/>
            <p:nvPr/>
          </p:nvSpPr>
          <p:spPr>
            <a:xfrm>
              <a:off x="9166518" y="5044553"/>
              <a:ext cx="2547041" cy="1371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t" anchorCtr="0">
              <a:noAutofit/>
            </a:bodyPr>
            <a:lstStyle>
              <a:defPPr>
                <a:defRPr lang="LID4096"/>
              </a:defPPr>
              <a:lvl1pPr algn="ctr">
                <a:defRPr b="1">
                  <a:latin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r>
                <a:rPr lang="pt-BR" sz="2800" spc="-1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Modelo de fluxo</a:t>
              </a:r>
            </a:p>
            <a:p>
              <a:r>
                <a:rPr lang="pt-BR" sz="3200" u="sng" spc="-100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Inversão</a:t>
              </a:r>
            </a:p>
            <a:p>
              <a:r>
                <a:rPr lang="pt-BR" sz="27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“ Loop ”</a:t>
              </a:r>
              <a:endParaRPr lang="pt-BR" sz="2700" u="sng" spc="-100" dirty="0"/>
            </a:p>
          </p:txBody>
        </p:sp>
        <p:pic>
          <p:nvPicPr>
            <p:cNvPr id="64" name="Picture 2" descr="Loop - Free interface icons">
              <a:extLst>
                <a:ext uri="{FF2B5EF4-FFF2-40B4-BE49-F238E27FC236}">
                  <a16:creationId xmlns:a16="http://schemas.microsoft.com/office/drawing/2014/main" id="{35E6A59F-31A6-384F-2E54-A8B08E961E3C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52865" y="2647319"/>
              <a:ext cx="1378559" cy="1378559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Object 4">
                  <a:extLst>
                    <a:ext uri="{63B3BB69-23CF-44E3-9099-C40C66FF867C}">
                      <a14:compatExt spid="_x0000_s1028"/>
                    </a:ext>
                    <a:ext uri="{FF2B5EF4-FFF2-40B4-BE49-F238E27FC236}">
                      <a16:creationId xmlns:a16="http://schemas.microsoft.com/office/drawing/2014/main" id="{EA68B3A7-EFDB-57EC-5683-82B7719CC157}"/>
                    </a:ext>
                  </a:extLst>
                </p:cNvPr>
                <p:cNvSpPr txBox="1"/>
                <p:nvPr/>
              </p:nvSpPr>
              <p:spPr>
                <a:xfrm>
                  <a:off x="5822323" y="5435800"/>
                  <a:ext cx="3055353" cy="980353"/>
                </a:xfrm>
                <a:prstGeom prst="rect">
                  <a:avLst/>
                </a:prstGeom>
                <a:solidFill>
                  <a:srgbClr val="A7E8FF"/>
                </a:solidFill>
                <a:ln w="3175">
                  <a:noFill/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 anchorCtr="0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sz="2200" b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𝐏</m:t>
                        </m:r>
                        <m:d>
                          <m:dPr>
                            <m:ctrlPr>
                              <a:rPr lang="pt-BR" sz="2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200" b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𝐀</m:t>
                            </m:r>
                          </m:e>
                          <m:e>
                            <m:r>
                              <a:rPr lang="pt-BR" sz="2200" b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𝐁</m:t>
                            </m:r>
                          </m:e>
                        </m:d>
                        <m:r>
                          <a:rPr lang="pt-BR" sz="2200" b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ar-AE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200" b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𝐏</m:t>
                            </m:r>
                            <m:d>
                              <m:dPr>
                                <m:ctrlPr>
                                  <a:rPr lang="pt-BR" sz="22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200" b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𝐁</m:t>
                                </m:r>
                              </m:e>
                              <m:e>
                                <m:r>
                                  <a:rPr lang="pt-BR" sz="2200" b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d>
                            <m:r>
                              <a:rPr lang="pt-BR" sz="2200" b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𝐏</m:t>
                            </m:r>
                            <m:r>
                              <a:rPr lang="pt-BR" sz="2200" b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2200" b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𝐀</m:t>
                            </m:r>
                            <m:r>
                              <a:rPr lang="pt-BR" sz="2200" b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pt-BR" sz="2200" b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𝐏</m:t>
                            </m:r>
                            <m:r>
                              <a:rPr lang="pt-BR" sz="2200" b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2200" b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𝐁</m:t>
                            </m:r>
                            <m:r>
                              <a:rPr lang="pt-BR" sz="2200" b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en-GB" sz="22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5" name="Object 4">
                  <a:extLst>
                    <a:ext uri="{63B3BB69-23CF-44E3-9099-C40C66FF867C}">
                      <a14:compatExt xmlns:a14="http://schemas.microsoft.com/office/drawing/2010/main" spid="_x0000_s1028"/>
                    </a:ext>
                    <a:ext uri="{FF2B5EF4-FFF2-40B4-BE49-F238E27FC236}">
                      <a16:creationId xmlns:a16="http://schemas.microsoft.com/office/drawing/2014/main" id="{EA68B3A7-EFDB-57EC-5683-82B7719CC1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2323" y="5435800"/>
                  <a:ext cx="3055353" cy="98035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175">
                  <a:noFill/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477904F-37F6-D1E0-517A-C3FFDA8066B7}"/>
                </a:ext>
              </a:extLst>
            </p:cNvPr>
            <p:cNvSpPr txBox="1"/>
            <p:nvPr/>
          </p:nvSpPr>
          <p:spPr>
            <a:xfrm>
              <a:off x="5684432" y="4944574"/>
              <a:ext cx="3435450" cy="52322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LID4096"/>
              </a:defPPr>
              <a:lvl1pPr algn="ctr">
                <a:defRPr b="1">
                  <a:latin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pPr algn="l"/>
              <a:r>
                <a:rPr lang="pt-BR" sz="28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Cálculo Bayesiano 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3C2052CC-77E6-4B1D-0535-A8AD1540F70E}"/>
              </a:ext>
            </a:extLst>
          </p:cNvPr>
          <p:cNvSpPr txBox="1"/>
          <p:nvPr/>
        </p:nvSpPr>
        <p:spPr>
          <a:xfrm>
            <a:off x="6862012" y="471591"/>
            <a:ext cx="4425693" cy="138499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pt-BR" sz="2800" dirty="0">
                <a:latin typeface="Horley Old Style MT"/>
              </a:rPr>
              <a:t>- Distribuição de materiais, </a:t>
            </a:r>
          </a:p>
          <a:p>
            <a:pPr algn="l"/>
            <a:r>
              <a:rPr lang="pt-BR" sz="2800" dirty="0">
                <a:latin typeface="Horley Old Style MT"/>
              </a:rPr>
              <a:t>- Shape</a:t>
            </a:r>
          </a:p>
          <a:p>
            <a:pPr algn="l"/>
            <a:r>
              <a:rPr lang="pt-BR" sz="2800" dirty="0">
                <a:latin typeface="Horley Old Style MT"/>
              </a:rPr>
              <a:t>- Preenchimento (H|A)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A431E73-E537-934A-B8FF-950390A79A06}"/>
              </a:ext>
            </a:extLst>
          </p:cNvPr>
          <p:cNvSpPr/>
          <p:nvPr/>
        </p:nvSpPr>
        <p:spPr>
          <a:xfrm>
            <a:off x="481538" y="988474"/>
            <a:ext cx="3361172" cy="18708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686D56AD-AEA5-A39C-B043-4C2888EBB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6" r="54968" b="54771"/>
          <a:stretch>
            <a:fillRect/>
          </a:stretch>
        </p:blipFill>
        <p:spPr>
          <a:xfrm>
            <a:off x="657200" y="989935"/>
            <a:ext cx="3212857" cy="1870863"/>
          </a:xfrm>
          <a:prstGeom prst="rect">
            <a:avLst/>
          </a:prstGeom>
          <a:ln w="19050">
            <a:noFill/>
          </a:ln>
        </p:spPr>
      </p:pic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3F96CAF-1B4D-02FD-3FA0-0780174E8499}"/>
              </a:ext>
            </a:extLst>
          </p:cNvPr>
          <p:cNvCxnSpPr>
            <a:cxnSpLocks/>
          </p:cNvCxnSpPr>
          <p:nvPr/>
        </p:nvCxnSpPr>
        <p:spPr>
          <a:xfrm>
            <a:off x="3546504" y="2006191"/>
            <a:ext cx="0" cy="747016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D0C0FB8-6018-8F32-E451-A7EE35C5FDC6}"/>
              </a:ext>
            </a:extLst>
          </p:cNvPr>
          <p:cNvCxnSpPr>
            <a:cxnSpLocks/>
          </p:cNvCxnSpPr>
          <p:nvPr/>
        </p:nvCxnSpPr>
        <p:spPr>
          <a:xfrm>
            <a:off x="578372" y="1130410"/>
            <a:ext cx="0" cy="1622797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Object 4">
                <a:extLst>
                  <a:ext uri="{63B3BB69-23CF-44E3-9099-C40C66FF867C}">
                    <a14:compatExt spid="_x0000_s1028"/>
                  </a:ext>
                  <a:ext uri="{FF2B5EF4-FFF2-40B4-BE49-F238E27FC236}">
                    <a16:creationId xmlns:a16="http://schemas.microsoft.com/office/drawing/2014/main" id="{DD0FA1F1-6AC9-2FF4-5AE0-0C470C0AB339}"/>
                  </a:ext>
                </a:extLst>
              </p:cNvPr>
              <p:cNvSpPr txBox="1"/>
              <p:nvPr/>
            </p:nvSpPr>
            <p:spPr>
              <a:xfrm>
                <a:off x="4094451" y="1147286"/>
                <a:ext cx="2250031" cy="169521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anchor="t" anchorCtr="0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defRPr/>
                </a:pPr>
                <a:endParaRPr lang="pt-BR" sz="300" b="1" i="0" noProof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1" i="0" noProof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𝐤</m:t>
                      </m:r>
                    </m:oMath>
                  </m:oMathPara>
                </a14:m>
                <a:endParaRPr lang="pt-BR" sz="3200" b="1" noProof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lvl="0">
                  <a:defRPr/>
                </a:pPr>
                <a:r>
                  <a:rPr lang="pt-BR" sz="2000" b="1" noProof="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 (Body)"/>
                    <a:ea typeface="Cambria Math" panose="02040503050406030204" pitchFamily="18" charset="0"/>
                  </a:rPr>
                  <a:t>“Condutividade”</a:t>
                </a:r>
              </a:p>
              <a:p>
                <a:pPr lvl="0">
                  <a:defRPr/>
                </a:pPr>
                <a:r>
                  <a:rPr lang="pt-BR" sz="2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 (Body)"/>
                    <a:ea typeface="Cambria Math" panose="02040503050406030204" pitchFamily="18" charset="0"/>
                  </a:rPr>
                  <a:t>“Densidade”</a:t>
                </a:r>
              </a:p>
              <a:p>
                <a:pPr lvl="0">
                  <a:defRPr/>
                </a:pPr>
                <a:r>
                  <a:rPr lang="pt-BR" sz="2000" b="1" noProof="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libri (Body)"/>
                    <a:ea typeface="Cambria Math" panose="02040503050406030204" pitchFamily="18" charset="0"/>
                  </a:rPr>
                  <a:t>“Distribuição”</a:t>
                </a:r>
                <a:endParaRPr lang="pt-BR" sz="100" b="1" noProof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 (Body)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4" name="Object 4">
                <a:extLst>
                  <a:ext uri="{63B3BB69-23CF-44E3-9099-C40C66FF867C}">
                    <a14:compatExt xmlns:a14="http://schemas.microsoft.com/office/drawing/2010/main" spid="_x0000_s1028"/>
                  </a:ext>
                  <a:ext uri="{FF2B5EF4-FFF2-40B4-BE49-F238E27FC236}">
                    <a16:creationId xmlns:a16="http://schemas.microsoft.com/office/drawing/2014/main" id="{DD0FA1F1-6AC9-2FF4-5AE0-0C470C0AB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451" y="1147286"/>
                <a:ext cx="2250031" cy="169521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175"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DCAFB05-DDEA-CD6B-6E0C-9A5A6CB5C80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42301"/>
          <a:stretch>
            <a:fillRect/>
          </a:stretch>
        </p:blipFill>
        <p:spPr>
          <a:xfrm>
            <a:off x="7520283" y="3579482"/>
            <a:ext cx="4322505" cy="301740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63C048-CA66-6929-8E6E-CE4D89D714E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3287" r="57859" b="10634"/>
          <a:stretch>
            <a:fillRect/>
          </a:stretch>
        </p:blipFill>
        <p:spPr>
          <a:xfrm>
            <a:off x="6899467" y="2430442"/>
            <a:ext cx="2895264" cy="1828597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B85F28-BFBA-5FCB-7701-FE096EC71CC4}"/>
              </a:ext>
            </a:extLst>
          </p:cNvPr>
          <p:cNvSpPr txBox="1"/>
          <p:nvPr/>
        </p:nvSpPr>
        <p:spPr>
          <a:xfrm>
            <a:off x="4412307" y="449579"/>
            <a:ext cx="2341949" cy="58477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pt-BR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MODFLOW</a:t>
            </a:r>
            <a:endParaRPr lang="pt-BR" sz="2800" dirty="0">
              <a:latin typeface="Horley Old Style M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A2872-7C55-6E30-5952-D3FC707A9B31}"/>
              </a:ext>
            </a:extLst>
          </p:cNvPr>
          <p:cNvSpPr txBox="1"/>
          <p:nvPr/>
        </p:nvSpPr>
        <p:spPr>
          <a:xfrm>
            <a:off x="9794731" y="2241145"/>
            <a:ext cx="2185764" cy="1077218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pt-BR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FEA | CFD </a:t>
            </a:r>
          </a:p>
          <a:p>
            <a:r>
              <a:rPr lang="pt-BR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... MA</a:t>
            </a:r>
            <a:endParaRPr lang="pt-BR" sz="2800" dirty="0">
              <a:latin typeface="Horley Old Style MT"/>
            </a:endParaRPr>
          </a:p>
        </p:txBody>
      </p:sp>
    </p:spTree>
    <p:extLst>
      <p:ext uri="{BB962C8B-B14F-4D97-AF65-F5344CB8AC3E}">
        <p14:creationId xmlns:p14="http://schemas.microsoft.com/office/powerpoint/2010/main" val="101113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CF88E-FE29-7894-2CE6-5A8ADF39C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3EDF17-8354-DE4D-9758-1CC8D3C67CB6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7820B3-17C5-871A-B297-842F2F5E350E}"/>
              </a:ext>
            </a:extLst>
          </p:cNvPr>
          <p:cNvSpPr txBox="1"/>
          <p:nvPr/>
        </p:nvSpPr>
        <p:spPr>
          <a:xfrm>
            <a:off x="1" y="365"/>
            <a:ext cx="6591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bg1">
                    <a:lumMod val="65000"/>
                  </a:schemeClr>
                </a:solidFill>
              </a:rPr>
              <a:t>Proposta Doutorado - Engenharia Mecânica – 1º semestre 2027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C5F1AE-5A5D-7775-2615-1B78EA849EC6}"/>
              </a:ext>
            </a:extLst>
          </p:cNvPr>
          <p:cNvSpPr txBox="1"/>
          <p:nvPr/>
        </p:nvSpPr>
        <p:spPr>
          <a:xfrm>
            <a:off x="297724" y="503682"/>
            <a:ext cx="5798276" cy="5850635"/>
          </a:xfrm>
          <a:prstGeom prst="rect">
            <a:avLst/>
          </a:prstGeom>
          <a:solidFill>
            <a:srgbClr val="A7E8FF"/>
          </a:solidFill>
          <a:effectLst/>
        </p:spPr>
        <p:txBody>
          <a:bodyPr wrap="none" lIns="91440" tIns="91440" rIns="91440" bIns="91440" rtlCol="0" anchor="t" anchorCtr="0">
            <a:noAutofit/>
          </a:bodyPr>
          <a:lstStyle>
            <a:defPPr>
              <a:defRPr lang="LID4096"/>
            </a:defPPr>
            <a:lvl1pPr algn="ctr">
              <a:defRPr sz="36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l"/>
            <a:r>
              <a:rPr lang="pt-BR" u="sng" dirty="0"/>
              <a:t>Contexto</a:t>
            </a:r>
          </a:p>
          <a:p>
            <a:pPr algn="l"/>
            <a:endParaRPr lang="pt-BR" u="sng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11891D9-2C00-69FD-8F25-05F16DD55B4C}"/>
              </a:ext>
            </a:extLst>
          </p:cNvPr>
          <p:cNvGrpSpPr>
            <a:grpSpLocks noChangeAspect="1"/>
          </p:cNvGrpSpPr>
          <p:nvPr/>
        </p:nvGrpSpPr>
        <p:grpSpPr>
          <a:xfrm>
            <a:off x="491010" y="1315874"/>
            <a:ext cx="3003628" cy="2309139"/>
            <a:chOff x="1741729" y="4296514"/>
            <a:chExt cx="3498330" cy="2689459"/>
          </a:xfrm>
        </p:grpSpPr>
        <p:pic>
          <p:nvPicPr>
            <p:cNvPr id="40" name="Picture 4">
              <a:extLst>
                <a:ext uri="{FF2B5EF4-FFF2-40B4-BE49-F238E27FC236}">
                  <a16:creationId xmlns:a16="http://schemas.microsoft.com/office/drawing/2014/main" id="{D57F38D7-2A46-5A8E-E4E0-4D9E61CF07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1729" y="4296514"/>
              <a:ext cx="3498330" cy="2689459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DF42DD3-E4BD-03E2-3CFD-7FECD3F16728}"/>
                </a:ext>
              </a:extLst>
            </p:cNvPr>
            <p:cNvSpPr txBox="1"/>
            <p:nvPr/>
          </p:nvSpPr>
          <p:spPr>
            <a:xfrm>
              <a:off x="1937633" y="6367806"/>
              <a:ext cx="940438" cy="46600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pt-BR" sz="2000" b="1" i="0" u="none" strike="noStrike" baseline="0" noProof="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Peça</a:t>
              </a:r>
              <a:endParaRPr lang="pt-BR" sz="2000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bject 4">
                <a:extLst>
                  <a:ext uri="{63B3BB69-23CF-44E3-9099-C40C66FF867C}">
                    <a14:compatExt spid="_x0000_s1028"/>
                  </a:ext>
                  <a:ext uri="{FF2B5EF4-FFF2-40B4-BE49-F238E27FC236}">
                    <a16:creationId xmlns:a16="http://schemas.microsoft.com/office/drawing/2014/main" id="{55953CA9-737B-3C6D-0491-ED9AEF88F516}"/>
                  </a:ext>
                </a:extLst>
              </p:cNvPr>
              <p:cNvSpPr txBox="1"/>
              <p:nvPr/>
            </p:nvSpPr>
            <p:spPr>
              <a:xfrm>
                <a:off x="3872933" y="5508224"/>
                <a:ext cx="1687338" cy="75364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91440" tIns="45720" rIns="0" bIns="0" anchor="ctr" anchorCtr="0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𝛁</m:t>
                          </m:r>
                        </m:e>
                        <m:sup>
                          <m:r>
                            <a:rPr lang="pt-BR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pt-BR" sz="2800" b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𝐡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28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Object 4">
                <a:extLst>
                  <a:ext uri="{63B3BB69-23CF-44E3-9099-C40C66FF867C}">
                    <a14:compatExt xmlns:a14="http://schemas.microsoft.com/office/drawing/2010/main" spid="_x0000_s1028"/>
                  </a:ext>
                  <a:ext uri="{FF2B5EF4-FFF2-40B4-BE49-F238E27FC236}">
                    <a16:creationId xmlns:a16="http://schemas.microsoft.com/office/drawing/2014/main" id="{55953CA9-737B-3C6D-0491-ED9AEF88F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933" y="5508224"/>
                <a:ext cx="1687338" cy="7536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175"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Picture 2" descr="Visually searched image">
            <a:extLst>
              <a:ext uri="{FF2B5EF4-FFF2-40B4-BE49-F238E27FC236}">
                <a16:creationId xmlns:a16="http://schemas.microsoft.com/office/drawing/2014/main" id="{FF18792F-D925-D994-AA83-0EA9D3A397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706" y="1346477"/>
            <a:ext cx="1696993" cy="227656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5126D88-3464-91AB-D346-58619E275F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50"/>
          <a:stretch>
            <a:fillRect/>
          </a:stretch>
        </p:blipFill>
        <p:spPr>
          <a:xfrm>
            <a:off x="3877361" y="3851137"/>
            <a:ext cx="1687338" cy="153468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90279EA-7D03-BE8B-DE87-B46C637CAF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61"/>
          <a:stretch>
            <a:fillRect/>
          </a:stretch>
        </p:blipFill>
        <p:spPr>
          <a:xfrm>
            <a:off x="491010" y="3851137"/>
            <a:ext cx="3003628" cy="240602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99DCB6A0-C660-0FE5-AB54-B3E737716CB8}"/>
              </a:ext>
            </a:extLst>
          </p:cNvPr>
          <p:cNvSpPr txBox="1"/>
          <p:nvPr/>
        </p:nvSpPr>
        <p:spPr>
          <a:xfrm>
            <a:off x="6591185" y="3515426"/>
            <a:ext cx="5049596" cy="2062103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pt-BR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Manufatura Aditiva</a:t>
            </a:r>
          </a:p>
          <a:p>
            <a:pPr algn="l"/>
            <a:endParaRPr lang="pt-BR" sz="1200" dirty="0">
              <a:latin typeface="Horley Old Style MT"/>
            </a:endParaRPr>
          </a:p>
          <a:p>
            <a:pPr algn="l"/>
            <a:r>
              <a:rPr lang="pt-BR" sz="2800" dirty="0">
                <a:latin typeface="Horley Old Style MT"/>
              </a:rPr>
              <a:t>    - Design </a:t>
            </a:r>
          </a:p>
          <a:p>
            <a:pPr algn="l"/>
            <a:r>
              <a:rPr lang="pt-BR" sz="2800" dirty="0">
                <a:latin typeface="Horley Old Style MT"/>
              </a:rPr>
              <a:t>    - Custo</a:t>
            </a:r>
          </a:p>
          <a:p>
            <a:pPr algn="l"/>
            <a:r>
              <a:rPr lang="pt-BR" sz="2800" dirty="0">
                <a:latin typeface="Horley Old Style MT"/>
              </a:rPr>
              <a:t>    - Experimentação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6D69DDF-0F08-CAEB-4A1B-78AE86B24269}"/>
              </a:ext>
            </a:extLst>
          </p:cNvPr>
          <p:cNvSpPr txBox="1"/>
          <p:nvPr/>
        </p:nvSpPr>
        <p:spPr>
          <a:xfrm>
            <a:off x="6537666" y="475940"/>
            <a:ext cx="5446879" cy="280076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pt-BR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CFD – </a:t>
            </a:r>
            <a:r>
              <a:rPr lang="pt-BR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Modelo numérico de fluxo</a:t>
            </a:r>
            <a:endParaRPr lang="pt-BR" sz="32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orley Old Style MT"/>
            </a:endParaRPr>
          </a:p>
          <a:p>
            <a:pPr algn="l"/>
            <a:endParaRPr lang="pt-BR" sz="1200" dirty="0">
              <a:latin typeface="Horley Old Style MT"/>
            </a:endParaRPr>
          </a:p>
          <a:p>
            <a:pPr algn="l"/>
            <a:r>
              <a:rPr lang="pt-BR" sz="2800" dirty="0">
                <a:latin typeface="Horley Old Style MT"/>
              </a:rPr>
              <a:t>   - Temperatura, energia, momento, </a:t>
            </a:r>
            <a:r>
              <a:rPr lang="pt-BR" sz="2800" dirty="0">
                <a:solidFill>
                  <a:srgbClr val="FF0000"/>
                </a:solidFill>
                <a:latin typeface="Horley Old Style MT"/>
              </a:rPr>
              <a:t>... tensões (fluxo)</a:t>
            </a:r>
          </a:p>
          <a:p>
            <a:pPr algn="l"/>
            <a:endParaRPr lang="pt-BR" sz="2400" dirty="0">
              <a:latin typeface="Horley Old Style MT"/>
            </a:endParaRPr>
          </a:p>
          <a:p>
            <a:pPr algn="l"/>
            <a:r>
              <a:rPr lang="pt-BR" sz="2800" dirty="0">
                <a:latin typeface="Horley Old Style MT"/>
              </a:rPr>
              <a:t>   </a:t>
            </a:r>
            <a:r>
              <a:rPr lang="pt-BR" sz="2800" dirty="0">
                <a:solidFill>
                  <a:srgbClr val="FF0000"/>
                </a:solidFill>
                <a:latin typeface="Horley Old Style MT"/>
              </a:rPr>
              <a:t>- Análise estrutural - </a:t>
            </a:r>
            <a:r>
              <a:rPr lang="pt-BR" sz="2800" dirty="0">
                <a:solidFill>
                  <a:srgbClr val="FF0000"/>
                </a:solidFill>
                <a:highlight>
                  <a:srgbClr val="FFFF00"/>
                </a:highlight>
                <a:latin typeface="Horley Old Style MT"/>
              </a:rPr>
              <a:t>fadiga (FEA)</a:t>
            </a:r>
          </a:p>
          <a:p>
            <a:pPr algn="l"/>
            <a:r>
              <a:rPr lang="pt-BR" sz="2400" dirty="0">
                <a:latin typeface="Horley Old Style MT"/>
              </a:rPr>
              <a:t>   - Interação Fluido-Estrutura (FSI)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A7643E-C4AA-3E21-96E8-B50567ADD6D1}"/>
              </a:ext>
            </a:extLst>
          </p:cNvPr>
          <p:cNvSpPr txBox="1"/>
          <p:nvPr/>
        </p:nvSpPr>
        <p:spPr>
          <a:xfrm>
            <a:off x="6654558" y="5654385"/>
            <a:ext cx="5049596" cy="64633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pt-BR" sz="2800" dirty="0">
                <a:latin typeface="Horley Old Style MT"/>
              </a:rPr>
              <a:t> </a:t>
            </a:r>
            <a:r>
              <a:rPr lang="pt-BR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4D</a:t>
            </a:r>
            <a:r>
              <a:rPr lang="pt-BR" sz="2800" dirty="0">
                <a:latin typeface="Horley Old Style MT"/>
              </a:rPr>
              <a:t> ( x, y, z  +  Fluxo [</a:t>
            </a:r>
            <a:r>
              <a:rPr lang="el-GR" sz="2800" dirty="0">
                <a:cs typeface="Calibri" panose="020F0502020204030204" pitchFamily="34" charset="0"/>
              </a:rPr>
              <a:t>Φ</a:t>
            </a:r>
            <a:r>
              <a:rPr lang="pt-BR" sz="2800" dirty="0">
                <a:cs typeface="Calibri" panose="020F0502020204030204" pitchFamily="34" charset="0"/>
              </a:rPr>
              <a:t>, </a:t>
            </a:r>
            <a:r>
              <a:rPr lang="el-GR" sz="2800" dirty="0">
                <a:cs typeface="Calibri" panose="020F0502020204030204" pitchFamily="34" charset="0"/>
              </a:rPr>
              <a:t>Θ</a:t>
            </a:r>
            <a:r>
              <a:rPr lang="pt-BR" sz="2800" dirty="0">
                <a:cs typeface="Calibri" panose="020F0502020204030204" pitchFamily="34" charset="0"/>
              </a:rPr>
              <a:t>, ...] )</a:t>
            </a:r>
            <a:r>
              <a:rPr lang="pt-BR" sz="2800" dirty="0">
                <a:latin typeface="Horley Old Style MT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821942-BF64-BA5F-73B4-1A8101415B06}"/>
              </a:ext>
            </a:extLst>
          </p:cNvPr>
          <p:cNvSpPr txBox="1"/>
          <p:nvPr/>
        </p:nvSpPr>
        <p:spPr>
          <a:xfrm>
            <a:off x="3077094" y="672459"/>
            <a:ext cx="3107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stress map</a:t>
            </a:r>
            <a:endParaRPr lang="pt-BR" sz="2000" b="1" dirty="0">
              <a:effectLst/>
              <a:latin typeface="Horley Old Style MT"/>
            </a:endParaRPr>
          </a:p>
        </p:txBody>
      </p:sp>
    </p:spTree>
    <p:extLst>
      <p:ext uri="{BB962C8B-B14F-4D97-AF65-F5344CB8AC3E}">
        <p14:creationId xmlns:p14="http://schemas.microsoft.com/office/powerpoint/2010/main" val="4188399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7D402-731B-D73D-D900-1256E68F6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B6C0BD2-9B50-2E1F-B870-A63CCA10B7CE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12A18B-5A7D-EB18-CED7-2FD6833FC2E6}"/>
              </a:ext>
            </a:extLst>
          </p:cNvPr>
          <p:cNvSpPr txBox="1"/>
          <p:nvPr/>
        </p:nvSpPr>
        <p:spPr>
          <a:xfrm>
            <a:off x="1" y="365"/>
            <a:ext cx="6591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bg1">
                    <a:lumMod val="65000"/>
                  </a:schemeClr>
                </a:solidFill>
              </a:rPr>
              <a:t>Proposta Doutorado - Engenharia Mecânica – 1º semestre 2027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9D5AE7-D3A9-4D13-A45C-F56873BE087C}"/>
              </a:ext>
            </a:extLst>
          </p:cNvPr>
          <p:cNvSpPr txBox="1"/>
          <p:nvPr/>
        </p:nvSpPr>
        <p:spPr>
          <a:xfrm>
            <a:off x="272598" y="525679"/>
            <a:ext cx="6499393" cy="5850635"/>
          </a:xfrm>
          <a:prstGeom prst="rect">
            <a:avLst/>
          </a:prstGeom>
          <a:solidFill>
            <a:srgbClr val="A7E8FF"/>
          </a:solidFill>
          <a:effectLst/>
        </p:spPr>
        <p:txBody>
          <a:bodyPr wrap="none" lIns="91440" tIns="91440" rIns="91440" bIns="91440" rtlCol="0" anchor="t" anchorCtr="0">
            <a:noAutofit/>
          </a:bodyPr>
          <a:lstStyle>
            <a:defPPr>
              <a:defRPr lang="LID4096"/>
            </a:defPPr>
            <a:lvl1pPr algn="ctr">
              <a:defRPr sz="36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l"/>
            <a:r>
              <a:rPr lang="pt-BR" u="sng" dirty="0"/>
              <a:t>Exemplo</a:t>
            </a:r>
          </a:p>
          <a:p>
            <a:pPr algn="l"/>
            <a:endParaRPr lang="pt-BR" u="sn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CB7162-B7BE-6C6F-E147-59774ECF692B}"/>
              </a:ext>
            </a:extLst>
          </p:cNvPr>
          <p:cNvSpPr/>
          <p:nvPr/>
        </p:nvSpPr>
        <p:spPr>
          <a:xfrm>
            <a:off x="7009082" y="537095"/>
            <a:ext cx="4676685" cy="57030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248F1D-7BD2-3A38-1125-0BE3AFDFD6A0}"/>
              </a:ext>
            </a:extLst>
          </p:cNvPr>
          <p:cNvSpPr txBox="1"/>
          <p:nvPr/>
        </p:nvSpPr>
        <p:spPr>
          <a:xfrm>
            <a:off x="3395068" y="1621647"/>
            <a:ext cx="310778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t-BR" sz="2000" b="1" dirty="0">
                <a:solidFill>
                  <a:srgbClr val="FF0000"/>
                </a:solidFill>
                <a:effectLst/>
                <a:latin typeface="Horley Old Style MT"/>
              </a:rPr>
              <a:t>Equação do calor para material não homogêneo</a:t>
            </a:r>
          </a:p>
          <a:p>
            <a:pPr algn="ctr" rtl="0">
              <a:buNone/>
            </a:pPr>
            <a:r>
              <a:rPr lang="pt-BR" sz="700" b="1" dirty="0">
                <a:effectLst/>
                <a:latin typeface="Horley Old Style MT"/>
              </a:rPr>
              <a:t> </a:t>
            </a:r>
          </a:p>
          <a:p>
            <a:pPr algn="l" rtl="0">
              <a:buNone/>
            </a:pPr>
            <a:r>
              <a:rPr lang="pt-BR" sz="2000" b="1" dirty="0">
                <a:effectLst/>
                <a:latin typeface="Horley Old Style MT"/>
              </a:rPr>
              <a:t>T    = Temperatura, </a:t>
            </a:r>
          </a:p>
          <a:p>
            <a:r>
              <a:rPr lang="pt-BR" sz="2000" b="1" dirty="0" err="1">
                <a:effectLst/>
                <a:latin typeface="Horley Old Style MT"/>
              </a:rPr>
              <a:t>T</a:t>
            </a:r>
            <a:r>
              <a:rPr lang="pt-BR" sz="2000" b="1" baseline="-25000" dirty="0" err="1">
                <a:effectLst/>
                <a:latin typeface="Horley Old Style MT"/>
              </a:rPr>
              <a:t>g</a:t>
            </a:r>
            <a:r>
              <a:rPr lang="pt-BR" sz="2000" b="1" dirty="0">
                <a:latin typeface="Horley Old Style MT"/>
              </a:rPr>
              <a:t>  </a:t>
            </a:r>
            <a:r>
              <a:rPr lang="pt-BR" sz="1100" b="1" dirty="0">
                <a:latin typeface="Horley Old Style MT"/>
              </a:rPr>
              <a:t> </a:t>
            </a:r>
            <a:r>
              <a:rPr lang="pt-BR" sz="2000" b="1" dirty="0">
                <a:latin typeface="Horley Old Style MT"/>
              </a:rPr>
              <a:t>= T. fluxos de gás</a:t>
            </a:r>
            <a:endParaRPr lang="pt-BR" sz="2000" b="1" dirty="0">
              <a:effectLst/>
              <a:latin typeface="Horley Old Style MT"/>
            </a:endParaRPr>
          </a:p>
          <a:p>
            <a:r>
              <a:rPr lang="pt-BR" sz="2000" b="1" dirty="0" err="1">
                <a:effectLst/>
                <a:latin typeface="Horley Old Style MT"/>
              </a:rPr>
              <a:t>T</a:t>
            </a:r>
            <a:r>
              <a:rPr lang="pt-BR" sz="2000" b="1" baseline="-25000" dirty="0" err="1">
                <a:effectLst/>
                <a:latin typeface="Horley Old Style MT"/>
              </a:rPr>
              <a:t>cj</a:t>
            </a:r>
            <a:r>
              <a:rPr lang="pt-BR" sz="2000" b="1" dirty="0">
                <a:effectLst/>
                <a:latin typeface="Horley Old Style MT"/>
              </a:rPr>
              <a:t> </a:t>
            </a:r>
            <a:r>
              <a:rPr lang="pt-BR" b="1" dirty="0">
                <a:effectLst/>
                <a:latin typeface="Horley Old Style MT"/>
              </a:rPr>
              <a:t> </a:t>
            </a:r>
            <a:r>
              <a:rPr lang="pt-BR" sz="2000" b="1" dirty="0">
                <a:effectLst/>
                <a:latin typeface="Horley Old Style MT"/>
              </a:rPr>
              <a:t>= </a:t>
            </a:r>
            <a:r>
              <a:rPr lang="pt-BR" sz="2000" b="1" dirty="0">
                <a:latin typeface="Horley Old Style MT"/>
              </a:rPr>
              <a:t>T. </a:t>
            </a:r>
            <a:r>
              <a:rPr lang="pt-BR" sz="2000" b="1" dirty="0">
                <a:effectLst/>
                <a:latin typeface="Horley Old Style MT"/>
              </a:rPr>
              <a:t>fluido refrigerante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BCEBE4-79C4-9E5F-E607-BEB35C749000}"/>
              </a:ext>
            </a:extLst>
          </p:cNvPr>
          <p:cNvSpPr txBox="1"/>
          <p:nvPr/>
        </p:nvSpPr>
        <p:spPr>
          <a:xfrm>
            <a:off x="4793755" y="3434319"/>
            <a:ext cx="1685426" cy="11149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tIns="9144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8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Shape function matrix</a:t>
            </a:r>
            <a:endParaRPr lang="en-US" sz="2800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orley Old Style M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772296-4B69-C52F-FDD7-883A871289D9}"/>
              </a:ext>
            </a:extLst>
          </p:cNvPr>
          <p:cNvSpPr txBox="1"/>
          <p:nvPr/>
        </p:nvSpPr>
        <p:spPr>
          <a:xfrm>
            <a:off x="7616211" y="687839"/>
            <a:ext cx="806768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lvl="0" algn="l">
              <a:defRPr/>
            </a:pPr>
            <a:r>
              <a:rPr lang="pt-BR" sz="3200" dirty="0">
                <a:solidFill>
                  <a:srgbClr val="00B050"/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A</a:t>
            </a:r>
            <a:r>
              <a:rPr lang="pt-BR" sz="3200" dirty="0">
                <a:solidFill>
                  <a:srgbClr val="0000FF"/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B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8EB15A2-0641-A6D9-421C-AFECA192E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211" y="1272614"/>
            <a:ext cx="3731570" cy="2931948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A698CE91-A70A-3A38-E25F-8397ACC9D282}"/>
              </a:ext>
            </a:extLst>
          </p:cNvPr>
          <p:cNvGrpSpPr/>
          <p:nvPr/>
        </p:nvGrpSpPr>
        <p:grpSpPr>
          <a:xfrm>
            <a:off x="2579332" y="5333063"/>
            <a:ext cx="4508264" cy="907033"/>
            <a:chOff x="1643248" y="5048453"/>
            <a:chExt cx="4508264" cy="907033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8A083D1-7432-041E-B8DF-6109208D130A}"/>
                </a:ext>
              </a:extLst>
            </p:cNvPr>
            <p:cNvSpPr txBox="1"/>
            <p:nvPr/>
          </p:nvSpPr>
          <p:spPr>
            <a:xfrm>
              <a:off x="3308616" y="5504399"/>
              <a:ext cx="716326" cy="451087"/>
            </a:xfrm>
            <a:prstGeom prst="rect">
              <a:avLst/>
            </a:prstGeom>
            <a:noFill/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en-US" sz="2400" b="1" i="0" u="none" strike="noStrike" baseline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MRoman12-Regular"/>
                </a:rPr>
                <a:t>OBS</a:t>
              </a:r>
              <a:endParaRPr lang="LID4096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3" name="Arrow: Left-Right 32">
              <a:extLst>
                <a:ext uri="{FF2B5EF4-FFF2-40B4-BE49-F238E27FC236}">
                  <a16:creationId xmlns:a16="http://schemas.microsoft.com/office/drawing/2014/main" id="{A0690037-C7B2-C32D-2645-72E9106FA886}"/>
                </a:ext>
              </a:extLst>
            </p:cNvPr>
            <p:cNvSpPr/>
            <p:nvPr/>
          </p:nvSpPr>
          <p:spPr>
            <a:xfrm>
              <a:off x="4207255" y="5590397"/>
              <a:ext cx="554126" cy="302015"/>
            </a:xfrm>
            <a:prstGeom prst="leftRightArrow">
              <a:avLst>
                <a:gd name="adj1" fmla="val 35808"/>
                <a:gd name="adj2" fmla="val 40539"/>
              </a:avLst>
            </a:prstGeom>
            <a:solidFill>
              <a:schemeClr val="tx1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01CD583-929F-C42B-AFA2-6A0F85E4D9FB}"/>
                </a:ext>
              </a:extLst>
            </p:cNvPr>
            <p:cNvSpPr txBox="1"/>
            <p:nvPr/>
          </p:nvSpPr>
          <p:spPr>
            <a:xfrm>
              <a:off x="4807149" y="5497323"/>
              <a:ext cx="716326" cy="451087"/>
            </a:xfrm>
            <a:prstGeom prst="rect">
              <a:avLst/>
            </a:prstGeom>
            <a:noFill/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en-US" sz="2400" b="1" i="0" u="none" strike="noStrike" baseline="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MRoman12-Regular"/>
                </a:rPr>
                <a:t>PAR</a:t>
              </a:r>
              <a:endParaRPr lang="LID4096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090141F-BE6D-F0C2-14F3-B11FF1B967CD}"/>
                </a:ext>
              </a:extLst>
            </p:cNvPr>
            <p:cNvSpPr txBox="1"/>
            <p:nvPr/>
          </p:nvSpPr>
          <p:spPr>
            <a:xfrm>
              <a:off x="1643248" y="5496033"/>
              <a:ext cx="2051652" cy="451087"/>
            </a:xfrm>
            <a:prstGeom prst="rect">
              <a:avLst/>
            </a:prstGeom>
            <a:noFill/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MRoman12-Regular"/>
                </a:rPr>
                <a:t>Modelo</a:t>
              </a:r>
              <a:endParaRPr lang="LID4096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Object 4">
                  <a:extLst>
                    <a:ext uri="{63B3BB69-23CF-44E3-9099-C40C66FF867C}">
                      <a14:compatExt spid="_x0000_s1028"/>
                    </a:ext>
                    <a:ext uri="{FF2B5EF4-FFF2-40B4-BE49-F238E27FC236}">
                      <a16:creationId xmlns:a16="http://schemas.microsoft.com/office/drawing/2014/main" id="{B1339498-C525-38D0-E7AE-39DAE5F52AB8}"/>
                    </a:ext>
                  </a:extLst>
                </p:cNvPr>
                <p:cNvSpPr txBox="1"/>
                <p:nvPr/>
              </p:nvSpPr>
              <p:spPr>
                <a:xfrm>
                  <a:off x="3074936" y="5072346"/>
                  <a:ext cx="3076576" cy="683321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pt-BR" sz="32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∗  </m:t>
                        </m:r>
                        <m:r>
                          <a:rPr kumimoji="0" lang="pt-BR" sz="32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GB" sz="3200" b="1" i="0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pt-BR" sz="3200" b="1" i="0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pt-BR" sz="32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0" lang="pt-BR" sz="32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kumimoji="0" lang="pt-BR" sz="32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𝐁</m:t>
                        </m:r>
                      </m:oMath>
                    </m:oMathPara>
                  </a14:m>
                  <a:endParaRPr lang="pt-BR" sz="32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Object 4">
                  <a:extLst>
                    <a:ext uri="{63B3BB69-23CF-44E3-9099-C40C66FF867C}">
                      <a14:compatExt xmlns:a14="http://schemas.microsoft.com/office/drawing/2010/main" spid="_x0000_s1028"/>
                    </a:ext>
                    <a:ext uri="{FF2B5EF4-FFF2-40B4-BE49-F238E27FC236}">
                      <a16:creationId xmlns:a16="http://schemas.microsoft.com/office/drawing/2014/main" id="{B1339498-C525-38D0-E7AE-39DAE5F52A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4936" y="5072346"/>
                  <a:ext cx="3076576" cy="68332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Object 4">
                  <a:extLst>
                    <a:ext uri="{63B3BB69-23CF-44E3-9099-C40C66FF867C}">
                      <a14:compatExt spid="_x0000_s1028"/>
                    </a:ext>
                    <a:ext uri="{FF2B5EF4-FFF2-40B4-BE49-F238E27FC236}">
                      <a16:creationId xmlns:a16="http://schemas.microsoft.com/office/drawing/2014/main" id="{0C15A89C-5C24-332F-9180-B22DE2E7C466}"/>
                    </a:ext>
                  </a:extLst>
                </p:cNvPr>
                <p:cNvSpPr txBox="1"/>
                <p:nvPr/>
              </p:nvSpPr>
              <p:spPr>
                <a:xfrm>
                  <a:off x="2245931" y="5048453"/>
                  <a:ext cx="841441" cy="683321"/>
                </a:xfrm>
                <a:prstGeom prst="rect">
                  <a:avLst/>
                </a:prstGeom>
                <a:noFill/>
              </p:spPr>
              <p:txBody>
                <a:bodyPr wrap="square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0" lang="pt-BR" sz="32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</a:rPr>
                          <m:t>𝐀</m:t>
                        </m:r>
                      </m:oMath>
                    </m:oMathPara>
                  </a14:m>
                  <a:endParaRPr lang="pt-BR" sz="32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43" name="Object 4">
                  <a:extLst>
                    <a:ext uri="{63B3BB69-23CF-44E3-9099-C40C66FF867C}">
                      <a14:compatExt xmlns:a14="http://schemas.microsoft.com/office/drawing/2010/main" spid="_x0000_s1028"/>
                    </a:ext>
                    <a:ext uri="{FF2B5EF4-FFF2-40B4-BE49-F238E27FC236}">
                      <a16:creationId xmlns:a16="http://schemas.microsoft.com/office/drawing/2014/main" id="{0C15A89C-5C24-332F-9180-B22DE2E7C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931" y="5048453"/>
                  <a:ext cx="841441" cy="68332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4">
                <a:extLst>
                  <a:ext uri="{63B3BB69-23CF-44E3-9099-C40C66FF867C}">
                    <a14:compatExt spid="_x0000_s1028"/>
                  </a:ext>
                  <a:ext uri="{FF2B5EF4-FFF2-40B4-BE49-F238E27FC236}">
                    <a16:creationId xmlns:a16="http://schemas.microsoft.com/office/drawing/2014/main" id="{5452D6A0-D350-8984-D32D-57F24B5F7AE1}"/>
                  </a:ext>
                </a:extLst>
              </p:cNvPr>
              <p:cNvSpPr txBox="1"/>
              <p:nvPr/>
            </p:nvSpPr>
            <p:spPr>
              <a:xfrm>
                <a:off x="9383194" y="5556775"/>
                <a:ext cx="2133274" cy="683321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pt-BR" sz="32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kumimoji="0" lang="pt-BR" sz="32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0" lang="pt-BR" sz="32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pt-BR" sz="3200" b="1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p>
                          <m:r>
                            <a:rPr kumimoji="0" lang="pt-BR" sz="3200" b="1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0" lang="pt-BR" sz="3200" b="1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kumimoji="0" lang="pt-BR" sz="32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0" lang="pt-BR" sz="32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𝐁</m:t>
                      </m:r>
                    </m:oMath>
                  </m:oMathPara>
                </a14:m>
                <a:endParaRPr lang="pt-BR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Object 4">
                <a:extLst>
                  <a:ext uri="{63B3BB69-23CF-44E3-9099-C40C66FF867C}">
                    <a14:compatExt xmlns:a14="http://schemas.microsoft.com/office/drawing/2010/main" spid="_x0000_s1028"/>
                  </a:ext>
                  <a:ext uri="{FF2B5EF4-FFF2-40B4-BE49-F238E27FC236}">
                    <a16:creationId xmlns:a16="http://schemas.microsoft.com/office/drawing/2014/main" id="{5452D6A0-D350-8984-D32D-57F24B5F7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3194" y="5556775"/>
                <a:ext cx="2133274" cy="6833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FC43C9AF-978B-7FAE-BC75-4DA784266D9D}"/>
              </a:ext>
            </a:extLst>
          </p:cNvPr>
          <p:cNvSpPr txBox="1"/>
          <p:nvPr/>
        </p:nvSpPr>
        <p:spPr>
          <a:xfrm>
            <a:off x="7374675" y="4360072"/>
            <a:ext cx="3536562" cy="95410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  <a:cs typeface="Times New Roman" panose="02020603050405020304" pitchFamily="18" charset="0"/>
              </a:defRPr>
            </a:lvl1pPr>
          </a:lstStyle>
          <a:p>
            <a:r>
              <a:rPr lang="pt-BR" sz="2800" u="sng" dirty="0">
                <a:solidFill>
                  <a:srgbClr val="FF0000"/>
                </a:solidFill>
              </a:rPr>
              <a:t>... análises estruturais e de fadiga (FEA)</a:t>
            </a:r>
            <a:endParaRPr lang="pt-PT" sz="2800" dirty="0">
              <a:solidFill>
                <a:srgbClr val="FF0000"/>
              </a:solidFill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DC11975E-FA68-D7C1-1350-6C8BB4B9826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47765" b="12623"/>
          <a:stretch>
            <a:fillRect/>
          </a:stretch>
        </p:blipFill>
        <p:spPr>
          <a:xfrm>
            <a:off x="407632" y="1594263"/>
            <a:ext cx="2611004" cy="180803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1EFA3B7-B757-F4CD-6B2F-13C37A862F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633" y="3482499"/>
            <a:ext cx="3946654" cy="103473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92D368B-AE65-635E-1461-EB006AAE73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632" y="4562873"/>
            <a:ext cx="2171700" cy="5238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69683FD-162E-C6A7-7584-1D4680A2676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881" y="5157298"/>
            <a:ext cx="2148451" cy="59592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A250CE5F-D346-A46D-4114-8EE8D148AE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7361" y="5836172"/>
            <a:ext cx="1515785" cy="451087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E6D0C4C1-CB85-F34E-C687-1396EB2A1FA2}"/>
              </a:ext>
            </a:extLst>
          </p:cNvPr>
          <p:cNvSpPr txBox="1"/>
          <p:nvPr/>
        </p:nvSpPr>
        <p:spPr>
          <a:xfrm>
            <a:off x="1933923" y="5761592"/>
            <a:ext cx="8068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t-BR" sz="3200" b="1" dirty="0">
                <a:effectLst/>
                <a:latin typeface="Horley Old Style MT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D5F4B6-1FDB-6270-24EB-FB09FED15EBA}"/>
              </a:ext>
            </a:extLst>
          </p:cNvPr>
          <p:cNvSpPr txBox="1"/>
          <p:nvPr/>
        </p:nvSpPr>
        <p:spPr>
          <a:xfrm>
            <a:off x="2121677" y="851909"/>
            <a:ext cx="2301891" cy="29545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GB" sz="2000" b="1" dirty="0">
                <a:latin typeface="Horley Old Style MT"/>
              </a:rPr>
              <a:t>Ferlauto, M. (2013)</a:t>
            </a:r>
            <a:endParaRPr lang="LID4096" sz="2400" b="1" dirty="0">
              <a:latin typeface="Horley Old Style M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9F868-E647-C873-5ECA-D6FF629DB076}"/>
              </a:ext>
            </a:extLst>
          </p:cNvPr>
          <p:cNvSpPr txBox="1"/>
          <p:nvPr/>
        </p:nvSpPr>
        <p:spPr>
          <a:xfrm>
            <a:off x="3077094" y="672459"/>
            <a:ext cx="3107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t-BR" sz="2000" b="1" dirty="0">
                <a:solidFill>
                  <a:srgbClr val="FF0000"/>
                </a:solidFill>
                <a:effectLst/>
                <a:latin typeface="Horley Old Style MT"/>
              </a:rPr>
              <a:t>HEAT</a:t>
            </a:r>
            <a:endParaRPr lang="pt-BR" sz="2000" b="1" dirty="0">
              <a:effectLst/>
              <a:latin typeface="Horley Old Style MT"/>
            </a:endParaRPr>
          </a:p>
        </p:txBody>
      </p:sp>
    </p:spTree>
    <p:extLst>
      <p:ext uri="{BB962C8B-B14F-4D97-AF65-F5344CB8AC3E}">
        <p14:creationId xmlns:p14="http://schemas.microsoft.com/office/powerpoint/2010/main" val="2785702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D66F1-7197-4EF1-68B9-269597F87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99FF552-7646-1DB0-04D2-E6800521B0DF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10CF2F-B067-F24F-87A7-8E03F50F62E6}"/>
              </a:ext>
            </a:extLst>
          </p:cNvPr>
          <p:cNvSpPr txBox="1"/>
          <p:nvPr/>
        </p:nvSpPr>
        <p:spPr>
          <a:xfrm>
            <a:off x="1" y="365"/>
            <a:ext cx="6591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bg1">
                    <a:lumMod val="65000"/>
                  </a:schemeClr>
                </a:solidFill>
              </a:rPr>
              <a:t>Proposta Doutorado - Engenharia Mecânica – 1º semestre 2027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FFDBEA-8590-9BA8-C3D3-6DBD806C96EE}"/>
              </a:ext>
            </a:extLst>
          </p:cNvPr>
          <p:cNvGrpSpPr/>
          <p:nvPr/>
        </p:nvGrpSpPr>
        <p:grpSpPr>
          <a:xfrm>
            <a:off x="7009082" y="537095"/>
            <a:ext cx="4668364" cy="5844759"/>
            <a:chOff x="6716851" y="65848"/>
            <a:chExt cx="4668364" cy="584475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86F6FBF-E147-636D-CA0D-67DE3DCAD7E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16851" y="65848"/>
              <a:ext cx="4668364" cy="5666282"/>
              <a:chOff x="6087153" y="588475"/>
              <a:chExt cx="4962633" cy="6023455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03B662D-0F80-2892-C00C-0AB677D0C7A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096000" y="1080036"/>
                <a:ext cx="4953786" cy="5531894"/>
                <a:chOff x="457200" y="612539"/>
                <a:chExt cx="5638800" cy="6296848"/>
              </a:xfr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grpSpPr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0297499B-BE82-874E-9700-4F6F3EEB9F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t="3202" b="58676"/>
                <a:stretch>
                  <a:fillRect/>
                </a:stretch>
              </p:blipFill>
              <p:spPr>
                <a:xfrm>
                  <a:off x="457200" y="612539"/>
                  <a:ext cx="5638800" cy="2018923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BAFDBC39-45A0-9AAA-E939-E7548B60E8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t="56824" b="3772"/>
                <a:stretch>
                  <a:fillRect/>
                </a:stretch>
              </p:blipFill>
              <p:spPr>
                <a:xfrm>
                  <a:off x="457200" y="2691310"/>
                  <a:ext cx="5638800" cy="2086824"/>
                </a:xfrm>
                <a:prstGeom prst="rect">
                  <a:avLst/>
                </a:prstGeom>
              </p:spPr>
            </p:pic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99815ED0-00CA-034E-2ED0-A730CC31A9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57200" y="4822563"/>
                  <a:ext cx="5638800" cy="2086824"/>
                </a:xfrm>
                <a:prstGeom prst="rect">
                  <a:avLst/>
                </a:prstGeom>
              </p:spPr>
            </p:pic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A5BF8E-3E13-2E66-54ED-7F1FF385F802}"/>
                  </a:ext>
                </a:extLst>
              </p:cNvPr>
              <p:cNvSpPr txBox="1"/>
              <p:nvPr/>
            </p:nvSpPr>
            <p:spPr>
              <a:xfrm>
                <a:off x="6096000" y="2539463"/>
                <a:ext cx="4953786" cy="340522"/>
              </a:xfrm>
              <a:prstGeom prst="rect">
                <a:avLst/>
              </a:prstGeom>
              <a:noFill/>
              <a:effectLst/>
            </p:spPr>
            <p:txBody>
              <a:bodyPr wrap="none" lIns="0" tIns="91440" rIns="182880" bIns="18288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3300"/>
                  </a:lnSpc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2400" b="1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MRoman12-Regular"/>
                    <a:ea typeface="+mn-ea"/>
                    <a:cs typeface="+mn-cs"/>
                  </a:rPr>
                  <a:t>inicial</a:t>
                </a:r>
                <a:endParaRPr kumimoji="0" lang="en-US" sz="1600" b="1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91BDC7B-FCA3-5610-778F-86E94B93FB72}"/>
                  </a:ext>
                </a:extLst>
              </p:cNvPr>
              <p:cNvSpPr txBox="1"/>
              <p:nvPr/>
            </p:nvSpPr>
            <p:spPr>
              <a:xfrm>
                <a:off x="6087153" y="4397105"/>
                <a:ext cx="4953786" cy="340522"/>
              </a:xfrm>
              <a:prstGeom prst="rect">
                <a:avLst/>
              </a:prstGeom>
              <a:noFill/>
              <a:effectLst/>
            </p:spPr>
            <p:txBody>
              <a:bodyPr wrap="none" lIns="0" tIns="91440" rIns="182880" bIns="18288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3300"/>
                  </a:lnSpc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2400" b="1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MRoman12-Regular"/>
                    <a:ea typeface="+mn-ea"/>
                    <a:cs typeface="+mn-cs"/>
                  </a:rPr>
                  <a:t>final</a:t>
                </a:r>
                <a:endParaRPr kumimoji="0" lang="en-US" sz="1600" b="1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00AFA84-B34B-AB53-81C4-3B3BB000D12E}"/>
                  </a:ext>
                </a:extLst>
              </p:cNvPr>
              <p:cNvSpPr txBox="1"/>
              <p:nvPr/>
            </p:nvSpPr>
            <p:spPr>
              <a:xfrm>
                <a:off x="6087153" y="588475"/>
                <a:ext cx="4953786" cy="4164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182880" tIns="91440" rIns="182880" bIns="182880" anchor="ctr" anchorCtr="0">
                <a:noAutofit/>
              </a:bodyPr>
              <a:lstStyle/>
              <a:p>
                <a:pPr lvl="0" algn="ctr">
                  <a:lnSpc>
                    <a:spcPts val="3300"/>
                  </a:lnSpc>
                  <a:defRPr/>
                </a:pPr>
                <a:r>
                  <a:rPr lang="pt-BR" sz="2200" b="1" dirty="0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LMRoman12-Regular"/>
                  </a:rPr>
                  <a:t>Campos de geometria </a:t>
                </a:r>
                <a:r>
                  <a:rPr lang="pt-BR" sz="22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LMRoman12-Regular"/>
                  </a:rPr>
                  <a:t>e temperatura</a:t>
                </a:r>
                <a:endParaRPr lang="en-US" sz="22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C486E63-855A-FB6C-B472-C841658935B3}"/>
                </a:ext>
              </a:extLst>
            </p:cNvPr>
            <p:cNvSpPr txBox="1"/>
            <p:nvPr/>
          </p:nvSpPr>
          <p:spPr>
            <a:xfrm>
              <a:off x="6716851" y="5768849"/>
              <a:ext cx="4668364" cy="141758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r>
                <a:rPr lang="en-GB" sz="1000" dirty="0"/>
                <a:t>INVERSE DESIGN OF INTERNALLY COOLED TURBINE BLADES BASED Ferlauto, M. (2013)</a:t>
              </a:r>
              <a:endParaRPr lang="LID4096" sz="1050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6FCC0D7-780F-21A9-BF52-5F28848CDAC0}"/>
              </a:ext>
            </a:extLst>
          </p:cNvPr>
          <p:cNvSpPr txBox="1"/>
          <p:nvPr/>
        </p:nvSpPr>
        <p:spPr>
          <a:xfrm>
            <a:off x="272598" y="525679"/>
            <a:ext cx="6499393" cy="5850635"/>
          </a:xfrm>
          <a:prstGeom prst="rect">
            <a:avLst/>
          </a:prstGeom>
          <a:solidFill>
            <a:srgbClr val="A7E8FF"/>
          </a:solidFill>
          <a:effectLst/>
        </p:spPr>
        <p:txBody>
          <a:bodyPr wrap="none" lIns="91440" tIns="91440" rIns="91440" bIns="91440" rtlCol="0" anchor="t" anchorCtr="0">
            <a:noAutofit/>
          </a:bodyPr>
          <a:lstStyle>
            <a:defPPr>
              <a:defRPr lang="LID4096"/>
            </a:defPPr>
            <a:lvl1pPr algn="ctr">
              <a:defRPr sz="36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l"/>
            <a:r>
              <a:rPr lang="pt-BR" u="sng" dirty="0"/>
              <a:t>Exemplo</a:t>
            </a:r>
          </a:p>
          <a:p>
            <a:pPr algn="l"/>
            <a:endParaRPr lang="pt-BR" u="sng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2EE8F4C-4297-B3D8-7A29-7E1C9406A7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135" y="4896946"/>
            <a:ext cx="6220813" cy="13951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E612845-9773-A8D5-14DE-C3D416FCAFDC}"/>
              </a:ext>
            </a:extLst>
          </p:cNvPr>
          <p:cNvSpPr txBox="1"/>
          <p:nvPr/>
        </p:nvSpPr>
        <p:spPr>
          <a:xfrm>
            <a:off x="2121677" y="851909"/>
            <a:ext cx="2301891" cy="29545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GB" sz="2000" b="1" dirty="0">
                <a:latin typeface="Horley Old Style MT"/>
              </a:rPr>
              <a:t>Ferlauto, M. (2013)</a:t>
            </a:r>
            <a:endParaRPr lang="LID4096" sz="2400" b="1" dirty="0">
              <a:latin typeface="Horley Old Style M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4DB39C-1791-AAF0-0774-45DE65B48550}"/>
              </a:ext>
            </a:extLst>
          </p:cNvPr>
          <p:cNvSpPr txBox="1"/>
          <p:nvPr/>
        </p:nvSpPr>
        <p:spPr>
          <a:xfrm>
            <a:off x="3576119" y="3430387"/>
            <a:ext cx="303882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t-PT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Função Objetivo </a:t>
            </a:r>
            <a:r>
              <a:rPr lang="el-GR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Φ</a:t>
            </a:r>
            <a:endParaRPr lang="pt-PT" sz="2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orley Old Style MT"/>
            </a:endParaRPr>
          </a:p>
          <a:p>
            <a:pPr algn="ctr" rtl="0">
              <a:buNone/>
            </a:pPr>
            <a:endParaRPr lang="pt-PT" sz="800" b="1" dirty="0">
              <a:latin typeface="Horley Old Style MT"/>
            </a:endParaRPr>
          </a:p>
          <a:p>
            <a:pPr algn="ctr" rtl="0">
              <a:buNone/>
            </a:pPr>
            <a:r>
              <a:rPr lang="pt-PT" sz="2400" b="1" dirty="0">
                <a:latin typeface="Horley Old Style MT"/>
              </a:rPr>
              <a:t>- </a:t>
            </a:r>
            <a:r>
              <a:rPr lang="pt-PT" sz="2400" b="1" dirty="0">
                <a:effectLst/>
                <a:latin typeface="Horley Old Style MT"/>
              </a:rPr>
              <a:t>impõe restrições geométricas</a:t>
            </a: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AF136722-C59C-DD09-F618-8148A4331E37}"/>
              </a:ext>
            </a:extLst>
          </p:cNvPr>
          <p:cNvSpPr/>
          <p:nvPr/>
        </p:nvSpPr>
        <p:spPr>
          <a:xfrm>
            <a:off x="1497874" y="5425440"/>
            <a:ext cx="400212" cy="287383"/>
          </a:xfrm>
          <a:prstGeom prst="rightArrow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0" name="Arrow: Left-Right 49">
            <a:extLst>
              <a:ext uri="{FF2B5EF4-FFF2-40B4-BE49-F238E27FC236}">
                <a16:creationId xmlns:a16="http://schemas.microsoft.com/office/drawing/2014/main" id="{D40D9069-FC4A-CB32-4AC3-F63F0A0A6EE5}"/>
              </a:ext>
            </a:extLst>
          </p:cNvPr>
          <p:cNvSpPr/>
          <p:nvPr/>
        </p:nvSpPr>
        <p:spPr>
          <a:xfrm>
            <a:off x="549390" y="5052860"/>
            <a:ext cx="844731" cy="324946"/>
          </a:xfrm>
          <a:prstGeom prst="leftRightArrow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1D241E3-77AB-6DCA-422B-1D04FD438FCF}"/>
              </a:ext>
            </a:extLst>
          </p:cNvPr>
          <p:cNvSpPr/>
          <p:nvPr/>
        </p:nvSpPr>
        <p:spPr>
          <a:xfrm>
            <a:off x="6499532" y="1619214"/>
            <a:ext cx="400212" cy="287383"/>
          </a:xfrm>
          <a:prstGeom prst="rightArrow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454DDD-1F34-3257-72E3-F58365D41A0F}"/>
              </a:ext>
            </a:extLst>
          </p:cNvPr>
          <p:cNvSpPr txBox="1"/>
          <p:nvPr/>
        </p:nvSpPr>
        <p:spPr>
          <a:xfrm>
            <a:off x="4169931" y="1546637"/>
            <a:ext cx="2314676" cy="15696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pt-BR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Chute inicial</a:t>
            </a:r>
          </a:p>
          <a:p>
            <a:pPr algn="l"/>
            <a:r>
              <a:rPr lang="pt-BR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...</a:t>
            </a:r>
          </a:p>
          <a:p>
            <a:pPr algn="l"/>
            <a:r>
              <a:rPr lang="pt-BR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...</a:t>
            </a:r>
          </a:p>
          <a:p>
            <a:pPr algn="l"/>
            <a:r>
              <a:rPr lang="pt-BR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Modelo inverso</a:t>
            </a:r>
            <a:endParaRPr lang="pt-BR" dirty="0">
              <a:latin typeface="Horley Old Style MT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913792D-0D4D-7472-72D1-E5E599359579}"/>
              </a:ext>
            </a:extLst>
          </p:cNvPr>
          <p:cNvSpPr/>
          <p:nvPr/>
        </p:nvSpPr>
        <p:spPr>
          <a:xfrm>
            <a:off x="6512592" y="2816645"/>
            <a:ext cx="400212" cy="287383"/>
          </a:xfrm>
          <a:prstGeom prst="rightArrow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4">
                <a:extLst>
                  <a:ext uri="{63B3BB69-23CF-44E3-9099-C40C66FF867C}">
                    <a14:compatExt spid="_x0000_s1028"/>
                  </a:ext>
                  <a:ext uri="{FF2B5EF4-FFF2-40B4-BE49-F238E27FC236}">
                    <a16:creationId xmlns:a16="http://schemas.microsoft.com/office/drawing/2014/main" id="{23C9F118-B168-C266-42E0-E0C3973FB8D2}"/>
                  </a:ext>
                </a:extLst>
              </p:cNvPr>
              <p:cNvSpPr txBox="1"/>
              <p:nvPr/>
            </p:nvSpPr>
            <p:spPr>
              <a:xfrm>
                <a:off x="5095533" y="2100574"/>
                <a:ext cx="1078844" cy="407159"/>
              </a:xfrm>
              <a:prstGeom prst="rect">
                <a:avLst/>
              </a:prstGeom>
              <a:solidFill>
                <a:srgbClr val="A7E8FF"/>
              </a:solidFill>
              <a:ln w="3175"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 anchorCtr="0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200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pt-BR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200" b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𝐀</m:t>
                          </m:r>
                        </m:e>
                        <m:e>
                          <m:r>
                            <a:rPr lang="pt-BR" sz="2200" b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𝐁</m:t>
                          </m:r>
                        </m:e>
                      </m:d>
                    </m:oMath>
                  </m:oMathPara>
                </a14:m>
                <a:endParaRPr lang="en-GB" sz="2200" b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Object 4">
                <a:extLst>
                  <a:ext uri="{63B3BB69-23CF-44E3-9099-C40C66FF867C}">
                    <a14:compatExt xmlns:a14="http://schemas.microsoft.com/office/drawing/2010/main" spid="_x0000_s1028"/>
                  </a:ext>
                  <a:ext uri="{FF2B5EF4-FFF2-40B4-BE49-F238E27FC236}">
                    <a16:creationId xmlns:a16="http://schemas.microsoft.com/office/drawing/2014/main" id="{23C9F118-B168-C266-42E0-E0C3973FB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533" y="2100574"/>
                <a:ext cx="1078844" cy="40715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175"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2F9396C5-C215-0786-3D12-8ACAA181099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637" t="4445" r="7079" b="1633"/>
          <a:stretch>
            <a:fillRect/>
          </a:stretch>
        </p:blipFill>
        <p:spPr>
          <a:xfrm>
            <a:off x="395925" y="1332151"/>
            <a:ext cx="3095187" cy="322336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6FEE34D-F4D4-0426-3B1A-B2DB913BCEB9}"/>
              </a:ext>
            </a:extLst>
          </p:cNvPr>
          <p:cNvSpPr txBox="1"/>
          <p:nvPr/>
        </p:nvSpPr>
        <p:spPr>
          <a:xfrm>
            <a:off x="10302240" y="4635336"/>
            <a:ext cx="10153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>
              <a:buNone/>
            </a:pPr>
            <a:r>
              <a:rPr lang="el-GR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Φ</a:t>
            </a:r>
            <a:endParaRPr lang="pt-PT" sz="2400" b="1" dirty="0">
              <a:effectLst/>
              <a:latin typeface="Horley Old Style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F6E112-F6D8-DB30-0615-A2FFD247E3C7}"/>
              </a:ext>
            </a:extLst>
          </p:cNvPr>
          <p:cNvSpPr txBox="1"/>
          <p:nvPr/>
        </p:nvSpPr>
        <p:spPr>
          <a:xfrm>
            <a:off x="3077094" y="672459"/>
            <a:ext cx="3107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t-BR" sz="2000" b="1" dirty="0">
                <a:solidFill>
                  <a:srgbClr val="FF0000"/>
                </a:solidFill>
                <a:effectLst/>
                <a:latin typeface="Horley Old Style MT"/>
              </a:rPr>
              <a:t>HEAT</a:t>
            </a:r>
            <a:endParaRPr lang="pt-BR" sz="2000" b="1" dirty="0">
              <a:effectLst/>
              <a:latin typeface="Horley Old Style MT"/>
            </a:endParaRPr>
          </a:p>
        </p:txBody>
      </p:sp>
    </p:spTree>
    <p:extLst>
      <p:ext uri="{BB962C8B-B14F-4D97-AF65-F5344CB8AC3E}">
        <p14:creationId xmlns:p14="http://schemas.microsoft.com/office/powerpoint/2010/main" val="117881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C4F52-3687-F0B1-275B-866B6465A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3EA3D86-4412-0B6B-D650-91F6F7C802EC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0" name="Picture 9" descr="TDss">
            <a:extLst>
              <a:ext uri="{FF2B5EF4-FFF2-40B4-BE49-F238E27FC236}">
                <a16:creationId xmlns:a16="http://schemas.microsoft.com/office/drawing/2014/main" id="{00000000-0008-0000-0200-000036080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342" y="3729891"/>
            <a:ext cx="3009900" cy="2562225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C0" mc:Ignorable="a14" a14:legacySpreadsheetColorIndex="26"/>
          </a:solidFill>
          <a:ln w="25400">
            <a:solidFill>
              <a:srgbClr xmlns:mc="http://schemas.openxmlformats.org/markup-compatibility/2006" xmlns:a14="http://schemas.microsoft.com/office/drawing/2010/main" val="0000FF" mc:Ignorable="a14" a14:legacySpreadsheetColorIndex="12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391A3D-A70E-46D8-E310-42087456D28B}"/>
              </a:ext>
            </a:extLst>
          </p:cNvPr>
          <p:cNvSpPr txBox="1"/>
          <p:nvPr/>
        </p:nvSpPr>
        <p:spPr>
          <a:xfrm>
            <a:off x="6738325" y="5207418"/>
            <a:ext cx="716326" cy="451087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sz="2400" b="1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OBS</a:t>
            </a:r>
            <a:endParaRPr lang="LID4096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4B7EB8-7C65-692B-9470-8B8E7E1AB5B1}"/>
              </a:ext>
            </a:extLst>
          </p:cNvPr>
          <p:cNvSpPr txBox="1"/>
          <p:nvPr/>
        </p:nvSpPr>
        <p:spPr>
          <a:xfrm>
            <a:off x="7419205" y="5216558"/>
            <a:ext cx="716326" cy="451087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sz="2400" b="1" i="0" u="none" strike="noStrike" baseline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PAR</a:t>
            </a:r>
            <a:endParaRPr lang="LID4096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69851E-7550-5509-5579-7B1B4CF17420}"/>
              </a:ext>
            </a:extLst>
          </p:cNvPr>
          <p:cNvSpPr txBox="1"/>
          <p:nvPr/>
        </p:nvSpPr>
        <p:spPr>
          <a:xfrm>
            <a:off x="272598" y="525679"/>
            <a:ext cx="6499393" cy="5850635"/>
          </a:xfrm>
          <a:prstGeom prst="rect">
            <a:avLst/>
          </a:prstGeom>
          <a:solidFill>
            <a:srgbClr val="A7E8FF"/>
          </a:solidFill>
          <a:effectLst/>
        </p:spPr>
        <p:txBody>
          <a:bodyPr wrap="none" lIns="91440" tIns="91440" rIns="91440" bIns="91440" rtlCol="0" anchor="t" anchorCtr="0">
            <a:noAutofit/>
          </a:bodyPr>
          <a:lstStyle>
            <a:defPPr>
              <a:defRPr lang="LID4096"/>
            </a:defPPr>
            <a:lvl1pPr algn="ctr">
              <a:defRPr sz="36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l"/>
            <a:endParaRPr lang="pt-BR" u="sng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49886C-41D9-8A98-E302-C515872BF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35" y="4896946"/>
            <a:ext cx="6220813" cy="13951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3EE33DCD-6EDF-7274-3F58-0278DCD56942}"/>
              </a:ext>
            </a:extLst>
          </p:cNvPr>
          <p:cNvSpPr/>
          <p:nvPr/>
        </p:nvSpPr>
        <p:spPr>
          <a:xfrm>
            <a:off x="1497874" y="5425440"/>
            <a:ext cx="400212" cy="287383"/>
          </a:xfrm>
          <a:prstGeom prst="rightArrow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DF4E1065-AF4D-2859-97AC-E17558091DAA}"/>
              </a:ext>
            </a:extLst>
          </p:cNvPr>
          <p:cNvSpPr/>
          <p:nvPr/>
        </p:nvSpPr>
        <p:spPr>
          <a:xfrm>
            <a:off x="549390" y="5052860"/>
            <a:ext cx="844731" cy="324946"/>
          </a:xfrm>
          <a:prstGeom prst="leftRightArrow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5293370-AB71-0408-AC27-EAC9D8303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16" y="634678"/>
            <a:ext cx="4579715" cy="4137622"/>
          </a:xfrm>
          <a:prstGeom prst="rect">
            <a:avLst/>
          </a:prstGeom>
          <a:ln w="28575">
            <a:solidFill>
              <a:srgbClr val="0000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43FF9E9-24B4-7F9F-A227-7921D390A573}"/>
              </a:ext>
            </a:extLst>
          </p:cNvPr>
          <p:cNvSpPr txBox="1"/>
          <p:nvPr/>
        </p:nvSpPr>
        <p:spPr>
          <a:xfrm>
            <a:off x="6403442" y="5554312"/>
            <a:ext cx="2051652" cy="451087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Modelo</a:t>
            </a:r>
            <a:endParaRPr lang="LID4096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8096A9-1549-C8B4-0FB5-C1A7C8C204F0}"/>
              </a:ext>
            </a:extLst>
          </p:cNvPr>
          <p:cNvSpPr txBox="1"/>
          <p:nvPr/>
        </p:nvSpPr>
        <p:spPr>
          <a:xfrm>
            <a:off x="5096595" y="5859989"/>
            <a:ext cx="30388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erro (</a:t>
            </a:r>
            <a:r>
              <a:rPr lang="el-GR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Φ</a:t>
            </a:r>
            <a:r>
              <a:rPr lang="pt-BR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pt-PT" sz="2400" b="1" dirty="0">
              <a:effectLst/>
              <a:latin typeface="Horley Old Style M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E63B21-90FD-7CDF-8DD1-D365D012714B}"/>
              </a:ext>
            </a:extLst>
          </p:cNvPr>
          <p:cNvSpPr/>
          <p:nvPr/>
        </p:nvSpPr>
        <p:spPr>
          <a:xfrm>
            <a:off x="549390" y="5939246"/>
            <a:ext cx="765604" cy="28407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AD7BBAD5-2AB9-5110-BEFF-03CF42EB4C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4389304"/>
              </p:ext>
            </p:extLst>
          </p:nvPr>
        </p:nvGraphicFramePr>
        <p:xfrm>
          <a:off x="5860869" y="525679"/>
          <a:ext cx="5487373" cy="2869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610696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C23D0-2E7A-CB75-9118-97DC5D4CD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F37F501-51CD-FDAC-1E93-FB18BE045724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714937-D898-6E1C-8872-C462EEF6DC0F}"/>
              </a:ext>
            </a:extLst>
          </p:cNvPr>
          <p:cNvSpPr txBox="1"/>
          <p:nvPr/>
        </p:nvSpPr>
        <p:spPr>
          <a:xfrm>
            <a:off x="1" y="365"/>
            <a:ext cx="6591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bg1">
                    <a:lumMod val="65000"/>
                  </a:schemeClr>
                </a:solidFill>
              </a:rPr>
              <a:t>Proposta Doutorado - Engenharia Mecânica – 1º semestre 2027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F5630C-6212-930D-8312-FFD251564DA6}"/>
              </a:ext>
            </a:extLst>
          </p:cNvPr>
          <p:cNvSpPr txBox="1"/>
          <p:nvPr/>
        </p:nvSpPr>
        <p:spPr>
          <a:xfrm>
            <a:off x="272598" y="525679"/>
            <a:ext cx="5745907" cy="5850635"/>
          </a:xfrm>
          <a:prstGeom prst="rect">
            <a:avLst/>
          </a:prstGeom>
          <a:solidFill>
            <a:srgbClr val="A7E8FF"/>
          </a:solidFill>
          <a:effectLst/>
        </p:spPr>
        <p:txBody>
          <a:bodyPr wrap="none" lIns="91440" tIns="91440" rIns="91440" bIns="91440" rtlCol="0" anchor="t" anchorCtr="0">
            <a:noAutofit/>
          </a:bodyPr>
          <a:lstStyle>
            <a:defPPr>
              <a:defRPr lang="LID4096"/>
            </a:defPPr>
            <a:lvl1pPr algn="ctr">
              <a:defRPr sz="36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l"/>
            <a:r>
              <a:rPr lang="pt-BR" u="sng" dirty="0"/>
              <a:t>Função lagrangiana</a:t>
            </a:r>
            <a:r>
              <a:rPr lang="pt-BR" dirty="0"/>
              <a:t>  (CFD)</a:t>
            </a:r>
          </a:p>
          <a:p>
            <a:pPr algn="l"/>
            <a:endParaRPr lang="pt-BR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84BA3AE-C3CA-5734-2649-DA9D4E20A9A3}"/>
              </a:ext>
            </a:extLst>
          </p:cNvPr>
          <p:cNvGrpSpPr/>
          <p:nvPr/>
        </p:nvGrpSpPr>
        <p:grpSpPr>
          <a:xfrm>
            <a:off x="434566" y="1475719"/>
            <a:ext cx="5341003" cy="3475468"/>
            <a:chOff x="378328" y="1195061"/>
            <a:chExt cx="5341003" cy="3475468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30510CA-6030-2B7F-6F21-F4CB1C4B3A5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14130" y="3009165"/>
              <a:ext cx="2644274" cy="1661364"/>
              <a:chOff x="614917" y="2559559"/>
              <a:chExt cx="1654189" cy="1039309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63CE1EF-DD5C-3FA1-7A53-3D6B58F186B8}"/>
                  </a:ext>
                </a:extLst>
              </p:cNvPr>
              <p:cNvSpPr txBox="1"/>
              <p:nvPr/>
            </p:nvSpPr>
            <p:spPr>
              <a:xfrm>
                <a:off x="614917" y="2559559"/>
                <a:ext cx="1405748" cy="10393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anchor="ctr" anchorCtr="0">
                <a:noAutofit/>
              </a:bodyPr>
              <a:lstStyle/>
              <a:p>
                <a:pPr algn="ctr"/>
                <a:endParaRPr lang="en-US" sz="1600" b="1" i="0" u="none" strike="noStrike" baseline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MRoman12-Regular"/>
                </a:endParaRPr>
              </a:p>
              <a:p>
                <a:pPr algn="ctr"/>
                <a:endParaRPr lang="en-US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MRoman12-Regular"/>
                </a:endParaRPr>
              </a:p>
              <a:p>
                <a:pPr algn="ctr"/>
                <a:endParaRPr lang="en-US" sz="1600" b="1" i="0" u="none" strike="noStrike" baseline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MRoman12-Regular"/>
                </a:endParaRPr>
              </a:p>
              <a:p>
                <a:pPr algn="ctr"/>
                <a:endParaRPr lang="en-US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MRoman12-Regular"/>
                </a:endParaRPr>
              </a:p>
              <a:p>
                <a:pPr algn="ctr"/>
                <a:endParaRPr lang="en-US" sz="1600" b="1" i="0" u="none" strike="noStrike" baseline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MRoman12-Regular"/>
                </a:endParaRPr>
              </a:p>
              <a:p>
                <a:pPr algn="ctr"/>
                <a:endParaRPr lang="en-US" sz="2000" b="1" i="0" u="none" strike="noStrike" baseline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MRoman12-Regular"/>
                </a:endParaRPr>
              </a:p>
              <a:p>
                <a:pPr algn="ctr"/>
                <a:endParaRPr 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MRoman12-Regular"/>
                </a:endParaRPr>
              </a:p>
              <a:p>
                <a:pPr algn="ctr"/>
                <a:endParaRPr lang="en-US" sz="2000" b="1" i="0" u="none" strike="noStrike" baseline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MRoman12-Regular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Object 4">
                    <a:extLst>
                      <a:ext uri="{63B3BB69-23CF-44E3-9099-C40C66FF867C}">
                        <a14:compatExt spid="_x0000_s1028"/>
                      </a:ext>
                      <a:ext uri="{FF2B5EF4-FFF2-40B4-BE49-F238E27FC236}">
                        <a16:creationId xmlns:a16="http://schemas.microsoft.com/office/drawing/2014/main" id="{4FDC2F28-CBA2-C4EA-9E10-C96845CC69B6}"/>
                      </a:ext>
                    </a:extLst>
                  </p:cNvPr>
                  <p:cNvSpPr txBox="1"/>
                  <p:nvPr/>
                </p:nvSpPr>
                <p:spPr>
                  <a:xfrm>
                    <a:off x="717569" y="2587818"/>
                    <a:ext cx="1551537" cy="763537"/>
                  </a:xfrm>
                  <a:prstGeom prst="rect">
                    <a:avLst/>
                  </a:prstGeom>
                  <a:noFill/>
                  <a:ln w="3175">
                    <a:noFill/>
                  </a:ln>
                  <a:effectLst/>
                </p:spPr>
                <p:txBody>
                  <a:bodyPr wrap="none" anchor="t" anchorCtr="0">
                    <a:noAutofit/>
                  </a:bodyPr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just">
                      <a:defRPr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  <m:eqArr>
                                <m:eqArrPr>
                                  <m:ctrlPr>
                                    <a:rPr lang="en-US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pt-BR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  ∗  </m:t>
                                  </m:r>
                                  <m:r>
                                    <a:rPr lang="pt-BR" sz="2400" b="1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pt-BR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 ∗</m:t>
                                  </m:r>
                                </m:e>
                                <m:e>
                                  <m:r>
                                    <a:rPr lang="pt-BR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 </m:t>
                                  </m:r>
                                  <m:borderBox>
                                    <m:borderBoxPr>
                                      <m:ctrlPr>
                                        <a:rPr lang="pt-BR" sz="24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borderBoxPr>
                                    <m:e>
                                      <m:r>
                                        <a:rPr lang="pt-BR" sz="24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∗</m:t>
                                      </m:r>
                                    </m:e>
                                  </m:borderBox>
                                  <m:r>
                                    <a:rPr lang="pt-BR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 ∗  </m:t>
                                  </m:r>
                                  <m:r>
                                    <a:rPr lang="pt-BR" sz="2400" b="1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e>
                                <m:e>
                                  <m:r>
                                    <a:rPr lang="pt-BR" sz="2400" b="1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pt-BR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 ∗  ∗  ∗</m:t>
                                  </m:r>
                                </m:e>
                                <m:e>
                                  <m:r>
                                    <a:rPr lang="pt-BR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 </m:t>
                                  </m:r>
                                  <m:r>
                                    <a:rPr lang="pt-BR" sz="2400" b="1" i="1" dirty="0" smtClean="0">
                                      <a:solidFill>
                                        <a:schemeClr val="accent2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BR" sz="2400" b="1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pt-BR" sz="2400" b="1" i="1" dirty="0" smtClean="0">
                                      <a:solidFill>
                                        <a:schemeClr val="accent2">
                                          <a:lumMod val="20000"/>
                                          <a:lumOff val="8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pt-BR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  ∗</m:t>
                                  </m:r>
                                </m:e>
                              </m:eqArr>
                              <m:r>
                                <a:rPr lang="pt-BR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GB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pt-BR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∗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1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1" i="1" dirty="0" smtClean="0">
                                        <a:solidFill>
                                          <a:srgbClr val="A7E8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sz="2400" b="1" i="1" dirty="0" smtClean="0">
                                        <a:solidFill>
                                          <a:srgbClr val="A7E8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400" b="1" i="1" dirty="0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US" sz="2400" b="1" i="1" spc="150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𝝓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pt-BR" sz="2400" b="1" i="1" dirty="0" smtClean="0">
                                              <a:solidFill>
                                                <a:srgbClr val="A7E8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.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pt-BR" sz="2400" b="1" i="1" dirty="0" smtClean="0">
                                              <a:solidFill>
                                                <a:srgbClr val="A7E8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.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  <m:r>
                            <a:rPr lang="pt-BR" sz="2400" b="1" i="1" dirty="0" smtClean="0">
                              <a:solidFill>
                                <a:srgbClr val="A7E8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  <m:r>
                            <a:rPr kumimoji="0" lang="pt-BR" sz="24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 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2400" b="1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pt-BR" sz="2400" b="1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e>
                                <m:e>
                                  <m:borderBox>
                                    <m:borderBoxPr>
                                      <m:ctrlPr>
                                        <a:rPr lang="pt-BR" sz="2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borderBoxPr>
                                    <m:e>
                                      <m:r>
                                        <a:rPr lang="pt-BR" sz="2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∗</m:t>
                                      </m:r>
                                    </m:e>
                                  </m:borderBox>
                                </m:e>
                                <m:e>
                                  <m:r>
                                    <a:rPr lang="pt-BR" sz="2400" b="1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e>
                                <m:e>
                                  <m:r>
                                    <a:rPr lang="pt-BR" sz="2400" b="1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e>
                              </m:eqArr>
                            </m:e>
                          </m:d>
                        </m:oMath>
                      </m:oMathPara>
                    </a14:m>
                    <a:endParaRPr kumimoji="0" lang="en-GB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4" name="Object 4">
                    <a:extLst>
                      <a:ext uri="{63B3BB69-23CF-44E3-9099-C40C66FF867C}">
                        <a14:compatExt xmlns:a14="http://schemas.microsoft.com/office/drawing/2010/main" spid="_x0000_s1028"/>
                      </a:ext>
                      <a:ext uri="{FF2B5EF4-FFF2-40B4-BE49-F238E27FC236}">
                        <a16:creationId xmlns:a16="http://schemas.microsoft.com/office/drawing/2014/main" id="{4FDC2F28-CBA2-C4EA-9E10-C96845CC69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7569" y="2587818"/>
                    <a:ext cx="1551537" cy="76353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r="-72482" b="-24000"/>
                    </a:stretch>
                  </a:blipFill>
                  <a:ln w="3175"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LID4096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bject 4">
                  <a:extLst>
                    <a:ext uri="{63B3BB69-23CF-44E3-9099-C40C66FF867C}">
                      <a14:compatExt spid="_x0000_s1028"/>
                    </a:ext>
                    <a:ext uri="{FF2B5EF4-FFF2-40B4-BE49-F238E27FC236}">
                      <a16:creationId xmlns:a16="http://schemas.microsoft.com/office/drawing/2014/main" id="{03FA16D3-5735-6132-2E51-C7B28747AD8C}"/>
                    </a:ext>
                  </a:extLst>
                </p:cNvPr>
                <p:cNvSpPr txBox="1"/>
                <p:nvPr/>
              </p:nvSpPr>
              <p:spPr>
                <a:xfrm>
                  <a:off x="378328" y="1195061"/>
                  <a:ext cx="5341003" cy="1051680"/>
                </a:xfrm>
                <a:prstGeom prst="rect">
                  <a:avLst/>
                </a:prstGeom>
                <a:solidFill>
                  <a:srgbClr val="FFFFCC"/>
                </a:solidFill>
                <a:ln w="28575">
                  <a:solidFill>
                    <a:srgbClr val="0000FF"/>
                  </a:solidFill>
                </a:ln>
                <a:effectLst/>
              </p:spPr>
              <p:txBody>
                <a:bodyPr wrap="none" anchor="t" anchorCtr="0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3000" b="1" i="1" spc="150" dirty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LID4096" sz="3000" b="1" spc="150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∂</m:t>
                            </m:r>
                            <m:r>
                              <a:rPr lang="en-US" sz="3000" b="1" i="1" spc="150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𝝓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LID4096" sz="3000" b="1" spc="150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∂</m:t>
                            </m:r>
                            <m:r>
                              <m:rPr>
                                <m:nor/>
                              </m:rPr>
                              <a:rPr lang="LID4096" sz="3000" b="1" spc="150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den>
                        </m:f>
                        <m:r>
                          <a:rPr lang="pt-BR" sz="3000" b="1" i="1" spc="150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sz="3000" b="1" i="0" spc="150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 </m:t>
                        </m:r>
                        <m:r>
                          <m:rPr>
                            <m:nor/>
                          </m:rPr>
                          <a:rPr lang="LID4096" sz="3000" b="1" spc="150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m:rPr>
                            <m:nor/>
                          </m:rPr>
                          <a:rPr lang="pt-BR" sz="3000" b="1" i="0" spc="150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LID4096" sz="3000" b="1" spc="150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LID4096" sz="3000" b="1" spc="150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u</m:t>
                        </m:r>
                        <m:r>
                          <a:rPr lang="en-US" sz="3000" b="1" i="1" spc="150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𝝓</m:t>
                        </m:r>
                        <m:r>
                          <m:rPr>
                            <m:nor/>
                          </m:rPr>
                          <a:rPr lang="LID4096" sz="3000" b="1" spc="150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pt-BR" sz="3000" b="1" i="0" spc="150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LID4096" sz="3000" b="1" spc="150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pt-BR" sz="3000" b="1" i="0" spc="150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sz="3000" b="1" i="0" spc="150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en-US" sz="3000" b="1" i="1" spc="150" dirty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LID4096" sz="3000" b="1" spc="150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p>
                            <m:r>
                              <a:rPr lang="pt-BR" sz="3000" b="1" i="1" spc="150" dirty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3000" b="1" i="1" spc="150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𝝓</m:t>
                        </m:r>
                        <m:r>
                          <m:rPr>
                            <m:nor/>
                          </m:rPr>
                          <a:rPr lang="pt-BR" sz="3000" b="1" i="0" spc="150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LID4096" sz="3000" b="1" spc="150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pt-BR" sz="3000" b="1" i="0" spc="150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pt-BR" sz="3000" b="1" i="1" spc="150" dirty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3000" b="1" i="1" spc="150" dirty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3000" b="1" i="1" spc="150" dirty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𝝓</m:t>
                            </m:r>
                          </m:sub>
                        </m:sSub>
                      </m:oMath>
                    </m:oMathPara>
                  </a14:m>
                  <a:endParaRPr lang="LID4096" sz="3000" b="1" spc="15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5" name="Object 4">
                  <a:extLst>
                    <a:ext uri="{63B3BB69-23CF-44E3-9099-C40C66FF867C}">
                      <a14:compatExt xmlns:a14="http://schemas.microsoft.com/office/drawing/2010/main" spid="_x0000_s1028"/>
                    </a:ext>
                    <a:ext uri="{FF2B5EF4-FFF2-40B4-BE49-F238E27FC236}">
                      <a16:creationId xmlns:a16="http://schemas.microsoft.com/office/drawing/2014/main" id="{03FA16D3-5735-6132-2E51-C7B28747AD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328" y="1195061"/>
                  <a:ext cx="5341003" cy="105168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8575">
                  <a:solidFill>
                    <a:srgbClr val="0000FF"/>
                  </a:solidFill>
                </a:ln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E4537CC-B1BE-65A3-BC1D-56AEC8CD68CC}"/>
                </a:ext>
              </a:extLst>
            </p:cNvPr>
            <p:cNvSpPr txBox="1"/>
            <p:nvPr/>
          </p:nvSpPr>
          <p:spPr>
            <a:xfrm>
              <a:off x="1727121" y="1276548"/>
              <a:ext cx="3828024" cy="369332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LID4096"/>
              </a:defPPr>
              <a:lvl1pPr algn="ctr">
                <a:defRPr b="1">
                  <a:latin typeface="Calibri" panose="020F0502020204030204" pitchFamily="34" charset="0"/>
                  <a:cs typeface="Times New Roman" panose="02020603050405020304" pitchFamily="18" charset="0"/>
                </a:defRPr>
              </a:lvl1pPr>
            </a:lstStyle>
            <a:p>
              <a:pPr algn="l"/>
              <a:r>
                <a:rPr lang="pt-BR" dirty="0"/>
                <a:t>convecção              difusão            fontes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1AF386F-6CF0-3025-3B43-E146DCD4CE53}"/>
                </a:ext>
              </a:extLst>
            </p:cNvPr>
            <p:cNvGrpSpPr/>
            <p:nvPr/>
          </p:nvGrpSpPr>
          <p:grpSpPr>
            <a:xfrm>
              <a:off x="900671" y="2334889"/>
              <a:ext cx="4230930" cy="574017"/>
              <a:chOff x="1012027" y="1716685"/>
              <a:chExt cx="4100791" cy="713340"/>
            </a:xfrm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25326EB-CB77-DAA4-17DF-90E4BA86B53C}"/>
                  </a:ext>
                </a:extLst>
              </p:cNvPr>
              <p:cNvSpPr/>
              <p:nvPr/>
            </p:nvSpPr>
            <p:spPr>
              <a:xfrm>
                <a:off x="1077913" y="1844061"/>
                <a:ext cx="3433583" cy="571601"/>
              </a:xfrm>
              <a:custGeom>
                <a:avLst/>
                <a:gdLst>
                  <a:gd name="connsiteX0" fmla="*/ 35627 w 3513933"/>
                  <a:gd name="connsiteY0" fmla="*/ 0 h 770965"/>
                  <a:gd name="connsiteX1" fmla="*/ 250780 w 3513933"/>
                  <a:gd name="connsiteY1" fmla="*/ 268942 h 770965"/>
                  <a:gd name="connsiteX2" fmla="*/ 1909251 w 3513933"/>
                  <a:gd name="connsiteY2" fmla="*/ 385483 h 770965"/>
                  <a:gd name="connsiteX3" fmla="*/ 3244992 w 3513933"/>
                  <a:gd name="connsiteY3" fmla="*/ 555812 h 770965"/>
                  <a:gd name="connsiteX4" fmla="*/ 3513933 w 3513933"/>
                  <a:gd name="connsiteY4" fmla="*/ 770965 h 770965"/>
                  <a:gd name="connsiteX0" fmla="*/ 18181 w 3592407"/>
                  <a:gd name="connsiteY0" fmla="*/ 0 h 726142"/>
                  <a:gd name="connsiteX1" fmla="*/ 329254 w 3592407"/>
                  <a:gd name="connsiteY1" fmla="*/ 224119 h 726142"/>
                  <a:gd name="connsiteX2" fmla="*/ 1987725 w 3592407"/>
                  <a:gd name="connsiteY2" fmla="*/ 340660 h 726142"/>
                  <a:gd name="connsiteX3" fmla="*/ 3323466 w 3592407"/>
                  <a:gd name="connsiteY3" fmla="*/ 510989 h 726142"/>
                  <a:gd name="connsiteX4" fmla="*/ 3592407 w 3592407"/>
                  <a:gd name="connsiteY4" fmla="*/ 726142 h 726142"/>
                  <a:gd name="connsiteX0" fmla="*/ 16159 w 3609569"/>
                  <a:gd name="connsiteY0" fmla="*/ 0 h 654424"/>
                  <a:gd name="connsiteX1" fmla="*/ 346416 w 3609569"/>
                  <a:gd name="connsiteY1" fmla="*/ 152401 h 654424"/>
                  <a:gd name="connsiteX2" fmla="*/ 2004887 w 3609569"/>
                  <a:gd name="connsiteY2" fmla="*/ 268942 h 654424"/>
                  <a:gd name="connsiteX3" fmla="*/ 3340628 w 3609569"/>
                  <a:gd name="connsiteY3" fmla="*/ 439271 h 654424"/>
                  <a:gd name="connsiteX4" fmla="*/ 3609569 w 3609569"/>
                  <a:gd name="connsiteY4" fmla="*/ 654424 h 654424"/>
                  <a:gd name="connsiteX0" fmla="*/ 15908 w 3611956"/>
                  <a:gd name="connsiteY0" fmla="*/ 0 h 663827"/>
                  <a:gd name="connsiteX1" fmla="*/ 348803 w 3611956"/>
                  <a:gd name="connsiteY1" fmla="*/ 161804 h 663827"/>
                  <a:gd name="connsiteX2" fmla="*/ 2007274 w 3611956"/>
                  <a:gd name="connsiteY2" fmla="*/ 278345 h 663827"/>
                  <a:gd name="connsiteX3" fmla="*/ 3343015 w 3611956"/>
                  <a:gd name="connsiteY3" fmla="*/ 448674 h 663827"/>
                  <a:gd name="connsiteX4" fmla="*/ 3611956 w 3611956"/>
                  <a:gd name="connsiteY4" fmla="*/ 663827 h 663827"/>
                  <a:gd name="connsiteX0" fmla="*/ 0 w 3596048"/>
                  <a:gd name="connsiteY0" fmla="*/ 0 h 663827"/>
                  <a:gd name="connsiteX1" fmla="*/ 332895 w 3596048"/>
                  <a:gd name="connsiteY1" fmla="*/ 161804 h 663827"/>
                  <a:gd name="connsiteX2" fmla="*/ 1991366 w 3596048"/>
                  <a:gd name="connsiteY2" fmla="*/ 278345 h 663827"/>
                  <a:gd name="connsiteX3" fmla="*/ 3327107 w 3596048"/>
                  <a:gd name="connsiteY3" fmla="*/ 448674 h 663827"/>
                  <a:gd name="connsiteX4" fmla="*/ 3596048 w 3596048"/>
                  <a:gd name="connsiteY4" fmla="*/ 663827 h 663827"/>
                  <a:gd name="connsiteX0" fmla="*/ 0 w 3581974"/>
                  <a:gd name="connsiteY0" fmla="*/ 0 h 670096"/>
                  <a:gd name="connsiteX1" fmla="*/ 332895 w 3581974"/>
                  <a:gd name="connsiteY1" fmla="*/ 161804 h 670096"/>
                  <a:gd name="connsiteX2" fmla="*/ 1991366 w 3581974"/>
                  <a:gd name="connsiteY2" fmla="*/ 278345 h 670096"/>
                  <a:gd name="connsiteX3" fmla="*/ 3327107 w 3581974"/>
                  <a:gd name="connsiteY3" fmla="*/ 448674 h 670096"/>
                  <a:gd name="connsiteX4" fmla="*/ 3581974 w 3581974"/>
                  <a:gd name="connsiteY4" fmla="*/ 670096 h 670096"/>
                  <a:gd name="connsiteX0" fmla="*/ 0 w 3662897"/>
                  <a:gd name="connsiteY0" fmla="*/ 0 h 673230"/>
                  <a:gd name="connsiteX1" fmla="*/ 332895 w 3662897"/>
                  <a:gd name="connsiteY1" fmla="*/ 161804 h 673230"/>
                  <a:gd name="connsiteX2" fmla="*/ 1991366 w 3662897"/>
                  <a:gd name="connsiteY2" fmla="*/ 278345 h 673230"/>
                  <a:gd name="connsiteX3" fmla="*/ 3327107 w 3662897"/>
                  <a:gd name="connsiteY3" fmla="*/ 448674 h 673230"/>
                  <a:gd name="connsiteX4" fmla="*/ 3662897 w 3662897"/>
                  <a:gd name="connsiteY4" fmla="*/ 673230 h 673230"/>
                  <a:gd name="connsiteX0" fmla="*/ 0 w 3671407"/>
                  <a:gd name="connsiteY0" fmla="*/ 0 h 673230"/>
                  <a:gd name="connsiteX1" fmla="*/ 332895 w 3671407"/>
                  <a:gd name="connsiteY1" fmla="*/ 161804 h 673230"/>
                  <a:gd name="connsiteX2" fmla="*/ 1991366 w 3671407"/>
                  <a:gd name="connsiteY2" fmla="*/ 278345 h 673230"/>
                  <a:gd name="connsiteX3" fmla="*/ 3327107 w 3671407"/>
                  <a:gd name="connsiteY3" fmla="*/ 448674 h 673230"/>
                  <a:gd name="connsiteX4" fmla="*/ 3662897 w 3671407"/>
                  <a:gd name="connsiteY4" fmla="*/ 673230 h 673230"/>
                  <a:gd name="connsiteX0" fmla="*/ 0 w 3640879"/>
                  <a:gd name="connsiteY0" fmla="*/ 0 h 676423"/>
                  <a:gd name="connsiteX1" fmla="*/ 302367 w 3640879"/>
                  <a:gd name="connsiteY1" fmla="*/ 164997 h 676423"/>
                  <a:gd name="connsiteX2" fmla="*/ 1960838 w 3640879"/>
                  <a:gd name="connsiteY2" fmla="*/ 281538 h 676423"/>
                  <a:gd name="connsiteX3" fmla="*/ 3296579 w 3640879"/>
                  <a:gd name="connsiteY3" fmla="*/ 451867 h 676423"/>
                  <a:gd name="connsiteX4" fmla="*/ 3632369 w 3640879"/>
                  <a:gd name="connsiteY4" fmla="*/ 676423 h 676423"/>
                  <a:gd name="connsiteX0" fmla="*/ 0 w 3640879"/>
                  <a:gd name="connsiteY0" fmla="*/ 0 h 676423"/>
                  <a:gd name="connsiteX1" fmla="*/ 302367 w 3640879"/>
                  <a:gd name="connsiteY1" fmla="*/ 164997 h 676423"/>
                  <a:gd name="connsiteX2" fmla="*/ 1960838 w 3640879"/>
                  <a:gd name="connsiteY2" fmla="*/ 281538 h 676423"/>
                  <a:gd name="connsiteX3" fmla="*/ 3296579 w 3640879"/>
                  <a:gd name="connsiteY3" fmla="*/ 451867 h 676423"/>
                  <a:gd name="connsiteX4" fmla="*/ 3632369 w 3640879"/>
                  <a:gd name="connsiteY4" fmla="*/ 676423 h 676423"/>
                  <a:gd name="connsiteX0" fmla="*/ 0 w 3640879"/>
                  <a:gd name="connsiteY0" fmla="*/ 0 h 676423"/>
                  <a:gd name="connsiteX1" fmla="*/ 448221 w 3640879"/>
                  <a:gd name="connsiteY1" fmla="*/ 235241 h 676423"/>
                  <a:gd name="connsiteX2" fmla="*/ 1960838 w 3640879"/>
                  <a:gd name="connsiteY2" fmla="*/ 281538 h 676423"/>
                  <a:gd name="connsiteX3" fmla="*/ 3296579 w 3640879"/>
                  <a:gd name="connsiteY3" fmla="*/ 451867 h 676423"/>
                  <a:gd name="connsiteX4" fmla="*/ 3632369 w 3640879"/>
                  <a:gd name="connsiteY4" fmla="*/ 676423 h 676423"/>
                  <a:gd name="connsiteX0" fmla="*/ 0 w 3640879"/>
                  <a:gd name="connsiteY0" fmla="*/ 0 h 676423"/>
                  <a:gd name="connsiteX1" fmla="*/ 448221 w 3640879"/>
                  <a:gd name="connsiteY1" fmla="*/ 235241 h 676423"/>
                  <a:gd name="connsiteX2" fmla="*/ 1960838 w 3640879"/>
                  <a:gd name="connsiteY2" fmla="*/ 281538 h 676423"/>
                  <a:gd name="connsiteX3" fmla="*/ 3296579 w 3640879"/>
                  <a:gd name="connsiteY3" fmla="*/ 451867 h 676423"/>
                  <a:gd name="connsiteX4" fmla="*/ 3632369 w 3640879"/>
                  <a:gd name="connsiteY4" fmla="*/ 676423 h 676423"/>
                  <a:gd name="connsiteX0" fmla="*/ 0 w 3640879"/>
                  <a:gd name="connsiteY0" fmla="*/ 0 h 676423"/>
                  <a:gd name="connsiteX1" fmla="*/ 448221 w 3640879"/>
                  <a:gd name="connsiteY1" fmla="*/ 235241 h 676423"/>
                  <a:gd name="connsiteX2" fmla="*/ 1960838 w 3640879"/>
                  <a:gd name="connsiteY2" fmla="*/ 281538 h 676423"/>
                  <a:gd name="connsiteX3" fmla="*/ 3296579 w 3640879"/>
                  <a:gd name="connsiteY3" fmla="*/ 451867 h 676423"/>
                  <a:gd name="connsiteX4" fmla="*/ 3632369 w 3640879"/>
                  <a:gd name="connsiteY4" fmla="*/ 676423 h 676423"/>
                  <a:gd name="connsiteX0" fmla="*/ 0 w 3640879"/>
                  <a:gd name="connsiteY0" fmla="*/ 0 h 676423"/>
                  <a:gd name="connsiteX1" fmla="*/ 448221 w 3640879"/>
                  <a:gd name="connsiteY1" fmla="*/ 235241 h 676423"/>
                  <a:gd name="connsiteX2" fmla="*/ 1960838 w 3640879"/>
                  <a:gd name="connsiteY2" fmla="*/ 281538 h 676423"/>
                  <a:gd name="connsiteX3" fmla="*/ 3296579 w 3640879"/>
                  <a:gd name="connsiteY3" fmla="*/ 451867 h 676423"/>
                  <a:gd name="connsiteX4" fmla="*/ 3632369 w 3640879"/>
                  <a:gd name="connsiteY4" fmla="*/ 676423 h 676423"/>
                  <a:gd name="connsiteX0" fmla="*/ 0 w 3626461"/>
                  <a:gd name="connsiteY0" fmla="*/ 0 h 676423"/>
                  <a:gd name="connsiteX1" fmla="*/ 448221 w 3626461"/>
                  <a:gd name="connsiteY1" fmla="*/ 235241 h 676423"/>
                  <a:gd name="connsiteX2" fmla="*/ 1960838 w 3626461"/>
                  <a:gd name="connsiteY2" fmla="*/ 281538 h 676423"/>
                  <a:gd name="connsiteX3" fmla="*/ 3296579 w 3626461"/>
                  <a:gd name="connsiteY3" fmla="*/ 451867 h 676423"/>
                  <a:gd name="connsiteX4" fmla="*/ 3617104 w 3626461"/>
                  <a:gd name="connsiteY4" fmla="*/ 676423 h 676423"/>
                  <a:gd name="connsiteX0" fmla="*/ 0 w 3646378"/>
                  <a:gd name="connsiteY0" fmla="*/ 0 h 676423"/>
                  <a:gd name="connsiteX1" fmla="*/ 448221 w 3646378"/>
                  <a:gd name="connsiteY1" fmla="*/ 235241 h 676423"/>
                  <a:gd name="connsiteX2" fmla="*/ 1960838 w 3646378"/>
                  <a:gd name="connsiteY2" fmla="*/ 281538 h 676423"/>
                  <a:gd name="connsiteX3" fmla="*/ 3428865 w 3646378"/>
                  <a:gd name="connsiteY3" fmla="*/ 415055 h 676423"/>
                  <a:gd name="connsiteX4" fmla="*/ 3617104 w 3646378"/>
                  <a:gd name="connsiteY4" fmla="*/ 676423 h 676423"/>
                  <a:gd name="connsiteX0" fmla="*/ 0 w 3642822"/>
                  <a:gd name="connsiteY0" fmla="*/ 0 h 639613"/>
                  <a:gd name="connsiteX1" fmla="*/ 448221 w 3642822"/>
                  <a:gd name="connsiteY1" fmla="*/ 235241 h 639613"/>
                  <a:gd name="connsiteX2" fmla="*/ 1960838 w 3642822"/>
                  <a:gd name="connsiteY2" fmla="*/ 281538 h 639613"/>
                  <a:gd name="connsiteX3" fmla="*/ 3428865 w 3642822"/>
                  <a:gd name="connsiteY3" fmla="*/ 415055 h 639613"/>
                  <a:gd name="connsiteX4" fmla="*/ 3612017 w 3642822"/>
                  <a:gd name="connsiteY4" fmla="*/ 639613 h 639613"/>
                  <a:gd name="connsiteX0" fmla="*/ 0 w 3627177"/>
                  <a:gd name="connsiteY0" fmla="*/ 0 h 639613"/>
                  <a:gd name="connsiteX1" fmla="*/ 448221 w 3627177"/>
                  <a:gd name="connsiteY1" fmla="*/ 235241 h 639613"/>
                  <a:gd name="connsiteX2" fmla="*/ 1960838 w 3627177"/>
                  <a:gd name="connsiteY2" fmla="*/ 281538 h 639613"/>
                  <a:gd name="connsiteX3" fmla="*/ 3428865 w 3627177"/>
                  <a:gd name="connsiteY3" fmla="*/ 415055 h 639613"/>
                  <a:gd name="connsiteX4" fmla="*/ 3612017 w 3627177"/>
                  <a:gd name="connsiteY4" fmla="*/ 639613 h 639613"/>
                  <a:gd name="connsiteX0" fmla="*/ 0 w 3671040"/>
                  <a:gd name="connsiteY0" fmla="*/ 0 h 671165"/>
                  <a:gd name="connsiteX1" fmla="*/ 448221 w 3671040"/>
                  <a:gd name="connsiteY1" fmla="*/ 235241 h 671165"/>
                  <a:gd name="connsiteX2" fmla="*/ 1960838 w 3671040"/>
                  <a:gd name="connsiteY2" fmla="*/ 281538 h 671165"/>
                  <a:gd name="connsiteX3" fmla="*/ 3428865 w 3671040"/>
                  <a:gd name="connsiteY3" fmla="*/ 415055 h 671165"/>
                  <a:gd name="connsiteX4" fmla="*/ 3667984 w 3671040"/>
                  <a:gd name="connsiteY4" fmla="*/ 671165 h 671165"/>
                  <a:gd name="connsiteX0" fmla="*/ 0 w 3675351"/>
                  <a:gd name="connsiteY0" fmla="*/ 0 h 671165"/>
                  <a:gd name="connsiteX1" fmla="*/ 448221 w 3675351"/>
                  <a:gd name="connsiteY1" fmla="*/ 235241 h 671165"/>
                  <a:gd name="connsiteX2" fmla="*/ 1960838 w 3675351"/>
                  <a:gd name="connsiteY2" fmla="*/ 281538 h 671165"/>
                  <a:gd name="connsiteX3" fmla="*/ 3456111 w 3675351"/>
                  <a:gd name="connsiteY3" fmla="*/ 337927 h 671165"/>
                  <a:gd name="connsiteX4" fmla="*/ 3667984 w 3675351"/>
                  <a:gd name="connsiteY4" fmla="*/ 671165 h 671165"/>
                  <a:gd name="connsiteX0" fmla="*/ 0 w 3671198"/>
                  <a:gd name="connsiteY0" fmla="*/ 0 h 671165"/>
                  <a:gd name="connsiteX1" fmla="*/ 448221 w 3671198"/>
                  <a:gd name="connsiteY1" fmla="*/ 235241 h 671165"/>
                  <a:gd name="connsiteX2" fmla="*/ 1960838 w 3671198"/>
                  <a:gd name="connsiteY2" fmla="*/ 281538 h 671165"/>
                  <a:gd name="connsiteX3" fmla="*/ 3456111 w 3671198"/>
                  <a:gd name="connsiteY3" fmla="*/ 337927 h 671165"/>
                  <a:gd name="connsiteX4" fmla="*/ 3667984 w 3671198"/>
                  <a:gd name="connsiteY4" fmla="*/ 671165 h 671165"/>
                  <a:gd name="connsiteX0" fmla="*/ 0 w 3670059"/>
                  <a:gd name="connsiteY0" fmla="*/ 0 h 671165"/>
                  <a:gd name="connsiteX1" fmla="*/ 448221 w 3670059"/>
                  <a:gd name="connsiteY1" fmla="*/ 235241 h 671165"/>
                  <a:gd name="connsiteX2" fmla="*/ 1960838 w 3670059"/>
                  <a:gd name="connsiteY2" fmla="*/ 281538 h 671165"/>
                  <a:gd name="connsiteX3" fmla="*/ 3456111 w 3670059"/>
                  <a:gd name="connsiteY3" fmla="*/ 337927 h 671165"/>
                  <a:gd name="connsiteX4" fmla="*/ 3667984 w 3670059"/>
                  <a:gd name="connsiteY4" fmla="*/ 671165 h 671165"/>
                  <a:gd name="connsiteX0" fmla="*/ 0 w 3670059"/>
                  <a:gd name="connsiteY0" fmla="*/ 0 h 671165"/>
                  <a:gd name="connsiteX1" fmla="*/ 448221 w 3670059"/>
                  <a:gd name="connsiteY1" fmla="*/ 235241 h 671165"/>
                  <a:gd name="connsiteX2" fmla="*/ 1960838 w 3670059"/>
                  <a:gd name="connsiteY2" fmla="*/ 281538 h 671165"/>
                  <a:gd name="connsiteX3" fmla="*/ 3456111 w 3670059"/>
                  <a:gd name="connsiteY3" fmla="*/ 337927 h 671165"/>
                  <a:gd name="connsiteX4" fmla="*/ 3667984 w 3670059"/>
                  <a:gd name="connsiteY4" fmla="*/ 671165 h 671165"/>
                  <a:gd name="connsiteX0" fmla="*/ 0 w 3674562"/>
                  <a:gd name="connsiteY0" fmla="*/ 0 h 684312"/>
                  <a:gd name="connsiteX1" fmla="*/ 448221 w 3674562"/>
                  <a:gd name="connsiteY1" fmla="*/ 235241 h 684312"/>
                  <a:gd name="connsiteX2" fmla="*/ 1960838 w 3674562"/>
                  <a:gd name="connsiteY2" fmla="*/ 281538 h 684312"/>
                  <a:gd name="connsiteX3" fmla="*/ 3456111 w 3674562"/>
                  <a:gd name="connsiteY3" fmla="*/ 337927 h 684312"/>
                  <a:gd name="connsiteX4" fmla="*/ 3672823 w 3674562"/>
                  <a:gd name="connsiteY4" fmla="*/ 684312 h 684312"/>
                  <a:gd name="connsiteX0" fmla="*/ 0 w 3676840"/>
                  <a:gd name="connsiteY0" fmla="*/ 0 h 694829"/>
                  <a:gd name="connsiteX1" fmla="*/ 448221 w 3676840"/>
                  <a:gd name="connsiteY1" fmla="*/ 235241 h 694829"/>
                  <a:gd name="connsiteX2" fmla="*/ 1960838 w 3676840"/>
                  <a:gd name="connsiteY2" fmla="*/ 281538 h 694829"/>
                  <a:gd name="connsiteX3" fmla="*/ 3456111 w 3676840"/>
                  <a:gd name="connsiteY3" fmla="*/ 337927 h 694829"/>
                  <a:gd name="connsiteX4" fmla="*/ 3675244 w 3676840"/>
                  <a:gd name="connsiteY4" fmla="*/ 694829 h 694829"/>
                  <a:gd name="connsiteX0" fmla="*/ 0 w 3683752"/>
                  <a:gd name="connsiteY0" fmla="*/ 0 h 686942"/>
                  <a:gd name="connsiteX1" fmla="*/ 448221 w 3683752"/>
                  <a:gd name="connsiteY1" fmla="*/ 235241 h 686942"/>
                  <a:gd name="connsiteX2" fmla="*/ 1960838 w 3683752"/>
                  <a:gd name="connsiteY2" fmla="*/ 281538 h 686942"/>
                  <a:gd name="connsiteX3" fmla="*/ 3456111 w 3683752"/>
                  <a:gd name="connsiteY3" fmla="*/ 337927 h 686942"/>
                  <a:gd name="connsiteX4" fmla="*/ 3682503 w 3683752"/>
                  <a:gd name="connsiteY4" fmla="*/ 686942 h 686942"/>
                  <a:gd name="connsiteX0" fmla="*/ 0 w 3682503"/>
                  <a:gd name="connsiteY0" fmla="*/ 0 h 686942"/>
                  <a:gd name="connsiteX1" fmla="*/ 448221 w 3682503"/>
                  <a:gd name="connsiteY1" fmla="*/ 235241 h 686942"/>
                  <a:gd name="connsiteX2" fmla="*/ 1960838 w 3682503"/>
                  <a:gd name="connsiteY2" fmla="*/ 281538 h 686942"/>
                  <a:gd name="connsiteX3" fmla="*/ 3456111 w 3682503"/>
                  <a:gd name="connsiteY3" fmla="*/ 337927 h 686942"/>
                  <a:gd name="connsiteX4" fmla="*/ 3682503 w 3682503"/>
                  <a:gd name="connsiteY4" fmla="*/ 686942 h 686942"/>
                  <a:gd name="connsiteX0" fmla="*/ 0 w 3682503"/>
                  <a:gd name="connsiteY0" fmla="*/ 0 h 683404"/>
                  <a:gd name="connsiteX1" fmla="*/ 448221 w 3682503"/>
                  <a:gd name="connsiteY1" fmla="*/ 235241 h 683404"/>
                  <a:gd name="connsiteX2" fmla="*/ 1960838 w 3682503"/>
                  <a:gd name="connsiteY2" fmla="*/ 281538 h 683404"/>
                  <a:gd name="connsiteX3" fmla="*/ 3456111 w 3682503"/>
                  <a:gd name="connsiteY3" fmla="*/ 337927 h 683404"/>
                  <a:gd name="connsiteX4" fmla="*/ 3682503 w 3682503"/>
                  <a:gd name="connsiteY4" fmla="*/ 683404 h 683404"/>
                  <a:gd name="connsiteX0" fmla="*/ 0 w 3682636"/>
                  <a:gd name="connsiteY0" fmla="*/ 0 h 683404"/>
                  <a:gd name="connsiteX1" fmla="*/ 448221 w 3682636"/>
                  <a:gd name="connsiteY1" fmla="*/ 235241 h 683404"/>
                  <a:gd name="connsiteX2" fmla="*/ 1960838 w 3682636"/>
                  <a:gd name="connsiteY2" fmla="*/ 281538 h 683404"/>
                  <a:gd name="connsiteX3" fmla="*/ 3456111 w 3682636"/>
                  <a:gd name="connsiteY3" fmla="*/ 337927 h 683404"/>
                  <a:gd name="connsiteX4" fmla="*/ 3682503 w 3682636"/>
                  <a:gd name="connsiteY4" fmla="*/ 683404 h 683404"/>
                  <a:gd name="connsiteX0" fmla="*/ 0 w 3683158"/>
                  <a:gd name="connsiteY0" fmla="*/ 0 h 683404"/>
                  <a:gd name="connsiteX1" fmla="*/ 448221 w 3683158"/>
                  <a:gd name="connsiteY1" fmla="*/ 235241 h 683404"/>
                  <a:gd name="connsiteX2" fmla="*/ 1960838 w 3683158"/>
                  <a:gd name="connsiteY2" fmla="*/ 281538 h 683404"/>
                  <a:gd name="connsiteX3" fmla="*/ 3456111 w 3683158"/>
                  <a:gd name="connsiteY3" fmla="*/ 337927 h 683404"/>
                  <a:gd name="connsiteX4" fmla="*/ 3682503 w 3683158"/>
                  <a:gd name="connsiteY4" fmla="*/ 683404 h 683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83158" h="683404">
                    <a:moveTo>
                      <a:pt x="0" y="0"/>
                    </a:moveTo>
                    <a:cubicBezTo>
                      <a:pt x="10254" y="143854"/>
                      <a:pt x="6088" y="233018"/>
                      <a:pt x="448221" y="235241"/>
                    </a:cubicBezTo>
                    <a:cubicBezTo>
                      <a:pt x="890354" y="237464"/>
                      <a:pt x="1459523" y="264424"/>
                      <a:pt x="1960838" y="281538"/>
                    </a:cubicBezTo>
                    <a:cubicBezTo>
                      <a:pt x="2462153" y="298652"/>
                      <a:pt x="3150349" y="302602"/>
                      <a:pt x="3456111" y="337927"/>
                    </a:cubicBezTo>
                    <a:cubicBezTo>
                      <a:pt x="3682690" y="346956"/>
                      <a:pt x="3686111" y="511276"/>
                      <a:pt x="3682503" y="683404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headEnd w="lg" len="med"/>
                <a:tailEnd type="triangle" w="lg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0E1F1C9D-8DA3-1DBF-5F7F-DF3A84A66BE6}"/>
                  </a:ext>
                </a:extLst>
              </p:cNvPr>
              <p:cNvSpPr/>
              <p:nvPr/>
            </p:nvSpPr>
            <p:spPr>
              <a:xfrm>
                <a:off x="2029901" y="1730942"/>
                <a:ext cx="1886919" cy="698453"/>
              </a:xfrm>
              <a:custGeom>
                <a:avLst/>
                <a:gdLst>
                  <a:gd name="connsiteX0" fmla="*/ 1461247 w 1471187"/>
                  <a:gd name="connsiteY0" fmla="*/ 0 h 770965"/>
                  <a:gd name="connsiteX1" fmla="*/ 1416423 w 1471187"/>
                  <a:gd name="connsiteY1" fmla="*/ 71718 h 770965"/>
                  <a:gd name="connsiteX2" fmla="*/ 1039906 w 1471187"/>
                  <a:gd name="connsiteY2" fmla="*/ 322729 h 770965"/>
                  <a:gd name="connsiteX3" fmla="*/ 268941 w 1471187"/>
                  <a:gd name="connsiteY3" fmla="*/ 448235 h 770965"/>
                  <a:gd name="connsiteX4" fmla="*/ 0 w 1471187"/>
                  <a:gd name="connsiteY4" fmla="*/ 770965 h 770965"/>
                  <a:gd name="connsiteX0" fmla="*/ 1455382 w 1465322"/>
                  <a:gd name="connsiteY0" fmla="*/ 0 h 766453"/>
                  <a:gd name="connsiteX1" fmla="*/ 1410558 w 1465322"/>
                  <a:gd name="connsiteY1" fmla="*/ 71718 h 766453"/>
                  <a:gd name="connsiteX2" fmla="*/ 1034041 w 1465322"/>
                  <a:gd name="connsiteY2" fmla="*/ 322729 h 766453"/>
                  <a:gd name="connsiteX3" fmla="*/ 263076 w 1465322"/>
                  <a:gd name="connsiteY3" fmla="*/ 448235 h 766453"/>
                  <a:gd name="connsiteX4" fmla="*/ 0 w 1465322"/>
                  <a:gd name="connsiteY4" fmla="*/ 766453 h 766453"/>
                  <a:gd name="connsiteX0" fmla="*/ 1455382 w 1465322"/>
                  <a:gd name="connsiteY0" fmla="*/ 0 h 766453"/>
                  <a:gd name="connsiteX1" fmla="*/ 1410558 w 1465322"/>
                  <a:gd name="connsiteY1" fmla="*/ 71718 h 766453"/>
                  <a:gd name="connsiteX2" fmla="*/ 1034041 w 1465322"/>
                  <a:gd name="connsiteY2" fmla="*/ 322729 h 766453"/>
                  <a:gd name="connsiteX3" fmla="*/ 263076 w 1465322"/>
                  <a:gd name="connsiteY3" fmla="*/ 448235 h 766453"/>
                  <a:gd name="connsiteX4" fmla="*/ 0 w 1465322"/>
                  <a:gd name="connsiteY4" fmla="*/ 766453 h 766453"/>
                  <a:gd name="connsiteX0" fmla="*/ 1459603 w 1469543"/>
                  <a:gd name="connsiteY0" fmla="*/ 0 h 766453"/>
                  <a:gd name="connsiteX1" fmla="*/ 1414779 w 1469543"/>
                  <a:gd name="connsiteY1" fmla="*/ 71718 h 766453"/>
                  <a:gd name="connsiteX2" fmla="*/ 1038262 w 1469543"/>
                  <a:gd name="connsiteY2" fmla="*/ 322729 h 766453"/>
                  <a:gd name="connsiteX3" fmla="*/ 267297 w 1469543"/>
                  <a:gd name="connsiteY3" fmla="*/ 448235 h 766453"/>
                  <a:gd name="connsiteX4" fmla="*/ 4221 w 1469543"/>
                  <a:gd name="connsiteY4" fmla="*/ 766453 h 766453"/>
                  <a:gd name="connsiteX0" fmla="*/ 1488926 w 1493345"/>
                  <a:gd name="connsiteY0" fmla="*/ 0 h 809310"/>
                  <a:gd name="connsiteX1" fmla="*/ 1414779 w 1493345"/>
                  <a:gd name="connsiteY1" fmla="*/ 114575 h 809310"/>
                  <a:gd name="connsiteX2" fmla="*/ 1038262 w 1493345"/>
                  <a:gd name="connsiteY2" fmla="*/ 365586 h 809310"/>
                  <a:gd name="connsiteX3" fmla="*/ 267297 w 1493345"/>
                  <a:gd name="connsiteY3" fmla="*/ 491092 h 809310"/>
                  <a:gd name="connsiteX4" fmla="*/ 4221 w 1493345"/>
                  <a:gd name="connsiteY4" fmla="*/ 809310 h 809310"/>
                  <a:gd name="connsiteX0" fmla="*/ 1488926 w 1491209"/>
                  <a:gd name="connsiteY0" fmla="*/ 0 h 809310"/>
                  <a:gd name="connsiteX1" fmla="*/ 1385456 w 1491209"/>
                  <a:gd name="connsiteY1" fmla="*/ 173220 h 809310"/>
                  <a:gd name="connsiteX2" fmla="*/ 1038262 w 1491209"/>
                  <a:gd name="connsiteY2" fmla="*/ 365586 h 809310"/>
                  <a:gd name="connsiteX3" fmla="*/ 267297 w 1491209"/>
                  <a:gd name="connsiteY3" fmla="*/ 491092 h 809310"/>
                  <a:gd name="connsiteX4" fmla="*/ 4221 w 1491209"/>
                  <a:gd name="connsiteY4" fmla="*/ 809310 h 809310"/>
                  <a:gd name="connsiteX0" fmla="*/ 1491024 w 1493307"/>
                  <a:gd name="connsiteY0" fmla="*/ 0 h 809310"/>
                  <a:gd name="connsiteX1" fmla="*/ 1387554 w 1493307"/>
                  <a:gd name="connsiteY1" fmla="*/ 173220 h 809310"/>
                  <a:gd name="connsiteX2" fmla="*/ 1040360 w 1493307"/>
                  <a:gd name="connsiteY2" fmla="*/ 365586 h 809310"/>
                  <a:gd name="connsiteX3" fmla="*/ 218159 w 1493307"/>
                  <a:gd name="connsiteY3" fmla="*/ 460609 h 809310"/>
                  <a:gd name="connsiteX4" fmla="*/ 6319 w 1493307"/>
                  <a:gd name="connsiteY4" fmla="*/ 809310 h 809310"/>
                  <a:gd name="connsiteX0" fmla="*/ 1492065 w 1494348"/>
                  <a:gd name="connsiteY0" fmla="*/ 0 h 809310"/>
                  <a:gd name="connsiteX1" fmla="*/ 1388595 w 1494348"/>
                  <a:gd name="connsiteY1" fmla="*/ 173220 h 809310"/>
                  <a:gd name="connsiteX2" fmla="*/ 1041401 w 1494348"/>
                  <a:gd name="connsiteY2" fmla="*/ 365586 h 809310"/>
                  <a:gd name="connsiteX3" fmla="*/ 219200 w 1494348"/>
                  <a:gd name="connsiteY3" fmla="*/ 460609 h 809310"/>
                  <a:gd name="connsiteX4" fmla="*/ 7360 w 1494348"/>
                  <a:gd name="connsiteY4" fmla="*/ 809310 h 809310"/>
                  <a:gd name="connsiteX0" fmla="*/ 1492504 w 1494787"/>
                  <a:gd name="connsiteY0" fmla="*/ 0 h 809310"/>
                  <a:gd name="connsiteX1" fmla="*/ 1389034 w 1494787"/>
                  <a:gd name="connsiteY1" fmla="*/ 173220 h 809310"/>
                  <a:gd name="connsiteX2" fmla="*/ 1041840 w 1494787"/>
                  <a:gd name="connsiteY2" fmla="*/ 365586 h 809310"/>
                  <a:gd name="connsiteX3" fmla="*/ 214149 w 1494787"/>
                  <a:gd name="connsiteY3" fmla="*/ 511414 h 809310"/>
                  <a:gd name="connsiteX4" fmla="*/ 7799 w 1494787"/>
                  <a:gd name="connsiteY4" fmla="*/ 809310 h 809310"/>
                  <a:gd name="connsiteX0" fmla="*/ 1490561 w 1492844"/>
                  <a:gd name="connsiteY0" fmla="*/ 0 h 809310"/>
                  <a:gd name="connsiteX1" fmla="*/ 1387091 w 1492844"/>
                  <a:gd name="connsiteY1" fmla="*/ 173220 h 809310"/>
                  <a:gd name="connsiteX2" fmla="*/ 1039897 w 1492844"/>
                  <a:gd name="connsiteY2" fmla="*/ 365586 h 809310"/>
                  <a:gd name="connsiteX3" fmla="*/ 212206 w 1492844"/>
                  <a:gd name="connsiteY3" fmla="*/ 511414 h 809310"/>
                  <a:gd name="connsiteX4" fmla="*/ 5856 w 1492844"/>
                  <a:gd name="connsiteY4" fmla="*/ 809310 h 809310"/>
                  <a:gd name="connsiteX0" fmla="*/ 1488986 w 1491269"/>
                  <a:gd name="connsiteY0" fmla="*/ 0 h 809310"/>
                  <a:gd name="connsiteX1" fmla="*/ 1385516 w 1491269"/>
                  <a:gd name="connsiteY1" fmla="*/ 173220 h 809310"/>
                  <a:gd name="connsiteX2" fmla="*/ 1038322 w 1491269"/>
                  <a:gd name="connsiteY2" fmla="*/ 365586 h 809310"/>
                  <a:gd name="connsiteX3" fmla="*/ 210631 w 1491269"/>
                  <a:gd name="connsiteY3" fmla="*/ 511414 h 809310"/>
                  <a:gd name="connsiteX4" fmla="*/ 4281 w 1491269"/>
                  <a:gd name="connsiteY4" fmla="*/ 809310 h 809310"/>
                  <a:gd name="connsiteX0" fmla="*/ 1488986 w 1491269"/>
                  <a:gd name="connsiteY0" fmla="*/ 0 h 809310"/>
                  <a:gd name="connsiteX1" fmla="*/ 1385516 w 1491269"/>
                  <a:gd name="connsiteY1" fmla="*/ 173220 h 809310"/>
                  <a:gd name="connsiteX2" fmla="*/ 1038322 w 1491269"/>
                  <a:gd name="connsiteY2" fmla="*/ 365586 h 809310"/>
                  <a:gd name="connsiteX3" fmla="*/ 210631 w 1491269"/>
                  <a:gd name="connsiteY3" fmla="*/ 511414 h 809310"/>
                  <a:gd name="connsiteX4" fmla="*/ 4281 w 1491269"/>
                  <a:gd name="connsiteY4" fmla="*/ 809310 h 809310"/>
                  <a:gd name="connsiteX0" fmla="*/ 1488986 w 1491125"/>
                  <a:gd name="connsiteY0" fmla="*/ 0 h 809310"/>
                  <a:gd name="connsiteX1" fmla="*/ 1385516 w 1491125"/>
                  <a:gd name="connsiteY1" fmla="*/ 173220 h 809310"/>
                  <a:gd name="connsiteX2" fmla="*/ 1062110 w 1491125"/>
                  <a:gd name="connsiteY2" fmla="*/ 416391 h 809310"/>
                  <a:gd name="connsiteX3" fmla="*/ 210631 w 1491125"/>
                  <a:gd name="connsiteY3" fmla="*/ 511414 h 809310"/>
                  <a:gd name="connsiteX4" fmla="*/ 4281 w 1491125"/>
                  <a:gd name="connsiteY4" fmla="*/ 809310 h 809310"/>
                  <a:gd name="connsiteX0" fmla="*/ 1488986 w 1493254"/>
                  <a:gd name="connsiteY0" fmla="*/ 0 h 809310"/>
                  <a:gd name="connsiteX1" fmla="*/ 1417234 w 1493254"/>
                  <a:gd name="connsiteY1" fmla="*/ 281604 h 809310"/>
                  <a:gd name="connsiteX2" fmla="*/ 1062110 w 1493254"/>
                  <a:gd name="connsiteY2" fmla="*/ 416391 h 809310"/>
                  <a:gd name="connsiteX3" fmla="*/ 210631 w 1493254"/>
                  <a:gd name="connsiteY3" fmla="*/ 511414 h 809310"/>
                  <a:gd name="connsiteX4" fmla="*/ 4281 w 1493254"/>
                  <a:gd name="connsiteY4" fmla="*/ 809310 h 809310"/>
                  <a:gd name="connsiteX0" fmla="*/ 1487984 w 1492252"/>
                  <a:gd name="connsiteY0" fmla="*/ 0 h 809310"/>
                  <a:gd name="connsiteX1" fmla="*/ 1416232 w 1492252"/>
                  <a:gd name="connsiteY1" fmla="*/ 281604 h 809310"/>
                  <a:gd name="connsiteX2" fmla="*/ 1061108 w 1492252"/>
                  <a:gd name="connsiteY2" fmla="*/ 416391 h 809310"/>
                  <a:gd name="connsiteX3" fmla="*/ 254003 w 1492252"/>
                  <a:gd name="connsiteY3" fmla="*/ 478899 h 809310"/>
                  <a:gd name="connsiteX4" fmla="*/ 3279 w 1492252"/>
                  <a:gd name="connsiteY4" fmla="*/ 809310 h 809310"/>
                  <a:gd name="connsiteX0" fmla="*/ 1487984 w 1500156"/>
                  <a:gd name="connsiteY0" fmla="*/ 0 h 809310"/>
                  <a:gd name="connsiteX1" fmla="*/ 1416232 w 1500156"/>
                  <a:gd name="connsiteY1" fmla="*/ 281604 h 809310"/>
                  <a:gd name="connsiteX2" fmla="*/ 822596 w 1500156"/>
                  <a:gd name="connsiteY2" fmla="*/ 392005 h 809310"/>
                  <a:gd name="connsiteX3" fmla="*/ 254003 w 1500156"/>
                  <a:gd name="connsiteY3" fmla="*/ 478899 h 809310"/>
                  <a:gd name="connsiteX4" fmla="*/ 3279 w 1500156"/>
                  <a:gd name="connsiteY4" fmla="*/ 809310 h 809310"/>
                  <a:gd name="connsiteX0" fmla="*/ 1488105 w 1500277"/>
                  <a:gd name="connsiteY0" fmla="*/ 0 h 809310"/>
                  <a:gd name="connsiteX1" fmla="*/ 1416353 w 1500277"/>
                  <a:gd name="connsiteY1" fmla="*/ 281604 h 809310"/>
                  <a:gd name="connsiteX2" fmla="*/ 822717 w 1500277"/>
                  <a:gd name="connsiteY2" fmla="*/ 392005 h 809310"/>
                  <a:gd name="connsiteX3" fmla="*/ 254124 w 1500277"/>
                  <a:gd name="connsiteY3" fmla="*/ 478899 h 809310"/>
                  <a:gd name="connsiteX4" fmla="*/ 3400 w 1500277"/>
                  <a:gd name="connsiteY4" fmla="*/ 809310 h 809310"/>
                  <a:gd name="connsiteX0" fmla="*/ 1488339 w 1500511"/>
                  <a:gd name="connsiteY0" fmla="*/ 0 h 809310"/>
                  <a:gd name="connsiteX1" fmla="*/ 1416587 w 1500511"/>
                  <a:gd name="connsiteY1" fmla="*/ 281604 h 809310"/>
                  <a:gd name="connsiteX2" fmla="*/ 822951 w 1500511"/>
                  <a:gd name="connsiteY2" fmla="*/ 392005 h 809310"/>
                  <a:gd name="connsiteX3" fmla="*/ 254358 w 1500511"/>
                  <a:gd name="connsiteY3" fmla="*/ 478899 h 809310"/>
                  <a:gd name="connsiteX4" fmla="*/ 3634 w 1500511"/>
                  <a:gd name="connsiteY4" fmla="*/ 809310 h 809310"/>
                  <a:gd name="connsiteX0" fmla="*/ 1500473 w 1509464"/>
                  <a:gd name="connsiteY0" fmla="*/ 0 h 806770"/>
                  <a:gd name="connsiteX1" fmla="*/ 1416587 w 1509464"/>
                  <a:gd name="connsiteY1" fmla="*/ 279064 h 806770"/>
                  <a:gd name="connsiteX2" fmla="*/ 822951 w 1509464"/>
                  <a:gd name="connsiteY2" fmla="*/ 389465 h 806770"/>
                  <a:gd name="connsiteX3" fmla="*/ 254358 w 1509464"/>
                  <a:gd name="connsiteY3" fmla="*/ 476359 h 806770"/>
                  <a:gd name="connsiteX4" fmla="*/ 3634 w 1509464"/>
                  <a:gd name="connsiteY4" fmla="*/ 806770 h 806770"/>
                  <a:gd name="connsiteX0" fmla="*/ 1514340 w 1520689"/>
                  <a:gd name="connsiteY0" fmla="*/ 0 h 806770"/>
                  <a:gd name="connsiteX1" fmla="*/ 1416587 w 1520689"/>
                  <a:gd name="connsiteY1" fmla="*/ 279064 h 806770"/>
                  <a:gd name="connsiteX2" fmla="*/ 822951 w 1520689"/>
                  <a:gd name="connsiteY2" fmla="*/ 389465 h 806770"/>
                  <a:gd name="connsiteX3" fmla="*/ 254358 w 1520689"/>
                  <a:gd name="connsiteY3" fmla="*/ 476359 h 806770"/>
                  <a:gd name="connsiteX4" fmla="*/ 3634 w 1520689"/>
                  <a:gd name="connsiteY4" fmla="*/ 806770 h 806770"/>
                  <a:gd name="connsiteX0" fmla="*/ 1514340 w 1518314"/>
                  <a:gd name="connsiteY0" fmla="*/ 0 h 806770"/>
                  <a:gd name="connsiteX1" fmla="*/ 1399254 w 1518314"/>
                  <a:gd name="connsiteY1" fmla="*/ 286685 h 806770"/>
                  <a:gd name="connsiteX2" fmla="*/ 822951 w 1518314"/>
                  <a:gd name="connsiteY2" fmla="*/ 389465 h 806770"/>
                  <a:gd name="connsiteX3" fmla="*/ 254358 w 1518314"/>
                  <a:gd name="connsiteY3" fmla="*/ 476359 h 806770"/>
                  <a:gd name="connsiteX4" fmla="*/ 3634 w 1518314"/>
                  <a:gd name="connsiteY4" fmla="*/ 806770 h 806770"/>
                  <a:gd name="connsiteX0" fmla="*/ 1513504 w 1517478"/>
                  <a:gd name="connsiteY0" fmla="*/ 0 h 806770"/>
                  <a:gd name="connsiteX1" fmla="*/ 1398418 w 1517478"/>
                  <a:gd name="connsiteY1" fmla="*/ 286685 h 806770"/>
                  <a:gd name="connsiteX2" fmla="*/ 822115 w 1517478"/>
                  <a:gd name="connsiteY2" fmla="*/ 389465 h 806770"/>
                  <a:gd name="connsiteX3" fmla="*/ 304492 w 1517478"/>
                  <a:gd name="connsiteY3" fmla="*/ 461117 h 806770"/>
                  <a:gd name="connsiteX4" fmla="*/ 2798 w 1517478"/>
                  <a:gd name="connsiteY4" fmla="*/ 806770 h 806770"/>
                  <a:gd name="connsiteX0" fmla="*/ 1513550 w 1517524"/>
                  <a:gd name="connsiteY0" fmla="*/ 0 h 806770"/>
                  <a:gd name="connsiteX1" fmla="*/ 1398464 w 1517524"/>
                  <a:gd name="connsiteY1" fmla="*/ 286685 h 806770"/>
                  <a:gd name="connsiteX2" fmla="*/ 822161 w 1517524"/>
                  <a:gd name="connsiteY2" fmla="*/ 389465 h 806770"/>
                  <a:gd name="connsiteX3" fmla="*/ 300897 w 1517524"/>
                  <a:gd name="connsiteY3" fmla="*/ 440795 h 806770"/>
                  <a:gd name="connsiteX4" fmla="*/ 2844 w 1517524"/>
                  <a:gd name="connsiteY4" fmla="*/ 806770 h 806770"/>
                  <a:gd name="connsiteX0" fmla="*/ 1513458 w 1517432"/>
                  <a:gd name="connsiteY0" fmla="*/ 0 h 806770"/>
                  <a:gd name="connsiteX1" fmla="*/ 1398372 w 1517432"/>
                  <a:gd name="connsiteY1" fmla="*/ 286685 h 806770"/>
                  <a:gd name="connsiteX2" fmla="*/ 822069 w 1517432"/>
                  <a:gd name="connsiteY2" fmla="*/ 389465 h 806770"/>
                  <a:gd name="connsiteX3" fmla="*/ 308086 w 1517432"/>
                  <a:gd name="connsiteY3" fmla="*/ 468738 h 806770"/>
                  <a:gd name="connsiteX4" fmla="*/ 2752 w 1517432"/>
                  <a:gd name="connsiteY4" fmla="*/ 806770 h 806770"/>
                  <a:gd name="connsiteX0" fmla="*/ 1514067 w 1518041"/>
                  <a:gd name="connsiteY0" fmla="*/ 0 h 806770"/>
                  <a:gd name="connsiteX1" fmla="*/ 1398981 w 1518041"/>
                  <a:gd name="connsiteY1" fmla="*/ 286685 h 806770"/>
                  <a:gd name="connsiteX2" fmla="*/ 822678 w 1518041"/>
                  <a:gd name="connsiteY2" fmla="*/ 389465 h 806770"/>
                  <a:gd name="connsiteX3" fmla="*/ 308695 w 1518041"/>
                  <a:gd name="connsiteY3" fmla="*/ 468738 h 806770"/>
                  <a:gd name="connsiteX4" fmla="*/ 3361 w 1518041"/>
                  <a:gd name="connsiteY4" fmla="*/ 806770 h 806770"/>
                  <a:gd name="connsiteX0" fmla="*/ 1519842 w 1523816"/>
                  <a:gd name="connsiteY0" fmla="*/ 0 h 806770"/>
                  <a:gd name="connsiteX1" fmla="*/ 1404756 w 1523816"/>
                  <a:gd name="connsiteY1" fmla="*/ 286685 h 806770"/>
                  <a:gd name="connsiteX2" fmla="*/ 828453 w 1523816"/>
                  <a:gd name="connsiteY2" fmla="*/ 389465 h 806770"/>
                  <a:gd name="connsiteX3" fmla="*/ 314470 w 1523816"/>
                  <a:gd name="connsiteY3" fmla="*/ 468738 h 806770"/>
                  <a:gd name="connsiteX4" fmla="*/ 9136 w 1523816"/>
                  <a:gd name="connsiteY4" fmla="*/ 806770 h 806770"/>
                  <a:gd name="connsiteX0" fmla="*/ 1516513 w 1520487"/>
                  <a:gd name="connsiteY0" fmla="*/ 0 h 806770"/>
                  <a:gd name="connsiteX1" fmla="*/ 1401427 w 1520487"/>
                  <a:gd name="connsiteY1" fmla="*/ 286685 h 806770"/>
                  <a:gd name="connsiteX2" fmla="*/ 825124 w 1520487"/>
                  <a:gd name="connsiteY2" fmla="*/ 389465 h 806770"/>
                  <a:gd name="connsiteX3" fmla="*/ 311141 w 1520487"/>
                  <a:gd name="connsiteY3" fmla="*/ 468738 h 806770"/>
                  <a:gd name="connsiteX4" fmla="*/ 5807 w 1520487"/>
                  <a:gd name="connsiteY4" fmla="*/ 806770 h 806770"/>
                  <a:gd name="connsiteX0" fmla="*/ 1520176 w 1524150"/>
                  <a:gd name="connsiteY0" fmla="*/ 0 h 806770"/>
                  <a:gd name="connsiteX1" fmla="*/ 1405090 w 1524150"/>
                  <a:gd name="connsiteY1" fmla="*/ 286685 h 806770"/>
                  <a:gd name="connsiteX2" fmla="*/ 828787 w 1524150"/>
                  <a:gd name="connsiteY2" fmla="*/ 389465 h 806770"/>
                  <a:gd name="connsiteX3" fmla="*/ 314804 w 1524150"/>
                  <a:gd name="connsiteY3" fmla="*/ 468738 h 806770"/>
                  <a:gd name="connsiteX4" fmla="*/ 9470 w 1524150"/>
                  <a:gd name="connsiteY4" fmla="*/ 806770 h 806770"/>
                  <a:gd name="connsiteX0" fmla="*/ 1519734 w 1523708"/>
                  <a:gd name="connsiteY0" fmla="*/ 0 h 806770"/>
                  <a:gd name="connsiteX1" fmla="*/ 1404648 w 1523708"/>
                  <a:gd name="connsiteY1" fmla="*/ 286685 h 806770"/>
                  <a:gd name="connsiteX2" fmla="*/ 828345 w 1523708"/>
                  <a:gd name="connsiteY2" fmla="*/ 389465 h 806770"/>
                  <a:gd name="connsiteX3" fmla="*/ 314362 w 1523708"/>
                  <a:gd name="connsiteY3" fmla="*/ 468738 h 806770"/>
                  <a:gd name="connsiteX4" fmla="*/ 9028 w 1523708"/>
                  <a:gd name="connsiteY4" fmla="*/ 806770 h 806770"/>
                  <a:gd name="connsiteX0" fmla="*/ 1517886 w 1521860"/>
                  <a:gd name="connsiteY0" fmla="*/ 0 h 806770"/>
                  <a:gd name="connsiteX1" fmla="*/ 1402800 w 1521860"/>
                  <a:gd name="connsiteY1" fmla="*/ 286685 h 806770"/>
                  <a:gd name="connsiteX2" fmla="*/ 826497 w 1521860"/>
                  <a:gd name="connsiteY2" fmla="*/ 389465 h 806770"/>
                  <a:gd name="connsiteX3" fmla="*/ 312514 w 1521860"/>
                  <a:gd name="connsiteY3" fmla="*/ 468738 h 806770"/>
                  <a:gd name="connsiteX4" fmla="*/ 7180 w 1521860"/>
                  <a:gd name="connsiteY4" fmla="*/ 806770 h 806770"/>
                  <a:gd name="connsiteX0" fmla="*/ 1518184 w 1522158"/>
                  <a:gd name="connsiteY0" fmla="*/ 0 h 806770"/>
                  <a:gd name="connsiteX1" fmla="*/ 1403098 w 1522158"/>
                  <a:gd name="connsiteY1" fmla="*/ 286685 h 806770"/>
                  <a:gd name="connsiteX2" fmla="*/ 826795 w 1522158"/>
                  <a:gd name="connsiteY2" fmla="*/ 389465 h 806770"/>
                  <a:gd name="connsiteX3" fmla="*/ 312812 w 1522158"/>
                  <a:gd name="connsiteY3" fmla="*/ 468738 h 806770"/>
                  <a:gd name="connsiteX4" fmla="*/ 7478 w 1522158"/>
                  <a:gd name="connsiteY4" fmla="*/ 806770 h 806770"/>
                  <a:gd name="connsiteX0" fmla="*/ 1518763 w 1522737"/>
                  <a:gd name="connsiteY0" fmla="*/ 0 h 806770"/>
                  <a:gd name="connsiteX1" fmla="*/ 1403677 w 1522737"/>
                  <a:gd name="connsiteY1" fmla="*/ 286685 h 806770"/>
                  <a:gd name="connsiteX2" fmla="*/ 827374 w 1522737"/>
                  <a:gd name="connsiteY2" fmla="*/ 389465 h 806770"/>
                  <a:gd name="connsiteX3" fmla="*/ 313391 w 1522737"/>
                  <a:gd name="connsiteY3" fmla="*/ 468738 h 806770"/>
                  <a:gd name="connsiteX4" fmla="*/ 8057 w 1522737"/>
                  <a:gd name="connsiteY4" fmla="*/ 806770 h 806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737" h="806770">
                    <a:moveTo>
                      <a:pt x="1518763" y="0"/>
                    </a:moveTo>
                    <a:cubicBezTo>
                      <a:pt x="1531463" y="8965"/>
                      <a:pt x="1518909" y="221774"/>
                      <a:pt x="1403677" y="286685"/>
                    </a:cubicBezTo>
                    <a:cubicBezTo>
                      <a:pt x="1288445" y="351596"/>
                      <a:pt x="1009088" y="359123"/>
                      <a:pt x="827374" y="389465"/>
                    </a:cubicBezTo>
                    <a:cubicBezTo>
                      <a:pt x="645660" y="419807"/>
                      <a:pt x="528796" y="432135"/>
                      <a:pt x="313391" y="468738"/>
                    </a:cubicBezTo>
                    <a:cubicBezTo>
                      <a:pt x="73972" y="541494"/>
                      <a:pt x="-31294" y="681072"/>
                      <a:pt x="8057" y="806770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headEnd w="lg" len="med"/>
                <a:tailEnd type="triangle" w="lg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dirty="0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9A775517-18C4-0A4A-D8D2-928E0123B2FC}"/>
                  </a:ext>
                </a:extLst>
              </p:cNvPr>
              <p:cNvSpPr/>
              <p:nvPr/>
            </p:nvSpPr>
            <p:spPr>
              <a:xfrm>
                <a:off x="4824975" y="1716685"/>
                <a:ext cx="287843" cy="703114"/>
              </a:xfrm>
              <a:custGeom>
                <a:avLst/>
                <a:gdLst>
                  <a:gd name="connsiteX0" fmla="*/ 373609 w 373781"/>
                  <a:gd name="connsiteY0" fmla="*/ 0 h 690283"/>
                  <a:gd name="connsiteX1" fmla="*/ 319821 w 373781"/>
                  <a:gd name="connsiteY1" fmla="*/ 233083 h 690283"/>
                  <a:gd name="connsiteX2" fmla="*/ 41915 w 373781"/>
                  <a:gd name="connsiteY2" fmla="*/ 385483 h 690283"/>
                  <a:gd name="connsiteX3" fmla="*/ 6057 w 373781"/>
                  <a:gd name="connsiteY3" fmla="*/ 690283 h 690283"/>
                  <a:gd name="connsiteX0" fmla="*/ 369084 w 369150"/>
                  <a:gd name="connsiteY0" fmla="*/ 0 h 690283"/>
                  <a:gd name="connsiteX1" fmla="*/ 315296 w 369150"/>
                  <a:gd name="connsiteY1" fmla="*/ 233083 h 690283"/>
                  <a:gd name="connsiteX2" fmla="*/ 70728 w 369150"/>
                  <a:gd name="connsiteY2" fmla="*/ 376597 h 690283"/>
                  <a:gd name="connsiteX3" fmla="*/ 1532 w 369150"/>
                  <a:gd name="connsiteY3" fmla="*/ 690283 h 690283"/>
                  <a:gd name="connsiteX0" fmla="*/ 374875 w 375070"/>
                  <a:gd name="connsiteY0" fmla="*/ 0 h 690283"/>
                  <a:gd name="connsiteX1" fmla="*/ 321087 w 375070"/>
                  <a:gd name="connsiteY1" fmla="*/ 233083 h 690283"/>
                  <a:gd name="connsiteX2" fmla="*/ 39403 w 375070"/>
                  <a:gd name="connsiteY2" fmla="*/ 398812 h 690283"/>
                  <a:gd name="connsiteX3" fmla="*/ 7323 w 375070"/>
                  <a:gd name="connsiteY3" fmla="*/ 690283 h 690283"/>
                  <a:gd name="connsiteX0" fmla="*/ 374875 w 374886"/>
                  <a:gd name="connsiteY0" fmla="*/ 0 h 690283"/>
                  <a:gd name="connsiteX1" fmla="*/ 283971 w 374886"/>
                  <a:gd name="connsiteY1" fmla="*/ 290845 h 690283"/>
                  <a:gd name="connsiteX2" fmla="*/ 39403 w 374886"/>
                  <a:gd name="connsiteY2" fmla="*/ 398812 h 690283"/>
                  <a:gd name="connsiteX3" fmla="*/ 7323 w 374886"/>
                  <a:gd name="connsiteY3" fmla="*/ 690283 h 690283"/>
                  <a:gd name="connsiteX0" fmla="*/ 374875 w 374889"/>
                  <a:gd name="connsiteY0" fmla="*/ 0 h 690283"/>
                  <a:gd name="connsiteX1" fmla="*/ 290157 w 374889"/>
                  <a:gd name="connsiteY1" fmla="*/ 333055 h 690283"/>
                  <a:gd name="connsiteX2" fmla="*/ 39403 w 374889"/>
                  <a:gd name="connsiteY2" fmla="*/ 398812 h 690283"/>
                  <a:gd name="connsiteX3" fmla="*/ 7323 w 374889"/>
                  <a:gd name="connsiteY3" fmla="*/ 690283 h 690283"/>
                  <a:gd name="connsiteX0" fmla="*/ 389805 w 389821"/>
                  <a:gd name="connsiteY0" fmla="*/ 0 h 690283"/>
                  <a:gd name="connsiteX1" fmla="*/ 305087 w 389821"/>
                  <a:gd name="connsiteY1" fmla="*/ 333055 h 690283"/>
                  <a:gd name="connsiteX2" fmla="*/ 26496 w 389821"/>
                  <a:gd name="connsiteY2" fmla="*/ 434358 h 690283"/>
                  <a:gd name="connsiteX3" fmla="*/ 22253 w 389821"/>
                  <a:gd name="connsiteY3" fmla="*/ 690283 h 690283"/>
                  <a:gd name="connsiteX0" fmla="*/ 372135 w 372148"/>
                  <a:gd name="connsiteY0" fmla="*/ 0 h 690283"/>
                  <a:gd name="connsiteX1" fmla="*/ 287417 w 372148"/>
                  <a:gd name="connsiteY1" fmla="*/ 333055 h 690283"/>
                  <a:gd name="connsiteX2" fmla="*/ 45943 w 372148"/>
                  <a:gd name="connsiteY2" fmla="*/ 432136 h 690283"/>
                  <a:gd name="connsiteX3" fmla="*/ 4583 w 372148"/>
                  <a:gd name="connsiteY3" fmla="*/ 690283 h 690283"/>
                  <a:gd name="connsiteX0" fmla="*/ 370141 w 370153"/>
                  <a:gd name="connsiteY0" fmla="*/ 0 h 690283"/>
                  <a:gd name="connsiteX1" fmla="*/ 285423 w 370153"/>
                  <a:gd name="connsiteY1" fmla="*/ 333055 h 690283"/>
                  <a:gd name="connsiteX2" fmla="*/ 56321 w 370153"/>
                  <a:gd name="connsiteY2" fmla="*/ 427693 h 690283"/>
                  <a:gd name="connsiteX3" fmla="*/ 2589 w 370153"/>
                  <a:gd name="connsiteY3" fmla="*/ 690283 h 690283"/>
                  <a:gd name="connsiteX0" fmla="*/ 368790 w 368802"/>
                  <a:gd name="connsiteY0" fmla="*/ 0 h 690283"/>
                  <a:gd name="connsiteX1" fmla="*/ 284072 w 368802"/>
                  <a:gd name="connsiteY1" fmla="*/ 333055 h 690283"/>
                  <a:gd name="connsiteX2" fmla="*/ 54970 w 368802"/>
                  <a:gd name="connsiteY2" fmla="*/ 427693 h 690283"/>
                  <a:gd name="connsiteX3" fmla="*/ 1238 w 368802"/>
                  <a:gd name="connsiteY3" fmla="*/ 690283 h 690283"/>
                  <a:gd name="connsiteX0" fmla="*/ 369428 w 369440"/>
                  <a:gd name="connsiteY0" fmla="*/ 0 h 690283"/>
                  <a:gd name="connsiteX1" fmla="*/ 284710 w 369440"/>
                  <a:gd name="connsiteY1" fmla="*/ 333055 h 690283"/>
                  <a:gd name="connsiteX2" fmla="*/ 55608 w 369440"/>
                  <a:gd name="connsiteY2" fmla="*/ 427693 h 690283"/>
                  <a:gd name="connsiteX3" fmla="*/ 1876 w 369440"/>
                  <a:gd name="connsiteY3" fmla="*/ 690283 h 690283"/>
                  <a:gd name="connsiteX0" fmla="*/ 369428 w 369440"/>
                  <a:gd name="connsiteY0" fmla="*/ 0 h 690283"/>
                  <a:gd name="connsiteX1" fmla="*/ 284710 w 369440"/>
                  <a:gd name="connsiteY1" fmla="*/ 333055 h 690283"/>
                  <a:gd name="connsiteX2" fmla="*/ 55608 w 369440"/>
                  <a:gd name="connsiteY2" fmla="*/ 427693 h 690283"/>
                  <a:gd name="connsiteX3" fmla="*/ 1876 w 369440"/>
                  <a:gd name="connsiteY3" fmla="*/ 690283 h 690283"/>
                  <a:gd name="connsiteX0" fmla="*/ 369428 w 369444"/>
                  <a:gd name="connsiteY0" fmla="*/ 0 h 690283"/>
                  <a:gd name="connsiteX1" fmla="*/ 284710 w 369444"/>
                  <a:gd name="connsiteY1" fmla="*/ 333055 h 690283"/>
                  <a:gd name="connsiteX2" fmla="*/ 55608 w 369444"/>
                  <a:gd name="connsiteY2" fmla="*/ 427693 h 690283"/>
                  <a:gd name="connsiteX3" fmla="*/ 1876 w 369444"/>
                  <a:gd name="connsiteY3" fmla="*/ 690283 h 690283"/>
                  <a:gd name="connsiteX0" fmla="*/ 369428 w 371122"/>
                  <a:gd name="connsiteY0" fmla="*/ 0 h 690283"/>
                  <a:gd name="connsiteX1" fmla="*/ 321826 w 371122"/>
                  <a:gd name="connsiteY1" fmla="*/ 335278 h 690283"/>
                  <a:gd name="connsiteX2" fmla="*/ 55608 w 371122"/>
                  <a:gd name="connsiteY2" fmla="*/ 427693 h 690283"/>
                  <a:gd name="connsiteX3" fmla="*/ 1876 w 371122"/>
                  <a:gd name="connsiteY3" fmla="*/ 690283 h 690283"/>
                  <a:gd name="connsiteX0" fmla="*/ 372188 w 373882"/>
                  <a:gd name="connsiteY0" fmla="*/ 0 h 710278"/>
                  <a:gd name="connsiteX1" fmla="*/ 324586 w 373882"/>
                  <a:gd name="connsiteY1" fmla="*/ 335278 h 710278"/>
                  <a:gd name="connsiteX2" fmla="*/ 58368 w 373882"/>
                  <a:gd name="connsiteY2" fmla="*/ 427693 h 710278"/>
                  <a:gd name="connsiteX3" fmla="*/ 1707 w 373882"/>
                  <a:gd name="connsiteY3" fmla="*/ 710278 h 710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3882" h="710278">
                    <a:moveTo>
                      <a:pt x="372188" y="0"/>
                    </a:moveTo>
                    <a:cubicBezTo>
                      <a:pt x="372935" y="84418"/>
                      <a:pt x="386168" y="259552"/>
                      <a:pt x="324586" y="335278"/>
                    </a:cubicBezTo>
                    <a:cubicBezTo>
                      <a:pt x="263004" y="411004"/>
                      <a:pt x="138500" y="355936"/>
                      <a:pt x="58368" y="427693"/>
                    </a:cubicBezTo>
                    <a:cubicBezTo>
                      <a:pt x="15353" y="495007"/>
                      <a:pt x="-6511" y="595978"/>
                      <a:pt x="1707" y="71027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headEnd w="lg" len="med"/>
                <a:tailEnd type="triangle" w="lg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dirty="0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40590F1-0FCD-C837-277C-7170AA7A0E82}"/>
                  </a:ext>
                </a:extLst>
              </p:cNvPr>
              <p:cNvSpPr/>
              <p:nvPr/>
            </p:nvSpPr>
            <p:spPr>
              <a:xfrm>
                <a:off x="1012027" y="1853991"/>
                <a:ext cx="728272" cy="574017"/>
              </a:xfrm>
              <a:custGeom>
                <a:avLst/>
                <a:gdLst>
                  <a:gd name="connsiteX0" fmla="*/ 0 w 586155"/>
                  <a:gd name="connsiteY0" fmla="*/ 0 h 555812"/>
                  <a:gd name="connsiteX1" fmla="*/ 188258 w 586155"/>
                  <a:gd name="connsiteY1" fmla="*/ 215153 h 555812"/>
                  <a:gd name="connsiteX2" fmla="*/ 528917 w 586155"/>
                  <a:gd name="connsiteY2" fmla="*/ 233082 h 555812"/>
                  <a:gd name="connsiteX3" fmla="*/ 582705 w 586155"/>
                  <a:gd name="connsiteY3" fmla="*/ 555812 h 555812"/>
                  <a:gd name="connsiteX0" fmla="*/ 0 w 586155"/>
                  <a:gd name="connsiteY0" fmla="*/ 0 h 560936"/>
                  <a:gd name="connsiteX1" fmla="*/ 188258 w 586155"/>
                  <a:gd name="connsiteY1" fmla="*/ 220277 h 560936"/>
                  <a:gd name="connsiteX2" fmla="*/ 528917 w 586155"/>
                  <a:gd name="connsiteY2" fmla="*/ 238206 h 560936"/>
                  <a:gd name="connsiteX3" fmla="*/ 582705 w 586155"/>
                  <a:gd name="connsiteY3" fmla="*/ 560936 h 560936"/>
                  <a:gd name="connsiteX0" fmla="*/ 107 w 586262"/>
                  <a:gd name="connsiteY0" fmla="*/ 0 h 560936"/>
                  <a:gd name="connsiteX1" fmla="*/ 188365 w 586262"/>
                  <a:gd name="connsiteY1" fmla="*/ 220277 h 560936"/>
                  <a:gd name="connsiteX2" fmla="*/ 529024 w 586262"/>
                  <a:gd name="connsiteY2" fmla="*/ 238206 h 560936"/>
                  <a:gd name="connsiteX3" fmla="*/ 582812 w 586262"/>
                  <a:gd name="connsiteY3" fmla="*/ 560936 h 560936"/>
                  <a:gd name="connsiteX0" fmla="*/ 445 w 586600"/>
                  <a:gd name="connsiteY0" fmla="*/ 0 h 560936"/>
                  <a:gd name="connsiteX1" fmla="*/ 105592 w 586600"/>
                  <a:gd name="connsiteY1" fmla="*/ 202009 h 560936"/>
                  <a:gd name="connsiteX2" fmla="*/ 529362 w 586600"/>
                  <a:gd name="connsiteY2" fmla="*/ 238206 h 560936"/>
                  <a:gd name="connsiteX3" fmla="*/ 583150 w 586600"/>
                  <a:gd name="connsiteY3" fmla="*/ 560936 h 560936"/>
                  <a:gd name="connsiteX0" fmla="*/ 455 w 587507"/>
                  <a:gd name="connsiteY0" fmla="*/ 0 h 560936"/>
                  <a:gd name="connsiteX1" fmla="*/ 105602 w 587507"/>
                  <a:gd name="connsiteY1" fmla="*/ 202009 h 560936"/>
                  <a:gd name="connsiteX2" fmla="*/ 533330 w 587507"/>
                  <a:gd name="connsiteY2" fmla="*/ 293009 h 560936"/>
                  <a:gd name="connsiteX3" fmla="*/ 583160 w 587507"/>
                  <a:gd name="connsiteY3" fmla="*/ 560936 h 560936"/>
                  <a:gd name="connsiteX0" fmla="*/ 455 w 583160"/>
                  <a:gd name="connsiteY0" fmla="*/ 0 h 560936"/>
                  <a:gd name="connsiteX1" fmla="*/ 105602 w 583160"/>
                  <a:gd name="connsiteY1" fmla="*/ 202009 h 560936"/>
                  <a:gd name="connsiteX2" fmla="*/ 533330 w 583160"/>
                  <a:gd name="connsiteY2" fmla="*/ 293009 h 560936"/>
                  <a:gd name="connsiteX3" fmla="*/ 583160 w 583160"/>
                  <a:gd name="connsiteY3" fmla="*/ 560936 h 560936"/>
                  <a:gd name="connsiteX0" fmla="*/ 455 w 584291"/>
                  <a:gd name="connsiteY0" fmla="*/ 0 h 560936"/>
                  <a:gd name="connsiteX1" fmla="*/ 105602 w 584291"/>
                  <a:gd name="connsiteY1" fmla="*/ 202009 h 560936"/>
                  <a:gd name="connsiteX2" fmla="*/ 533330 w 584291"/>
                  <a:gd name="connsiteY2" fmla="*/ 293009 h 560936"/>
                  <a:gd name="connsiteX3" fmla="*/ 583160 w 584291"/>
                  <a:gd name="connsiteY3" fmla="*/ 560936 h 560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4291" h="560936">
                    <a:moveTo>
                      <a:pt x="455" y="0"/>
                    </a:moveTo>
                    <a:cubicBezTo>
                      <a:pt x="-3468" y="93276"/>
                      <a:pt x="16789" y="153174"/>
                      <a:pt x="105602" y="202009"/>
                    </a:cubicBezTo>
                    <a:cubicBezTo>
                      <a:pt x="194415" y="250844"/>
                      <a:pt x="467589" y="236233"/>
                      <a:pt x="533330" y="293009"/>
                    </a:cubicBezTo>
                    <a:cubicBezTo>
                      <a:pt x="599071" y="349785"/>
                      <a:pt x="581897" y="432257"/>
                      <a:pt x="583160" y="560936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headEnd w="lg" len="med"/>
                <a:tailEnd type="triangle" w="lg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dirty="0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9BC8B30E-13B8-5806-8249-3E882F22478F}"/>
                  </a:ext>
                </a:extLst>
              </p:cNvPr>
              <p:cNvSpPr/>
              <p:nvPr/>
            </p:nvSpPr>
            <p:spPr>
              <a:xfrm>
                <a:off x="1888346" y="1722143"/>
                <a:ext cx="455416" cy="707882"/>
              </a:xfrm>
              <a:custGeom>
                <a:avLst/>
                <a:gdLst>
                  <a:gd name="connsiteX0" fmla="*/ 411881 w 446386"/>
                  <a:gd name="connsiteY0" fmla="*/ 0 h 699247"/>
                  <a:gd name="connsiteX1" fmla="*/ 411881 w 446386"/>
                  <a:gd name="connsiteY1" fmla="*/ 313765 h 699247"/>
                  <a:gd name="connsiteX2" fmla="*/ 53293 w 446386"/>
                  <a:gd name="connsiteY2" fmla="*/ 546847 h 699247"/>
                  <a:gd name="connsiteX3" fmla="*/ 8470 w 446386"/>
                  <a:gd name="connsiteY3" fmla="*/ 699247 h 699247"/>
                  <a:gd name="connsiteX0" fmla="*/ 405917 w 440422"/>
                  <a:gd name="connsiteY0" fmla="*/ 0 h 697269"/>
                  <a:gd name="connsiteX1" fmla="*/ 405917 w 440422"/>
                  <a:gd name="connsiteY1" fmla="*/ 313765 h 697269"/>
                  <a:gd name="connsiteX2" fmla="*/ 47329 w 440422"/>
                  <a:gd name="connsiteY2" fmla="*/ 546847 h 697269"/>
                  <a:gd name="connsiteX3" fmla="*/ 12031 w 440422"/>
                  <a:gd name="connsiteY3" fmla="*/ 697269 h 697269"/>
                  <a:gd name="connsiteX0" fmla="*/ 395259 w 429764"/>
                  <a:gd name="connsiteY0" fmla="*/ 0 h 697269"/>
                  <a:gd name="connsiteX1" fmla="*/ 395259 w 429764"/>
                  <a:gd name="connsiteY1" fmla="*/ 313765 h 697269"/>
                  <a:gd name="connsiteX2" fmla="*/ 36671 w 429764"/>
                  <a:gd name="connsiteY2" fmla="*/ 546847 h 697269"/>
                  <a:gd name="connsiteX3" fmla="*/ 1373 w 429764"/>
                  <a:gd name="connsiteY3" fmla="*/ 697269 h 697269"/>
                  <a:gd name="connsiteX0" fmla="*/ 402403 w 433178"/>
                  <a:gd name="connsiteY0" fmla="*/ 0 h 697269"/>
                  <a:gd name="connsiteX1" fmla="*/ 395259 w 433178"/>
                  <a:gd name="connsiteY1" fmla="*/ 313765 h 697269"/>
                  <a:gd name="connsiteX2" fmla="*/ 36671 w 433178"/>
                  <a:gd name="connsiteY2" fmla="*/ 546847 h 697269"/>
                  <a:gd name="connsiteX3" fmla="*/ 1373 w 433178"/>
                  <a:gd name="connsiteY3" fmla="*/ 697269 h 697269"/>
                  <a:gd name="connsiteX0" fmla="*/ 402403 w 427228"/>
                  <a:gd name="connsiteY0" fmla="*/ 0 h 697269"/>
                  <a:gd name="connsiteX1" fmla="*/ 395259 w 427228"/>
                  <a:gd name="connsiteY1" fmla="*/ 313765 h 697269"/>
                  <a:gd name="connsiteX2" fmla="*/ 36671 w 427228"/>
                  <a:gd name="connsiteY2" fmla="*/ 546847 h 697269"/>
                  <a:gd name="connsiteX3" fmla="*/ 1373 w 427228"/>
                  <a:gd name="connsiteY3" fmla="*/ 697269 h 697269"/>
                  <a:gd name="connsiteX0" fmla="*/ 466697 w 470318"/>
                  <a:gd name="connsiteY0" fmla="*/ 0 h 697269"/>
                  <a:gd name="connsiteX1" fmla="*/ 395259 w 470318"/>
                  <a:gd name="connsiteY1" fmla="*/ 313765 h 697269"/>
                  <a:gd name="connsiteX2" fmla="*/ 36671 w 470318"/>
                  <a:gd name="connsiteY2" fmla="*/ 546847 h 697269"/>
                  <a:gd name="connsiteX3" fmla="*/ 1373 w 470318"/>
                  <a:gd name="connsiteY3" fmla="*/ 697269 h 697269"/>
                  <a:gd name="connsiteX0" fmla="*/ 466697 w 467266"/>
                  <a:gd name="connsiteY0" fmla="*/ 0 h 697269"/>
                  <a:gd name="connsiteX1" fmla="*/ 259528 w 467266"/>
                  <a:gd name="connsiteY1" fmla="*/ 329024 h 697269"/>
                  <a:gd name="connsiteX2" fmla="*/ 36671 w 467266"/>
                  <a:gd name="connsiteY2" fmla="*/ 546847 h 697269"/>
                  <a:gd name="connsiteX3" fmla="*/ 1373 w 467266"/>
                  <a:gd name="connsiteY3" fmla="*/ 697269 h 697269"/>
                  <a:gd name="connsiteX0" fmla="*/ 466697 w 468563"/>
                  <a:gd name="connsiteY0" fmla="*/ 0 h 697269"/>
                  <a:gd name="connsiteX1" fmla="*/ 369066 w 468563"/>
                  <a:gd name="connsiteY1" fmla="*/ 326844 h 697269"/>
                  <a:gd name="connsiteX2" fmla="*/ 36671 w 468563"/>
                  <a:gd name="connsiteY2" fmla="*/ 546847 h 697269"/>
                  <a:gd name="connsiteX3" fmla="*/ 1373 w 468563"/>
                  <a:gd name="connsiteY3" fmla="*/ 697269 h 697269"/>
                  <a:gd name="connsiteX0" fmla="*/ 466697 w 467508"/>
                  <a:gd name="connsiteY0" fmla="*/ 0 h 697269"/>
                  <a:gd name="connsiteX1" fmla="*/ 369066 w 467508"/>
                  <a:gd name="connsiteY1" fmla="*/ 326844 h 697269"/>
                  <a:gd name="connsiteX2" fmla="*/ 36671 w 467508"/>
                  <a:gd name="connsiteY2" fmla="*/ 546847 h 697269"/>
                  <a:gd name="connsiteX3" fmla="*/ 1373 w 467508"/>
                  <a:gd name="connsiteY3" fmla="*/ 697269 h 697269"/>
                  <a:gd name="connsiteX0" fmla="*/ 466697 w 468011"/>
                  <a:gd name="connsiteY0" fmla="*/ 0 h 697269"/>
                  <a:gd name="connsiteX1" fmla="*/ 369066 w 468011"/>
                  <a:gd name="connsiteY1" fmla="*/ 326844 h 697269"/>
                  <a:gd name="connsiteX2" fmla="*/ 36671 w 468011"/>
                  <a:gd name="connsiteY2" fmla="*/ 546847 h 697269"/>
                  <a:gd name="connsiteX3" fmla="*/ 1373 w 468011"/>
                  <a:gd name="connsiteY3" fmla="*/ 697269 h 697269"/>
                  <a:gd name="connsiteX0" fmla="*/ 466697 w 469892"/>
                  <a:gd name="connsiteY0" fmla="*/ 0 h 697269"/>
                  <a:gd name="connsiteX1" fmla="*/ 369066 w 469892"/>
                  <a:gd name="connsiteY1" fmla="*/ 326844 h 697269"/>
                  <a:gd name="connsiteX2" fmla="*/ 36671 w 469892"/>
                  <a:gd name="connsiteY2" fmla="*/ 546847 h 697269"/>
                  <a:gd name="connsiteX3" fmla="*/ 1373 w 469892"/>
                  <a:gd name="connsiteY3" fmla="*/ 697269 h 697269"/>
                  <a:gd name="connsiteX0" fmla="*/ 466697 w 467571"/>
                  <a:gd name="connsiteY0" fmla="*/ 0 h 697269"/>
                  <a:gd name="connsiteX1" fmla="*/ 290485 w 467571"/>
                  <a:gd name="connsiteY1" fmla="*/ 326844 h 697269"/>
                  <a:gd name="connsiteX2" fmla="*/ 36671 w 467571"/>
                  <a:gd name="connsiteY2" fmla="*/ 546847 h 697269"/>
                  <a:gd name="connsiteX3" fmla="*/ 1373 w 467571"/>
                  <a:gd name="connsiteY3" fmla="*/ 697269 h 697269"/>
                  <a:gd name="connsiteX0" fmla="*/ 466697 w 470369"/>
                  <a:gd name="connsiteY0" fmla="*/ 0 h 697269"/>
                  <a:gd name="connsiteX1" fmla="*/ 373829 w 470369"/>
                  <a:gd name="connsiteY1" fmla="*/ 383518 h 697269"/>
                  <a:gd name="connsiteX2" fmla="*/ 36671 w 470369"/>
                  <a:gd name="connsiteY2" fmla="*/ 546847 h 697269"/>
                  <a:gd name="connsiteX3" fmla="*/ 1373 w 470369"/>
                  <a:gd name="connsiteY3" fmla="*/ 697269 h 697269"/>
                  <a:gd name="connsiteX0" fmla="*/ 465324 w 467334"/>
                  <a:gd name="connsiteY0" fmla="*/ 0 h 697269"/>
                  <a:gd name="connsiteX1" fmla="*/ 372456 w 467334"/>
                  <a:gd name="connsiteY1" fmla="*/ 383518 h 697269"/>
                  <a:gd name="connsiteX2" fmla="*/ 42442 w 467334"/>
                  <a:gd name="connsiteY2" fmla="*/ 440039 h 697269"/>
                  <a:gd name="connsiteX3" fmla="*/ 0 w 467334"/>
                  <a:gd name="connsiteY3" fmla="*/ 697269 h 697269"/>
                  <a:gd name="connsiteX0" fmla="*/ 465324 w 467440"/>
                  <a:gd name="connsiteY0" fmla="*/ 0 h 697269"/>
                  <a:gd name="connsiteX1" fmla="*/ 374837 w 467440"/>
                  <a:gd name="connsiteY1" fmla="*/ 320305 h 697269"/>
                  <a:gd name="connsiteX2" fmla="*/ 42442 w 467440"/>
                  <a:gd name="connsiteY2" fmla="*/ 440039 h 697269"/>
                  <a:gd name="connsiteX3" fmla="*/ 0 w 467440"/>
                  <a:gd name="connsiteY3" fmla="*/ 697269 h 697269"/>
                  <a:gd name="connsiteX0" fmla="*/ 465324 w 467440"/>
                  <a:gd name="connsiteY0" fmla="*/ 0 h 697269"/>
                  <a:gd name="connsiteX1" fmla="*/ 374837 w 467440"/>
                  <a:gd name="connsiteY1" fmla="*/ 320305 h 697269"/>
                  <a:gd name="connsiteX2" fmla="*/ 42442 w 467440"/>
                  <a:gd name="connsiteY2" fmla="*/ 440039 h 697269"/>
                  <a:gd name="connsiteX3" fmla="*/ 0 w 467440"/>
                  <a:gd name="connsiteY3" fmla="*/ 697269 h 697269"/>
                  <a:gd name="connsiteX0" fmla="*/ 465324 w 467440"/>
                  <a:gd name="connsiteY0" fmla="*/ 0 h 697269"/>
                  <a:gd name="connsiteX1" fmla="*/ 374837 w 467440"/>
                  <a:gd name="connsiteY1" fmla="*/ 320305 h 697269"/>
                  <a:gd name="connsiteX2" fmla="*/ 42442 w 467440"/>
                  <a:gd name="connsiteY2" fmla="*/ 440039 h 697269"/>
                  <a:gd name="connsiteX3" fmla="*/ 0 w 467440"/>
                  <a:gd name="connsiteY3" fmla="*/ 697269 h 697269"/>
                  <a:gd name="connsiteX0" fmla="*/ 467455 w 469571"/>
                  <a:gd name="connsiteY0" fmla="*/ 0 h 697269"/>
                  <a:gd name="connsiteX1" fmla="*/ 376968 w 469571"/>
                  <a:gd name="connsiteY1" fmla="*/ 320305 h 697269"/>
                  <a:gd name="connsiteX2" fmla="*/ 44573 w 469571"/>
                  <a:gd name="connsiteY2" fmla="*/ 440039 h 697269"/>
                  <a:gd name="connsiteX3" fmla="*/ 2131 w 469571"/>
                  <a:gd name="connsiteY3" fmla="*/ 697269 h 697269"/>
                  <a:gd name="connsiteX0" fmla="*/ 462820 w 464936"/>
                  <a:gd name="connsiteY0" fmla="*/ 0 h 701628"/>
                  <a:gd name="connsiteX1" fmla="*/ 372333 w 464936"/>
                  <a:gd name="connsiteY1" fmla="*/ 320305 h 701628"/>
                  <a:gd name="connsiteX2" fmla="*/ 39938 w 464936"/>
                  <a:gd name="connsiteY2" fmla="*/ 440039 h 701628"/>
                  <a:gd name="connsiteX3" fmla="*/ 9402 w 464936"/>
                  <a:gd name="connsiteY3" fmla="*/ 701628 h 701628"/>
                  <a:gd name="connsiteX0" fmla="*/ 453418 w 455416"/>
                  <a:gd name="connsiteY0" fmla="*/ 0 h 701628"/>
                  <a:gd name="connsiteX1" fmla="*/ 362931 w 455416"/>
                  <a:gd name="connsiteY1" fmla="*/ 320305 h 701628"/>
                  <a:gd name="connsiteX2" fmla="*/ 47204 w 455416"/>
                  <a:gd name="connsiteY2" fmla="*/ 442219 h 701628"/>
                  <a:gd name="connsiteX3" fmla="*/ 0 w 455416"/>
                  <a:gd name="connsiteY3" fmla="*/ 701628 h 701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5416" h="701628">
                    <a:moveTo>
                      <a:pt x="453418" y="0"/>
                    </a:moveTo>
                    <a:cubicBezTo>
                      <a:pt x="464250" y="125158"/>
                      <a:pt x="430633" y="246602"/>
                      <a:pt x="362931" y="320305"/>
                    </a:cubicBezTo>
                    <a:cubicBezTo>
                      <a:pt x="295229" y="394008"/>
                      <a:pt x="114439" y="377972"/>
                      <a:pt x="47204" y="442219"/>
                    </a:cubicBezTo>
                    <a:cubicBezTo>
                      <a:pt x="-31937" y="508647"/>
                      <a:pt x="17369" y="655573"/>
                      <a:pt x="0" y="701628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headEnd w="lg" len="med"/>
                <a:tailEnd type="triangle" w="lg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dirty="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3E7B5EA3-6820-5CD6-962D-5AEF8EBD8383}"/>
                  </a:ext>
                </a:extLst>
              </p:cNvPr>
              <p:cNvSpPr/>
              <p:nvPr/>
            </p:nvSpPr>
            <p:spPr>
              <a:xfrm>
                <a:off x="3965124" y="1719407"/>
                <a:ext cx="705037" cy="698227"/>
              </a:xfrm>
              <a:custGeom>
                <a:avLst/>
                <a:gdLst>
                  <a:gd name="connsiteX0" fmla="*/ 0 w 698500"/>
                  <a:gd name="connsiteY0" fmla="*/ 0 h 800100"/>
                  <a:gd name="connsiteX1" fmla="*/ 241300 w 698500"/>
                  <a:gd name="connsiteY1" fmla="*/ 361950 h 800100"/>
                  <a:gd name="connsiteX2" fmla="*/ 603250 w 698500"/>
                  <a:gd name="connsiteY2" fmla="*/ 431800 h 800100"/>
                  <a:gd name="connsiteX3" fmla="*/ 698500 w 698500"/>
                  <a:gd name="connsiteY3" fmla="*/ 800100 h 800100"/>
                  <a:gd name="connsiteX0" fmla="*/ 0 w 619125"/>
                  <a:gd name="connsiteY0" fmla="*/ 0 h 796160"/>
                  <a:gd name="connsiteX1" fmla="*/ 161925 w 619125"/>
                  <a:gd name="connsiteY1" fmla="*/ 358010 h 796160"/>
                  <a:gd name="connsiteX2" fmla="*/ 523875 w 619125"/>
                  <a:gd name="connsiteY2" fmla="*/ 427860 h 796160"/>
                  <a:gd name="connsiteX3" fmla="*/ 619125 w 619125"/>
                  <a:gd name="connsiteY3" fmla="*/ 796160 h 796160"/>
                  <a:gd name="connsiteX0" fmla="*/ 0 w 619125"/>
                  <a:gd name="connsiteY0" fmla="*/ 0 h 796160"/>
                  <a:gd name="connsiteX1" fmla="*/ 161925 w 619125"/>
                  <a:gd name="connsiteY1" fmla="*/ 358010 h 796160"/>
                  <a:gd name="connsiteX2" fmla="*/ 523875 w 619125"/>
                  <a:gd name="connsiteY2" fmla="*/ 427860 h 796160"/>
                  <a:gd name="connsiteX3" fmla="*/ 619125 w 619125"/>
                  <a:gd name="connsiteY3" fmla="*/ 796160 h 796160"/>
                  <a:gd name="connsiteX0" fmla="*/ 0 w 619125"/>
                  <a:gd name="connsiteY0" fmla="*/ 0 h 847381"/>
                  <a:gd name="connsiteX1" fmla="*/ 161925 w 619125"/>
                  <a:gd name="connsiteY1" fmla="*/ 358010 h 847381"/>
                  <a:gd name="connsiteX2" fmla="*/ 523875 w 619125"/>
                  <a:gd name="connsiteY2" fmla="*/ 427860 h 847381"/>
                  <a:gd name="connsiteX3" fmla="*/ 619125 w 619125"/>
                  <a:gd name="connsiteY3" fmla="*/ 847381 h 847381"/>
                  <a:gd name="connsiteX0" fmla="*/ 0 w 621846"/>
                  <a:gd name="connsiteY0" fmla="*/ 0 h 847381"/>
                  <a:gd name="connsiteX1" fmla="*/ 161925 w 621846"/>
                  <a:gd name="connsiteY1" fmla="*/ 358010 h 847381"/>
                  <a:gd name="connsiteX2" fmla="*/ 523875 w 621846"/>
                  <a:gd name="connsiteY2" fmla="*/ 427860 h 847381"/>
                  <a:gd name="connsiteX3" fmla="*/ 619125 w 621846"/>
                  <a:gd name="connsiteY3" fmla="*/ 847381 h 847381"/>
                  <a:gd name="connsiteX0" fmla="*/ 0 w 619416"/>
                  <a:gd name="connsiteY0" fmla="*/ 0 h 847381"/>
                  <a:gd name="connsiteX1" fmla="*/ 161925 w 619416"/>
                  <a:gd name="connsiteY1" fmla="*/ 358010 h 847381"/>
                  <a:gd name="connsiteX2" fmla="*/ 523875 w 619416"/>
                  <a:gd name="connsiteY2" fmla="*/ 427860 h 847381"/>
                  <a:gd name="connsiteX3" fmla="*/ 619125 w 619416"/>
                  <a:gd name="connsiteY3" fmla="*/ 847381 h 847381"/>
                  <a:gd name="connsiteX0" fmla="*/ 0 w 625377"/>
                  <a:gd name="connsiteY0" fmla="*/ 0 h 866485"/>
                  <a:gd name="connsiteX1" fmla="*/ 161925 w 625377"/>
                  <a:gd name="connsiteY1" fmla="*/ 358010 h 866485"/>
                  <a:gd name="connsiteX2" fmla="*/ 523875 w 625377"/>
                  <a:gd name="connsiteY2" fmla="*/ 427860 h 866485"/>
                  <a:gd name="connsiteX3" fmla="*/ 625139 w 625377"/>
                  <a:gd name="connsiteY3" fmla="*/ 866485 h 866485"/>
                  <a:gd name="connsiteX0" fmla="*/ 0 w 627707"/>
                  <a:gd name="connsiteY0" fmla="*/ 0 h 866485"/>
                  <a:gd name="connsiteX1" fmla="*/ 161925 w 627707"/>
                  <a:gd name="connsiteY1" fmla="*/ 358010 h 866485"/>
                  <a:gd name="connsiteX2" fmla="*/ 523875 w 627707"/>
                  <a:gd name="connsiteY2" fmla="*/ 427860 h 866485"/>
                  <a:gd name="connsiteX3" fmla="*/ 625139 w 627707"/>
                  <a:gd name="connsiteY3" fmla="*/ 866485 h 866485"/>
                  <a:gd name="connsiteX0" fmla="*/ 0 w 625377"/>
                  <a:gd name="connsiteY0" fmla="*/ 0 h 866485"/>
                  <a:gd name="connsiteX1" fmla="*/ 161925 w 625377"/>
                  <a:gd name="connsiteY1" fmla="*/ 358010 h 866485"/>
                  <a:gd name="connsiteX2" fmla="*/ 523875 w 625377"/>
                  <a:gd name="connsiteY2" fmla="*/ 427860 h 866485"/>
                  <a:gd name="connsiteX3" fmla="*/ 625139 w 625377"/>
                  <a:gd name="connsiteY3" fmla="*/ 866485 h 866485"/>
                  <a:gd name="connsiteX0" fmla="*/ 0 w 626599"/>
                  <a:gd name="connsiteY0" fmla="*/ 0 h 866485"/>
                  <a:gd name="connsiteX1" fmla="*/ 161925 w 626599"/>
                  <a:gd name="connsiteY1" fmla="*/ 358010 h 866485"/>
                  <a:gd name="connsiteX2" fmla="*/ 523875 w 626599"/>
                  <a:gd name="connsiteY2" fmla="*/ 427860 h 866485"/>
                  <a:gd name="connsiteX3" fmla="*/ 625139 w 626599"/>
                  <a:gd name="connsiteY3" fmla="*/ 866485 h 86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6599" h="866485">
                    <a:moveTo>
                      <a:pt x="0" y="0"/>
                    </a:moveTo>
                    <a:cubicBezTo>
                      <a:pt x="3704" y="164692"/>
                      <a:pt x="74613" y="286700"/>
                      <a:pt x="161925" y="358010"/>
                    </a:cubicBezTo>
                    <a:cubicBezTo>
                      <a:pt x="249237" y="429320"/>
                      <a:pt x="447675" y="354835"/>
                      <a:pt x="523875" y="427860"/>
                    </a:cubicBezTo>
                    <a:cubicBezTo>
                      <a:pt x="600075" y="500885"/>
                      <a:pt x="634330" y="718847"/>
                      <a:pt x="625139" y="866485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dash"/>
                <a:headEnd w="lg" len="med"/>
                <a:tailEnd type="triangle" w="lg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dirty="0"/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25E7A0D-3A0E-B1FA-0647-91B9C4AE6ECA}"/>
              </a:ext>
            </a:extLst>
          </p:cNvPr>
          <p:cNvGrpSpPr/>
          <p:nvPr/>
        </p:nvGrpSpPr>
        <p:grpSpPr>
          <a:xfrm>
            <a:off x="777396" y="4938339"/>
            <a:ext cx="5048194" cy="1117678"/>
            <a:chOff x="1103318" y="4856859"/>
            <a:chExt cx="5048194" cy="1117678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84D16B7-BC19-AE05-882A-2094C1D5F074}"/>
                </a:ext>
              </a:extLst>
            </p:cNvPr>
            <p:cNvSpPr txBox="1"/>
            <p:nvPr/>
          </p:nvSpPr>
          <p:spPr>
            <a:xfrm>
              <a:off x="3308616" y="5504399"/>
              <a:ext cx="716326" cy="451087"/>
            </a:xfrm>
            <a:prstGeom prst="rect">
              <a:avLst/>
            </a:prstGeom>
            <a:noFill/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en-US" sz="2400" b="1" i="0" u="none" strike="noStrike" baseline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MRoman12-Regular"/>
                </a:rPr>
                <a:t>OBS</a:t>
              </a:r>
              <a:endParaRPr lang="LID4096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4" name="Arrow: Left-Right 53">
              <a:extLst>
                <a:ext uri="{FF2B5EF4-FFF2-40B4-BE49-F238E27FC236}">
                  <a16:creationId xmlns:a16="http://schemas.microsoft.com/office/drawing/2014/main" id="{13705AA6-6031-A8F8-74FB-C35750F9430F}"/>
                </a:ext>
              </a:extLst>
            </p:cNvPr>
            <p:cNvSpPr/>
            <p:nvPr/>
          </p:nvSpPr>
          <p:spPr>
            <a:xfrm>
              <a:off x="4207255" y="5590397"/>
              <a:ext cx="554126" cy="302015"/>
            </a:xfrm>
            <a:prstGeom prst="leftRightArrow">
              <a:avLst>
                <a:gd name="adj1" fmla="val 35808"/>
                <a:gd name="adj2" fmla="val 40539"/>
              </a:avLst>
            </a:prstGeom>
            <a:solidFill>
              <a:schemeClr val="tx1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FD85326-8D08-29D4-2B95-3AD4CD783CA0}"/>
                </a:ext>
              </a:extLst>
            </p:cNvPr>
            <p:cNvSpPr txBox="1"/>
            <p:nvPr/>
          </p:nvSpPr>
          <p:spPr>
            <a:xfrm>
              <a:off x="4807149" y="5523450"/>
              <a:ext cx="716326" cy="451087"/>
            </a:xfrm>
            <a:prstGeom prst="rect">
              <a:avLst/>
            </a:prstGeom>
            <a:noFill/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en-US" sz="2400" b="1" i="0" u="none" strike="noStrike" baseline="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MRoman12-Regular"/>
                </a:rPr>
                <a:t>PAR</a:t>
              </a:r>
              <a:endParaRPr lang="LID4096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BEDB32D-DFDC-2A82-D0BE-A806D12FE89D}"/>
                </a:ext>
              </a:extLst>
            </p:cNvPr>
            <p:cNvSpPr txBox="1"/>
            <p:nvPr/>
          </p:nvSpPr>
          <p:spPr>
            <a:xfrm>
              <a:off x="1103318" y="5496033"/>
              <a:ext cx="2051652" cy="451087"/>
            </a:xfrm>
            <a:prstGeom prst="rect">
              <a:avLst/>
            </a:prstGeom>
            <a:noFill/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MRoman12-Regular"/>
                </a:rPr>
                <a:t>Modelo</a:t>
              </a:r>
              <a:endParaRPr lang="LID4096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Object 4">
                  <a:extLst>
                    <a:ext uri="{63B3BB69-23CF-44E3-9099-C40C66FF867C}">
                      <a14:compatExt spid="_x0000_s1028"/>
                    </a:ext>
                    <a:ext uri="{FF2B5EF4-FFF2-40B4-BE49-F238E27FC236}">
                      <a16:creationId xmlns:a16="http://schemas.microsoft.com/office/drawing/2014/main" id="{CC1935DF-2BE2-8504-1CFC-C84378D6A9B7}"/>
                    </a:ext>
                  </a:extLst>
                </p:cNvPr>
                <p:cNvSpPr txBox="1"/>
                <p:nvPr/>
              </p:nvSpPr>
              <p:spPr>
                <a:xfrm>
                  <a:off x="3074936" y="4880752"/>
                  <a:ext cx="3076576" cy="683321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pt-BR" sz="32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kumimoji="0" lang="pt-BR" sz="32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3200" b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𝛟</m:t>
                        </m:r>
                        <m:r>
                          <a:rPr lang="en-GB" sz="3200" b="1" i="0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pt-BR" sz="3200" b="1" i="0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pt-BR" sz="32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0" lang="pt-BR" sz="32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kumimoji="0" lang="pt-BR" sz="32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𝐛</m:t>
                        </m:r>
                      </m:oMath>
                    </m:oMathPara>
                  </a14:m>
                  <a:endParaRPr lang="pt-BR" sz="32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Object 4">
                  <a:extLst>
                    <a:ext uri="{63B3BB69-23CF-44E3-9099-C40C66FF867C}">
                      <a14:compatExt xmlns:a14="http://schemas.microsoft.com/office/drawing/2010/main" spid="_x0000_s1028"/>
                    </a:ext>
                    <a:ext uri="{FF2B5EF4-FFF2-40B4-BE49-F238E27FC236}">
                      <a16:creationId xmlns:a16="http://schemas.microsoft.com/office/drawing/2014/main" id="{CC1935DF-2BE2-8504-1CFC-C84378D6A9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4936" y="4880752"/>
                  <a:ext cx="3076576" cy="68332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Object 4">
                  <a:extLst>
                    <a:ext uri="{63B3BB69-23CF-44E3-9099-C40C66FF867C}">
                      <a14:compatExt spid="_x0000_s1028"/>
                    </a:ext>
                    <a:ext uri="{FF2B5EF4-FFF2-40B4-BE49-F238E27FC236}">
                      <a16:creationId xmlns:a16="http://schemas.microsoft.com/office/drawing/2014/main" id="{B780BB72-1824-1933-F0F8-861326101880}"/>
                    </a:ext>
                  </a:extLst>
                </p:cNvPr>
                <p:cNvSpPr txBox="1"/>
                <p:nvPr/>
              </p:nvSpPr>
              <p:spPr>
                <a:xfrm>
                  <a:off x="1706001" y="4856859"/>
                  <a:ext cx="841441" cy="683321"/>
                </a:xfrm>
                <a:prstGeom prst="rect">
                  <a:avLst/>
                </a:prstGeom>
                <a:noFill/>
              </p:spPr>
              <p:txBody>
                <a:bodyPr wrap="square">
                  <a:noAutofit/>
                </a:bodyPr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0" lang="pt-BR" sz="32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</a:rPr>
                          <m:t>𝐀</m:t>
                        </m:r>
                      </m:oMath>
                    </m:oMathPara>
                  </a14:m>
                  <a:endParaRPr lang="pt-BR" sz="32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58" name="Object 4">
                  <a:extLst>
                    <a:ext uri="{63B3BB69-23CF-44E3-9099-C40C66FF867C}">
                      <a14:compatExt xmlns:a14="http://schemas.microsoft.com/office/drawing/2010/main" spid="_x0000_s1028"/>
                    </a:ext>
                    <a:ext uri="{FF2B5EF4-FFF2-40B4-BE49-F238E27FC236}">
                      <a16:creationId xmlns:a16="http://schemas.microsoft.com/office/drawing/2014/main" id="{B780BB72-1824-1933-F0F8-8613261018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6001" y="4856859"/>
                  <a:ext cx="841441" cy="68332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E4D2842D-FC71-B88A-158E-D620AB2BD1B5}"/>
              </a:ext>
            </a:extLst>
          </p:cNvPr>
          <p:cNvSpPr txBox="1"/>
          <p:nvPr/>
        </p:nvSpPr>
        <p:spPr>
          <a:xfrm>
            <a:off x="6562469" y="471591"/>
            <a:ext cx="5068996" cy="249299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pt-BR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Equação de estado do fluido</a:t>
            </a:r>
          </a:p>
          <a:p>
            <a:pPr algn="l"/>
            <a:endParaRPr lang="pt-BR" sz="1200" dirty="0">
              <a:latin typeface="Horley Old Style MT"/>
            </a:endParaRPr>
          </a:p>
          <a:p>
            <a:pPr algn="l"/>
            <a:r>
              <a:rPr lang="pt-BR" sz="2800" dirty="0">
                <a:latin typeface="Horley Old Style MT"/>
              </a:rPr>
              <a:t>Termodinâmica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2800" dirty="0">
                <a:latin typeface="Horley Old Style MT"/>
              </a:rPr>
              <a:t>pressão (p)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2800" dirty="0">
                <a:latin typeface="Horley Old Style MT"/>
              </a:rPr>
              <a:t>densidade (ρ)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2800" dirty="0">
                <a:latin typeface="Horley Old Style MT"/>
              </a:rPr>
              <a:t>temperatura (T)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124EE3-B643-FB91-E693-5D6AA696C0A8}"/>
              </a:ext>
            </a:extLst>
          </p:cNvPr>
          <p:cNvSpPr txBox="1"/>
          <p:nvPr/>
        </p:nvSpPr>
        <p:spPr>
          <a:xfrm>
            <a:off x="6178232" y="3042201"/>
            <a:ext cx="5566067" cy="123880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  <a:cs typeface="Times New Roman" panose="02020603050405020304" pitchFamily="18" charset="0"/>
              </a:defRPr>
            </a:lvl1pPr>
          </a:lstStyle>
          <a:p>
            <a:pPr algn="r"/>
            <a:r>
              <a:rPr lang="pt-BR" sz="3200" dirty="0">
                <a:solidFill>
                  <a:srgbClr val="FF0000"/>
                </a:solidFill>
              </a:rPr>
              <a:t>Formulação diferencial</a:t>
            </a:r>
          </a:p>
          <a:p>
            <a:pPr algn="ctr"/>
            <a:endParaRPr lang="pt-BR" sz="1050" dirty="0">
              <a:solidFill>
                <a:srgbClr val="FF0000"/>
              </a:solidFill>
            </a:endParaRPr>
          </a:p>
          <a:p>
            <a:r>
              <a:rPr lang="pt-BR" sz="3200" dirty="0">
                <a:solidFill>
                  <a:srgbClr val="FF0000"/>
                </a:solidFill>
              </a:rPr>
              <a:t>Formulação numérica</a:t>
            </a:r>
            <a:endParaRPr lang="pt-PT" sz="3200" dirty="0">
              <a:solidFill>
                <a:srgbClr val="FF0000"/>
              </a:solidFill>
            </a:endParaRPr>
          </a:p>
        </p:txBody>
      </p:sp>
      <p:pic>
        <p:nvPicPr>
          <p:cNvPr id="7" name="Picture 6" descr="TDss">
            <a:extLst>
              <a:ext uri="{FF2B5EF4-FFF2-40B4-BE49-F238E27FC236}">
                <a16:creationId xmlns:a16="http://schemas.microsoft.com/office/drawing/2014/main" id="{9E3ABD00-9E08-5695-813F-5B247094A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507" y="4358622"/>
            <a:ext cx="2305734" cy="1933494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C0" mc:Ignorable="a14" a14:legacySpreadsheetColorIndex="26"/>
          </a:solidFill>
          <a:ln w="25400">
            <a:solidFill>
              <a:srgbClr xmlns:mc="http://schemas.openxmlformats.org/markup-compatibility/2006" xmlns:a14="http://schemas.microsoft.com/office/drawing/2010/main" val="0000FF" mc:Ignorable="a14" a14:legacySpreadsheetColorIndex="1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01841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9612DF-3D06-FC0E-3F0C-2D16F057955D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7274A-7E55-6627-D8AC-4B82133B1FC7}"/>
              </a:ext>
            </a:extLst>
          </p:cNvPr>
          <p:cNvSpPr txBox="1"/>
          <p:nvPr/>
        </p:nvSpPr>
        <p:spPr>
          <a:xfrm>
            <a:off x="391131" y="135446"/>
            <a:ext cx="108713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3200" b="1">
                <a:solidFill>
                  <a:srgbClr val="000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2800" i="1" noProof="0"/>
              <a:t>Functionally graded materials (FGMs)</a:t>
            </a:r>
            <a:r>
              <a:rPr lang="en-US" sz="2400" i="1" noProof="0"/>
              <a:t> - </a:t>
            </a:r>
            <a:r>
              <a:rPr lang="en-US" b="0" noProof="0"/>
              <a:t> </a:t>
            </a:r>
            <a:r>
              <a:rPr lang="en-US" sz="3600" noProof="0"/>
              <a:t>(FG</a:t>
            </a:r>
            <a:r>
              <a:rPr lang="en-US" sz="3600" noProof="0">
                <a:solidFill>
                  <a:srgbClr val="FF0000"/>
                </a:solidFill>
              </a:rPr>
              <a:t>AM</a:t>
            </a:r>
            <a:r>
              <a:rPr lang="en-US" sz="3600" noProof="0"/>
              <a:t>) </a:t>
            </a:r>
            <a:endParaRPr lang="en-US" sz="2800" i="1" noProof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C928A8-479A-8994-4FD6-324742E53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9332" y="1743084"/>
            <a:ext cx="2876972" cy="310042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5DD73C-0A90-59B8-953A-E9F97434C97A}"/>
              </a:ext>
            </a:extLst>
          </p:cNvPr>
          <p:cNvSpPr txBox="1"/>
          <p:nvPr/>
        </p:nvSpPr>
        <p:spPr>
          <a:xfrm>
            <a:off x="391130" y="2007393"/>
            <a:ext cx="34969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24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LID4096" b="0" dirty="0"/>
              <a:t>AM </a:t>
            </a:r>
            <a:r>
              <a:rPr lang="en-US" b="0" dirty="0"/>
              <a:t>T</a:t>
            </a:r>
            <a:r>
              <a:rPr lang="LID4096" b="0" dirty="0"/>
              <a:t>echnologies</a:t>
            </a:r>
            <a:r>
              <a:rPr lang="pt-BR" b="0" dirty="0"/>
              <a:t> ...</a:t>
            </a:r>
          </a:p>
          <a:p>
            <a:r>
              <a:rPr lang="pt-BR" b="0" dirty="0"/>
              <a:t>...</a:t>
            </a:r>
            <a:r>
              <a:rPr lang="LID4096" b="0" dirty="0"/>
              <a:t> still operate predominantly on </a:t>
            </a:r>
            <a:r>
              <a:rPr lang="LID4096" sz="2800" dirty="0"/>
              <a:t>isotropic</a:t>
            </a:r>
            <a:r>
              <a:rPr lang="pt-BR" sz="2800" dirty="0"/>
              <a:t> </a:t>
            </a:r>
            <a:r>
              <a:rPr lang="LID4096" sz="2800" dirty="0"/>
              <a:t>materials</a:t>
            </a:r>
            <a:endParaRPr lang="pt-BR" sz="2800" dirty="0"/>
          </a:p>
          <a:p>
            <a:endParaRPr lang="pt-BR" sz="2800" dirty="0"/>
          </a:p>
          <a:p>
            <a:r>
              <a:rPr lang="pt-BR" sz="2800" dirty="0"/>
              <a:t>...</a:t>
            </a:r>
            <a:r>
              <a:rPr lang="LID4096" sz="2800" dirty="0"/>
              <a:t> </a:t>
            </a:r>
            <a:r>
              <a:rPr lang="pt-BR" sz="2800" dirty="0"/>
              <a:t>High cost.</a:t>
            </a:r>
            <a:endParaRPr lang="LID4096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FDB907-51CA-6C1A-543A-ED3F1D36F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509" y="1771602"/>
            <a:ext cx="3344091" cy="293874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A26526-96A3-1C50-B279-65C0EAAA8B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55" y="4843510"/>
            <a:ext cx="8076045" cy="188918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01417BE-8EC2-B5F7-9E44-CB3689FD0647}"/>
              </a:ext>
            </a:extLst>
          </p:cNvPr>
          <p:cNvSpPr txBox="1"/>
          <p:nvPr/>
        </p:nvSpPr>
        <p:spPr>
          <a:xfrm>
            <a:off x="391130" y="794249"/>
            <a:ext cx="10975174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A.M. </a:t>
            </a:r>
            <a:r>
              <a:rPr lang="pt-B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  <a:r>
              <a:rPr lang="LID4096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strategically control </a:t>
            </a:r>
            <a:endParaRPr lang="pt-BR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	 </a:t>
            </a:r>
            <a:r>
              <a:rPr lang="pt-BR" sz="2400" b="1" dirty="0">
                <a:solidFill>
                  <a:srgbClr val="0000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  <a:r>
              <a:rPr lang="LID4096" sz="2400" b="1" dirty="0">
                <a:solidFill>
                  <a:srgbClr val="0000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density, </a:t>
            </a:r>
            <a:r>
              <a:rPr lang="LID4096" sz="24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directionality</a:t>
            </a:r>
            <a:r>
              <a:rPr lang="pt-B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LID4096" sz="24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allocation </a:t>
            </a:r>
            <a:r>
              <a:rPr lang="pt-B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... </a:t>
            </a:r>
            <a:r>
              <a:rPr lang="LID4096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of material substances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A2EE23-632B-BB9F-26F4-9789D8B6BCF2}"/>
              </a:ext>
            </a:extLst>
          </p:cNvPr>
          <p:cNvSpPr txBox="1"/>
          <p:nvPr/>
        </p:nvSpPr>
        <p:spPr>
          <a:xfrm>
            <a:off x="8489332" y="5145491"/>
            <a:ext cx="2876971" cy="1384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24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sz="2800" dirty="0"/>
              <a:t>Tipo</a:t>
            </a:r>
          </a:p>
          <a:p>
            <a:r>
              <a:rPr lang="pt-BR" sz="2800" dirty="0"/>
              <a:t>Disposição</a:t>
            </a:r>
          </a:p>
          <a:p>
            <a:r>
              <a:rPr lang="pt-BR" sz="2800" dirty="0"/>
              <a:t>Densidade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393447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CFD92-94E8-84F7-FB9D-606733E2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A209E08-9008-C58D-CCC9-1F3AAC39CAA8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D7DBAB7-D107-7344-3280-A8111798B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b" anchorCtr="0"/>
          <a:lstStyle/>
          <a:p>
            <a:pPr marL="0" indent="0" algn="r">
              <a:buNone/>
            </a:pPr>
            <a:r>
              <a:rPr lang="pt-BR" b="1" noProof="0" dirty="0"/>
              <a:t>Obrigado!</a:t>
            </a:r>
          </a:p>
          <a:p>
            <a:pPr marL="0" indent="0" algn="r">
              <a:buNone/>
            </a:pPr>
            <a:r>
              <a:rPr lang="pt-BR" b="1" noProof="0" dirty="0"/>
              <a:t>Rodrigo M. Grossi</a:t>
            </a:r>
            <a:endParaRPr lang="pt-BR" noProof="0" dirty="0"/>
          </a:p>
          <a:p>
            <a:pPr marL="0" indent="0" algn="r">
              <a:buNone/>
            </a:pPr>
            <a:r>
              <a:rPr lang="pt-BR" noProof="0" dirty="0">
                <a:hlinkClick r:id="rId2"/>
              </a:rPr>
              <a:t>https://grossirm.github.io/</a:t>
            </a:r>
            <a:endParaRPr lang="pt-BR" noProof="0" dirty="0"/>
          </a:p>
          <a:p>
            <a:pPr marL="0" indent="0" algn="r">
              <a:buNone/>
            </a:pPr>
            <a:r>
              <a:rPr lang="pt-BR" noProof="0" dirty="0">
                <a:hlinkClick r:id="rId3"/>
              </a:rPr>
              <a:t>https://betami2022.wixsite.com/betami</a:t>
            </a:r>
            <a:endParaRPr lang="pt-BR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AE4397-807E-B6E9-67BF-03EF08F22F0D}"/>
              </a:ext>
            </a:extLst>
          </p:cNvPr>
          <p:cNvSpPr txBox="1"/>
          <p:nvPr/>
        </p:nvSpPr>
        <p:spPr>
          <a:xfrm>
            <a:off x="2057399" y="1054456"/>
            <a:ext cx="9391651" cy="3210936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LID4096"/>
            </a:defPPr>
            <a:lvl1pPr>
              <a:defRPr sz="600"/>
            </a:lvl1pPr>
          </a:lstStyle>
          <a:p>
            <a:pPr algn="r"/>
            <a:r>
              <a:rPr lang="LID4096" sz="1500" dirty="0">
                <a:hlinkClick r:id="rId4"/>
              </a:rPr>
              <a:t>https://www.linkedin.com/pulse/mf-pest-trough-despair-isto-mesmo-o-cocho-do-rodrigo-m-grossi-spzuf/</a:t>
            </a:r>
            <a:endParaRPr lang="pt-BR" sz="1500" dirty="0"/>
          </a:p>
          <a:p>
            <a:pPr algn="r"/>
            <a:endParaRPr lang="pt-BR" sz="1500" dirty="0"/>
          </a:p>
          <a:p>
            <a:pPr algn="r"/>
            <a:r>
              <a:rPr lang="LID4096" sz="1500" dirty="0">
                <a:hlinkClick r:id="rId5"/>
              </a:rPr>
              <a:t>https://www.linkedin.com/pulse/pest-mode-rodrigo-m-grossi-ccyvf/?trackingId=N1AH7NyIQZy3zF30RhEUlA%3D%3D</a:t>
            </a:r>
            <a:endParaRPr lang="pt-BR" sz="1500" dirty="0"/>
          </a:p>
          <a:p>
            <a:pPr algn="r"/>
            <a:endParaRPr lang="pt-BR" sz="1500" dirty="0"/>
          </a:p>
          <a:p>
            <a:pPr algn="r"/>
            <a:r>
              <a:rPr lang="en-US" sz="1500" dirty="0">
                <a:hlinkClick r:id="rId6"/>
              </a:rPr>
              <a:t>https://www.linkedin.com/feed/update/urn:li:activity:7288190650825531392/</a:t>
            </a:r>
            <a:endParaRPr lang="en-US" sz="1500" dirty="0"/>
          </a:p>
          <a:p>
            <a:pPr algn="r"/>
            <a:endParaRPr lang="LID4096" sz="1500" dirty="0"/>
          </a:p>
          <a:p>
            <a:pPr algn="r"/>
            <a:endParaRPr lang="pt-BR" sz="1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18154-FADA-9AF8-94D2-BF5E21E0BF58}"/>
              </a:ext>
            </a:extLst>
          </p:cNvPr>
          <p:cNvSpPr txBox="1">
            <a:spLocks/>
          </p:cNvSpPr>
          <p:nvPr/>
        </p:nvSpPr>
        <p:spPr>
          <a:xfrm>
            <a:off x="681322" y="444501"/>
            <a:ext cx="2009775" cy="93662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050" b="1" dirty="0"/>
              <a:t>Função objetivo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050" b="1" dirty="0"/>
              <a:t>Matriz de covariâncias espaciais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050" b="1" dirty="0"/>
              <a:t>SVD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5298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F4FCE9-A165-D29F-FA42-42A1FBF16443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B70105-F07C-1669-65B3-F18F1F60A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5699" y="199175"/>
            <a:ext cx="3078180" cy="42189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41F5D5-8577-43F2-00EA-B8C74218D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355"/>
          <a:stretch>
            <a:fillRect/>
          </a:stretch>
        </p:blipFill>
        <p:spPr>
          <a:xfrm>
            <a:off x="6638925" y="97325"/>
            <a:ext cx="4997571" cy="220772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A62F5F-70B3-27AC-5EAC-574343581B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247" y="3533775"/>
            <a:ext cx="4702952" cy="322690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2A0495-7472-BA70-F709-752B24834283}"/>
              </a:ext>
            </a:extLst>
          </p:cNvPr>
          <p:cNvSpPr txBox="1"/>
          <p:nvPr/>
        </p:nvSpPr>
        <p:spPr>
          <a:xfrm>
            <a:off x="7438240" y="5938129"/>
            <a:ext cx="399041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OTIMIZAÇÃO DOS PARÂMENTROS DO PROCESSO DE MANUFATURA ADITIVA </a:t>
            </a:r>
            <a:r>
              <a:rPr lang="pt-BR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Rhuan &amp; Prof. Guilherme UNIFEI</a:t>
            </a:r>
            <a:endParaRPr lang="LID4096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CA2F89-D07D-EB29-C513-E6ECD9B3C936}"/>
              </a:ext>
            </a:extLst>
          </p:cNvPr>
          <p:cNvSpPr txBox="1"/>
          <p:nvPr/>
        </p:nvSpPr>
        <p:spPr>
          <a:xfrm>
            <a:off x="2178124" y="280303"/>
            <a:ext cx="534154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solidFill>
                  <a:srgbClr val="0000FF"/>
                </a:solidFill>
              </a:rPr>
              <a:t>EXEMPLO 02: </a:t>
            </a:r>
          </a:p>
          <a:p>
            <a:pPr algn="ctr"/>
            <a:r>
              <a:rPr lang="pt-BR" sz="3200" b="1" dirty="0">
                <a:solidFill>
                  <a:srgbClr val="0000FF"/>
                </a:solidFill>
              </a:rPr>
              <a:t>Mais simples</a:t>
            </a:r>
            <a:endParaRPr lang="LID4096" sz="3200" b="1" dirty="0">
              <a:solidFill>
                <a:srgbClr val="0000FF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29EE7D-AAA4-99F2-BB9A-57DF2222EABA}"/>
              </a:ext>
            </a:extLst>
          </p:cNvPr>
          <p:cNvGrpSpPr/>
          <p:nvPr/>
        </p:nvGrpSpPr>
        <p:grpSpPr>
          <a:xfrm>
            <a:off x="346504" y="4898284"/>
            <a:ext cx="1761720" cy="1479523"/>
            <a:chOff x="30673" y="4721238"/>
            <a:chExt cx="1761720" cy="1479523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51F243E5-073F-072C-1973-7E70606F7A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197" y="4974433"/>
              <a:ext cx="1585440" cy="1218860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7FA75A9E-9D57-3CC1-A11A-FB4843D536E1}"/>
                </a:ext>
              </a:extLst>
            </p:cNvPr>
            <p:cNvSpPr/>
            <p:nvPr/>
          </p:nvSpPr>
          <p:spPr>
            <a:xfrm rot="10800000">
              <a:off x="158521" y="4721238"/>
              <a:ext cx="468613" cy="360161"/>
            </a:xfrm>
            <a:prstGeom prst="downArrow">
              <a:avLst/>
            </a:prstGeom>
            <a:solidFill>
              <a:srgbClr val="0000FF">
                <a:alpha val="6980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Arrow: Curved Up 10">
              <a:extLst>
                <a:ext uri="{FF2B5EF4-FFF2-40B4-BE49-F238E27FC236}">
                  <a16:creationId xmlns:a16="http://schemas.microsoft.com/office/drawing/2014/main" id="{278ED0B2-2537-30EB-C213-6AF3A79859AC}"/>
                </a:ext>
              </a:extLst>
            </p:cNvPr>
            <p:cNvSpPr/>
            <p:nvPr/>
          </p:nvSpPr>
          <p:spPr>
            <a:xfrm rot="2622210" flipV="1">
              <a:off x="30673" y="5860106"/>
              <a:ext cx="936242" cy="340655"/>
            </a:xfrm>
            <a:prstGeom prst="curvedUpArrow">
              <a:avLst>
                <a:gd name="adj1" fmla="val 25000"/>
                <a:gd name="adj2" fmla="val 87920"/>
                <a:gd name="adj3" fmla="val 41474"/>
              </a:avLst>
            </a:prstGeom>
            <a:solidFill>
              <a:srgbClr val="0000FF">
                <a:alpha val="6980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E2DEDC26-BBF2-8527-D6B1-15577429E6A3}"/>
                </a:ext>
              </a:extLst>
            </p:cNvPr>
            <p:cNvSpPr/>
            <p:nvPr/>
          </p:nvSpPr>
          <p:spPr>
            <a:xfrm rot="16200000">
              <a:off x="1378006" y="4823278"/>
              <a:ext cx="468613" cy="360161"/>
            </a:xfrm>
            <a:prstGeom prst="downArrow">
              <a:avLst/>
            </a:prstGeom>
            <a:solidFill>
              <a:srgbClr val="0000FF">
                <a:alpha val="6980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786F834-4473-2B75-0E71-E967A4056FFF}"/>
              </a:ext>
            </a:extLst>
          </p:cNvPr>
          <p:cNvSpPr txBox="1"/>
          <p:nvPr/>
        </p:nvSpPr>
        <p:spPr>
          <a:xfrm>
            <a:off x="3400425" y="1556939"/>
            <a:ext cx="2843024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noProof="0" dirty="0"/>
              <a:t> Otimização Multiobjetivo. </a:t>
            </a:r>
          </a:p>
          <a:p>
            <a:pPr algn="ctr"/>
            <a:endParaRPr lang="pt-BR" sz="700" noProof="0" dirty="0"/>
          </a:p>
          <a:p>
            <a:pPr algn="ctr"/>
            <a:r>
              <a:rPr lang="pt-BR" sz="2800" b="1" noProof="0" dirty="0"/>
              <a:t>Modelo analítico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B1E126-59DF-1EB8-D7FC-06AC71B10A98}"/>
              </a:ext>
            </a:extLst>
          </p:cNvPr>
          <p:cNvSpPr txBox="1"/>
          <p:nvPr/>
        </p:nvSpPr>
        <p:spPr>
          <a:xfrm>
            <a:off x="7325222" y="2782761"/>
            <a:ext cx="465485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sz="2400"/>
            </a:lvl1pPr>
          </a:lstStyle>
          <a:p>
            <a:pPr marL="342900" indent="-342900" algn="l">
              <a:buFontTx/>
              <a:buChar char="-"/>
            </a:pPr>
            <a:r>
              <a:rPr lang="pt-BR" b="1" dirty="0"/>
              <a:t>Tensão em flexão </a:t>
            </a:r>
          </a:p>
          <a:p>
            <a:pPr marL="342900" indent="-342900" algn="l">
              <a:buFontTx/>
              <a:buChar char="-"/>
            </a:pPr>
            <a:r>
              <a:rPr lang="pt-BR" b="1" dirty="0"/>
              <a:t>Tensão de escoamento em compressão. </a:t>
            </a:r>
          </a:p>
          <a:p>
            <a:pPr marL="342900" indent="-342900" algn="l">
              <a:buFontTx/>
              <a:buChar char="-"/>
            </a:pPr>
            <a:r>
              <a:rPr lang="pt-BR" b="1" dirty="0"/>
              <a:t>Tensão de escoamento em tração. </a:t>
            </a:r>
          </a:p>
          <a:p>
            <a:pPr marL="342900" indent="-342900" algn="l">
              <a:buFontTx/>
              <a:buChar char="-"/>
            </a:pPr>
            <a:r>
              <a:rPr lang="pt-BR" b="1" dirty="0"/>
              <a:t>Módulo de elasticidade em tração. </a:t>
            </a:r>
            <a:endParaRPr lang="LID4096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8C3E0BB-451A-CFE5-6637-605A9D8C4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08" t="51414" r="28067" b="5558"/>
          <a:stretch>
            <a:fillRect/>
          </a:stretch>
        </p:blipFill>
        <p:spPr>
          <a:xfrm>
            <a:off x="9648542" y="358874"/>
            <a:ext cx="1124233" cy="1022208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4872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A02EB-312B-E351-DC5E-26AA7845C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E251D8-AD13-C16C-3426-DC289F740CE9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D1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AC65DB-3C57-8EF1-F707-7C1AF3643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86023" y="3429000"/>
            <a:ext cx="2313340" cy="33930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B8D920-15FF-0EC2-6335-57824D760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5635" y="579422"/>
            <a:ext cx="4283637" cy="61464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BB838A-9070-46FF-1EBC-CBDC2FB7D1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01398" y="1765426"/>
            <a:ext cx="3322004" cy="4879012"/>
          </a:xfrm>
          <a:prstGeom prst="rect">
            <a:avLst/>
          </a:prstGeom>
        </p:spPr>
      </p:pic>
      <p:pic>
        <p:nvPicPr>
          <p:cNvPr id="6" name="Picture 2" descr="Visually searched image">
            <a:extLst>
              <a:ext uri="{FF2B5EF4-FFF2-40B4-BE49-F238E27FC236}">
                <a16:creationId xmlns:a16="http://schemas.microsoft.com/office/drawing/2014/main" id="{285FFA0B-95C1-866E-0B08-9E51BE99FE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3025" y="447340"/>
            <a:ext cx="2313340" cy="283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E36A49F-2449-222D-EB9E-902B69CBFE41}"/>
              </a:ext>
            </a:extLst>
          </p:cNvPr>
          <p:cNvSpPr/>
          <p:nvPr/>
        </p:nvSpPr>
        <p:spPr>
          <a:xfrm>
            <a:off x="11576365" y="3429000"/>
            <a:ext cx="316871" cy="651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75C553-31B3-C859-746E-F66C881A6EEE}"/>
              </a:ext>
            </a:extLst>
          </p:cNvPr>
          <p:cNvSpPr/>
          <p:nvPr/>
        </p:nvSpPr>
        <p:spPr>
          <a:xfrm>
            <a:off x="4582401" y="447340"/>
            <a:ext cx="316871" cy="3101618"/>
          </a:xfrm>
          <a:prstGeom prst="rect">
            <a:avLst/>
          </a:prstGeom>
          <a:solidFill>
            <a:srgbClr val="D1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B5FA78-36F1-783B-AFDA-4B1263AD0CB7}"/>
              </a:ext>
            </a:extLst>
          </p:cNvPr>
          <p:cNvSpPr txBox="1"/>
          <p:nvPr/>
        </p:nvSpPr>
        <p:spPr>
          <a:xfrm>
            <a:off x="5093651" y="213562"/>
            <a:ext cx="35537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latin typeface="MyriadPro-BoldCond"/>
              </a:rPr>
              <a:t>Deep-sea sponges</a:t>
            </a:r>
            <a:endParaRPr lang="LID4096" sz="3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28FBDE-AF23-5B6D-969A-E2ADDEDA07EF}"/>
              </a:ext>
            </a:extLst>
          </p:cNvPr>
          <p:cNvSpPr txBox="1"/>
          <p:nvPr/>
        </p:nvSpPr>
        <p:spPr>
          <a:xfrm>
            <a:off x="5235576" y="799564"/>
            <a:ext cx="37044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Meier, T. et al. </a:t>
            </a:r>
            <a:r>
              <a:rPr lang="en-GB" sz="1800" b="0" i="0" u="none" strike="noStrike" baseline="0" dirty="0">
                <a:latin typeface="Times New Roman" panose="02020603050405020304" pitchFamily="18" charset="0"/>
              </a:rPr>
              <a:t>California, 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Berkeley</a:t>
            </a:r>
          </a:p>
          <a:p>
            <a:r>
              <a:rPr lang="en-US" sz="1200" dirty="0">
                <a:hlinkClick r:id="rId6"/>
              </a:rPr>
              <a:t>https://www.nature.com/articles/s41467-026-72612-4</a:t>
            </a:r>
            <a:endParaRPr lang="en-US" sz="1200" dirty="0"/>
          </a:p>
          <a:p>
            <a:endParaRPr lang="en-US" sz="900" dirty="0"/>
          </a:p>
          <a:p>
            <a:r>
              <a:rPr lang="en-US" sz="900" dirty="0"/>
              <a:t>E:\15_REPOS\09_CFD__Off\PDF_08_Linkedin\e01_3D_deep-sea sponges</a:t>
            </a:r>
            <a:endParaRPr lang="LID4096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AD38C1-56DB-246F-A708-08B9952BF366}"/>
              </a:ext>
            </a:extLst>
          </p:cNvPr>
          <p:cNvSpPr txBox="1"/>
          <p:nvPr/>
        </p:nvSpPr>
        <p:spPr>
          <a:xfrm>
            <a:off x="477816" y="35860"/>
            <a:ext cx="72447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0000FF"/>
                </a:solidFill>
              </a:rPr>
              <a:t>EXEMPLO 03:</a:t>
            </a:r>
            <a:endParaRPr lang="LID4096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897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553F0-5A79-7365-F7BD-F634C849E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DDD019D-FE56-0ABA-E734-5059FD89C620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D1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CB0AB2-968E-DCD1-3116-591E8A3ED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6699" y="409583"/>
            <a:ext cx="4571375" cy="59749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23B6C9-DED4-C055-621D-0707B66C1E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84872" y="288938"/>
            <a:ext cx="4558587" cy="597498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A377F79-5990-2379-A988-9C998AD3E104}"/>
              </a:ext>
            </a:extLst>
          </p:cNvPr>
          <p:cNvGrpSpPr>
            <a:grpSpLocks noChangeAspect="1"/>
          </p:cNvGrpSpPr>
          <p:nvPr/>
        </p:nvGrpSpPr>
        <p:grpSpPr>
          <a:xfrm>
            <a:off x="10378909" y="878366"/>
            <a:ext cx="1441121" cy="5943659"/>
            <a:chOff x="11076678" y="3429000"/>
            <a:chExt cx="822685" cy="339302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0ABE5D5-A207-49A4-A319-7844ED729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076678" y="3429000"/>
              <a:ext cx="822685" cy="3393024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4B40C9D-7EF1-0AC4-A5AA-88642B220EB9}"/>
                </a:ext>
              </a:extLst>
            </p:cNvPr>
            <p:cNvSpPr/>
            <p:nvPr/>
          </p:nvSpPr>
          <p:spPr>
            <a:xfrm>
              <a:off x="11582492" y="3429000"/>
              <a:ext cx="316871" cy="651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64E0AE8D-30CE-54A4-FABF-6C12984FFD85}"/>
              </a:ext>
            </a:extLst>
          </p:cNvPr>
          <p:cNvSpPr txBox="1"/>
          <p:nvPr/>
        </p:nvSpPr>
        <p:spPr>
          <a:xfrm>
            <a:off x="5284871" y="6347118"/>
            <a:ext cx="4558587" cy="41148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82880" tIns="91440" rIns="182880" bIns="91440" anchor="ctr" anchorCtr="0">
            <a:noAutofit/>
          </a:bodyPr>
          <a:lstStyle>
            <a:defPPr>
              <a:defRPr lang="LID4096"/>
            </a:defPPr>
            <a:lvl1pPr indent="0" algn="ctr">
              <a:spcAft>
                <a:spcPts val="600"/>
              </a:spcAft>
              <a:defRPr sz="2000" b="1" i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0">
              <a:defRPr sz="1100"/>
            </a:lvl2pPr>
            <a:lvl3pPr indent="0">
              <a:defRPr sz="1100"/>
            </a:lvl3pPr>
            <a:lvl4pPr indent="0">
              <a:defRPr sz="1100"/>
            </a:lvl4pPr>
            <a:lvl5pPr indent="0">
              <a:defRPr sz="1100"/>
            </a:lvl5pPr>
            <a:lvl6pPr indent="0">
              <a:defRPr sz="1100"/>
            </a:lvl6pPr>
            <a:lvl7pPr indent="0">
              <a:defRPr sz="1100"/>
            </a:lvl7pPr>
            <a:lvl8pPr indent="0">
              <a:defRPr sz="1100"/>
            </a:lvl8pPr>
            <a:lvl9pPr indent="0">
              <a:defRPr sz="1100"/>
            </a:lvl9pPr>
          </a:lstStyle>
          <a:p>
            <a:r>
              <a:rPr lang="en-US" i="0" dirty="0">
                <a:solidFill>
                  <a:srgbClr val="FF0000"/>
                </a:solidFill>
              </a:rPr>
              <a:t>FSI –</a:t>
            </a:r>
            <a:r>
              <a:rPr lang="en-US" dirty="0">
                <a:solidFill>
                  <a:srgbClr val="FF0000"/>
                </a:solidFill>
              </a:rPr>
              <a:t> Fluid</a:t>
            </a:r>
            <a:r>
              <a:rPr lang="en-US" sz="105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sz="105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Structure Interaction</a:t>
            </a:r>
            <a:endParaRPr lang="LID4096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06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FDBC5-0D39-DCF6-C148-171869708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7E9B19-0D84-CF94-540E-645A3BE54700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FBA3A-2885-455E-6E42-76550F7F35B6}"/>
              </a:ext>
            </a:extLst>
          </p:cNvPr>
          <p:cNvSpPr txBox="1"/>
          <p:nvPr/>
        </p:nvSpPr>
        <p:spPr>
          <a:xfrm>
            <a:off x="7577751" y="5200224"/>
            <a:ext cx="377227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3200" b="1" dirty="0">
                <a:solidFill>
                  <a:srgbClr val="0000FF"/>
                </a:solidFill>
              </a:rPr>
              <a:t>EXEMPLO 04: </a:t>
            </a:r>
          </a:p>
          <a:p>
            <a:pPr algn="r"/>
            <a:r>
              <a:rPr lang="pt-BR" sz="3200" b="1" dirty="0">
                <a:solidFill>
                  <a:srgbClr val="0000FF"/>
                </a:solidFill>
              </a:rPr>
              <a:t>05, 06, ...</a:t>
            </a:r>
          </a:p>
          <a:p>
            <a:pPr algn="r"/>
            <a:r>
              <a:rPr lang="en-US" sz="2400" b="1" dirty="0">
                <a:solidFill>
                  <a:srgbClr val="0000FF"/>
                </a:solidFill>
              </a:rPr>
              <a:t>Ferlauto, Chandler, Juniper</a:t>
            </a:r>
            <a:endParaRPr lang="LID4096" sz="2400" b="1" dirty="0">
              <a:solidFill>
                <a:srgbClr val="0000FF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2136740-3BA8-13F8-7186-CC93F2C63C89}"/>
              </a:ext>
            </a:extLst>
          </p:cNvPr>
          <p:cNvGrpSpPr>
            <a:grpSpLocks noChangeAspect="1"/>
          </p:cNvGrpSpPr>
          <p:nvPr/>
        </p:nvGrpSpPr>
        <p:grpSpPr>
          <a:xfrm>
            <a:off x="515668" y="409540"/>
            <a:ext cx="6452867" cy="5577255"/>
            <a:chOff x="515669" y="409540"/>
            <a:chExt cx="5948504" cy="514133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609F9A4-4CF1-9C6C-BFEE-995426D79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5669" y="409540"/>
              <a:ext cx="5948504" cy="2395925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176F2FD-A04D-5CBE-F19C-AE13225C8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5669" y="2933804"/>
              <a:ext cx="5948504" cy="2617067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8911E28-275C-5338-2F88-89F6D95FFB4B}"/>
              </a:ext>
            </a:extLst>
          </p:cNvPr>
          <p:cNvSpPr txBox="1"/>
          <p:nvPr/>
        </p:nvSpPr>
        <p:spPr>
          <a:xfrm>
            <a:off x="515668" y="6126016"/>
            <a:ext cx="69349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noProof="0" dirty="0"/>
              <a:t>Aerodynamics' Incompressible Case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6B4F86-2739-6AB9-A388-6B5AF5868DD7}"/>
              </a:ext>
            </a:extLst>
          </p:cNvPr>
          <p:cNvSpPr txBox="1"/>
          <p:nvPr/>
        </p:nvSpPr>
        <p:spPr>
          <a:xfrm>
            <a:off x="7178315" y="613373"/>
            <a:ext cx="4571148" cy="15696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pt-BR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MA ( </a:t>
            </a:r>
            <a:r>
              <a:rPr lang="pt-BR" dirty="0"/>
              <a:t>manufatura aditiva </a:t>
            </a:r>
            <a:r>
              <a:rPr lang="pt-BR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orley Old Style MT"/>
                <a:ea typeface="+mn-ea"/>
                <a:cs typeface="+mn-cs"/>
              </a:rPr>
              <a:t>FEA (</a:t>
            </a:r>
            <a:r>
              <a:rPr kumimoji="0" lang="pt-BR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Análise de Elementos Finitos </a:t>
            </a:r>
            <a:r>
              <a:rPr kumimoji="0" lang="pt-BR" sz="32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orley Old Style MT"/>
                <a:ea typeface="+mn-ea"/>
                <a:cs typeface="+mn-cs"/>
              </a:rPr>
              <a:t>) CFD ( </a:t>
            </a:r>
            <a:r>
              <a:rPr kumimoji="0" lang="pt-BR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Fluidodinâmica Computacional</a:t>
            </a:r>
            <a:r>
              <a:rPr kumimoji="0" lang="pt-BR" sz="320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orley Old Style MT"/>
                <a:ea typeface="+mn-ea"/>
                <a:cs typeface="+mn-cs"/>
              </a:rPr>
              <a:t> )</a:t>
            </a:r>
            <a:endParaRPr kumimoji="0" lang="pt-BR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orley Old Style M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A6D53D-E2CD-57B4-3778-F6206496A36C}"/>
              </a:ext>
            </a:extLst>
          </p:cNvPr>
          <p:cNvSpPr txBox="1"/>
          <p:nvPr/>
        </p:nvSpPr>
        <p:spPr>
          <a:xfrm>
            <a:off x="7484202" y="2547667"/>
            <a:ext cx="4190147" cy="70788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b="1">
                <a:latin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Velocidade de deposição</a:t>
            </a:r>
          </a:p>
          <a:p>
            <a:pPr algn="l"/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Precisão </a:t>
            </a:r>
            <a:endParaRPr lang="pt-BR" dirty="0">
              <a:latin typeface="Horley Old Style MT"/>
            </a:endParaRPr>
          </a:p>
        </p:txBody>
      </p:sp>
    </p:spTree>
    <p:extLst>
      <p:ext uri="{BB962C8B-B14F-4D97-AF65-F5344CB8AC3E}">
        <p14:creationId xmlns:p14="http://schemas.microsoft.com/office/powerpoint/2010/main" val="516251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A7468-8D66-45F1-A36F-23FAB0339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3B7B5C2-6AD7-2981-30F0-BCAD6824466D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6368D85-BB95-4ECF-B2EB-AC7639A8D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b" anchorCtr="0"/>
          <a:lstStyle/>
          <a:p>
            <a:pPr marL="0" indent="0" algn="r">
              <a:buNone/>
            </a:pPr>
            <a:r>
              <a:rPr lang="pt-BR" b="1" noProof="0" dirty="0"/>
              <a:t>Obrigado!</a:t>
            </a:r>
          </a:p>
          <a:p>
            <a:pPr marL="0" indent="0" algn="r">
              <a:buNone/>
            </a:pPr>
            <a:r>
              <a:rPr lang="pt-BR" b="1" noProof="0" dirty="0"/>
              <a:t>Rodrigo M. Grossi</a:t>
            </a:r>
            <a:endParaRPr lang="pt-BR" noProof="0" dirty="0"/>
          </a:p>
          <a:p>
            <a:pPr marL="0" indent="0" algn="r">
              <a:buNone/>
            </a:pPr>
            <a:r>
              <a:rPr lang="pt-BR" noProof="0" dirty="0">
                <a:hlinkClick r:id="rId2"/>
              </a:rPr>
              <a:t>https://grossirm.github.io/</a:t>
            </a:r>
            <a:endParaRPr lang="pt-BR" noProof="0" dirty="0"/>
          </a:p>
          <a:p>
            <a:pPr marL="0" indent="0" algn="r">
              <a:buNone/>
            </a:pPr>
            <a:r>
              <a:rPr lang="pt-BR" noProof="0" dirty="0">
                <a:hlinkClick r:id="rId3"/>
              </a:rPr>
              <a:t>https://betami2022.wixsite.com/betami</a:t>
            </a:r>
            <a:endParaRPr lang="pt-BR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131939-D3B9-06BB-EBCB-8E0A48930252}"/>
              </a:ext>
            </a:extLst>
          </p:cNvPr>
          <p:cNvSpPr txBox="1"/>
          <p:nvPr/>
        </p:nvSpPr>
        <p:spPr>
          <a:xfrm>
            <a:off x="2057399" y="1054456"/>
            <a:ext cx="9391651" cy="3210936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LID4096"/>
            </a:defPPr>
            <a:lvl1pPr>
              <a:defRPr sz="600"/>
            </a:lvl1pPr>
          </a:lstStyle>
          <a:p>
            <a:pPr algn="r"/>
            <a:r>
              <a:rPr lang="LID4096" sz="1500" dirty="0">
                <a:hlinkClick r:id="rId4"/>
              </a:rPr>
              <a:t>https://www.linkedin.com/pulse/mf-pest-trough-despair-isto-mesmo-o-cocho-do-rodrigo-m-grossi-spzuf/</a:t>
            </a:r>
            <a:endParaRPr lang="pt-BR" sz="1500" dirty="0"/>
          </a:p>
          <a:p>
            <a:pPr algn="r"/>
            <a:endParaRPr lang="pt-BR" sz="1500" dirty="0"/>
          </a:p>
          <a:p>
            <a:pPr algn="r"/>
            <a:r>
              <a:rPr lang="LID4096" sz="1500" dirty="0">
                <a:hlinkClick r:id="rId5"/>
              </a:rPr>
              <a:t>https://www.linkedin.com/pulse/pest-mode-rodrigo-m-grossi-ccyvf/?trackingId=N1AH7NyIQZy3zF30RhEUlA%3D%3D</a:t>
            </a:r>
            <a:endParaRPr lang="pt-BR" sz="1500" dirty="0"/>
          </a:p>
          <a:p>
            <a:pPr algn="r"/>
            <a:endParaRPr lang="pt-BR" sz="1500" dirty="0"/>
          </a:p>
          <a:p>
            <a:pPr algn="r"/>
            <a:r>
              <a:rPr lang="en-US" sz="1500" dirty="0">
                <a:hlinkClick r:id="rId6"/>
              </a:rPr>
              <a:t>https://www.linkedin.com/feed/update/urn:li:activity:7288190650825531392/</a:t>
            </a:r>
            <a:endParaRPr lang="en-US" sz="1500" dirty="0"/>
          </a:p>
          <a:p>
            <a:pPr algn="r"/>
            <a:endParaRPr lang="LID4096" sz="1500" dirty="0"/>
          </a:p>
          <a:p>
            <a:pPr algn="r"/>
            <a:endParaRPr lang="pt-BR" sz="1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9D915-18A2-070C-34F5-80B3D547B1A9}"/>
              </a:ext>
            </a:extLst>
          </p:cNvPr>
          <p:cNvSpPr txBox="1">
            <a:spLocks/>
          </p:cNvSpPr>
          <p:nvPr/>
        </p:nvSpPr>
        <p:spPr>
          <a:xfrm>
            <a:off x="1052511" y="444501"/>
            <a:ext cx="2009775" cy="93662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050" b="1" dirty="0"/>
              <a:t>Função objetivo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050" b="1" dirty="0"/>
              <a:t>Matriz de covariâncias espaciais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050" b="1" dirty="0"/>
              <a:t>SVD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2546917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3ADC1-DAF1-7010-4C8E-FFB96C026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D3227CA-AA2F-94BF-8C16-9B55A9216B85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A9D1504-CB38-7181-302E-20BEFEAAF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16" y="584775"/>
            <a:ext cx="6953840" cy="5317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F72D66CB-F564-7657-9622-808F00006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528" y="3493970"/>
            <a:ext cx="3876085" cy="3244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2981D78-9E26-CC4F-836A-404D8ADFD7ED}"/>
              </a:ext>
            </a:extLst>
          </p:cNvPr>
          <p:cNvSpPr txBox="1"/>
          <p:nvPr/>
        </p:nvSpPr>
        <p:spPr>
          <a:xfrm>
            <a:off x="8051527" y="249905"/>
            <a:ext cx="3876085" cy="2477601"/>
          </a:xfrm>
          <a:prstGeom prst="rect">
            <a:avLst/>
          </a:prstGeom>
          <a:solidFill>
            <a:srgbClr val="9FE6FF"/>
          </a:solidFill>
        </p:spPr>
        <p:txBody>
          <a:bodyPr wrap="square">
            <a:spAutoFit/>
          </a:bodyPr>
          <a:lstStyle/>
          <a:p>
            <a:r>
              <a:rPr lang="LID4096" sz="2800" b="1" dirty="0">
                <a:solidFill>
                  <a:srgbClr val="0000FF"/>
                </a:solidFill>
                <a:hlinkClick r:id="rId4"/>
              </a:rPr>
              <a:t>https://grab</a:t>
            </a:r>
            <a:r>
              <a:rPr lang="LID4096" sz="2800" b="1" u="sng" dirty="0">
                <a:solidFill>
                  <a:srgbClr val="0000FF"/>
                </a:solidFill>
                <a:hlinkClick r:id="rId4"/>
              </a:rPr>
              <a:t>cad</a:t>
            </a:r>
            <a:r>
              <a:rPr lang="LID4096" sz="2800" b="1" dirty="0">
                <a:solidFill>
                  <a:srgbClr val="0000FF"/>
                </a:solidFill>
                <a:hlinkClick r:id="rId4"/>
              </a:rPr>
              <a:t>.com/</a:t>
            </a:r>
            <a:r>
              <a:rPr lang="LID4096" sz="2800" b="1" u="sng" dirty="0">
                <a:solidFill>
                  <a:srgbClr val="0000FF"/>
                </a:solidFill>
                <a:hlinkClick r:id="rId4"/>
              </a:rPr>
              <a:t>library</a:t>
            </a:r>
            <a:r>
              <a:rPr lang="LID4096" sz="2800" b="1" dirty="0">
                <a:solidFill>
                  <a:srgbClr val="0000FF"/>
                </a:solidFill>
                <a:hlinkClick r:id="rId4"/>
              </a:rPr>
              <a:t>/</a:t>
            </a:r>
            <a:r>
              <a:rPr lang="LID4096" sz="2800" dirty="0">
                <a:hlinkClick r:id="rId4"/>
              </a:rPr>
              <a:t>ge-jet-engine-bracket-challenge-1</a:t>
            </a:r>
            <a:endParaRPr lang="pt-BR" sz="2800" dirty="0"/>
          </a:p>
          <a:p>
            <a:endParaRPr lang="en-US" sz="800" dirty="0">
              <a:hlinkClick r:id="rId5"/>
            </a:endParaRPr>
          </a:p>
          <a:p>
            <a:r>
              <a:rPr lang="pt-BR" sz="2000" b="1" dirty="0"/>
              <a:t>Igor &amp; Prof. Guilherme UNIFEI</a:t>
            </a:r>
          </a:p>
          <a:p>
            <a:r>
              <a:rPr lang="en-US" sz="1200" dirty="0">
                <a:hlinkClick r:id="rId5"/>
              </a:rPr>
              <a:t>https://www.tandfonline.com/doi/full/10.1080/15376494.2026.2692514</a:t>
            </a:r>
            <a:endParaRPr lang="en-US" sz="1200" dirty="0"/>
          </a:p>
          <a:p>
            <a:endParaRPr lang="en-US" sz="600" dirty="0"/>
          </a:p>
          <a:p>
            <a:r>
              <a:rPr lang="en-US" sz="700" dirty="0"/>
              <a:t>E:\15_REPOS\09_CFD__Off\PDF_08_Linkedin\e02_PDF_09_Guilherme__IGOR__Rhuan</a:t>
            </a:r>
            <a:endParaRPr lang="LID4096" sz="7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0E47FE-B5F0-18D5-054E-96B10BAFA697}"/>
              </a:ext>
            </a:extLst>
          </p:cNvPr>
          <p:cNvSpPr txBox="1"/>
          <p:nvPr/>
        </p:nvSpPr>
        <p:spPr>
          <a:xfrm>
            <a:off x="246705" y="6007095"/>
            <a:ext cx="7385366" cy="6155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800" b="1" i="0" u="none" strike="noStrike" baseline="0" dirty="0">
                <a:solidFill>
                  <a:srgbClr val="000000"/>
                </a:solidFill>
                <a:latin typeface="Noto Sans" panose="020B0502040204020203" pitchFamily="34" charset="0"/>
              </a:rPr>
              <a:t>Hybridization of generative design and TPMS lattices: </a:t>
            </a:r>
            <a:r>
              <a:rPr lang="en-GB" sz="1600" b="1" i="0" u="none" strike="noStrike" baseline="0" dirty="0">
                <a:solidFill>
                  <a:srgbClr val="000000"/>
                </a:solidFill>
                <a:latin typeface="Noto Sans" panose="020B0502040204020203" pitchFamily="34" charset="0"/>
              </a:rPr>
              <a:t>A statistical approach for </a:t>
            </a:r>
            <a:r>
              <a:rPr lang="en-GB" sz="1600" b="1" i="0" u="none" strike="noStrike" baseline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204020203" pitchFamily="34" charset="0"/>
              </a:rPr>
              <a:t>lightweight aeronautical components - IGOR</a:t>
            </a:r>
            <a:endParaRPr lang="LID4096" sz="1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5406CA-71BB-0A90-2649-553DBB7982B0}"/>
              </a:ext>
            </a:extLst>
          </p:cNvPr>
          <p:cNvSpPr txBox="1"/>
          <p:nvPr/>
        </p:nvSpPr>
        <p:spPr>
          <a:xfrm>
            <a:off x="8051527" y="2880629"/>
            <a:ext cx="3876085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t-BR" sz="2800" b="1" i="0" u="none" strike="noStrike" baseline="0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204020203" pitchFamily="34" charset="0"/>
              </a:rPr>
              <a:t>Suporte do motor </a:t>
            </a:r>
            <a:endParaRPr lang="pt-BR" sz="2800" noProof="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CB887C-1CFD-1760-757B-4055AD4D184E}"/>
              </a:ext>
            </a:extLst>
          </p:cNvPr>
          <p:cNvSpPr txBox="1"/>
          <p:nvPr/>
        </p:nvSpPr>
        <p:spPr>
          <a:xfrm>
            <a:off x="477816" y="35860"/>
            <a:ext cx="72447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0000FF"/>
                </a:solidFill>
              </a:rPr>
              <a:t>EXEMPLO 01: Teste com carregamentos</a:t>
            </a:r>
            <a:endParaRPr lang="LID4096" sz="3200" b="1" dirty="0">
              <a:solidFill>
                <a:srgbClr val="0000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6E63B2-41AC-57A1-53B3-AE3D1A6F7716}"/>
              </a:ext>
            </a:extLst>
          </p:cNvPr>
          <p:cNvSpPr txBox="1"/>
          <p:nvPr/>
        </p:nvSpPr>
        <p:spPr>
          <a:xfrm>
            <a:off x="4792543" y="3355258"/>
            <a:ext cx="20155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u="sng" dirty="0">
                <a:solidFill>
                  <a:srgbClr val="0000FF"/>
                </a:solidFill>
              </a:rPr>
              <a:t>Torque</a:t>
            </a:r>
            <a:endParaRPr lang="LID4096" sz="3200" b="1" u="sng" dirty="0">
              <a:solidFill>
                <a:srgbClr val="0000FF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64F674EC-9D97-86A2-9773-EE4272AE4BD1}"/>
              </a:ext>
            </a:extLst>
          </p:cNvPr>
          <p:cNvSpPr/>
          <p:nvPr/>
        </p:nvSpPr>
        <p:spPr>
          <a:xfrm rot="10800000">
            <a:off x="3036585" y="782493"/>
            <a:ext cx="468613" cy="360161"/>
          </a:xfrm>
          <a:prstGeom prst="downArrow">
            <a:avLst/>
          </a:prstGeom>
          <a:solidFill>
            <a:srgbClr val="0000FF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723BA99-B859-D5F3-D5FD-794AC997ABEB}"/>
              </a:ext>
            </a:extLst>
          </p:cNvPr>
          <p:cNvSpPr/>
          <p:nvPr/>
        </p:nvSpPr>
        <p:spPr>
          <a:xfrm rot="16200000">
            <a:off x="6783562" y="1025764"/>
            <a:ext cx="468613" cy="360161"/>
          </a:xfrm>
          <a:prstGeom prst="downArrow">
            <a:avLst/>
          </a:prstGeom>
          <a:solidFill>
            <a:srgbClr val="0000FF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6F3193E1-4CCC-FD29-5F86-7986BD0EA0D4}"/>
              </a:ext>
            </a:extLst>
          </p:cNvPr>
          <p:cNvSpPr/>
          <p:nvPr/>
        </p:nvSpPr>
        <p:spPr>
          <a:xfrm rot="14327163">
            <a:off x="3429644" y="2372368"/>
            <a:ext cx="468613" cy="360161"/>
          </a:xfrm>
          <a:prstGeom prst="downArrow">
            <a:avLst/>
          </a:prstGeom>
          <a:solidFill>
            <a:srgbClr val="0000FF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0" name="Arrow: Curved Up 19">
            <a:extLst>
              <a:ext uri="{FF2B5EF4-FFF2-40B4-BE49-F238E27FC236}">
                <a16:creationId xmlns:a16="http://schemas.microsoft.com/office/drawing/2014/main" id="{2760A3CC-6A1E-D8A7-34A9-986ADEF3E04F}"/>
              </a:ext>
            </a:extLst>
          </p:cNvPr>
          <p:cNvSpPr/>
          <p:nvPr/>
        </p:nvSpPr>
        <p:spPr>
          <a:xfrm flipV="1">
            <a:off x="6087035" y="2133600"/>
            <a:ext cx="936242" cy="340655"/>
          </a:xfrm>
          <a:prstGeom prst="curvedUpArrow">
            <a:avLst>
              <a:gd name="adj1" fmla="val 25000"/>
              <a:gd name="adj2" fmla="val 87920"/>
              <a:gd name="adj3" fmla="val 41474"/>
            </a:avLst>
          </a:prstGeom>
          <a:solidFill>
            <a:srgbClr val="0000FF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1964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E7C12FC-0D26-F79A-EA54-2CAAB702CEB9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1D4DDA-B14E-9657-D395-8CCA24F981A2}"/>
              </a:ext>
            </a:extLst>
          </p:cNvPr>
          <p:cNvSpPr txBox="1"/>
          <p:nvPr/>
        </p:nvSpPr>
        <p:spPr>
          <a:xfrm>
            <a:off x="291739" y="2883897"/>
            <a:ext cx="58042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u="sng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nion Pro"/>
              </a:rPr>
              <a:t>Geometry and boundary conditions </a:t>
            </a:r>
            <a:endParaRPr lang="LID4096" sz="2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40E6FF-25FB-7A46-D0F6-38AC88491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51" y="216395"/>
            <a:ext cx="5804261" cy="25694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F52166-EB40-5D3E-2EF1-6BF71EE23B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51" y="4129212"/>
            <a:ext cx="7858125" cy="26765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901051D-F93D-E107-EDE0-10299657BF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174" y="189056"/>
            <a:ext cx="4962358" cy="359341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C1A9654-E048-6A66-6035-674D8FB5706F}"/>
              </a:ext>
            </a:extLst>
          </p:cNvPr>
          <p:cNvSpPr txBox="1"/>
          <p:nvPr/>
        </p:nvSpPr>
        <p:spPr>
          <a:xfrm>
            <a:off x="230252" y="3496284"/>
            <a:ext cx="8170798" cy="565803"/>
          </a:xfrm>
          <a:prstGeom prst="rect">
            <a:avLst/>
          </a:prstGeom>
          <a:solidFill>
            <a:schemeClr val="bg1"/>
          </a:solidFill>
        </p:spPr>
        <p:txBody>
          <a:bodyPr wrap="square" anchor="ctr" anchorCtr="0">
            <a:no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Minion Pro"/>
              </a:rPr>
              <a:t>Relative Density (</a:t>
            </a:r>
            <a:r>
              <a:rPr lang="el-GR" sz="2400" b="0" i="0" u="none" strike="noStrike" baseline="0" dirty="0">
                <a:solidFill>
                  <a:srgbClr val="000000"/>
                </a:solidFill>
                <a:latin typeface="Math Pack Ten"/>
              </a:rPr>
              <a:t>ρ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inion Pro"/>
              </a:rPr>
              <a:t>), </a:t>
            </a:r>
            <a:r>
              <a:rPr lang="en-GB" sz="2400" dirty="0"/>
              <a:t>Elastic Modulus (</a:t>
            </a:r>
            <a:r>
              <a:rPr lang="en-GB" sz="2400" i="1" dirty="0"/>
              <a:t>E*) and Yield Strength (</a:t>
            </a:r>
            <a:r>
              <a:rPr lang="el-GR" sz="2400" dirty="0">
                <a:solidFill>
                  <a:srgbClr val="000000"/>
                </a:solidFill>
                <a:latin typeface="Math Pack Ten"/>
              </a:rPr>
              <a:t>σ</a:t>
            </a:r>
            <a:r>
              <a:rPr lang="en-GB" sz="2400" dirty="0"/>
              <a:t>) </a:t>
            </a:r>
            <a:endParaRPr lang="LID4096" sz="2400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652FCA56-5C2B-53E9-F0CB-1D51077E3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528" y="3493970"/>
            <a:ext cx="3876085" cy="3244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67B885-4A4F-836A-97DF-EE08CA0B9C2B}"/>
              </a:ext>
            </a:extLst>
          </p:cNvPr>
          <p:cNvSpPr txBox="1"/>
          <p:nvPr/>
        </p:nvSpPr>
        <p:spPr>
          <a:xfrm>
            <a:off x="8200172" y="5834984"/>
            <a:ext cx="129691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t-BR" sz="3600" b="1" i="0" u="none" strike="noStrike" baseline="0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204020203" pitchFamily="34" charset="0"/>
              </a:rPr>
              <a:t>CAD</a:t>
            </a:r>
            <a:endParaRPr lang="pt-BR" sz="3600" noProof="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2FD5D7-FC83-5959-D00C-AFEFD4D08DC4}"/>
              </a:ext>
            </a:extLst>
          </p:cNvPr>
          <p:cNvSpPr/>
          <p:nvPr/>
        </p:nvSpPr>
        <p:spPr>
          <a:xfrm>
            <a:off x="11830049" y="189057"/>
            <a:ext cx="209359" cy="6616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F3B113-DB36-2ABE-839C-A6A807991B71}"/>
              </a:ext>
            </a:extLst>
          </p:cNvPr>
          <p:cNvSpPr/>
          <p:nvPr/>
        </p:nvSpPr>
        <p:spPr>
          <a:xfrm>
            <a:off x="7327230" y="6668943"/>
            <a:ext cx="4600383" cy="136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52506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CF544AF-275D-EF53-9604-37D2A805A26C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C965AC-622D-8BB0-878C-852888A4E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9078" y="4076467"/>
            <a:ext cx="7880771" cy="26388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F45CE7-F589-DB57-3D4C-78FD44FF2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49850" y="3510480"/>
            <a:ext cx="3938997" cy="3200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A9A8790-D097-4A7B-F762-9B0C10E8CA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49851" y="115381"/>
            <a:ext cx="3938996" cy="3200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6B30632-AC61-C815-1E9C-831AAED9BAD4}"/>
              </a:ext>
            </a:extLst>
          </p:cNvPr>
          <p:cNvSpPr txBox="1"/>
          <p:nvPr/>
        </p:nvSpPr>
        <p:spPr>
          <a:xfrm>
            <a:off x="4539850" y="245406"/>
            <a:ext cx="3544832" cy="38933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2300" b="0" i="0" u="none" strike="noStrike" baseline="0" dirty="0">
                <a:solidFill>
                  <a:srgbClr val="000000"/>
                </a:solidFill>
                <a:latin typeface="Minion Pro"/>
              </a:rPr>
              <a:t>Unlike </a:t>
            </a:r>
            <a:r>
              <a:rPr lang="en-GB" sz="2300" b="1" i="0" u="sng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nion Pro"/>
              </a:rPr>
              <a:t>solid material</a:t>
            </a:r>
            <a:r>
              <a:rPr lang="en-GB" sz="2300" b="0" i="0" u="none" strike="noStrike" baseline="0" dirty="0">
                <a:solidFill>
                  <a:srgbClr val="000000"/>
                </a:solidFill>
                <a:latin typeface="Minion Pro"/>
              </a:rPr>
              <a:t>, where stresses tend to accumulate on external surfaces,</a:t>
            </a:r>
          </a:p>
          <a:p>
            <a:r>
              <a:rPr lang="en-GB" sz="2300" dirty="0">
                <a:solidFill>
                  <a:srgbClr val="000000"/>
                </a:solidFill>
                <a:latin typeface="Minion Pro"/>
              </a:rPr>
              <a:t>..</a:t>
            </a:r>
            <a:endParaRPr lang="en-GB" sz="2300" b="0" i="0" u="none" strike="noStrike" baseline="0" dirty="0">
              <a:solidFill>
                <a:srgbClr val="000000"/>
              </a:solidFill>
              <a:latin typeface="Minion Pro"/>
            </a:endParaRPr>
          </a:p>
          <a:p>
            <a:r>
              <a:rPr lang="en-GB" sz="2300" dirty="0">
                <a:solidFill>
                  <a:srgbClr val="000000"/>
                </a:solidFill>
                <a:latin typeface="Minion Pro"/>
              </a:rPr>
              <a:t>..</a:t>
            </a:r>
            <a:r>
              <a:rPr lang="en-GB" sz="2300" b="0" i="0" u="none" strike="noStrike" baseline="0" dirty="0">
                <a:solidFill>
                  <a:srgbClr val="000000"/>
                </a:solidFill>
                <a:latin typeface="Minion Pro"/>
              </a:rPr>
              <a:t> </a:t>
            </a:r>
            <a:r>
              <a:rPr lang="en-GB" sz="2300" b="1" i="0" u="sng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nion Pro"/>
              </a:rPr>
              <a:t>cellular filling </a:t>
            </a:r>
            <a:r>
              <a:rPr lang="en-GB" sz="2200" b="0" i="0" u="none" strike="noStrike" baseline="0" dirty="0">
                <a:solidFill>
                  <a:srgbClr val="000000"/>
                </a:solidFill>
                <a:latin typeface="Minion Pro"/>
              </a:rPr>
              <a:t>allows load flow to permeate the internal volume of the part, relieving the overload on the external shell and slightly raising the safety margin of the final component.</a:t>
            </a:r>
            <a:endParaRPr lang="LID4096" sz="2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AD9EB7-37D5-480E-8F71-71673D7AD0F8}"/>
              </a:ext>
            </a:extLst>
          </p:cNvPr>
          <p:cNvSpPr txBox="1"/>
          <p:nvPr/>
        </p:nvSpPr>
        <p:spPr>
          <a:xfrm>
            <a:off x="220407" y="2871953"/>
            <a:ext cx="3889056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i="0" u="none" strike="noStrike" baseline="0" dirty="0">
                <a:solidFill>
                  <a:srgbClr val="000000"/>
                </a:solidFill>
                <a:latin typeface="Minion Pro"/>
              </a:rPr>
              <a:t>AM - (AlSi</a:t>
            </a:r>
            <a:r>
              <a:rPr lang="en-US" sz="2100" i="0" u="none" strike="noStrike" baseline="-25000" dirty="0">
                <a:solidFill>
                  <a:srgbClr val="000000"/>
                </a:solidFill>
                <a:latin typeface="Minion Pro"/>
              </a:rPr>
              <a:t>10</a:t>
            </a:r>
            <a:r>
              <a:rPr lang="en-US" sz="2100" i="0" u="none" strike="noStrike" baseline="0" dirty="0">
                <a:solidFill>
                  <a:srgbClr val="000000"/>
                </a:solidFill>
                <a:latin typeface="Minion Pro"/>
              </a:rPr>
              <a:t>Mg) - </a:t>
            </a:r>
            <a:r>
              <a:rPr lang="en-US" sz="2100" dirty="0"/>
              <a:t>Ti</a:t>
            </a:r>
            <a:r>
              <a:rPr lang="en-US" sz="2100" baseline="-25000" dirty="0"/>
              <a:t>6</a:t>
            </a:r>
            <a:r>
              <a:rPr lang="en-US" sz="2100" dirty="0"/>
              <a:t>Al</a:t>
            </a:r>
            <a:r>
              <a:rPr lang="en-US" sz="2100" baseline="-25000" dirty="0"/>
              <a:t>4</a:t>
            </a:r>
            <a:r>
              <a:rPr lang="en-US" sz="2100" dirty="0"/>
              <a:t>V</a:t>
            </a:r>
          </a:p>
          <a:p>
            <a:r>
              <a:rPr lang="en-GB" sz="2100" b="1" u="sng" dirty="0"/>
              <a:t>Laser Powder Bed Fusion (L-PBF) </a:t>
            </a:r>
            <a:r>
              <a:rPr lang="en-GB" sz="2100" dirty="0"/>
              <a:t>manufacturing method. </a:t>
            </a:r>
            <a:r>
              <a:rPr lang="en-US" sz="2100" dirty="0"/>
              <a:t> </a:t>
            </a:r>
            <a:endParaRPr lang="LID4096" sz="2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3EA446-DEC4-9199-9CC7-E2F24C1563D9}"/>
              </a:ext>
            </a:extLst>
          </p:cNvPr>
          <p:cNvSpPr txBox="1"/>
          <p:nvPr/>
        </p:nvSpPr>
        <p:spPr>
          <a:xfrm>
            <a:off x="8229596" y="3199806"/>
            <a:ext cx="26746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0000FF"/>
                </a:solidFill>
              </a:rPr>
              <a:t>Resultados</a:t>
            </a:r>
            <a:endParaRPr lang="LID4096" sz="3200" b="1" dirty="0">
              <a:solidFill>
                <a:srgbClr val="0000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BD5775-F3C4-B261-17D4-B01B7B1E0095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8220" y="323849"/>
            <a:ext cx="1828800" cy="19406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7EF4A2-7C02-56B4-15D1-5AE890F653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0663" y="323849"/>
            <a:ext cx="1828800" cy="194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308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860</Words>
  <Application>Microsoft Office PowerPoint</Application>
  <PresentationFormat>Widescreen</PresentationFormat>
  <Paragraphs>184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Arial</vt:lpstr>
      <vt:lpstr>Calibri</vt:lpstr>
      <vt:lpstr>Calibri (Body)</vt:lpstr>
      <vt:lpstr>Calibri Light</vt:lpstr>
      <vt:lpstr>Cambria Math</vt:lpstr>
      <vt:lpstr>Horley Old Style MT</vt:lpstr>
      <vt:lpstr>LMRoman12-Regular</vt:lpstr>
      <vt:lpstr>Math Pack Ten</vt:lpstr>
      <vt:lpstr>Minion Pro</vt:lpstr>
      <vt:lpstr>MyriadPro-BoldCond</vt:lpstr>
      <vt:lpstr>Noto Sans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102</cp:revision>
  <dcterms:created xsi:type="dcterms:W3CDTF">2026-08-13T17:32:53Z</dcterms:created>
  <dcterms:modified xsi:type="dcterms:W3CDTF">2026-08-21T12:58:57Z</dcterms:modified>
</cp:coreProperties>
</file>