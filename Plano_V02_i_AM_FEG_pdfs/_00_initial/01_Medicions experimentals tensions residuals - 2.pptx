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6" r:id="rId3"/>
    <p:sldId id="267" r:id="rId4"/>
    <p:sldId id="256" r:id="rId5"/>
    <p:sldId id="258" r:id="rId6"/>
    <p:sldId id="260" r:id="rId7"/>
    <p:sldId id="261" r:id="rId8"/>
    <p:sldId id="268" r:id="rId9"/>
    <p:sldId id="269" r:id="rId10"/>
    <p:sldId id="271" r:id="rId11"/>
    <p:sldId id="270" r:id="rId12"/>
    <p:sldId id="272" r:id="rId13"/>
    <p:sldId id="273" r:id="rId14"/>
    <p:sldId id="274" r:id="rId15"/>
    <p:sldId id="276" r:id="rId16"/>
    <p:sldId id="277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7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7BCBA9-3FA7-4FD2-9400-501DE853B055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3D10C5-DAD2-4B14-BA93-64A30CCE3A59}">
      <dgm:prSet phldrT="[Text]"/>
      <dgm:spPr/>
      <dgm:t>
        <a:bodyPr/>
        <a:lstStyle/>
        <a:p>
          <a:r>
            <a:rPr lang="ca-ES" dirty="0"/>
            <a:t>AM (L-DED)</a:t>
          </a:r>
          <a:endParaRPr lang="en-US" dirty="0"/>
        </a:p>
      </dgm:t>
    </dgm:pt>
    <dgm:pt modelId="{ED37C63B-2443-4F6E-A759-6376CDFFB8F2}" type="parTrans" cxnId="{A4A07254-2EA2-4537-8292-2CE0D1667E3A}">
      <dgm:prSet/>
      <dgm:spPr/>
      <dgm:t>
        <a:bodyPr/>
        <a:lstStyle/>
        <a:p>
          <a:endParaRPr lang="en-US"/>
        </a:p>
      </dgm:t>
    </dgm:pt>
    <dgm:pt modelId="{F1988F00-F901-4E19-8AD8-36441288A7A4}" type="sibTrans" cxnId="{A4A07254-2EA2-4537-8292-2CE0D1667E3A}">
      <dgm:prSet/>
      <dgm:spPr/>
      <dgm:t>
        <a:bodyPr/>
        <a:lstStyle/>
        <a:p>
          <a:endParaRPr lang="en-US"/>
        </a:p>
      </dgm:t>
    </dgm:pt>
    <dgm:pt modelId="{4D661765-0857-4229-97DE-752C49997456}">
      <dgm:prSet phldrT="[Text]"/>
      <dgm:spPr/>
      <dgm:t>
        <a:bodyPr/>
        <a:lstStyle/>
        <a:p>
          <a:r>
            <a:rPr lang="en-US" noProof="0" dirty="0"/>
            <a:t>Numerical simulation of RS</a:t>
          </a:r>
        </a:p>
      </dgm:t>
    </dgm:pt>
    <dgm:pt modelId="{2A618243-1A71-4E78-A3CF-F061DDC509D6}" type="parTrans" cxnId="{B4E453AF-B4CB-420D-9F4C-145E614A703F}">
      <dgm:prSet/>
      <dgm:spPr/>
      <dgm:t>
        <a:bodyPr/>
        <a:lstStyle/>
        <a:p>
          <a:endParaRPr lang="en-US"/>
        </a:p>
      </dgm:t>
    </dgm:pt>
    <dgm:pt modelId="{D38B84BC-6085-4D96-ABD7-7FB83400287E}" type="sibTrans" cxnId="{B4E453AF-B4CB-420D-9F4C-145E614A703F}">
      <dgm:prSet/>
      <dgm:spPr/>
      <dgm:t>
        <a:bodyPr/>
        <a:lstStyle/>
        <a:p>
          <a:endParaRPr lang="en-US"/>
        </a:p>
      </dgm:t>
    </dgm:pt>
    <dgm:pt modelId="{38165909-67A4-495F-9FDB-E9F528AED259}">
      <dgm:prSet phldrT="[Text]"/>
      <dgm:spPr/>
      <dgm:t>
        <a:bodyPr/>
        <a:lstStyle/>
        <a:p>
          <a:r>
            <a:rPr lang="en-US" noProof="0" dirty="0"/>
            <a:t>Experimental RS measurements (P61A)</a:t>
          </a:r>
        </a:p>
      </dgm:t>
    </dgm:pt>
    <dgm:pt modelId="{8C06DEF9-9896-40F4-AB46-C795947D363A}" type="parTrans" cxnId="{8AF0D225-37E9-45A1-B0DA-E285C7CA8259}">
      <dgm:prSet/>
      <dgm:spPr/>
      <dgm:t>
        <a:bodyPr/>
        <a:lstStyle/>
        <a:p>
          <a:endParaRPr lang="en-US"/>
        </a:p>
      </dgm:t>
    </dgm:pt>
    <dgm:pt modelId="{0CEC47FA-D04A-4458-B546-AE452CDADC1D}" type="sibTrans" cxnId="{8AF0D225-37E9-45A1-B0DA-E285C7CA8259}">
      <dgm:prSet/>
      <dgm:spPr/>
      <dgm:t>
        <a:bodyPr/>
        <a:lstStyle/>
        <a:p>
          <a:endParaRPr lang="en-US"/>
        </a:p>
      </dgm:t>
    </dgm:pt>
    <dgm:pt modelId="{5FDF676F-D317-4DF1-9BE3-A5B06A6798AF}" type="pres">
      <dgm:prSet presAssocID="{237BCBA9-3FA7-4FD2-9400-501DE853B055}" presName="Name0" presStyleCnt="0">
        <dgm:presLayoutVars>
          <dgm:dir/>
          <dgm:resizeHandles val="exact"/>
        </dgm:presLayoutVars>
      </dgm:prSet>
      <dgm:spPr/>
    </dgm:pt>
    <dgm:pt modelId="{AC158500-ABCD-4522-A8D2-28EB49EC5DC2}" type="pres">
      <dgm:prSet presAssocID="{613D10C5-DAD2-4B14-BA93-64A30CCE3A59}" presName="node" presStyleLbl="node1" presStyleIdx="0" presStyleCnt="3">
        <dgm:presLayoutVars>
          <dgm:bulletEnabled val="1"/>
        </dgm:presLayoutVars>
      </dgm:prSet>
      <dgm:spPr/>
    </dgm:pt>
    <dgm:pt modelId="{A560ECB0-F831-410B-AC9A-6193D88CD513}" type="pres">
      <dgm:prSet presAssocID="{F1988F00-F901-4E19-8AD8-36441288A7A4}" presName="sibTrans" presStyleLbl="sibTrans2D1" presStyleIdx="0" presStyleCnt="3"/>
      <dgm:spPr/>
    </dgm:pt>
    <dgm:pt modelId="{B217BCDD-EB66-4EAB-BBC7-17C7428BDC98}" type="pres">
      <dgm:prSet presAssocID="{F1988F00-F901-4E19-8AD8-36441288A7A4}" presName="connectorText" presStyleLbl="sibTrans2D1" presStyleIdx="0" presStyleCnt="3"/>
      <dgm:spPr/>
    </dgm:pt>
    <dgm:pt modelId="{8B02834F-A6BC-44D6-BE84-FB9BE6A23C39}" type="pres">
      <dgm:prSet presAssocID="{4D661765-0857-4229-97DE-752C49997456}" presName="node" presStyleLbl="node1" presStyleIdx="1" presStyleCnt="3" custRadScaleRad="87174" custRadScaleInc="-23877">
        <dgm:presLayoutVars>
          <dgm:bulletEnabled val="1"/>
        </dgm:presLayoutVars>
      </dgm:prSet>
      <dgm:spPr/>
    </dgm:pt>
    <dgm:pt modelId="{4BB6DD8C-B902-407A-A9D5-42B03C199089}" type="pres">
      <dgm:prSet presAssocID="{D38B84BC-6085-4D96-ABD7-7FB83400287E}" presName="sibTrans" presStyleLbl="sibTrans2D1" presStyleIdx="1" presStyleCnt="3"/>
      <dgm:spPr/>
    </dgm:pt>
    <dgm:pt modelId="{D56A647B-BFC2-453F-9857-5A552B26109A}" type="pres">
      <dgm:prSet presAssocID="{D38B84BC-6085-4D96-ABD7-7FB83400287E}" presName="connectorText" presStyleLbl="sibTrans2D1" presStyleIdx="1" presStyleCnt="3"/>
      <dgm:spPr/>
    </dgm:pt>
    <dgm:pt modelId="{5C3B6CD4-197F-4BA3-978D-81F22A47CBFE}" type="pres">
      <dgm:prSet presAssocID="{38165909-67A4-495F-9FDB-E9F528AED259}" presName="node" presStyleLbl="node1" presStyleIdx="2" presStyleCnt="3" custRadScaleRad="69402" custRadScaleInc="16938">
        <dgm:presLayoutVars>
          <dgm:bulletEnabled val="1"/>
        </dgm:presLayoutVars>
      </dgm:prSet>
      <dgm:spPr/>
    </dgm:pt>
    <dgm:pt modelId="{03D92508-9364-4B81-B1A2-8BF949CE5F5C}" type="pres">
      <dgm:prSet presAssocID="{0CEC47FA-D04A-4458-B546-AE452CDADC1D}" presName="sibTrans" presStyleLbl="sibTrans2D1" presStyleIdx="2" presStyleCnt="3"/>
      <dgm:spPr/>
    </dgm:pt>
    <dgm:pt modelId="{B3EA7FF7-9CE7-49BE-A6A2-EC73D1588766}" type="pres">
      <dgm:prSet presAssocID="{0CEC47FA-D04A-4458-B546-AE452CDADC1D}" presName="connectorText" presStyleLbl="sibTrans2D1" presStyleIdx="2" presStyleCnt="3"/>
      <dgm:spPr/>
    </dgm:pt>
  </dgm:ptLst>
  <dgm:cxnLst>
    <dgm:cxn modelId="{0438A114-F384-4CBF-8855-B369A22B9DE8}" type="presOf" srcId="{0CEC47FA-D04A-4458-B546-AE452CDADC1D}" destId="{03D92508-9364-4B81-B1A2-8BF949CE5F5C}" srcOrd="0" destOrd="0" presId="urn:microsoft.com/office/officeart/2005/8/layout/cycle7"/>
    <dgm:cxn modelId="{35D4F519-74E8-49C5-BB72-1513DE7817FE}" type="presOf" srcId="{F1988F00-F901-4E19-8AD8-36441288A7A4}" destId="{B217BCDD-EB66-4EAB-BBC7-17C7428BDC98}" srcOrd="1" destOrd="0" presId="urn:microsoft.com/office/officeart/2005/8/layout/cycle7"/>
    <dgm:cxn modelId="{8AF0D225-37E9-45A1-B0DA-E285C7CA8259}" srcId="{237BCBA9-3FA7-4FD2-9400-501DE853B055}" destId="{38165909-67A4-495F-9FDB-E9F528AED259}" srcOrd="2" destOrd="0" parTransId="{8C06DEF9-9896-40F4-AB46-C795947D363A}" sibTransId="{0CEC47FA-D04A-4458-B546-AE452CDADC1D}"/>
    <dgm:cxn modelId="{115A7268-6F71-475C-B37B-83E6D6296703}" type="presOf" srcId="{4D661765-0857-4229-97DE-752C49997456}" destId="{8B02834F-A6BC-44D6-BE84-FB9BE6A23C39}" srcOrd="0" destOrd="0" presId="urn:microsoft.com/office/officeart/2005/8/layout/cycle7"/>
    <dgm:cxn modelId="{37EC676D-F32B-427E-A94F-952C84F388B0}" type="presOf" srcId="{F1988F00-F901-4E19-8AD8-36441288A7A4}" destId="{A560ECB0-F831-410B-AC9A-6193D88CD513}" srcOrd="0" destOrd="0" presId="urn:microsoft.com/office/officeart/2005/8/layout/cycle7"/>
    <dgm:cxn modelId="{A4A07254-2EA2-4537-8292-2CE0D1667E3A}" srcId="{237BCBA9-3FA7-4FD2-9400-501DE853B055}" destId="{613D10C5-DAD2-4B14-BA93-64A30CCE3A59}" srcOrd="0" destOrd="0" parTransId="{ED37C63B-2443-4F6E-A759-6376CDFFB8F2}" sibTransId="{F1988F00-F901-4E19-8AD8-36441288A7A4}"/>
    <dgm:cxn modelId="{91AA3D77-A6AC-4FB6-BFC6-239BEB92A848}" type="presOf" srcId="{0CEC47FA-D04A-4458-B546-AE452CDADC1D}" destId="{B3EA7FF7-9CE7-49BE-A6A2-EC73D1588766}" srcOrd="1" destOrd="0" presId="urn:microsoft.com/office/officeart/2005/8/layout/cycle7"/>
    <dgm:cxn modelId="{A0D8C97A-7B57-4B3F-B4A9-4F1BA226B147}" type="presOf" srcId="{D38B84BC-6085-4D96-ABD7-7FB83400287E}" destId="{D56A647B-BFC2-453F-9857-5A552B26109A}" srcOrd="1" destOrd="0" presId="urn:microsoft.com/office/officeart/2005/8/layout/cycle7"/>
    <dgm:cxn modelId="{A3C99A81-1EE8-4FEF-B853-941C0C701948}" type="presOf" srcId="{D38B84BC-6085-4D96-ABD7-7FB83400287E}" destId="{4BB6DD8C-B902-407A-A9D5-42B03C199089}" srcOrd="0" destOrd="0" presId="urn:microsoft.com/office/officeart/2005/8/layout/cycle7"/>
    <dgm:cxn modelId="{37A93894-6FCB-45FB-8582-555C596403CA}" type="presOf" srcId="{237BCBA9-3FA7-4FD2-9400-501DE853B055}" destId="{5FDF676F-D317-4DF1-9BE3-A5B06A6798AF}" srcOrd="0" destOrd="0" presId="urn:microsoft.com/office/officeart/2005/8/layout/cycle7"/>
    <dgm:cxn modelId="{B4E453AF-B4CB-420D-9F4C-145E614A703F}" srcId="{237BCBA9-3FA7-4FD2-9400-501DE853B055}" destId="{4D661765-0857-4229-97DE-752C49997456}" srcOrd="1" destOrd="0" parTransId="{2A618243-1A71-4E78-A3CF-F061DDC509D6}" sibTransId="{D38B84BC-6085-4D96-ABD7-7FB83400287E}"/>
    <dgm:cxn modelId="{64F8ACB8-B6ED-4737-B5F2-E3D5AE2E8739}" type="presOf" srcId="{38165909-67A4-495F-9FDB-E9F528AED259}" destId="{5C3B6CD4-197F-4BA3-978D-81F22A47CBFE}" srcOrd="0" destOrd="0" presId="urn:microsoft.com/office/officeart/2005/8/layout/cycle7"/>
    <dgm:cxn modelId="{32EF32E8-052E-442D-A802-C03152529808}" type="presOf" srcId="{613D10C5-DAD2-4B14-BA93-64A30CCE3A59}" destId="{AC158500-ABCD-4522-A8D2-28EB49EC5DC2}" srcOrd="0" destOrd="0" presId="urn:microsoft.com/office/officeart/2005/8/layout/cycle7"/>
    <dgm:cxn modelId="{9DB9BA54-C330-4119-8E40-58612BD5116E}" type="presParOf" srcId="{5FDF676F-D317-4DF1-9BE3-A5B06A6798AF}" destId="{AC158500-ABCD-4522-A8D2-28EB49EC5DC2}" srcOrd="0" destOrd="0" presId="urn:microsoft.com/office/officeart/2005/8/layout/cycle7"/>
    <dgm:cxn modelId="{62076E71-6D3B-46D5-A4E5-81BF2354DDC6}" type="presParOf" srcId="{5FDF676F-D317-4DF1-9BE3-A5B06A6798AF}" destId="{A560ECB0-F831-410B-AC9A-6193D88CD513}" srcOrd="1" destOrd="0" presId="urn:microsoft.com/office/officeart/2005/8/layout/cycle7"/>
    <dgm:cxn modelId="{ECD59B49-0362-46AC-ACE5-B9421BACF1B8}" type="presParOf" srcId="{A560ECB0-F831-410B-AC9A-6193D88CD513}" destId="{B217BCDD-EB66-4EAB-BBC7-17C7428BDC98}" srcOrd="0" destOrd="0" presId="urn:microsoft.com/office/officeart/2005/8/layout/cycle7"/>
    <dgm:cxn modelId="{EDD5A790-67BA-40AD-B2B3-C17E5B46D566}" type="presParOf" srcId="{5FDF676F-D317-4DF1-9BE3-A5B06A6798AF}" destId="{8B02834F-A6BC-44D6-BE84-FB9BE6A23C39}" srcOrd="2" destOrd="0" presId="urn:microsoft.com/office/officeart/2005/8/layout/cycle7"/>
    <dgm:cxn modelId="{5E236B0D-2078-41BC-8D56-74258305EF1C}" type="presParOf" srcId="{5FDF676F-D317-4DF1-9BE3-A5B06A6798AF}" destId="{4BB6DD8C-B902-407A-A9D5-42B03C199089}" srcOrd="3" destOrd="0" presId="urn:microsoft.com/office/officeart/2005/8/layout/cycle7"/>
    <dgm:cxn modelId="{737BF5B7-BD38-4635-B91E-E35135683CE5}" type="presParOf" srcId="{4BB6DD8C-B902-407A-A9D5-42B03C199089}" destId="{D56A647B-BFC2-453F-9857-5A552B26109A}" srcOrd="0" destOrd="0" presId="urn:microsoft.com/office/officeart/2005/8/layout/cycle7"/>
    <dgm:cxn modelId="{C5CEF065-DB06-49CD-8179-815907C0F894}" type="presParOf" srcId="{5FDF676F-D317-4DF1-9BE3-A5B06A6798AF}" destId="{5C3B6CD4-197F-4BA3-978D-81F22A47CBFE}" srcOrd="4" destOrd="0" presId="urn:microsoft.com/office/officeart/2005/8/layout/cycle7"/>
    <dgm:cxn modelId="{60E1FCEF-263D-4452-BDE3-5A9AADBFCE75}" type="presParOf" srcId="{5FDF676F-D317-4DF1-9BE3-A5B06A6798AF}" destId="{03D92508-9364-4B81-B1A2-8BF949CE5F5C}" srcOrd="5" destOrd="0" presId="urn:microsoft.com/office/officeart/2005/8/layout/cycle7"/>
    <dgm:cxn modelId="{DF77F254-B0F5-44C4-B88A-74D3ADD3E725}" type="presParOf" srcId="{03D92508-9364-4B81-B1A2-8BF949CE5F5C}" destId="{B3EA7FF7-9CE7-49BE-A6A2-EC73D1588766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58500-ABCD-4522-A8D2-28EB49EC5DC2}">
      <dsp:nvSpPr>
        <dsp:cNvPr id="0" name=""/>
        <dsp:cNvSpPr/>
      </dsp:nvSpPr>
      <dsp:spPr>
        <a:xfrm>
          <a:off x="1900080" y="1118"/>
          <a:ext cx="1994872" cy="997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a-ES" sz="1800" kern="1200" dirty="0"/>
            <a:t>AM (L-DED)</a:t>
          </a:r>
          <a:endParaRPr lang="en-US" sz="1800" kern="1200" dirty="0"/>
        </a:p>
      </dsp:txBody>
      <dsp:txXfrm>
        <a:off x="1929294" y="30332"/>
        <a:ext cx="1936444" cy="939008"/>
      </dsp:txXfrm>
    </dsp:sp>
    <dsp:sp modelId="{A560ECB0-F831-410B-AC9A-6193D88CD513}">
      <dsp:nvSpPr>
        <dsp:cNvPr id="0" name=""/>
        <dsp:cNvSpPr/>
      </dsp:nvSpPr>
      <dsp:spPr>
        <a:xfrm rot="3348622">
          <a:off x="3358467" y="1500114"/>
          <a:ext cx="674305" cy="34910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463198" y="1569934"/>
        <a:ext cx="464843" cy="209462"/>
      </dsp:txXfrm>
    </dsp:sp>
    <dsp:sp modelId="{8B02834F-A6BC-44D6-BE84-FB9BE6A23C39}">
      <dsp:nvSpPr>
        <dsp:cNvPr id="0" name=""/>
        <dsp:cNvSpPr/>
      </dsp:nvSpPr>
      <dsp:spPr>
        <a:xfrm>
          <a:off x="3496286" y="2350777"/>
          <a:ext cx="1994872" cy="997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Numerical simulation of RS</a:t>
          </a:r>
        </a:p>
      </dsp:txBody>
      <dsp:txXfrm>
        <a:off x="3525500" y="2379991"/>
        <a:ext cx="1936444" cy="939008"/>
      </dsp:txXfrm>
    </dsp:sp>
    <dsp:sp modelId="{4BB6DD8C-B902-407A-A9D5-42B03C199089}">
      <dsp:nvSpPr>
        <dsp:cNvPr id="0" name=""/>
        <dsp:cNvSpPr/>
      </dsp:nvSpPr>
      <dsp:spPr>
        <a:xfrm rot="10799988">
          <a:off x="2737692" y="2674949"/>
          <a:ext cx="674305" cy="34910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842423" y="2744769"/>
        <a:ext cx="464843" cy="209462"/>
      </dsp:txXfrm>
    </dsp:sp>
    <dsp:sp modelId="{5C3B6CD4-197F-4BA3-978D-81F22A47CBFE}">
      <dsp:nvSpPr>
        <dsp:cNvPr id="0" name=""/>
        <dsp:cNvSpPr/>
      </dsp:nvSpPr>
      <dsp:spPr>
        <a:xfrm>
          <a:off x="658531" y="2350787"/>
          <a:ext cx="1994872" cy="997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Experimental RS measurements (P61A)</a:t>
          </a:r>
        </a:p>
      </dsp:txBody>
      <dsp:txXfrm>
        <a:off x="687745" y="2380001"/>
        <a:ext cx="1936444" cy="939008"/>
      </dsp:txXfrm>
    </dsp:sp>
    <dsp:sp modelId="{03D92508-9364-4B81-B1A2-8BF949CE5F5C}">
      <dsp:nvSpPr>
        <dsp:cNvPr id="0" name=""/>
        <dsp:cNvSpPr/>
      </dsp:nvSpPr>
      <dsp:spPr>
        <a:xfrm rot="17871099">
          <a:off x="1939589" y="1500119"/>
          <a:ext cx="674305" cy="349102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044320" y="1569939"/>
        <a:ext cx="464843" cy="209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16BB-0A3A-FED5-5371-A876512B9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60785-7918-5C48-3DC1-3FA886D9C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B6105-1F3B-2293-C164-DF3DE04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0B266-FCFF-AA94-A23D-CE1099FD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48F8F-8AAF-D324-7A8A-8525686D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3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2995-547C-345D-FC0A-DCEDF4BC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1002F-7CDB-6242-182A-3F5774CA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A5153-F1AE-6AED-6240-A6493E47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A87FB-F092-92AC-58CB-9CE04E99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8AA37-81B6-B75A-0D53-012A5CBA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5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64B2-64A9-A33B-6525-BA72D14DF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589E3-CA89-CADA-A4E2-7B3907ED6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6BB46-C56B-9ED9-7288-E6DBEFFE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41CC-1061-5250-C0BF-5ADB1214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82E-B729-92DB-26AE-2D1C3297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0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DD39-25E6-9CAD-44E4-04AB5C64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F490A-1F96-0201-B9A4-322D219B4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CD3FC-D071-1753-C217-E053FB5B7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0DEA8-D507-4179-2862-55C2875D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0BE72-E1E0-ED4D-1CC3-62B549ED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4308B-8A8A-16DD-F0C4-039483C1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9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8A24-1FBF-4E82-2E41-9630595C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E4C75-182B-2851-8418-982288355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37704-49F0-1222-E924-5855790C4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A146B-8279-9D4E-1BC6-5B0D776F1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9E1F3-0430-B32A-12B7-2FB9B4393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BEB345-6EF7-0AE3-5D2A-B08E1D07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B5B87-F1A3-97C1-D307-19226803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8AD43-8BB5-3130-2398-67A39528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8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EB4A-7980-B5F3-53A8-4E8E754A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D8886-6973-F39C-F059-5C341200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A2C69-CCE6-6EF6-0127-B2A32794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6B822-ECB6-2781-505A-58FE6B65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9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91A34-BAA5-EBB2-B6F3-F443DD9F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AC4911-DC4C-3704-3F16-C28F1BA4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9F321-8830-0DDF-D604-91ECB897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5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75AD-F38E-909E-206B-D9A25FCF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09585-1F5D-4532-9CE3-3613D9AB1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5D8C0-0C0C-D641-31B7-D54E85699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331DF-C14B-3AED-8A51-95BE21F0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E0E1F-F940-9000-5056-464DB2EC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1A85-2729-99A3-2673-5362837C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F2E6-F5A0-AE91-1129-58C04E558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1C923-742D-C367-E48E-6EB5FD6D5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9088F-3107-2056-3A55-A2EBFC92D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A029F-E4E4-D39E-A03E-2A22C51F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115C9-2528-F567-2863-CEAF828E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BC3ED-F350-E48E-022D-5BA20FE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5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E5BB-58F9-DB9F-889B-4F3B3087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8C8CA-FD6C-615D-1799-F92952775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F8CA-71D1-AB55-0D5F-2499842A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B33EC-7B4E-AA79-0954-11997389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B01D-EE87-B4D2-DAC7-C949A542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E8E02-3EFB-1FB2-31B3-47445A301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7FD8-80ED-A045-DDEC-271424957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D1D3-6513-0A3E-AE4A-3CB4C7C2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378FC-AB2C-5BAB-1338-BB4CD9AF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2D7C-70EA-0989-040E-A514CF30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3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5B0C2-7B28-A975-F03A-08D721484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6F9EF-3026-2592-898F-B3D2C43E8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B8093-9EFF-3C6F-0391-208F037BF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AA48D-A695-4F86-B6B5-B38AA2486E9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B2603-3B9C-31B1-78FF-4194E59EF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2885D-ED54-A32C-6D85-5EC6A04F0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79698-6F8D-4DDE-8BC1-C4A30B99E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6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asi-stress.eu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5B0412-C816-1052-4FA2-E6C89FCA4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4" t="22717" b="7717"/>
          <a:stretch>
            <a:fillRect/>
          </a:stretch>
        </p:blipFill>
        <p:spPr>
          <a:xfrm>
            <a:off x="292141" y="1847850"/>
            <a:ext cx="11566484" cy="478155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450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7081C7-6ED6-56DB-8C16-C8911F5E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65" y="-381144"/>
            <a:ext cx="10515600" cy="1325563"/>
          </a:xfrm>
        </p:spPr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066D46-8109-B1F7-159B-0D251846D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603106"/>
            <a:ext cx="7137400" cy="4351338"/>
          </a:xfrm>
        </p:spPr>
        <p:txBody>
          <a:bodyPr>
            <a:normAutofit/>
          </a:bodyPr>
          <a:lstStyle/>
          <a:p>
            <a:r>
              <a:rPr lang="en-US" dirty="0"/>
              <a:t>Single walls made of </a:t>
            </a:r>
            <a:r>
              <a:rPr lang="en-US" dirty="0">
                <a:highlight>
                  <a:srgbClr val="FFFF00"/>
                </a:highlight>
              </a:rPr>
              <a:t>Inconel 718</a:t>
            </a:r>
            <a:r>
              <a:rPr lang="en-US" dirty="0"/>
              <a:t> by DED-L</a:t>
            </a:r>
          </a:p>
          <a:p>
            <a:pPr lvl="1"/>
            <a:r>
              <a:rPr lang="en-US" dirty="0"/>
              <a:t>20 layers, different fabrication parameters; fabrication layers over an insulating brick </a:t>
            </a:r>
          </a:p>
          <a:p>
            <a:pPr lvl="1"/>
            <a:r>
              <a:rPr lang="en-US" dirty="0"/>
              <a:t>Samples for residual stresses measurements at DESY</a:t>
            </a:r>
          </a:p>
          <a:p>
            <a:pPr lvl="1"/>
            <a:r>
              <a:rPr lang="en-US" dirty="0"/>
              <a:t>Samples for microstructural characterization and micro tensile tests </a:t>
            </a:r>
          </a:p>
          <a:p>
            <a:pPr lvl="1"/>
            <a:endParaRPr lang="en-US" sz="700" dirty="0"/>
          </a:p>
          <a:p>
            <a:r>
              <a:rPr lang="en-US" dirty="0"/>
              <a:t>Machine: </a:t>
            </a:r>
            <a:r>
              <a:rPr lang="en-US" dirty="0" err="1"/>
              <a:t>BEam</a:t>
            </a:r>
            <a:r>
              <a:rPr lang="en-US" dirty="0"/>
              <a:t> Modulo 250 </a:t>
            </a:r>
          </a:p>
        </p:txBody>
      </p:sp>
      <p:pic>
        <p:nvPicPr>
          <p:cNvPr id="7" name="Picture 6" descr="A picture containing indoor, green, kitchen appliance, miller&#10;&#10;Description automatically generated">
            <a:extLst>
              <a:ext uri="{FF2B5EF4-FFF2-40B4-BE49-F238E27FC236}">
                <a16:creationId xmlns:a16="http://schemas.microsoft.com/office/drawing/2014/main" id="{BD3C4ECB-3E20-E993-DA4D-2528EFD91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581" y="2778775"/>
            <a:ext cx="3059419" cy="4079225"/>
          </a:xfrm>
          <a:prstGeom prst="rect">
            <a:avLst/>
          </a:prstGeom>
        </p:spPr>
      </p:pic>
      <p:pic>
        <p:nvPicPr>
          <p:cNvPr id="8" name="Picture 7" descr="A picture containing wooden&#10;&#10;Description automatically generated">
            <a:extLst>
              <a:ext uri="{FF2B5EF4-FFF2-40B4-BE49-F238E27FC236}">
                <a16:creationId xmlns:a16="http://schemas.microsoft.com/office/drawing/2014/main" id="{2CFED13A-BF41-BF57-755A-26A4DEF034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93"/>
          <a:stretch/>
        </p:blipFill>
        <p:spPr>
          <a:xfrm>
            <a:off x="7067930" y="200531"/>
            <a:ext cx="2791630" cy="2578244"/>
          </a:xfrm>
          <a:prstGeom prst="rect">
            <a:avLst/>
          </a:prstGeom>
        </p:spPr>
      </p:pic>
      <p:pic>
        <p:nvPicPr>
          <p:cNvPr id="2" name="Picture 1" descr="A picture containing wooden&#10;&#10;Description automatically generated">
            <a:extLst>
              <a:ext uri="{FF2B5EF4-FFF2-40B4-BE49-F238E27FC236}">
                <a16:creationId xmlns:a16="http://schemas.microsoft.com/office/drawing/2014/main" id="{399580C1-98A3-3C8D-9AD6-EA5C45389F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8" t="18786" r="31850" b="54497"/>
          <a:stretch>
            <a:fillRect/>
          </a:stretch>
        </p:blipFill>
        <p:spPr>
          <a:xfrm>
            <a:off x="271383" y="4105275"/>
            <a:ext cx="7043817" cy="2667000"/>
          </a:xfrm>
          <a:prstGeom prst="rect">
            <a:avLst/>
          </a:prstGeom>
        </p:spPr>
      </p:pic>
      <p:pic>
        <p:nvPicPr>
          <p:cNvPr id="3" name="Picture 2" descr="A picture containing indoor, green, kitchen appliance, miller&#10;&#10;Description automatically generated">
            <a:extLst>
              <a:ext uri="{FF2B5EF4-FFF2-40B4-BE49-F238E27FC236}">
                <a16:creationId xmlns:a16="http://schemas.microsoft.com/office/drawing/2014/main" id="{360229AE-0370-7772-5990-3DE434F5A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5" y="3035444"/>
            <a:ext cx="2400300" cy="3200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B5E726-6974-CEA5-F002-FF6B738C984C}"/>
              </a:ext>
            </a:extLst>
          </p:cNvPr>
          <p:cNvSpPr txBox="1"/>
          <p:nvPr/>
        </p:nvSpPr>
        <p:spPr>
          <a:xfrm>
            <a:off x="2981325" y="85725"/>
            <a:ext cx="2512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highlight>
                  <a:srgbClr val="FFFF00"/>
                </a:highlight>
              </a:rPr>
              <a:t>Níquel</a:t>
            </a:r>
            <a:endParaRPr lang="LID4096" sz="28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7220D-D21E-3404-BFFE-86D1CC91585B}"/>
              </a:ext>
            </a:extLst>
          </p:cNvPr>
          <p:cNvSpPr txBox="1"/>
          <p:nvPr/>
        </p:nvSpPr>
        <p:spPr>
          <a:xfrm>
            <a:off x="9998667" y="281637"/>
            <a:ext cx="20732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a high-strength, nickel-based superalloy containing 50–55% nickel, 17–21% chromium, and significant additions of niobium, molybdenum, and iron. It resists extreme heat up to 700°C (1300°F) and severe corrosion, making it ideal for aerospace and gas turbines</a:t>
            </a:r>
            <a:endParaRPr lang="LID4096" sz="1200" dirty="0"/>
          </a:p>
        </p:txBody>
      </p:sp>
    </p:spTree>
    <p:extLst>
      <p:ext uri="{BB962C8B-B14F-4D97-AF65-F5344CB8AC3E}">
        <p14:creationId xmlns:p14="http://schemas.microsoft.com/office/powerpoint/2010/main" val="160443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2E68A-7790-96E8-F961-74475A8C6499}"/>
              </a:ext>
            </a:extLst>
          </p:cNvPr>
          <p:cNvSpPr/>
          <p:nvPr/>
        </p:nvSpPr>
        <p:spPr>
          <a:xfrm>
            <a:off x="2019300" y="2774200"/>
            <a:ext cx="7200000" cy="36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9E5D0-9079-CB60-9260-27DF02A93DA1}"/>
              </a:ext>
            </a:extLst>
          </p:cNvPr>
          <p:cNvSpPr/>
          <p:nvPr/>
        </p:nvSpPr>
        <p:spPr>
          <a:xfrm>
            <a:off x="2014986" y="2121601"/>
            <a:ext cx="7200000" cy="36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F5185D-2AAB-936E-97DF-942BCC6B2298}"/>
              </a:ext>
            </a:extLst>
          </p:cNvPr>
          <p:cNvCxnSpPr/>
          <p:nvPr/>
        </p:nvCxnSpPr>
        <p:spPr>
          <a:xfrm>
            <a:off x="2019300" y="6718300"/>
            <a:ext cx="720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907213-96C5-5C0B-19A7-69B96D803D98}"/>
              </a:ext>
            </a:extLst>
          </p:cNvPr>
          <p:cNvSpPr txBox="1"/>
          <p:nvPr/>
        </p:nvSpPr>
        <p:spPr>
          <a:xfrm>
            <a:off x="5181345" y="632521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50</a:t>
            </a:r>
            <a:endParaRPr lang="en-US" sz="2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46626E-F0B9-EC72-0EFC-D7B01DB13A92}"/>
              </a:ext>
            </a:extLst>
          </p:cNvPr>
          <p:cNvCxnSpPr>
            <a:cxnSpLocks/>
          </p:cNvCxnSpPr>
          <p:nvPr/>
        </p:nvCxnSpPr>
        <p:spPr>
          <a:xfrm flipV="1">
            <a:off x="1581345" y="2774200"/>
            <a:ext cx="0" cy="36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08DE396-7B96-EDFF-63E9-70FFE5EE1858}"/>
              </a:ext>
            </a:extLst>
          </p:cNvPr>
          <p:cNvSpPr txBox="1"/>
          <p:nvPr/>
        </p:nvSpPr>
        <p:spPr>
          <a:xfrm>
            <a:off x="1031194" y="445287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8D85E7-9C3E-9106-4AB6-D67B6C88CE26}"/>
              </a:ext>
            </a:extLst>
          </p:cNvPr>
          <p:cNvSpPr/>
          <p:nvPr/>
        </p:nvSpPr>
        <p:spPr>
          <a:xfrm>
            <a:off x="2726587" y="4470479"/>
            <a:ext cx="5760000" cy="20744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D9CD4D-1057-3BE5-63F7-DDA649CDF0C1}"/>
              </a:ext>
            </a:extLst>
          </p:cNvPr>
          <p:cNvCxnSpPr>
            <a:cxnSpLocks/>
          </p:cNvCxnSpPr>
          <p:nvPr/>
        </p:nvCxnSpPr>
        <p:spPr>
          <a:xfrm>
            <a:off x="2732327" y="3975063"/>
            <a:ext cx="5765318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7ECB10D-F84D-630E-8F5B-89EFF39D268B}"/>
              </a:ext>
            </a:extLst>
          </p:cNvPr>
          <p:cNvSpPr txBox="1"/>
          <p:nvPr/>
        </p:nvSpPr>
        <p:spPr>
          <a:xfrm>
            <a:off x="4438676" y="3594371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40</a:t>
            </a:r>
            <a:endParaRPr lang="en-US" sz="28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0D6971-C23D-CE2B-E2DC-1A3C25EFD3D5}"/>
              </a:ext>
            </a:extLst>
          </p:cNvPr>
          <p:cNvCxnSpPr>
            <a:cxnSpLocks/>
          </p:cNvCxnSpPr>
          <p:nvPr/>
        </p:nvCxnSpPr>
        <p:spPr>
          <a:xfrm flipV="1">
            <a:off x="1557280" y="2089101"/>
            <a:ext cx="0" cy="3925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0AC18E-D6B0-94BB-4E69-9359F6A33A66}"/>
              </a:ext>
            </a:extLst>
          </p:cNvPr>
          <p:cNvSpPr txBox="1"/>
          <p:nvPr/>
        </p:nvSpPr>
        <p:spPr>
          <a:xfrm>
            <a:off x="1007129" y="202374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4C4EED-1DDF-30A8-13F8-1C5F7D1305BA}"/>
              </a:ext>
            </a:extLst>
          </p:cNvPr>
          <p:cNvCxnSpPr>
            <a:cxnSpLocks/>
          </p:cNvCxnSpPr>
          <p:nvPr/>
        </p:nvCxnSpPr>
        <p:spPr>
          <a:xfrm>
            <a:off x="8486587" y="4586046"/>
            <a:ext cx="73271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35374D-2309-63B7-08B3-79345EE3DFBA}"/>
              </a:ext>
            </a:extLst>
          </p:cNvPr>
          <p:cNvSpPr txBox="1"/>
          <p:nvPr/>
        </p:nvSpPr>
        <p:spPr>
          <a:xfrm>
            <a:off x="8659560" y="417861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7BA741-443A-32B4-54A6-79C5D35FB99B}"/>
              </a:ext>
            </a:extLst>
          </p:cNvPr>
          <p:cNvSpPr/>
          <p:nvPr/>
        </p:nvSpPr>
        <p:spPr>
          <a:xfrm>
            <a:off x="2726587" y="2010756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22B399-1A39-3D7B-F4BE-9D429CE73A02}"/>
              </a:ext>
            </a:extLst>
          </p:cNvPr>
          <p:cNvSpPr/>
          <p:nvPr/>
        </p:nvSpPr>
        <p:spPr>
          <a:xfrm>
            <a:off x="2726587" y="1911984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1534BA-DDC9-AB40-7988-B8C4146CAA7A}"/>
              </a:ext>
            </a:extLst>
          </p:cNvPr>
          <p:cNvSpPr/>
          <p:nvPr/>
        </p:nvSpPr>
        <p:spPr>
          <a:xfrm>
            <a:off x="2726587" y="1813211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98C8EC-508C-58DA-8CC2-1F7B93E88B0E}"/>
              </a:ext>
            </a:extLst>
          </p:cNvPr>
          <p:cNvSpPr/>
          <p:nvPr/>
        </p:nvSpPr>
        <p:spPr>
          <a:xfrm>
            <a:off x="2726587" y="1714438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7CEF5B-909E-8C94-DCD6-C20422783767}"/>
              </a:ext>
            </a:extLst>
          </p:cNvPr>
          <p:cNvSpPr/>
          <p:nvPr/>
        </p:nvSpPr>
        <p:spPr>
          <a:xfrm>
            <a:off x="2726587" y="1615665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9AB5D4-3BE9-1E85-791A-63DFE556C8B3}"/>
              </a:ext>
            </a:extLst>
          </p:cNvPr>
          <p:cNvSpPr/>
          <p:nvPr/>
        </p:nvSpPr>
        <p:spPr>
          <a:xfrm>
            <a:off x="2726587" y="1516892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9EC9A5-E6F1-E642-0426-E7EF7EBCD45F}"/>
              </a:ext>
            </a:extLst>
          </p:cNvPr>
          <p:cNvSpPr/>
          <p:nvPr/>
        </p:nvSpPr>
        <p:spPr>
          <a:xfrm>
            <a:off x="2726587" y="1418119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AF4FCA-64DA-1F81-8436-704119C1BD44}"/>
              </a:ext>
            </a:extLst>
          </p:cNvPr>
          <p:cNvSpPr/>
          <p:nvPr/>
        </p:nvSpPr>
        <p:spPr>
          <a:xfrm>
            <a:off x="2726587" y="1319346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C84891-25E1-8309-A5DB-95E8EF518EC5}"/>
              </a:ext>
            </a:extLst>
          </p:cNvPr>
          <p:cNvSpPr/>
          <p:nvPr/>
        </p:nvSpPr>
        <p:spPr>
          <a:xfrm>
            <a:off x="2726587" y="1220573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035A13-CBAB-47F4-618A-156AEED50720}"/>
              </a:ext>
            </a:extLst>
          </p:cNvPr>
          <p:cNvSpPr/>
          <p:nvPr/>
        </p:nvSpPr>
        <p:spPr>
          <a:xfrm>
            <a:off x="2726587" y="1121800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D39785-A28A-6250-74A8-97B7E58FDAB4}"/>
              </a:ext>
            </a:extLst>
          </p:cNvPr>
          <p:cNvSpPr/>
          <p:nvPr/>
        </p:nvSpPr>
        <p:spPr>
          <a:xfrm>
            <a:off x="2726587" y="1023027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A9C5FE-CE8E-1605-881B-2DA218C8E03E}"/>
              </a:ext>
            </a:extLst>
          </p:cNvPr>
          <p:cNvSpPr/>
          <p:nvPr/>
        </p:nvSpPr>
        <p:spPr>
          <a:xfrm>
            <a:off x="2726587" y="924254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887CF2-C1B4-3905-A3D3-615F9267619E}"/>
              </a:ext>
            </a:extLst>
          </p:cNvPr>
          <p:cNvSpPr/>
          <p:nvPr/>
        </p:nvSpPr>
        <p:spPr>
          <a:xfrm>
            <a:off x="2726587" y="825481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F643F8-6968-6B17-4C7E-EA208ACC7D8C}"/>
              </a:ext>
            </a:extLst>
          </p:cNvPr>
          <p:cNvSpPr/>
          <p:nvPr/>
        </p:nvSpPr>
        <p:spPr>
          <a:xfrm>
            <a:off x="2726587" y="726708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740878-7141-BDBB-8CE6-7AB123B4C6B7}"/>
              </a:ext>
            </a:extLst>
          </p:cNvPr>
          <p:cNvSpPr/>
          <p:nvPr/>
        </p:nvSpPr>
        <p:spPr>
          <a:xfrm>
            <a:off x="2726587" y="627935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B25E66-26EE-B793-9FA1-6AAF2BAA832F}"/>
              </a:ext>
            </a:extLst>
          </p:cNvPr>
          <p:cNvSpPr/>
          <p:nvPr/>
        </p:nvSpPr>
        <p:spPr>
          <a:xfrm>
            <a:off x="2726587" y="529162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169A64-936E-F630-129B-E8019AC531FF}"/>
              </a:ext>
            </a:extLst>
          </p:cNvPr>
          <p:cNvSpPr/>
          <p:nvPr/>
        </p:nvSpPr>
        <p:spPr>
          <a:xfrm>
            <a:off x="2726587" y="430389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659763-4FD5-97F9-C2B5-06D682BC0226}"/>
              </a:ext>
            </a:extLst>
          </p:cNvPr>
          <p:cNvSpPr/>
          <p:nvPr/>
        </p:nvSpPr>
        <p:spPr>
          <a:xfrm>
            <a:off x="2726587" y="331616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35E1A8-5572-9154-244C-3AFBCDE32255}"/>
              </a:ext>
            </a:extLst>
          </p:cNvPr>
          <p:cNvSpPr/>
          <p:nvPr/>
        </p:nvSpPr>
        <p:spPr>
          <a:xfrm>
            <a:off x="2726587" y="232843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604938-C731-98C4-5C56-24AAA2AE2CF9}"/>
              </a:ext>
            </a:extLst>
          </p:cNvPr>
          <p:cNvSpPr/>
          <p:nvPr/>
        </p:nvSpPr>
        <p:spPr>
          <a:xfrm>
            <a:off x="2726587" y="134070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3BACB2B7-ACB9-1747-004A-C144D3D97660}"/>
              </a:ext>
            </a:extLst>
          </p:cNvPr>
          <p:cNvSpPr/>
          <p:nvPr/>
        </p:nvSpPr>
        <p:spPr>
          <a:xfrm rot="10800000">
            <a:off x="9053061" y="1119927"/>
            <a:ext cx="323850" cy="79018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027B8-516D-38D6-A874-DE0CCCF635A1}"/>
              </a:ext>
            </a:extLst>
          </p:cNvPr>
          <p:cNvSpPr txBox="1"/>
          <p:nvPr/>
        </p:nvSpPr>
        <p:spPr>
          <a:xfrm>
            <a:off x="9392813" y="1191853"/>
            <a:ext cx="1140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Building direction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096CA34-4DC5-4E1A-B080-171FD1778E38}"/>
              </a:ext>
            </a:extLst>
          </p:cNvPr>
          <p:cNvSpPr/>
          <p:nvPr/>
        </p:nvSpPr>
        <p:spPr>
          <a:xfrm>
            <a:off x="8412603" y="4510572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F04FA83-AA97-4EAA-D230-A816B5F3126B}"/>
              </a:ext>
            </a:extLst>
          </p:cNvPr>
          <p:cNvSpPr/>
          <p:nvPr/>
        </p:nvSpPr>
        <p:spPr>
          <a:xfrm>
            <a:off x="5539070" y="4512004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D0033F9-3160-43E6-BE0C-46C2BADA449D}"/>
              </a:ext>
            </a:extLst>
          </p:cNvPr>
          <p:cNvSpPr/>
          <p:nvPr/>
        </p:nvSpPr>
        <p:spPr>
          <a:xfrm>
            <a:off x="2656369" y="4518579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7EEC876-DA33-5C5C-DFC1-79CA7FA61794}"/>
              </a:ext>
            </a:extLst>
          </p:cNvPr>
          <p:cNvCxnSpPr>
            <a:cxnSpLocks/>
          </p:cNvCxnSpPr>
          <p:nvPr/>
        </p:nvCxnSpPr>
        <p:spPr>
          <a:xfrm flipV="1">
            <a:off x="2721269" y="2763103"/>
            <a:ext cx="0" cy="18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1788C83-DAF0-7080-D01F-E53F94DA8B12}"/>
              </a:ext>
            </a:extLst>
          </p:cNvPr>
          <p:cNvSpPr txBox="1"/>
          <p:nvPr/>
        </p:nvSpPr>
        <p:spPr>
          <a:xfrm>
            <a:off x="2000790" y="3477987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12.5</a:t>
            </a:r>
            <a:endParaRPr lang="en-US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1F85EED-E420-DD7A-68A8-157063721BB8}"/>
              </a:ext>
            </a:extLst>
          </p:cNvPr>
          <p:cNvSpPr/>
          <p:nvPr/>
        </p:nvSpPr>
        <p:spPr>
          <a:xfrm>
            <a:off x="5540861" y="5415228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DDFA383-408D-F5BA-6861-25C8D5C7B0C8}"/>
              </a:ext>
            </a:extLst>
          </p:cNvPr>
          <p:cNvCxnSpPr>
            <a:cxnSpLocks/>
          </p:cNvCxnSpPr>
          <p:nvPr/>
        </p:nvCxnSpPr>
        <p:spPr>
          <a:xfrm flipV="1">
            <a:off x="5609337" y="5474199"/>
            <a:ext cx="0" cy="9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3B7DB1A-A30C-2B48-D8D8-33AEA90229ED}"/>
              </a:ext>
            </a:extLst>
          </p:cNvPr>
          <p:cNvCxnSpPr>
            <a:cxnSpLocks/>
          </p:cNvCxnSpPr>
          <p:nvPr/>
        </p:nvCxnSpPr>
        <p:spPr>
          <a:xfrm>
            <a:off x="5668870" y="5482161"/>
            <a:ext cx="35461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A52DE49-BF5E-7F79-A71F-599B01AF7DA7}"/>
              </a:ext>
            </a:extLst>
          </p:cNvPr>
          <p:cNvSpPr txBox="1"/>
          <p:nvPr/>
        </p:nvSpPr>
        <p:spPr>
          <a:xfrm>
            <a:off x="7138843" y="5079498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8D6738-0109-8AB0-5924-2C7D6DAC9D6C}"/>
              </a:ext>
            </a:extLst>
          </p:cNvPr>
          <p:cNvSpPr txBox="1"/>
          <p:nvPr/>
        </p:nvSpPr>
        <p:spPr>
          <a:xfrm>
            <a:off x="4840773" y="5636780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6.25</a:t>
            </a:r>
            <a:endParaRPr lang="en-US" sz="28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7418C6-E7A2-E19D-A3AA-8B4B8E80C01A}"/>
              </a:ext>
            </a:extLst>
          </p:cNvPr>
          <p:cNvCxnSpPr/>
          <p:nvPr/>
        </p:nvCxnSpPr>
        <p:spPr>
          <a:xfrm flipV="1">
            <a:off x="1557280" y="1113027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6AA0488-98F3-763B-F4B5-FA31080145E4}"/>
              </a:ext>
            </a:extLst>
          </p:cNvPr>
          <p:cNvCxnSpPr>
            <a:cxnSpLocks/>
          </p:cNvCxnSpPr>
          <p:nvPr/>
        </p:nvCxnSpPr>
        <p:spPr>
          <a:xfrm>
            <a:off x="1557280" y="1516892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3EF9B0C-5B45-0A7D-D39C-7B57D6C431D1}"/>
              </a:ext>
            </a:extLst>
          </p:cNvPr>
          <p:cNvSpPr txBox="1"/>
          <p:nvPr/>
        </p:nvSpPr>
        <p:spPr>
          <a:xfrm>
            <a:off x="1411246" y="811597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CFFEC2-D101-B847-C17D-60533DEEBB27}"/>
              </a:ext>
            </a:extLst>
          </p:cNvPr>
          <p:cNvSpPr txBox="1"/>
          <p:nvPr/>
        </p:nvSpPr>
        <p:spPr>
          <a:xfrm>
            <a:off x="1876967" y="128609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270A84F-3E66-1A09-23D6-959376159DC1}"/>
              </a:ext>
            </a:extLst>
          </p:cNvPr>
          <p:cNvSpPr/>
          <p:nvPr/>
        </p:nvSpPr>
        <p:spPr>
          <a:xfrm>
            <a:off x="1492379" y="1443219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7B8D48-E943-95F1-76F8-0F42D3709A14}"/>
              </a:ext>
            </a:extLst>
          </p:cNvPr>
          <p:cNvSpPr txBox="1"/>
          <p:nvPr/>
        </p:nvSpPr>
        <p:spPr>
          <a:xfrm>
            <a:off x="1249258" y="130930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42AB37E-BFC6-B8EC-47B6-760D7AD73D32}"/>
              </a:ext>
            </a:extLst>
          </p:cNvPr>
          <p:cNvCxnSpPr/>
          <p:nvPr/>
        </p:nvCxnSpPr>
        <p:spPr>
          <a:xfrm flipV="1">
            <a:off x="9710409" y="3370619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3893B63-0D81-807A-0B0B-D0073564D555}"/>
              </a:ext>
            </a:extLst>
          </p:cNvPr>
          <p:cNvCxnSpPr>
            <a:cxnSpLocks/>
          </p:cNvCxnSpPr>
          <p:nvPr/>
        </p:nvCxnSpPr>
        <p:spPr>
          <a:xfrm>
            <a:off x="9710409" y="3774484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1BEAEB2-7DF8-B330-6235-9C7E718E6ADC}"/>
              </a:ext>
            </a:extLst>
          </p:cNvPr>
          <p:cNvSpPr txBox="1"/>
          <p:nvPr/>
        </p:nvSpPr>
        <p:spPr>
          <a:xfrm>
            <a:off x="9564375" y="306918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B57285-8B68-B4DE-0232-3B471EE743C5}"/>
              </a:ext>
            </a:extLst>
          </p:cNvPr>
          <p:cNvSpPr txBox="1"/>
          <p:nvPr/>
        </p:nvSpPr>
        <p:spPr>
          <a:xfrm>
            <a:off x="10030096" y="354368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556F0B2-3DB9-80F3-3B37-7D4A349A8CC9}"/>
              </a:ext>
            </a:extLst>
          </p:cNvPr>
          <p:cNvSpPr/>
          <p:nvPr/>
        </p:nvSpPr>
        <p:spPr>
          <a:xfrm>
            <a:off x="9645508" y="3700811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52C2E3-6650-D604-2AC5-322BE766AB8F}"/>
              </a:ext>
            </a:extLst>
          </p:cNvPr>
          <p:cNvSpPr txBox="1"/>
          <p:nvPr/>
        </p:nvSpPr>
        <p:spPr>
          <a:xfrm>
            <a:off x="9402387" y="3566894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848878E-7EE6-8194-37B0-8F7368815A69}"/>
              </a:ext>
            </a:extLst>
          </p:cNvPr>
          <p:cNvCxnSpPr>
            <a:cxnSpLocks/>
          </p:cNvCxnSpPr>
          <p:nvPr/>
        </p:nvCxnSpPr>
        <p:spPr>
          <a:xfrm>
            <a:off x="1988556" y="4588559"/>
            <a:ext cx="73271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81EF0F59-A523-7A44-A3ED-77D27B0B5504}"/>
              </a:ext>
            </a:extLst>
          </p:cNvPr>
          <p:cNvSpPr txBox="1"/>
          <p:nvPr/>
        </p:nvSpPr>
        <p:spPr>
          <a:xfrm>
            <a:off x="2138878" y="4149094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6AC425F-62B8-0C24-16C0-45D9008BF768}"/>
              </a:ext>
            </a:extLst>
          </p:cNvPr>
          <p:cNvSpPr txBox="1"/>
          <p:nvPr/>
        </p:nvSpPr>
        <p:spPr>
          <a:xfrm>
            <a:off x="2695378" y="4612349"/>
            <a:ext cx="2559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TC1(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C109EBD-4B49-564B-F673-472F01EFA5B0}"/>
              </a:ext>
            </a:extLst>
          </p:cNvPr>
          <p:cNvSpPr txBox="1"/>
          <p:nvPr/>
        </p:nvSpPr>
        <p:spPr>
          <a:xfrm>
            <a:off x="5264011" y="4638918"/>
            <a:ext cx="1451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TC3 (</a:t>
            </a:r>
            <a:r>
              <a:rPr lang="ca-ES" sz="2400" dirty="0" err="1"/>
              <a:t>hole</a:t>
            </a:r>
            <a:r>
              <a:rPr lang="ca-ES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38C13BA-DFAA-8CE4-D8F8-79033B2D3C51}"/>
              </a:ext>
            </a:extLst>
          </p:cNvPr>
          <p:cNvSpPr txBox="1"/>
          <p:nvPr/>
        </p:nvSpPr>
        <p:spPr>
          <a:xfrm>
            <a:off x="5540861" y="5504888"/>
            <a:ext cx="2559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TC4</a:t>
            </a:r>
            <a:r>
              <a:rPr lang="ca-ES" sz="2400" dirty="0"/>
              <a:t>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/>
              <a:t>)</a:t>
            </a:r>
            <a:endParaRPr lang="en-US" sz="240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C3F3CBA-6994-9AEF-8EB9-985920215DE2}"/>
              </a:ext>
            </a:extLst>
          </p:cNvPr>
          <p:cNvSpPr/>
          <p:nvPr/>
        </p:nvSpPr>
        <p:spPr>
          <a:xfrm>
            <a:off x="2656369" y="2424797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A6445BD-978F-EE6E-4CA3-B63F501EC8DB}"/>
              </a:ext>
            </a:extLst>
          </p:cNvPr>
          <p:cNvSpPr/>
          <p:nvPr/>
        </p:nvSpPr>
        <p:spPr>
          <a:xfrm>
            <a:off x="8409281" y="2424797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C2EEFC8-349E-C769-5918-C02F95578579}"/>
              </a:ext>
            </a:extLst>
          </p:cNvPr>
          <p:cNvCxnSpPr>
            <a:cxnSpLocks/>
          </p:cNvCxnSpPr>
          <p:nvPr/>
        </p:nvCxnSpPr>
        <p:spPr>
          <a:xfrm flipV="1">
            <a:off x="5208458" y="2481601"/>
            <a:ext cx="0" cy="3925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CE68910-5F5C-68C4-0143-2E052B7A2FCC}"/>
              </a:ext>
            </a:extLst>
          </p:cNvPr>
          <p:cNvSpPr txBox="1"/>
          <p:nvPr/>
        </p:nvSpPr>
        <p:spPr>
          <a:xfrm>
            <a:off x="4875459" y="207453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4</a:t>
            </a:r>
            <a:endParaRPr lang="en-US" sz="2800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48566C2-CAB9-1E8E-3D39-5B36915AF904}"/>
              </a:ext>
            </a:extLst>
          </p:cNvPr>
          <p:cNvCxnSpPr>
            <a:cxnSpLocks/>
          </p:cNvCxnSpPr>
          <p:nvPr/>
        </p:nvCxnSpPr>
        <p:spPr>
          <a:xfrm>
            <a:off x="5217030" y="1922833"/>
            <a:ext cx="0" cy="306274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79FF6BE-53A1-C358-65A5-862D148FE7BF}"/>
              </a:ext>
            </a:extLst>
          </p:cNvPr>
          <p:cNvCxnSpPr>
            <a:cxnSpLocks/>
          </p:cNvCxnSpPr>
          <p:nvPr/>
        </p:nvCxnSpPr>
        <p:spPr>
          <a:xfrm flipH="1">
            <a:off x="5162991" y="2229107"/>
            <a:ext cx="400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0468D6D-94CC-7E5A-470A-DEF57EC94AA8}"/>
              </a:ext>
            </a:extLst>
          </p:cNvPr>
          <p:cNvSpPr txBox="1"/>
          <p:nvPr/>
        </p:nvSpPr>
        <p:spPr>
          <a:xfrm>
            <a:off x="8371001" y="4646930"/>
            <a:ext cx="26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TC2(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>
                <a:solidFill>
                  <a:srgbClr val="FF0000"/>
                </a:solidFill>
              </a:rPr>
              <a:t>) 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918BFD-ED1E-876D-4ADE-34C3ECBAE3E0}"/>
              </a:ext>
            </a:extLst>
          </p:cNvPr>
          <p:cNvCxnSpPr>
            <a:cxnSpLocks/>
          </p:cNvCxnSpPr>
          <p:nvPr/>
        </p:nvCxnSpPr>
        <p:spPr>
          <a:xfrm flipV="1">
            <a:off x="5597725" y="2811990"/>
            <a:ext cx="0" cy="1656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C7AFDF-AFC1-9586-04A7-91979D626CB4}"/>
              </a:ext>
            </a:extLst>
          </p:cNvPr>
          <p:cNvCxnSpPr>
            <a:cxnSpLocks/>
          </p:cNvCxnSpPr>
          <p:nvPr/>
        </p:nvCxnSpPr>
        <p:spPr>
          <a:xfrm>
            <a:off x="5654481" y="4288931"/>
            <a:ext cx="35461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A18409A-24AC-11C2-4E99-EFC379AEB34A}"/>
              </a:ext>
            </a:extLst>
          </p:cNvPr>
          <p:cNvSpPr txBox="1"/>
          <p:nvPr/>
        </p:nvSpPr>
        <p:spPr>
          <a:xfrm>
            <a:off x="7284159" y="389801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972F0F-B81F-5036-CE05-2B50E99C2ED6}"/>
              </a:ext>
            </a:extLst>
          </p:cNvPr>
          <p:cNvSpPr txBox="1"/>
          <p:nvPr/>
        </p:nvSpPr>
        <p:spPr>
          <a:xfrm>
            <a:off x="5520555" y="336113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12.5</a:t>
            </a:r>
            <a:endParaRPr 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DCDCEA-942E-EF17-5DFE-51A708EEDB84}"/>
              </a:ext>
            </a:extLst>
          </p:cNvPr>
          <p:cNvSpPr/>
          <p:nvPr/>
        </p:nvSpPr>
        <p:spPr>
          <a:xfrm>
            <a:off x="5492115" y="2241862"/>
            <a:ext cx="211455" cy="23973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1DC9FCA-2586-616A-6BE4-5BBC0807E47B}"/>
              </a:ext>
            </a:extLst>
          </p:cNvPr>
          <p:cNvSpPr/>
          <p:nvPr/>
        </p:nvSpPr>
        <p:spPr>
          <a:xfrm>
            <a:off x="5532825" y="2164207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68DEF-23A9-05D8-C896-7150D8D6B87A}"/>
              </a:ext>
            </a:extLst>
          </p:cNvPr>
          <p:cNvSpPr/>
          <p:nvPr/>
        </p:nvSpPr>
        <p:spPr>
          <a:xfrm>
            <a:off x="5512934" y="2452354"/>
            <a:ext cx="165600" cy="85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B774AE-FDFF-351D-8C4D-28B151AD2F46}"/>
              </a:ext>
            </a:extLst>
          </p:cNvPr>
          <p:cNvCxnSpPr>
            <a:cxnSpLocks/>
          </p:cNvCxnSpPr>
          <p:nvPr/>
        </p:nvCxnSpPr>
        <p:spPr>
          <a:xfrm>
            <a:off x="5297805" y="2530996"/>
            <a:ext cx="19798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B4C64A-600C-6F67-93BE-A5133A9AC532}"/>
              </a:ext>
            </a:extLst>
          </p:cNvPr>
          <p:cNvCxnSpPr>
            <a:cxnSpLocks/>
          </p:cNvCxnSpPr>
          <p:nvPr/>
        </p:nvCxnSpPr>
        <p:spPr>
          <a:xfrm flipH="1">
            <a:off x="5703570" y="2554597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AF0CB4-56F0-CF9B-041D-77E9AD4D1CD5}"/>
              </a:ext>
            </a:extLst>
          </p:cNvPr>
          <p:cNvCxnSpPr>
            <a:cxnSpLocks/>
          </p:cNvCxnSpPr>
          <p:nvPr/>
        </p:nvCxnSpPr>
        <p:spPr>
          <a:xfrm flipV="1">
            <a:off x="5697101" y="2411940"/>
            <a:ext cx="0" cy="223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5EEEAC7-3F9F-1CB3-DBFD-E6CA3FF533E0}"/>
              </a:ext>
            </a:extLst>
          </p:cNvPr>
          <p:cNvCxnSpPr>
            <a:cxnSpLocks/>
          </p:cNvCxnSpPr>
          <p:nvPr/>
        </p:nvCxnSpPr>
        <p:spPr>
          <a:xfrm flipV="1">
            <a:off x="5492115" y="2452354"/>
            <a:ext cx="0" cy="1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0E6FD07-2DA0-8E21-12FC-222F4736CA0B}"/>
              </a:ext>
            </a:extLst>
          </p:cNvPr>
          <p:cNvSpPr txBox="1"/>
          <p:nvPr/>
        </p:nvSpPr>
        <p:spPr>
          <a:xfrm>
            <a:off x="5724065" y="2073511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ø1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003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E9C3-5189-C4BB-DA09-D06FC1D08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44"/>
            <a:ext cx="9144000" cy="733613"/>
          </a:xfrm>
        </p:spPr>
        <p:txBody>
          <a:bodyPr>
            <a:normAutofit/>
          </a:bodyPr>
          <a:lstStyle/>
          <a:p>
            <a:r>
              <a:rPr lang="ca-ES" sz="4400" dirty="0"/>
              <a:t>Previous Experiments – Michele et al. </a:t>
            </a:r>
            <a:endParaRPr lang="en-US" sz="4400" dirty="0"/>
          </a:p>
        </p:txBody>
      </p:sp>
      <p:pic>
        <p:nvPicPr>
          <p:cNvPr id="1028" name="Picture 4" descr="Fig. 2">
            <a:extLst>
              <a:ext uri="{FF2B5EF4-FFF2-40B4-BE49-F238E27FC236}">
                <a16:creationId xmlns:a16="http://schemas.microsoft.com/office/drawing/2014/main" id="{138BFB27-3DD0-1208-A610-0F2879DE5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0197"/>
            <a:ext cx="12192000" cy="458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B7FB90-8A52-2B80-5175-2445FFC468DD}"/>
              </a:ext>
            </a:extLst>
          </p:cNvPr>
          <p:cNvSpPr txBox="1"/>
          <p:nvPr/>
        </p:nvSpPr>
        <p:spPr>
          <a:xfrm>
            <a:off x="0" y="608003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Lu, X., </a:t>
            </a:r>
            <a:r>
              <a:rPr lang="en-US" dirty="0" err="1"/>
              <a:t>Chiumenti</a:t>
            </a:r>
            <a:r>
              <a:rPr lang="en-US" dirty="0"/>
              <a:t>, M., </a:t>
            </a:r>
            <a:r>
              <a:rPr lang="en-US" dirty="0" err="1"/>
              <a:t>Cervera</a:t>
            </a:r>
            <a:r>
              <a:rPr lang="en-US" dirty="0"/>
              <a:t>, M. et al. Mitigation of residual stresses and microstructure homogenization in directed energy deposition processes. Engineering with Computers 38, 4771–4790 (2022). https://doi.org/10.1007/s00366-021-01563-9</a:t>
            </a:r>
          </a:p>
        </p:txBody>
      </p:sp>
    </p:spTree>
    <p:extLst>
      <p:ext uri="{BB962C8B-B14F-4D97-AF65-F5344CB8AC3E}">
        <p14:creationId xmlns:p14="http://schemas.microsoft.com/office/powerpoint/2010/main" val="135746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ig. 3">
            <a:extLst>
              <a:ext uri="{FF2B5EF4-FFF2-40B4-BE49-F238E27FC236}">
                <a16:creationId xmlns:a16="http://schemas.microsoft.com/office/drawing/2014/main" id="{F49A9AD9-FFA2-5013-A2AB-620F1559C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347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A34781-A197-D44C-D9E4-58899F540998}"/>
              </a:ext>
            </a:extLst>
          </p:cNvPr>
          <p:cNvSpPr txBox="1"/>
          <p:nvPr/>
        </p:nvSpPr>
        <p:spPr>
          <a:xfrm>
            <a:off x="0" y="608003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Lu, X., </a:t>
            </a:r>
            <a:r>
              <a:rPr lang="en-US" dirty="0" err="1"/>
              <a:t>Chiumenti</a:t>
            </a:r>
            <a:r>
              <a:rPr lang="en-US" dirty="0"/>
              <a:t>, M., </a:t>
            </a:r>
            <a:r>
              <a:rPr lang="en-US" dirty="0" err="1"/>
              <a:t>Cervera</a:t>
            </a:r>
            <a:r>
              <a:rPr lang="en-US" dirty="0"/>
              <a:t>, M. et al. Mitigation of residual stresses and microstructure homogenization in directed energy deposition processes. Engineering with Computers 38, 4771–4790 (2022). https://doi.org/10.1007/s00366-021-01563-9</a:t>
            </a:r>
          </a:p>
        </p:txBody>
      </p:sp>
    </p:spTree>
    <p:extLst>
      <p:ext uri="{BB962C8B-B14F-4D97-AF65-F5344CB8AC3E}">
        <p14:creationId xmlns:p14="http://schemas.microsoft.com/office/powerpoint/2010/main" val="5778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B328F-031B-446D-8E93-F1B5E20B0F19}"/>
              </a:ext>
            </a:extLst>
          </p:cNvPr>
          <p:cNvSpPr txBox="1"/>
          <p:nvPr/>
        </p:nvSpPr>
        <p:spPr>
          <a:xfrm>
            <a:off x="0" y="608003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Lu, X., </a:t>
            </a:r>
            <a:r>
              <a:rPr lang="en-US" dirty="0" err="1"/>
              <a:t>Chiumenti</a:t>
            </a:r>
            <a:r>
              <a:rPr lang="en-US" dirty="0"/>
              <a:t>, M., </a:t>
            </a:r>
            <a:r>
              <a:rPr lang="en-US" dirty="0" err="1"/>
              <a:t>Cervera</a:t>
            </a:r>
            <a:r>
              <a:rPr lang="en-US" dirty="0"/>
              <a:t>, M. et al. Mitigation of residual stresses and microstructure homogenization in directed energy deposition processes. Engineering with Computers 38, 4771–4790 (2022). https://doi.org/10.1007/s00366-021-01563-9</a:t>
            </a:r>
          </a:p>
        </p:txBody>
      </p:sp>
      <p:pic>
        <p:nvPicPr>
          <p:cNvPr id="4100" name="Picture 4" descr="Fig. 6">
            <a:extLst>
              <a:ext uri="{FF2B5EF4-FFF2-40B4-BE49-F238E27FC236}">
                <a16:creationId xmlns:a16="http://schemas.microsoft.com/office/drawing/2014/main" id="{3A9A88A9-442D-53F9-59FD-8D8174F08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288"/>
            <a:ext cx="12192000" cy="606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411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ig. 15">
            <a:extLst>
              <a:ext uri="{FF2B5EF4-FFF2-40B4-BE49-F238E27FC236}">
                <a16:creationId xmlns:a16="http://schemas.microsoft.com/office/drawing/2014/main" id="{556716F2-C7EB-03E9-D0D3-721DFEE91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0"/>
            <a:ext cx="10821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15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3B36B-1F44-372D-E3E2-43DD60166C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64" b="2080"/>
          <a:stretch/>
        </p:blipFill>
        <p:spPr>
          <a:xfrm>
            <a:off x="838200" y="1805359"/>
            <a:ext cx="10515600" cy="49955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42E04F-707A-91BF-D828-FD3AF8EEFE84}"/>
              </a:ext>
            </a:extLst>
          </p:cNvPr>
          <p:cNvSpPr txBox="1"/>
          <p:nvPr/>
        </p:nvSpPr>
        <p:spPr>
          <a:xfrm>
            <a:off x="-76200" y="57066"/>
            <a:ext cx="4147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latin typeface="+mj-lt"/>
              </a:rPr>
              <a:t>Previous proposal: </a:t>
            </a:r>
            <a:endParaRPr lang="en-US" sz="40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454B1-5113-550D-6318-12443B036467}"/>
              </a:ext>
            </a:extLst>
          </p:cNvPr>
          <p:cNvSpPr txBox="1"/>
          <p:nvPr/>
        </p:nvSpPr>
        <p:spPr>
          <a:xfrm>
            <a:off x="209550" y="766378"/>
            <a:ext cx="117443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20 layers was not a great idea: </a:t>
            </a:r>
          </a:p>
          <a:p>
            <a:r>
              <a:rPr lang="pt-BR" sz="2800" dirty="0">
                <a:solidFill>
                  <a:srgbClr val="0000FF"/>
                </a:solidFill>
              </a:rPr>
              <a:t>                  		RS </a:t>
            </a:r>
            <a:r>
              <a:rPr lang="pt-BR" sz="2800" dirty="0" err="1">
                <a:solidFill>
                  <a:srgbClr val="0000FF"/>
                </a:solidFill>
              </a:rPr>
              <a:t>probably</a:t>
            </a:r>
            <a:r>
              <a:rPr lang="pt-BR" sz="2800" dirty="0">
                <a:solidFill>
                  <a:srgbClr val="0000FF"/>
                </a:solidFill>
              </a:rPr>
              <a:t> </a:t>
            </a:r>
            <a:r>
              <a:rPr lang="pt-BR" sz="2800" dirty="0" err="1">
                <a:solidFill>
                  <a:srgbClr val="0000FF"/>
                </a:solidFill>
              </a:rPr>
              <a:t>higher</a:t>
            </a:r>
            <a:r>
              <a:rPr lang="pt-BR" sz="2800" dirty="0">
                <a:solidFill>
                  <a:srgbClr val="0000FF"/>
                </a:solidFill>
              </a:rPr>
              <a:t> ... in </a:t>
            </a:r>
            <a:r>
              <a:rPr lang="pt-BR" sz="2800" dirty="0" err="1">
                <a:solidFill>
                  <a:srgbClr val="0000FF"/>
                </a:solidFill>
              </a:rPr>
              <a:t>substrate</a:t>
            </a:r>
            <a:r>
              <a:rPr lang="pt-BR" sz="2800" dirty="0">
                <a:solidFill>
                  <a:srgbClr val="0000FF"/>
                </a:solidFill>
              </a:rPr>
              <a:t> </a:t>
            </a:r>
            <a:r>
              <a:rPr lang="pt-BR" sz="2800" dirty="0" err="1">
                <a:solidFill>
                  <a:srgbClr val="0000FF"/>
                </a:solidFill>
              </a:rPr>
              <a:t>due</a:t>
            </a:r>
            <a:r>
              <a:rPr lang="pt-BR" sz="2800" dirty="0">
                <a:solidFill>
                  <a:srgbClr val="0000FF"/>
                </a:solidFill>
              </a:rPr>
              <a:t> to samples’ sizes.</a:t>
            </a:r>
          </a:p>
          <a:p>
            <a:r>
              <a:rPr lang="pt-BR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9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7B401-6FA2-FD0B-82FF-4696BE3FD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51" y="106392"/>
            <a:ext cx="8740897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41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3F9CC1-49CD-29D5-A856-507F209A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01" y="113216"/>
            <a:ext cx="10515600" cy="1325563"/>
          </a:xfrm>
        </p:spPr>
        <p:txBody>
          <a:bodyPr/>
          <a:lstStyle/>
          <a:p>
            <a:r>
              <a:rPr lang="pt-BR" dirty="0"/>
              <a:t>New proposal suggestion: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B88D1-E4DA-06CC-F6DA-4CA32A7FE7DC}"/>
              </a:ext>
            </a:extLst>
          </p:cNvPr>
          <p:cNvSpPr txBox="1"/>
          <p:nvPr/>
        </p:nvSpPr>
        <p:spPr>
          <a:xfrm>
            <a:off x="439302" y="2136338"/>
            <a:ext cx="628930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Single walls made of Inconel 718 by DED-L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20-30 mm in height, three different fabrication procedures; fabrication over an insulating brick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Samples for residual stresses measurements at DESY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Samples for microstructural characterization and micro tensile tests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Numerical simulation </a:t>
            </a:r>
          </a:p>
          <a:p>
            <a:pPr lvl="1"/>
            <a:endParaRPr lang="en-US" sz="2400" dirty="0"/>
          </a:p>
          <a:p>
            <a:r>
              <a:rPr lang="en-US" sz="2400" dirty="0"/>
              <a:t>Machine: </a:t>
            </a:r>
            <a:r>
              <a:rPr lang="en-US" sz="2400" dirty="0" err="1"/>
              <a:t>BEam</a:t>
            </a:r>
            <a:r>
              <a:rPr lang="en-US" sz="2400" dirty="0"/>
              <a:t> Modulo 250 </a:t>
            </a:r>
          </a:p>
          <a:p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E0DE0FD-2983-26AA-379F-CF29FEB16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151790"/>
              </p:ext>
            </p:extLst>
          </p:nvPr>
        </p:nvGraphicFramePr>
        <p:xfrm>
          <a:off x="6461184" y="1502833"/>
          <a:ext cx="5795034" cy="385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33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3A59DB-6961-B70A-278B-63285E9131B8}"/>
              </a:ext>
            </a:extLst>
          </p:cNvPr>
          <p:cNvSpPr/>
          <p:nvPr/>
        </p:nvSpPr>
        <p:spPr>
          <a:xfrm>
            <a:off x="2019300" y="2774200"/>
            <a:ext cx="7200000" cy="36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6F772-64CD-B55C-153E-C913C5BAF5E2}"/>
              </a:ext>
            </a:extLst>
          </p:cNvPr>
          <p:cNvSpPr/>
          <p:nvPr/>
        </p:nvSpPr>
        <p:spPr>
          <a:xfrm>
            <a:off x="2014986" y="2121601"/>
            <a:ext cx="7200000" cy="36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78F882-18DD-AB81-B1D2-27F2C0D9E8EC}"/>
              </a:ext>
            </a:extLst>
          </p:cNvPr>
          <p:cNvCxnSpPr/>
          <p:nvPr/>
        </p:nvCxnSpPr>
        <p:spPr>
          <a:xfrm>
            <a:off x="2019300" y="6718300"/>
            <a:ext cx="720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2C73D34-8002-7577-67DE-751C51D9069C}"/>
              </a:ext>
            </a:extLst>
          </p:cNvPr>
          <p:cNvSpPr txBox="1"/>
          <p:nvPr/>
        </p:nvSpPr>
        <p:spPr>
          <a:xfrm>
            <a:off x="5181345" y="632521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>
                <a:highlight>
                  <a:srgbClr val="FFFF00"/>
                </a:highlight>
              </a:rPr>
              <a:t>70</a:t>
            </a:r>
            <a:endParaRPr lang="en-US" sz="2800" dirty="0">
              <a:highlight>
                <a:srgbClr val="FFFF00"/>
              </a:highligh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196E52-66E9-8372-1262-ED28726F3645}"/>
              </a:ext>
            </a:extLst>
          </p:cNvPr>
          <p:cNvCxnSpPr>
            <a:cxnSpLocks/>
          </p:cNvCxnSpPr>
          <p:nvPr/>
        </p:nvCxnSpPr>
        <p:spPr>
          <a:xfrm flipV="1">
            <a:off x="1581345" y="2774200"/>
            <a:ext cx="0" cy="36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83CAD5-A5A2-7D39-529D-484B091B05F4}"/>
              </a:ext>
            </a:extLst>
          </p:cNvPr>
          <p:cNvSpPr txBox="1"/>
          <p:nvPr/>
        </p:nvSpPr>
        <p:spPr>
          <a:xfrm>
            <a:off x="1031194" y="445287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D9BAA-37ED-A77B-4270-59E53846AAF8}"/>
              </a:ext>
            </a:extLst>
          </p:cNvPr>
          <p:cNvSpPr/>
          <p:nvPr/>
        </p:nvSpPr>
        <p:spPr>
          <a:xfrm>
            <a:off x="2726587" y="4470479"/>
            <a:ext cx="5760000" cy="20744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6F2195-0B36-0768-C964-6982178001BB}"/>
              </a:ext>
            </a:extLst>
          </p:cNvPr>
          <p:cNvCxnSpPr>
            <a:cxnSpLocks/>
          </p:cNvCxnSpPr>
          <p:nvPr/>
        </p:nvCxnSpPr>
        <p:spPr>
          <a:xfrm>
            <a:off x="2732327" y="3975063"/>
            <a:ext cx="5765318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80F6F5-5564-4FCD-7930-2A038B430596}"/>
              </a:ext>
            </a:extLst>
          </p:cNvPr>
          <p:cNvSpPr txBox="1"/>
          <p:nvPr/>
        </p:nvSpPr>
        <p:spPr>
          <a:xfrm>
            <a:off x="4438676" y="3594371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50</a:t>
            </a:r>
            <a:endParaRPr lang="en-US" sz="2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142FB4-FE82-6C9A-F973-C71051D3114C}"/>
              </a:ext>
            </a:extLst>
          </p:cNvPr>
          <p:cNvCxnSpPr>
            <a:cxnSpLocks/>
          </p:cNvCxnSpPr>
          <p:nvPr/>
        </p:nvCxnSpPr>
        <p:spPr>
          <a:xfrm flipV="1">
            <a:off x="1557280" y="2089101"/>
            <a:ext cx="0" cy="3925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AD3F53-1CE9-5F9B-04B6-7B499965FFE9}"/>
              </a:ext>
            </a:extLst>
          </p:cNvPr>
          <p:cNvSpPr txBox="1"/>
          <p:nvPr/>
        </p:nvSpPr>
        <p:spPr>
          <a:xfrm>
            <a:off x="1007129" y="202374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9D1BAE-2AD6-CCAD-42DD-BB265135B41C}"/>
              </a:ext>
            </a:extLst>
          </p:cNvPr>
          <p:cNvCxnSpPr>
            <a:cxnSpLocks/>
          </p:cNvCxnSpPr>
          <p:nvPr/>
        </p:nvCxnSpPr>
        <p:spPr>
          <a:xfrm>
            <a:off x="8486587" y="4586046"/>
            <a:ext cx="73271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431ABC0-46A2-642E-0E60-40F9C2E6261B}"/>
              </a:ext>
            </a:extLst>
          </p:cNvPr>
          <p:cNvSpPr txBox="1"/>
          <p:nvPr/>
        </p:nvSpPr>
        <p:spPr>
          <a:xfrm>
            <a:off x="8659560" y="417861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B5BB6-9D32-0F5C-B746-B0B82F051A71}"/>
              </a:ext>
            </a:extLst>
          </p:cNvPr>
          <p:cNvSpPr/>
          <p:nvPr/>
        </p:nvSpPr>
        <p:spPr>
          <a:xfrm>
            <a:off x="2726587" y="2010756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1E051E-35DF-6458-C7A5-0F9764A00B91}"/>
              </a:ext>
            </a:extLst>
          </p:cNvPr>
          <p:cNvSpPr/>
          <p:nvPr/>
        </p:nvSpPr>
        <p:spPr>
          <a:xfrm>
            <a:off x="2726587" y="1911984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EB8E90-0CC3-9781-383B-22F5469EB2EA}"/>
              </a:ext>
            </a:extLst>
          </p:cNvPr>
          <p:cNvSpPr/>
          <p:nvPr/>
        </p:nvSpPr>
        <p:spPr>
          <a:xfrm>
            <a:off x="2726587" y="1813211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256420-9477-098A-3B35-87507C7549D2}"/>
              </a:ext>
            </a:extLst>
          </p:cNvPr>
          <p:cNvSpPr/>
          <p:nvPr/>
        </p:nvSpPr>
        <p:spPr>
          <a:xfrm>
            <a:off x="2726587" y="1714438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68615-3614-CB24-7C81-82B5CFF09C4A}"/>
              </a:ext>
            </a:extLst>
          </p:cNvPr>
          <p:cNvSpPr/>
          <p:nvPr/>
        </p:nvSpPr>
        <p:spPr>
          <a:xfrm>
            <a:off x="2726587" y="1615665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E9A42B-16B8-70DA-2F34-20B969875D44}"/>
              </a:ext>
            </a:extLst>
          </p:cNvPr>
          <p:cNvSpPr/>
          <p:nvPr/>
        </p:nvSpPr>
        <p:spPr>
          <a:xfrm>
            <a:off x="2726587" y="1516892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488CDB-5492-43A5-751B-44B89CA610A8}"/>
              </a:ext>
            </a:extLst>
          </p:cNvPr>
          <p:cNvSpPr/>
          <p:nvPr/>
        </p:nvSpPr>
        <p:spPr>
          <a:xfrm>
            <a:off x="2726587" y="1418119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0D68A8-1A8D-D26B-D940-07CE3BEFA6F0}"/>
              </a:ext>
            </a:extLst>
          </p:cNvPr>
          <p:cNvSpPr/>
          <p:nvPr/>
        </p:nvSpPr>
        <p:spPr>
          <a:xfrm>
            <a:off x="2726587" y="1319346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7E3B98-0668-188D-63D4-DECB7E926B32}"/>
              </a:ext>
            </a:extLst>
          </p:cNvPr>
          <p:cNvSpPr/>
          <p:nvPr/>
        </p:nvSpPr>
        <p:spPr>
          <a:xfrm>
            <a:off x="2726587" y="1220573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004E8C-6294-6B79-CA7B-F0AEC7BC505A}"/>
              </a:ext>
            </a:extLst>
          </p:cNvPr>
          <p:cNvSpPr/>
          <p:nvPr/>
        </p:nvSpPr>
        <p:spPr>
          <a:xfrm>
            <a:off x="2726587" y="1121800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7A1944-9802-0127-76D7-10CECA75F8E3}"/>
              </a:ext>
            </a:extLst>
          </p:cNvPr>
          <p:cNvSpPr/>
          <p:nvPr/>
        </p:nvSpPr>
        <p:spPr>
          <a:xfrm>
            <a:off x="2726587" y="1023027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603998-B07C-D7B2-01BA-6D739F009F7B}"/>
              </a:ext>
            </a:extLst>
          </p:cNvPr>
          <p:cNvSpPr/>
          <p:nvPr/>
        </p:nvSpPr>
        <p:spPr>
          <a:xfrm>
            <a:off x="2726587" y="924254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F57E1E-005D-0910-98FC-75CEAB517C88}"/>
              </a:ext>
            </a:extLst>
          </p:cNvPr>
          <p:cNvSpPr/>
          <p:nvPr/>
        </p:nvSpPr>
        <p:spPr>
          <a:xfrm>
            <a:off x="2726587" y="825481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B0B8D-7DD3-07CE-18A4-D2D0D63CF88F}"/>
              </a:ext>
            </a:extLst>
          </p:cNvPr>
          <p:cNvSpPr/>
          <p:nvPr/>
        </p:nvSpPr>
        <p:spPr>
          <a:xfrm>
            <a:off x="2726587" y="726708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FB4C6B-BF9C-B284-B595-234BF5AC4BC0}"/>
              </a:ext>
            </a:extLst>
          </p:cNvPr>
          <p:cNvSpPr/>
          <p:nvPr/>
        </p:nvSpPr>
        <p:spPr>
          <a:xfrm>
            <a:off x="2726587" y="627935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CF3C33-49CD-B65D-2530-1EA3B6E1D8D3}"/>
              </a:ext>
            </a:extLst>
          </p:cNvPr>
          <p:cNvSpPr/>
          <p:nvPr/>
        </p:nvSpPr>
        <p:spPr>
          <a:xfrm>
            <a:off x="2726587" y="529162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AE909D-AC06-D5BB-0A06-EDACDBF93279}"/>
              </a:ext>
            </a:extLst>
          </p:cNvPr>
          <p:cNvSpPr/>
          <p:nvPr/>
        </p:nvSpPr>
        <p:spPr>
          <a:xfrm>
            <a:off x="2726587" y="430389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4CD4C2-50BD-FD75-1DC5-0323BAFFB370}"/>
              </a:ext>
            </a:extLst>
          </p:cNvPr>
          <p:cNvSpPr/>
          <p:nvPr/>
        </p:nvSpPr>
        <p:spPr>
          <a:xfrm>
            <a:off x="2726587" y="331616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51A6EB-AFA8-1E2F-048D-B26211B89C0D}"/>
              </a:ext>
            </a:extLst>
          </p:cNvPr>
          <p:cNvSpPr/>
          <p:nvPr/>
        </p:nvSpPr>
        <p:spPr>
          <a:xfrm>
            <a:off x="2726587" y="232843"/>
            <a:ext cx="5760000" cy="9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9115A6-D9FE-6897-68FD-DDAE9B721A73}"/>
              </a:ext>
            </a:extLst>
          </p:cNvPr>
          <p:cNvSpPr/>
          <p:nvPr/>
        </p:nvSpPr>
        <p:spPr>
          <a:xfrm>
            <a:off x="2726587" y="134070"/>
            <a:ext cx="5760000" cy="9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A55AFF0E-E6DA-528A-608B-09F5A9AEC13E}"/>
              </a:ext>
            </a:extLst>
          </p:cNvPr>
          <p:cNvSpPr/>
          <p:nvPr/>
        </p:nvSpPr>
        <p:spPr>
          <a:xfrm rot="10800000">
            <a:off x="9053061" y="1119927"/>
            <a:ext cx="323850" cy="79018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7FF4A8-91F9-66B3-6060-97150D396B3F}"/>
              </a:ext>
            </a:extLst>
          </p:cNvPr>
          <p:cNvSpPr txBox="1"/>
          <p:nvPr/>
        </p:nvSpPr>
        <p:spPr>
          <a:xfrm>
            <a:off x="9392813" y="1191853"/>
            <a:ext cx="1140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Building direction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566B6E6-B553-FE26-9779-E9FE84435811}"/>
              </a:ext>
            </a:extLst>
          </p:cNvPr>
          <p:cNvSpPr/>
          <p:nvPr/>
        </p:nvSpPr>
        <p:spPr>
          <a:xfrm>
            <a:off x="8412603" y="4510572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C40332-E91E-4D2D-1B74-4782A84CBDA9}"/>
              </a:ext>
            </a:extLst>
          </p:cNvPr>
          <p:cNvSpPr/>
          <p:nvPr/>
        </p:nvSpPr>
        <p:spPr>
          <a:xfrm>
            <a:off x="5539070" y="4512004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BADB959-A12D-300F-D757-0969B1E58588}"/>
              </a:ext>
            </a:extLst>
          </p:cNvPr>
          <p:cNvSpPr/>
          <p:nvPr/>
        </p:nvSpPr>
        <p:spPr>
          <a:xfrm>
            <a:off x="2656369" y="4518579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E329B6-5278-BE0C-C075-0C1F3EDEBD3E}"/>
              </a:ext>
            </a:extLst>
          </p:cNvPr>
          <p:cNvCxnSpPr>
            <a:cxnSpLocks/>
          </p:cNvCxnSpPr>
          <p:nvPr/>
        </p:nvCxnSpPr>
        <p:spPr>
          <a:xfrm flipV="1">
            <a:off x="2721269" y="2763103"/>
            <a:ext cx="0" cy="18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9D3D6D9-B1C7-4DE7-6D07-E5AB2BB759B5}"/>
              </a:ext>
            </a:extLst>
          </p:cNvPr>
          <p:cNvSpPr txBox="1"/>
          <p:nvPr/>
        </p:nvSpPr>
        <p:spPr>
          <a:xfrm>
            <a:off x="2000790" y="3477987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12.5</a:t>
            </a:r>
            <a:endParaRPr lang="en-US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BB07273-DAE7-02D7-D6B2-6FB04930024A}"/>
              </a:ext>
            </a:extLst>
          </p:cNvPr>
          <p:cNvSpPr/>
          <p:nvPr/>
        </p:nvSpPr>
        <p:spPr>
          <a:xfrm>
            <a:off x="5540861" y="5415228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DC45A4-C0E0-430A-E3CA-3C008115BB56}"/>
              </a:ext>
            </a:extLst>
          </p:cNvPr>
          <p:cNvCxnSpPr>
            <a:cxnSpLocks/>
          </p:cNvCxnSpPr>
          <p:nvPr/>
        </p:nvCxnSpPr>
        <p:spPr>
          <a:xfrm flipV="1">
            <a:off x="5609337" y="5474199"/>
            <a:ext cx="0" cy="9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003B86-7C0F-11D4-90BB-286F600CC586}"/>
              </a:ext>
            </a:extLst>
          </p:cNvPr>
          <p:cNvCxnSpPr>
            <a:cxnSpLocks/>
          </p:cNvCxnSpPr>
          <p:nvPr/>
        </p:nvCxnSpPr>
        <p:spPr>
          <a:xfrm>
            <a:off x="5668870" y="5482161"/>
            <a:ext cx="35461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28E279E-D0FC-2549-5B2E-3F5327D5FB74}"/>
              </a:ext>
            </a:extLst>
          </p:cNvPr>
          <p:cNvSpPr txBox="1"/>
          <p:nvPr/>
        </p:nvSpPr>
        <p:spPr>
          <a:xfrm>
            <a:off x="7138843" y="5079498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1B0648-8E4E-5AD3-A7D5-C0E44577C66D}"/>
              </a:ext>
            </a:extLst>
          </p:cNvPr>
          <p:cNvSpPr txBox="1"/>
          <p:nvPr/>
        </p:nvSpPr>
        <p:spPr>
          <a:xfrm>
            <a:off x="4840773" y="5636780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6.25</a:t>
            </a:r>
            <a:endParaRPr lang="en-US" sz="28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447112-9BE7-7CA1-E44E-4C28EB7B6AF6}"/>
              </a:ext>
            </a:extLst>
          </p:cNvPr>
          <p:cNvCxnSpPr/>
          <p:nvPr/>
        </p:nvCxnSpPr>
        <p:spPr>
          <a:xfrm flipV="1">
            <a:off x="1557280" y="1113027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CC94840-4F18-1479-C233-80D8C7E7ADAE}"/>
              </a:ext>
            </a:extLst>
          </p:cNvPr>
          <p:cNvCxnSpPr>
            <a:cxnSpLocks/>
          </p:cNvCxnSpPr>
          <p:nvPr/>
        </p:nvCxnSpPr>
        <p:spPr>
          <a:xfrm>
            <a:off x="1557280" y="1516892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787C81E-99C5-ADDD-3EDF-75C1060BA387}"/>
              </a:ext>
            </a:extLst>
          </p:cNvPr>
          <p:cNvSpPr txBox="1"/>
          <p:nvPr/>
        </p:nvSpPr>
        <p:spPr>
          <a:xfrm>
            <a:off x="1411246" y="811597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4A19AA-63E1-A160-207C-77C17CE6AAEB}"/>
              </a:ext>
            </a:extLst>
          </p:cNvPr>
          <p:cNvSpPr txBox="1"/>
          <p:nvPr/>
        </p:nvSpPr>
        <p:spPr>
          <a:xfrm>
            <a:off x="1876967" y="128609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C5E1473-AD41-81B9-8E3F-8ED827B8BA37}"/>
              </a:ext>
            </a:extLst>
          </p:cNvPr>
          <p:cNvSpPr/>
          <p:nvPr/>
        </p:nvSpPr>
        <p:spPr>
          <a:xfrm>
            <a:off x="1492379" y="1443219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8C3C2-6C76-FE76-4D85-34A2F72D4DA6}"/>
              </a:ext>
            </a:extLst>
          </p:cNvPr>
          <p:cNvSpPr txBox="1"/>
          <p:nvPr/>
        </p:nvSpPr>
        <p:spPr>
          <a:xfrm>
            <a:off x="1249258" y="130930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6C76CB-C491-CCC1-1A74-077FF16AA1CB}"/>
              </a:ext>
            </a:extLst>
          </p:cNvPr>
          <p:cNvCxnSpPr/>
          <p:nvPr/>
        </p:nvCxnSpPr>
        <p:spPr>
          <a:xfrm flipV="1">
            <a:off x="9710409" y="3370619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770405F-302D-07A2-24FF-D47E6C0424CE}"/>
              </a:ext>
            </a:extLst>
          </p:cNvPr>
          <p:cNvCxnSpPr>
            <a:cxnSpLocks/>
          </p:cNvCxnSpPr>
          <p:nvPr/>
        </p:nvCxnSpPr>
        <p:spPr>
          <a:xfrm>
            <a:off x="9710409" y="3774484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5155805-20F9-00DB-ACC7-134AED7C0C22}"/>
              </a:ext>
            </a:extLst>
          </p:cNvPr>
          <p:cNvSpPr txBox="1"/>
          <p:nvPr/>
        </p:nvSpPr>
        <p:spPr>
          <a:xfrm>
            <a:off x="9564375" y="306918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8ADDAF-E057-ACD5-344E-9DFD57946715}"/>
              </a:ext>
            </a:extLst>
          </p:cNvPr>
          <p:cNvSpPr txBox="1"/>
          <p:nvPr/>
        </p:nvSpPr>
        <p:spPr>
          <a:xfrm>
            <a:off x="10030096" y="354368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69ADBEE-6D6E-486C-3316-EFD665775666}"/>
              </a:ext>
            </a:extLst>
          </p:cNvPr>
          <p:cNvSpPr/>
          <p:nvPr/>
        </p:nvSpPr>
        <p:spPr>
          <a:xfrm>
            <a:off x="9645508" y="3700811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03E96D-9FF9-D923-8FC0-BFCB5BC0DFF3}"/>
              </a:ext>
            </a:extLst>
          </p:cNvPr>
          <p:cNvSpPr txBox="1"/>
          <p:nvPr/>
        </p:nvSpPr>
        <p:spPr>
          <a:xfrm>
            <a:off x="9402387" y="3566894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4E9F919-2FC2-1594-3D9A-B27A28875835}"/>
              </a:ext>
            </a:extLst>
          </p:cNvPr>
          <p:cNvCxnSpPr>
            <a:cxnSpLocks/>
          </p:cNvCxnSpPr>
          <p:nvPr/>
        </p:nvCxnSpPr>
        <p:spPr>
          <a:xfrm>
            <a:off x="1988556" y="4588559"/>
            <a:ext cx="73271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C0AC40E-26E3-4FF5-E9A6-CACABBD5CB47}"/>
              </a:ext>
            </a:extLst>
          </p:cNvPr>
          <p:cNvSpPr txBox="1"/>
          <p:nvPr/>
        </p:nvSpPr>
        <p:spPr>
          <a:xfrm>
            <a:off x="2138878" y="4149094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209ED7-A841-B94A-FCDC-B0CA38410474}"/>
              </a:ext>
            </a:extLst>
          </p:cNvPr>
          <p:cNvSpPr txBox="1"/>
          <p:nvPr/>
        </p:nvSpPr>
        <p:spPr>
          <a:xfrm>
            <a:off x="2695378" y="4612349"/>
            <a:ext cx="2559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TC1(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6BA02B-690C-64BD-795C-1C9EBFDBABDF}"/>
              </a:ext>
            </a:extLst>
          </p:cNvPr>
          <p:cNvSpPr txBox="1"/>
          <p:nvPr/>
        </p:nvSpPr>
        <p:spPr>
          <a:xfrm>
            <a:off x="5264011" y="4638918"/>
            <a:ext cx="1451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TC3 (</a:t>
            </a:r>
            <a:r>
              <a:rPr lang="ca-ES" sz="2400" dirty="0" err="1"/>
              <a:t>hole</a:t>
            </a:r>
            <a:r>
              <a:rPr lang="ca-ES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95B2CD-BEDE-CC37-31E7-D8A6F21F65F7}"/>
              </a:ext>
            </a:extLst>
          </p:cNvPr>
          <p:cNvSpPr txBox="1"/>
          <p:nvPr/>
        </p:nvSpPr>
        <p:spPr>
          <a:xfrm>
            <a:off x="5540861" y="5504888"/>
            <a:ext cx="2559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TC4</a:t>
            </a:r>
            <a:r>
              <a:rPr lang="ca-ES" sz="2400" dirty="0"/>
              <a:t>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/>
              <a:t>)</a:t>
            </a:r>
            <a:endParaRPr lang="en-US" sz="24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78709F0-4A8C-831C-B104-736632FE8AA3}"/>
              </a:ext>
            </a:extLst>
          </p:cNvPr>
          <p:cNvSpPr/>
          <p:nvPr/>
        </p:nvSpPr>
        <p:spPr>
          <a:xfrm>
            <a:off x="2656369" y="2424797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471EFE9-9014-D576-6E15-4A92E224DB16}"/>
              </a:ext>
            </a:extLst>
          </p:cNvPr>
          <p:cNvSpPr/>
          <p:nvPr/>
        </p:nvSpPr>
        <p:spPr>
          <a:xfrm>
            <a:off x="8409281" y="2424797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A9827F3-7279-0719-A437-77426E7856A9}"/>
              </a:ext>
            </a:extLst>
          </p:cNvPr>
          <p:cNvCxnSpPr>
            <a:cxnSpLocks/>
          </p:cNvCxnSpPr>
          <p:nvPr/>
        </p:nvCxnSpPr>
        <p:spPr>
          <a:xfrm flipV="1">
            <a:off x="5208458" y="2481601"/>
            <a:ext cx="0" cy="3925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7FD6922-66B7-62DE-1413-274D788FC4A1}"/>
              </a:ext>
            </a:extLst>
          </p:cNvPr>
          <p:cNvSpPr txBox="1"/>
          <p:nvPr/>
        </p:nvSpPr>
        <p:spPr>
          <a:xfrm>
            <a:off x="4875459" y="207453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4</a:t>
            </a:r>
            <a:endParaRPr lang="en-US" sz="28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5AE77C2-5FDB-425A-ADCA-19B902464EE9}"/>
              </a:ext>
            </a:extLst>
          </p:cNvPr>
          <p:cNvCxnSpPr>
            <a:cxnSpLocks/>
          </p:cNvCxnSpPr>
          <p:nvPr/>
        </p:nvCxnSpPr>
        <p:spPr>
          <a:xfrm>
            <a:off x="5217030" y="1922833"/>
            <a:ext cx="0" cy="306274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4B1279D-3E01-D88A-590A-F9F9B036AC26}"/>
              </a:ext>
            </a:extLst>
          </p:cNvPr>
          <p:cNvCxnSpPr>
            <a:cxnSpLocks/>
          </p:cNvCxnSpPr>
          <p:nvPr/>
        </p:nvCxnSpPr>
        <p:spPr>
          <a:xfrm flipH="1">
            <a:off x="5162991" y="2229107"/>
            <a:ext cx="400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6D9B195-E496-F0D8-D12B-55716BBCF70B}"/>
              </a:ext>
            </a:extLst>
          </p:cNvPr>
          <p:cNvSpPr txBox="1"/>
          <p:nvPr/>
        </p:nvSpPr>
        <p:spPr>
          <a:xfrm>
            <a:off x="8371001" y="4646930"/>
            <a:ext cx="26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TC2(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>
                <a:solidFill>
                  <a:srgbClr val="FF0000"/>
                </a:solidFill>
              </a:rPr>
              <a:t>) 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4676137-0839-853D-0447-F79EDFDB7EE5}"/>
              </a:ext>
            </a:extLst>
          </p:cNvPr>
          <p:cNvCxnSpPr>
            <a:cxnSpLocks/>
          </p:cNvCxnSpPr>
          <p:nvPr/>
        </p:nvCxnSpPr>
        <p:spPr>
          <a:xfrm flipV="1">
            <a:off x="5597725" y="2811990"/>
            <a:ext cx="0" cy="1656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DBB7EB-FD9A-343A-0709-59BFD5C52F2D}"/>
              </a:ext>
            </a:extLst>
          </p:cNvPr>
          <p:cNvCxnSpPr>
            <a:cxnSpLocks/>
          </p:cNvCxnSpPr>
          <p:nvPr/>
        </p:nvCxnSpPr>
        <p:spPr>
          <a:xfrm>
            <a:off x="5654481" y="4288931"/>
            <a:ext cx="35461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224D554F-6FA6-7509-41B3-08D403FDABF9}"/>
              </a:ext>
            </a:extLst>
          </p:cNvPr>
          <p:cNvSpPr txBox="1"/>
          <p:nvPr/>
        </p:nvSpPr>
        <p:spPr>
          <a:xfrm>
            <a:off x="7284159" y="389801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47EFEC-3E86-35A0-B639-2747850658AD}"/>
              </a:ext>
            </a:extLst>
          </p:cNvPr>
          <p:cNvSpPr txBox="1"/>
          <p:nvPr/>
        </p:nvSpPr>
        <p:spPr>
          <a:xfrm>
            <a:off x="5520555" y="336113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12.5</a:t>
            </a:r>
            <a:endParaRPr lang="en-US" sz="28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EDC5241-6DA7-D05E-9683-3A714B45B07E}"/>
              </a:ext>
            </a:extLst>
          </p:cNvPr>
          <p:cNvSpPr/>
          <p:nvPr/>
        </p:nvSpPr>
        <p:spPr>
          <a:xfrm>
            <a:off x="5492115" y="2241862"/>
            <a:ext cx="211455" cy="23973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2D88C5B-9506-F6D5-92FE-CC2FEC67C97F}"/>
              </a:ext>
            </a:extLst>
          </p:cNvPr>
          <p:cNvSpPr/>
          <p:nvPr/>
        </p:nvSpPr>
        <p:spPr>
          <a:xfrm>
            <a:off x="5532825" y="2164207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A3DF82D-632A-28FB-396F-BAA30A73D4D5}"/>
              </a:ext>
            </a:extLst>
          </p:cNvPr>
          <p:cNvSpPr/>
          <p:nvPr/>
        </p:nvSpPr>
        <p:spPr>
          <a:xfrm>
            <a:off x="5512934" y="2452354"/>
            <a:ext cx="165600" cy="85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CFD0206-4E87-F5D3-CD79-C63CC315E31F}"/>
              </a:ext>
            </a:extLst>
          </p:cNvPr>
          <p:cNvCxnSpPr>
            <a:cxnSpLocks/>
          </p:cNvCxnSpPr>
          <p:nvPr/>
        </p:nvCxnSpPr>
        <p:spPr>
          <a:xfrm>
            <a:off x="5297805" y="2530996"/>
            <a:ext cx="19798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28F6AFB-E410-4591-0641-21BF3DED2E97}"/>
              </a:ext>
            </a:extLst>
          </p:cNvPr>
          <p:cNvCxnSpPr>
            <a:cxnSpLocks/>
          </p:cNvCxnSpPr>
          <p:nvPr/>
        </p:nvCxnSpPr>
        <p:spPr>
          <a:xfrm flipH="1">
            <a:off x="5703570" y="2554597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015F40D-1F6A-07DD-1184-21BC1FDBD930}"/>
              </a:ext>
            </a:extLst>
          </p:cNvPr>
          <p:cNvCxnSpPr>
            <a:cxnSpLocks/>
          </p:cNvCxnSpPr>
          <p:nvPr/>
        </p:nvCxnSpPr>
        <p:spPr>
          <a:xfrm flipV="1">
            <a:off x="5697101" y="2411940"/>
            <a:ext cx="0" cy="223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6683565-284D-FADA-CCEC-532D8B51664B}"/>
              </a:ext>
            </a:extLst>
          </p:cNvPr>
          <p:cNvCxnSpPr>
            <a:cxnSpLocks/>
          </p:cNvCxnSpPr>
          <p:nvPr/>
        </p:nvCxnSpPr>
        <p:spPr>
          <a:xfrm flipV="1">
            <a:off x="5492115" y="2452354"/>
            <a:ext cx="0" cy="1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4950ADF-9272-51F1-670F-1FD17A26A492}"/>
              </a:ext>
            </a:extLst>
          </p:cNvPr>
          <p:cNvSpPr txBox="1"/>
          <p:nvPr/>
        </p:nvSpPr>
        <p:spPr>
          <a:xfrm>
            <a:off x="5724065" y="2073511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ø1</a:t>
            </a:r>
            <a:endParaRPr lang="en-US" sz="28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B86AB70-2A84-2F7B-3381-6A125C39B89A}"/>
              </a:ext>
            </a:extLst>
          </p:cNvPr>
          <p:cNvCxnSpPr>
            <a:cxnSpLocks/>
          </p:cNvCxnSpPr>
          <p:nvPr/>
        </p:nvCxnSpPr>
        <p:spPr>
          <a:xfrm flipH="1" flipV="1">
            <a:off x="2492369" y="164068"/>
            <a:ext cx="13917" cy="1936688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15EBD73A-7F6C-049F-77A4-88D344A49B60}"/>
              </a:ext>
            </a:extLst>
          </p:cNvPr>
          <p:cNvSpPr txBox="1"/>
          <p:nvPr/>
        </p:nvSpPr>
        <p:spPr>
          <a:xfrm>
            <a:off x="1958127" y="851556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>
                <a:highlight>
                  <a:srgbClr val="FFFF00"/>
                </a:highlight>
              </a:rPr>
              <a:t>20</a:t>
            </a: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10972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31294-1F3D-901A-B76A-FC7CCC3E338C}"/>
              </a:ext>
            </a:extLst>
          </p:cNvPr>
          <p:cNvSpPr txBox="1"/>
          <p:nvPr/>
        </p:nvSpPr>
        <p:spPr>
          <a:xfrm>
            <a:off x="212035" y="0"/>
            <a:ext cx="56557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latin typeface="+mj-lt"/>
              </a:rPr>
              <a:t>New deposition strategies:</a:t>
            </a:r>
            <a:endParaRPr lang="en-US" sz="4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132C8-6840-438D-120B-057C49704B48}"/>
              </a:ext>
            </a:extLst>
          </p:cNvPr>
          <p:cNvSpPr txBox="1"/>
          <p:nvPr/>
        </p:nvSpPr>
        <p:spPr>
          <a:xfrm>
            <a:off x="2746076" y="190780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1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C696D9-86CB-62A8-970A-7DA003F3BFDB}"/>
              </a:ext>
            </a:extLst>
          </p:cNvPr>
          <p:cNvSpPr/>
          <p:nvPr/>
        </p:nvSpPr>
        <p:spPr>
          <a:xfrm>
            <a:off x="3815849" y="1655772"/>
            <a:ext cx="2428801" cy="103366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253AC4-CFD0-E9A0-5CF6-ED6179ADBC88}"/>
              </a:ext>
            </a:extLst>
          </p:cNvPr>
          <p:cNvCxnSpPr/>
          <p:nvPr/>
        </p:nvCxnSpPr>
        <p:spPr>
          <a:xfrm>
            <a:off x="4018285" y="1867806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D493B6-B043-03E1-DC98-68D6E9CE3910}"/>
              </a:ext>
            </a:extLst>
          </p:cNvPr>
          <p:cNvCxnSpPr/>
          <p:nvPr/>
        </p:nvCxnSpPr>
        <p:spPr>
          <a:xfrm>
            <a:off x="4018284" y="1990509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D7D3B1-BAB3-71E4-B0AC-B630CDC7AB0B}"/>
              </a:ext>
            </a:extLst>
          </p:cNvPr>
          <p:cNvCxnSpPr/>
          <p:nvPr/>
        </p:nvCxnSpPr>
        <p:spPr>
          <a:xfrm>
            <a:off x="4018284" y="2106346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91BC77-2E51-5A38-F511-5EC3686BAD09}"/>
              </a:ext>
            </a:extLst>
          </p:cNvPr>
          <p:cNvCxnSpPr/>
          <p:nvPr/>
        </p:nvCxnSpPr>
        <p:spPr>
          <a:xfrm>
            <a:off x="4018285" y="2228807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265B71-8FCF-8CAE-F001-C65AF2BF4BF0}"/>
              </a:ext>
            </a:extLst>
          </p:cNvPr>
          <p:cNvCxnSpPr/>
          <p:nvPr/>
        </p:nvCxnSpPr>
        <p:spPr>
          <a:xfrm>
            <a:off x="4018284" y="2351510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15AE3D-79E2-B81E-AA7B-4FE448072CF5}"/>
              </a:ext>
            </a:extLst>
          </p:cNvPr>
          <p:cNvCxnSpPr/>
          <p:nvPr/>
        </p:nvCxnSpPr>
        <p:spPr>
          <a:xfrm>
            <a:off x="4018284" y="2467347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D83FE8-817D-D9AB-05C8-702307061805}"/>
              </a:ext>
            </a:extLst>
          </p:cNvPr>
          <p:cNvSpPr txBox="1"/>
          <p:nvPr/>
        </p:nvSpPr>
        <p:spPr>
          <a:xfrm>
            <a:off x="2746076" y="349254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2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CE93AC-7D27-DFA0-6237-0B258AD77F55}"/>
              </a:ext>
            </a:extLst>
          </p:cNvPr>
          <p:cNvSpPr/>
          <p:nvPr/>
        </p:nvSpPr>
        <p:spPr>
          <a:xfrm>
            <a:off x="3815849" y="3240512"/>
            <a:ext cx="2428801" cy="103366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EECA62-1BEA-16EE-8BFD-417CE66C3EF1}"/>
              </a:ext>
            </a:extLst>
          </p:cNvPr>
          <p:cNvCxnSpPr/>
          <p:nvPr/>
        </p:nvCxnSpPr>
        <p:spPr>
          <a:xfrm>
            <a:off x="4018285" y="3452546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7EB8AD-F73B-CBD0-E5D1-BA68DDDC4CDC}"/>
              </a:ext>
            </a:extLst>
          </p:cNvPr>
          <p:cNvCxnSpPr/>
          <p:nvPr/>
        </p:nvCxnSpPr>
        <p:spPr>
          <a:xfrm>
            <a:off x="4018284" y="3691086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449C67-F545-34AA-E42A-9859319C4485}"/>
              </a:ext>
            </a:extLst>
          </p:cNvPr>
          <p:cNvCxnSpPr/>
          <p:nvPr/>
        </p:nvCxnSpPr>
        <p:spPr>
          <a:xfrm>
            <a:off x="4018284" y="3936250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F0F04A-0701-FB43-47EF-D7D9226DD66B}"/>
              </a:ext>
            </a:extLst>
          </p:cNvPr>
          <p:cNvCxnSpPr/>
          <p:nvPr/>
        </p:nvCxnSpPr>
        <p:spPr>
          <a:xfrm flipH="1">
            <a:off x="4018284" y="3572055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DC2E26-8F57-2E47-68B0-906AF6B6551B}"/>
              </a:ext>
            </a:extLst>
          </p:cNvPr>
          <p:cNvCxnSpPr/>
          <p:nvPr/>
        </p:nvCxnSpPr>
        <p:spPr>
          <a:xfrm flipH="1">
            <a:off x="4018284" y="3813907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88FC3B-9866-25BA-F4CD-E7CD832C98B2}"/>
              </a:ext>
            </a:extLst>
          </p:cNvPr>
          <p:cNvCxnSpPr/>
          <p:nvPr/>
        </p:nvCxnSpPr>
        <p:spPr>
          <a:xfrm flipH="1">
            <a:off x="4018284" y="4036985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C24F5BB-CB81-CDE6-1EBA-BDFB73839FDC}"/>
              </a:ext>
            </a:extLst>
          </p:cNvPr>
          <p:cNvSpPr txBox="1"/>
          <p:nvPr/>
        </p:nvSpPr>
        <p:spPr>
          <a:xfrm>
            <a:off x="2746076" y="521422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3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412AA1-A83B-4871-30AF-4BC408AA967C}"/>
              </a:ext>
            </a:extLst>
          </p:cNvPr>
          <p:cNvSpPr/>
          <p:nvPr/>
        </p:nvSpPr>
        <p:spPr>
          <a:xfrm>
            <a:off x="3815849" y="4962190"/>
            <a:ext cx="2428801" cy="103366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B1BD20-9849-530D-3C55-B2F8C25480D8}"/>
              </a:ext>
            </a:extLst>
          </p:cNvPr>
          <p:cNvCxnSpPr/>
          <p:nvPr/>
        </p:nvCxnSpPr>
        <p:spPr>
          <a:xfrm>
            <a:off x="4018285" y="5253736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4D0CCDF-063B-151C-2D62-24F13291D83B}"/>
              </a:ext>
            </a:extLst>
          </p:cNvPr>
          <p:cNvCxnSpPr/>
          <p:nvPr/>
        </p:nvCxnSpPr>
        <p:spPr>
          <a:xfrm>
            <a:off x="4018284" y="5518780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3A0921-8F52-C082-3193-987B062883DE}"/>
              </a:ext>
            </a:extLst>
          </p:cNvPr>
          <p:cNvCxnSpPr/>
          <p:nvPr/>
        </p:nvCxnSpPr>
        <p:spPr>
          <a:xfrm>
            <a:off x="4018284" y="5763944"/>
            <a:ext cx="2054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Striped Right 33">
            <a:extLst>
              <a:ext uri="{FF2B5EF4-FFF2-40B4-BE49-F238E27FC236}">
                <a16:creationId xmlns:a16="http://schemas.microsoft.com/office/drawing/2014/main" id="{167F2E05-DD7D-3260-9299-7686336E9029}"/>
              </a:ext>
            </a:extLst>
          </p:cNvPr>
          <p:cNvSpPr/>
          <p:nvPr/>
        </p:nvSpPr>
        <p:spPr>
          <a:xfrm rot="5400000">
            <a:off x="4952562" y="5167597"/>
            <a:ext cx="185530" cy="437322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Striped Right 34">
            <a:extLst>
              <a:ext uri="{FF2B5EF4-FFF2-40B4-BE49-F238E27FC236}">
                <a16:creationId xmlns:a16="http://schemas.microsoft.com/office/drawing/2014/main" id="{A756FEE2-8406-FA63-0962-011B6682327F}"/>
              </a:ext>
            </a:extLst>
          </p:cNvPr>
          <p:cNvSpPr/>
          <p:nvPr/>
        </p:nvSpPr>
        <p:spPr>
          <a:xfrm rot="5400000">
            <a:off x="4952562" y="5426015"/>
            <a:ext cx="185530" cy="437322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4F9846C-5CF1-46EB-C2AA-A1906E50F96D}"/>
              </a:ext>
            </a:extLst>
          </p:cNvPr>
          <p:cNvCxnSpPr/>
          <p:nvPr/>
        </p:nvCxnSpPr>
        <p:spPr>
          <a:xfrm>
            <a:off x="5356754" y="5386258"/>
            <a:ext cx="295233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35C7B02-9F73-95BA-965C-C7F68FFBB952}"/>
              </a:ext>
            </a:extLst>
          </p:cNvPr>
          <p:cNvSpPr txBox="1"/>
          <p:nvPr/>
        </p:nvSpPr>
        <p:spPr>
          <a:xfrm>
            <a:off x="8309090" y="5063092"/>
            <a:ext cx="3443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Dwell time in between depositions</a:t>
            </a:r>
          </a:p>
          <a:p>
            <a:r>
              <a:rPr lang="pt-BR" i="1" dirty="0"/>
              <a:t>10s? </a:t>
            </a:r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A52A8-65B2-AB80-772F-1EE62F8B53A3}"/>
              </a:ext>
            </a:extLst>
          </p:cNvPr>
          <p:cNvSpPr txBox="1"/>
          <p:nvPr/>
        </p:nvSpPr>
        <p:spPr>
          <a:xfrm>
            <a:off x="2245563" y="1082784"/>
            <a:ext cx="2428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 dirty="0"/>
              <a:t>Conditions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213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40050-463E-32F1-64FF-A32E7AA227F3}"/>
              </a:ext>
            </a:extLst>
          </p:cNvPr>
          <p:cNvSpPr/>
          <p:nvPr/>
        </p:nvSpPr>
        <p:spPr>
          <a:xfrm>
            <a:off x="2375944" y="5816513"/>
            <a:ext cx="7200000" cy="36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B6DAA8-8C9A-3783-91EE-2DF4148AD3D7}"/>
              </a:ext>
            </a:extLst>
          </p:cNvPr>
          <p:cNvSpPr/>
          <p:nvPr/>
        </p:nvSpPr>
        <p:spPr>
          <a:xfrm>
            <a:off x="3087545" y="3828982"/>
            <a:ext cx="5760000" cy="196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644FF12-92CD-AB22-5096-410B8BC814D0}"/>
              </a:ext>
            </a:extLst>
          </p:cNvPr>
          <p:cNvSpPr/>
          <p:nvPr/>
        </p:nvSpPr>
        <p:spPr>
          <a:xfrm rot="10800000">
            <a:off x="9414019" y="4814839"/>
            <a:ext cx="323850" cy="79018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A36FDE-5C2F-3152-7EB8-2B109701C61B}"/>
              </a:ext>
            </a:extLst>
          </p:cNvPr>
          <p:cNvSpPr txBox="1"/>
          <p:nvPr/>
        </p:nvSpPr>
        <p:spPr>
          <a:xfrm>
            <a:off x="9768186" y="4944765"/>
            <a:ext cx="1140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Building direction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1D913C-6620-002C-90C5-DFC8B00DA14D}"/>
              </a:ext>
            </a:extLst>
          </p:cNvPr>
          <p:cNvCxnSpPr/>
          <p:nvPr/>
        </p:nvCxnSpPr>
        <p:spPr>
          <a:xfrm flipV="1">
            <a:off x="1918238" y="4807939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9D6304B-154A-5154-1147-BF9609E8A4CA}"/>
              </a:ext>
            </a:extLst>
          </p:cNvPr>
          <p:cNvCxnSpPr>
            <a:cxnSpLocks/>
          </p:cNvCxnSpPr>
          <p:nvPr/>
        </p:nvCxnSpPr>
        <p:spPr>
          <a:xfrm>
            <a:off x="1918238" y="5211804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93FF094-7D47-1F07-1094-09C5434E23A2}"/>
              </a:ext>
            </a:extLst>
          </p:cNvPr>
          <p:cNvSpPr txBox="1"/>
          <p:nvPr/>
        </p:nvSpPr>
        <p:spPr>
          <a:xfrm>
            <a:off x="1772204" y="450650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77E654-7739-F25F-860B-565CDC4CD076}"/>
              </a:ext>
            </a:extLst>
          </p:cNvPr>
          <p:cNvSpPr txBox="1"/>
          <p:nvPr/>
        </p:nvSpPr>
        <p:spPr>
          <a:xfrm>
            <a:off x="2237925" y="498100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4CB730-D13F-6822-7FD4-CCC21CEBB020}"/>
              </a:ext>
            </a:extLst>
          </p:cNvPr>
          <p:cNvSpPr/>
          <p:nvPr/>
        </p:nvSpPr>
        <p:spPr>
          <a:xfrm>
            <a:off x="1853337" y="5138131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C2799A-70B9-503A-5BE0-B5379607F6FC}"/>
              </a:ext>
            </a:extLst>
          </p:cNvPr>
          <p:cNvSpPr txBox="1"/>
          <p:nvPr/>
        </p:nvSpPr>
        <p:spPr>
          <a:xfrm>
            <a:off x="1610216" y="500421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F0134A63-0A24-1B7A-A425-1DB77E5976D5}"/>
              </a:ext>
            </a:extLst>
          </p:cNvPr>
          <p:cNvSpPr/>
          <p:nvPr/>
        </p:nvSpPr>
        <p:spPr>
          <a:xfrm>
            <a:off x="5634020" y="3984585"/>
            <a:ext cx="249248" cy="258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66839FF5-4CBB-9567-DFA0-BDD638AB93A8}"/>
              </a:ext>
            </a:extLst>
          </p:cNvPr>
          <p:cNvSpPr/>
          <p:nvPr/>
        </p:nvSpPr>
        <p:spPr>
          <a:xfrm>
            <a:off x="5634020" y="4707585"/>
            <a:ext cx="249248" cy="258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87E5CF65-3093-7F5C-D750-2D5537934D60}"/>
              </a:ext>
            </a:extLst>
          </p:cNvPr>
          <p:cNvSpPr/>
          <p:nvPr/>
        </p:nvSpPr>
        <p:spPr>
          <a:xfrm>
            <a:off x="5634020" y="5430584"/>
            <a:ext cx="249248" cy="258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FD402340-2D0A-77B4-E9F4-989308D7D19E}"/>
              </a:ext>
            </a:extLst>
          </p:cNvPr>
          <p:cNvSpPr/>
          <p:nvPr/>
        </p:nvSpPr>
        <p:spPr>
          <a:xfrm>
            <a:off x="8305119" y="3980617"/>
            <a:ext cx="249248" cy="258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5B934197-5267-674F-2878-5532E777B588}"/>
              </a:ext>
            </a:extLst>
          </p:cNvPr>
          <p:cNvSpPr/>
          <p:nvPr/>
        </p:nvSpPr>
        <p:spPr>
          <a:xfrm>
            <a:off x="8305119" y="4703617"/>
            <a:ext cx="249248" cy="258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8F3DCBBB-1547-F3B9-12CA-1134177C8306}"/>
              </a:ext>
            </a:extLst>
          </p:cNvPr>
          <p:cNvSpPr/>
          <p:nvPr/>
        </p:nvSpPr>
        <p:spPr>
          <a:xfrm>
            <a:off x="8305119" y="5426616"/>
            <a:ext cx="249248" cy="25879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8A5F46-1B9C-1002-BCDC-D6F53D628810}"/>
              </a:ext>
            </a:extLst>
          </p:cNvPr>
          <p:cNvSpPr txBox="1"/>
          <p:nvPr/>
        </p:nvSpPr>
        <p:spPr>
          <a:xfrm>
            <a:off x="306705" y="707366"/>
            <a:ext cx="4023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Residual stress measurements 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DAD87A5-0997-E25C-A54C-9AA7501FE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419433"/>
              </p:ext>
            </p:extLst>
          </p:nvPr>
        </p:nvGraphicFramePr>
        <p:xfrm>
          <a:off x="5128799" y="227466"/>
          <a:ext cx="6078181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07">
                  <a:extLst>
                    <a:ext uri="{9D8B030D-6E8A-4147-A177-3AD203B41FA5}">
                      <a16:colId xmlns:a16="http://schemas.microsoft.com/office/drawing/2014/main" val="2662741123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31639240"/>
                    </a:ext>
                  </a:extLst>
                </a:gridCol>
                <a:gridCol w="685024">
                  <a:extLst>
                    <a:ext uri="{9D8B030D-6E8A-4147-A177-3AD203B41FA5}">
                      <a16:colId xmlns:a16="http://schemas.microsoft.com/office/drawing/2014/main" val="404866586"/>
                    </a:ext>
                  </a:extLst>
                </a:gridCol>
                <a:gridCol w="685024">
                  <a:extLst>
                    <a:ext uri="{9D8B030D-6E8A-4147-A177-3AD203B41FA5}">
                      <a16:colId xmlns:a16="http://schemas.microsoft.com/office/drawing/2014/main" val="2255493647"/>
                    </a:ext>
                  </a:extLst>
                </a:gridCol>
                <a:gridCol w="672344">
                  <a:extLst>
                    <a:ext uri="{9D8B030D-6E8A-4147-A177-3AD203B41FA5}">
                      <a16:colId xmlns:a16="http://schemas.microsoft.com/office/drawing/2014/main" val="1606856521"/>
                    </a:ext>
                  </a:extLst>
                </a:gridCol>
                <a:gridCol w="672344">
                  <a:extLst>
                    <a:ext uri="{9D8B030D-6E8A-4147-A177-3AD203B41FA5}">
                      <a16:colId xmlns:a16="http://schemas.microsoft.com/office/drawing/2014/main" val="3166563918"/>
                    </a:ext>
                  </a:extLst>
                </a:gridCol>
                <a:gridCol w="1180120">
                  <a:extLst>
                    <a:ext uri="{9D8B030D-6E8A-4147-A177-3AD203B41FA5}">
                      <a16:colId xmlns:a16="http://schemas.microsoft.com/office/drawing/2014/main" val="4237426423"/>
                    </a:ext>
                  </a:extLst>
                </a:gridCol>
              </a:tblGrid>
              <a:tr h="223339">
                <a:tc rowSpan="3">
                  <a:txBody>
                    <a:bodyPr/>
                    <a:lstStyle/>
                    <a:p>
                      <a:pPr algn="ctr"/>
                      <a:r>
                        <a:rPr lang="ca-ES" dirty="0"/>
                        <a:t>Conditions</a:t>
                      </a:r>
                      <a:endParaRPr lang="en-US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ca-ES" dirty="0" err="1"/>
                        <a:t>Measuring</a:t>
                      </a:r>
                      <a:r>
                        <a:rPr lang="ca-ES" dirty="0"/>
                        <a:t> </a:t>
                      </a:r>
                      <a:r>
                        <a:rPr lang="ca-ES" dirty="0" err="1"/>
                        <a:t>spots</a:t>
                      </a:r>
                      <a:r>
                        <a:rPr lang="ca-ES" dirty="0"/>
                        <a:t> 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211395"/>
                  </a:ext>
                </a:extLst>
              </a:tr>
              <a:tr h="2233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ca-ES" dirty="0" err="1"/>
                        <a:t>Center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 err="1"/>
                        <a:t>Side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1692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C-H1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/>
                        <a:t>C-H2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/>
                        <a:t>C-H3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/>
                        <a:t>S-H1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/>
                        <a:t>S-H2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/>
                        <a:t>S-H2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37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a-ES" dirty="0" err="1"/>
                        <a:t>Condition</a:t>
                      </a:r>
                      <a:r>
                        <a:rPr lang="ca-ES" dirty="0"/>
                        <a:t> 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79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 err="1"/>
                        <a:t>Condition</a:t>
                      </a:r>
                      <a:r>
                        <a:rPr lang="ca-ES" dirty="0"/>
                        <a:t> 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6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dirty="0" err="1"/>
                        <a:t>Condition</a:t>
                      </a:r>
                      <a:r>
                        <a:rPr lang="ca-ES" dirty="0"/>
                        <a:t> 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x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513922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D22FB841-3D09-F950-A752-DCFB4BAAD8DC}"/>
              </a:ext>
            </a:extLst>
          </p:cNvPr>
          <p:cNvSpPr txBox="1"/>
          <p:nvPr/>
        </p:nvSpPr>
        <p:spPr>
          <a:xfrm>
            <a:off x="5421657" y="3480437"/>
            <a:ext cx="425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Center	                                     Side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DFBDDF-72BD-B292-BAD3-DB0474DEB983}"/>
              </a:ext>
            </a:extLst>
          </p:cNvPr>
          <p:cNvSpPr txBox="1"/>
          <p:nvPr/>
        </p:nvSpPr>
        <p:spPr>
          <a:xfrm>
            <a:off x="5340842" y="39227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781AA2-8FAF-1B69-B566-CAE718822933}"/>
              </a:ext>
            </a:extLst>
          </p:cNvPr>
          <p:cNvSpPr txBox="1"/>
          <p:nvPr/>
        </p:nvSpPr>
        <p:spPr>
          <a:xfrm>
            <a:off x="5340842" y="4635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2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C7C95E-B43B-38DB-966B-45C39EAA87A7}"/>
              </a:ext>
            </a:extLst>
          </p:cNvPr>
          <p:cNvSpPr txBox="1"/>
          <p:nvPr/>
        </p:nvSpPr>
        <p:spPr>
          <a:xfrm>
            <a:off x="5317176" y="53735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3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8A2EDF-2CE7-76CA-9355-A397EA931645}"/>
              </a:ext>
            </a:extLst>
          </p:cNvPr>
          <p:cNvSpPr txBox="1"/>
          <p:nvPr/>
        </p:nvSpPr>
        <p:spPr>
          <a:xfrm>
            <a:off x="8040713" y="39806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7FC153-342D-5B08-6C29-AA1EDF7CF645}"/>
              </a:ext>
            </a:extLst>
          </p:cNvPr>
          <p:cNvSpPr txBox="1"/>
          <p:nvPr/>
        </p:nvSpPr>
        <p:spPr>
          <a:xfrm>
            <a:off x="8040713" y="4693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2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01BD64-2CBF-8E48-B6F3-A5C35FD7BCA3}"/>
              </a:ext>
            </a:extLst>
          </p:cNvPr>
          <p:cNvSpPr txBox="1"/>
          <p:nvPr/>
        </p:nvSpPr>
        <p:spPr>
          <a:xfrm>
            <a:off x="8017047" y="54314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751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78E6F-26E9-B45D-B9F9-05457CFF9863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>
                <a:solidFill>
                  <a:srgbClr val="1967D2"/>
                </a:solidFill>
                <a:effectLst/>
                <a:latin typeface="Roboto" panose="02000000000000000000" pitchFamily="2" charset="0"/>
                <a:hlinkClick r:id="rId2"/>
              </a:rPr>
              <a:t>https://easi-stress.eu/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98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242EA9E4-7035-04AE-2A5A-9F59EDF3D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32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5C374F-3059-2BB0-D532-CB8C91614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841"/>
            <a:ext cx="12192000" cy="508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1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0A4937-870C-CB75-0958-D7B7AAF2E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52" y="0"/>
            <a:ext cx="8740897" cy="66452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8EAB84-76E7-34A0-BB80-4F108BC378A7}"/>
              </a:ext>
            </a:extLst>
          </p:cNvPr>
          <p:cNvSpPr/>
          <p:nvPr/>
        </p:nvSpPr>
        <p:spPr>
          <a:xfrm>
            <a:off x="-1802423" y="2529914"/>
            <a:ext cx="7200000" cy="36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513543-17FE-8CD7-11CD-5558B443AE71}"/>
              </a:ext>
            </a:extLst>
          </p:cNvPr>
          <p:cNvSpPr/>
          <p:nvPr/>
        </p:nvSpPr>
        <p:spPr>
          <a:xfrm>
            <a:off x="-1806737" y="1877315"/>
            <a:ext cx="7200000" cy="36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DF902C-84DC-6CA9-26E6-C34D51346AEC}"/>
              </a:ext>
            </a:extLst>
          </p:cNvPr>
          <p:cNvCxnSpPr/>
          <p:nvPr/>
        </p:nvCxnSpPr>
        <p:spPr>
          <a:xfrm>
            <a:off x="-1802423" y="6474014"/>
            <a:ext cx="720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51F664-9DD0-2DD8-3609-624974C3FF6C}"/>
              </a:ext>
            </a:extLst>
          </p:cNvPr>
          <p:cNvSpPr txBox="1"/>
          <p:nvPr/>
        </p:nvSpPr>
        <p:spPr>
          <a:xfrm>
            <a:off x="1359622" y="6080927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50</a:t>
            </a:r>
            <a:endParaRPr lang="en-US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EB08EF-0175-6192-DE41-461D17858685}"/>
              </a:ext>
            </a:extLst>
          </p:cNvPr>
          <p:cNvCxnSpPr>
            <a:cxnSpLocks/>
          </p:cNvCxnSpPr>
          <p:nvPr/>
        </p:nvCxnSpPr>
        <p:spPr>
          <a:xfrm flipV="1">
            <a:off x="-2240378" y="2529914"/>
            <a:ext cx="0" cy="36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5D5CDF-9197-9408-128D-26B3D6DF4E0A}"/>
              </a:ext>
            </a:extLst>
          </p:cNvPr>
          <p:cNvSpPr txBox="1"/>
          <p:nvPr/>
        </p:nvSpPr>
        <p:spPr>
          <a:xfrm>
            <a:off x="-2790529" y="4208584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AC1B5F-BEF9-0352-E5FC-A5B6050B0543}"/>
              </a:ext>
            </a:extLst>
          </p:cNvPr>
          <p:cNvSpPr/>
          <p:nvPr/>
        </p:nvSpPr>
        <p:spPr>
          <a:xfrm>
            <a:off x="-1095136" y="4226193"/>
            <a:ext cx="5760000" cy="2074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954B4C-3E58-458E-10A2-CFF40678AC0F}"/>
              </a:ext>
            </a:extLst>
          </p:cNvPr>
          <p:cNvCxnSpPr>
            <a:cxnSpLocks/>
          </p:cNvCxnSpPr>
          <p:nvPr/>
        </p:nvCxnSpPr>
        <p:spPr>
          <a:xfrm>
            <a:off x="-1089396" y="3730777"/>
            <a:ext cx="5765318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C3C9FB-C920-DE63-247D-AD10B1220DFF}"/>
              </a:ext>
            </a:extLst>
          </p:cNvPr>
          <p:cNvSpPr txBox="1"/>
          <p:nvPr/>
        </p:nvSpPr>
        <p:spPr>
          <a:xfrm>
            <a:off x="616953" y="335008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40</a:t>
            </a:r>
            <a:endParaRPr lang="en-US" sz="28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EECCF4-DC4A-6241-E8E8-1FDDB651E5C9}"/>
              </a:ext>
            </a:extLst>
          </p:cNvPr>
          <p:cNvCxnSpPr>
            <a:cxnSpLocks/>
          </p:cNvCxnSpPr>
          <p:nvPr/>
        </p:nvCxnSpPr>
        <p:spPr>
          <a:xfrm flipV="1">
            <a:off x="-2264443" y="1844815"/>
            <a:ext cx="0" cy="3925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5A4FB3-1375-A276-A0A5-97FE4BAD2D15}"/>
              </a:ext>
            </a:extLst>
          </p:cNvPr>
          <p:cNvSpPr txBox="1"/>
          <p:nvPr/>
        </p:nvSpPr>
        <p:spPr>
          <a:xfrm>
            <a:off x="-2814594" y="177945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1A052D-B89A-DB6C-3F76-44BA06A5EE75}"/>
              </a:ext>
            </a:extLst>
          </p:cNvPr>
          <p:cNvCxnSpPr>
            <a:cxnSpLocks/>
          </p:cNvCxnSpPr>
          <p:nvPr/>
        </p:nvCxnSpPr>
        <p:spPr>
          <a:xfrm>
            <a:off x="4664864" y="4341760"/>
            <a:ext cx="73271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4A273D0-3617-E500-8855-6AE02EAB2DF2}"/>
              </a:ext>
            </a:extLst>
          </p:cNvPr>
          <p:cNvSpPr txBox="1"/>
          <p:nvPr/>
        </p:nvSpPr>
        <p:spPr>
          <a:xfrm>
            <a:off x="4837837" y="393432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1CBD4-3BA4-1366-5787-8F7824C5346C}"/>
              </a:ext>
            </a:extLst>
          </p:cNvPr>
          <p:cNvSpPr/>
          <p:nvPr/>
        </p:nvSpPr>
        <p:spPr>
          <a:xfrm>
            <a:off x="-1095136" y="1766470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743DF4-03A1-740A-76CE-1DF10B20157D}"/>
              </a:ext>
            </a:extLst>
          </p:cNvPr>
          <p:cNvSpPr/>
          <p:nvPr/>
        </p:nvSpPr>
        <p:spPr>
          <a:xfrm>
            <a:off x="-1095136" y="1667698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533586-474F-12E9-BBF0-E469AB907D5D}"/>
              </a:ext>
            </a:extLst>
          </p:cNvPr>
          <p:cNvSpPr/>
          <p:nvPr/>
        </p:nvSpPr>
        <p:spPr>
          <a:xfrm>
            <a:off x="-1095136" y="1568925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DC90F1-B38C-527C-3CBD-ED94E4854AA7}"/>
              </a:ext>
            </a:extLst>
          </p:cNvPr>
          <p:cNvSpPr/>
          <p:nvPr/>
        </p:nvSpPr>
        <p:spPr>
          <a:xfrm>
            <a:off x="-1095136" y="1470152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C99B49-013E-38C3-42AF-89BD06D218B4}"/>
              </a:ext>
            </a:extLst>
          </p:cNvPr>
          <p:cNvSpPr/>
          <p:nvPr/>
        </p:nvSpPr>
        <p:spPr>
          <a:xfrm>
            <a:off x="-1095136" y="1371379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A41838-EA3B-3E7A-3A24-5520C59C5FC2}"/>
              </a:ext>
            </a:extLst>
          </p:cNvPr>
          <p:cNvSpPr/>
          <p:nvPr/>
        </p:nvSpPr>
        <p:spPr>
          <a:xfrm>
            <a:off x="-1095136" y="1272606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F9DC84-A67B-C8D2-6565-95F5DC67F0B3}"/>
              </a:ext>
            </a:extLst>
          </p:cNvPr>
          <p:cNvSpPr/>
          <p:nvPr/>
        </p:nvSpPr>
        <p:spPr>
          <a:xfrm>
            <a:off x="-1095136" y="1173833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3175F7-D7A7-D452-EF2A-7FD94BEF91EC}"/>
              </a:ext>
            </a:extLst>
          </p:cNvPr>
          <p:cNvSpPr/>
          <p:nvPr/>
        </p:nvSpPr>
        <p:spPr>
          <a:xfrm>
            <a:off x="-1095136" y="1075060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74F555-79C6-9D09-A74A-53431A7188B1}"/>
              </a:ext>
            </a:extLst>
          </p:cNvPr>
          <p:cNvSpPr/>
          <p:nvPr/>
        </p:nvSpPr>
        <p:spPr>
          <a:xfrm>
            <a:off x="-1095136" y="976287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CB9DA1-FC6C-9C09-E335-D79271F7A285}"/>
              </a:ext>
            </a:extLst>
          </p:cNvPr>
          <p:cNvSpPr/>
          <p:nvPr/>
        </p:nvSpPr>
        <p:spPr>
          <a:xfrm>
            <a:off x="-1095136" y="877514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D13275-4F70-7B5E-18DA-BE67B71BF785}"/>
              </a:ext>
            </a:extLst>
          </p:cNvPr>
          <p:cNvSpPr/>
          <p:nvPr/>
        </p:nvSpPr>
        <p:spPr>
          <a:xfrm>
            <a:off x="-1095136" y="778741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A033AA-B813-A1B5-2F0B-6FECF6C2BB9A}"/>
              </a:ext>
            </a:extLst>
          </p:cNvPr>
          <p:cNvSpPr/>
          <p:nvPr/>
        </p:nvSpPr>
        <p:spPr>
          <a:xfrm>
            <a:off x="-1095136" y="679968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F1EC87-41E9-3336-9D25-1D42AC7F5926}"/>
              </a:ext>
            </a:extLst>
          </p:cNvPr>
          <p:cNvSpPr/>
          <p:nvPr/>
        </p:nvSpPr>
        <p:spPr>
          <a:xfrm>
            <a:off x="-1095136" y="581195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AD579F-DCF3-21D5-A25F-11356EAEF2B4}"/>
              </a:ext>
            </a:extLst>
          </p:cNvPr>
          <p:cNvSpPr/>
          <p:nvPr/>
        </p:nvSpPr>
        <p:spPr>
          <a:xfrm>
            <a:off x="-1095136" y="482422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DF4F13-D00B-248F-2416-40183F87ADFB}"/>
              </a:ext>
            </a:extLst>
          </p:cNvPr>
          <p:cNvSpPr/>
          <p:nvPr/>
        </p:nvSpPr>
        <p:spPr>
          <a:xfrm>
            <a:off x="-1095136" y="383649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F91DD4-3D0A-02A9-3221-BA658310B662}"/>
              </a:ext>
            </a:extLst>
          </p:cNvPr>
          <p:cNvSpPr/>
          <p:nvPr/>
        </p:nvSpPr>
        <p:spPr>
          <a:xfrm>
            <a:off x="-1095136" y="284876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9B7AEE-79C9-DB88-19FE-0B12BDE4D8C3}"/>
              </a:ext>
            </a:extLst>
          </p:cNvPr>
          <p:cNvSpPr/>
          <p:nvPr/>
        </p:nvSpPr>
        <p:spPr>
          <a:xfrm>
            <a:off x="-1095136" y="186103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CD22D1-05A0-C21D-280F-B1B14EA1AB34}"/>
              </a:ext>
            </a:extLst>
          </p:cNvPr>
          <p:cNvSpPr/>
          <p:nvPr/>
        </p:nvSpPr>
        <p:spPr>
          <a:xfrm>
            <a:off x="-1095136" y="87330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6A4CB0-0B09-D2E1-58FB-C529F373E08F}"/>
              </a:ext>
            </a:extLst>
          </p:cNvPr>
          <p:cNvSpPr/>
          <p:nvPr/>
        </p:nvSpPr>
        <p:spPr>
          <a:xfrm>
            <a:off x="-1095136" y="-11443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8F6260-78D2-E0AB-7EC0-E701F72CB960}"/>
              </a:ext>
            </a:extLst>
          </p:cNvPr>
          <p:cNvSpPr/>
          <p:nvPr/>
        </p:nvSpPr>
        <p:spPr>
          <a:xfrm>
            <a:off x="-1095136" y="-110216"/>
            <a:ext cx="5760000" cy="90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ECAA19BB-35A3-3CAB-B4DB-D04A62479771}"/>
              </a:ext>
            </a:extLst>
          </p:cNvPr>
          <p:cNvSpPr/>
          <p:nvPr/>
        </p:nvSpPr>
        <p:spPr>
          <a:xfrm rot="10800000">
            <a:off x="5231338" y="875641"/>
            <a:ext cx="323850" cy="790184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2B43FA-2328-CD7C-8215-F47024E4E9E3}"/>
              </a:ext>
            </a:extLst>
          </p:cNvPr>
          <p:cNvSpPr txBox="1"/>
          <p:nvPr/>
        </p:nvSpPr>
        <p:spPr>
          <a:xfrm>
            <a:off x="5571090" y="947567"/>
            <a:ext cx="1140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Building direction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8A04F10-C8A0-9F38-CDCD-8A96A58484AC}"/>
              </a:ext>
            </a:extLst>
          </p:cNvPr>
          <p:cNvSpPr/>
          <p:nvPr/>
        </p:nvSpPr>
        <p:spPr>
          <a:xfrm>
            <a:off x="4590880" y="4266286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1F97786-3688-4591-29A5-81D456A51FCC}"/>
              </a:ext>
            </a:extLst>
          </p:cNvPr>
          <p:cNvSpPr/>
          <p:nvPr/>
        </p:nvSpPr>
        <p:spPr>
          <a:xfrm>
            <a:off x="1717347" y="4267718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F750139-CBEE-A294-4C21-2A37DF9D6127}"/>
              </a:ext>
            </a:extLst>
          </p:cNvPr>
          <p:cNvSpPr/>
          <p:nvPr/>
        </p:nvSpPr>
        <p:spPr>
          <a:xfrm>
            <a:off x="-1165354" y="4274293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18C8F6-B931-1191-59CE-8BA7CE41D93E}"/>
              </a:ext>
            </a:extLst>
          </p:cNvPr>
          <p:cNvCxnSpPr>
            <a:cxnSpLocks/>
          </p:cNvCxnSpPr>
          <p:nvPr/>
        </p:nvCxnSpPr>
        <p:spPr>
          <a:xfrm flipV="1">
            <a:off x="-1100454" y="2518817"/>
            <a:ext cx="0" cy="18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4923DC2-69E0-06D7-43C3-F0622E7CA023}"/>
              </a:ext>
            </a:extLst>
          </p:cNvPr>
          <p:cNvSpPr txBox="1"/>
          <p:nvPr/>
        </p:nvSpPr>
        <p:spPr>
          <a:xfrm>
            <a:off x="-1820933" y="3233701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12.5</a:t>
            </a:r>
            <a:endParaRPr lang="en-US" sz="28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30C872A-BDED-6781-C829-C37DD4A7B799}"/>
              </a:ext>
            </a:extLst>
          </p:cNvPr>
          <p:cNvSpPr/>
          <p:nvPr/>
        </p:nvSpPr>
        <p:spPr>
          <a:xfrm>
            <a:off x="1719138" y="5170942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9B36A3-EE66-B9CE-9452-093D3FC92465}"/>
              </a:ext>
            </a:extLst>
          </p:cNvPr>
          <p:cNvCxnSpPr>
            <a:cxnSpLocks/>
          </p:cNvCxnSpPr>
          <p:nvPr/>
        </p:nvCxnSpPr>
        <p:spPr>
          <a:xfrm flipV="1">
            <a:off x="1787614" y="5229913"/>
            <a:ext cx="0" cy="900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980DF0D-F0CA-EA90-1D41-97C54B81B04D}"/>
              </a:ext>
            </a:extLst>
          </p:cNvPr>
          <p:cNvCxnSpPr>
            <a:cxnSpLocks/>
          </p:cNvCxnSpPr>
          <p:nvPr/>
        </p:nvCxnSpPr>
        <p:spPr>
          <a:xfrm>
            <a:off x="1847147" y="5237875"/>
            <a:ext cx="35461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4F7E8C1-3AF1-EC29-AAA8-D1526B0EACEB}"/>
              </a:ext>
            </a:extLst>
          </p:cNvPr>
          <p:cNvSpPr txBox="1"/>
          <p:nvPr/>
        </p:nvSpPr>
        <p:spPr>
          <a:xfrm>
            <a:off x="3317120" y="483521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3214DE-9167-C4B7-7E8A-8CC0FE75FA00}"/>
              </a:ext>
            </a:extLst>
          </p:cNvPr>
          <p:cNvSpPr txBox="1"/>
          <p:nvPr/>
        </p:nvSpPr>
        <p:spPr>
          <a:xfrm>
            <a:off x="1019050" y="5392494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6.25</a:t>
            </a:r>
            <a:endParaRPr lang="en-US" sz="28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6EED30D-C0DD-82CA-7A38-F5583EFB7F8A}"/>
              </a:ext>
            </a:extLst>
          </p:cNvPr>
          <p:cNvCxnSpPr/>
          <p:nvPr/>
        </p:nvCxnSpPr>
        <p:spPr>
          <a:xfrm flipV="1">
            <a:off x="-2264443" y="868741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2D93707-7390-F34D-6B4A-3CD49104DE10}"/>
              </a:ext>
            </a:extLst>
          </p:cNvPr>
          <p:cNvCxnSpPr>
            <a:cxnSpLocks/>
          </p:cNvCxnSpPr>
          <p:nvPr/>
        </p:nvCxnSpPr>
        <p:spPr>
          <a:xfrm>
            <a:off x="-2264443" y="1272606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AC4401E-FA73-EF92-2849-7D0036FD839D}"/>
              </a:ext>
            </a:extLst>
          </p:cNvPr>
          <p:cNvSpPr txBox="1"/>
          <p:nvPr/>
        </p:nvSpPr>
        <p:spPr>
          <a:xfrm>
            <a:off x="-2410477" y="567311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DE4528-B698-14AE-85D9-2E6430FDB306}"/>
              </a:ext>
            </a:extLst>
          </p:cNvPr>
          <p:cNvSpPr txBox="1"/>
          <p:nvPr/>
        </p:nvSpPr>
        <p:spPr>
          <a:xfrm>
            <a:off x="-1944756" y="104180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7135D88-D478-1148-6339-7F04ED941959}"/>
              </a:ext>
            </a:extLst>
          </p:cNvPr>
          <p:cNvSpPr/>
          <p:nvPr/>
        </p:nvSpPr>
        <p:spPr>
          <a:xfrm>
            <a:off x="-2329344" y="1198933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3E13FF-FF4F-488E-22C6-37E7F19B745D}"/>
              </a:ext>
            </a:extLst>
          </p:cNvPr>
          <p:cNvSpPr txBox="1"/>
          <p:nvPr/>
        </p:nvSpPr>
        <p:spPr>
          <a:xfrm>
            <a:off x="-2572465" y="106501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C588DDD-1FCE-3112-344F-AE8F69A3FF53}"/>
              </a:ext>
            </a:extLst>
          </p:cNvPr>
          <p:cNvCxnSpPr/>
          <p:nvPr/>
        </p:nvCxnSpPr>
        <p:spPr>
          <a:xfrm flipV="1">
            <a:off x="5888686" y="3126333"/>
            <a:ext cx="0" cy="40386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4F01A84-2057-6A6E-BC54-976FE9887653}"/>
              </a:ext>
            </a:extLst>
          </p:cNvPr>
          <p:cNvCxnSpPr>
            <a:cxnSpLocks/>
          </p:cNvCxnSpPr>
          <p:nvPr/>
        </p:nvCxnSpPr>
        <p:spPr>
          <a:xfrm>
            <a:off x="5888686" y="3530198"/>
            <a:ext cx="40010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7BD021F-A0C4-5288-A51C-656629C3EDEF}"/>
              </a:ext>
            </a:extLst>
          </p:cNvPr>
          <p:cNvSpPr txBox="1"/>
          <p:nvPr/>
        </p:nvSpPr>
        <p:spPr>
          <a:xfrm>
            <a:off x="5742652" y="282490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y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46DCC9-692A-2B42-3670-3C48336BC666}"/>
              </a:ext>
            </a:extLst>
          </p:cNvPr>
          <p:cNvSpPr txBox="1"/>
          <p:nvPr/>
        </p:nvSpPr>
        <p:spPr>
          <a:xfrm>
            <a:off x="6208373" y="329939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x</a:t>
            </a:r>
            <a:endParaRPr lang="en-US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A3B512F-9529-C73D-77EA-529D4332FD96}"/>
              </a:ext>
            </a:extLst>
          </p:cNvPr>
          <p:cNvSpPr/>
          <p:nvPr/>
        </p:nvSpPr>
        <p:spPr>
          <a:xfrm>
            <a:off x="5823785" y="3456525"/>
            <a:ext cx="129800" cy="1298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DF7D59-7EFE-D6FA-A9F4-D19C021EA702}"/>
              </a:ext>
            </a:extLst>
          </p:cNvPr>
          <p:cNvSpPr txBox="1"/>
          <p:nvPr/>
        </p:nvSpPr>
        <p:spPr>
          <a:xfrm>
            <a:off x="5580664" y="3322608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z</a:t>
            </a:r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D3E2106-19C3-DC31-5AA7-5945F52E54F9}"/>
              </a:ext>
            </a:extLst>
          </p:cNvPr>
          <p:cNvCxnSpPr>
            <a:cxnSpLocks/>
          </p:cNvCxnSpPr>
          <p:nvPr/>
        </p:nvCxnSpPr>
        <p:spPr>
          <a:xfrm>
            <a:off x="-1833167" y="4344273"/>
            <a:ext cx="732713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C13D3E5-FC2A-031F-61F1-9AFDA0B83302}"/>
              </a:ext>
            </a:extLst>
          </p:cNvPr>
          <p:cNvSpPr txBox="1"/>
          <p:nvPr/>
        </p:nvSpPr>
        <p:spPr>
          <a:xfrm>
            <a:off x="-1682845" y="3904808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 dirty="0"/>
              <a:t>5</a:t>
            </a:r>
            <a:endParaRPr lang="en-US" sz="2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99278E-2820-BCD8-1B6F-91830C458966}"/>
              </a:ext>
            </a:extLst>
          </p:cNvPr>
          <p:cNvSpPr txBox="1"/>
          <p:nvPr/>
        </p:nvSpPr>
        <p:spPr>
          <a:xfrm>
            <a:off x="-1126345" y="4368063"/>
            <a:ext cx="2559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TC1(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845E42-B416-DB66-849D-C6A3FBFFE7B2}"/>
              </a:ext>
            </a:extLst>
          </p:cNvPr>
          <p:cNvSpPr txBox="1"/>
          <p:nvPr/>
        </p:nvSpPr>
        <p:spPr>
          <a:xfrm>
            <a:off x="1442288" y="4394632"/>
            <a:ext cx="1451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TC3 (</a:t>
            </a:r>
            <a:r>
              <a:rPr lang="ca-ES" sz="2400" dirty="0" err="1"/>
              <a:t>hole</a:t>
            </a:r>
            <a:r>
              <a:rPr lang="ca-ES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5CB47D-B472-4F76-ED5F-9042C6C2A0D8}"/>
              </a:ext>
            </a:extLst>
          </p:cNvPr>
          <p:cNvSpPr txBox="1"/>
          <p:nvPr/>
        </p:nvSpPr>
        <p:spPr>
          <a:xfrm>
            <a:off x="1719138" y="5260602"/>
            <a:ext cx="2559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TC4</a:t>
            </a:r>
            <a:r>
              <a:rPr lang="ca-ES" sz="2400" dirty="0"/>
              <a:t>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/>
              <a:t>)</a:t>
            </a:r>
            <a:endParaRPr lang="en-US" sz="24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CAF0C76-21F3-D5C9-A45F-A822C08DA53E}"/>
              </a:ext>
            </a:extLst>
          </p:cNvPr>
          <p:cNvSpPr/>
          <p:nvPr/>
        </p:nvSpPr>
        <p:spPr>
          <a:xfrm>
            <a:off x="-1165354" y="2180511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5279A4-0EEF-B736-3C97-0A53E55DD8A6}"/>
              </a:ext>
            </a:extLst>
          </p:cNvPr>
          <p:cNvSpPr/>
          <p:nvPr/>
        </p:nvSpPr>
        <p:spPr>
          <a:xfrm>
            <a:off x="4587558" y="2180511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639E4A6-50AE-B008-B19F-F00DD8F1DCD0}"/>
              </a:ext>
            </a:extLst>
          </p:cNvPr>
          <p:cNvCxnSpPr>
            <a:cxnSpLocks/>
          </p:cNvCxnSpPr>
          <p:nvPr/>
        </p:nvCxnSpPr>
        <p:spPr>
          <a:xfrm flipV="1">
            <a:off x="1386735" y="2237315"/>
            <a:ext cx="0" cy="39250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B1E8CB9-F0D2-6C17-6117-E55DBD67448D}"/>
              </a:ext>
            </a:extLst>
          </p:cNvPr>
          <p:cNvSpPr txBox="1"/>
          <p:nvPr/>
        </p:nvSpPr>
        <p:spPr>
          <a:xfrm>
            <a:off x="1053736" y="183025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4</a:t>
            </a:r>
            <a:endParaRPr lang="en-US" sz="28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C531C80-DA06-6C40-2255-57E800033DAC}"/>
              </a:ext>
            </a:extLst>
          </p:cNvPr>
          <p:cNvCxnSpPr>
            <a:cxnSpLocks/>
          </p:cNvCxnSpPr>
          <p:nvPr/>
        </p:nvCxnSpPr>
        <p:spPr>
          <a:xfrm>
            <a:off x="1395307" y="1678547"/>
            <a:ext cx="0" cy="306274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116D48E-963E-C361-900B-84E1CC843C52}"/>
              </a:ext>
            </a:extLst>
          </p:cNvPr>
          <p:cNvCxnSpPr>
            <a:cxnSpLocks/>
          </p:cNvCxnSpPr>
          <p:nvPr/>
        </p:nvCxnSpPr>
        <p:spPr>
          <a:xfrm flipH="1">
            <a:off x="1341268" y="1984821"/>
            <a:ext cx="400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96A2BBD-4E74-F32A-A0B9-1C62EACFBA20}"/>
              </a:ext>
            </a:extLst>
          </p:cNvPr>
          <p:cNvSpPr txBox="1"/>
          <p:nvPr/>
        </p:nvSpPr>
        <p:spPr>
          <a:xfrm>
            <a:off x="4549278" y="4402644"/>
            <a:ext cx="2628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solidFill>
                  <a:srgbClr val="FF0000"/>
                </a:solidFill>
              </a:rPr>
              <a:t>TC2(</a:t>
            </a:r>
            <a:r>
              <a:rPr lang="ca-ES" sz="2400" dirty="0" err="1"/>
              <a:t>upper</a:t>
            </a:r>
            <a:r>
              <a:rPr lang="ca-ES" sz="2400" dirty="0"/>
              <a:t> </a:t>
            </a:r>
            <a:r>
              <a:rPr lang="ca-ES" sz="2400" dirty="0" err="1"/>
              <a:t>surface</a:t>
            </a:r>
            <a:r>
              <a:rPr lang="ca-ES" sz="2400" dirty="0">
                <a:solidFill>
                  <a:srgbClr val="FF0000"/>
                </a:solidFill>
              </a:rPr>
              <a:t>) 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2CC5351-C464-717E-609D-27A775CD5AF8}"/>
              </a:ext>
            </a:extLst>
          </p:cNvPr>
          <p:cNvCxnSpPr>
            <a:cxnSpLocks/>
          </p:cNvCxnSpPr>
          <p:nvPr/>
        </p:nvCxnSpPr>
        <p:spPr>
          <a:xfrm flipV="1">
            <a:off x="1776002" y="2567704"/>
            <a:ext cx="0" cy="165600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2E29589-1417-A500-28BB-4B2DBC85BE4C}"/>
              </a:ext>
            </a:extLst>
          </p:cNvPr>
          <p:cNvCxnSpPr>
            <a:cxnSpLocks/>
          </p:cNvCxnSpPr>
          <p:nvPr/>
        </p:nvCxnSpPr>
        <p:spPr>
          <a:xfrm>
            <a:off x="1832758" y="4044645"/>
            <a:ext cx="3546116" cy="0"/>
          </a:xfrm>
          <a:prstGeom prst="straightConnector1">
            <a:avLst/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EA189B9-B618-35CC-9D87-E7AB35452862}"/>
              </a:ext>
            </a:extLst>
          </p:cNvPr>
          <p:cNvSpPr txBox="1"/>
          <p:nvPr/>
        </p:nvSpPr>
        <p:spPr>
          <a:xfrm>
            <a:off x="3462436" y="3653727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25</a:t>
            </a:r>
            <a:endParaRPr lang="en-US" sz="28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037823-5D91-A61F-8081-75334D03BE8E}"/>
              </a:ext>
            </a:extLst>
          </p:cNvPr>
          <p:cNvSpPr txBox="1"/>
          <p:nvPr/>
        </p:nvSpPr>
        <p:spPr>
          <a:xfrm>
            <a:off x="1698832" y="3116847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12.5</a:t>
            </a:r>
            <a:endParaRPr lang="en-US" sz="28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18F11A6-DB0B-D219-61C7-42A9BDC462FF}"/>
              </a:ext>
            </a:extLst>
          </p:cNvPr>
          <p:cNvSpPr/>
          <p:nvPr/>
        </p:nvSpPr>
        <p:spPr>
          <a:xfrm>
            <a:off x="1670392" y="1997576"/>
            <a:ext cx="211455" cy="23973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1A784FE-122E-D7B6-D378-C4D9BDCBA6D5}"/>
              </a:ext>
            </a:extLst>
          </p:cNvPr>
          <p:cNvSpPr/>
          <p:nvPr/>
        </p:nvSpPr>
        <p:spPr>
          <a:xfrm>
            <a:off x="1711102" y="1919921"/>
            <a:ext cx="129800" cy="129800"/>
          </a:xfrm>
          <a:prstGeom prst="ellipse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2407992-51AB-E2AF-241E-92AA986D3A47}"/>
              </a:ext>
            </a:extLst>
          </p:cNvPr>
          <p:cNvSpPr/>
          <p:nvPr/>
        </p:nvSpPr>
        <p:spPr>
          <a:xfrm>
            <a:off x="1691211" y="2208068"/>
            <a:ext cx="165600" cy="85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F446CE7-7C7A-6CA7-A425-76555634370F}"/>
              </a:ext>
            </a:extLst>
          </p:cNvPr>
          <p:cNvCxnSpPr>
            <a:cxnSpLocks/>
          </p:cNvCxnSpPr>
          <p:nvPr/>
        </p:nvCxnSpPr>
        <p:spPr>
          <a:xfrm>
            <a:off x="1476082" y="2286710"/>
            <a:ext cx="19798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1B134C7-493B-5D26-416A-CB1F10DC3352}"/>
              </a:ext>
            </a:extLst>
          </p:cNvPr>
          <p:cNvCxnSpPr>
            <a:cxnSpLocks/>
          </p:cNvCxnSpPr>
          <p:nvPr/>
        </p:nvCxnSpPr>
        <p:spPr>
          <a:xfrm flipH="1">
            <a:off x="1881847" y="2310311"/>
            <a:ext cx="18288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60EF6CD-8598-6902-11D4-A2EC6AAD67AE}"/>
              </a:ext>
            </a:extLst>
          </p:cNvPr>
          <p:cNvCxnSpPr>
            <a:cxnSpLocks/>
          </p:cNvCxnSpPr>
          <p:nvPr/>
        </p:nvCxnSpPr>
        <p:spPr>
          <a:xfrm flipV="1">
            <a:off x="1875378" y="2167654"/>
            <a:ext cx="0" cy="223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FA7DB46-976D-C8D5-563E-A05698A10528}"/>
              </a:ext>
            </a:extLst>
          </p:cNvPr>
          <p:cNvCxnSpPr>
            <a:cxnSpLocks/>
          </p:cNvCxnSpPr>
          <p:nvPr/>
        </p:nvCxnSpPr>
        <p:spPr>
          <a:xfrm flipV="1">
            <a:off x="1670392" y="2208068"/>
            <a:ext cx="0" cy="1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5D2DDC5-F85A-D242-F8C0-F11F864C47E2}"/>
              </a:ext>
            </a:extLst>
          </p:cNvPr>
          <p:cNvSpPr txBox="1"/>
          <p:nvPr/>
        </p:nvSpPr>
        <p:spPr>
          <a:xfrm>
            <a:off x="1902342" y="1829225"/>
            <a:ext cx="558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dirty="0"/>
              <a:t>ø1</a:t>
            </a:r>
            <a:endParaRPr lang="en-US" sz="28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66D0CB-6703-BE7B-FF03-CB56FE067F56}"/>
              </a:ext>
            </a:extLst>
          </p:cNvPr>
          <p:cNvSpPr txBox="1"/>
          <p:nvPr/>
        </p:nvSpPr>
        <p:spPr>
          <a:xfrm>
            <a:off x="8783681" y="-1317485"/>
            <a:ext cx="144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500W , 2000 mm/min, </a:t>
            </a:r>
            <a:r>
              <a:rPr lang="el-GR" sz="2000" dirty="0"/>
              <a:t>Δ</a:t>
            </a:r>
            <a:r>
              <a:rPr lang="pt-BR" sz="2000" dirty="0"/>
              <a:t>z= 0,5 mm</a:t>
            </a:r>
            <a:endParaRPr lang="es-MX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D5D441-6D5E-1A9D-886B-00C798B4743A}"/>
              </a:ext>
            </a:extLst>
          </p:cNvPr>
          <p:cNvSpPr txBox="1"/>
          <p:nvPr/>
        </p:nvSpPr>
        <p:spPr>
          <a:xfrm>
            <a:off x="10608162" y="-1317485"/>
            <a:ext cx="144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500W , 2000 mm/min, </a:t>
            </a:r>
            <a:r>
              <a:rPr lang="el-GR" sz="2000" dirty="0"/>
              <a:t>Δ</a:t>
            </a:r>
            <a:r>
              <a:rPr lang="pt-BR" sz="2000" dirty="0"/>
              <a:t>z= 0,25 mm</a:t>
            </a:r>
            <a:endParaRPr lang="es-MX" sz="2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AF133D-846F-E98A-385A-1F97052211B1}"/>
              </a:ext>
            </a:extLst>
          </p:cNvPr>
          <p:cNvSpPr txBox="1"/>
          <p:nvPr/>
        </p:nvSpPr>
        <p:spPr>
          <a:xfrm>
            <a:off x="12192000" y="-1317485"/>
            <a:ext cx="144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500W , 2000 mm/min, </a:t>
            </a:r>
            <a:r>
              <a:rPr lang="el-GR" sz="2000" dirty="0"/>
              <a:t>Δ</a:t>
            </a:r>
            <a:r>
              <a:rPr lang="pt-BR" sz="2000" dirty="0"/>
              <a:t>z= 0,18 mm</a:t>
            </a:r>
            <a:endParaRPr lang="es-MX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FAB92D-16D2-2CB9-3691-5B212A2FFA14}"/>
              </a:ext>
            </a:extLst>
          </p:cNvPr>
          <p:cNvSpPr txBox="1"/>
          <p:nvPr/>
        </p:nvSpPr>
        <p:spPr>
          <a:xfrm>
            <a:off x="13828119" y="-1317485"/>
            <a:ext cx="144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400W , 2000 mm/min, </a:t>
            </a:r>
            <a:r>
              <a:rPr lang="el-GR" sz="2000" dirty="0"/>
              <a:t>Δ</a:t>
            </a:r>
            <a:r>
              <a:rPr lang="pt-BR" sz="2000" dirty="0"/>
              <a:t>z= 0,78 mm</a:t>
            </a:r>
            <a:endParaRPr lang="es-MX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DD810A5-A298-3D57-D201-4DBEB17377DB}"/>
              </a:ext>
            </a:extLst>
          </p:cNvPr>
          <p:cNvSpPr txBox="1"/>
          <p:nvPr/>
        </p:nvSpPr>
        <p:spPr>
          <a:xfrm>
            <a:off x="15120529" y="-1317485"/>
            <a:ext cx="144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300W , 2000 mm/min, </a:t>
            </a:r>
            <a:r>
              <a:rPr lang="el-GR" sz="2000" dirty="0"/>
              <a:t>Δ</a:t>
            </a:r>
            <a:r>
              <a:rPr lang="pt-BR" sz="2000" dirty="0"/>
              <a:t>z= 0,15 mm</a:t>
            </a:r>
            <a:endParaRPr lang="es-MX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908D1B-65F4-9EDC-178A-AE501FB96937}"/>
              </a:ext>
            </a:extLst>
          </p:cNvPr>
          <p:cNvSpPr txBox="1"/>
          <p:nvPr/>
        </p:nvSpPr>
        <p:spPr>
          <a:xfrm>
            <a:off x="-2199544" y="-419100"/>
            <a:ext cx="50687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3200" dirty="0"/>
              <a:t>a)</a:t>
            </a:r>
            <a:endParaRPr lang="es-MX" sz="3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422AF26-47DC-616D-8C05-DDC02A84B50E}"/>
              </a:ext>
            </a:extLst>
          </p:cNvPr>
          <p:cNvSpPr txBox="1"/>
          <p:nvPr/>
        </p:nvSpPr>
        <p:spPr>
          <a:xfrm>
            <a:off x="7612352" y="-419100"/>
            <a:ext cx="52610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3200" dirty="0"/>
              <a:t>b)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38713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589</Words>
  <Application>Microsoft Office PowerPoint</Application>
  <PresentationFormat>Widescreen</PresentationFormat>
  <Paragraphs>159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Office Theme</vt:lpstr>
      <vt:lpstr>PowerPoint Presentation</vt:lpstr>
      <vt:lpstr>Proposal</vt:lpstr>
      <vt:lpstr>PowerPoint Presentation</vt:lpstr>
      <vt:lpstr>Previous Experiments – Michele et al.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proposal suggestion: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Medicions experimentals</dc:title>
  <dc:creator>Julián Ávila</dc:creator>
  <cp:lastModifiedBy>grossi</cp:lastModifiedBy>
  <cp:revision>14</cp:revision>
  <dcterms:created xsi:type="dcterms:W3CDTF">2023-03-06T10:12:36Z</dcterms:created>
  <dcterms:modified xsi:type="dcterms:W3CDTF">2026-08-24T12:13:51Z</dcterms:modified>
</cp:coreProperties>
</file>