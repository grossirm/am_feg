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1" r:id="rId4"/>
    <p:sldId id="264" r:id="rId5"/>
    <p:sldId id="262" r:id="rId6"/>
    <p:sldId id="263" r:id="rId7"/>
    <p:sldId id="266" r:id="rId8"/>
    <p:sldId id="265" r:id="rId9"/>
    <p:sldId id="260" r:id="rId10"/>
    <p:sldId id="258" r:id="rId11"/>
    <p:sldId id="257" r:id="rId1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28921-5049-2E32-25A4-86F65610A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8C54D-5AEE-839C-E6CE-1CBBACA45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35BE-C74C-CB6A-2B3A-763F6D31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BB9B-E6B7-AB9D-291F-299AABC9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DC91E-CD3E-36EF-0845-6EAE8937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358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7D1C-F319-72E2-9ADA-D91D0A1E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CDC5-F031-8865-C1B3-15A3AAD6E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8A3C3-35B0-0245-783F-E1D2295E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B5C52-A3F0-8838-8AE5-DC29946D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6FA7B-93B4-7B06-EB54-C87EECEE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512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FD5D-8C2D-47C9-F784-D71D6C99D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A3644-D5D7-639D-9D01-47ADEF79F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7BC99-1286-48D3-90FB-10CC7DA1A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7651-21C8-1EE2-9B79-BB8017B8F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11145-94A9-10EB-063F-1B221B67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6143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CDD21-43A1-10C1-3651-871BCCB0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A32DD-14B2-A15A-D2A1-AE2297F82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3FE99-E72B-9244-7EFB-C60EE1AF8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4D93A-4972-F498-6313-8CD04CD8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BF39C-ED62-2D11-0F4C-739C2509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26EF5-B03A-255C-2AA0-0E0F94A1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803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DD20D-092D-A734-2227-98DBAC15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B66FA-ED88-86AB-4998-A266CC8DA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BCE67-A9D1-C824-1A0C-4D0B2EEF1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F5106-4821-0BA4-2A24-5ACDA9815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1F419F-06FF-BE02-F0F5-5279F1BC0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50294E-7236-2751-0FBB-8408E34BA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10/02/2026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7FF2BE-B79E-CBEF-1F90-9BB0D58C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957DA-9932-5F90-3C6B-110E650F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296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B9A1-A865-C17A-18A1-8D9423F2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52FA0B-0456-19AB-C82E-85FAE8314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10/02/2026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35560-35B7-033F-8002-88AE8FBCE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48C5D-7CDC-90A0-B7BE-0B413E51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5969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CCFCFB-D5E3-1EBB-0813-5525914B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10/02/2026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7FED4-FD0E-4038-C245-9C42D33BF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2338A-5F42-05CD-688E-6235921A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730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402A-1B0E-19F5-4F43-61DA5EF28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5FC5-D1B1-6B16-0C4A-D5B9C9DEC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356E4-A0AB-2182-EC2A-312898C84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A5BF0-567A-36EE-9770-251B1098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92492-1424-5EC0-7797-DCD14F90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B43C3-D0BE-17BE-258A-D2095F03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398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BD9E-3C35-7CE6-C397-02CAB9CE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81586-3DE7-1CED-A6FA-516F32DC9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83911-9CA4-91CC-A2D5-74E33EB36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B73AF-257F-4AB4-4438-B5F82E03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D3FD0-2C0F-2D84-53E7-202C71E3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82C7F-0CEB-AF03-1866-F3FAD42C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77213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5A0D-E1E8-F181-8213-2B452845E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580F6-16D9-4C8A-4D3E-2C67E9F8A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FA7D0-F549-C4AD-CA87-A769E218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9DD54-320A-040C-9CEB-DB00F45E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B8D1B-8549-922B-2420-31F98FD7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379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A5A027-C698-463D-495A-D7085AE74A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5A546-1999-B8F8-7674-248D56D08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B8244-F6AE-3BFA-0CD4-70293E6F9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82EAB-7A87-22ED-E19C-E146064A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3936B-53D2-50CB-D565-BBC7F103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9757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A41BD9-EA3F-C372-285F-0E39B54A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9B9AB-C7EC-E7BA-13DB-1B474E0B0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6A62A-CFD7-80AA-9B44-CBD28EA44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2F609-7128-42D8-8672-4D6F16D38DEE}" type="datetimeFigureOut">
              <a:rPr lang="LID4096" smtClean="0"/>
              <a:t>10/02/2026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750B6-8239-FB0A-429F-C1C3D106C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FF734-DC96-1ACA-B5C3-248A9D54B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4795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formnext.mesago.com/frankfurt/en/industry-insights/am-field-guide/process_in_general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LR-RY/VoFLibrary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93263C-5FDF-8EA3-9CA6-751233914CF0}"/>
              </a:ext>
            </a:extLst>
          </p:cNvPr>
          <p:cNvSpPr txBox="1"/>
          <p:nvPr/>
        </p:nvSpPr>
        <p:spPr>
          <a:xfrm>
            <a:off x="469330" y="310250"/>
            <a:ext cx="4996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2400" dirty="0">
                <a:solidFill>
                  <a:srgbClr val="0000FF"/>
                </a:solidFill>
                <a:latin typeface="Horley Old Style MT"/>
              </a:rPr>
              <a:t>Laser </a:t>
            </a:r>
            <a:r>
              <a:rPr lang="LID4096" sz="2400" b="1" u="sng" dirty="0">
                <a:solidFill>
                  <a:srgbClr val="0000FF"/>
                </a:solidFill>
                <a:latin typeface="Horley Old Style MT"/>
              </a:rPr>
              <a:t>Powder</a:t>
            </a:r>
            <a:r>
              <a:rPr lang="pt-BR" sz="2400" b="1" u="sng" dirty="0">
                <a:solidFill>
                  <a:srgbClr val="0000FF"/>
                </a:solidFill>
                <a:latin typeface="Horley Old Style MT"/>
              </a:rPr>
              <a:t> </a:t>
            </a:r>
            <a:r>
              <a:rPr lang="LID4096" sz="2400" b="1" u="sng" dirty="0">
                <a:solidFill>
                  <a:srgbClr val="0000FF"/>
                </a:solidFill>
                <a:latin typeface="Horley Old Style MT"/>
              </a:rPr>
              <a:t>Bed Fusion </a:t>
            </a:r>
            <a:r>
              <a:rPr lang="pt-BR" sz="2400" dirty="0">
                <a:solidFill>
                  <a:srgbClr val="0000FF"/>
                </a:solidFill>
                <a:latin typeface="Horley Old Style MT"/>
              </a:rPr>
              <a:t>	</a:t>
            </a:r>
            <a:r>
              <a:rPr lang="LID4096" sz="2400" b="1" dirty="0">
                <a:solidFill>
                  <a:srgbClr val="0000FF"/>
                </a:solidFill>
                <a:latin typeface="Horley Old Style MT"/>
              </a:rPr>
              <a:t>(PBF)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5F99933-D1C2-558A-6BCD-2EEABA478717}"/>
              </a:ext>
            </a:extLst>
          </p:cNvPr>
          <p:cNvGrpSpPr/>
          <p:nvPr/>
        </p:nvGrpSpPr>
        <p:grpSpPr>
          <a:xfrm>
            <a:off x="469331" y="3656325"/>
            <a:ext cx="4996247" cy="2197363"/>
            <a:chOff x="182415" y="3733553"/>
            <a:chExt cx="5998286" cy="267789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2CE6B5-4A6A-BA40-93AB-DD6B8BA861A9}"/>
                </a:ext>
              </a:extLst>
            </p:cNvPr>
            <p:cNvSpPr txBox="1"/>
            <p:nvPr/>
          </p:nvSpPr>
          <p:spPr>
            <a:xfrm>
              <a:off x="182415" y="3733553"/>
              <a:ext cx="5998286" cy="5626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Horley Old Style MT"/>
                </a:rPr>
                <a:t>Directed Energy Deposition 	(DED)</a:t>
              </a:r>
              <a:endParaRPr lang="LID4096" sz="2400" b="1" dirty="0">
                <a:solidFill>
                  <a:srgbClr val="FF0000"/>
                </a:solidFill>
                <a:latin typeface="Horley Old Style MT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DC6979F-7396-95B4-E0A9-C8FF9550DD0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52523" y="4402887"/>
              <a:ext cx="4566413" cy="2008560"/>
              <a:chOff x="250132" y="4161652"/>
              <a:chExt cx="5660425" cy="2489767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CE028FC4-EED6-E3CD-991A-3F91C575CA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0132" y="4186345"/>
                <a:ext cx="2390775" cy="246240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220AD48A-22D8-969E-2C47-44C976C84B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46653" y="4161652"/>
                <a:ext cx="3063904" cy="248976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1B89F58-55D7-5A50-0278-C5DB38526E50}"/>
              </a:ext>
            </a:extLst>
          </p:cNvPr>
          <p:cNvGrpSpPr>
            <a:grpSpLocks noChangeAspect="1"/>
          </p:cNvGrpSpPr>
          <p:nvPr/>
        </p:nvGrpSpPr>
        <p:grpSpPr>
          <a:xfrm>
            <a:off x="590647" y="857601"/>
            <a:ext cx="4518683" cy="2545615"/>
            <a:chOff x="373278" y="583959"/>
            <a:chExt cx="5641374" cy="317808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B18D802-8BF6-8378-5594-5E2C6EE1B54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73278" y="583959"/>
              <a:ext cx="5641374" cy="1934479"/>
              <a:chOff x="-140890" y="749561"/>
              <a:chExt cx="7814355" cy="2679615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C202AD9B-4B09-5D8A-E24D-FC9215B4E8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6064" y="749561"/>
                <a:ext cx="4657401" cy="26408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FE55A261-BCC6-5FCB-143E-7CA41E0565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6503" r="-1"/>
              <a:stretch>
                <a:fillRect/>
              </a:stretch>
            </p:blipFill>
            <p:spPr>
              <a:xfrm>
                <a:off x="-140890" y="749561"/>
                <a:ext cx="3061156" cy="267961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6E59A69-C6C6-4B51-9BA8-35D1A67B7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3278" y="2633766"/>
              <a:ext cx="2524938" cy="112828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F1B5A2C-7018-AFE2-A78D-9C391D33E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22802"/>
            <a:stretch>
              <a:fillRect/>
            </a:stretch>
          </p:blipFill>
          <p:spPr>
            <a:xfrm>
              <a:off x="2927430" y="2689308"/>
              <a:ext cx="3087222" cy="1072738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0CE3FD9B-4B2C-7DBB-EC85-8C277C35D38A}"/>
              </a:ext>
            </a:extLst>
          </p:cNvPr>
          <p:cNvSpPr txBox="1"/>
          <p:nvPr/>
        </p:nvSpPr>
        <p:spPr>
          <a:xfrm>
            <a:off x="6666539" y="2675566"/>
            <a:ext cx="4747800" cy="2572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LID4096" dirty="0">
                <a:solidFill>
                  <a:srgbClr val="0000FF"/>
                </a:solidFill>
                <a:latin typeface="Horley Old Style MT"/>
              </a:rPr>
              <a:t>Laser Powder Bed Fusion 		</a:t>
            </a:r>
            <a:r>
              <a:rPr lang="pt-BR" dirty="0">
                <a:solidFill>
                  <a:srgbClr val="0000FF"/>
                </a:solidFill>
                <a:latin typeface="Horley Old Style MT"/>
              </a:rPr>
              <a:t>    </a:t>
            </a:r>
            <a:r>
              <a:rPr lang="LID4096" dirty="0">
                <a:solidFill>
                  <a:srgbClr val="0000FF"/>
                </a:solidFill>
                <a:latin typeface="Horley Old Style MT"/>
              </a:rPr>
              <a:t>PBF</a:t>
            </a:r>
          </a:p>
          <a:p>
            <a:r>
              <a:rPr lang="LID4096" dirty="0">
                <a:solidFill>
                  <a:srgbClr val="FF0000"/>
                </a:solidFill>
                <a:latin typeface="Horley Old Style MT"/>
              </a:rPr>
              <a:t>Directed Energy Deposition 		</a:t>
            </a:r>
            <a:r>
              <a:rPr lang="pt-BR" dirty="0">
                <a:solidFill>
                  <a:srgbClr val="FF0000"/>
                </a:solidFill>
                <a:latin typeface="Horley Old Style MT"/>
              </a:rPr>
              <a:t>    </a:t>
            </a:r>
            <a:r>
              <a:rPr lang="LID4096" dirty="0">
                <a:solidFill>
                  <a:srgbClr val="FF0000"/>
                </a:solidFill>
                <a:latin typeface="Horley Old Style MT"/>
              </a:rPr>
              <a:t>DED</a:t>
            </a:r>
            <a:endParaRPr lang="pt-BR" dirty="0">
              <a:solidFill>
                <a:srgbClr val="FF0000"/>
              </a:solidFill>
              <a:latin typeface="Horley Old Style MT"/>
            </a:endParaRPr>
          </a:p>
          <a:p>
            <a:r>
              <a:rPr lang="en-GB" dirty="0">
                <a:solidFill>
                  <a:srgbClr val="0000FF"/>
                </a:solidFill>
                <a:latin typeface="Horley Old Style MT"/>
              </a:rPr>
              <a:t>Wire Arc				    WAAM</a:t>
            </a:r>
            <a:endParaRPr lang="LID4096" dirty="0">
              <a:solidFill>
                <a:srgbClr val="0000FF"/>
              </a:solidFill>
              <a:latin typeface="Horley Old Style MT"/>
            </a:endParaRPr>
          </a:p>
          <a:p>
            <a:endParaRPr lang="pt-BR" dirty="0">
              <a:latin typeface="Horley Old Style MT"/>
            </a:endParaRPr>
          </a:p>
          <a:p>
            <a:r>
              <a:rPr lang="LID4096" b="1" dirty="0">
                <a:solidFill>
                  <a:srgbClr val="FF0000"/>
                </a:solidFill>
                <a:latin typeface="Horley Old Style MT"/>
              </a:rPr>
              <a:t>Binder Jetting </a:t>
            </a:r>
            <a:r>
              <a:rPr lang="pt-BR" b="1" dirty="0">
                <a:solidFill>
                  <a:srgbClr val="FF0000"/>
                </a:solidFill>
                <a:latin typeface="Horley Old Style MT"/>
              </a:rPr>
              <a:t>	</a:t>
            </a:r>
            <a:r>
              <a:rPr lang="LID4096" b="1" dirty="0">
                <a:solidFill>
                  <a:srgbClr val="FF0000"/>
                </a:solidFill>
                <a:latin typeface="Horley Old Style MT"/>
              </a:rPr>
              <a:t>– Jat</a:t>
            </a:r>
            <a:r>
              <a:rPr lang="pt-BR" b="1" dirty="0">
                <a:solidFill>
                  <a:srgbClr val="FF0000"/>
                </a:solidFill>
                <a:latin typeface="Horley Old Style MT"/>
              </a:rPr>
              <a:t>.</a:t>
            </a:r>
            <a:r>
              <a:rPr lang="LID4096" b="1" dirty="0">
                <a:solidFill>
                  <a:srgbClr val="FF0000"/>
                </a:solidFill>
                <a:latin typeface="Horley Old Style MT"/>
              </a:rPr>
              <a:t> de Aglutinante</a:t>
            </a:r>
            <a:r>
              <a:rPr lang="pt-BR" b="1" dirty="0">
                <a:solidFill>
                  <a:srgbClr val="FF0000"/>
                </a:solidFill>
                <a:latin typeface="Horley Old Style MT"/>
              </a:rPr>
              <a:t>   </a:t>
            </a:r>
            <a:r>
              <a:rPr lang="LID4096" b="1" dirty="0">
                <a:solidFill>
                  <a:srgbClr val="FF0000"/>
                </a:solidFill>
                <a:latin typeface="Horley Old Style MT"/>
              </a:rPr>
              <a:t>BJT</a:t>
            </a:r>
          </a:p>
          <a:p>
            <a:r>
              <a:rPr lang="LID4096" b="1" dirty="0">
                <a:latin typeface="Horley Old Style MT"/>
              </a:rPr>
              <a:t>Material Jetting </a:t>
            </a:r>
            <a:r>
              <a:rPr lang="pt-BR" b="1" dirty="0">
                <a:latin typeface="Horley Old Style MT"/>
              </a:rPr>
              <a:t>	</a:t>
            </a:r>
            <a:r>
              <a:rPr lang="LID4096" b="1" dirty="0">
                <a:latin typeface="Horley Old Style MT"/>
              </a:rPr>
              <a:t>– Jat</a:t>
            </a:r>
            <a:r>
              <a:rPr lang="pt-BR" b="1" dirty="0">
                <a:latin typeface="Horley Old Style MT"/>
              </a:rPr>
              <a:t>. </a:t>
            </a:r>
            <a:r>
              <a:rPr lang="LID4096" b="1" dirty="0">
                <a:latin typeface="Horley Old Style MT"/>
              </a:rPr>
              <a:t>de Material</a:t>
            </a:r>
            <a:r>
              <a:rPr lang="pt-BR" b="1" dirty="0">
                <a:latin typeface="Horley Old Style MT"/>
              </a:rPr>
              <a:t>         </a:t>
            </a:r>
            <a:r>
              <a:rPr lang="LID4096" b="1" dirty="0">
                <a:latin typeface="Horley Old Style MT"/>
              </a:rPr>
              <a:t>MJT</a:t>
            </a:r>
          </a:p>
          <a:p>
            <a:r>
              <a:rPr lang="LID4096" dirty="0">
                <a:latin typeface="Horley Old Style MT"/>
              </a:rPr>
              <a:t>Vat</a:t>
            </a:r>
            <a:r>
              <a:rPr lang="LID4096" b="1" dirty="0">
                <a:latin typeface="Horley Old Style MT"/>
              </a:rPr>
              <a:t> </a:t>
            </a:r>
            <a:r>
              <a:rPr lang="LID4096" b="1" u="sng" dirty="0">
                <a:latin typeface="Horley Old Style MT"/>
              </a:rPr>
              <a:t>Photopolymerization </a:t>
            </a:r>
            <a:r>
              <a:rPr lang="pt-BR" b="1" dirty="0">
                <a:latin typeface="Horley Old Style MT"/>
              </a:rPr>
              <a:t>		     </a:t>
            </a:r>
            <a:r>
              <a:rPr lang="LID4096" b="1" dirty="0">
                <a:latin typeface="Horley Old Style MT"/>
              </a:rPr>
              <a:t>VTT</a:t>
            </a:r>
            <a:endParaRPr lang="pt-BR" b="1" dirty="0">
              <a:latin typeface="Horley Old Style MT"/>
            </a:endParaRPr>
          </a:p>
          <a:p>
            <a:r>
              <a:rPr lang="en-US" b="1" dirty="0">
                <a:latin typeface="Horley Old Style MT"/>
              </a:rPr>
              <a:t>Sheet Lamination			     SHL </a:t>
            </a:r>
          </a:p>
          <a:p>
            <a:r>
              <a:rPr lang="en-US" b="1" dirty="0">
                <a:latin typeface="Horley Old Style MT"/>
              </a:rPr>
              <a:t>Election Beam 			    EBM </a:t>
            </a:r>
            <a:endParaRPr lang="LID4096" b="1" dirty="0">
              <a:latin typeface="Horley Old Style MT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6FBD68C-44D4-F8BA-6FB1-209D3B920B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0485" y="5432304"/>
            <a:ext cx="3803854" cy="11094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41E8411-B30A-D0C1-A5A6-332967D6D1CE}"/>
              </a:ext>
            </a:extLst>
          </p:cNvPr>
          <p:cNvGrpSpPr/>
          <p:nvPr/>
        </p:nvGrpSpPr>
        <p:grpSpPr>
          <a:xfrm>
            <a:off x="5600723" y="308316"/>
            <a:ext cx="5860847" cy="2267095"/>
            <a:chOff x="5600723" y="308316"/>
            <a:chExt cx="5860847" cy="2267095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932667B-EDB1-6349-EC5B-499AC5F8C37A}"/>
                </a:ext>
              </a:extLst>
            </p:cNvPr>
            <p:cNvGrpSpPr/>
            <p:nvPr/>
          </p:nvGrpSpPr>
          <p:grpSpPr>
            <a:xfrm>
              <a:off x="5600723" y="308316"/>
              <a:ext cx="5860847" cy="2267095"/>
              <a:chOff x="6871728" y="1129696"/>
              <a:chExt cx="7363053" cy="2642223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9DBE22-0C4C-95E4-AABC-C64DD76A297F}"/>
                  </a:ext>
                </a:extLst>
              </p:cNvPr>
              <p:cNvSpPr txBox="1"/>
              <p:nvPr/>
            </p:nvSpPr>
            <p:spPr>
              <a:xfrm>
                <a:off x="6871728" y="1129696"/>
                <a:ext cx="5964718" cy="5380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dirty="0">
                    <a:solidFill>
                      <a:srgbClr val="0000FF"/>
                    </a:solidFill>
                  </a:rPr>
                  <a:t>Wire Arc  - </a:t>
                </a:r>
                <a:r>
                  <a:rPr lang="en-GB" sz="2400" b="1" dirty="0">
                    <a:solidFill>
                      <a:srgbClr val="0000FF"/>
                    </a:solidFill>
                  </a:rPr>
                  <a:t>WAAM</a:t>
                </a:r>
                <a:endParaRPr lang="en-GB" sz="2400" dirty="0">
                  <a:solidFill>
                    <a:srgbClr val="0000FF"/>
                  </a:solidFill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626AC2A-29FA-41CD-A7BB-F96AC9D63CE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937787" y="1785447"/>
                <a:ext cx="5274361" cy="1764673"/>
                <a:chOff x="7777719" y="1836548"/>
                <a:chExt cx="7687643" cy="2572098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33F255BC-3BDD-67D6-0226-80D008DDF2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l="4370" r="48207"/>
                <a:stretch>
                  <a:fillRect/>
                </a:stretch>
              </p:blipFill>
              <p:spPr>
                <a:xfrm>
                  <a:off x="7777719" y="1836548"/>
                  <a:ext cx="4030195" cy="255494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9DA1FB8A-5B9C-E076-5699-BFBAD9105B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l="52578" r="6611"/>
                <a:stretch>
                  <a:fillRect/>
                </a:stretch>
              </p:blipFill>
              <p:spPr>
                <a:xfrm>
                  <a:off x="11997073" y="1853703"/>
                  <a:ext cx="3468289" cy="2554943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561FCC-979F-D5DA-3537-0D746DB9D0F8}"/>
                  </a:ext>
                </a:extLst>
              </p:cNvPr>
              <p:cNvSpPr txBox="1"/>
              <p:nvPr/>
            </p:nvSpPr>
            <p:spPr>
              <a:xfrm>
                <a:off x="6871728" y="3587253"/>
                <a:ext cx="4806367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LID4096" sz="600" dirty="0"/>
                  <a:t>10a3_MANUFATURA ADITIVA POR DEPOSIÇÃO A ARCO UMA ANÁLISE CRÍTICA DA TECNOLOGIA E PERSPECTIVAS.pdf</a:t>
                </a:r>
              </a:p>
            </p:txBody>
          </p: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081AC1F2-8A17-5736-28D1-8E267A518C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b="10330"/>
              <a:stretch>
                <a:fillRect/>
              </a:stretch>
            </p:blipFill>
            <p:spPr>
              <a:xfrm>
                <a:off x="12341927" y="1808990"/>
                <a:ext cx="1836165" cy="172935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E9B3F9-5AAD-8BBD-30D1-1CD63947B2B3}"/>
                  </a:ext>
                </a:extLst>
              </p:cNvPr>
              <p:cNvSpPr txBox="1"/>
              <p:nvPr/>
            </p:nvSpPr>
            <p:spPr>
              <a:xfrm>
                <a:off x="12498864" y="1470464"/>
                <a:ext cx="1735917" cy="394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</a:rPr>
                  <a:t>DED &amp; </a:t>
                </a:r>
                <a:r>
                  <a:rPr lang="en-GB" sz="1600" b="1" dirty="0">
                    <a:solidFill>
                      <a:srgbClr val="FF0000"/>
                    </a:solidFill>
                  </a:rPr>
                  <a:t>WAAM </a:t>
                </a:r>
                <a:endParaRPr lang="LID4096" sz="16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2C6E52-701D-9A04-C61F-B318F5709B32}"/>
                </a:ext>
              </a:extLst>
            </p:cNvPr>
            <p:cNvSpPr txBox="1"/>
            <p:nvPr/>
          </p:nvSpPr>
          <p:spPr>
            <a:xfrm>
              <a:off x="8038712" y="354482"/>
              <a:ext cx="180190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b="1" noProof="0" dirty="0"/>
                <a:t>- Arco Voltaico</a:t>
              </a:r>
              <a:endParaRPr lang="pt-BR" sz="20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85576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BE607020-BA18-4EB5-45F4-01AE41245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662" y="3382876"/>
            <a:ext cx="5930492" cy="3346343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6E3B705A-9DBC-2201-2E91-039D59194878}"/>
              </a:ext>
            </a:extLst>
          </p:cNvPr>
          <p:cNvGrpSpPr/>
          <p:nvPr/>
        </p:nvGrpSpPr>
        <p:grpSpPr>
          <a:xfrm>
            <a:off x="74382" y="513346"/>
            <a:ext cx="7184683" cy="3908375"/>
            <a:chOff x="791421" y="1438356"/>
            <a:chExt cx="7184683" cy="390837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B71C00-4FFE-0984-A648-77F2BAF0240B}"/>
                </a:ext>
              </a:extLst>
            </p:cNvPr>
            <p:cNvSpPr txBox="1"/>
            <p:nvPr/>
          </p:nvSpPr>
          <p:spPr>
            <a:xfrm>
              <a:off x="791421" y="4331068"/>
              <a:ext cx="3409386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1" i="0" u="sng" strike="noStrike" baseline="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Macro-scale</a:t>
              </a:r>
              <a:r>
                <a:rPr lang="en-GB" sz="1800" b="1" i="0" u="sng" strike="noStrike" baseline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models</a:t>
              </a:r>
              <a:r>
                <a:rPr lang="en-GB" sz="1800" b="0" i="0" u="none" strike="noStrike" baseline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</a:p>
            <a:p>
              <a:r>
                <a:rPr lang="en-GB" sz="1800" b="0" i="0" u="none" strike="noStrike" baseline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heat flow and structural (stress) deformation &amp; </a:t>
              </a:r>
              <a:r>
                <a:rPr lang="en-GB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interlayer bonding,</a:t>
              </a:r>
              <a:endParaRPr lang="LID4096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8F2F1C-F12A-2445-DC4F-C5F34C187D73}"/>
                </a:ext>
              </a:extLst>
            </p:cNvPr>
            <p:cNvSpPr txBox="1"/>
            <p:nvPr/>
          </p:nvSpPr>
          <p:spPr>
            <a:xfrm>
              <a:off x="1122346" y="3443856"/>
              <a:ext cx="327251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b="1" i="0" u="sng" strike="noStrike" baseline="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Meso-scale</a:t>
              </a:r>
              <a:r>
                <a:rPr lang="en-GB" sz="1800" b="1" i="0" u="sng" strike="noStrike" baseline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models</a:t>
              </a:r>
              <a:r>
                <a:rPr lang="en-GB" sz="1800" b="0" i="0" u="none" strike="noStrike" baseline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pool geometry, bead formation, and dilution. </a:t>
              </a:r>
              <a:endParaRPr lang="LID4096" dirty="0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333C9CC-BAC4-5870-0309-F058BCCE8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641" t="48787" r="58393" b="19224"/>
            <a:stretch>
              <a:fillRect/>
            </a:stretch>
          </p:blipFill>
          <p:spPr>
            <a:xfrm>
              <a:off x="895910" y="1451615"/>
              <a:ext cx="3168028" cy="185917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8C07888-A649-E387-D8EC-F1250763E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269" t="25775" r="3663" b="47866"/>
            <a:stretch>
              <a:fillRect/>
            </a:stretch>
          </p:blipFill>
          <p:spPr>
            <a:xfrm>
              <a:off x="4324535" y="3455302"/>
              <a:ext cx="1686419" cy="188976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1662F11-3A36-2BC2-EE3E-939FD412D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7997" t="36248" r="15723" b="28519"/>
            <a:stretch>
              <a:fillRect/>
            </a:stretch>
          </p:blipFill>
          <p:spPr>
            <a:xfrm>
              <a:off x="4324535" y="1438356"/>
              <a:ext cx="1686419" cy="187243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C97E6FE-5DD3-AE74-A2A9-555C9BBC8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322" t="47508" r="32003" b="26133"/>
            <a:stretch>
              <a:fillRect/>
            </a:stretch>
          </p:blipFill>
          <p:spPr>
            <a:xfrm>
              <a:off x="6310265" y="1959754"/>
              <a:ext cx="1665838" cy="135103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861AE48-AAAB-F866-A98D-B5BE4E0118B8}"/>
                </a:ext>
              </a:extLst>
            </p:cNvPr>
            <p:cNvSpPr txBox="1"/>
            <p:nvPr/>
          </p:nvSpPr>
          <p:spPr>
            <a:xfrm>
              <a:off x="6310266" y="3495453"/>
              <a:ext cx="166583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sz="800" i="0" u="none" strike="noStrike" baseline="0" dirty="0">
                  <a:solidFill>
                    <a:srgbClr val="000000"/>
                  </a:solidFill>
                  <a:latin typeface="Myriad Pro"/>
                </a:rPr>
                <a:t>FONTE: Multi-scale modeling approaches in wire arc additive manufacturing: from melt pool dynamics to residual stress prediction </a:t>
              </a:r>
              <a:r>
                <a:rPr lang="en-GB" sz="800" dirty="0">
                  <a:solidFill>
                    <a:srgbClr val="000000"/>
                  </a:solidFill>
                  <a:latin typeface="Myriad Pro"/>
                </a:rPr>
                <a:t>&amp; </a:t>
              </a:r>
              <a:r>
                <a:rPr lang="LID4096" sz="800" dirty="0"/>
                <a:t>AM PravaH®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FF4B0D7-6BB9-1323-2A86-D6C9CA2D9D06}"/>
              </a:ext>
            </a:extLst>
          </p:cNvPr>
          <p:cNvGrpSpPr/>
          <p:nvPr/>
        </p:nvGrpSpPr>
        <p:grpSpPr>
          <a:xfrm>
            <a:off x="485484" y="5056048"/>
            <a:ext cx="5484145" cy="1477328"/>
            <a:chOff x="6450589" y="3881010"/>
            <a:chExt cx="5484145" cy="147732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A030490-DB93-F4DC-BB3A-9280CD14D85B}"/>
                </a:ext>
              </a:extLst>
            </p:cNvPr>
            <p:cNvSpPr txBox="1"/>
            <p:nvPr/>
          </p:nvSpPr>
          <p:spPr>
            <a:xfrm>
              <a:off x="6450589" y="3881010"/>
              <a:ext cx="459916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b="1" dirty="0"/>
                <a:t>01 - </a:t>
              </a:r>
              <a:r>
                <a:rPr lang="LID4096" b="1" dirty="0"/>
                <a:t>finite element analysis (FEA)</a:t>
              </a:r>
              <a:endParaRPr lang="pt-BR" b="1" dirty="0"/>
            </a:p>
            <a:p>
              <a:r>
                <a:rPr lang="pt-BR" b="1" dirty="0"/>
                <a:t>02 - </a:t>
              </a:r>
              <a:r>
                <a:rPr lang="LID4096" b="1" dirty="0"/>
                <a:t>thermal–mechanical simulations</a:t>
              </a:r>
              <a:endParaRPr lang="pt-BR" b="1" dirty="0"/>
            </a:p>
            <a:p>
              <a:endParaRPr lang="pt-BR" b="1" dirty="0"/>
            </a:p>
            <a:p>
              <a:endParaRPr lang="pt-BR" b="1" dirty="0"/>
            </a:p>
            <a:p>
              <a:r>
                <a:rPr lang="pt-BR" b="1" dirty="0"/>
                <a:t>03 - </a:t>
              </a:r>
              <a:r>
                <a:rPr lang="LID4096" b="1" dirty="0"/>
                <a:t>phase-field modeling techniques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E7A38B8-8CDB-714B-C148-7AA5E8549FBE}"/>
                </a:ext>
              </a:extLst>
            </p:cNvPr>
            <p:cNvSpPr txBox="1"/>
            <p:nvPr/>
          </p:nvSpPr>
          <p:spPr>
            <a:xfrm>
              <a:off x="9897701" y="3881010"/>
              <a:ext cx="10313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b="1" i="0" strike="noStrike" baseline="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Macro</a:t>
              </a:r>
              <a:endParaRPr lang="LID4096" sz="1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D4E9B6-2A00-FB75-CE18-635A77908225}"/>
                </a:ext>
              </a:extLst>
            </p:cNvPr>
            <p:cNvSpPr txBox="1"/>
            <p:nvPr/>
          </p:nvSpPr>
          <p:spPr>
            <a:xfrm>
              <a:off x="7708276" y="4435007"/>
              <a:ext cx="422645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dirty="0">
                  <a:solidFill>
                    <a:srgbClr val="FF0000"/>
                  </a:solidFill>
                </a:rPr>
                <a:t>global heat flow, temperature distribution,</a:t>
              </a:r>
            </a:p>
            <a:p>
              <a:r>
                <a:rPr lang="LID4096" dirty="0">
                  <a:solidFill>
                    <a:srgbClr val="FF0000"/>
                  </a:solidFill>
                </a:rPr>
                <a:t>and stress evolution during deposition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02E9AB0-1B66-2B81-8AA7-7E094D7F3C7E}"/>
                </a:ext>
              </a:extLst>
            </p:cNvPr>
            <p:cNvSpPr txBox="1"/>
            <p:nvPr/>
          </p:nvSpPr>
          <p:spPr>
            <a:xfrm>
              <a:off x="10078771" y="4132378"/>
              <a:ext cx="10313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b="1" i="0" strike="noStrike" baseline="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Macro</a:t>
              </a:r>
              <a:endParaRPr lang="LID4096" sz="1400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82F4112-5B81-EFEB-5C31-3FBEBDFB5543}"/>
              </a:ext>
            </a:extLst>
          </p:cNvPr>
          <p:cNvSpPr txBox="1"/>
          <p:nvPr/>
        </p:nvSpPr>
        <p:spPr>
          <a:xfrm>
            <a:off x="3076363" y="-45061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grain growth, microstructural transitions, and</a:t>
            </a:r>
          </a:p>
          <a:p>
            <a:r>
              <a:rPr lang="LID4096" dirty="0"/>
              <a:t>solidification kinetics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0AE9AB-E698-A783-8635-7441D088EC22}"/>
              </a:ext>
            </a:extLst>
          </p:cNvPr>
          <p:cNvSpPr txBox="1"/>
          <p:nvPr/>
        </p:nvSpPr>
        <p:spPr>
          <a:xfrm>
            <a:off x="74383" y="1106"/>
            <a:ext cx="3069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i="0" u="sng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Micro-scale</a:t>
            </a:r>
            <a:r>
              <a:rPr lang="en-GB" sz="1800" b="1" i="0" u="sng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phase-field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95995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8C8A756-1CE6-57F4-1BFC-879C370AEDCE}"/>
              </a:ext>
            </a:extLst>
          </p:cNvPr>
          <p:cNvGrpSpPr/>
          <p:nvPr/>
        </p:nvGrpSpPr>
        <p:grpSpPr>
          <a:xfrm>
            <a:off x="304015" y="597682"/>
            <a:ext cx="6094428" cy="3785652"/>
            <a:chOff x="304015" y="597682"/>
            <a:chExt cx="6094428" cy="378565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78646D-4E92-EA17-AB94-8E5ACEB2D355}"/>
                </a:ext>
              </a:extLst>
            </p:cNvPr>
            <p:cNvSpPr txBox="1"/>
            <p:nvPr/>
          </p:nvSpPr>
          <p:spPr>
            <a:xfrm>
              <a:off x="304015" y="597682"/>
              <a:ext cx="6094428" cy="3785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2000" b="1" dirty="0"/>
                <a:t>PROBLEMAS</a:t>
              </a:r>
              <a:r>
                <a:rPr lang="pt-BR" sz="2000" b="1" dirty="0"/>
                <a:t> DE FABRICAÇÂO</a:t>
              </a:r>
              <a:endParaRPr lang="LID4096" sz="2000" b="1" dirty="0"/>
            </a:p>
            <a:p>
              <a:r>
                <a:rPr lang="pt-BR" sz="2000" dirty="0"/>
                <a:t>1- </a:t>
              </a:r>
              <a:r>
                <a:rPr lang="LID4096" sz="2000" dirty="0"/>
                <a:t>Orientação </a:t>
              </a:r>
              <a:r>
                <a:rPr lang="pt-BR" sz="2000" dirty="0"/>
                <a:t>– direção| sentido</a:t>
              </a:r>
              <a:endParaRPr lang="LID4096" sz="2000" dirty="0"/>
            </a:p>
            <a:p>
              <a:r>
                <a:rPr lang="pt-BR" sz="2000" dirty="0"/>
                <a:t>2- </a:t>
              </a:r>
              <a:r>
                <a:rPr lang="LID4096" sz="2000" dirty="0"/>
                <a:t>Efeito balling (descontínuidades)</a:t>
              </a:r>
            </a:p>
            <a:p>
              <a:r>
                <a:rPr lang="pt-BR" sz="2000" dirty="0"/>
                <a:t>3- </a:t>
              </a:r>
              <a:r>
                <a:rPr lang="LID4096" sz="2000" dirty="0"/>
                <a:t>Keyholes (espaços vazios - vapor)</a:t>
              </a:r>
            </a:p>
            <a:p>
              <a:r>
                <a:rPr lang="pt-BR" sz="2000" dirty="0"/>
                <a:t>4- </a:t>
              </a:r>
              <a:r>
                <a:rPr lang="LID4096" sz="2000" dirty="0"/>
                <a:t>Degradação química e oxidação</a:t>
              </a:r>
            </a:p>
            <a:p>
              <a:r>
                <a:rPr lang="pt-BR" sz="2000" dirty="0"/>
                <a:t>5- </a:t>
              </a:r>
              <a:r>
                <a:rPr lang="LID4096" sz="2000" dirty="0"/>
                <a:t>Processos reativos</a:t>
              </a:r>
            </a:p>
            <a:p>
              <a:r>
                <a:rPr lang="pt-BR" sz="2000" dirty="0"/>
                <a:t>6- </a:t>
              </a:r>
              <a:r>
                <a:rPr lang="LID4096" sz="2000" dirty="0"/>
                <a:t>Partículas residuais</a:t>
              </a:r>
            </a:p>
            <a:p>
              <a:r>
                <a:rPr lang="pt-BR" sz="2000" dirty="0"/>
                <a:t>7- </a:t>
              </a:r>
              <a:r>
                <a:rPr lang="LID4096" sz="2000" dirty="0"/>
                <a:t>Trincas</a:t>
              </a:r>
            </a:p>
            <a:p>
              <a:r>
                <a:rPr lang="pt-BR" sz="2000" dirty="0"/>
                <a:t>8- </a:t>
              </a:r>
              <a:r>
                <a:rPr lang="LID4096" sz="2000" dirty="0"/>
                <a:t>Delaminação</a:t>
              </a:r>
            </a:p>
            <a:p>
              <a:r>
                <a:rPr lang="pt-BR" sz="2000" dirty="0"/>
                <a:t>9- </a:t>
              </a:r>
              <a:r>
                <a:rPr lang="LID4096" sz="2000" dirty="0"/>
                <a:t>Distorção</a:t>
              </a:r>
            </a:p>
            <a:p>
              <a:r>
                <a:rPr lang="pt-BR" sz="2000" dirty="0"/>
                <a:t>0- </a:t>
              </a:r>
              <a:r>
                <a:rPr lang="LID4096" sz="2000" dirty="0"/>
                <a:t>Acabamento superficial ruim</a:t>
              </a:r>
            </a:p>
            <a:p>
              <a:r>
                <a:rPr lang="pt-BR" sz="2000" dirty="0"/>
                <a:t>1- </a:t>
              </a:r>
              <a:r>
                <a:rPr lang="LID4096" sz="2000" dirty="0"/>
                <a:t>Porosidade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AF34C84-B521-4465-5ABE-19053F4AEFEF}"/>
                </a:ext>
              </a:extLst>
            </p:cNvPr>
            <p:cNvSpPr txBox="1"/>
            <p:nvPr/>
          </p:nvSpPr>
          <p:spPr>
            <a:xfrm>
              <a:off x="2802047" y="2721114"/>
              <a:ext cx="90987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LID4096" sz="800" dirty="0">
                  <a:solidFill>
                    <a:srgbClr val="FF0000"/>
                  </a:solidFill>
                </a:rPr>
                <a:t>Aula 3 - DED_Deposicao_por_energia_direcionada___e___p86__</a:t>
              </a: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4802523-39A9-93CD-3D5D-F72290DAC1F3}"/>
              </a:ext>
            </a:extLst>
          </p:cNvPr>
          <p:cNvSpPr/>
          <p:nvPr/>
        </p:nvSpPr>
        <p:spPr>
          <a:xfrm>
            <a:off x="6732308" y="1409306"/>
            <a:ext cx="4315906" cy="3087279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2400" b="1" noProof="0" dirty="0">
                <a:solidFill>
                  <a:srgbClr val="0000FF"/>
                </a:solidFill>
                <a:latin typeface="Times New Roman" panose="02020603050405020304" pitchFamily="18" charset="0"/>
              </a:rPr>
              <a:t>Para que modelar? </a:t>
            </a:r>
          </a:p>
          <a:p>
            <a:r>
              <a:rPr lang="pt-BR" sz="2400" noProof="0" dirty="0">
                <a:solidFill>
                  <a:srgbClr val="0000FF"/>
                </a:solidFill>
                <a:latin typeface="Times New Roman" panose="02020603050405020304" pitchFamily="18" charset="0"/>
              </a:rPr>
              <a:t>- Racionalizar o problema</a:t>
            </a:r>
          </a:p>
          <a:p>
            <a:endParaRPr lang="pt-BR" sz="2400" noProof="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604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938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B2A0FCC-EE03-9EC0-A9D6-5FE8EFA9A6E1}"/>
              </a:ext>
            </a:extLst>
          </p:cNvPr>
          <p:cNvGrpSpPr>
            <a:grpSpLocks noChangeAspect="1"/>
          </p:cNvGrpSpPr>
          <p:nvPr/>
        </p:nvGrpSpPr>
        <p:grpSpPr>
          <a:xfrm>
            <a:off x="640016" y="456598"/>
            <a:ext cx="9229848" cy="5826288"/>
            <a:chOff x="1290465" y="843097"/>
            <a:chExt cx="8675891" cy="547660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CBFB7ED-0C91-4BCB-E242-91EA6BFE40A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90465" y="843097"/>
              <a:ext cx="8675891" cy="5476606"/>
              <a:chOff x="1290465" y="843097"/>
              <a:chExt cx="8675891" cy="547660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C5E4821-3A2C-49A0-D61A-EF6CBAC776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50044"/>
              <a:stretch>
                <a:fillRect/>
              </a:stretch>
            </p:blipFill>
            <p:spPr>
              <a:xfrm>
                <a:off x="1290465" y="843097"/>
                <a:ext cx="4072551" cy="5476606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E31717DC-E08A-F153-F093-47FAB12A3E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0044"/>
              <a:stretch>
                <a:fillRect/>
              </a:stretch>
            </p:blipFill>
            <p:spPr>
              <a:xfrm>
                <a:off x="5893805" y="843097"/>
                <a:ext cx="4072551" cy="5476606"/>
              </a:xfrm>
              <a:prstGeom prst="rect">
                <a:avLst/>
              </a:prstGeom>
            </p:spPr>
          </p:pic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E3E1127-CDBC-9B5D-F163-A0E5978E1E96}"/>
                </a:ext>
              </a:extLst>
            </p:cNvPr>
            <p:cNvSpPr/>
            <p:nvPr/>
          </p:nvSpPr>
          <p:spPr>
            <a:xfrm>
              <a:off x="1697434" y="3346515"/>
              <a:ext cx="3336480" cy="299301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LID4096" b="1" dirty="0">
                  <a:solidFill>
                    <a:srgbClr val="0000FF"/>
                  </a:solidFill>
                  <a:latin typeface="Horley Old Style MT"/>
                </a:rPr>
                <a:t>Powder</a:t>
              </a:r>
              <a:r>
                <a:rPr lang="pt-BR" b="1" dirty="0">
                  <a:solidFill>
                    <a:srgbClr val="0000FF"/>
                  </a:solidFill>
                  <a:latin typeface="Horley Old Style MT"/>
                </a:rPr>
                <a:t> </a:t>
              </a:r>
              <a:r>
                <a:rPr lang="LID4096" b="1" dirty="0">
                  <a:solidFill>
                    <a:srgbClr val="0000FF"/>
                  </a:solidFill>
                  <a:latin typeface="Horley Old Style MT"/>
                </a:rPr>
                <a:t>Bed Fusion (PBF)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E80FE23-DB89-9CAC-5DE4-80E598169ABA}"/>
                </a:ext>
              </a:extLst>
            </p:cNvPr>
            <p:cNvSpPr/>
            <p:nvPr/>
          </p:nvSpPr>
          <p:spPr>
            <a:xfrm>
              <a:off x="6096000" y="3346515"/>
              <a:ext cx="3502320" cy="299301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latin typeface="Horley Old Style MT"/>
                </a:rPr>
                <a:t>Directed Energy Deposition (DED)</a:t>
              </a:r>
              <a:endParaRPr lang="LID4096" b="1" dirty="0">
                <a:solidFill>
                  <a:srgbClr val="FF0000"/>
                </a:solidFill>
                <a:latin typeface="Horley Old Style M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6896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89B5CFE-A429-A8E9-E961-AA1723B8FA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01" t="51086" r="17403"/>
          <a:stretch>
            <a:fillRect/>
          </a:stretch>
        </p:blipFill>
        <p:spPr>
          <a:xfrm>
            <a:off x="2950590" y="3849873"/>
            <a:ext cx="6363092" cy="300812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1B14EA9-5EA9-0FB0-8892-4C9CA34D33F7}"/>
              </a:ext>
            </a:extLst>
          </p:cNvPr>
          <p:cNvGrpSpPr/>
          <p:nvPr/>
        </p:nvGrpSpPr>
        <p:grpSpPr>
          <a:xfrm>
            <a:off x="1022745" y="174991"/>
            <a:ext cx="10669753" cy="3520315"/>
            <a:chOff x="1022745" y="174991"/>
            <a:chExt cx="10669753" cy="352031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A64CED2-8896-3D23-D40F-F8162E62430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22745" y="174991"/>
              <a:ext cx="10669753" cy="3520315"/>
              <a:chOff x="1022745" y="174991"/>
              <a:chExt cx="10669753" cy="352031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FBAD9CF-3900-BE3D-0047-902943F60A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b="51086"/>
              <a:stretch>
                <a:fillRect/>
              </a:stretch>
            </p:blipFill>
            <p:spPr>
              <a:xfrm>
                <a:off x="1022745" y="174991"/>
                <a:ext cx="10669753" cy="3444902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F290CE8-831C-347E-4E09-8B67F0C63451}"/>
                  </a:ext>
                </a:extLst>
              </p:cNvPr>
              <p:cNvSpPr/>
              <p:nvPr/>
            </p:nvSpPr>
            <p:spPr>
              <a:xfrm>
                <a:off x="4694548" y="3381865"/>
                <a:ext cx="3073139" cy="3134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</p:grp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4D87DEB-A48D-87AB-BC1E-CEE1F0FA6A24}"/>
                </a:ext>
              </a:extLst>
            </p:cNvPr>
            <p:cNvSpPr/>
            <p:nvPr/>
          </p:nvSpPr>
          <p:spPr>
            <a:xfrm>
              <a:off x="8578390" y="339366"/>
              <a:ext cx="2073897" cy="313441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GB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Micro-scale</a:t>
              </a:r>
              <a:endPara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D43E47D-7B8C-AE3C-6E1C-555211D6ED48}"/>
                </a:ext>
              </a:extLst>
            </p:cNvPr>
            <p:cNvSpPr/>
            <p:nvPr/>
          </p:nvSpPr>
          <p:spPr>
            <a:xfrm>
              <a:off x="5183169" y="320512"/>
              <a:ext cx="2073897" cy="313441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GB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Meso-scale</a:t>
              </a:r>
              <a:endPara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87B1A04-923C-1EE3-798B-FE899319B5A4}"/>
                </a:ext>
              </a:extLst>
            </p:cNvPr>
            <p:cNvSpPr/>
            <p:nvPr/>
          </p:nvSpPr>
          <p:spPr>
            <a:xfrm>
              <a:off x="1708576" y="320511"/>
              <a:ext cx="2073897" cy="313441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GB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Macro-scale</a:t>
              </a:r>
              <a:endPara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622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BA07D8-C7C9-80CC-0A01-BE98DDA9DE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519"/>
          <a:stretch>
            <a:fillRect/>
          </a:stretch>
        </p:blipFill>
        <p:spPr>
          <a:xfrm>
            <a:off x="83279" y="0"/>
            <a:ext cx="6730766" cy="42783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F8D699-4DF7-7CFB-7149-7E681B6744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05" b="28137"/>
          <a:stretch>
            <a:fillRect/>
          </a:stretch>
        </p:blipFill>
        <p:spPr>
          <a:xfrm>
            <a:off x="7414789" y="0"/>
            <a:ext cx="4777212" cy="31128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8293B0-7326-CC9E-F851-418B49E9161C}"/>
              </a:ext>
            </a:extLst>
          </p:cNvPr>
          <p:cNvSpPr txBox="1"/>
          <p:nvPr/>
        </p:nvSpPr>
        <p:spPr>
          <a:xfrm>
            <a:off x="5470167" y="3202721"/>
            <a:ext cx="775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  <a:latin typeface="Horley Old Style MT"/>
              </a:rPr>
              <a:t>PFEM</a:t>
            </a:r>
            <a:endParaRPr lang="LID4096" b="1" dirty="0">
              <a:solidFill>
                <a:srgbClr val="0000FF"/>
              </a:solidFill>
              <a:latin typeface="Horley Old Style M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811C4D-E9AC-FB91-F169-B9F9EDA76D4C}"/>
              </a:ext>
            </a:extLst>
          </p:cNvPr>
          <p:cNvSpPr txBox="1"/>
          <p:nvPr/>
        </p:nvSpPr>
        <p:spPr>
          <a:xfrm>
            <a:off x="3219018" y="1994342"/>
            <a:ext cx="837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Horley Old Style MT"/>
              </a:rPr>
              <a:t>MPM</a:t>
            </a:r>
            <a:endParaRPr lang="LID4096" b="1" dirty="0">
              <a:solidFill>
                <a:schemeClr val="accent6">
                  <a:lumMod val="75000"/>
                </a:schemeClr>
              </a:solidFill>
              <a:latin typeface="Horley Old Style MT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FB12A99E-F642-C3C4-09FF-AB3F0E3AD670}"/>
              </a:ext>
            </a:extLst>
          </p:cNvPr>
          <p:cNvSpPr/>
          <p:nvPr/>
        </p:nvSpPr>
        <p:spPr>
          <a:xfrm rot="5400000">
            <a:off x="185596" y="1838228"/>
            <a:ext cx="289712" cy="262551"/>
          </a:xfrm>
          <a:prstGeom prst="triangle">
            <a:avLst>
              <a:gd name="adj" fmla="val 48501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CC981C6F-7E8F-06C4-71F7-917E40965B82}"/>
              </a:ext>
            </a:extLst>
          </p:cNvPr>
          <p:cNvSpPr/>
          <p:nvPr/>
        </p:nvSpPr>
        <p:spPr>
          <a:xfrm rot="5400000">
            <a:off x="193140" y="3656468"/>
            <a:ext cx="289712" cy="262551"/>
          </a:xfrm>
          <a:prstGeom prst="triangle">
            <a:avLst>
              <a:gd name="adj" fmla="val 48501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454E6CE-7475-CCA3-2291-F75D6B45E648}"/>
              </a:ext>
            </a:extLst>
          </p:cNvPr>
          <p:cNvSpPr/>
          <p:nvPr/>
        </p:nvSpPr>
        <p:spPr>
          <a:xfrm rot="5400000">
            <a:off x="7567653" y="1863067"/>
            <a:ext cx="289712" cy="262551"/>
          </a:xfrm>
          <a:prstGeom prst="triangle">
            <a:avLst>
              <a:gd name="adj" fmla="val 48501"/>
            </a:avLst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29F3C6C-7D9D-04BE-8C7E-1DF3597777DF}"/>
              </a:ext>
            </a:extLst>
          </p:cNvPr>
          <p:cNvSpPr/>
          <p:nvPr/>
        </p:nvSpPr>
        <p:spPr>
          <a:xfrm rot="5400000">
            <a:off x="4625274" y="3071446"/>
            <a:ext cx="289712" cy="262551"/>
          </a:xfrm>
          <a:prstGeom prst="triangle">
            <a:avLst>
              <a:gd name="adj" fmla="val 48501"/>
            </a:avLst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F07E096-B2F5-EDCE-5B45-0B2FD2E1C2C8}"/>
              </a:ext>
            </a:extLst>
          </p:cNvPr>
          <p:cNvSpPr/>
          <p:nvPr/>
        </p:nvSpPr>
        <p:spPr>
          <a:xfrm rot="5400000">
            <a:off x="2359703" y="1836024"/>
            <a:ext cx="289712" cy="262551"/>
          </a:xfrm>
          <a:prstGeom prst="triangle">
            <a:avLst>
              <a:gd name="adj" fmla="val 48501"/>
            </a:avLst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7437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10B3A0-BFB2-AA01-579D-FC29D1EA9A68}"/>
              </a:ext>
            </a:extLst>
          </p:cNvPr>
          <p:cNvSpPr txBox="1"/>
          <p:nvPr/>
        </p:nvSpPr>
        <p:spPr>
          <a:xfrm>
            <a:off x="1412341" y="3246597"/>
            <a:ext cx="7733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MODELO:</a:t>
            </a:r>
          </a:p>
          <a:p>
            <a:r>
              <a:rPr lang="pt-BR" dirty="0"/>
              <a:t>Fonte (externa) de calor x Material - Condução, convecção, radiação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54687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7E47-36F7-A14D-6D3D-105D701B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8BB0AE7-E386-F556-708D-529AD958D14E}"/>
              </a:ext>
            </a:extLst>
          </p:cNvPr>
          <p:cNvGrpSpPr>
            <a:grpSpLocks noChangeAspect="1"/>
          </p:cNvGrpSpPr>
          <p:nvPr/>
        </p:nvGrpSpPr>
        <p:grpSpPr>
          <a:xfrm>
            <a:off x="144913" y="286292"/>
            <a:ext cx="4998523" cy="5577180"/>
            <a:chOff x="601980" y="477881"/>
            <a:chExt cx="4473252" cy="49911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282876-79F6-C840-EA8B-483AC43A7882}"/>
                </a:ext>
              </a:extLst>
            </p:cNvPr>
            <p:cNvSpPr txBox="1"/>
            <p:nvPr/>
          </p:nvSpPr>
          <p:spPr>
            <a:xfrm>
              <a:off x="631267" y="5272164"/>
              <a:ext cx="4414678" cy="1666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LID4096" sz="800" dirty="0">
                  <a:hlinkClick r:id="rId2"/>
                </a:rPr>
                <a:t>https://formnext.mesago.com/frankfurt/en/industry-insights/am-field-guide/process_in_general.html</a:t>
              </a:r>
              <a:endParaRPr lang="LID4096" sz="80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684B54E-70E3-0A3C-9020-D12B9227700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1980" y="477881"/>
              <a:ext cx="4473252" cy="4991100"/>
              <a:chOff x="601980" y="477881"/>
              <a:chExt cx="4473252" cy="49911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D5DAFDF-1FA4-CCEF-DBCD-870B6EF9B9A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1980" y="556260"/>
                <a:ext cx="4443965" cy="4786328"/>
                <a:chOff x="76200" y="318315"/>
                <a:chExt cx="5075237" cy="5466233"/>
              </a:xfrm>
            </p:grpSpPr>
            <p:pic>
              <p:nvPicPr>
                <p:cNvPr id="1030" name="Picture 6" descr="Post-processing phase">
                  <a:extLst>
                    <a:ext uri="{FF2B5EF4-FFF2-40B4-BE49-F238E27FC236}">
                      <a16:creationId xmlns:a16="http://schemas.microsoft.com/office/drawing/2014/main" id="{F40CE1EE-DDDC-94C6-39C9-819555C43DF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7243" b="17012"/>
                <a:stretch>
                  <a:fillRect/>
                </a:stretch>
              </p:blipFill>
              <p:spPr bwMode="auto">
                <a:xfrm>
                  <a:off x="76200" y="3907155"/>
                  <a:ext cx="5075237" cy="187739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E7DD62D5-CC64-B18C-F89D-800FCD80A4C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29540" y="318315"/>
                  <a:ext cx="4945697" cy="3562883"/>
                  <a:chOff x="130787" y="123825"/>
                  <a:chExt cx="5212080" cy="3754786"/>
                </a:xfrm>
              </p:grpSpPr>
              <p:pic>
                <p:nvPicPr>
                  <p:cNvPr id="1028" name="Picture 4" descr="AM production phase">
                    <a:extLst>
                      <a:ext uri="{FF2B5EF4-FFF2-40B4-BE49-F238E27FC236}">
                        <a16:creationId xmlns:a16="http://schemas.microsoft.com/office/drawing/2014/main" id="{D02F545D-17CA-87BD-C82E-206506D10CB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18312" b="15943"/>
                  <a:stretch>
                    <a:fillRect/>
                  </a:stretch>
                </p:blipFill>
                <p:spPr bwMode="auto">
                  <a:xfrm>
                    <a:off x="130787" y="1950599"/>
                    <a:ext cx="5212080" cy="192801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" name="Picture 2" descr="Development phase">
                    <a:extLst>
                      <a:ext uri="{FF2B5EF4-FFF2-40B4-BE49-F238E27FC236}">
                        <a16:creationId xmlns:a16="http://schemas.microsoft.com/office/drawing/2014/main" id="{35D7A2E0-954B-9FC7-F438-A822C183C30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17944" b="16311"/>
                  <a:stretch>
                    <a:fillRect/>
                  </a:stretch>
                </p:blipFill>
                <p:spPr bwMode="auto">
                  <a:xfrm>
                    <a:off x="173038" y="123825"/>
                    <a:ext cx="5075237" cy="1877393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F05733A-7E31-1A09-9997-9E1639895DAE}"/>
                  </a:ext>
                </a:extLst>
              </p:cNvPr>
              <p:cNvSpPr/>
              <p:nvPr/>
            </p:nvSpPr>
            <p:spPr>
              <a:xfrm>
                <a:off x="631267" y="477881"/>
                <a:ext cx="4443965" cy="49911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78E4AD0-DF06-D377-B000-6746D1205987}"/>
              </a:ext>
            </a:extLst>
          </p:cNvPr>
          <p:cNvSpPr txBox="1"/>
          <p:nvPr/>
        </p:nvSpPr>
        <p:spPr>
          <a:xfrm>
            <a:off x="5388093" y="286292"/>
            <a:ext cx="6567577" cy="19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CAD (Computer-Aided Design)</a:t>
            </a:r>
            <a:r>
              <a:rPr lang="en-GB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		– shapes  </a:t>
            </a:r>
            <a:endParaRPr lang="en-GB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kern="100" dirty="0">
                <a:solidFill>
                  <a:srgbClr val="EE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parametric 3D models (length, width, angles + Rules + History Tree)</a:t>
            </a:r>
            <a:endParaRPr lang="en-GB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CAE (Computer-Aided Engineering)</a:t>
            </a:r>
            <a:r>
              <a:rPr lang="en-GB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 – </a:t>
            </a:r>
            <a:r>
              <a:rPr lang="en-GB" kern="100" dirty="0">
                <a:latin typeface="Calibri" panose="020F0502020204030204" pitchFamily="34" charset="0"/>
                <a:cs typeface="Arial" panose="020B0604020202020204" pitchFamily="34" charset="0"/>
              </a:rPr>
              <a:t>data harvesting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kern="1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structural stresses, deformations, </a:t>
            </a:r>
            <a:r>
              <a:rPr lang="en-GB" kern="100" dirty="0">
                <a:solidFill>
                  <a:srgbClr val="0000FF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displacement, </a:t>
            </a:r>
            <a:r>
              <a:rPr lang="en-GB" kern="1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 failures - </a:t>
            </a:r>
            <a:r>
              <a:rPr lang="en-GB" b="1" kern="100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FEA </a:t>
            </a:r>
            <a:endParaRPr lang="en-GB" kern="100" dirty="0">
              <a:solidFill>
                <a:srgbClr val="0000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CAM (Computer-Aided Manufacturing)</a:t>
            </a:r>
            <a:r>
              <a:rPr lang="en-GB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n-GB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 – </a:t>
            </a:r>
            <a:r>
              <a:rPr lang="en-GB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making</a:t>
            </a:r>
          </a:p>
        </p:txBody>
      </p:sp>
    </p:spTree>
    <p:extLst>
      <p:ext uri="{BB962C8B-B14F-4D97-AF65-F5344CB8AC3E}">
        <p14:creationId xmlns:p14="http://schemas.microsoft.com/office/powerpoint/2010/main" val="1827807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C67BFDFB-E4FE-7C3D-65ED-F5647DF4B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80" y="333784"/>
            <a:ext cx="4598943" cy="360228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C14BD59-47E8-C5D9-8AFC-F148706527C2}"/>
              </a:ext>
            </a:extLst>
          </p:cNvPr>
          <p:cNvGrpSpPr/>
          <p:nvPr/>
        </p:nvGrpSpPr>
        <p:grpSpPr>
          <a:xfrm>
            <a:off x="6788830" y="187420"/>
            <a:ext cx="5203690" cy="2662450"/>
            <a:chOff x="6132884" y="979900"/>
            <a:chExt cx="5203690" cy="26624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DC87A80-0346-D31E-5F26-94BFDB010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81999" y="979900"/>
              <a:ext cx="2766876" cy="71938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4388581-7A19-8817-C767-1F2F45EF0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85137" y="1855632"/>
              <a:ext cx="5048250" cy="63817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EB1FFF9-4A2C-4F64-2C16-40E9E2F400B9}"/>
                </a:ext>
              </a:extLst>
            </p:cNvPr>
            <p:cNvGrpSpPr/>
            <p:nvPr/>
          </p:nvGrpSpPr>
          <p:grpSpPr>
            <a:xfrm>
              <a:off x="10386060" y="1610513"/>
              <a:ext cx="950514" cy="883294"/>
              <a:chOff x="9845949" y="5571569"/>
              <a:chExt cx="950514" cy="883294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2913BAFA-4C54-7AF2-E37F-24D9D13296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45949" y="5681017"/>
                <a:ext cx="645765" cy="773846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CA9137-AEED-FCFC-4410-E8FF1DC97D60}"/>
                  </a:ext>
                </a:extLst>
              </p:cNvPr>
              <p:cNvSpPr txBox="1"/>
              <p:nvPr/>
            </p:nvSpPr>
            <p:spPr>
              <a:xfrm>
                <a:off x="10491714" y="5571569"/>
                <a:ext cx="30474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r>
                  <a:rPr lang="en-GB" sz="1100" noProof="0" dirty="0"/>
                  <a:t>0</a:t>
                </a:r>
                <a:endParaRPr lang="en-GB" sz="1400" noProof="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EA9833-85F6-500A-7CCC-9E8A31F33D11}"/>
                </a:ext>
              </a:extLst>
            </p:cNvPr>
            <p:cNvSpPr/>
            <p:nvPr/>
          </p:nvSpPr>
          <p:spPr>
            <a:xfrm>
              <a:off x="8740443" y="1720540"/>
              <a:ext cx="1283035" cy="874287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D0B6F7-A108-10F7-EDC5-DFD9017F2E0F}"/>
                </a:ext>
              </a:extLst>
            </p:cNvPr>
            <p:cNvSpPr txBox="1"/>
            <p:nvPr/>
          </p:nvSpPr>
          <p:spPr>
            <a:xfrm>
              <a:off x="9137522" y="1381407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600" noProof="0" dirty="0"/>
                <a:t>Diffusion</a:t>
              </a:r>
              <a:endParaRPr lang="en-GB" sz="2400" noProof="0" dirty="0"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F637DB3-C5A4-EE4A-ECFA-867DC6814BD2}"/>
                </a:ext>
              </a:extLst>
            </p:cNvPr>
            <p:cNvCxnSpPr/>
            <p:nvPr/>
          </p:nvCxnSpPr>
          <p:spPr>
            <a:xfrm>
              <a:off x="9212771" y="2400334"/>
              <a:ext cx="70701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13677D-D828-F4A5-9E84-AADFF3629640}"/>
                </a:ext>
              </a:extLst>
            </p:cNvPr>
            <p:cNvGrpSpPr/>
            <p:nvPr/>
          </p:nvGrpSpPr>
          <p:grpSpPr>
            <a:xfrm>
              <a:off x="7304054" y="1610513"/>
              <a:ext cx="950514" cy="883294"/>
              <a:chOff x="9845949" y="5571569"/>
              <a:chExt cx="950514" cy="883294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1FBC4EF-D541-0D8F-364C-27324D330E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45949" y="5681017"/>
                <a:ext cx="645765" cy="77384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5D380E6-43B8-2CC5-69A1-37F15B1E25EC}"/>
                  </a:ext>
                </a:extLst>
              </p:cNvPr>
              <p:cNvSpPr txBox="1"/>
              <p:nvPr/>
            </p:nvSpPr>
            <p:spPr>
              <a:xfrm>
                <a:off x="10491714" y="5571569"/>
                <a:ext cx="304749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r>
                  <a:rPr lang="en-GB" sz="1100" noProof="0" dirty="0">
                    <a:solidFill>
                      <a:srgbClr val="FF0000"/>
                    </a:solidFill>
                  </a:rPr>
                  <a:t>0</a:t>
                </a:r>
                <a:endParaRPr lang="en-GB" sz="1400" noProof="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0E35160-F9B2-5986-AF3C-19E52912E109}"/>
                </a:ext>
              </a:extLst>
            </p:cNvPr>
            <p:cNvGrpSpPr/>
            <p:nvPr/>
          </p:nvGrpSpPr>
          <p:grpSpPr>
            <a:xfrm>
              <a:off x="6132884" y="2594064"/>
              <a:ext cx="1576251" cy="1048286"/>
              <a:chOff x="6063657" y="3023858"/>
              <a:chExt cx="1576251" cy="1048286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24F183D-C502-8636-6FF8-26FD76DAF0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67406" t="11705" b="67943"/>
              <a:stretch>
                <a:fillRect/>
              </a:stretch>
            </p:blipFill>
            <p:spPr>
              <a:xfrm>
                <a:off x="6112772" y="3023858"/>
                <a:ext cx="1483995" cy="40514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249F1059-0003-0D55-3A13-DB52AED51F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8207" t="65732" r="57173" b="3646"/>
              <a:stretch>
                <a:fillRect/>
              </a:stretch>
            </p:blipFill>
            <p:spPr>
              <a:xfrm>
                <a:off x="6063657" y="3462544"/>
                <a:ext cx="1576251" cy="609600"/>
              </a:xfrm>
              <a:prstGeom prst="rect">
                <a:avLst/>
              </a:prstGeom>
            </p:spPr>
          </p:pic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2877E64-6625-A4EC-FBDE-10C59026951A}"/>
              </a:ext>
            </a:extLst>
          </p:cNvPr>
          <p:cNvGrpSpPr/>
          <p:nvPr/>
        </p:nvGrpSpPr>
        <p:grpSpPr>
          <a:xfrm>
            <a:off x="3990331" y="3540188"/>
            <a:ext cx="7956007" cy="3074926"/>
            <a:chOff x="3990331" y="3540188"/>
            <a:chExt cx="7956007" cy="307492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D2BEF95-69B0-064C-A5E7-2EC89B79D477}"/>
                </a:ext>
              </a:extLst>
            </p:cNvPr>
            <p:cNvGrpSpPr/>
            <p:nvPr/>
          </p:nvGrpSpPr>
          <p:grpSpPr>
            <a:xfrm>
              <a:off x="3990331" y="3540188"/>
              <a:ext cx="7956007" cy="3074926"/>
              <a:chOff x="3754261" y="3279578"/>
              <a:chExt cx="7956007" cy="3074926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1CAC372F-1AD2-75FA-87E0-A15ED3A38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91946" y="3279578"/>
                <a:ext cx="1381125" cy="381000"/>
              </a:xfrm>
              <a:prstGeom prst="rect">
                <a:avLst/>
              </a:prstGeom>
              <a:ln>
                <a:solidFill>
                  <a:srgbClr val="0000FF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235EA163-5A44-CB13-AF5A-082E5F493E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b="8874"/>
              <a:stretch>
                <a:fillRect/>
              </a:stretch>
            </p:blipFill>
            <p:spPr>
              <a:xfrm>
                <a:off x="6991946" y="3739891"/>
                <a:ext cx="4695825" cy="720418"/>
              </a:xfrm>
              <a:prstGeom prst="rect">
                <a:avLst/>
              </a:prstGeom>
              <a:ln>
                <a:solidFill>
                  <a:srgbClr val="0000FF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707436EC-DAC3-05BB-B16A-A5125C0E0F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t="5183" b="14643"/>
              <a:stretch>
                <a:fillRect/>
              </a:stretch>
            </p:blipFill>
            <p:spPr>
              <a:xfrm>
                <a:off x="9563696" y="5382357"/>
                <a:ext cx="2124075" cy="664370"/>
              </a:xfrm>
              <a:prstGeom prst="rect">
                <a:avLst/>
              </a:prstGeom>
              <a:ln>
                <a:solidFill>
                  <a:srgbClr val="0000FF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4F47EBA-CA9D-6848-00AB-41E7FC21B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l="24901" t="62166" r="1990" b="23492"/>
              <a:stretch>
                <a:fillRect/>
              </a:stretch>
            </p:blipFill>
            <p:spPr>
              <a:xfrm>
                <a:off x="3754261" y="4534410"/>
                <a:ext cx="7933510" cy="77384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049E6A-CFBC-ABB4-DDBA-DD657CCB78C5}"/>
                  </a:ext>
                </a:extLst>
              </p:cNvPr>
              <p:cNvSpPr txBox="1"/>
              <p:nvPr/>
            </p:nvSpPr>
            <p:spPr>
              <a:xfrm>
                <a:off x="9586193" y="6046727"/>
                <a:ext cx="21240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ctr"/>
                <a:r>
                  <a:rPr lang="en-US" sz="1400" dirty="0"/>
                  <a:t>Marangoni shear stress </a:t>
                </a:r>
                <a:endParaRPr lang="en-GB" sz="3600" noProof="0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7D41F92-A924-BFE8-BD64-102B9933C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358062" y="5892329"/>
              <a:ext cx="2333625" cy="295275"/>
            </a:xfrm>
            <a:prstGeom prst="rect">
              <a:avLst/>
            </a:prstGeom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5DB4A8B6-CC82-25CF-7DA4-95451A5454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480" y="4911924"/>
            <a:ext cx="1857375" cy="84772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E2E764C-A418-858D-47E7-014D877AD9F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825" y="5759649"/>
            <a:ext cx="321945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76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5A4F41C-7B9C-8F0B-ED94-16CEA8C41DB9}"/>
              </a:ext>
            </a:extLst>
          </p:cNvPr>
          <p:cNvGrpSpPr/>
          <p:nvPr/>
        </p:nvGrpSpPr>
        <p:grpSpPr>
          <a:xfrm>
            <a:off x="607054" y="495112"/>
            <a:ext cx="10925552" cy="6129542"/>
            <a:chOff x="607054" y="495112"/>
            <a:chExt cx="10925552" cy="61295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DC42CEF-AD24-C393-6ED0-35BE5728F93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7054" y="495112"/>
              <a:ext cx="10925552" cy="6129542"/>
              <a:chOff x="607054" y="495112"/>
              <a:chExt cx="10925552" cy="612954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2EBD62A-9AA4-2364-9DB5-A2E80B72F2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b="3135"/>
              <a:stretch>
                <a:fillRect/>
              </a:stretch>
            </p:blipFill>
            <p:spPr>
              <a:xfrm>
                <a:off x="607054" y="495112"/>
                <a:ext cx="10851664" cy="522667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957222-A3DB-85F2-F22A-343ED12BEC06}"/>
                  </a:ext>
                </a:extLst>
              </p:cNvPr>
              <p:cNvSpPr txBox="1"/>
              <p:nvPr/>
            </p:nvSpPr>
            <p:spPr>
              <a:xfrm>
                <a:off x="6326109" y="2786174"/>
                <a:ext cx="363270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Laser heat input … latent input </a:t>
                </a:r>
                <a:endParaRPr lang="LID4096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1F4CE9-F311-EE29-6519-1396E63DC8DB}"/>
                  </a:ext>
                </a:extLst>
              </p:cNvPr>
              <p:cNvSpPr txBox="1"/>
              <p:nvPr/>
            </p:nvSpPr>
            <p:spPr>
              <a:xfrm>
                <a:off x="976264" y="5916768"/>
                <a:ext cx="10556342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2000" b="0" u="none" strike="noStrike" dirty="0">
                    <a:solidFill>
                      <a:srgbClr val="0000FF"/>
                    </a:solidFill>
                    <a:effectLst/>
                    <a:latin typeface="Google Sans"/>
                  </a:rPr>
                  <a:t>“This gives you the basis of how the simulation solver is modelled and </a:t>
                </a:r>
                <a:r>
                  <a:rPr lang="en-GB" sz="2000" b="0" u="none" strike="noStrike" dirty="0">
                    <a:solidFill>
                      <a:srgbClr val="FF0000"/>
                    </a:solidFill>
                    <a:effectLst/>
                    <a:latin typeface="Google Sans"/>
                  </a:rPr>
                  <a:t>how we can rely on the data that has been predicted </a:t>
                </a:r>
                <a:r>
                  <a:rPr lang="en-GB" sz="2000" b="1" u="none" strike="noStrike" dirty="0">
                    <a:solidFill>
                      <a:srgbClr val="00B050"/>
                    </a:solidFill>
                    <a:effectLst/>
                    <a:latin typeface="Google Sans"/>
                  </a:rPr>
                  <a:t>… based on this robust physic equations that are provided” </a:t>
                </a:r>
                <a:endParaRPr lang="LID4096" sz="2000" b="1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601D0C4-AB71-192A-6BAE-2D32411C5691}"/>
                  </a:ext>
                </a:extLst>
              </p:cNvPr>
              <p:cNvCxnSpPr/>
              <p:nvPr/>
            </p:nvCxnSpPr>
            <p:spPr>
              <a:xfrm>
                <a:off x="878186" y="2598345"/>
                <a:ext cx="2770361" cy="0"/>
              </a:xfrm>
              <a:prstGeom prst="line">
                <a:avLst/>
              </a:prstGeom>
              <a:ln w="38100">
                <a:solidFill>
                  <a:srgbClr val="0033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51581D6-050B-AB35-E91D-BE6723F29376}"/>
                  </a:ext>
                </a:extLst>
              </p:cNvPr>
              <p:cNvCxnSpPr/>
              <p:nvPr/>
            </p:nvCxnSpPr>
            <p:spPr>
              <a:xfrm>
                <a:off x="2687370" y="3429000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83735AB-302F-C9AE-3FF8-46C47F14FFAA}"/>
                  </a:ext>
                </a:extLst>
              </p:cNvPr>
              <p:cNvCxnSpPr/>
              <p:nvPr/>
            </p:nvCxnSpPr>
            <p:spPr>
              <a:xfrm>
                <a:off x="956649" y="4441479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EAF8CEC-4854-3856-02CD-A95D3AB85367}"/>
                  </a:ext>
                </a:extLst>
              </p:cNvPr>
              <p:cNvCxnSpPr/>
              <p:nvPr/>
            </p:nvCxnSpPr>
            <p:spPr>
              <a:xfrm>
                <a:off x="765017" y="5472065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Arrow: Down 12">
                <a:extLst>
                  <a:ext uri="{FF2B5EF4-FFF2-40B4-BE49-F238E27FC236}">
                    <a16:creationId xmlns:a16="http://schemas.microsoft.com/office/drawing/2014/main" id="{1A9F3B76-7F9F-DA46-531F-9DF3B645F5B1}"/>
                  </a:ext>
                </a:extLst>
              </p:cNvPr>
              <p:cNvSpPr/>
              <p:nvPr/>
            </p:nvSpPr>
            <p:spPr>
              <a:xfrm>
                <a:off x="6096000" y="3612333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" name="Arrow: Down 13">
                <a:extLst>
                  <a:ext uri="{FF2B5EF4-FFF2-40B4-BE49-F238E27FC236}">
                    <a16:creationId xmlns:a16="http://schemas.microsoft.com/office/drawing/2014/main" id="{C36CF552-73B3-9AF1-3656-6D52BC8B12E6}"/>
                  </a:ext>
                </a:extLst>
              </p:cNvPr>
              <p:cNvSpPr/>
              <p:nvPr/>
            </p:nvSpPr>
            <p:spPr>
              <a:xfrm>
                <a:off x="7119796" y="3612333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5" name="Arrow: Down 14">
                <a:extLst>
                  <a:ext uri="{FF2B5EF4-FFF2-40B4-BE49-F238E27FC236}">
                    <a16:creationId xmlns:a16="http://schemas.microsoft.com/office/drawing/2014/main" id="{FA345EE5-1FBC-C64A-AA9E-36628533B164}"/>
                  </a:ext>
                </a:extLst>
              </p:cNvPr>
              <p:cNvSpPr/>
              <p:nvPr/>
            </p:nvSpPr>
            <p:spPr>
              <a:xfrm>
                <a:off x="8947087" y="4769667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6" name="Arrow: Down 15">
                <a:extLst>
                  <a:ext uri="{FF2B5EF4-FFF2-40B4-BE49-F238E27FC236}">
                    <a16:creationId xmlns:a16="http://schemas.microsoft.com/office/drawing/2014/main" id="{68520981-5B4A-BFEB-72E1-C0718E35858C}"/>
                  </a:ext>
                </a:extLst>
              </p:cNvPr>
              <p:cNvSpPr/>
              <p:nvPr/>
            </p:nvSpPr>
            <p:spPr>
              <a:xfrm>
                <a:off x="10631031" y="4769667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AA139EA-9305-9CAD-BBCE-A72932AD9499}"/>
                  </a:ext>
                </a:extLst>
              </p:cNvPr>
              <p:cNvCxnSpPr/>
              <p:nvPr/>
            </p:nvCxnSpPr>
            <p:spPr>
              <a:xfrm>
                <a:off x="3238122" y="5618430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9FB577-F992-4E60-14EB-5332DB8C4422}"/>
                  </a:ext>
                </a:extLst>
              </p:cNvPr>
              <p:cNvSpPr txBox="1"/>
              <p:nvPr/>
            </p:nvSpPr>
            <p:spPr>
              <a:xfrm>
                <a:off x="956649" y="2583479"/>
                <a:ext cx="363270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Volum</a:t>
                </a:r>
                <a:r>
                  <a:rPr lang="en-GB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e of fluid method</a:t>
                </a:r>
                <a:endParaRPr lang="LID4096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EAE0F0-62B5-17B4-5D8A-18633E1A3D31}"/>
                  </a:ext>
                </a:extLst>
              </p:cNvPr>
              <p:cNvSpPr txBox="1"/>
              <p:nvPr/>
            </p:nvSpPr>
            <p:spPr>
              <a:xfrm>
                <a:off x="10702141" y="565429"/>
                <a:ext cx="636419" cy="40011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b="1" u="none" strike="noStrike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CFD</a:t>
                </a:r>
                <a:endParaRPr lang="LID4096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1E3B3D-BF74-FBBD-5231-49BE03323EE8}"/>
                  </a:ext>
                </a:extLst>
              </p:cNvPr>
              <p:cNvSpPr txBox="1"/>
              <p:nvPr/>
            </p:nvSpPr>
            <p:spPr>
              <a:xfrm>
                <a:off x="9406550" y="3175122"/>
                <a:ext cx="1721328" cy="5847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6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Surface tension </a:t>
                </a:r>
              </a:p>
              <a:p>
                <a:pPr algn="r"/>
                <a:r>
                  <a:rPr lang="en-GB" sz="16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Marangoni force</a:t>
                </a:r>
                <a:endParaRPr lang="LID4096" sz="16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AF0705-8CE9-94F0-E953-8CD5B4245D40}"/>
                </a:ext>
              </a:extLst>
            </p:cNvPr>
            <p:cNvSpPr txBox="1"/>
            <p:nvPr/>
          </p:nvSpPr>
          <p:spPr>
            <a:xfrm>
              <a:off x="8265814" y="951544"/>
              <a:ext cx="3072746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LID4096" sz="1200" dirty="0">
                  <a:hlinkClick r:id="rId3"/>
                </a:rPr>
                <a:t>https://github.com/DLR-RY/</a:t>
              </a:r>
              <a:r>
                <a:rPr lang="LID4096" sz="2000" b="1" dirty="0">
                  <a:hlinkClick r:id="rId3"/>
                </a:rPr>
                <a:t>VoFLibrary</a:t>
              </a:r>
              <a:endParaRPr lang="LID4096" sz="1600" b="1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0E8FB94-86F6-2C05-AADA-342736A2CDC8}"/>
              </a:ext>
            </a:extLst>
          </p:cNvPr>
          <p:cNvSpPr txBox="1"/>
          <p:nvPr/>
        </p:nvSpPr>
        <p:spPr>
          <a:xfrm>
            <a:off x="9887162" y="28291"/>
            <a:ext cx="2304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r">
              <a:defRPr sz="2800" b="1" u="none" strike="noStrike">
                <a:solidFill>
                  <a:srgbClr val="FF0000"/>
                </a:solidFill>
                <a:effectLst/>
                <a:latin typeface="Google Sans"/>
              </a:defRPr>
            </a:lvl1pPr>
          </a:lstStyle>
          <a:p>
            <a:r>
              <a:rPr lang="LID4096" sz="1800" dirty="0"/>
              <a:t>AM PravaH®</a:t>
            </a:r>
          </a:p>
        </p:txBody>
      </p:sp>
    </p:spTree>
    <p:extLst>
      <p:ext uri="{BB962C8B-B14F-4D97-AF65-F5344CB8AC3E}">
        <p14:creationId xmlns:p14="http://schemas.microsoft.com/office/powerpoint/2010/main" val="1172744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2899</TotalTime>
  <Words>447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Google Sans</vt:lpstr>
      <vt:lpstr>Horley Old Style MT</vt:lpstr>
      <vt:lpstr>Myriad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39</cp:revision>
  <dcterms:created xsi:type="dcterms:W3CDTF">2026-09-30T17:20:39Z</dcterms:created>
  <dcterms:modified xsi:type="dcterms:W3CDTF">2026-10-03T11:04:26Z</dcterms:modified>
</cp:coreProperties>
</file>