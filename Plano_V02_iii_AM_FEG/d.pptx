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60" r:id="rId5"/>
    <p:sldId id="270" r:id="rId6"/>
    <p:sldId id="266" r:id="rId7"/>
    <p:sldId id="268" r:id="rId8"/>
    <p:sldId id="264" r:id="rId9"/>
    <p:sldId id="271" r:id="rId10"/>
    <p:sldId id="258" r:id="rId11"/>
    <p:sldId id="261" r:id="rId12"/>
    <p:sldId id="257" r:id="rId13"/>
    <p:sldId id="265" r:id="rId1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705176" y="3943465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05993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486810" y="6093611"/>
            <a:ext cx="21178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/>
              <a:t>Arco Voltaico</a:t>
            </a:r>
            <a:endParaRPr lang="pt-BR" sz="2400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1DC266-B0C6-7AD9-4BB8-8ADFB9064D9E}"/>
              </a:ext>
            </a:extLst>
          </p:cNvPr>
          <p:cNvSpPr/>
          <p:nvPr/>
        </p:nvSpPr>
        <p:spPr>
          <a:xfrm>
            <a:off x="2955489" y="658496"/>
            <a:ext cx="98042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- </a:t>
            </a:r>
            <a:r>
              <a:rPr lang="en-US" sz="2400" b="1" dirty="0">
                <a:latin typeface="Horley Old Style MT"/>
              </a:rPr>
              <a:t>EBM </a:t>
            </a:r>
            <a:endParaRPr lang="LID4096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E35006-F1A4-F82E-9FA6-576C303FC24C}"/>
              </a:ext>
            </a:extLst>
          </p:cNvPr>
          <p:cNvSpPr txBox="1"/>
          <p:nvPr/>
        </p:nvSpPr>
        <p:spPr>
          <a:xfrm>
            <a:off x="4158559" y="583267"/>
            <a:ext cx="19374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latin typeface="Horley Old Style MT"/>
              </a:rPr>
              <a:t>Electron Beam </a:t>
            </a:r>
            <a:r>
              <a:rPr lang="en-US" sz="2400" b="1" dirty="0">
                <a:latin typeface="Horley Old Style MT"/>
              </a:rPr>
              <a:t>Melting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E1CCE9-6D2A-0BD7-3430-CB907C3B0A37}"/>
              </a:ext>
            </a:extLst>
          </p:cNvPr>
          <p:cNvSpPr txBox="1"/>
          <p:nvPr/>
        </p:nvSpPr>
        <p:spPr>
          <a:xfrm>
            <a:off x="596436" y="2095294"/>
            <a:ext cx="51312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u="none" strike="noStrike" dirty="0">
                <a:effectLst/>
                <a:latin typeface="Google Sans"/>
              </a:rPr>
              <a:t>Vat </a:t>
            </a:r>
            <a:r>
              <a:rPr lang="en-GB" sz="2400" b="1" u="sng" strike="noStrike" dirty="0">
                <a:effectLst/>
                <a:latin typeface="Google Sans"/>
              </a:rPr>
              <a:t>Photo</a:t>
            </a:r>
            <a:r>
              <a:rPr lang="en-GB" sz="2400" b="1" u="none" strike="noStrike" dirty="0">
                <a:effectLst/>
                <a:latin typeface="Google Sans"/>
              </a:rPr>
              <a:t>polymerization      VPP</a:t>
            </a:r>
            <a:r>
              <a:rPr lang="en-GB" sz="2400" b="1" dirty="0"/>
              <a:t> </a:t>
            </a:r>
          </a:p>
          <a:p>
            <a:r>
              <a:rPr lang="en-GB" sz="2400" b="1" u="sng" dirty="0">
                <a:latin typeface="Google Sans"/>
              </a:rPr>
              <a:t>Binder</a:t>
            </a:r>
            <a:r>
              <a:rPr lang="en-GB" sz="2400" b="1" dirty="0">
                <a:latin typeface="Google Sans"/>
              </a:rPr>
              <a:t> Jetting 	(glue)	            BJ</a:t>
            </a:r>
            <a:r>
              <a:rPr lang="en-GB" sz="2400" b="1" dirty="0"/>
              <a:t> </a:t>
            </a:r>
          </a:p>
          <a:p>
            <a:r>
              <a:rPr lang="en-GB" sz="2400" b="1" dirty="0"/>
              <a:t>Material Jetting 	            MJ</a:t>
            </a:r>
          </a:p>
          <a:p>
            <a:r>
              <a:rPr lang="en-US" sz="2400" b="1" dirty="0">
                <a:latin typeface="Horley Old Style MT"/>
              </a:rPr>
              <a:t>Sheet Lamination (cut)          SHL</a:t>
            </a:r>
            <a:endParaRPr lang="LID4096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596436" y="4225905"/>
            <a:ext cx="3124391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9" y="874454"/>
            <a:ext cx="6094428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900" b="1" dirty="0"/>
          </a:p>
          <a:p>
            <a:pPr>
              <a:spcAft>
                <a:spcPts val="600"/>
              </a:spcAft>
            </a:pPr>
            <a:r>
              <a:rPr lang="pt-BR" sz="2400" dirty="0"/>
              <a:t>1- </a:t>
            </a:r>
            <a:r>
              <a:rPr lang="LID4096" sz="2400" dirty="0"/>
              <a:t>Orientação </a:t>
            </a:r>
            <a:r>
              <a:rPr lang="pt-BR" sz="2400" dirty="0"/>
              <a:t>– intensidade</a:t>
            </a:r>
            <a:endParaRPr lang="LID4096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2- D</a:t>
            </a:r>
            <a:r>
              <a:rPr lang="LID4096" sz="2400" dirty="0"/>
              <a:t>escontínuidades</a:t>
            </a:r>
            <a:r>
              <a:rPr lang="pt-BR" sz="2400" dirty="0"/>
              <a:t> 	(</a:t>
            </a:r>
            <a:r>
              <a:rPr lang="LID4096" sz="2400" i="1" dirty="0"/>
              <a:t>balling</a:t>
            </a:r>
            <a:r>
              <a:rPr lang="pt-BR" sz="2400" dirty="0"/>
              <a:t>)</a:t>
            </a:r>
            <a:endParaRPr lang="LID4096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3- </a:t>
            </a:r>
            <a:r>
              <a:rPr lang="LID4096" sz="24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4- </a:t>
            </a:r>
            <a:r>
              <a:rPr lang="LID4096" sz="2400" dirty="0"/>
              <a:t>Degradação química e oxidação</a:t>
            </a:r>
            <a:endParaRPr lang="pt-BR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5- </a:t>
            </a:r>
            <a:r>
              <a:rPr lang="LID4096" sz="2400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6- </a:t>
            </a:r>
            <a:r>
              <a:rPr lang="LID4096" sz="2400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7- </a:t>
            </a:r>
            <a:r>
              <a:rPr lang="LID4096" sz="2400" dirty="0"/>
              <a:t>Delaminação</a:t>
            </a:r>
            <a:r>
              <a:rPr lang="pt-BR" sz="2400" dirty="0"/>
              <a:t> / </a:t>
            </a:r>
            <a:r>
              <a:rPr lang="LID4096" sz="24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8- </a:t>
            </a:r>
            <a:r>
              <a:rPr lang="LID4096" sz="24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9- </a:t>
            </a:r>
            <a:r>
              <a:rPr lang="LID4096" sz="2400" dirty="0"/>
              <a:t>Porosidade</a:t>
            </a:r>
          </a:p>
          <a:p>
            <a:pPr>
              <a:spcAft>
                <a:spcPts val="600"/>
              </a:spcAft>
            </a:pPr>
            <a:endParaRPr lang="LID4096" sz="24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7390992" y="361341"/>
            <a:ext cx="3739128" cy="3626024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  <a:p>
            <a:r>
              <a:rPr lang="pt-BR" sz="1100" b="1" noProof="0" dirty="0">
                <a:latin typeface="Times New Roman" panose="02020603050405020304" pitchFamily="18" charset="0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200" dirty="0">
                <a:solidFill>
                  <a:srgbClr val="FF0000"/>
                </a:solidFill>
                <a:latin typeface="Times New Roman" panose="02020603050405020304" pitchFamily="18" charset="0"/>
              </a:rPr>
              <a:t>Controlar o processo de fabricação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7577447" y="4388001"/>
            <a:ext cx="354445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35D7A2E0-954B-9FC7-F438-A822C183C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282876-79F6-C840-EA8B-483AC43A7882}"/>
              </a:ext>
            </a:extLst>
          </p:cNvPr>
          <p:cNvSpPr txBox="1"/>
          <p:nvPr/>
        </p:nvSpPr>
        <p:spPr>
          <a:xfrm>
            <a:off x="5669568" y="6734889"/>
            <a:ext cx="6522432" cy="123111"/>
          </a:xfrm>
          <a:prstGeom prst="rect">
            <a:avLst/>
          </a:prstGeom>
          <a:noFill/>
        </p:spPr>
        <p:txBody>
          <a:bodyPr wrap="square" lIns="0" tIns="0" rIns="0" bIns="0" anchor="b" anchorCtr="0">
            <a:no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B7E259-5FB8-37B3-3B6C-24429FB5D4FA}"/>
              </a:ext>
            </a:extLst>
          </p:cNvPr>
          <p:cNvGrpSpPr/>
          <p:nvPr/>
        </p:nvGrpSpPr>
        <p:grpSpPr>
          <a:xfrm>
            <a:off x="362125" y="3748832"/>
            <a:ext cx="4338939" cy="2559167"/>
            <a:chOff x="463039" y="3370024"/>
            <a:chExt cx="4338939" cy="255916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0DD8C0-F3E7-A2FA-4BD9-F6BC8E9F8872}"/>
                </a:ext>
              </a:extLst>
            </p:cNvPr>
            <p:cNvSpPr txBox="1"/>
            <p:nvPr/>
          </p:nvSpPr>
          <p:spPr>
            <a:xfrm>
              <a:off x="463039" y="4852697"/>
              <a:ext cx="2180776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 </a:t>
              </a:r>
              <a:r>
                <a:rPr lang="en-GB" b="1" kern="1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(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18D2898-3314-BEC3-C11A-2AD8ED4B9E3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72089134-FE66-3314-8690-0A8EFA58A3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D02F545D-17CA-87BD-C82E-206506D10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8E9F0D-175C-08D1-B1D0-370E0DDAD7B1}"/>
              </a:ext>
            </a:extLst>
          </p:cNvPr>
          <p:cNvGrpSpPr/>
          <p:nvPr/>
        </p:nvGrpSpPr>
        <p:grpSpPr>
          <a:xfrm>
            <a:off x="6574342" y="589029"/>
            <a:ext cx="5304147" cy="2384740"/>
            <a:chOff x="6763176" y="421834"/>
            <a:chExt cx="5304147" cy="238474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2000837-68E0-5F00-F46E-941727C30660}"/>
                </a:ext>
              </a:extLst>
            </p:cNvPr>
            <p:cNvSpPr txBox="1"/>
            <p:nvPr/>
          </p:nvSpPr>
          <p:spPr>
            <a:xfrm>
              <a:off x="6763177" y="421834"/>
              <a:ext cx="4005035" cy="9682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81A4AEB-AF61-BC41-7116-FDB99479DD88}"/>
                </a:ext>
              </a:extLst>
            </p:cNvPr>
            <p:cNvSpPr txBox="1"/>
            <p:nvPr/>
          </p:nvSpPr>
          <p:spPr>
            <a:xfrm>
              <a:off x="6763176" y="1840091"/>
              <a:ext cx="5304147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5A0F89AB-5B99-0C28-1BBA-5D97BED4FC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739573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05F142F-BCC8-277B-418C-50A67EE160F6}"/>
              </a:ext>
            </a:extLst>
          </p:cNvPr>
          <p:cNvGrpSpPr/>
          <p:nvPr/>
        </p:nvGrpSpPr>
        <p:grpSpPr>
          <a:xfrm>
            <a:off x="5608760" y="5665673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2C1B9D-F9EE-1767-46EB-57F6AA4D8CD9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C452BD-289C-362D-702C-140A022C37A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6614C7-6139-B1AE-139E-291D99CA0B4D}"/>
              </a:ext>
            </a:extLst>
          </p:cNvPr>
          <p:cNvCxnSpPr>
            <a:cxnSpLocks/>
          </p:cNvCxnSpPr>
          <p:nvPr/>
        </p:nvCxnSpPr>
        <p:spPr>
          <a:xfrm>
            <a:off x="5110467" y="3526970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3977457-6D3C-948E-950B-6C983A6C9B62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F40CE1EE-DDDC-94C6-39C9-819555C43D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367070" y="3609348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240676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908670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690474-BDEF-D3E4-E001-BF8A037259C1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741842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848105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799629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894272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547276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547275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618534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6185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5484A3B-94F0-F7AC-0C67-7C75E7ADA09E}"/>
              </a:ext>
            </a:extLst>
          </p:cNvPr>
          <p:cNvSpPr/>
          <p:nvPr/>
        </p:nvSpPr>
        <p:spPr>
          <a:xfrm>
            <a:off x="384957" y="5152852"/>
            <a:ext cx="2057282" cy="638342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Como modelar? 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F4B0D7-6BB9-1323-2A86-D6C9CA2D9D06}"/>
              </a:ext>
            </a:extLst>
          </p:cNvPr>
          <p:cNvGrpSpPr/>
          <p:nvPr/>
        </p:nvGrpSpPr>
        <p:grpSpPr>
          <a:xfrm>
            <a:off x="2233440" y="5075232"/>
            <a:ext cx="5366828" cy="1586550"/>
            <a:chOff x="5682922" y="3763079"/>
            <a:chExt cx="5366828" cy="158655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030490-DB93-F4DC-BB3A-9280CD14D85B}"/>
                </a:ext>
              </a:extLst>
            </p:cNvPr>
            <p:cNvSpPr txBox="1"/>
            <p:nvPr/>
          </p:nvSpPr>
          <p:spPr>
            <a:xfrm>
              <a:off x="6450589" y="3872301"/>
              <a:ext cx="45991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dirty="0"/>
                <a:t>01 - </a:t>
              </a:r>
              <a:r>
                <a:rPr lang="LID4096" b="1" dirty="0"/>
                <a:t>finite element analysis (FEA)</a:t>
              </a:r>
              <a:endParaRPr lang="pt-BR" b="1" dirty="0"/>
            </a:p>
            <a:p>
              <a:r>
                <a:rPr lang="pt-BR" b="1" dirty="0"/>
                <a:t>02 - </a:t>
              </a:r>
              <a:r>
                <a:rPr lang="LID4096" b="1" dirty="0"/>
                <a:t>thermal–mechanical simulations</a:t>
              </a:r>
              <a:endParaRPr lang="pt-BR" b="1" dirty="0"/>
            </a:p>
            <a:p>
              <a:endParaRPr lang="pt-BR" b="1" dirty="0"/>
            </a:p>
            <a:p>
              <a:endParaRPr lang="pt-BR" b="1" dirty="0"/>
            </a:p>
            <a:p>
              <a:r>
                <a:rPr lang="pt-BR" b="1" dirty="0"/>
                <a:t>03 - </a:t>
              </a:r>
              <a:r>
                <a:rPr lang="LID4096" b="1" dirty="0"/>
                <a:t>phase-field modeling techniques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E7A38B8-8CDB-714B-C148-7AA5E8549FBE}"/>
                </a:ext>
              </a:extLst>
            </p:cNvPr>
            <p:cNvSpPr txBox="1"/>
            <p:nvPr/>
          </p:nvSpPr>
          <p:spPr>
            <a:xfrm>
              <a:off x="5682922" y="3763079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D4E9B6-2A00-FB75-CE18-635A77908225}"/>
                </a:ext>
              </a:extLst>
            </p:cNvPr>
            <p:cNvSpPr txBox="1"/>
            <p:nvPr/>
          </p:nvSpPr>
          <p:spPr>
            <a:xfrm>
              <a:off x="6578511" y="4510171"/>
              <a:ext cx="4226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FF0000"/>
                  </a:solidFill>
                </a:rPr>
                <a:t>global heat flow, temperature distribution,</a:t>
              </a:r>
            </a:p>
            <a:p>
              <a:r>
                <a:rPr lang="LID4096" sz="1400" dirty="0">
                  <a:solidFill>
                    <a:srgbClr val="FF0000"/>
                  </a:solidFill>
                </a:rPr>
                <a:t>and stress evolution during deposition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02E9AB0-1B66-2B81-8AA7-7E094D7F3C7E}"/>
                </a:ext>
              </a:extLst>
            </p:cNvPr>
            <p:cNvSpPr txBox="1"/>
            <p:nvPr/>
          </p:nvSpPr>
          <p:spPr>
            <a:xfrm>
              <a:off x="5713100" y="4023156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A0F6DE-D4F2-E92F-0D04-2037AAA6CA43}"/>
              </a:ext>
            </a:extLst>
          </p:cNvPr>
          <p:cNvCxnSpPr>
            <a:cxnSpLocks/>
          </p:cNvCxnSpPr>
          <p:nvPr/>
        </p:nvCxnSpPr>
        <p:spPr>
          <a:xfrm>
            <a:off x="7161253" y="120555"/>
            <a:ext cx="0" cy="5943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735A3EF-D08A-12CC-3C13-206EE46C92C4}"/>
              </a:ext>
            </a:extLst>
          </p:cNvPr>
          <p:cNvSpPr txBox="1"/>
          <p:nvPr/>
        </p:nvSpPr>
        <p:spPr>
          <a:xfrm>
            <a:off x="7705601" y="4097865"/>
            <a:ext cx="2579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ML algorithms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3B0C6-69EB-AA10-8CF9-B16BCBEFDD77}"/>
              </a:ext>
            </a:extLst>
          </p:cNvPr>
          <p:cNvSpPr txBox="1"/>
          <p:nvPr/>
        </p:nvSpPr>
        <p:spPr>
          <a:xfrm>
            <a:off x="8031678" y="4425245"/>
            <a:ext cx="3137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physics-based </a:t>
            </a:r>
            <a:r>
              <a:rPr lang="LID4096" dirty="0">
                <a:solidFill>
                  <a:srgbClr val="0000FF"/>
                </a:solidFill>
                <a:highlight>
                  <a:srgbClr val="FFFF00"/>
                </a:highlight>
              </a:rPr>
              <a:t>surrogate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8043697" y="4943522"/>
            <a:ext cx="32777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AdvOT46dcae81"/>
              </a:rPr>
              <a:t>simulation-informed closed-loop control feedback</a:t>
            </a:r>
          </a:p>
          <a:p>
            <a:pPr algn="l"/>
            <a:r>
              <a:rPr lang="en-GB" sz="1800" b="0" i="0" u="none" strike="noStrike" baseline="0" dirty="0">
                <a:latin typeface="AdvOT46dcae81"/>
              </a:rPr>
              <a:t>real-time monitoring systems.</a:t>
            </a:r>
            <a:endParaRPr lang="LID4096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9DBC01-6522-104F-1BF5-C21E79F8FC87}"/>
              </a:ext>
            </a:extLst>
          </p:cNvPr>
          <p:cNvSpPr txBox="1"/>
          <p:nvPr/>
        </p:nvSpPr>
        <p:spPr>
          <a:xfrm>
            <a:off x="9439217" y="6018568"/>
            <a:ext cx="1690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ighlight>
                  <a:srgbClr val="FFFF00"/>
                </a:highlight>
              </a:rPr>
              <a:t>| Probabilistic ?</a:t>
            </a:r>
            <a:endParaRPr lang="LID4096" dirty="0">
              <a:highlight>
                <a:srgbClr val="FFFF00"/>
              </a:highligh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5E0D0-F3E7-5164-4D15-019B805FE65B}"/>
              </a:ext>
            </a:extLst>
          </p:cNvPr>
          <p:cNvSpPr txBox="1"/>
          <p:nvPr/>
        </p:nvSpPr>
        <p:spPr>
          <a:xfrm>
            <a:off x="7951350" y="5880068"/>
            <a:ext cx="1606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highlight>
                  <a:srgbClr val="FFFF00"/>
                </a:highlight>
              </a:rPr>
              <a:t>meshfree</a:t>
            </a:r>
          </a:p>
          <a:p>
            <a:r>
              <a:rPr lang="LID4096" dirty="0">
                <a:highlight>
                  <a:srgbClr val="FFFF00"/>
                </a:highlight>
              </a:rPr>
              <a:t>particle-based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615633"/>
            <a:ext cx="11762308" cy="4278396"/>
            <a:chOff x="291509" y="334978"/>
            <a:chExt cx="11762308" cy="42783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3519"/>
            <a:stretch>
              <a:fillRect/>
            </a:stretch>
          </p:blipFill>
          <p:spPr>
            <a:xfrm>
              <a:off x="291509" y="334978"/>
              <a:ext cx="6730766" cy="427839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b="28137"/>
            <a:stretch>
              <a:fillRect/>
            </a:stretch>
          </p:blipFill>
          <p:spPr>
            <a:xfrm>
              <a:off x="7276605" y="334978"/>
              <a:ext cx="4777212" cy="311286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78397" y="353769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811C4D-E9AC-FB91-F169-B9F9EDA76D4C}"/>
                </a:ext>
              </a:extLst>
            </p:cNvPr>
            <p:cNvSpPr txBox="1"/>
            <p:nvPr/>
          </p:nvSpPr>
          <p:spPr>
            <a:xfrm>
              <a:off x="3427248" y="2329320"/>
              <a:ext cx="837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6">
                      <a:lumMod val="75000"/>
                    </a:schemeClr>
                  </a:solidFill>
                  <a:latin typeface="Horley Old Style MT"/>
                </a:rPr>
                <a:t>MPM</a:t>
              </a:r>
              <a:endParaRPr lang="LID4096" b="1" dirty="0">
                <a:solidFill>
                  <a:schemeClr val="accent6">
                    <a:lumMod val="75000"/>
                  </a:schemeClr>
                </a:solidFill>
                <a:latin typeface="Horley Old Style MT"/>
              </a:endParaRPr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FB12A99E-F642-C3C4-09FF-AB3F0E3AD670}"/>
                </a:ext>
              </a:extLst>
            </p:cNvPr>
            <p:cNvSpPr/>
            <p:nvPr/>
          </p:nvSpPr>
          <p:spPr>
            <a:xfrm rot="5400000">
              <a:off x="393826" y="2173206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CC981C6F-7E8F-06C4-71F7-917E40965B82}"/>
                </a:ext>
              </a:extLst>
            </p:cNvPr>
            <p:cNvSpPr/>
            <p:nvPr/>
          </p:nvSpPr>
          <p:spPr>
            <a:xfrm rot="5400000">
              <a:off x="401370" y="3991446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5454E6CE-7475-CCA3-2291-F75D6B45E648}"/>
                </a:ext>
              </a:extLst>
            </p:cNvPr>
            <p:cNvSpPr/>
            <p:nvPr/>
          </p:nvSpPr>
          <p:spPr>
            <a:xfrm rot="5400000">
              <a:off x="7429469" y="2198045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29F3C6C-7D9D-04BE-8C7E-1DF3597777DF}"/>
                </a:ext>
              </a:extLst>
            </p:cNvPr>
            <p:cNvSpPr/>
            <p:nvPr/>
          </p:nvSpPr>
          <p:spPr>
            <a:xfrm rot="5400000">
              <a:off x="4833504" y="3406424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F07E096-B2F5-EDCE-5B45-0B2FD2E1C2C8}"/>
                </a:ext>
              </a:extLst>
            </p:cNvPr>
            <p:cNvSpPr/>
            <p:nvPr/>
          </p:nvSpPr>
          <p:spPr>
            <a:xfrm rot="5400000">
              <a:off x="2567933" y="2171002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B05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6" y="1375602"/>
              <a:ext cx="272513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2714B29-B771-3DF3-7452-DF76E2C2C452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9B3D21-4A4D-CCA8-11EA-77CCAC0305E1}"/>
              </a:ext>
            </a:extLst>
          </p:cNvPr>
          <p:cNvCxnSpPr>
            <a:cxnSpLocks/>
          </p:cNvCxnSpPr>
          <p:nvPr/>
        </p:nvCxnSpPr>
        <p:spPr>
          <a:xfrm flipH="1" flipV="1">
            <a:off x="7443049" y="3969856"/>
            <a:ext cx="4426734" cy="338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326574" y="1829970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832333" y="5163464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sz="2000" dirty="0">
                <a:solidFill>
                  <a:srgbClr val="0000FF"/>
                </a:solidFill>
              </a:rPr>
              <a:t>Temperature,</a:t>
            </a:r>
            <a:r>
              <a:rPr lang="pt-BR" sz="2000" dirty="0">
                <a:solidFill>
                  <a:srgbClr val="0000FF"/>
                </a:solidFill>
              </a:rPr>
              <a:t> </a:t>
            </a:r>
            <a:r>
              <a:rPr lang="LID4096" sz="2000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dirty="0">
              <a:solidFill>
                <a:srgbClr val="0000FF"/>
              </a:solidFill>
            </a:endParaRPr>
          </a:p>
          <a:p>
            <a:pPr algn="ctr"/>
            <a:r>
              <a:rPr lang="pt-BR" sz="2000" dirty="0">
                <a:solidFill>
                  <a:srgbClr val="0000FF"/>
                </a:solidFill>
              </a:rPr>
              <a:t>... d</a:t>
            </a:r>
            <a:r>
              <a:rPr lang="LID4096" sz="2000" dirty="0">
                <a:solidFill>
                  <a:srgbClr val="0000FF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1916299" y="239487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780905" y="251368"/>
              <a:ext cx="22424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b="1" noProof="0" dirty="0">
                  <a:solidFill>
                    <a:srgbClr val="FF0000"/>
                  </a:solidFill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170775"/>
            <a:ext cx="15022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600" dirty="0"/>
              <a:t>210 ×</a:t>
            </a:r>
            <a:r>
              <a:rPr lang="pt-BR" sz="1600" dirty="0"/>
              <a:t> </a:t>
            </a:r>
            <a:r>
              <a:rPr lang="LID4096" sz="1600" dirty="0"/>
              <a:t>400 µm computational domain</a:t>
            </a:r>
            <a:r>
              <a:rPr lang="pt-BR" sz="1600" dirty="0"/>
              <a:t> (2D)</a:t>
            </a:r>
          </a:p>
          <a:p>
            <a:pPr algn="r"/>
            <a:r>
              <a:rPr lang="en-GB" sz="1600" dirty="0">
                <a:latin typeface="AdvOTdd63dae3"/>
              </a:rPr>
              <a:t>1,341,561 </a:t>
            </a:r>
          </a:p>
          <a:p>
            <a:pPr algn="r"/>
            <a:r>
              <a:rPr lang="en-GB" sz="1600" dirty="0">
                <a:latin typeface="AdvOTdd63dae3"/>
              </a:rPr>
              <a:t>grid 0.25 </a:t>
            </a:r>
            <a:r>
              <a:rPr lang="en-GB" sz="1600" dirty="0" err="1">
                <a:latin typeface="AdvOTdd63dae3+03"/>
              </a:rPr>
              <a:t>μ</a:t>
            </a:r>
            <a:r>
              <a:rPr lang="en-GB" sz="1600" dirty="0" err="1">
                <a:latin typeface="AdvOTdd63dae3"/>
              </a:rPr>
              <a:t>m</a:t>
            </a:r>
            <a:endParaRPr lang="LID4096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457406" y="239487"/>
            <a:ext cx="5222966" cy="18854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E9D78FC-A9F0-161A-B5C7-ABA7352AFC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48" t="9050" r="67184" b="66061"/>
          <a:stretch>
            <a:fillRect/>
          </a:stretch>
        </p:blipFill>
        <p:spPr>
          <a:xfrm>
            <a:off x="322216" y="3019053"/>
            <a:ext cx="2420984" cy="110714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094B13F-A5E0-E8CD-CE8D-3ACAA9BB04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6" t="48903" r="60805" b="2231"/>
          <a:stretch>
            <a:fillRect/>
          </a:stretch>
        </p:blipFill>
        <p:spPr>
          <a:xfrm>
            <a:off x="2910840" y="3019052"/>
            <a:ext cx="2930850" cy="20797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457406" y="2499360"/>
            <a:ext cx="5222966" cy="24387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58405" y="317806"/>
            <a:ext cx="1621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A.M (3D)</a:t>
            </a:r>
            <a:endParaRPr lang="en-GB" sz="24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>
            <a:off x="10058405" y="2090813"/>
            <a:ext cx="14957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</a:t>
            </a:r>
            <a:endParaRPr lang="en-GB" sz="24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2FEBC7-5E88-737D-62CE-961378375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767" y="4268840"/>
            <a:ext cx="2402948" cy="20797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1841" y="5209731"/>
            <a:ext cx="3846564" cy="1231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9" y="6673334"/>
            <a:ext cx="6096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 u="none" strike="noStrike" baseline="0" dirty="0">
                <a:latin typeface="AdvOTa2fa4214.B"/>
              </a:rPr>
              <a:t>Solute trapping and non-equilibrium microstructure </a:t>
            </a:r>
            <a:r>
              <a:rPr lang="en-GB" sz="800" b="0" i="0" u="none" strike="noStrike" baseline="0" dirty="0">
                <a:latin typeface="AdvOTa2fa4214.B"/>
              </a:rPr>
              <a:t>during rapid solidi</a:t>
            </a:r>
            <a:r>
              <a:rPr lang="en-GB" sz="800" b="0" i="0" u="none" strike="noStrike" baseline="0" dirty="0">
                <a:latin typeface="AdvOTa2fa4214.B+fb"/>
              </a:rPr>
              <a:t>fi</a:t>
            </a:r>
            <a:r>
              <a:rPr lang="en-GB" sz="800" b="0" i="0" u="none" strike="noStrike" baseline="0" dirty="0">
                <a:latin typeface="AdvOTa2fa4214.B"/>
              </a:rPr>
              <a:t>cation of additive </a:t>
            </a:r>
            <a:r>
              <a:rPr lang="en-US" sz="800" b="0" i="0" u="none" strike="noStrike" baseline="0" dirty="0">
                <a:latin typeface="AdvOTa2fa4214.B"/>
              </a:rPr>
              <a:t>manufacturing</a:t>
            </a:r>
            <a:endParaRPr lang="LID4096" sz="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233803" y="651479"/>
            <a:ext cx="1559713" cy="555335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51FCD5-6DD4-8F2E-A175-A75B503BF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681" y="249529"/>
            <a:ext cx="1996000" cy="28375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ABE4C5-CE48-2FCC-B2AF-C39F279E1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5695406" y="3259202"/>
            <a:ext cx="6017623" cy="34041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FD66E51-4094-5727-6754-C37B58D0D33A}"/>
              </a:ext>
            </a:extLst>
          </p:cNvPr>
          <p:cNvGrpSpPr/>
          <p:nvPr/>
        </p:nvGrpSpPr>
        <p:grpSpPr>
          <a:xfrm>
            <a:off x="6404278" y="1297604"/>
            <a:ext cx="5308751" cy="1790501"/>
            <a:chOff x="-1916270" y="4036934"/>
            <a:chExt cx="5308751" cy="179050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D9108D-075C-D25C-4C85-D3AF9D8C1E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916270" y="4036934"/>
              <a:ext cx="3209925" cy="7620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33E7CCF-1FCF-7E2A-834A-D4BDC8B3E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277"/>
            <a:stretch>
              <a:fillRect/>
            </a:stretch>
          </p:blipFill>
          <p:spPr>
            <a:xfrm>
              <a:off x="1396480" y="4869854"/>
              <a:ext cx="1996001" cy="95758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E6ED72A-85CE-824F-8C3F-318FC7CE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122" r="3891"/>
            <a:stretch>
              <a:fillRect/>
            </a:stretch>
          </p:blipFill>
          <p:spPr>
            <a:xfrm>
              <a:off x="-1916270" y="4869855"/>
              <a:ext cx="3209925" cy="95281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776201B-C8EF-4845-8B14-13D831AB862E}"/>
              </a:ext>
            </a:extLst>
          </p:cNvPr>
          <p:cNvSpPr txBox="1"/>
          <p:nvPr/>
        </p:nvSpPr>
        <p:spPr>
          <a:xfrm>
            <a:off x="6810104" y="537834"/>
            <a:ext cx="49029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1" i="0" u="sng" strike="noStrike" baseline="0" dirty="0">
                <a:solidFill>
                  <a:srgbClr val="131413"/>
                </a:solidFill>
                <a:latin typeface="LhlvjmAdvTT577c760c"/>
              </a:rPr>
              <a:t>An analytical solution</a:t>
            </a:r>
            <a:r>
              <a:rPr lang="en-GB" sz="1200" b="0" i="0" u="none" strike="noStrike" baseline="0" dirty="0">
                <a:solidFill>
                  <a:srgbClr val="131413"/>
                </a:solidFill>
                <a:latin typeface="LhlvjmAdvTT577c760c"/>
              </a:rPr>
              <a:t> for temperature distribution in fillet arc welding based on an adaptive function </a:t>
            </a:r>
            <a:r>
              <a:rPr lang="en-US" sz="1100" dirty="0"/>
              <a:t>Nasiri &amp; Enzinger - 2018</a:t>
            </a:r>
            <a:endParaRPr lang="LID4096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7B8671-692C-2B83-C5B5-A3AEFD362B5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587"/>
          <a:stretch>
            <a:fillRect/>
          </a:stretch>
        </p:blipFill>
        <p:spPr>
          <a:xfrm>
            <a:off x="222647" y="3259200"/>
            <a:ext cx="5327657" cy="34041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C0F4A-BF83-1FBC-10AA-B32F537FE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647" y="1668741"/>
            <a:ext cx="3832363" cy="14175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6251A2-D638-571D-DCE9-8C044896874B}"/>
              </a:ext>
            </a:extLst>
          </p:cNvPr>
          <p:cNvSpPr txBox="1"/>
          <p:nvPr/>
        </p:nvSpPr>
        <p:spPr>
          <a:xfrm>
            <a:off x="278962" y="442808"/>
            <a:ext cx="13917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Wire DED</a:t>
            </a:r>
            <a:endParaRPr lang="en-GB" sz="2800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AB7011-D8CA-8C95-9920-2427E29C687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3397" t="17008" b="16438"/>
          <a:stretch>
            <a:fillRect/>
          </a:stretch>
        </p:blipFill>
        <p:spPr>
          <a:xfrm>
            <a:off x="2190189" y="249529"/>
            <a:ext cx="1864821" cy="13100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995A58-6591-605B-8BC0-533437A49B1D}"/>
              </a:ext>
            </a:extLst>
          </p:cNvPr>
          <p:cNvSpPr txBox="1"/>
          <p:nvPr/>
        </p:nvSpPr>
        <p:spPr>
          <a:xfrm>
            <a:off x="7010400" y="238860"/>
            <a:ext cx="47026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 b="1" i="0" u="sng" strike="noStrike" baseline="0" dirty="0">
                <a:solidFill>
                  <a:srgbClr val="000000"/>
                </a:solidFill>
                <a:latin typeface="Calibri (Body)"/>
              </a:rPr>
              <a:t> Modelling of wire-arc</a:t>
            </a:r>
            <a:r>
              <a:rPr lang="en-GB" sz="1100" b="0" i="0" u="none" strike="noStrike" baseline="0" dirty="0">
                <a:solidFill>
                  <a:srgbClr val="000000"/>
                </a:solidFill>
                <a:latin typeface="Calibri (Body)"/>
              </a:rPr>
              <a:t> additive manufacturing – A review R.F.V. Sampaio </a:t>
            </a:r>
            <a:endParaRPr lang="LID4096" sz="11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985938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383AFA05-AE80-CBF4-788E-F2994CD23B67}"/>
              </a:ext>
            </a:extLst>
          </p:cNvPr>
          <p:cNvSpPr txBox="1"/>
          <p:nvPr/>
        </p:nvSpPr>
        <p:spPr>
          <a:xfrm>
            <a:off x="11700" y="5600247"/>
            <a:ext cx="6096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sng" strike="noStrike" baseline="0" dirty="0">
                <a:latin typeface="MyriadPro-SemiboldSemiCn"/>
              </a:rPr>
              <a:t>A multi‑criteria </a:t>
            </a:r>
            <a:r>
              <a:rPr lang="en-US" sz="1600" b="1" i="1" u="sng" strike="noStrike" baseline="0" dirty="0">
                <a:latin typeface="MyriadPro-SemiboldSemiCnIt"/>
              </a:rPr>
              <a:t>h</a:t>
            </a:r>
            <a:r>
              <a:rPr lang="en-US" sz="1600" b="1" i="0" u="sng" strike="noStrike" baseline="0" dirty="0">
                <a:latin typeface="MyriadPro-SemiboldSemiCn"/>
              </a:rPr>
              <a:t>‑adaptive finite‑element framework</a:t>
            </a:r>
            <a:r>
              <a:rPr lang="en-US" sz="1200" b="0" i="0" u="none" strike="noStrike" baseline="0" dirty="0">
                <a:latin typeface="MyriadPro-SemiboldSemiCn"/>
              </a:rPr>
              <a:t> for industrial </a:t>
            </a:r>
            <a:r>
              <a:rPr lang="en-GB" sz="1200" b="0" i="0" u="none" strike="noStrike" baseline="0" dirty="0">
                <a:latin typeface="MyriadPro-SemiboldSemiCn"/>
              </a:rPr>
              <a:t>part‑scale thermal analysis in additive manufacturing processes – </a:t>
            </a:r>
            <a:r>
              <a:rPr lang="en-US" sz="1200" dirty="0"/>
              <a:t>Moreira &amp; </a:t>
            </a:r>
            <a:r>
              <a:rPr lang="en-US" sz="1200" dirty="0" err="1"/>
              <a:t>Chiumenti</a:t>
            </a:r>
            <a:r>
              <a:rPr lang="en-US" sz="1200" dirty="0"/>
              <a:t> (2021)</a:t>
            </a:r>
          </a:p>
          <a:p>
            <a:endParaRPr lang="en-US" sz="1200" dirty="0"/>
          </a:p>
          <a:p>
            <a:r>
              <a:rPr lang="en-GB" sz="1200" dirty="0"/>
              <a:t>Numerical simulation and experimental calibration of Additive Manufacturing by blown powder technology. </a:t>
            </a:r>
            <a:r>
              <a:rPr lang="en-US" sz="1200" dirty="0"/>
              <a:t>Part I: thermal analysis -- M. </a:t>
            </a:r>
            <a:r>
              <a:rPr lang="en-US" sz="1200" dirty="0" err="1"/>
              <a:t>Chiumenti</a:t>
            </a:r>
            <a:endParaRPr lang="en-US" sz="1200" dirty="0"/>
          </a:p>
          <a:p>
            <a:r>
              <a:rPr lang="en-GB" sz="1000" dirty="0"/>
              <a:t>01c Residual stress and distortion of rectangular and S-shaped Ti-6Al-4V parts </a:t>
            </a:r>
            <a:r>
              <a:rPr lang="en-US" sz="1000" dirty="0"/>
              <a:t>-- M. </a:t>
            </a:r>
            <a:r>
              <a:rPr lang="en-US" sz="1000" dirty="0" err="1"/>
              <a:t>Chiumenti</a:t>
            </a:r>
            <a:endParaRPr lang="LID4096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B78473-A7F0-914B-C99C-1BF327B3FDA8}"/>
              </a:ext>
            </a:extLst>
          </p:cNvPr>
          <p:cNvSpPr txBox="1"/>
          <p:nvPr/>
        </p:nvSpPr>
        <p:spPr>
          <a:xfrm>
            <a:off x="329839" y="494409"/>
            <a:ext cx="566492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h-adaptive finite-element (FE) strategy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b="1" dirty="0"/>
              <a:t>mesh coarsening and refinement</a:t>
            </a: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FF0000"/>
                </a:solidFill>
              </a:rPr>
              <a:t>common layer interface (CLI)  </a:t>
            </a:r>
            <a:r>
              <a:rPr lang="en-US" b="1" dirty="0">
                <a:solidFill>
                  <a:srgbClr val="0000FF"/>
                </a:solidFill>
              </a:rPr>
              <a:t>x </a:t>
            </a:r>
            <a:r>
              <a:rPr lang="en-US" b="1" dirty="0" err="1">
                <a:solidFill>
                  <a:srgbClr val="0000FF"/>
                </a:solidFill>
              </a:rPr>
              <a:t>GCode</a:t>
            </a:r>
            <a:endParaRPr lang="LID4096" b="1" dirty="0">
              <a:solidFill>
                <a:srgbClr val="0000FF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D4AE64D-142C-C5A6-6B1E-B80609B23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64" y="1610723"/>
            <a:ext cx="5128574" cy="364638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1F3F83B-A6CA-28F1-E03A-7B349F665D43}"/>
              </a:ext>
            </a:extLst>
          </p:cNvPr>
          <p:cNvSpPr txBox="1"/>
          <p:nvPr/>
        </p:nvSpPr>
        <p:spPr>
          <a:xfrm>
            <a:off x="5842658" y="4858646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>
                <a:solidFill>
                  <a:srgbClr val="0000FF"/>
                </a:solidFill>
              </a:rPr>
              <a:t>heat losses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3E7AF0-73B5-4CC6-9427-4896A57CAA4B}"/>
              </a:ext>
            </a:extLst>
          </p:cNvPr>
          <p:cNvSpPr txBox="1"/>
          <p:nvPr/>
        </p:nvSpPr>
        <p:spPr>
          <a:xfrm>
            <a:off x="7145880" y="4857820"/>
            <a:ext cx="27527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>
                <a:solidFill>
                  <a:srgbClr val="0000FF"/>
                </a:solidFill>
              </a:defRPr>
            </a:lvl1pPr>
          </a:lstStyle>
          <a:p>
            <a:r>
              <a:rPr lang="LID4096" sz="1400" dirty="0"/>
              <a:t>external work of the thermal loads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2884BF6-7107-207F-BD5F-B4C5C233DF35}"/>
              </a:ext>
            </a:extLst>
          </p:cNvPr>
          <p:cNvGrpSpPr/>
          <p:nvPr/>
        </p:nvGrpSpPr>
        <p:grpSpPr>
          <a:xfrm>
            <a:off x="5870960" y="1834786"/>
            <a:ext cx="5979524" cy="3422317"/>
            <a:chOff x="5564776" y="1514855"/>
            <a:chExt cx="5979524" cy="3422317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6DAC0AD-FD90-EDDD-759F-9EB4DA08F0A4}"/>
                </a:ext>
              </a:extLst>
            </p:cNvPr>
            <p:cNvGrpSpPr/>
            <p:nvPr/>
          </p:nvGrpSpPr>
          <p:grpSpPr>
            <a:xfrm>
              <a:off x="5564776" y="1514855"/>
              <a:ext cx="5979524" cy="2569401"/>
              <a:chOff x="676003" y="334424"/>
              <a:chExt cx="5979524" cy="256940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E5E0877E-0A06-E5B1-0B43-BBC1749C3A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8051" y="419236"/>
                <a:ext cx="1676400" cy="428625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826787-2279-F854-B987-63CF4E26EB9C}"/>
                  </a:ext>
                </a:extLst>
              </p:cNvPr>
              <p:cNvSpPr txBox="1"/>
              <p:nvPr/>
            </p:nvSpPr>
            <p:spPr>
              <a:xfrm>
                <a:off x="3805100" y="334424"/>
                <a:ext cx="2850427" cy="15234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sz="1800" b="0" i="1" u="none" strike="noStrike" baseline="0" dirty="0">
                    <a:latin typeface="STIXMath-Italic"/>
                  </a:rPr>
                  <a:t>̇</a:t>
                </a:r>
                <a:r>
                  <a:rPr lang="en-US" sz="1800" b="0" i="1" u="none" strike="noStrike" baseline="0" dirty="0">
                    <a:latin typeface="STIXGeneral-Italic2"/>
                  </a:rPr>
                  <a:t>H   </a:t>
                </a:r>
                <a:r>
                  <a:rPr lang="en-GB" dirty="0">
                    <a:latin typeface="STIX-Regular"/>
                  </a:rPr>
                  <a:t>rate of enthalpy</a:t>
                </a:r>
                <a:endParaRPr lang="en-US" sz="1800" b="0" i="1" u="none" strike="noStrike" baseline="0" dirty="0">
                  <a:latin typeface="STIXGeneral-Italic2"/>
                </a:endParaRPr>
              </a:p>
              <a:p>
                <a:r>
                  <a:rPr lang="en-GB" sz="1800" b="1" i="1" u="none" strike="noStrike" baseline="0" dirty="0">
                    <a:latin typeface="STIXGeneral-BoldItalic"/>
                  </a:rPr>
                  <a:t>q   </a:t>
                </a:r>
                <a:r>
                  <a:rPr lang="en-GB" sz="1800" b="0" i="0" u="none" strike="noStrike" baseline="0" dirty="0">
                    <a:latin typeface="STIX-Regular"/>
                  </a:rPr>
                  <a:t>heat-flux per unit volume</a:t>
                </a:r>
              </a:p>
              <a:p>
                <a:r>
                  <a:rPr lang="en-GB" i="1" dirty="0">
                    <a:latin typeface="STIXGeneral-Italic3"/>
                  </a:rPr>
                  <a:t>r</a:t>
                </a:r>
                <a:r>
                  <a:rPr lang="en-GB" i="1" dirty="0">
                    <a:latin typeface="STIXMath-Italic"/>
                  </a:rPr>
                  <a:t>̇  </a:t>
                </a:r>
                <a:r>
                  <a:rPr lang="en-GB" dirty="0">
                    <a:latin typeface="STIX-Regular"/>
                  </a:rPr>
                  <a:t>  rate of heat source</a:t>
                </a:r>
                <a:endParaRPr lang="en-GB" i="1" dirty="0">
                  <a:latin typeface="STIXMath-Italic"/>
                </a:endParaRPr>
              </a:p>
              <a:p>
                <a:endParaRPr lang="en-GB" sz="300" b="0" i="0" u="none" strike="noStrike" baseline="0" dirty="0">
                  <a:latin typeface="STIX-Regular"/>
                </a:endParaRPr>
              </a:p>
              <a:p>
                <a:r>
                  <a:rPr lang="en-GB" dirty="0">
                    <a:latin typeface="STIX-Regular"/>
                  </a:rPr>
                  <a:t>C   </a:t>
                </a:r>
                <a:r>
                  <a:rPr lang="en-GB" dirty="0"/>
                  <a:t>(temperature dependent) heat capacity</a:t>
                </a:r>
                <a:endParaRPr lang="LID4096" dirty="0"/>
              </a:p>
            </p:txBody>
          </p:sp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0233BAAB-ABE6-5897-4FB7-A0AF4988C8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18000" b="13963"/>
              <a:stretch>
                <a:fillRect/>
              </a:stretch>
            </p:blipFill>
            <p:spPr>
              <a:xfrm>
                <a:off x="1738992" y="796115"/>
                <a:ext cx="1285875" cy="3240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1D14760-1E87-0A6F-3873-6AD13A5FCC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8051" y="997075"/>
                <a:ext cx="1009650" cy="390525"/>
              </a:xfrm>
              <a:prstGeom prst="rect">
                <a:avLst/>
              </a:prstGeom>
            </p:spPr>
          </p:pic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42164C09-3E45-EAB5-94A0-D52A6CAFF7B3}"/>
                  </a:ext>
                </a:extLst>
              </p:cNvPr>
              <p:cNvGrpSpPr/>
              <p:nvPr/>
            </p:nvGrpSpPr>
            <p:grpSpPr>
              <a:xfrm>
                <a:off x="738051" y="1427352"/>
                <a:ext cx="2848519" cy="476250"/>
                <a:chOff x="738051" y="1340265"/>
                <a:chExt cx="2848519" cy="476250"/>
              </a:xfrm>
            </p:grpSpPr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03048724-9AC1-2634-3030-559A1647CE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t="-2041" r="20544"/>
                <a:stretch>
                  <a:fillRect/>
                </a:stretch>
              </p:blipFill>
              <p:spPr>
                <a:xfrm>
                  <a:off x="738051" y="1340265"/>
                  <a:ext cx="2066108" cy="476250"/>
                </a:xfrm>
                <a:prstGeom prst="rect">
                  <a:avLst/>
                </a:prstGeom>
              </p:spPr>
            </p:pic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CAA6090C-5358-9B70-4C86-B31AA578B2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78954"/>
                <a:stretch>
                  <a:fillRect/>
                </a:stretch>
              </p:blipFill>
              <p:spPr>
                <a:xfrm>
                  <a:off x="3039291" y="1345027"/>
                  <a:ext cx="547279" cy="466725"/>
                </a:xfrm>
                <a:prstGeom prst="rect">
                  <a:avLst/>
                </a:prstGeom>
              </p:spPr>
            </p:pic>
          </p:grp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7A8DCB8C-179F-7DC5-2651-1DB79A1984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45832"/>
              <a:stretch>
                <a:fillRect/>
              </a:stretch>
            </p:blipFill>
            <p:spPr>
              <a:xfrm>
                <a:off x="676003" y="2031879"/>
                <a:ext cx="4953000" cy="871946"/>
              </a:xfrm>
              <a:prstGeom prst="rect">
                <a:avLst/>
              </a:prstGeom>
            </p:spPr>
          </p:pic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752B941-3E23-0EEE-3C03-4FAF44369101}"/>
                  </a:ext>
                </a:extLst>
              </p:cNvPr>
              <p:cNvSpPr/>
              <p:nvPr/>
            </p:nvSpPr>
            <p:spPr>
              <a:xfrm>
                <a:off x="676003" y="334424"/>
                <a:ext cx="2711631" cy="10929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E57E60B-F3DF-524A-8F29-346395CE70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55094"/>
            <a:stretch>
              <a:fillRect/>
            </a:stretch>
          </p:blipFill>
          <p:spPr>
            <a:xfrm>
              <a:off x="5567315" y="4214301"/>
              <a:ext cx="4953000" cy="722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72693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C14BD59-47E8-C5D9-8AFC-F148706527C2}"/>
              </a:ext>
            </a:extLst>
          </p:cNvPr>
          <p:cNvGrpSpPr/>
          <p:nvPr/>
        </p:nvGrpSpPr>
        <p:grpSpPr>
          <a:xfrm>
            <a:off x="6788830" y="187420"/>
            <a:ext cx="5203690" cy="2662450"/>
            <a:chOff x="6132884" y="979900"/>
            <a:chExt cx="5203690" cy="266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C87A80-0346-D31E-5F26-94BFDB010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1999" y="979900"/>
              <a:ext cx="2766876" cy="719388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388581-7A19-8817-C767-1F2F45EF0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5137" y="1855632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B1FFF9-4A2C-4F64-2C16-40E9E2F400B9}"/>
                </a:ext>
              </a:extLst>
            </p:cNvPr>
            <p:cNvGrpSpPr/>
            <p:nvPr/>
          </p:nvGrpSpPr>
          <p:grpSpPr>
            <a:xfrm>
              <a:off x="10386060" y="1610513"/>
              <a:ext cx="950514" cy="883294"/>
              <a:chOff x="9845949" y="5571569"/>
              <a:chExt cx="950514" cy="883294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2913BAFA-4C54-7AF2-E37F-24D9D1329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CA9137-AEED-FCFC-4410-E8FF1DC97D6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EA9833-85F6-500A-7CCC-9E8A31F33D11}"/>
                </a:ext>
              </a:extLst>
            </p:cNvPr>
            <p:cNvSpPr/>
            <p:nvPr/>
          </p:nvSpPr>
          <p:spPr>
            <a:xfrm>
              <a:off x="8740443" y="1720540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D0B6F7-A108-10F7-EDC5-DFD9017F2E0F}"/>
                </a:ext>
              </a:extLst>
            </p:cNvPr>
            <p:cNvSpPr txBox="1"/>
            <p:nvPr/>
          </p:nvSpPr>
          <p:spPr>
            <a:xfrm>
              <a:off x="9137522" y="13814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637DB3-C5A4-EE4A-ECFA-867DC6814BD2}"/>
                </a:ext>
              </a:extLst>
            </p:cNvPr>
            <p:cNvCxnSpPr/>
            <p:nvPr/>
          </p:nvCxnSpPr>
          <p:spPr>
            <a:xfrm>
              <a:off x="9212771" y="2400334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13677D-D828-F4A5-9E84-AADFF3629640}"/>
                </a:ext>
              </a:extLst>
            </p:cNvPr>
            <p:cNvGrpSpPr/>
            <p:nvPr/>
          </p:nvGrpSpPr>
          <p:grpSpPr>
            <a:xfrm>
              <a:off x="7304054" y="1610513"/>
              <a:ext cx="950514" cy="883294"/>
              <a:chOff x="9845949" y="5571569"/>
              <a:chExt cx="950514" cy="883294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1FBC4EF-D541-0D8F-364C-27324D330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D380E6-43B8-2CC5-69A1-37F15B1E25EC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>
                    <a:solidFill>
                      <a:srgbClr val="FF0000"/>
                    </a:solidFill>
                  </a:rPr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0E35160-F9B2-5986-AF3C-19E52912E109}"/>
                </a:ext>
              </a:extLst>
            </p:cNvPr>
            <p:cNvGrpSpPr/>
            <p:nvPr/>
          </p:nvGrpSpPr>
          <p:grpSpPr>
            <a:xfrm>
              <a:off x="6132884" y="2594064"/>
              <a:ext cx="1576251" cy="1048286"/>
              <a:chOff x="6063657" y="3023858"/>
              <a:chExt cx="1576251" cy="1048286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24F183D-C502-8636-6FF8-26FD76DAF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7406" t="11705" b="67943"/>
              <a:stretch>
                <a:fillRect/>
              </a:stretch>
            </p:blipFill>
            <p:spPr>
              <a:xfrm>
                <a:off x="6112772" y="3023858"/>
                <a:ext cx="1483995" cy="40514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249F1059-0003-0D55-3A13-DB52AED51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207" t="65732" r="57173" b="3646"/>
              <a:stretch>
                <a:fillRect/>
              </a:stretch>
            </p:blipFill>
            <p:spPr>
              <a:xfrm>
                <a:off x="6063657" y="3462544"/>
                <a:ext cx="1576251" cy="609600"/>
              </a:xfrm>
              <a:prstGeom prst="rect">
                <a:avLst/>
              </a:prstGeom>
            </p:spPr>
          </p:pic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2877E64-6625-A4EC-FBDE-10C59026951A}"/>
              </a:ext>
            </a:extLst>
          </p:cNvPr>
          <p:cNvGrpSpPr/>
          <p:nvPr/>
        </p:nvGrpSpPr>
        <p:grpSpPr>
          <a:xfrm>
            <a:off x="2752098" y="3101502"/>
            <a:ext cx="9187942" cy="3246242"/>
            <a:chOff x="2760433" y="3540188"/>
            <a:chExt cx="9187942" cy="324624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D2BEF95-69B0-064C-A5E7-2EC89B79D477}"/>
                </a:ext>
              </a:extLst>
            </p:cNvPr>
            <p:cNvGrpSpPr/>
            <p:nvPr/>
          </p:nvGrpSpPr>
          <p:grpSpPr>
            <a:xfrm>
              <a:off x="2760433" y="3540188"/>
              <a:ext cx="9187942" cy="3246242"/>
              <a:chOff x="2524363" y="3279578"/>
              <a:chExt cx="9187942" cy="3246242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CAC372F-1AD2-75FA-87E0-A15ED3A38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91946" y="3279578"/>
                <a:ext cx="1381125" cy="38100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35EA163-5A44-CB13-AF5A-082E5F493E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874"/>
              <a:stretch>
                <a:fillRect/>
              </a:stretch>
            </p:blipFill>
            <p:spPr>
              <a:xfrm>
                <a:off x="6991946" y="3739891"/>
                <a:ext cx="4695825" cy="720418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707436EC-DAC3-05BB-B16A-A5125C0E0F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t="5183" b="14643"/>
              <a:stretch>
                <a:fillRect/>
              </a:stretch>
            </p:blipFill>
            <p:spPr>
              <a:xfrm>
                <a:off x="9565733" y="5553673"/>
                <a:ext cx="2124075" cy="66437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4F47EBA-CA9D-6848-00AB-41E7FC21B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l="24901" t="62166" r="1990" b="23492"/>
              <a:stretch>
                <a:fillRect/>
              </a:stretch>
            </p:blipFill>
            <p:spPr>
              <a:xfrm>
                <a:off x="2524363" y="4534410"/>
                <a:ext cx="9163408" cy="89381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049E6A-CFBC-ABB4-DDBA-DD657CCB78C5}"/>
                  </a:ext>
                </a:extLst>
              </p:cNvPr>
              <p:cNvSpPr txBox="1"/>
              <p:nvPr/>
            </p:nvSpPr>
            <p:spPr>
              <a:xfrm>
                <a:off x="9588230" y="6218043"/>
                <a:ext cx="2124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US" sz="1400" dirty="0"/>
                  <a:t>Marangoni shear stress </a:t>
                </a:r>
                <a:endParaRPr lang="en-GB" sz="3600" noProof="0" dirty="0">
                  <a:solidFill>
                    <a:srgbClr val="FF0000"/>
                  </a:solidFill>
                </a:endParaRPr>
              </a:p>
            </p:txBody>
          </p:sp>
        </p:grp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D41F92-A924-BFE8-BD64-102B9933C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360099" y="6063645"/>
              <a:ext cx="2333625" cy="295275"/>
            </a:xfrm>
            <a:prstGeom prst="rect">
              <a:avLst/>
            </a:prstGeom>
          </p:spPr>
        </p:pic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5DB4A8B6-CC82-25CF-7DA4-95451A5454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480" y="4911924"/>
            <a:ext cx="1857375" cy="8477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E2E764C-A418-858D-47E7-014D877AD9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3825" y="5759649"/>
            <a:ext cx="3219450" cy="10953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CEBFC-4EAE-21F5-9CD2-72568EF52188}"/>
              </a:ext>
            </a:extLst>
          </p:cNvPr>
          <p:cNvSpPr txBox="1"/>
          <p:nvPr/>
        </p:nvSpPr>
        <p:spPr>
          <a:xfrm>
            <a:off x="8968504" y="6606609"/>
            <a:ext cx="3219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500" i="0" u="none" strike="noStrike" baseline="0" dirty="0">
                <a:solidFill>
                  <a:srgbClr val="000000"/>
                </a:solidFill>
                <a:latin typeface="Myriad Pro"/>
              </a:rPr>
              <a:t>Multi-scale modeling approaches in wire arc additive manufacturing: from melt pool dynamics to residual stress prediction </a:t>
            </a:r>
            <a:r>
              <a:rPr lang="en-GB" sz="500" dirty="0">
                <a:solidFill>
                  <a:srgbClr val="000000"/>
                </a:solidFill>
                <a:latin typeface="Myriad Pro"/>
              </a:rPr>
              <a:t>&amp; </a:t>
            </a:r>
            <a:r>
              <a:rPr lang="LID4096" sz="5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3453376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7DF188-F017-C769-7AD1-5A6D9484570D}"/>
              </a:ext>
            </a:extLst>
          </p:cNvPr>
          <p:cNvSpPr txBox="1"/>
          <p:nvPr/>
        </p:nvSpPr>
        <p:spPr>
          <a:xfrm>
            <a:off x="254101" y="5179900"/>
            <a:ext cx="77339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Contatar:</a:t>
            </a:r>
          </a:p>
          <a:p>
            <a:endParaRPr lang="pt-BR" dirty="0"/>
          </a:p>
          <a:p>
            <a:r>
              <a:rPr lang="pt-BR" dirty="0"/>
              <a:t>Prof. Carlos Henrique Marchi		UFPR	– CFD – Computação</a:t>
            </a:r>
          </a:p>
          <a:p>
            <a:r>
              <a:rPr lang="pt-BR" dirty="0"/>
              <a:t>Guilherme Ferreira Gomes		UNIFEI 	– A.M. – CFD</a:t>
            </a:r>
          </a:p>
          <a:p>
            <a:r>
              <a:rPr lang="en-US" dirty="0"/>
              <a:t>Diego </a:t>
            </a:r>
            <a:r>
              <a:rPr lang="en-US" dirty="0" err="1"/>
              <a:t>Raimundi</a:t>
            </a:r>
            <a:r>
              <a:rPr lang="en-US" dirty="0"/>
              <a:t> Corradi </a:t>
            </a:r>
            <a:r>
              <a:rPr lang="pt-BR" dirty="0"/>
              <a:t>(WAAM)	UFMG  	– OSCILAÇÃO MAGNÉTICA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0B3A0-BFB2-AA01-579D-FC29D1EA9A68}"/>
              </a:ext>
            </a:extLst>
          </p:cNvPr>
          <p:cNvSpPr txBox="1"/>
          <p:nvPr/>
        </p:nvSpPr>
        <p:spPr>
          <a:xfrm>
            <a:off x="1473302" y="2227694"/>
            <a:ext cx="77339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MODELO:</a:t>
            </a:r>
          </a:p>
          <a:p>
            <a:r>
              <a:rPr lang="pt-BR" dirty="0"/>
              <a:t>Fonte (externa) de calor x Material - Condução, convecção, radiação</a:t>
            </a:r>
            <a:endParaRPr lang="LID4096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A9585D2-D4E1-83FD-62F8-A5A9F54980A6}"/>
              </a:ext>
            </a:extLst>
          </p:cNvPr>
          <p:cNvGrpSpPr/>
          <p:nvPr/>
        </p:nvGrpSpPr>
        <p:grpSpPr>
          <a:xfrm>
            <a:off x="199480" y="333784"/>
            <a:ext cx="3305981" cy="1708802"/>
            <a:chOff x="199480" y="333784"/>
            <a:chExt cx="3305981" cy="170880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67BFDFB-E4FE-7C3D-65ED-F5647DF4B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9480" y="333784"/>
              <a:ext cx="2181581" cy="1708802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011AAB3-B5AB-5D3D-DB2C-556F79E7A69D}"/>
                </a:ext>
              </a:extLst>
            </p:cNvPr>
            <p:cNvSpPr txBox="1"/>
            <p:nvPr/>
          </p:nvSpPr>
          <p:spPr>
            <a:xfrm>
              <a:off x="1733550" y="114512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FVM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8604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191589" y="156754"/>
            <a:ext cx="11695611" cy="6467900"/>
            <a:chOff x="607054" y="495112"/>
            <a:chExt cx="10925552" cy="61295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7054" y="495112"/>
              <a:ext cx="10925552" cy="6129542"/>
              <a:chOff x="607054" y="495112"/>
              <a:chExt cx="10925552" cy="612954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2EBD62A-9AA4-2364-9DB5-A2E80B72F2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3135"/>
              <a:stretch>
                <a:fillRect/>
              </a:stretch>
            </p:blipFill>
            <p:spPr>
              <a:xfrm>
                <a:off x="607054" y="495112"/>
                <a:ext cx="10851664" cy="522667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57222-A3DB-85F2-F22A-343ED12BEC06}"/>
                  </a:ext>
                </a:extLst>
              </p:cNvPr>
              <p:cNvSpPr txBox="1"/>
              <p:nvPr/>
            </p:nvSpPr>
            <p:spPr>
              <a:xfrm>
                <a:off x="6326109" y="2786174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Laser heat input … latent input 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976264" y="5916768"/>
                <a:ext cx="10556342" cy="7078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2000" b="0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“This gives you the basis of how the simulation solver is modelled and </a:t>
                </a:r>
                <a:r>
                  <a:rPr lang="en-GB" sz="2000" b="0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sz="2000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provided” </a:t>
                </a:r>
                <a:endParaRPr lang="LID4096" sz="2000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solidFill>
                  <a:srgbClr val="00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51581D6-050B-AB35-E91D-BE6723F29376}"/>
                  </a:ext>
                </a:extLst>
              </p:cNvPr>
              <p:cNvCxnSpPr/>
              <p:nvPr/>
            </p:nvCxnSpPr>
            <p:spPr>
              <a:xfrm>
                <a:off x="2687370" y="342900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3735AB-302F-C9AE-3FF8-46C47F14FFAA}"/>
                  </a:ext>
                </a:extLst>
              </p:cNvPr>
              <p:cNvCxnSpPr/>
              <p:nvPr/>
            </p:nvCxnSpPr>
            <p:spPr>
              <a:xfrm>
                <a:off x="956649" y="4441479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row: Down 12">
                <a:extLst>
                  <a:ext uri="{FF2B5EF4-FFF2-40B4-BE49-F238E27FC236}">
                    <a16:creationId xmlns:a16="http://schemas.microsoft.com/office/drawing/2014/main" id="{1A9F3B76-7F9F-DA46-531F-9DF3B645F5B1}"/>
                  </a:ext>
                </a:extLst>
              </p:cNvPr>
              <p:cNvSpPr/>
              <p:nvPr/>
            </p:nvSpPr>
            <p:spPr>
              <a:xfrm>
                <a:off x="6096000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Arrow: Down 13">
                <a:extLst>
                  <a:ext uri="{FF2B5EF4-FFF2-40B4-BE49-F238E27FC236}">
                    <a16:creationId xmlns:a16="http://schemas.microsoft.com/office/drawing/2014/main" id="{C36CF552-73B3-9AF1-3656-6D52BC8B12E6}"/>
                  </a:ext>
                </a:extLst>
              </p:cNvPr>
              <p:cNvSpPr/>
              <p:nvPr/>
            </p:nvSpPr>
            <p:spPr>
              <a:xfrm>
                <a:off x="7119796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9FB577-F992-4E60-14EB-5332DB8C4422}"/>
                  </a:ext>
                </a:extLst>
              </p:cNvPr>
              <p:cNvSpPr txBox="1"/>
              <p:nvPr/>
            </p:nvSpPr>
            <p:spPr>
              <a:xfrm>
                <a:off x="956649" y="2583479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Volum</a:t>
                </a:r>
                <a:r>
                  <a:rPr lang="en-GB" sz="20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e of fluid method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1E3B3D-BF74-FBBD-5231-49BE03323EE8}"/>
                  </a:ext>
                </a:extLst>
              </p:cNvPr>
              <p:cNvSpPr txBox="1"/>
              <p:nvPr/>
            </p:nvSpPr>
            <p:spPr>
              <a:xfrm>
                <a:off x="9406550" y="3175122"/>
                <a:ext cx="1721328" cy="58477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Surface tension </a:t>
                </a:r>
              </a:p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Marangoni force</a:t>
                </a:r>
                <a:endParaRPr lang="LID4096" sz="16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8265814" y="951544"/>
              <a:ext cx="3072746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88371" y="6690465"/>
            <a:ext cx="2304838" cy="16158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defPPr>
              <a:defRPr lang="LID4096"/>
            </a:defPPr>
            <a:lvl1pPr algn="r">
              <a:defRPr sz="2800" b="1" u="none" strike="noStrike">
                <a:solidFill>
                  <a:srgbClr val="FF0000"/>
                </a:solidFill>
                <a:effectLst/>
                <a:latin typeface="Google Sans"/>
              </a:defRPr>
            </a:lvl1pPr>
          </a:lstStyle>
          <a:p>
            <a:r>
              <a:rPr lang="LID4096" sz="105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7"/>
            <a:ext cx="5432079" cy="25960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3548959" y="2717259"/>
            <a:ext cx="8407652" cy="38804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4F73C1-A697-9027-7856-54AEADFDE094}"/>
              </a:ext>
            </a:extLst>
          </p:cNvPr>
          <p:cNvSpPr txBox="1"/>
          <p:nvPr/>
        </p:nvSpPr>
        <p:spPr>
          <a:xfrm>
            <a:off x="5963462" y="133781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3460</TotalTime>
  <Words>790</Words>
  <Application>Microsoft Office PowerPoint</Application>
  <PresentationFormat>Widescreen</PresentationFormat>
  <Paragraphs>136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37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Google Sans</vt:lpstr>
      <vt:lpstr>Horley Old Style MT</vt:lpstr>
      <vt:lpstr>LhlvjmAdvTT577c760c</vt:lpstr>
      <vt:lpstr>Myriad Pro</vt:lpstr>
      <vt:lpstr>MyriadPro-SemiboldSemiCn</vt:lpstr>
      <vt:lpstr>MyriadPro-SemiboldSemiCnIt</vt:lpstr>
      <vt:lpstr>OpenSans</vt:lpstr>
      <vt:lpstr>STIXGeneral-BoldItalic</vt:lpstr>
      <vt:lpstr>STIXGeneral-Italic2</vt:lpstr>
      <vt:lpstr>STIXGeneral-Italic3</vt:lpstr>
      <vt:lpstr>STIXMath-Italic</vt:lpstr>
      <vt:lpstr>STIX-Regular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102</cp:revision>
  <dcterms:created xsi:type="dcterms:W3CDTF">2026-09-30T17:20:39Z</dcterms:created>
  <dcterms:modified xsi:type="dcterms:W3CDTF">2026-10-06T14:17:20Z</dcterms:modified>
</cp:coreProperties>
</file>