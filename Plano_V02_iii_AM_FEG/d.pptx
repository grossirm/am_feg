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9" r:id="rId3"/>
    <p:sldId id="277" r:id="rId4"/>
    <p:sldId id="278" r:id="rId5"/>
    <p:sldId id="260" r:id="rId6"/>
    <p:sldId id="274" r:id="rId7"/>
    <p:sldId id="276" r:id="rId8"/>
    <p:sldId id="263" r:id="rId9"/>
    <p:sldId id="273" r:id="rId10"/>
    <p:sldId id="266" r:id="rId11"/>
    <p:sldId id="282" r:id="rId12"/>
    <p:sldId id="281" r:id="rId13"/>
    <p:sldId id="270" r:id="rId14"/>
    <p:sldId id="265" r:id="rId15"/>
    <p:sldId id="268" r:id="rId16"/>
    <p:sldId id="279" r:id="rId17"/>
    <p:sldId id="280" r:id="rId18"/>
    <p:sldId id="272" r:id="rId19"/>
    <p:sldId id="271" r:id="rId20"/>
    <p:sldId id="258" r:id="rId21"/>
    <p:sldId id="261" r:id="rId22"/>
    <p:sldId id="257" r:id="rId2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8921-5049-2E32-25A4-86F65610A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8C54D-5AEE-839C-E6CE-1CBBACA45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35BE-C74C-CB6A-2B3A-763F6D31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BB9B-E6B7-AB9D-291F-299AABC9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DC91E-CD3E-36EF-0845-6EAE8937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358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7D1C-F319-72E2-9ADA-D91D0A1E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CDC5-F031-8865-C1B3-15A3AAD6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8A3C3-35B0-0245-783F-E1D2295E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B5C52-A3F0-8838-8AE5-DC29946D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6FA7B-93B4-7B06-EB54-C87EECEE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512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FD5D-8C2D-47C9-F784-D71D6C99D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A3644-D5D7-639D-9D01-47ADEF79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7BC99-1286-48D3-90FB-10CC7DA1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7651-21C8-1EE2-9B79-BB8017B8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11145-94A9-10EB-063F-1B221B67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614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DD21-43A1-10C1-3651-871BCCB0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32DD-14B2-A15A-D2A1-AE2297F82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3FE99-E72B-9244-7EFB-C60EE1AF8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4D93A-4972-F498-6313-8CD04CD8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BF39C-ED62-2D11-0F4C-739C2509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26EF5-B03A-255C-2AA0-0E0F94A1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803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D20D-092D-A734-2227-98DBAC15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B66FA-ED88-86AB-4998-A266CC8DA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BCE67-A9D1-C824-1A0C-4D0B2EEF1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F5106-4821-0BA4-2A24-5ACDA9815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F419F-06FF-BE02-F0F5-5279F1BC0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0294E-7236-2751-0FBB-8408E34B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FF2BE-B79E-CBEF-1F90-9BB0D58C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957DA-9932-5F90-3C6B-110E650F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296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B9A1-A865-C17A-18A1-8D9423F2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2FA0B-0456-19AB-C82E-85FAE831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35560-35B7-033F-8002-88AE8FBC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48C5D-7CDC-90A0-B7BE-0B413E51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596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CFCFB-D5E3-1EBB-0813-5525914B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7FED4-FD0E-4038-C245-9C42D33B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2338A-5F42-05CD-688E-6235921A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730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402A-1B0E-19F5-4F43-61DA5EF2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5FC5-D1B1-6B16-0C4A-D5B9C9DEC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356E4-A0AB-2182-EC2A-312898C84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A5BF0-567A-36EE-9770-251B1098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92492-1424-5EC0-7797-DCD14F90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B43C3-D0BE-17BE-258A-D2095F03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398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BD9E-3C35-7CE6-C397-02CAB9CE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81586-3DE7-1CED-A6FA-516F32DC9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83911-9CA4-91CC-A2D5-74E33EB36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B73AF-257F-4AB4-4438-B5F82E03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D3FD0-2C0F-2D84-53E7-202C71E3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82C7F-0CEB-AF03-1866-F3FAD42C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7213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5A0D-E1E8-F181-8213-2B452845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580F6-16D9-4C8A-4D3E-2C67E9F8A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FA7D0-F549-C4AD-CA87-A769E218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9DD54-320A-040C-9CEB-DB00F45E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B8D1B-8549-922B-2420-31F98FD7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379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5A027-C698-463D-495A-D7085AE74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5A546-1999-B8F8-7674-248D56D08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8244-F6AE-3BFA-0CD4-70293E6F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82EAB-7A87-22ED-E19C-E146064A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3936B-53D2-50CB-D565-BBC7F103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975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A41BD9-EA3F-C372-285F-0E39B54A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9B9AB-C7EC-E7BA-13DB-1B474E0B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6A62A-CFD7-80AA-9B44-CBD28EA44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2F609-7128-42D8-8672-4D6F16D38DEE}" type="datetimeFigureOut">
              <a:rPr lang="LID4096" smtClean="0"/>
              <a:t>10/14/2026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750B6-8239-FB0A-429F-C1C3D106C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FF734-DC96-1ACA-B5C3-248A9D54B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479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next.mesago.com/frankfurt/en/industry-insights/am-field-guide/process_in_general.html" TargetMode="Externa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LR-RY/VoFLibrary" TargetMode="Externa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037BCBA-444F-A065-9520-D96B0388A2B9}"/>
              </a:ext>
            </a:extLst>
          </p:cNvPr>
          <p:cNvCxnSpPr/>
          <p:nvPr/>
        </p:nvCxnSpPr>
        <p:spPr>
          <a:xfrm>
            <a:off x="567652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80FE23-DB89-9CAC-5DE4-80E598169ABA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1717DC-E08A-F153-F093-47FAB12A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53" t="1979" r="3871" b="55847"/>
          <a:stretch>
            <a:fillRect/>
          </a:stretch>
        </p:blipFill>
        <p:spPr>
          <a:xfrm>
            <a:off x="6331768" y="697116"/>
            <a:ext cx="4705992" cy="30691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64638C-E3C1-B05C-2A60-DC9970BE6F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44" t="52481"/>
          <a:stretch>
            <a:fillRect/>
          </a:stretch>
        </p:blipFill>
        <p:spPr>
          <a:xfrm>
            <a:off x="6578430" y="3880089"/>
            <a:ext cx="4332584" cy="2768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5E4821-3A2C-49A0-D61A-EF6CBAC77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0" t="1979" r="52120" b="55847"/>
          <a:stretch>
            <a:fillRect/>
          </a:stretch>
        </p:blipFill>
        <p:spPr>
          <a:xfrm>
            <a:off x="585177" y="697116"/>
            <a:ext cx="4704696" cy="30691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1418AD-8511-5108-6887-B0645A1BE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91" r="50044"/>
          <a:stretch>
            <a:fillRect/>
          </a:stretch>
        </p:blipFill>
        <p:spPr>
          <a:xfrm>
            <a:off x="707853" y="3905993"/>
            <a:ext cx="4332584" cy="275052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794F47-B59C-8DC5-E51E-9257C60CD17A}"/>
              </a:ext>
            </a:extLst>
          </p:cNvPr>
          <p:cNvSpPr/>
          <p:nvPr/>
        </p:nvSpPr>
        <p:spPr>
          <a:xfrm>
            <a:off x="784340" y="201481"/>
            <a:ext cx="3380256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LID4096" sz="2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Powder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Bed Fusion (PBF)</a:t>
            </a:r>
          </a:p>
        </p:txBody>
      </p:sp>
    </p:spTree>
    <p:extLst>
      <p:ext uri="{BB962C8B-B14F-4D97-AF65-F5344CB8AC3E}">
        <p14:creationId xmlns:p14="http://schemas.microsoft.com/office/powerpoint/2010/main" val="204689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47A7-35CA-C242-B76D-83DA96D6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FE7A7C-03EC-0F16-903D-BFF551759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30"/>
          <a:stretch>
            <a:fillRect/>
          </a:stretch>
        </p:blipFill>
        <p:spPr>
          <a:xfrm>
            <a:off x="8908610" y="4405154"/>
            <a:ext cx="2117835" cy="215012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EBB0BD-7342-CEEC-C6FC-434A548652F7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 -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B8D4F16C-1F71-CD67-F7B1-035A0F996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647" y="697120"/>
            <a:ext cx="4707798" cy="35308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9DBE22-0C4C-95E4-AABC-C64DD76A297F}"/>
              </a:ext>
            </a:extLst>
          </p:cNvPr>
          <p:cNvSpPr txBox="1"/>
          <p:nvPr/>
        </p:nvSpPr>
        <p:spPr>
          <a:xfrm>
            <a:off x="6318647" y="4522849"/>
            <a:ext cx="24541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srgbClr val="0000FF"/>
                </a:solidFill>
              </a:rPr>
              <a:t>Wire Arc  </a:t>
            </a:r>
          </a:p>
          <a:p>
            <a:pPr algn="ctr"/>
            <a:r>
              <a:rPr lang="en-GB" sz="3600" b="1" dirty="0">
                <a:solidFill>
                  <a:srgbClr val="0000FF"/>
                </a:solidFill>
              </a:rPr>
              <a:t>WAAM</a:t>
            </a:r>
          </a:p>
          <a:p>
            <a:pPr algn="ctr"/>
            <a:r>
              <a:rPr lang="en-GB" sz="3600" b="1" dirty="0">
                <a:solidFill>
                  <a:srgbClr val="0000FF"/>
                </a:solidFill>
              </a:rPr>
              <a:t>Wire DED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C6E52-701D-9A04-C61F-B318F5709B32}"/>
              </a:ext>
            </a:extLst>
          </p:cNvPr>
          <p:cNvSpPr txBox="1"/>
          <p:nvPr/>
        </p:nvSpPr>
        <p:spPr>
          <a:xfrm>
            <a:off x="6486810" y="6093611"/>
            <a:ext cx="21178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noProof="0" dirty="0"/>
              <a:t>Arco Voltaico</a:t>
            </a:r>
            <a:endParaRPr lang="pt-BR" sz="2400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0FDF19-A33C-136F-1A28-B6A70AF3043D}"/>
              </a:ext>
            </a:extLst>
          </p:cNvPr>
          <p:cNvGrpSpPr/>
          <p:nvPr/>
        </p:nvGrpSpPr>
        <p:grpSpPr>
          <a:xfrm>
            <a:off x="469242" y="1002614"/>
            <a:ext cx="5131267" cy="2769989"/>
            <a:chOff x="469242" y="658584"/>
            <a:chExt cx="5131267" cy="276998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51DC266-B0C6-7AD9-4BB8-8ADFB9064D9E}"/>
                </a:ext>
              </a:extLst>
            </p:cNvPr>
            <p:cNvSpPr/>
            <p:nvPr/>
          </p:nvSpPr>
          <p:spPr>
            <a:xfrm>
              <a:off x="3674384" y="769025"/>
              <a:ext cx="980423" cy="318411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r"/>
              <a:r>
                <a:rPr lang="en-US" sz="2400" b="1" dirty="0">
                  <a:latin typeface="Horley Old Style MT"/>
                </a:rPr>
                <a:t>EBM </a:t>
              </a:r>
              <a:endParaRPr lang="LID4096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E35006-F1A4-F82E-9FA6-576C303FC24C}"/>
                </a:ext>
              </a:extLst>
            </p:cNvPr>
            <p:cNvSpPr txBox="1"/>
            <p:nvPr/>
          </p:nvSpPr>
          <p:spPr>
            <a:xfrm>
              <a:off x="469242" y="658584"/>
              <a:ext cx="193744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u="sng" dirty="0">
                  <a:latin typeface="Horley Old Style MT"/>
                </a:rPr>
                <a:t>Electron Beam </a:t>
              </a:r>
              <a:r>
                <a:rPr lang="en-US" sz="2400" b="1" dirty="0">
                  <a:latin typeface="Horley Old Style MT"/>
                </a:rPr>
                <a:t>Melting</a:t>
              </a:r>
              <a:endParaRPr lang="LID4096" sz="2400" b="1" dirty="0">
                <a:latin typeface="Horley Old Style M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6E1CCE9-6D2A-0BD7-3430-CB907C3B0A37}"/>
                </a:ext>
              </a:extLst>
            </p:cNvPr>
            <p:cNvSpPr txBox="1"/>
            <p:nvPr/>
          </p:nvSpPr>
          <p:spPr>
            <a:xfrm>
              <a:off x="469242" y="1858913"/>
              <a:ext cx="5131267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b="1" u="none" strike="noStrike" dirty="0">
                  <a:effectLst/>
                  <a:latin typeface="Google Sans"/>
                </a:rPr>
                <a:t>Vat </a:t>
              </a:r>
              <a:r>
                <a:rPr lang="en-GB" sz="2400" b="1" u="sng" strike="noStrike" dirty="0">
                  <a:effectLst/>
                  <a:latin typeface="Google Sans"/>
                </a:rPr>
                <a:t>Photo</a:t>
              </a:r>
              <a:r>
                <a:rPr lang="en-GB" sz="2400" b="1" u="none" strike="noStrike" dirty="0">
                  <a:effectLst/>
                  <a:latin typeface="Google Sans"/>
                </a:rPr>
                <a:t>polymerization      VPP</a:t>
              </a:r>
              <a:r>
                <a:rPr lang="en-GB" sz="2400" b="1" dirty="0"/>
                <a:t> </a:t>
              </a:r>
            </a:p>
            <a:p>
              <a:r>
                <a:rPr lang="en-GB" sz="2400" b="1" u="sng" dirty="0">
                  <a:latin typeface="Google Sans"/>
                </a:rPr>
                <a:t>Binder</a:t>
              </a:r>
              <a:r>
                <a:rPr lang="en-GB" sz="2400" b="1" dirty="0">
                  <a:latin typeface="Google Sans"/>
                </a:rPr>
                <a:t> Jetting 	(glue)	            BJ</a:t>
              </a:r>
              <a:r>
                <a:rPr lang="en-GB" sz="2400" b="1" dirty="0"/>
                <a:t> </a:t>
              </a:r>
            </a:p>
            <a:p>
              <a:r>
                <a:rPr lang="en-GB" sz="2400" b="1" dirty="0"/>
                <a:t>Material Jetting 	            MJ</a:t>
              </a:r>
            </a:p>
            <a:p>
              <a:r>
                <a:rPr lang="en-US" sz="2400" b="1" dirty="0">
                  <a:latin typeface="Horley Old Style MT"/>
                </a:rPr>
                <a:t>Sheet Lamination (cut)          SHL</a:t>
              </a:r>
              <a:endParaRPr lang="LID4096" sz="2400" b="1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415A883-323F-D825-8070-C7FA0739707D}"/>
              </a:ext>
            </a:extLst>
          </p:cNvPr>
          <p:cNvSpPr txBox="1"/>
          <p:nvPr/>
        </p:nvSpPr>
        <p:spPr>
          <a:xfrm>
            <a:off x="613818" y="4276770"/>
            <a:ext cx="3661238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u="sng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Classificações A.M.:</a:t>
            </a:r>
          </a:p>
          <a:p>
            <a:endParaRPr lang="pt-BR" sz="1600" b="1" u="sng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Tx/>
              <a:buChar char="-"/>
            </a:pPr>
            <a:r>
              <a:rPr lang="pt-BR" sz="2400" dirty="0"/>
              <a:t>Por </a:t>
            </a:r>
            <a:r>
              <a:rPr lang="pt-BR" sz="2400" u="sng" dirty="0"/>
              <a:t>fonte de energia</a:t>
            </a:r>
          </a:p>
          <a:p>
            <a:pPr marL="342900" indent="-342900">
              <a:buFontTx/>
              <a:buChar char="-"/>
            </a:pPr>
            <a:endParaRPr lang="pt-BR" sz="900" dirty="0"/>
          </a:p>
          <a:p>
            <a:pPr marL="342900" indent="-342900">
              <a:buFontTx/>
              <a:buChar char="-"/>
            </a:pPr>
            <a:r>
              <a:rPr lang="pt-BR" sz="2400" noProof="0" dirty="0"/>
              <a:t>Por </a:t>
            </a:r>
            <a:r>
              <a:rPr lang="pt-BR" sz="2400" u="sng" noProof="0" dirty="0"/>
              <a:t>tipo de material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47E3A2-4DD7-7204-6E35-8ACDC72ADD98}"/>
              </a:ext>
            </a:extLst>
          </p:cNvPr>
          <p:cNvSpPr txBox="1"/>
          <p:nvPr/>
        </p:nvSpPr>
        <p:spPr>
          <a:xfrm>
            <a:off x="-1" y="6454949"/>
            <a:ext cx="552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0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r>
              <a:rPr lang="en-GB" dirty="0"/>
              <a:t>Modelling and simulation of metal additive manufacturing processes with particle methods: </a:t>
            </a:r>
            <a:r>
              <a:rPr lang="en-US" dirty="0"/>
              <a:t>A review https://doi.org/10.1080/17452759.2023.2274494</a:t>
            </a:r>
            <a:endParaRPr lang="LID4096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8CC822-50A7-BA08-8FEC-28D3FD8AAC40}"/>
              </a:ext>
            </a:extLst>
          </p:cNvPr>
          <p:cNvCxnSpPr/>
          <p:nvPr/>
        </p:nvCxnSpPr>
        <p:spPr>
          <a:xfrm>
            <a:off x="567652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6B5466-651A-4813-52DC-98E73BD34022}"/>
              </a:ext>
            </a:extLst>
          </p:cNvPr>
          <p:cNvSpPr/>
          <p:nvPr/>
        </p:nvSpPr>
        <p:spPr>
          <a:xfrm>
            <a:off x="784340" y="201481"/>
            <a:ext cx="3380256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Powder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Bed Fusion (PBF)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34A3A7-1340-B08A-9291-F6EE6511837A}"/>
              </a:ext>
            </a:extLst>
          </p:cNvPr>
          <p:cNvSpPr txBox="1"/>
          <p:nvPr/>
        </p:nvSpPr>
        <p:spPr>
          <a:xfrm>
            <a:off x="5647372" y="4706281"/>
            <a:ext cx="1206748" cy="46166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>
              <a:def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defRPr>
            </a:lvl1pPr>
          </a:lstStyle>
          <a:p>
            <a:pPr algn="ctr"/>
            <a:r>
              <a:rPr lang="LID4096" dirty="0"/>
              <a:t>GTAW</a:t>
            </a:r>
          </a:p>
        </p:txBody>
      </p:sp>
    </p:spTree>
    <p:extLst>
      <p:ext uri="{BB962C8B-B14F-4D97-AF65-F5344CB8AC3E}">
        <p14:creationId xmlns:p14="http://schemas.microsoft.com/office/powerpoint/2010/main" val="42662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38DA-AD81-0282-9C11-F23B1B58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51F313-CDCA-58BB-8BD2-FF282BB3FC95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 -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C70260-0027-6F19-2E23-7B17D61F94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7"/>
          <a:stretch>
            <a:fillRect/>
          </a:stretch>
        </p:blipFill>
        <p:spPr>
          <a:xfrm>
            <a:off x="6318648" y="697078"/>
            <a:ext cx="4707798" cy="35308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1E2041-643C-7461-CAB6-1FABB2F6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697078"/>
            <a:ext cx="5482503" cy="18002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49131F-7BC5-1788-F128-F560ABDEEE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77" r="53402" b="72066"/>
          <a:stretch>
            <a:fillRect/>
          </a:stretch>
        </p:blipFill>
        <p:spPr>
          <a:xfrm>
            <a:off x="4366517" y="3689352"/>
            <a:ext cx="1201540" cy="3778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4A704C-E8A1-A87D-AE5A-EAA60B8C5B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22" t="11952" r="3891" b="9751"/>
          <a:stretch>
            <a:fillRect/>
          </a:stretch>
        </p:blipFill>
        <p:spPr>
          <a:xfrm>
            <a:off x="309562" y="4605168"/>
            <a:ext cx="5482503" cy="1209675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7FA0806-70A3-4910-06CF-170AAEDF58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77" t="38368"/>
          <a:stretch>
            <a:fillRect/>
          </a:stretch>
        </p:blipFill>
        <p:spPr>
          <a:xfrm>
            <a:off x="1371736" y="3689352"/>
            <a:ext cx="2833384" cy="8336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24E538B-A9C6-7696-6587-F44F87DA13D0}"/>
              </a:ext>
            </a:extLst>
          </p:cNvPr>
          <p:cNvSpPr txBox="1"/>
          <p:nvPr/>
        </p:nvSpPr>
        <p:spPr>
          <a:xfrm>
            <a:off x="4386095" y="2669752"/>
            <a:ext cx="1814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LID4096" dirty="0"/>
              <a:t>new </a:t>
            </a:r>
            <a:r>
              <a:rPr lang="pt-BR" dirty="0"/>
              <a:t>(</a:t>
            </a:r>
            <a:r>
              <a:rPr lang="LID4096" dirty="0"/>
              <a:t>x</a:t>
            </a:r>
            <a:r>
              <a:rPr lang="pt-BR" dirty="0"/>
              <a:t>) </a:t>
            </a:r>
            <a:r>
              <a:rPr lang="LID4096" dirty="0"/>
              <a:t>coordinate system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9061413-9D3E-67F9-AA5E-5FB998882026}"/>
              </a:ext>
            </a:extLst>
          </p:cNvPr>
          <p:cNvGrpSpPr/>
          <p:nvPr/>
        </p:nvGrpSpPr>
        <p:grpSpPr>
          <a:xfrm>
            <a:off x="309562" y="2586206"/>
            <a:ext cx="4272499" cy="1050542"/>
            <a:chOff x="309562" y="2586206"/>
            <a:chExt cx="4272499" cy="105054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70DCF73-A2E1-5797-7CD7-A93E45481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9562" y="2586206"/>
              <a:ext cx="4272499" cy="101424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9EF701A-C34B-76DB-2B0D-E041B1D4143D}"/>
                </a:ext>
              </a:extLst>
            </p:cNvPr>
            <p:cNvSpPr txBox="1"/>
            <p:nvPr/>
          </p:nvSpPr>
          <p:spPr>
            <a:xfrm>
              <a:off x="2792488" y="3288197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Diffusion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EFEEA19-3E4A-5432-85F1-84C82AC62A8B}"/>
                </a:ext>
              </a:extLst>
            </p:cNvPr>
            <p:cNvSpPr txBox="1"/>
            <p:nvPr/>
          </p:nvSpPr>
          <p:spPr>
            <a:xfrm>
              <a:off x="1352933" y="3298194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Convection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10A54E0-5241-8461-3BAE-45E25250626C}"/>
              </a:ext>
            </a:extLst>
          </p:cNvPr>
          <p:cNvSpPr txBox="1"/>
          <p:nvPr/>
        </p:nvSpPr>
        <p:spPr>
          <a:xfrm>
            <a:off x="6318648" y="4522956"/>
            <a:ext cx="51748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    Heat conductivity</a:t>
            </a:r>
          </a:p>
          <a:p>
            <a:r>
              <a:rPr lang="en-GB" sz="2000" b="1" dirty="0"/>
              <a:t>R    Distance between the moving heat source </a:t>
            </a:r>
          </a:p>
          <a:p>
            <a:r>
              <a:rPr lang="en-GB" sz="2000" b="1" dirty="0"/>
              <a:t>       and point </a:t>
            </a:r>
            <a:r>
              <a:rPr lang="en-US" sz="2000" b="1" dirty="0"/>
              <a:t>of interest</a:t>
            </a:r>
          </a:p>
          <a:p>
            <a:r>
              <a:rPr lang="en-US" sz="2000" b="1" dirty="0"/>
              <a:t>c    Specific heat</a:t>
            </a:r>
            <a:endParaRPr lang="en-US" sz="2000" b="1" i="0" u="none" strike="noStrike" baseline="0" dirty="0">
              <a:solidFill>
                <a:srgbClr val="131413"/>
              </a:solidFill>
              <a:latin typeface="NywgqrAdvTT3713a231"/>
            </a:endParaRPr>
          </a:p>
          <a:p>
            <a:r>
              <a:rPr lang="en-US" sz="2000" b="1" i="0" u="none" strike="noStrike" baseline="0" dirty="0">
                <a:solidFill>
                  <a:srgbClr val="0000FF"/>
                </a:solidFill>
                <a:latin typeface="NywgqrAdvTT3713a231"/>
              </a:rPr>
              <a:t>v    Welding speed</a:t>
            </a:r>
          </a:p>
          <a:p>
            <a:r>
              <a:rPr lang="en-GB" sz="2000" b="1" dirty="0"/>
              <a:t>ξ    Moving coordinate parallel to the welding </a:t>
            </a:r>
          </a:p>
          <a:p>
            <a:r>
              <a:rPr lang="en-GB" sz="2000" b="1" dirty="0"/>
              <a:t>      trajectory</a:t>
            </a:r>
            <a:endParaRPr lang="LID4096" sz="2000" b="1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327AA450-EBB1-0E43-D94C-41FBC8B539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645" y="5897055"/>
            <a:ext cx="2400300" cy="7715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8D96BD0-77D9-B321-9870-DD6DB5FD7C00}"/>
              </a:ext>
            </a:extLst>
          </p:cNvPr>
          <p:cNvSpPr/>
          <p:nvPr/>
        </p:nvSpPr>
        <p:spPr>
          <a:xfrm>
            <a:off x="784339" y="201481"/>
            <a:ext cx="5018605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GB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 welding - </a:t>
            </a:r>
            <a:r>
              <a:rPr lang="en-GB" sz="32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analytical solution</a:t>
            </a:r>
            <a:endParaRPr lang="LID4096" sz="2400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00D3A7A-BB53-B84B-4C4B-9E98C46FA82D}"/>
              </a:ext>
            </a:extLst>
          </p:cNvPr>
          <p:cNvSpPr/>
          <p:nvPr/>
        </p:nvSpPr>
        <p:spPr>
          <a:xfrm>
            <a:off x="36700" y="26889"/>
            <a:ext cx="800100" cy="317431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01</a:t>
            </a:r>
            <a:endParaRPr lang="pt-BR" sz="1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25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9BBA-DD77-1E52-FBB7-D61941D6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D4D445-F5BB-D09D-A239-D5CD9383B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94" y="3846680"/>
            <a:ext cx="4941256" cy="29009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9D3651-4C86-DC7F-D8FA-3E4956568DDA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 -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1AABF47-842A-954E-6FAF-D0D832F517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2" t="2493" r="2462" b="7363"/>
          <a:stretch>
            <a:fillRect/>
          </a:stretch>
        </p:blipFill>
        <p:spPr>
          <a:xfrm>
            <a:off x="291706" y="697078"/>
            <a:ext cx="7661670" cy="433422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16D5B8-4C72-758D-883A-7F4B221F9B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592" t="9679" b="40870"/>
          <a:stretch>
            <a:fillRect/>
          </a:stretch>
        </p:blipFill>
        <p:spPr>
          <a:xfrm>
            <a:off x="8029305" y="697078"/>
            <a:ext cx="3915315" cy="174307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CD3B99-9019-1FF2-15D2-F9BEA0B6BF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639" t="3661" r="3662" b="74669"/>
          <a:stretch>
            <a:fillRect/>
          </a:stretch>
        </p:blipFill>
        <p:spPr>
          <a:xfrm>
            <a:off x="10117602" y="3935930"/>
            <a:ext cx="1820792" cy="123888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4B4011-DB36-3320-7851-E4E0A12D6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305" y="2507162"/>
            <a:ext cx="2225945" cy="12706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C1781B-E4FF-3C69-CF52-DEE891F79F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4" t="2494" r="69754" b="74167"/>
          <a:stretch>
            <a:fillRect/>
          </a:stretch>
        </p:blipFill>
        <p:spPr>
          <a:xfrm>
            <a:off x="291706" y="5102182"/>
            <a:ext cx="3365894" cy="164546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DF3887E-4CD8-7B66-0C30-6E26C46CEA90}"/>
              </a:ext>
            </a:extLst>
          </p:cNvPr>
          <p:cNvSpPr/>
          <p:nvPr/>
        </p:nvSpPr>
        <p:spPr>
          <a:xfrm>
            <a:off x="3657600" y="6416140"/>
            <a:ext cx="1095375" cy="318268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400" b="1" dirty="0">
                <a:latin typeface="Horley Old Style MT"/>
              </a:rPr>
              <a:t>Part 01</a:t>
            </a:r>
            <a:endParaRPr lang="LID4096" sz="2400" b="1" dirty="0">
              <a:latin typeface="Horley Old Style MT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92715E-490F-FFB4-AD13-192A34D32642}"/>
              </a:ext>
            </a:extLst>
          </p:cNvPr>
          <p:cNvSpPr/>
          <p:nvPr/>
        </p:nvSpPr>
        <p:spPr>
          <a:xfrm>
            <a:off x="36700" y="26889"/>
            <a:ext cx="800100" cy="317431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01</a:t>
            </a:r>
            <a:endParaRPr lang="pt-BR" sz="1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F93B32D-0090-DE0D-9E76-FCB6FA3DB95D}"/>
              </a:ext>
            </a:extLst>
          </p:cNvPr>
          <p:cNvSpPr/>
          <p:nvPr/>
        </p:nvSpPr>
        <p:spPr>
          <a:xfrm>
            <a:off x="784339" y="201481"/>
            <a:ext cx="5018605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GB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 welding - </a:t>
            </a:r>
            <a:r>
              <a:rPr lang="en-GB" sz="32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analytical solution</a:t>
            </a:r>
            <a:endParaRPr lang="LID4096" sz="2400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</p:spTree>
    <p:extLst>
      <p:ext uri="{BB962C8B-B14F-4D97-AF65-F5344CB8AC3E}">
        <p14:creationId xmlns:p14="http://schemas.microsoft.com/office/powerpoint/2010/main" val="170434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7E47-36F7-A14D-6D3D-105D701B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D908FF-5D68-F841-CD9B-684E1274EC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" t="2494" r="69754" b="74167"/>
          <a:stretch>
            <a:fillRect/>
          </a:stretch>
        </p:blipFill>
        <p:spPr>
          <a:xfrm>
            <a:off x="291706" y="5102182"/>
            <a:ext cx="3365894" cy="164546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09736-CF39-A5D8-B764-CA2C086D0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75" y="4949087"/>
            <a:ext cx="4033694" cy="10384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DA7D50B-C9B4-2452-B129-12632D37ECD8}"/>
              </a:ext>
            </a:extLst>
          </p:cNvPr>
          <p:cNvGrpSpPr>
            <a:grpSpLocks noChangeAspect="1"/>
          </p:cNvGrpSpPr>
          <p:nvPr/>
        </p:nvGrpSpPr>
        <p:grpSpPr>
          <a:xfrm>
            <a:off x="8192913" y="1763555"/>
            <a:ext cx="3279461" cy="1486255"/>
            <a:chOff x="8782077" y="4405112"/>
            <a:chExt cx="3020812" cy="1369035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15D8380C-F3FF-A0B3-4D46-48662A3B8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025" r="71901" b="49372"/>
            <a:stretch>
              <a:fillRect/>
            </a:stretch>
          </p:blipFill>
          <p:spPr>
            <a:xfrm>
              <a:off x="9836961" y="5118084"/>
              <a:ext cx="1965928" cy="65606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82DCF1E5-C5DA-46F3-BA72-AABE5CBEA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9408" t="24331" b="13075"/>
            <a:stretch>
              <a:fillRect/>
            </a:stretch>
          </p:blipFill>
          <p:spPr>
            <a:xfrm>
              <a:off x="8782077" y="4405112"/>
              <a:ext cx="3020812" cy="65606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04BD2D46-8A5F-898A-1862-BF818BA33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088" y="345741"/>
            <a:ext cx="7105650" cy="42386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50B6C8-A873-8277-E92E-88C86310AF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224" y="2975601"/>
            <a:ext cx="4204094" cy="727469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8" name="Arrow: Down 37">
            <a:extLst>
              <a:ext uri="{FF2B5EF4-FFF2-40B4-BE49-F238E27FC236}">
                <a16:creationId xmlns:a16="http://schemas.microsoft.com/office/drawing/2014/main" id="{FBE2870A-0F20-969A-6B35-01F63524C498}"/>
              </a:ext>
            </a:extLst>
          </p:cNvPr>
          <p:cNvSpPr/>
          <p:nvPr/>
        </p:nvSpPr>
        <p:spPr>
          <a:xfrm flipV="1">
            <a:off x="3921454" y="4186358"/>
            <a:ext cx="375094" cy="5097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6695ADC-18CD-4C20-3A03-0C1D80224B8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045" r="2663" b="10307"/>
          <a:stretch>
            <a:fillRect/>
          </a:stretch>
        </p:blipFill>
        <p:spPr>
          <a:xfrm>
            <a:off x="254699" y="1763555"/>
            <a:ext cx="2151549" cy="113013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8EB1409A-38A9-99B0-B624-CEDA9CF59A20}"/>
              </a:ext>
            </a:extLst>
          </p:cNvPr>
          <p:cNvGrpSpPr/>
          <p:nvPr/>
        </p:nvGrpSpPr>
        <p:grpSpPr>
          <a:xfrm>
            <a:off x="1619250" y="345742"/>
            <a:ext cx="2934953" cy="1721184"/>
            <a:chOff x="4640088" y="4679624"/>
            <a:chExt cx="3504545" cy="206801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C716D59-AA1A-8777-8F03-711FBBA25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0088" y="4679624"/>
              <a:ext cx="3504545" cy="206801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3" name="Arrow: Down 42">
              <a:extLst>
                <a:ext uri="{FF2B5EF4-FFF2-40B4-BE49-F238E27FC236}">
                  <a16:creationId xmlns:a16="http://schemas.microsoft.com/office/drawing/2014/main" id="{DBADA48D-F2F0-6C08-050D-392DC516A700}"/>
                </a:ext>
              </a:extLst>
            </p:cNvPr>
            <p:cNvSpPr/>
            <p:nvPr/>
          </p:nvSpPr>
          <p:spPr>
            <a:xfrm rot="14128485" flipV="1">
              <a:off x="7152231" y="5559541"/>
              <a:ext cx="375094" cy="50975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766A1B12-A203-0DC6-2A3E-3E3CB83FEE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706" y="3850176"/>
            <a:ext cx="4857750" cy="1104900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1F4DC11-8CBF-BADA-997B-252CF2FFC42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122" t="11952" r="3891" b="9751"/>
          <a:stretch>
            <a:fillRect/>
          </a:stretch>
        </p:blipFill>
        <p:spPr>
          <a:xfrm>
            <a:off x="3818674" y="5102182"/>
            <a:ext cx="3724926" cy="869993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1" name="Arrow: Down 50">
            <a:extLst>
              <a:ext uri="{FF2B5EF4-FFF2-40B4-BE49-F238E27FC236}">
                <a16:creationId xmlns:a16="http://schemas.microsoft.com/office/drawing/2014/main" id="{49ACE534-9D09-3D51-8B06-9A5349A856DE}"/>
              </a:ext>
            </a:extLst>
          </p:cNvPr>
          <p:cNvSpPr/>
          <p:nvPr/>
        </p:nvSpPr>
        <p:spPr>
          <a:xfrm rot="18105528" flipV="1">
            <a:off x="6098952" y="5789373"/>
            <a:ext cx="375094" cy="5097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4101EAB-05C3-0D3A-3E8C-874D69C869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3043" y="6097219"/>
            <a:ext cx="4505325" cy="5810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3B3247C-A186-71FB-2E21-FFB4C7F8625F}"/>
              </a:ext>
            </a:extLst>
          </p:cNvPr>
          <p:cNvSpPr/>
          <p:nvPr/>
        </p:nvSpPr>
        <p:spPr>
          <a:xfrm>
            <a:off x="3657600" y="6416140"/>
            <a:ext cx="1095375" cy="318268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400" b="1" dirty="0">
                <a:latin typeface="Horley Old Style MT"/>
              </a:rPr>
              <a:t>Part 02</a:t>
            </a:r>
            <a:endParaRPr lang="LID4096" sz="2400" b="1" dirty="0">
              <a:latin typeface="Horley Old Style MT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F373E41-65CE-DE4F-E74F-2F2AD8747D90}"/>
              </a:ext>
            </a:extLst>
          </p:cNvPr>
          <p:cNvSpPr/>
          <p:nvPr/>
        </p:nvSpPr>
        <p:spPr>
          <a:xfrm>
            <a:off x="36700" y="26889"/>
            <a:ext cx="800100" cy="317431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01</a:t>
            </a:r>
            <a:endParaRPr lang="pt-BR" sz="1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80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D7C6-1070-493C-97A4-ED36F19A5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4C63B4-86F3-FAD4-1D4A-33FB61244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767" y="2647951"/>
            <a:ext cx="4242884" cy="403383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94A07B-C0D1-01D2-2783-470B61516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264" y="176212"/>
            <a:ext cx="3304679" cy="19669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BCD0352-22EB-CECE-4C30-9724AEB85956}"/>
              </a:ext>
            </a:extLst>
          </p:cNvPr>
          <p:cNvGrpSpPr/>
          <p:nvPr/>
        </p:nvGrpSpPr>
        <p:grpSpPr>
          <a:xfrm>
            <a:off x="585349" y="578910"/>
            <a:ext cx="6570775" cy="5700180"/>
            <a:chOff x="380573" y="176212"/>
            <a:chExt cx="6570775" cy="57001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74C124-5008-5EA7-84B3-A99B5ABC4CE1}"/>
                </a:ext>
              </a:extLst>
            </p:cNvPr>
            <p:cNvSpPr/>
            <p:nvPr/>
          </p:nvSpPr>
          <p:spPr>
            <a:xfrm>
              <a:off x="3026969" y="5241530"/>
              <a:ext cx="3829129" cy="634862"/>
            </a:xfrm>
            <a:prstGeom prst="roundRect">
              <a:avLst/>
            </a:prstGeom>
            <a:noFill/>
          </p:spPr>
          <p:txBody>
            <a:bodyPr wrap="square" lIns="0" tIns="0" rIns="0" bIns="0" anchor="t" anchorCtr="0">
              <a:noAutofit/>
            </a:bodyPr>
            <a:lstStyle/>
            <a:p>
              <a:pPr algn="r"/>
              <a:r>
                <a:rPr lang="pt-BR" sz="3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Termopar 01 a 08 </a:t>
              </a:r>
              <a:endParaRPr lang="pt-BR" sz="3200" noProof="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C2FCBB5-0311-E366-3836-B3B9AA5A3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0573" y="176212"/>
              <a:ext cx="6570775" cy="494823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59914FAA-3899-D0F2-3BFE-3482B28FA74E}"/>
                </a:ext>
              </a:extLst>
            </p:cNvPr>
            <p:cNvSpPr/>
            <p:nvPr/>
          </p:nvSpPr>
          <p:spPr>
            <a:xfrm rot="18105528" flipV="1">
              <a:off x="6448371" y="3467742"/>
              <a:ext cx="375094" cy="50975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1FC41EDB-B16B-BF8E-F977-3D7F5D22E3DD}"/>
                </a:ext>
              </a:extLst>
            </p:cNvPr>
            <p:cNvSpPr/>
            <p:nvPr/>
          </p:nvSpPr>
          <p:spPr>
            <a:xfrm rot="18105528" flipV="1">
              <a:off x="6038797" y="4315466"/>
              <a:ext cx="375094" cy="50975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45920A-C33A-8FC4-81A8-81D7B93EDC35}"/>
              </a:ext>
            </a:extLst>
          </p:cNvPr>
          <p:cNvSpPr/>
          <p:nvPr/>
        </p:nvSpPr>
        <p:spPr>
          <a:xfrm>
            <a:off x="36700" y="26889"/>
            <a:ext cx="800100" cy="317431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01</a:t>
            </a:r>
            <a:endParaRPr lang="pt-BR" sz="1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68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DF4E0-5D6C-B8C8-041A-DE6633FC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EE064A5-8F7C-19C4-3433-7FA8C1048AA1}"/>
              </a:ext>
            </a:extLst>
          </p:cNvPr>
          <p:cNvSpPr/>
          <p:nvPr/>
        </p:nvSpPr>
        <p:spPr>
          <a:xfrm>
            <a:off x="7796814" y="317105"/>
            <a:ext cx="3829129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é um modelo?</a:t>
            </a:r>
          </a:p>
          <a:p>
            <a:pPr algn="r"/>
            <a:r>
              <a:rPr lang="pt-BR" sz="32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Analítico</a:t>
            </a:r>
          </a:p>
          <a:p>
            <a:pPr algn="r"/>
            <a:r>
              <a:rPr lang="pt-B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Numérico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B785D-C5A4-33BC-3DF3-6F2B57A72606}"/>
              </a:ext>
            </a:extLst>
          </p:cNvPr>
          <p:cNvSpPr txBox="1"/>
          <p:nvPr/>
        </p:nvSpPr>
        <p:spPr>
          <a:xfrm>
            <a:off x="408691" y="285954"/>
            <a:ext cx="3829128" cy="190821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===========                 </a:t>
            </a:r>
          </a:p>
          <a:p>
            <a:r>
              <a:rPr lang="en-US" dirty="0">
                <a:solidFill>
                  <a:schemeClr val="bg1"/>
                </a:solidFill>
              </a:rPr>
              <a:t>     \ \               /     </a:t>
            </a:r>
            <a:r>
              <a:rPr lang="en-US" sz="2400" b="1" dirty="0">
                <a:solidFill>
                  <a:srgbClr val="FFFF00"/>
                </a:solidFill>
              </a:rPr>
              <a:t>F</a:t>
            </a:r>
            <a:r>
              <a:rPr lang="en-US" sz="2000" dirty="0">
                <a:solidFill>
                  <a:schemeClr val="bg1"/>
                </a:solidFill>
              </a:rPr>
              <a:t>   ield             </a:t>
            </a:r>
          </a:p>
          <a:p>
            <a:r>
              <a:rPr lang="en-US" sz="2000" dirty="0">
                <a:solidFill>
                  <a:schemeClr val="bg1"/>
                </a:solidFill>
              </a:rPr>
              <a:t>      \ \          /      </a:t>
            </a:r>
            <a:r>
              <a:rPr lang="en-US" sz="2400" b="1" dirty="0">
                <a:solidFill>
                  <a:srgbClr val="FFFF00"/>
                </a:solidFill>
              </a:rPr>
              <a:t>O</a:t>
            </a:r>
            <a:r>
              <a:rPr lang="en-US" sz="2000" dirty="0">
                <a:solidFill>
                  <a:schemeClr val="bg1"/>
                </a:solidFill>
              </a:rPr>
              <a:t>  peration    </a:t>
            </a:r>
          </a:p>
          <a:p>
            <a:r>
              <a:rPr lang="en-US" sz="2000" dirty="0">
                <a:solidFill>
                  <a:schemeClr val="bg1"/>
                </a:solidFill>
              </a:rPr>
              <a:t>        \ \      /        </a:t>
            </a:r>
            <a:r>
              <a:rPr lang="en-US" sz="2400" b="1" dirty="0">
                <a:solidFill>
                  <a:srgbClr val="FFFF00"/>
                </a:solidFill>
              </a:rPr>
              <a:t>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nd          </a:t>
            </a:r>
          </a:p>
          <a:p>
            <a:r>
              <a:rPr lang="en-US" sz="2000" dirty="0">
                <a:solidFill>
                  <a:schemeClr val="bg1"/>
                </a:solidFill>
              </a:rPr>
              <a:t>          \ \  /          </a:t>
            </a:r>
            <a:r>
              <a:rPr lang="en-US" sz="2400" b="1" dirty="0">
                <a:solidFill>
                  <a:srgbClr val="FFFF00"/>
                </a:solidFill>
              </a:rPr>
              <a:t>M</a:t>
            </a:r>
            <a:r>
              <a:rPr lang="en-US" sz="2000" dirty="0">
                <a:solidFill>
                  <a:schemeClr val="bg1"/>
                </a:solidFill>
              </a:rPr>
              <a:t> anipulation 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EF483-E3F0-BCCF-0DA3-BE6CE9CB959B}"/>
              </a:ext>
            </a:extLst>
          </p:cNvPr>
          <p:cNvSpPr txBox="1"/>
          <p:nvPr/>
        </p:nvSpPr>
        <p:spPr>
          <a:xfrm>
            <a:off x="3012792" y="285954"/>
            <a:ext cx="1212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8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Open</a:t>
            </a:r>
            <a:endParaRPr lang="LID4096" sz="2800" b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ADF26C-9044-D213-A31A-518B92D2A5BE}"/>
              </a:ext>
            </a:extLst>
          </p:cNvPr>
          <p:cNvGrpSpPr>
            <a:grpSpLocks noChangeAspect="1"/>
          </p:cNvGrpSpPr>
          <p:nvPr/>
        </p:nvGrpSpPr>
        <p:grpSpPr>
          <a:xfrm>
            <a:off x="408691" y="3141920"/>
            <a:ext cx="6590093" cy="3430127"/>
            <a:chOff x="408691" y="3141920"/>
            <a:chExt cx="6590093" cy="343012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59BBE4F-CC39-3E71-97E0-BD4BE69C92B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74561" y="3141920"/>
              <a:ext cx="4224223" cy="3430125"/>
              <a:chOff x="721956" y="-1590900"/>
              <a:chExt cx="3541734" cy="269702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C51FFCD-40F0-DF54-2947-0176C830CF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1956" y="-203918"/>
                <a:ext cx="3541734" cy="131004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6D0661E-A141-28F2-99B5-7E556EC1C4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3397" t="17008" b="16438"/>
              <a:stretch>
                <a:fillRect/>
              </a:stretch>
            </p:blipFill>
            <p:spPr>
              <a:xfrm>
                <a:off x="721956" y="-1590900"/>
                <a:ext cx="1864821" cy="131004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4311884-F619-3493-AF66-3A470CE6B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8691" y="3141921"/>
              <a:ext cx="2262777" cy="343012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429370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2378646D-4E92-EA17-AB94-8E5ACEB2D355}"/>
              </a:ext>
            </a:extLst>
          </p:cNvPr>
          <p:cNvSpPr txBox="1"/>
          <p:nvPr/>
        </p:nvSpPr>
        <p:spPr>
          <a:xfrm>
            <a:off x="892489" y="874454"/>
            <a:ext cx="609442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</a:t>
            </a:r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A.M.</a:t>
            </a:r>
          </a:p>
          <a:p>
            <a:endParaRPr lang="LID4096" sz="900" b="1" dirty="0"/>
          </a:p>
          <a:p>
            <a:pPr>
              <a:spcAft>
                <a:spcPts val="600"/>
              </a:spcAft>
            </a:pPr>
            <a:r>
              <a:rPr lang="pt-BR" sz="2400" dirty="0"/>
              <a:t>1- </a:t>
            </a:r>
            <a:r>
              <a:rPr lang="LID4096" sz="2400" dirty="0"/>
              <a:t>Orientação </a:t>
            </a:r>
            <a:r>
              <a:rPr lang="pt-BR" sz="2400" dirty="0"/>
              <a:t>– intensidade</a:t>
            </a:r>
            <a:endParaRPr lang="LID4096" sz="2400" dirty="0"/>
          </a:p>
          <a:p>
            <a:pPr>
              <a:spcAft>
                <a:spcPts val="600"/>
              </a:spcAft>
            </a:pPr>
            <a:r>
              <a:rPr lang="pt-BR" sz="2400" b="1" u="sng" dirty="0"/>
              <a:t>2- D</a:t>
            </a:r>
            <a:r>
              <a:rPr lang="LID4096" sz="2400" b="1" u="sng" dirty="0"/>
              <a:t>escontínuidades</a:t>
            </a:r>
            <a:r>
              <a:rPr lang="pt-BR" sz="2400" b="1" u="sng" dirty="0"/>
              <a:t> 	(</a:t>
            </a:r>
            <a:r>
              <a:rPr lang="LID4096" sz="2400" b="1" i="1" u="sng" dirty="0"/>
              <a:t>balling</a:t>
            </a:r>
            <a:r>
              <a:rPr lang="pt-BR" sz="2400" b="1" u="sng" dirty="0"/>
              <a:t>)</a:t>
            </a:r>
            <a:endParaRPr lang="LID4096" sz="2400" b="1" u="sng" dirty="0"/>
          </a:p>
          <a:p>
            <a:pPr>
              <a:spcAft>
                <a:spcPts val="600"/>
              </a:spcAft>
            </a:pPr>
            <a:r>
              <a:rPr lang="pt-BR" sz="2400" dirty="0"/>
              <a:t>3- </a:t>
            </a:r>
            <a:r>
              <a:rPr lang="LID4096" sz="2400" dirty="0"/>
              <a:t>Keyholes (espaços vazios - vapor)</a:t>
            </a:r>
          </a:p>
          <a:p>
            <a:pPr>
              <a:spcAft>
                <a:spcPts val="600"/>
              </a:spcAft>
            </a:pPr>
            <a:r>
              <a:rPr lang="pt-BR" sz="2400" dirty="0"/>
              <a:t>4- </a:t>
            </a:r>
            <a:r>
              <a:rPr lang="LID4096" sz="2400" dirty="0"/>
              <a:t>Degradação química e oxidação</a:t>
            </a:r>
            <a:endParaRPr lang="pt-BR" sz="2400" dirty="0"/>
          </a:p>
          <a:p>
            <a:pPr>
              <a:spcAft>
                <a:spcPts val="600"/>
              </a:spcAft>
            </a:pPr>
            <a:r>
              <a:rPr lang="pt-BR" sz="2400" b="1" u="sng" dirty="0"/>
              <a:t>5- </a:t>
            </a:r>
            <a:r>
              <a:rPr lang="LID4096" sz="2400" b="1" u="sng" dirty="0"/>
              <a:t>Partículas residuais</a:t>
            </a:r>
          </a:p>
          <a:p>
            <a:pPr>
              <a:spcAft>
                <a:spcPts val="600"/>
              </a:spcAft>
            </a:pPr>
            <a:r>
              <a:rPr lang="pt-BR" sz="2400" b="1" u="sng" dirty="0"/>
              <a:t>6- </a:t>
            </a:r>
            <a:r>
              <a:rPr lang="LID4096" sz="2400" b="1" u="sng" dirty="0"/>
              <a:t>Trincas</a:t>
            </a:r>
          </a:p>
          <a:p>
            <a:pPr>
              <a:spcAft>
                <a:spcPts val="600"/>
              </a:spcAft>
            </a:pPr>
            <a:r>
              <a:rPr lang="pt-BR" sz="2400" dirty="0"/>
              <a:t>7- </a:t>
            </a:r>
            <a:r>
              <a:rPr lang="LID4096" sz="2400" dirty="0"/>
              <a:t>Delaminação</a:t>
            </a:r>
            <a:r>
              <a:rPr lang="pt-BR" sz="2400" dirty="0"/>
              <a:t> / </a:t>
            </a:r>
            <a:r>
              <a:rPr lang="LID4096" sz="2400" dirty="0"/>
              <a:t>Distorção</a:t>
            </a:r>
          </a:p>
          <a:p>
            <a:pPr>
              <a:spcAft>
                <a:spcPts val="600"/>
              </a:spcAft>
            </a:pPr>
            <a:r>
              <a:rPr lang="pt-BR" sz="2400" dirty="0"/>
              <a:t>8- </a:t>
            </a:r>
            <a:r>
              <a:rPr lang="LID4096" sz="2400" dirty="0"/>
              <a:t>Acabamento superficial</a:t>
            </a:r>
          </a:p>
          <a:p>
            <a:pPr>
              <a:spcAft>
                <a:spcPts val="600"/>
              </a:spcAft>
            </a:pPr>
            <a:r>
              <a:rPr lang="pt-BR" sz="2400" b="1" u="sng" dirty="0"/>
              <a:t>9- </a:t>
            </a:r>
            <a:r>
              <a:rPr lang="LID4096" sz="2400" b="1" u="sng" dirty="0"/>
              <a:t>Porosidade</a:t>
            </a:r>
          </a:p>
          <a:p>
            <a:pPr>
              <a:spcAft>
                <a:spcPts val="600"/>
              </a:spcAft>
            </a:pPr>
            <a:endParaRPr lang="LID4096" sz="24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4802523-39A9-93CD-3D5D-F72290DAC1F3}"/>
              </a:ext>
            </a:extLst>
          </p:cNvPr>
          <p:cNvSpPr/>
          <p:nvPr/>
        </p:nvSpPr>
        <p:spPr>
          <a:xfrm>
            <a:off x="6986917" y="1109588"/>
            <a:ext cx="3739128" cy="3626024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1100" b="1" noProof="0" dirty="0">
                <a:latin typeface="Calibri (Body)"/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pt-BR" sz="3200" b="1" noProof="0" dirty="0">
                <a:solidFill>
                  <a:srgbClr val="0000FF"/>
                </a:solidFill>
                <a:latin typeface="Calibri (Body)"/>
              </a:rPr>
              <a:t>Racionalizar o problema</a:t>
            </a:r>
          </a:p>
          <a:p>
            <a:pPr marL="457200" indent="-457200">
              <a:buFontTx/>
              <a:buChar char="-"/>
            </a:pPr>
            <a:r>
              <a:rPr lang="pt-BR" sz="3200" dirty="0">
                <a:solidFill>
                  <a:srgbClr val="FF0000"/>
                </a:solidFill>
                <a:latin typeface="Calibri (Body)"/>
              </a:rPr>
              <a:t>Controlar o processo de fabricação</a:t>
            </a:r>
            <a:endParaRPr lang="pt-BR" sz="3200" noProof="0" dirty="0">
              <a:solidFill>
                <a:srgbClr val="FF0000"/>
              </a:solidFill>
              <a:latin typeface="Calibri (Body)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F34C84-B521-4465-5ABE-19053F4AEFEF}"/>
              </a:ext>
            </a:extLst>
          </p:cNvPr>
          <p:cNvSpPr txBox="1"/>
          <p:nvPr/>
        </p:nvSpPr>
        <p:spPr>
          <a:xfrm>
            <a:off x="9936481" y="6686377"/>
            <a:ext cx="228875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LID4096" sz="500" dirty="0">
                <a:solidFill>
                  <a:srgbClr val="FF0000"/>
                </a:solidFill>
              </a:rPr>
              <a:t>Aula 3 - ED_Deposicao_por_energia_direcionada___e___p86__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126066-2354-2130-32C5-10AC28739FB2}"/>
              </a:ext>
            </a:extLst>
          </p:cNvPr>
          <p:cNvSpPr txBox="1"/>
          <p:nvPr/>
        </p:nvSpPr>
        <p:spPr>
          <a:xfrm>
            <a:off x="6602088" y="4368510"/>
            <a:ext cx="38917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Grande quantidade de variáveis !</a:t>
            </a:r>
            <a:endParaRPr lang="LID4096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CDE9C45-8EE6-07C3-97F7-7DF495D5B300}"/>
              </a:ext>
            </a:extLst>
          </p:cNvPr>
          <p:cNvSpPr/>
          <p:nvPr/>
        </p:nvSpPr>
        <p:spPr>
          <a:xfrm>
            <a:off x="7796814" y="317105"/>
            <a:ext cx="3829129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que modelar?</a:t>
            </a:r>
          </a:p>
        </p:txBody>
      </p:sp>
    </p:spTree>
    <p:extLst>
      <p:ext uri="{BB962C8B-B14F-4D97-AF65-F5344CB8AC3E}">
        <p14:creationId xmlns:p14="http://schemas.microsoft.com/office/powerpoint/2010/main" val="2906226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01A74-F5A5-16F0-F1BF-66E37219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Development phase">
            <a:extLst>
              <a:ext uri="{FF2B5EF4-FFF2-40B4-BE49-F238E27FC236}">
                <a16:creationId xmlns:a16="http://schemas.microsoft.com/office/drawing/2014/main" id="{14D74540-E379-CFE4-7D31-130239E683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4" r="37082" b="29005"/>
          <a:stretch>
            <a:fillRect/>
          </a:stretch>
        </p:blipFill>
        <p:spPr bwMode="auto">
          <a:xfrm>
            <a:off x="393544" y="315915"/>
            <a:ext cx="5851492" cy="27759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F2CD72-C7D1-A28B-A201-E4BC34BF78B4}"/>
              </a:ext>
            </a:extLst>
          </p:cNvPr>
          <p:cNvSpPr txBox="1"/>
          <p:nvPr/>
        </p:nvSpPr>
        <p:spPr>
          <a:xfrm>
            <a:off x="5669568" y="6734889"/>
            <a:ext cx="6522432" cy="123111"/>
          </a:xfrm>
          <a:prstGeom prst="rect">
            <a:avLst/>
          </a:prstGeom>
          <a:noFill/>
        </p:spPr>
        <p:txBody>
          <a:bodyPr wrap="square" lIns="0" tIns="0" rIns="0" bIns="0" anchor="b" anchorCtr="0">
            <a:noAutofit/>
          </a:bodyPr>
          <a:lstStyle/>
          <a:p>
            <a:pPr algn="r"/>
            <a:r>
              <a:rPr lang="LID4096" sz="800" dirty="0">
                <a:hlinkClick r:id="rId3"/>
              </a:rPr>
              <a:t>https://formnext.mesago.com/frankfurt/en/industry-insights/am-field-guide/process_in_general.html</a:t>
            </a:r>
            <a:endParaRPr lang="LID4096" sz="8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93643FC-C13D-2DCF-C53B-CE201BB988FF}"/>
              </a:ext>
            </a:extLst>
          </p:cNvPr>
          <p:cNvGrpSpPr/>
          <p:nvPr/>
        </p:nvGrpSpPr>
        <p:grpSpPr>
          <a:xfrm>
            <a:off x="333332" y="3644329"/>
            <a:ext cx="4367732" cy="2705302"/>
            <a:chOff x="434246" y="3370024"/>
            <a:chExt cx="4367732" cy="270530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226F45-96C5-5790-AA40-656947B1114D}"/>
                </a:ext>
              </a:extLst>
            </p:cNvPr>
            <p:cNvSpPr txBox="1"/>
            <p:nvPr/>
          </p:nvSpPr>
          <p:spPr>
            <a:xfrm>
              <a:off x="434246" y="4907442"/>
              <a:ext cx="2180776" cy="1167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b="1" u="sng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CAM</a:t>
              </a: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</a:p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Computer-Aided Manufacturing</a:t>
              </a:r>
              <a:endPara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2C074CF-8F7A-5F3A-6BF1-C90ED073E49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8438" y="3370024"/>
              <a:ext cx="4053540" cy="2559167"/>
              <a:chOff x="182831" y="3131184"/>
              <a:chExt cx="3789317" cy="2392353"/>
            </a:xfrm>
          </p:grpSpPr>
          <p:pic>
            <p:nvPicPr>
              <p:cNvPr id="21" name="Picture 2" descr="Development phase">
                <a:extLst>
                  <a:ext uri="{FF2B5EF4-FFF2-40B4-BE49-F238E27FC236}">
                    <a16:creationId xmlns:a16="http://schemas.microsoft.com/office/drawing/2014/main" id="{086B03E6-F34E-1145-3D09-B0CE1E95E3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797" t="23507" r="7142" b="28567"/>
              <a:stretch>
                <a:fillRect/>
              </a:stretch>
            </p:blipFill>
            <p:spPr bwMode="auto">
              <a:xfrm>
                <a:off x="182831" y="3131184"/>
                <a:ext cx="1451202" cy="122056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4" descr="AM production phase">
                <a:extLst>
                  <a:ext uri="{FF2B5EF4-FFF2-40B4-BE49-F238E27FC236}">
                    <a16:creationId xmlns:a16="http://schemas.microsoft.com/office/drawing/2014/main" id="{7B2EC496-F5F2-A9D6-BCB3-5E9621F219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819" t="18312" r="40994" b="24811"/>
              <a:stretch>
                <a:fillRect/>
              </a:stretch>
            </p:blipFill>
            <p:spPr bwMode="auto">
              <a:xfrm>
                <a:off x="2089196" y="3131184"/>
                <a:ext cx="1882952" cy="23923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3CA16F-7AC3-758D-A398-DE541F6AAC38}"/>
              </a:ext>
            </a:extLst>
          </p:cNvPr>
          <p:cNvGrpSpPr/>
          <p:nvPr/>
        </p:nvGrpSpPr>
        <p:grpSpPr>
          <a:xfrm>
            <a:off x="6574343" y="963500"/>
            <a:ext cx="5304147" cy="2143912"/>
            <a:chOff x="6763177" y="796305"/>
            <a:chExt cx="5304147" cy="214391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EBFE5E-1B50-4B85-6981-545C9D574D42}"/>
                </a:ext>
              </a:extLst>
            </p:cNvPr>
            <p:cNvSpPr txBox="1"/>
            <p:nvPr/>
          </p:nvSpPr>
          <p:spPr>
            <a:xfrm>
              <a:off x="6763177" y="796305"/>
              <a:ext cx="4005035" cy="10670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GB" sz="2400" b="1" u="sng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CAD</a:t>
              </a: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(Computer-Aided Design)</a:t>
              </a:r>
              <a:r>
                <a: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shapes </a:t>
              </a:r>
              <a:r>
                <a:rPr lang="en-GB" kern="100" dirty="0">
                  <a:solidFill>
                    <a:srgbClr val="EE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- parametric 3D models (length, width, angles + Rules + History Tree)</a:t>
              </a:r>
              <a:endPara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577DA59-FD78-1502-E621-7079958E1B61}"/>
                </a:ext>
              </a:extLst>
            </p:cNvPr>
            <p:cNvSpPr txBox="1"/>
            <p:nvPr/>
          </p:nvSpPr>
          <p:spPr>
            <a:xfrm>
              <a:off x="6763177" y="1874925"/>
              <a:ext cx="5304147" cy="10652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b="1" u="sng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CAE</a:t>
              </a: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(Computer-Aided Engineering)</a:t>
              </a:r>
              <a:r>
                <a: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GB" kern="1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– </a:t>
              </a:r>
              <a:r>
                <a:rPr lang="en-GB" kern="100" dirty="0">
                  <a:latin typeface="Calibri" panose="020F0502020204030204" pitchFamily="34" charset="0"/>
                  <a:cs typeface="Arial" panose="020B0604020202020204" pitchFamily="34" charset="0"/>
                </a:rPr>
                <a:t>data harvesting </a:t>
              </a:r>
              <a:r>
                <a:rPr lang="en-GB" kern="100" dirty="0">
                  <a:solidFill>
                    <a:srgbClr val="0000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- structural stresses, deformations, </a:t>
              </a:r>
              <a:r>
                <a:rPr lang="en-GB" kern="100" dirty="0">
                  <a:solidFill>
                    <a:srgbClr val="0000FF"/>
                  </a:solidFill>
                  <a:latin typeface="Calibri" panose="020F0502020204030204" pitchFamily="34" charset="0"/>
                  <a:cs typeface="Arial" panose="020B0604020202020204" pitchFamily="34" charset="0"/>
                </a:rPr>
                <a:t>displacement, </a:t>
              </a:r>
              <a:r>
                <a:rPr lang="en-GB" kern="100" dirty="0">
                  <a:solidFill>
                    <a:srgbClr val="0000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and failures – </a:t>
              </a:r>
              <a:r>
                <a:rPr lang="en-GB" b="1" kern="100" dirty="0">
                  <a:solidFill>
                    <a:srgbClr val="0000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FEA - CFD</a:t>
              </a:r>
              <a:endPara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" name="Picture 2" descr="Development phase">
              <a:extLst>
                <a:ext uri="{FF2B5EF4-FFF2-40B4-BE49-F238E27FC236}">
                  <a16:creationId xmlns:a16="http://schemas.microsoft.com/office/drawing/2014/main" id="{1F419332-9E0B-3D4F-FD43-722D617EAB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81" t="38669" r="65218" b="48355"/>
            <a:stretch>
              <a:fillRect/>
            </a:stretch>
          </p:blipFill>
          <p:spPr bwMode="auto">
            <a:xfrm>
              <a:off x="10768212" y="1114044"/>
              <a:ext cx="962796" cy="9627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545CA32-B555-00D8-C431-C7D7060516EB}"/>
              </a:ext>
            </a:extLst>
          </p:cNvPr>
          <p:cNvGrpSpPr/>
          <p:nvPr/>
        </p:nvGrpSpPr>
        <p:grpSpPr>
          <a:xfrm>
            <a:off x="5735426" y="5706256"/>
            <a:ext cx="5682866" cy="656087"/>
            <a:chOff x="5591803" y="5690247"/>
            <a:chExt cx="5682866" cy="65608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E8F990-D7E2-4864-AC68-D0069658B8A4}"/>
                </a:ext>
              </a:extLst>
            </p:cNvPr>
            <p:cNvSpPr txBox="1"/>
            <p:nvPr/>
          </p:nvSpPr>
          <p:spPr>
            <a:xfrm>
              <a:off x="5591803" y="5690247"/>
              <a:ext cx="18538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b="1" noProof="0" dirty="0"/>
                <a:t>Pós Processamento</a:t>
              </a:r>
              <a:endParaRPr lang="pt-BR" noProof="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2FE72C2-4D8E-82EB-10F4-F6EEF285DD8E}"/>
                </a:ext>
              </a:extLst>
            </p:cNvPr>
            <p:cNvSpPr txBox="1"/>
            <p:nvPr/>
          </p:nvSpPr>
          <p:spPr>
            <a:xfrm>
              <a:off x="8390919" y="5700003"/>
              <a:ext cx="28837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b="1" noProof="0" dirty="0"/>
                <a:t>Testes, Medições </a:t>
              </a:r>
            </a:p>
            <a:p>
              <a:r>
                <a:rPr lang="pt-BR" b="1" noProof="0" dirty="0"/>
                <a:t>&amp; controle de qualidade</a:t>
              </a:r>
              <a:endParaRPr lang="pt-BR" noProof="0" dirty="0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52C720-64B6-BF56-5FCE-1E9507F4538D}"/>
              </a:ext>
            </a:extLst>
          </p:cNvPr>
          <p:cNvCxnSpPr>
            <a:cxnSpLocks/>
          </p:cNvCxnSpPr>
          <p:nvPr/>
        </p:nvCxnSpPr>
        <p:spPr>
          <a:xfrm>
            <a:off x="5110467" y="3553097"/>
            <a:ext cx="0" cy="2781029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EC38D7A-B395-A54D-499A-69264F12F803}"/>
              </a:ext>
            </a:extLst>
          </p:cNvPr>
          <p:cNvCxnSpPr>
            <a:cxnSpLocks/>
          </p:cNvCxnSpPr>
          <p:nvPr/>
        </p:nvCxnSpPr>
        <p:spPr>
          <a:xfrm flipH="1">
            <a:off x="513806" y="3429000"/>
            <a:ext cx="1093487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6" descr="Post-processing phase">
            <a:extLst>
              <a:ext uri="{FF2B5EF4-FFF2-40B4-BE49-F238E27FC236}">
                <a16:creationId xmlns:a16="http://schemas.microsoft.com/office/drawing/2014/main" id="{61DC19E1-F7C6-0430-4B2C-A59B1C8B11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43" r="8917" b="31349"/>
          <a:stretch>
            <a:fillRect/>
          </a:stretch>
        </p:blipFill>
        <p:spPr bwMode="auto">
          <a:xfrm>
            <a:off x="5536053" y="3644329"/>
            <a:ext cx="6081613" cy="19312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39894B7-E229-5711-B9E9-38F156B4385C}"/>
              </a:ext>
            </a:extLst>
          </p:cNvPr>
          <p:cNvSpPr/>
          <p:nvPr/>
        </p:nvSpPr>
        <p:spPr>
          <a:xfrm>
            <a:off x="7796814" y="317105"/>
            <a:ext cx="3829129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modelar?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91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3FBDAC9-8C53-45F9-5A4A-32D1EEBC4BCA}"/>
              </a:ext>
            </a:extLst>
          </p:cNvPr>
          <p:cNvSpPr/>
          <p:nvPr/>
        </p:nvSpPr>
        <p:spPr>
          <a:xfrm>
            <a:off x="7276605" y="3534307"/>
            <a:ext cx="4777212" cy="27906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ADCAF4-653D-AAB8-F5D7-F15732EEDAA3}"/>
              </a:ext>
            </a:extLst>
          </p:cNvPr>
          <p:cNvSpPr/>
          <p:nvPr/>
        </p:nvSpPr>
        <p:spPr>
          <a:xfrm>
            <a:off x="291509" y="4686917"/>
            <a:ext cx="6666641" cy="16400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FF4B0D7-6BB9-1323-2A86-D6C9CA2D9D06}"/>
              </a:ext>
            </a:extLst>
          </p:cNvPr>
          <p:cNvGrpSpPr/>
          <p:nvPr/>
        </p:nvGrpSpPr>
        <p:grpSpPr>
          <a:xfrm>
            <a:off x="539159" y="4749453"/>
            <a:ext cx="6832398" cy="1356002"/>
            <a:chOff x="4217352" y="3944513"/>
            <a:chExt cx="6832398" cy="135600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A030490-DB93-F4DC-BB3A-9280CD14D85B}"/>
                </a:ext>
              </a:extLst>
            </p:cNvPr>
            <p:cNvSpPr txBox="1"/>
            <p:nvPr/>
          </p:nvSpPr>
          <p:spPr>
            <a:xfrm>
              <a:off x="6450589" y="3977076"/>
              <a:ext cx="4599161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b="1" dirty="0"/>
                <a:t>01 - </a:t>
              </a:r>
              <a:r>
                <a:rPr lang="LID4096" b="1" dirty="0"/>
                <a:t>finite element analysis </a:t>
              </a:r>
              <a:r>
                <a:rPr lang="LID4096" sz="2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(FEA)</a:t>
              </a:r>
              <a:endPara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pt-BR" b="1" dirty="0"/>
                <a:t>02 - </a:t>
              </a:r>
              <a:r>
                <a:rPr lang="LID4096" b="1" dirty="0"/>
                <a:t>thermal–mechanical simulations</a:t>
              </a:r>
              <a:endParaRPr lang="pt-BR" b="1" dirty="0"/>
            </a:p>
            <a:p>
              <a:endParaRPr lang="pt-BR" sz="2400" b="1" dirty="0"/>
            </a:p>
            <a:p>
              <a:r>
                <a:rPr lang="pt-BR" b="1" dirty="0"/>
                <a:t>03 - </a:t>
              </a:r>
              <a:r>
                <a:rPr lang="LID4096" b="1" dirty="0"/>
                <a:t>phase-field modeling techniques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D4E9B6-2A00-FB75-CE18-635A77908225}"/>
                </a:ext>
              </a:extLst>
            </p:cNvPr>
            <p:cNvSpPr txBox="1"/>
            <p:nvPr/>
          </p:nvSpPr>
          <p:spPr>
            <a:xfrm>
              <a:off x="4217352" y="4622839"/>
              <a:ext cx="562351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700" b="1" dirty="0">
                  <a:solidFill>
                    <a:srgbClr val="0000FF"/>
                  </a:solidFill>
                </a:rPr>
                <a:t>heat flow, temperature distribution,</a:t>
              </a:r>
              <a:r>
                <a:rPr lang="pt-BR" sz="1700" b="1" dirty="0">
                  <a:solidFill>
                    <a:srgbClr val="0000FF"/>
                  </a:solidFill>
                </a:rPr>
                <a:t> </a:t>
              </a:r>
              <a:r>
                <a:rPr lang="LID4096" sz="1700" b="1" dirty="0">
                  <a:solidFill>
                    <a:srgbClr val="0000FF"/>
                  </a:solidFill>
                </a:rPr>
                <a:t>and stress evolution during deposition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02E9AB0-1B66-2B81-8AA7-7E094D7F3C7E}"/>
                </a:ext>
              </a:extLst>
            </p:cNvPr>
            <p:cNvSpPr txBox="1"/>
            <p:nvPr/>
          </p:nvSpPr>
          <p:spPr>
            <a:xfrm>
              <a:off x="9745021" y="3944513"/>
              <a:ext cx="10313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b="1" i="0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Macro</a:t>
              </a:r>
              <a:endParaRPr lang="LID4096" sz="14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C7E4FBC-3E05-436A-43A3-0267366B00A8}"/>
              </a:ext>
            </a:extLst>
          </p:cNvPr>
          <p:cNvSpPr txBox="1"/>
          <p:nvPr/>
        </p:nvSpPr>
        <p:spPr>
          <a:xfrm>
            <a:off x="-1" y="6491538"/>
            <a:ext cx="9363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0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r>
              <a:rPr lang="en-GB" sz="1600" dirty="0"/>
              <a:t>Modelling and simulation of metal additive manufacturing processes </a:t>
            </a:r>
            <a:r>
              <a:rPr lang="en-GB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particle methods</a:t>
            </a:r>
            <a:r>
              <a:rPr lang="en-GB" sz="1600" dirty="0"/>
              <a:t>: </a:t>
            </a:r>
            <a:r>
              <a:rPr lang="en-US" sz="1600" dirty="0"/>
              <a:t>A review</a:t>
            </a:r>
            <a:endParaRPr lang="LID4096" sz="1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A0F6DE-D4F2-E92F-0D04-2037AAA6CA43}"/>
              </a:ext>
            </a:extLst>
          </p:cNvPr>
          <p:cNvCxnSpPr>
            <a:cxnSpLocks/>
          </p:cNvCxnSpPr>
          <p:nvPr/>
        </p:nvCxnSpPr>
        <p:spPr>
          <a:xfrm>
            <a:off x="7161253" y="120555"/>
            <a:ext cx="0" cy="5943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3B4C5E1-8721-4AAF-60A1-3B843C65F5A1}"/>
              </a:ext>
            </a:extLst>
          </p:cNvPr>
          <p:cNvGrpSpPr/>
          <p:nvPr/>
        </p:nvGrpSpPr>
        <p:grpSpPr>
          <a:xfrm>
            <a:off x="7530298" y="3562061"/>
            <a:ext cx="4349959" cy="2491717"/>
            <a:chOff x="7459308" y="4121816"/>
            <a:chExt cx="4349959" cy="249171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35A3EF-D08A-12CC-3C13-206EE46C92C4}"/>
                </a:ext>
              </a:extLst>
            </p:cNvPr>
            <p:cNvSpPr txBox="1"/>
            <p:nvPr/>
          </p:nvSpPr>
          <p:spPr>
            <a:xfrm>
              <a:off x="7459308" y="4121816"/>
              <a:ext cx="253141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32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ML</a:t>
              </a:r>
              <a:r>
                <a:rPr lang="LID4096" sz="28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algorithms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13B0C6-69EB-AA10-8CF9-B16BCBEFDD77}"/>
                </a:ext>
              </a:extLst>
            </p:cNvPr>
            <p:cNvSpPr txBox="1"/>
            <p:nvPr/>
          </p:nvSpPr>
          <p:spPr>
            <a:xfrm>
              <a:off x="7834760" y="4690316"/>
              <a:ext cx="397450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2000" b="1" dirty="0"/>
                <a:t>physics-based </a:t>
              </a:r>
              <a:r>
                <a:rPr lang="pt-BR" sz="2000" b="1" dirty="0">
                  <a:solidFill>
                    <a:srgbClr val="FFFF00"/>
                  </a:solidFill>
                  <a:highlight>
                    <a:srgbClr val="FFFF00"/>
                  </a:highlight>
                </a:rPr>
                <a:t>. </a:t>
              </a:r>
              <a:r>
                <a:rPr lang="LID4096" sz="2000" b="1" dirty="0">
                  <a:highlight>
                    <a:srgbClr val="FFFF00"/>
                  </a:highlight>
                </a:rPr>
                <a:t>surrogate </a:t>
              </a:r>
              <a:r>
                <a:rPr lang="pt-BR" sz="2000" b="1" dirty="0">
                  <a:highlight>
                    <a:srgbClr val="FFFF00"/>
                  </a:highlight>
                </a:rPr>
                <a:t>models</a:t>
              </a:r>
              <a:r>
                <a:rPr lang="pt-BR" sz="2000" b="1" dirty="0">
                  <a:solidFill>
                    <a:srgbClr val="FFFF00"/>
                  </a:solidFill>
                  <a:highlight>
                    <a:srgbClr val="FFFF00"/>
                  </a:highlight>
                </a:rPr>
                <a:t>.</a:t>
              </a:r>
              <a:endParaRPr lang="LID4096" sz="2000" b="1" dirty="0">
                <a:highlight>
                  <a:srgbClr val="FFFF00"/>
                </a:highlight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C58329-7D7D-9D56-4419-07ABFDC624CF}"/>
                </a:ext>
              </a:extLst>
            </p:cNvPr>
            <p:cNvSpPr txBox="1"/>
            <p:nvPr/>
          </p:nvSpPr>
          <p:spPr>
            <a:xfrm>
              <a:off x="7460153" y="5150082"/>
              <a:ext cx="42681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b="0" i="0" u="none" strike="noStrike" baseline="0" dirty="0">
                  <a:solidFill>
                    <a:srgbClr val="0000FF"/>
                  </a:solidFill>
                  <a:latin typeface="AdvOT46dcae81"/>
                </a:rPr>
                <a:t>simulation-informed closed-loop control feedback </a:t>
              </a:r>
              <a:r>
                <a:rPr lang="en-GB" b="0" i="0" u="none" strike="noStrike" baseline="0" dirty="0">
                  <a:solidFill>
                    <a:srgbClr val="0000FF"/>
                  </a:solidFill>
                  <a:latin typeface="AdvOT46dcae81"/>
                </a:rPr>
                <a:t>real-time monitoring systems.</a:t>
              </a:r>
              <a:endParaRPr lang="LID4096" dirty="0">
                <a:solidFill>
                  <a:srgbClr val="0000FF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F9DBC01-6522-104F-1BF5-C21E79F8FC87}"/>
                </a:ext>
              </a:extLst>
            </p:cNvPr>
            <p:cNvSpPr txBox="1"/>
            <p:nvPr/>
          </p:nvSpPr>
          <p:spPr>
            <a:xfrm>
              <a:off x="9432956" y="6207307"/>
              <a:ext cx="219275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dirty="0">
                  <a:highlight>
                    <a:srgbClr val="FFFF00"/>
                  </a:highlight>
                </a:rPr>
                <a:t> | Probabilistic ?</a:t>
              </a:r>
              <a:r>
                <a:rPr lang="pt-BR" sz="2000" b="1" dirty="0">
                  <a:solidFill>
                    <a:srgbClr val="FFFF00"/>
                  </a:solidFill>
                  <a:highlight>
                    <a:srgbClr val="FFFF00"/>
                  </a:highlight>
                </a:rPr>
                <a:t> .</a:t>
              </a:r>
              <a:endParaRPr lang="LID4096" sz="2000" b="1" dirty="0">
                <a:highlight>
                  <a:srgbClr val="FFFF00"/>
                </a:highlight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C45E0D0-F3E7-5164-4D15-019B805FE65B}"/>
                </a:ext>
              </a:extLst>
            </p:cNvPr>
            <p:cNvSpPr txBox="1"/>
            <p:nvPr/>
          </p:nvSpPr>
          <p:spPr>
            <a:xfrm>
              <a:off x="7459309" y="5905647"/>
              <a:ext cx="205449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dirty="0">
                  <a:highlight>
                    <a:srgbClr val="FFFF00"/>
                  </a:highlight>
                </a:rPr>
                <a:t> </a:t>
              </a:r>
              <a:r>
                <a:rPr lang="LID4096" sz="2000" b="1" dirty="0">
                  <a:highlight>
                    <a:srgbClr val="FFFF00"/>
                  </a:highlight>
                </a:rPr>
                <a:t>meshfree</a:t>
              </a:r>
              <a:r>
                <a:rPr lang="pt-BR" sz="2000" b="1" dirty="0">
                  <a:solidFill>
                    <a:srgbClr val="FFFF00"/>
                  </a:solidFill>
                  <a:highlight>
                    <a:srgbClr val="FFFF00"/>
                  </a:highlight>
                </a:rPr>
                <a:t>.</a:t>
              </a:r>
              <a:r>
                <a:rPr lang="pt-BR" sz="2000" b="1" dirty="0">
                  <a:highlight>
                    <a:srgbClr val="FFFF00"/>
                  </a:highlight>
                </a:rPr>
                <a:t> </a:t>
              </a:r>
              <a:endParaRPr lang="LID4096" sz="2000" b="1" dirty="0">
                <a:highlight>
                  <a:srgbClr val="FFFF00"/>
                </a:highlight>
              </a:endParaRPr>
            </a:p>
            <a:p>
              <a:r>
                <a:rPr lang="pt-BR" sz="2000" b="1" dirty="0">
                  <a:highlight>
                    <a:srgbClr val="FFFF00"/>
                  </a:highlight>
                </a:rPr>
                <a:t> </a:t>
              </a:r>
              <a:r>
                <a:rPr lang="LID4096" sz="2000" b="1" dirty="0">
                  <a:highlight>
                    <a:srgbClr val="FFFF00"/>
                  </a:highlight>
                </a:rPr>
                <a:t>particle-based</a:t>
              </a:r>
              <a:r>
                <a:rPr lang="pt-BR" sz="2000" b="1" dirty="0">
                  <a:solidFill>
                    <a:srgbClr val="FFFF00"/>
                  </a:solidFill>
                  <a:highlight>
                    <a:srgbClr val="FFFF00"/>
                  </a:highlight>
                </a:rPr>
                <a:t> .</a:t>
              </a:r>
              <a:endParaRPr lang="LID4096" sz="2000" b="1" dirty="0">
                <a:highlight>
                  <a:srgbClr val="FFFF00"/>
                </a:highlight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5D0F46-1BE3-348C-2B9F-5D969114A4EB}"/>
              </a:ext>
            </a:extLst>
          </p:cNvPr>
          <p:cNvGrpSpPr/>
          <p:nvPr/>
        </p:nvGrpSpPr>
        <p:grpSpPr>
          <a:xfrm>
            <a:off x="291509" y="981075"/>
            <a:ext cx="11762308" cy="3676734"/>
            <a:chOff x="291509" y="936639"/>
            <a:chExt cx="11762308" cy="36767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2BA07D8-C7C9-80CC-0A01-BE98DDA9D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4063" r="43519"/>
            <a:stretch>
              <a:fillRect/>
            </a:stretch>
          </p:blipFill>
          <p:spPr>
            <a:xfrm>
              <a:off x="291509" y="936639"/>
              <a:ext cx="6730766" cy="367673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8F8D699-4DF7-7CFB-7149-7E681B674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0405" t="14188" b="28137"/>
            <a:stretch>
              <a:fillRect/>
            </a:stretch>
          </p:blipFill>
          <p:spPr>
            <a:xfrm>
              <a:off x="7276605" y="949559"/>
              <a:ext cx="4777212" cy="249828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68293B0-7326-CC9E-F851-418B49E9161C}"/>
                </a:ext>
              </a:extLst>
            </p:cNvPr>
            <p:cNvSpPr txBox="1"/>
            <p:nvPr/>
          </p:nvSpPr>
          <p:spPr>
            <a:xfrm>
              <a:off x="5678397" y="3537699"/>
              <a:ext cx="7751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  <a:latin typeface="Horley Old Style MT"/>
                </a:rPr>
                <a:t>PFEM</a:t>
              </a:r>
              <a:endParaRPr lang="LID4096" b="1" dirty="0">
                <a:solidFill>
                  <a:srgbClr val="0000FF"/>
                </a:solidFill>
                <a:latin typeface="Horley Old Style M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811C4D-E9AC-FB91-F169-B9F9EDA76D4C}"/>
                </a:ext>
              </a:extLst>
            </p:cNvPr>
            <p:cNvSpPr txBox="1"/>
            <p:nvPr/>
          </p:nvSpPr>
          <p:spPr>
            <a:xfrm>
              <a:off x="3427248" y="2329320"/>
              <a:ext cx="837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  <a:latin typeface="Horley Old Style MT"/>
                </a:rPr>
                <a:t>MPM</a:t>
              </a:r>
              <a:endParaRPr lang="LID4096" b="1" dirty="0">
                <a:solidFill>
                  <a:schemeClr val="accent6">
                    <a:lumMod val="75000"/>
                  </a:schemeClr>
                </a:solidFill>
                <a:latin typeface="Horley Old Style MT"/>
              </a:endParaRPr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FB12A99E-F642-C3C4-09FF-AB3F0E3AD670}"/>
                </a:ext>
              </a:extLst>
            </p:cNvPr>
            <p:cNvSpPr/>
            <p:nvPr/>
          </p:nvSpPr>
          <p:spPr>
            <a:xfrm rot="5400000">
              <a:off x="304198" y="2112000"/>
              <a:ext cx="365760" cy="365760"/>
            </a:xfrm>
            <a:prstGeom prst="triangle">
              <a:avLst>
                <a:gd name="adj" fmla="val 48501"/>
              </a:avLst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CC981C6F-7E8F-06C4-71F7-917E40965B82}"/>
                </a:ext>
              </a:extLst>
            </p:cNvPr>
            <p:cNvSpPr/>
            <p:nvPr/>
          </p:nvSpPr>
          <p:spPr>
            <a:xfrm rot="5400000">
              <a:off x="311742" y="3977865"/>
              <a:ext cx="365760" cy="365760"/>
            </a:xfrm>
            <a:prstGeom prst="triangle">
              <a:avLst>
                <a:gd name="adj" fmla="val 48501"/>
              </a:avLst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5454E6CE-7475-CCA3-2291-F75D6B45E648}"/>
                </a:ext>
              </a:extLst>
            </p:cNvPr>
            <p:cNvSpPr/>
            <p:nvPr/>
          </p:nvSpPr>
          <p:spPr>
            <a:xfrm rot="5400000">
              <a:off x="7429469" y="2198045"/>
              <a:ext cx="289712" cy="262551"/>
            </a:xfrm>
            <a:prstGeom prst="triangle">
              <a:avLst>
                <a:gd name="adj" fmla="val 48501"/>
              </a:avLst>
            </a:prstGeom>
            <a:solidFill>
              <a:srgbClr val="0000FF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729F3C6C-7D9D-04BE-8C7E-1DF3597777DF}"/>
                </a:ext>
              </a:extLst>
            </p:cNvPr>
            <p:cNvSpPr/>
            <p:nvPr/>
          </p:nvSpPr>
          <p:spPr>
            <a:xfrm rot="5400000">
              <a:off x="4691018" y="3311564"/>
              <a:ext cx="369331" cy="372653"/>
            </a:xfrm>
            <a:prstGeom prst="triangle">
              <a:avLst>
                <a:gd name="adj" fmla="val 48501"/>
              </a:avLst>
            </a:prstGeom>
            <a:solidFill>
              <a:srgbClr val="0000FF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F07E096-B2F5-EDCE-5B45-0B2FD2E1C2C8}"/>
                </a:ext>
              </a:extLst>
            </p:cNvPr>
            <p:cNvSpPr/>
            <p:nvPr/>
          </p:nvSpPr>
          <p:spPr>
            <a:xfrm rot="5400000">
              <a:off x="2459255" y="2119321"/>
              <a:ext cx="365760" cy="365760"/>
            </a:xfrm>
            <a:prstGeom prst="triangle">
              <a:avLst>
                <a:gd name="adj" fmla="val 48501"/>
              </a:avLst>
            </a:prstGeom>
            <a:solidFill>
              <a:srgbClr val="00B05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334FD4-B42D-E93C-250F-A58DC83CFC26}"/>
                </a:ext>
              </a:extLst>
            </p:cNvPr>
            <p:cNvSpPr txBox="1"/>
            <p:nvPr/>
          </p:nvSpPr>
          <p:spPr>
            <a:xfrm>
              <a:off x="403896" y="1375602"/>
              <a:ext cx="27251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dirty="0"/>
                <a:t>Massive parallelisation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1C09256-4C1E-62D9-E0A7-A0C3AC614B27}"/>
                </a:ext>
              </a:extLst>
            </p:cNvPr>
            <p:cNvSpPr/>
            <p:nvPr/>
          </p:nvSpPr>
          <p:spPr>
            <a:xfrm>
              <a:off x="407405" y="1852989"/>
              <a:ext cx="2034833" cy="289713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pt-BR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 MT"/>
                </a:rPr>
                <a:t>Particle based</a:t>
              </a:r>
              <a:endParaRPr lang="LID4096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E38427-47BD-60F9-EFE1-816AAC792B33}"/>
              </a:ext>
            </a:extLst>
          </p:cNvPr>
          <p:cNvSpPr/>
          <p:nvPr/>
        </p:nvSpPr>
        <p:spPr>
          <a:xfrm>
            <a:off x="6958150" y="317105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modelar?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2E1C13F-BF03-2A7B-DB0D-D1A9AD5EDE8B}"/>
              </a:ext>
            </a:extLst>
          </p:cNvPr>
          <p:cNvSpPr/>
          <p:nvPr/>
        </p:nvSpPr>
        <p:spPr>
          <a:xfrm rot="5400000">
            <a:off x="4695803" y="2147621"/>
            <a:ext cx="369331" cy="372653"/>
          </a:xfrm>
          <a:prstGeom prst="triangle">
            <a:avLst>
              <a:gd name="adj" fmla="val 48501"/>
            </a:avLst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D3F4970-4AFF-7764-2D24-7C73ECF0502E}"/>
              </a:ext>
            </a:extLst>
          </p:cNvPr>
          <p:cNvSpPr/>
          <p:nvPr/>
        </p:nvSpPr>
        <p:spPr>
          <a:xfrm>
            <a:off x="795131" y="277561"/>
            <a:ext cx="6047667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CFD (FDM, FEM, FEA)</a:t>
            </a:r>
            <a:endParaRPr lang="pt-BR" sz="3200" noProof="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4A3FA29-3C4D-906A-3C33-FB0E63523A03}"/>
              </a:ext>
            </a:extLst>
          </p:cNvPr>
          <p:cNvSpPr/>
          <p:nvPr/>
        </p:nvSpPr>
        <p:spPr>
          <a:xfrm>
            <a:off x="2557757" y="1889075"/>
            <a:ext cx="2034833" cy="289713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Grid based</a:t>
            </a:r>
            <a:endParaRPr lang="LID4096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</p:spTree>
    <p:extLst>
      <p:ext uri="{BB962C8B-B14F-4D97-AF65-F5344CB8AC3E}">
        <p14:creationId xmlns:p14="http://schemas.microsoft.com/office/powerpoint/2010/main" val="174743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16FEA9-7EF3-C277-8E36-C7669F63E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1"/>
          <a:stretch>
            <a:fillRect/>
          </a:stretch>
        </p:blipFill>
        <p:spPr>
          <a:xfrm>
            <a:off x="276720" y="2570864"/>
            <a:ext cx="4085603" cy="29612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6D91F9-C9A0-ABDD-E36F-6420C1DADA46}"/>
              </a:ext>
            </a:extLst>
          </p:cNvPr>
          <p:cNvSpPr txBox="1"/>
          <p:nvPr/>
        </p:nvSpPr>
        <p:spPr>
          <a:xfrm>
            <a:off x="212134" y="185056"/>
            <a:ext cx="11894141" cy="14927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algn="l">
              <a:defRPr/>
            </a:pPr>
            <a:r>
              <a:rPr lang="pt-BR" sz="3200" dirty="0">
                <a:solidFill>
                  <a:srgbClr val="0000FF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FEA – Análise de Elementos Finitos  </a:t>
            </a:r>
          </a:p>
          <a:p>
            <a:pPr lvl="0" algn="l">
              <a:defRPr/>
            </a:pPr>
            <a:endParaRPr lang="pt-BR" sz="1100" dirty="0">
              <a:solidFill>
                <a:srgbClr val="0000FF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lvl="0" algn="l">
              <a:defRPr/>
            </a:pPr>
            <a:r>
              <a:rPr lang="pt-BR" sz="2000" dirty="0"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- Decompõe um objeto 3D complexo em milhares de pequenas partes gerenciáveis ​​("elementos"); </a:t>
            </a:r>
          </a:p>
          <a:p>
            <a:pPr lvl="0" algn="l">
              <a:spcBef>
                <a:spcPts val="600"/>
              </a:spcBef>
              <a:spcAft>
                <a:spcPts val="600"/>
              </a:spcAft>
              <a:tabLst>
                <a:tab pos="395288" algn="l"/>
              </a:tabLst>
              <a:defRPr/>
            </a:pPr>
            <a:r>
              <a:rPr lang="pt-BR" sz="2000" dirty="0"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- Calcula tensões estruturais, falhas e deformações.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F40DB6-C404-19BC-9D0F-ECB805C01817}"/>
              </a:ext>
            </a:extLst>
          </p:cNvPr>
          <p:cNvSpPr txBox="1"/>
          <p:nvPr/>
        </p:nvSpPr>
        <p:spPr>
          <a:xfrm>
            <a:off x="5185239" y="3429000"/>
            <a:ext cx="115587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1400" b="1" i="0" u="none" strike="noStrike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Peça de Suporte</a:t>
            </a:r>
            <a:endParaRPr lang="pt-BR" sz="14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7B3F9-F49D-8161-28CC-53F9CF4C1625}"/>
              </a:ext>
            </a:extLst>
          </p:cNvPr>
          <p:cNvSpPr/>
          <p:nvPr/>
        </p:nvSpPr>
        <p:spPr>
          <a:xfrm>
            <a:off x="6513187" y="1524000"/>
            <a:ext cx="5466680" cy="5249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1319E9-D6B9-8AE1-F641-877AEAD80FDB}"/>
              </a:ext>
            </a:extLst>
          </p:cNvPr>
          <p:cNvGrpSpPr>
            <a:grpSpLocks noChangeAspect="1"/>
          </p:cNvGrpSpPr>
          <p:nvPr/>
        </p:nvGrpSpPr>
        <p:grpSpPr>
          <a:xfrm>
            <a:off x="6665587" y="1609725"/>
            <a:ext cx="5249693" cy="5112462"/>
            <a:chOff x="4964461" y="288938"/>
            <a:chExt cx="6855569" cy="667636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1D5FCEF-AF2B-7018-FF25-444431D18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284872" y="288938"/>
              <a:ext cx="4558587" cy="5974983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40453F9-7876-B5D9-A9E4-12F46EA5BE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378909" y="878366"/>
              <a:ext cx="1441121" cy="5943659"/>
              <a:chOff x="11076678" y="3429000"/>
              <a:chExt cx="822685" cy="3393024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A4CDDEC-3E2D-61DF-2E45-44983BE668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1076678" y="3429000"/>
                <a:ext cx="822685" cy="3393024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348DBEB-5B21-9AB1-912B-82C28516B5B0}"/>
                  </a:ext>
                </a:extLst>
              </p:cNvPr>
              <p:cNvSpPr/>
              <p:nvPr/>
            </p:nvSpPr>
            <p:spPr>
              <a:xfrm>
                <a:off x="11582492" y="3429000"/>
                <a:ext cx="316871" cy="6518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60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43AE0F8-07E5-A686-8BD7-FE8564A80116}"/>
                </a:ext>
              </a:extLst>
            </p:cNvPr>
            <p:cNvSpPr txBox="1"/>
            <p:nvPr/>
          </p:nvSpPr>
          <p:spPr>
            <a:xfrm>
              <a:off x="4964461" y="6347118"/>
              <a:ext cx="6659546" cy="61818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182880" tIns="91440" rIns="182880" bIns="91440" anchor="ctr" anchorCtr="0">
              <a:noAutofit/>
            </a:bodyPr>
            <a:lstStyle>
              <a:defPPr>
                <a:defRPr lang="LID4096"/>
              </a:defPPr>
              <a:lvl1pPr indent="0" algn="ctr">
                <a:spcAft>
                  <a:spcPts val="600"/>
                </a:spcAft>
                <a:defRPr sz="2000" b="1" i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defRPr sz="1100"/>
              </a:lvl2pPr>
              <a:lvl3pPr indent="0">
                <a:defRPr sz="1100"/>
              </a:lvl3pPr>
              <a:lvl4pPr indent="0">
                <a:defRPr sz="1100"/>
              </a:lvl4pPr>
              <a:lvl5pPr indent="0">
                <a:defRPr sz="1100"/>
              </a:lvl5pPr>
              <a:lvl6pPr indent="0">
                <a:defRPr sz="1100"/>
              </a:lvl6pPr>
              <a:lvl7pPr indent="0">
                <a:defRPr sz="1100"/>
              </a:lvl7pPr>
              <a:lvl8pPr indent="0">
                <a:defRPr sz="1100"/>
              </a:lvl8pPr>
              <a:lvl9pPr indent="0">
                <a:defRPr sz="1100"/>
              </a:lvl9pPr>
            </a:lstStyle>
            <a:p>
              <a:r>
                <a:rPr lang="en-US" sz="2400" i="0" dirty="0">
                  <a:solidFill>
                    <a:srgbClr val="0000FF"/>
                  </a:solidFill>
                </a:rPr>
                <a:t>FSI –</a:t>
              </a:r>
              <a:r>
                <a:rPr lang="en-US" sz="2400" dirty="0">
                  <a:solidFill>
                    <a:srgbClr val="0000FF"/>
                  </a:solidFill>
                </a:rPr>
                <a:t> Fluid</a:t>
              </a:r>
              <a:r>
                <a:rPr lang="en-US" sz="1100" dirty="0">
                  <a:solidFill>
                    <a:srgbClr val="0000FF"/>
                  </a:solidFill>
                </a:rPr>
                <a:t> </a:t>
              </a:r>
              <a:r>
                <a:rPr lang="en-US" sz="2400" dirty="0">
                  <a:solidFill>
                    <a:srgbClr val="0000FF"/>
                  </a:solidFill>
                </a:rPr>
                <a:t>-</a:t>
              </a:r>
              <a:r>
                <a:rPr lang="en-US" sz="1100" dirty="0">
                  <a:solidFill>
                    <a:srgbClr val="0000FF"/>
                  </a:solidFill>
                </a:rPr>
                <a:t> </a:t>
              </a:r>
              <a:r>
                <a:rPr lang="en-US" sz="2400" dirty="0">
                  <a:solidFill>
                    <a:srgbClr val="0000FF"/>
                  </a:solidFill>
                </a:rPr>
                <a:t>Structure Interaction</a:t>
              </a:r>
              <a:endParaRPr lang="LID4096" sz="2800" dirty="0">
                <a:solidFill>
                  <a:srgbClr val="0000FF"/>
                </a:solidFill>
              </a:endParaRPr>
            </a:p>
          </p:txBody>
        </p:sp>
      </p:grpSp>
      <p:pic>
        <p:nvPicPr>
          <p:cNvPr id="22" name="Picture 4">
            <a:extLst>
              <a:ext uri="{FF2B5EF4-FFF2-40B4-BE49-F238E27FC236}">
                <a16:creationId xmlns:a16="http://schemas.microsoft.com/office/drawing/2014/main" id="{3187604D-67DE-972C-8C65-C7C199488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807" y="1705368"/>
            <a:ext cx="1865424" cy="15615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8072DCC-E31C-2B39-5872-F434A53FDAD9}"/>
              </a:ext>
            </a:extLst>
          </p:cNvPr>
          <p:cNvSpPr txBox="1"/>
          <p:nvPr/>
        </p:nvSpPr>
        <p:spPr>
          <a:xfrm>
            <a:off x="2822253" y="5202756"/>
            <a:ext cx="3535368" cy="15696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algn="r">
              <a:defRPr/>
            </a:pPr>
            <a:r>
              <a:rPr lang="pt-BR" sz="3200" noProof="0" dirty="0">
                <a:solidFill>
                  <a:srgbClr val="0000FF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CFD  </a:t>
            </a:r>
          </a:p>
          <a:p>
            <a:pPr lvl="0" algn="r">
              <a:defRPr/>
            </a:pPr>
            <a:r>
              <a:rPr lang="pt-BR" sz="3200" noProof="0" dirty="0">
                <a:solidFill>
                  <a:srgbClr val="0000FF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- Fluidodinâmica Computacional</a:t>
            </a:r>
            <a:endParaRPr lang="pt-BR" sz="3200" dirty="0">
              <a:solidFill>
                <a:srgbClr val="0000FF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59D2E8-8EE9-1D79-6CA1-CB86AE4CE007}"/>
              </a:ext>
            </a:extLst>
          </p:cNvPr>
          <p:cNvSpPr txBox="1"/>
          <p:nvPr/>
        </p:nvSpPr>
        <p:spPr>
          <a:xfrm>
            <a:off x="92649" y="1702520"/>
            <a:ext cx="404338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90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900" b="1" noProof="0" dirty="0"/>
              <a:t> </a:t>
            </a:r>
            <a:r>
              <a:rPr lang="pt-BR" sz="1900" b="1" noProof="0" dirty="0">
                <a:solidFill>
                  <a:srgbClr val="0000FF"/>
                </a:solidFill>
              </a:rPr>
              <a:t>Stress, Deformação, Vibração, Fadiga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AACB8-6577-8ADD-6ECA-ACC088CBEB3F}"/>
              </a:ext>
            </a:extLst>
          </p:cNvPr>
          <p:cNvSpPr txBox="1"/>
          <p:nvPr/>
        </p:nvSpPr>
        <p:spPr>
          <a:xfrm>
            <a:off x="264386" y="2014811"/>
            <a:ext cx="4161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noProof="0" dirty="0">
                <a:solidFill>
                  <a:srgbClr val="FF0000"/>
                </a:solidFill>
              </a:rPr>
              <a:t>Análise Estrutural 	</a:t>
            </a:r>
            <a:endParaRPr lang="pt-BR" sz="1400" b="1" i="1" noProof="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B1CBB-EEA5-8A49-7ABE-340A99B5BA07}"/>
              </a:ext>
            </a:extLst>
          </p:cNvPr>
          <p:cNvSpPr txBox="1"/>
          <p:nvPr/>
        </p:nvSpPr>
        <p:spPr>
          <a:xfrm>
            <a:off x="314262" y="5824061"/>
            <a:ext cx="26741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noProof="0" dirty="0">
                <a:solidFill>
                  <a:srgbClr val="0000FF"/>
                </a:solidFill>
              </a:rPr>
              <a:t>-  Fluxo, pressão, </a:t>
            </a:r>
            <a:r>
              <a:rPr lang="pt-BR" sz="2400" b="1" noProof="0" dirty="0">
                <a:solidFill>
                  <a:srgbClr val="FF0000"/>
                </a:solidFill>
              </a:rPr>
              <a:t>temperatura, ... </a:t>
            </a:r>
          </a:p>
        </p:txBody>
      </p:sp>
    </p:spTree>
    <p:extLst>
      <p:ext uri="{BB962C8B-B14F-4D97-AF65-F5344CB8AC3E}">
        <p14:creationId xmlns:p14="http://schemas.microsoft.com/office/powerpoint/2010/main" val="3817329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139951-1798-268C-D866-D67BA609130F}"/>
              </a:ext>
            </a:extLst>
          </p:cNvPr>
          <p:cNvSpPr/>
          <p:nvPr/>
        </p:nvSpPr>
        <p:spPr>
          <a:xfrm>
            <a:off x="7796814" y="317105"/>
            <a:ext cx="3829129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é um modelo?</a:t>
            </a:r>
          </a:p>
          <a:p>
            <a:pPr algn="r"/>
            <a:r>
              <a:rPr lang="pt-BR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 numérico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4EEC55-DF51-EBA8-A605-68E00780B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7132" y="5286173"/>
            <a:ext cx="947946" cy="107159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6B45F9-8576-19E4-8043-6117B28EDA3A}"/>
              </a:ext>
            </a:extLst>
          </p:cNvPr>
          <p:cNvSpPr txBox="1"/>
          <p:nvPr/>
        </p:nvSpPr>
        <p:spPr>
          <a:xfrm>
            <a:off x="9723945" y="5831089"/>
            <a:ext cx="884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800" b="1" dirty="0"/>
              <a:t>Fi</a:t>
            </a:r>
            <a:r>
              <a:rPr lang="pt-BR" sz="2800" b="1" dirty="0">
                <a:solidFill>
                  <a:srgbClr val="FF0000"/>
                </a:solidFill>
              </a:rPr>
              <a:t>Py</a:t>
            </a:r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24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2386D903-222E-8DAB-32FC-FECE345707C8}"/>
              </a:ext>
            </a:extLst>
          </p:cNvPr>
          <p:cNvSpPr txBox="1"/>
          <p:nvPr/>
        </p:nvSpPr>
        <p:spPr>
          <a:xfrm>
            <a:off x="495787" y="2563732"/>
            <a:ext cx="2743801" cy="22958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  <a:effectLst>
            <a:outerShdw blurRad="50800" dist="38100" dir="8100000" sx="101000" sy="101000" algn="tr" rotWithShape="0">
              <a:prstClr val="black">
                <a:alpha val="40000"/>
              </a:prstClr>
            </a:outerShdw>
          </a:effectLst>
        </p:spPr>
        <p:txBody>
          <a:bodyPr wrap="none" lIns="182880" tIns="137160" rIns="182880" bIns="9144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2400" b="1" u="sng" dirty="0">
                <a:solidFill>
                  <a:srgbClr val="0000FF"/>
                </a:solidFill>
                <a:latin typeface="Calibri (Body)"/>
              </a:rPr>
              <a:t>Finite-difference</a:t>
            </a:r>
          </a:p>
          <a:p>
            <a:pPr>
              <a:spcAft>
                <a:spcPts val="600"/>
              </a:spcAft>
            </a:pPr>
            <a:r>
              <a:rPr lang="en-GB" sz="2400" b="1" dirty="0">
                <a:solidFill>
                  <a:srgbClr val="0000FF"/>
                </a:solidFill>
                <a:latin typeface="Calibri (Body)"/>
              </a:rPr>
              <a:t>  </a:t>
            </a:r>
            <a:r>
              <a:rPr lang="en-GB" sz="2400" dirty="0">
                <a:solidFill>
                  <a:srgbClr val="0000FF"/>
                </a:solidFill>
                <a:latin typeface="Calibri (Body)"/>
              </a:rPr>
              <a:t>MODFLOW</a:t>
            </a:r>
          </a:p>
          <a:p>
            <a:pPr>
              <a:spcAft>
                <a:spcPts val="600"/>
              </a:spcAft>
            </a:pPr>
            <a:r>
              <a:rPr lang="en-GB" sz="2400" b="1" u="sng" dirty="0">
                <a:solidFill>
                  <a:srgbClr val="FF0000"/>
                </a:solidFill>
                <a:latin typeface="Calibri (Body)"/>
              </a:rPr>
              <a:t>Finite-volume</a:t>
            </a:r>
          </a:p>
          <a:p>
            <a:r>
              <a:rPr lang="en-US" sz="2400" dirty="0">
                <a:solidFill>
                  <a:srgbClr val="FF0000"/>
                </a:solidFill>
                <a:latin typeface="Calibri (Body)"/>
              </a:rPr>
              <a:t>   OpenFOAM</a:t>
            </a:r>
          </a:p>
          <a:p>
            <a:r>
              <a:rPr lang="pt-BR" sz="2400" dirty="0">
                <a:solidFill>
                  <a:srgbClr val="FF0000"/>
                </a:solidFill>
                <a:latin typeface="Calibri (Body)"/>
              </a:rPr>
              <a:t>  </a:t>
            </a:r>
            <a:r>
              <a:rPr lang="pt-BR" sz="2400" b="1" dirty="0">
                <a:latin typeface="Calibri (Body)"/>
              </a:rPr>
              <a:t>Fi</a:t>
            </a:r>
            <a:r>
              <a:rPr lang="pt-BR" sz="2400" b="1" dirty="0">
                <a:solidFill>
                  <a:srgbClr val="FF0000"/>
                </a:solidFill>
                <a:latin typeface="Calibri (Body)"/>
              </a:rPr>
              <a:t>Py</a:t>
            </a:r>
          </a:p>
        </p:txBody>
      </p:sp>
      <p:sp>
        <p:nvSpPr>
          <p:cNvPr id="25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DCE87608-81A5-9AD5-9DFE-0B3859404E17}"/>
              </a:ext>
            </a:extLst>
          </p:cNvPr>
          <p:cNvSpPr txBox="1"/>
          <p:nvPr/>
        </p:nvSpPr>
        <p:spPr>
          <a:xfrm>
            <a:off x="2271169" y="4433373"/>
            <a:ext cx="822960" cy="347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pt-B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</a:rPr>
              <a:t>FVM</a:t>
            </a:r>
            <a:endParaRPr lang="en-GB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6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69CE6D9B-A4BD-49EC-9C43-208A11AE1F19}"/>
              </a:ext>
            </a:extLst>
          </p:cNvPr>
          <p:cNvSpPr txBox="1"/>
          <p:nvPr/>
        </p:nvSpPr>
        <p:spPr>
          <a:xfrm>
            <a:off x="507176" y="4945056"/>
            <a:ext cx="2732412" cy="1620269"/>
          </a:xfrm>
          <a:prstGeom prst="rect">
            <a:avLst/>
          </a:prstGeom>
          <a:solidFill>
            <a:srgbClr val="A7E8FF"/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109728" rIns="182880" bIns="9144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GB" sz="2400" b="1" u="sng" dirty="0">
                <a:solidFill>
                  <a:srgbClr val="000000"/>
                </a:solidFill>
                <a:latin typeface="Calibri (Body)"/>
              </a:rPr>
              <a:t>Finite-element</a:t>
            </a:r>
          </a:p>
          <a:p>
            <a:pPr>
              <a:spcAft>
                <a:spcPts val="300"/>
              </a:spcAft>
            </a:pPr>
            <a:r>
              <a:rPr lang="en-GB" sz="1800" dirty="0">
                <a:solidFill>
                  <a:srgbClr val="000000"/>
                </a:solidFill>
                <a:latin typeface="Calibri (Body)"/>
              </a:rPr>
              <a:t>  FEniCS ; </a:t>
            </a:r>
            <a:r>
              <a:rPr lang="en-US" sz="1800" dirty="0">
                <a:latin typeface="Calibri (Body)"/>
              </a:rPr>
              <a:t>SfePy ; </a:t>
            </a:r>
          </a:p>
          <a:p>
            <a:pPr>
              <a:spcAft>
                <a:spcPts val="300"/>
              </a:spcAft>
            </a:pPr>
            <a:r>
              <a:rPr lang="en-US" sz="2400" b="1" dirty="0">
                <a:solidFill>
                  <a:srgbClr val="FF0000"/>
                </a:solidFill>
                <a:latin typeface="Calibri (Body)"/>
              </a:rPr>
              <a:t>FEM Mesh </a:t>
            </a:r>
            <a:r>
              <a:rPr lang="en-GB" sz="1800" b="1" dirty="0">
                <a:latin typeface="Calibri (Body)"/>
              </a:rPr>
              <a:t>DEM, IBM, </a:t>
            </a:r>
            <a:r>
              <a:rPr lang="en-GB" sz="1800" b="1" dirty="0">
                <a:latin typeface="Calibri (Body)"/>
                <a:ea typeface="Cambria Math" panose="02040503050406030204" pitchFamily="18" charset="0"/>
              </a:rPr>
              <a:t>LBM, BEM, MEC …</a:t>
            </a:r>
            <a:endParaRPr lang="en-US" sz="18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76480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FED2-8C2D-CBC5-EC1D-3E567474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931FF7F-D890-000A-DBE8-01F406BEC642}"/>
              </a:ext>
            </a:extLst>
          </p:cNvPr>
          <p:cNvGrpSpPr>
            <a:grpSpLocks noChangeAspect="1"/>
          </p:cNvGrpSpPr>
          <p:nvPr/>
        </p:nvGrpSpPr>
        <p:grpSpPr>
          <a:xfrm>
            <a:off x="699788" y="2562897"/>
            <a:ext cx="10792424" cy="2244475"/>
            <a:chOff x="1022745" y="1409461"/>
            <a:chExt cx="10669753" cy="22858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A93156-15E9-6FCC-08A2-D16608D8E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7529" b="51086"/>
            <a:stretch>
              <a:fillRect/>
            </a:stretch>
          </p:blipFill>
          <p:spPr>
            <a:xfrm>
              <a:off x="1022745" y="1409461"/>
              <a:ext cx="10669753" cy="221043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00BA0A-1C05-83BB-E2E6-874CF37D9164}"/>
                </a:ext>
              </a:extLst>
            </p:cNvPr>
            <p:cNvSpPr/>
            <p:nvPr/>
          </p:nvSpPr>
          <p:spPr>
            <a:xfrm>
              <a:off x="4694548" y="3381865"/>
              <a:ext cx="3073139" cy="3134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579ACB3-1D08-3FBB-935E-915DB5103E55}"/>
              </a:ext>
            </a:extLst>
          </p:cNvPr>
          <p:cNvSpPr txBox="1"/>
          <p:nvPr/>
        </p:nvSpPr>
        <p:spPr>
          <a:xfrm>
            <a:off x="532889" y="1335393"/>
            <a:ext cx="34093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i="0" u="sng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Macro-scale</a:t>
            </a:r>
            <a:r>
              <a:rPr lang="en-GB" sz="1800" b="1" i="0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models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heat flow and structural (stress) deformation &amp;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</a:rPr>
              <a:t>interlayer bonding,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585BF-3078-B5E5-DCD6-6FC3D4B4C024}"/>
              </a:ext>
            </a:extLst>
          </p:cNvPr>
          <p:cNvSpPr txBox="1"/>
          <p:nvPr/>
        </p:nvSpPr>
        <p:spPr>
          <a:xfrm>
            <a:off x="508200" y="4942141"/>
            <a:ext cx="35208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u="sng" dirty="0"/>
              <a:t>Foco</a:t>
            </a:r>
            <a:r>
              <a:rPr lang="pt-BR" sz="2000" b="1" dirty="0"/>
              <a:t>: </a:t>
            </a:r>
            <a:r>
              <a:rPr lang="pt-BR" sz="2000" dirty="0"/>
              <a:t>Distorção, stress residual</a:t>
            </a:r>
          </a:p>
          <a:p>
            <a:endParaRPr lang="pt-BR" sz="2000" dirty="0"/>
          </a:p>
          <a:p>
            <a:r>
              <a:rPr lang="pt-BR" sz="2000" b="1" u="sng" dirty="0"/>
              <a:t>Métodos</a:t>
            </a:r>
            <a:r>
              <a:rPr lang="pt-BR" sz="2000" b="1" dirty="0"/>
              <a:t>:</a:t>
            </a:r>
            <a:r>
              <a:rPr lang="pt-BR" sz="2000" dirty="0"/>
              <a:t> FEM, FVM</a:t>
            </a:r>
            <a:endParaRPr lang="LID4096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793E5-19E5-D29C-D284-048AAFC498D3}"/>
              </a:ext>
            </a:extLst>
          </p:cNvPr>
          <p:cNvSpPr txBox="1"/>
          <p:nvPr/>
        </p:nvSpPr>
        <p:spPr>
          <a:xfrm>
            <a:off x="4532480" y="4942142"/>
            <a:ext cx="33431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u="sng" dirty="0"/>
              <a:t>Foco</a:t>
            </a:r>
            <a:r>
              <a:rPr lang="pt-BR" sz="2000" b="1" dirty="0"/>
              <a:t>: </a:t>
            </a:r>
            <a:r>
              <a:rPr lang="pt-BR" sz="2000" dirty="0"/>
              <a:t>Fluxo, </a:t>
            </a:r>
            <a:r>
              <a:rPr lang="pt-PT" sz="2000" dirty="0"/>
              <a:t>poça de fusão</a:t>
            </a:r>
          </a:p>
          <a:p>
            <a:endParaRPr lang="pt-BR" sz="2000" dirty="0"/>
          </a:p>
          <a:p>
            <a:r>
              <a:rPr lang="pt-BR" sz="2000" b="1" u="sng" dirty="0"/>
              <a:t>Métodos</a:t>
            </a:r>
            <a:r>
              <a:rPr lang="pt-BR" sz="2000" b="1" dirty="0"/>
              <a:t>:</a:t>
            </a:r>
            <a:r>
              <a:rPr lang="pt-BR" sz="2000" dirty="0"/>
              <a:t> CFD, SPH, LBM</a:t>
            </a:r>
            <a:endParaRPr lang="LID4096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1A13F-E240-B758-DA48-9CB20B91F2D0}"/>
              </a:ext>
            </a:extLst>
          </p:cNvPr>
          <p:cNvSpPr txBox="1"/>
          <p:nvPr/>
        </p:nvSpPr>
        <p:spPr>
          <a:xfrm>
            <a:off x="8070678" y="4942142"/>
            <a:ext cx="33431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u="sng" dirty="0"/>
              <a:t>Foco</a:t>
            </a:r>
            <a:r>
              <a:rPr lang="pt-BR" sz="2000" b="1" dirty="0"/>
              <a:t>: </a:t>
            </a:r>
            <a:r>
              <a:rPr lang="pt-BR" sz="2000" dirty="0"/>
              <a:t>Grãos, nucleação, vazios  </a:t>
            </a:r>
          </a:p>
          <a:p>
            <a:endParaRPr lang="pt-BR" sz="2000" dirty="0"/>
          </a:p>
          <a:p>
            <a:r>
              <a:rPr lang="pt-BR" sz="2000" b="1" u="sng" dirty="0"/>
              <a:t>Métodos</a:t>
            </a:r>
            <a:r>
              <a:rPr lang="pt-BR" sz="2000" b="1" dirty="0"/>
              <a:t>:</a:t>
            </a:r>
            <a:r>
              <a:rPr lang="pt-BR" sz="2000" dirty="0"/>
              <a:t> CA, MC, PF</a:t>
            </a:r>
            <a:endParaRPr lang="LID4096" sz="20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D92701-2C39-7EB4-A46C-F1AD49A526C1}"/>
              </a:ext>
            </a:extLst>
          </p:cNvPr>
          <p:cNvGrpSpPr/>
          <p:nvPr/>
        </p:nvGrpSpPr>
        <p:grpSpPr>
          <a:xfrm>
            <a:off x="8128401" y="1274828"/>
            <a:ext cx="3363811" cy="1107996"/>
            <a:chOff x="6653058" y="732502"/>
            <a:chExt cx="3363811" cy="110799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12F553-9E88-0BC5-7CE8-BADD93E0B0F8}"/>
                </a:ext>
              </a:extLst>
            </p:cNvPr>
            <p:cNvSpPr txBox="1"/>
            <p:nvPr/>
          </p:nvSpPr>
          <p:spPr>
            <a:xfrm>
              <a:off x="6673714" y="1194167"/>
              <a:ext cx="334315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dirty="0"/>
                <a:t>grain growth, microstructural transitions, solidification kinetics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812636-A4FB-E46F-694E-EE55083C9D34}"/>
                </a:ext>
              </a:extLst>
            </p:cNvPr>
            <p:cNvSpPr txBox="1"/>
            <p:nvPr/>
          </p:nvSpPr>
          <p:spPr>
            <a:xfrm>
              <a:off x="6653058" y="732502"/>
              <a:ext cx="30694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i="0" u="sng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Micro-scale</a:t>
              </a:r>
              <a:r>
                <a:rPr lang="en-GB" sz="1800" b="1" i="0" u="sng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phase-field</a:t>
              </a:r>
              <a:endParaRPr lang="LID4096" dirty="0"/>
            </a:p>
          </p:txBody>
        </p:sp>
      </p:grp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D99E177-98AB-1609-405B-9D306F0BC69F}"/>
              </a:ext>
            </a:extLst>
          </p:cNvPr>
          <p:cNvSpPr/>
          <p:nvPr/>
        </p:nvSpPr>
        <p:spPr>
          <a:xfrm rot="19318681">
            <a:off x="5533143" y="5999928"/>
            <a:ext cx="426720" cy="3388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BBB04-CED1-CA15-A508-9EEC5791E0AF}"/>
              </a:ext>
            </a:extLst>
          </p:cNvPr>
          <p:cNvSpPr txBox="1"/>
          <p:nvPr/>
        </p:nvSpPr>
        <p:spPr>
          <a:xfrm>
            <a:off x="4578282" y="1320995"/>
            <a:ext cx="29439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sng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Meso-scale</a:t>
            </a:r>
            <a:r>
              <a:rPr lang="en-GB" sz="1800" b="1" i="0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models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pool geometry, bead formation, and dilution. </a:t>
            </a:r>
            <a:endParaRPr lang="LID4096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6E7739-B156-5FE7-31E7-3EC340D9E0CF}"/>
              </a:ext>
            </a:extLst>
          </p:cNvPr>
          <p:cNvCxnSpPr>
            <a:cxnSpLocks/>
          </p:cNvCxnSpPr>
          <p:nvPr/>
        </p:nvCxnSpPr>
        <p:spPr>
          <a:xfrm>
            <a:off x="4154277" y="973999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2973B47-50DE-DA68-A410-F1ABE21EDF32}"/>
              </a:ext>
            </a:extLst>
          </p:cNvPr>
          <p:cNvCxnSpPr>
            <a:cxnSpLocks/>
          </p:cNvCxnSpPr>
          <p:nvPr/>
        </p:nvCxnSpPr>
        <p:spPr>
          <a:xfrm>
            <a:off x="7692476" y="973998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115BA8-7EB1-9D87-ECF4-114E0CA95B6D}"/>
              </a:ext>
            </a:extLst>
          </p:cNvPr>
          <p:cNvCxnSpPr>
            <a:cxnSpLocks/>
          </p:cNvCxnSpPr>
          <p:nvPr/>
        </p:nvCxnSpPr>
        <p:spPr>
          <a:xfrm>
            <a:off x="4154277" y="4818833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32C9D7-49BC-51C2-3E0C-82CDC84270CC}"/>
              </a:ext>
            </a:extLst>
          </p:cNvPr>
          <p:cNvCxnSpPr>
            <a:cxnSpLocks/>
          </p:cNvCxnSpPr>
          <p:nvPr/>
        </p:nvCxnSpPr>
        <p:spPr>
          <a:xfrm>
            <a:off x="7692476" y="4818832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83482A-51B4-C9C8-5B2B-9A3F5760AC2E}"/>
              </a:ext>
            </a:extLst>
          </p:cNvPr>
          <p:cNvSpPr/>
          <p:nvPr/>
        </p:nvSpPr>
        <p:spPr>
          <a:xfrm>
            <a:off x="3176725" y="317105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Escalas de modelagem</a:t>
            </a:r>
            <a:endParaRPr lang="pt-BR" sz="3600" noProof="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89CD8D-4B1D-099E-72FE-E4A9D8A4FE3D}"/>
              </a:ext>
            </a:extLst>
          </p:cNvPr>
          <p:cNvSpPr/>
          <p:nvPr/>
        </p:nvSpPr>
        <p:spPr>
          <a:xfrm>
            <a:off x="8372475" y="317105"/>
            <a:ext cx="3253468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modelar?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23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9B5CFE-A429-A8E9-E961-AA1723B8F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66" t="51938" r="20133" b="2447"/>
          <a:stretch>
            <a:fillRect/>
          </a:stretch>
        </p:blipFill>
        <p:spPr>
          <a:xfrm>
            <a:off x="235390" y="199176"/>
            <a:ext cx="6498785" cy="31058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B06E78-E635-0AE0-00E0-BED4328EB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5" t="5552" r="1319" b="14870"/>
          <a:stretch>
            <a:fillRect/>
          </a:stretch>
        </p:blipFill>
        <p:spPr>
          <a:xfrm>
            <a:off x="4524375" y="3167451"/>
            <a:ext cx="7432236" cy="34302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3CF2BD-C67F-5ACC-D491-17626E9EAB52}"/>
              </a:ext>
            </a:extLst>
          </p:cNvPr>
          <p:cNvSpPr txBox="1"/>
          <p:nvPr/>
        </p:nvSpPr>
        <p:spPr>
          <a:xfrm>
            <a:off x="6525350" y="132782"/>
            <a:ext cx="2242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>
                <a:solidFill>
                  <a:srgbClr val="0000FF"/>
                </a:solidFill>
              </a:defRPr>
            </a:lvl1pPr>
          </a:lstStyle>
          <a:p>
            <a:r>
              <a:rPr lang="en-GB" sz="2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Meso-scale</a:t>
            </a:r>
          </a:p>
        </p:txBody>
      </p:sp>
    </p:spTree>
    <p:extLst>
      <p:ext uri="{BB962C8B-B14F-4D97-AF65-F5344CB8AC3E}">
        <p14:creationId xmlns:p14="http://schemas.microsoft.com/office/powerpoint/2010/main" val="1754687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51E93-D7AA-3DC0-B98C-6CE8ACD8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689BD5-7F8D-3E07-9C24-2FB7427632BD}"/>
              </a:ext>
            </a:extLst>
          </p:cNvPr>
          <p:cNvSpPr txBox="1"/>
          <p:nvPr/>
        </p:nvSpPr>
        <p:spPr>
          <a:xfrm>
            <a:off x="520749" y="2156342"/>
            <a:ext cx="56649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LID4096" b="1" dirty="0"/>
              <a:t>insight into the solute transport process</a:t>
            </a:r>
            <a:r>
              <a:rPr lang="pt-BR" b="1" dirty="0"/>
              <a:t>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high-fidelity physics-based numerical modelling;</a:t>
            </a:r>
            <a:endParaRPr lang="LID4096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b="1" dirty="0"/>
              <a:t>effect of melt convection and solute partition.</a:t>
            </a:r>
            <a:endParaRPr lang="LID4096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95958-1321-34DA-5B5D-A7B298E0B9D9}"/>
              </a:ext>
            </a:extLst>
          </p:cNvPr>
          <p:cNvSpPr txBox="1"/>
          <p:nvPr/>
        </p:nvSpPr>
        <p:spPr>
          <a:xfrm>
            <a:off x="2771914" y="5096498"/>
            <a:ext cx="31546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LID4096" dirty="0">
                <a:solidFill>
                  <a:srgbClr val="0000FF"/>
                </a:solidFill>
              </a:rPr>
              <a:t>Temperature,</a:t>
            </a:r>
            <a:r>
              <a:rPr lang="pt-BR" dirty="0">
                <a:solidFill>
                  <a:srgbClr val="0000FF"/>
                </a:solidFill>
              </a:rPr>
              <a:t> </a:t>
            </a:r>
            <a:r>
              <a:rPr lang="LID4096" dirty="0">
                <a:solidFill>
                  <a:srgbClr val="0000FF"/>
                </a:solidFill>
              </a:rPr>
              <a:t>flow velocity, solute concentration, and microstructure </a:t>
            </a:r>
            <a:endParaRPr lang="pt-BR" dirty="0">
              <a:solidFill>
                <a:srgbClr val="0000FF"/>
              </a:solidFill>
            </a:endParaRPr>
          </a:p>
          <a:p>
            <a:pPr algn="ctr"/>
            <a:r>
              <a:rPr lang="pt-BR" dirty="0">
                <a:solidFill>
                  <a:srgbClr val="0000FF"/>
                </a:solidFill>
              </a:rPr>
              <a:t>... d</a:t>
            </a:r>
            <a:r>
              <a:rPr lang="LID4096" dirty="0">
                <a:solidFill>
                  <a:srgbClr val="0000FF"/>
                </a:solidFill>
              </a:rPr>
              <a:t>irectly coupled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00EEF1-2CBF-2E01-3442-D944A50E0CBA}"/>
              </a:ext>
            </a:extLst>
          </p:cNvPr>
          <p:cNvGrpSpPr/>
          <p:nvPr/>
        </p:nvGrpSpPr>
        <p:grpSpPr>
          <a:xfrm>
            <a:off x="2229808" y="132782"/>
            <a:ext cx="6538000" cy="1885316"/>
            <a:chOff x="326574" y="-285080"/>
            <a:chExt cx="6538000" cy="188531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865A81-25FD-EFFC-EE19-89AA21692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6574" y="239486"/>
              <a:ext cx="4295542" cy="136075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A1F596-C0A1-D18B-4C5E-F58FDD4668E1}"/>
                </a:ext>
              </a:extLst>
            </p:cNvPr>
            <p:cNvSpPr txBox="1"/>
            <p:nvPr/>
          </p:nvSpPr>
          <p:spPr>
            <a:xfrm>
              <a:off x="4622116" y="-285080"/>
              <a:ext cx="22424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LID4096"/>
              </a:defPPr>
              <a:lvl1pPr algn="ctr">
                <a:defRPr sz="2000">
                  <a:solidFill>
                    <a:srgbClr val="0000FF"/>
                  </a:solidFill>
                </a:defRPr>
              </a:lvl1pPr>
            </a:lstStyle>
            <a:p>
              <a:r>
                <a:rPr lang="en-GB" sz="2800" b="1" noProof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Micro-scale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F613F02-D1CC-C2FD-E558-4F90E83774E5}"/>
              </a:ext>
            </a:extLst>
          </p:cNvPr>
          <p:cNvSpPr txBox="1"/>
          <p:nvPr/>
        </p:nvSpPr>
        <p:spPr>
          <a:xfrm>
            <a:off x="10118272" y="5170775"/>
            <a:ext cx="15022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LID4096" sz="1600" dirty="0"/>
              <a:t>210 ×</a:t>
            </a:r>
            <a:r>
              <a:rPr lang="pt-BR" sz="1600" dirty="0"/>
              <a:t> </a:t>
            </a:r>
            <a:r>
              <a:rPr lang="LID4096" sz="1600" dirty="0"/>
              <a:t>400 µm computational domain</a:t>
            </a:r>
            <a:r>
              <a:rPr lang="pt-BR" sz="1600" dirty="0"/>
              <a:t> (2D)</a:t>
            </a:r>
          </a:p>
          <a:p>
            <a:pPr algn="r"/>
            <a:r>
              <a:rPr lang="en-GB" sz="1600" dirty="0">
                <a:latin typeface="AdvOTdd63dae3"/>
              </a:rPr>
              <a:t>1,341,561 </a:t>
            </a:r>
          </a:p>
          <a:p>
            <a:pPr algn="r"/>
            <a:r>
              <a:rPr lang="en-GB" sz="1600" dirty="0">
                <a:latin typeface="AdvOTdd63dae3"/>
              </a:rPr>
              <a:t>grid 0.25 </a:t>
            </a:r>
            <a:r>
              <a:rPr lang="en-GB" sz="1600" dirty="0" err="1">
                <a:latin typeface="AdvOTdd63dae3+03"/>
              </a:rPr>
              <a:t>μ</a:t>
            </a:r>
            <a:r>
              <a:rPr lang="en-GB" sz="1600" dirty="0" err="1">
                <a:latin typeface="AdvOTdd63dae3"/>
              </a:rPr>
              <a:t>m</a:t>
            </a:r>
            <a:endParaRPr lang="LID4096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3FDDD3-7330-406D-9099-4460C47A93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17" b="60600"/>
          <a:stretch>
            <a:fillRect/>
          </a:stretch>
        </p:blipFill>
        <p:spPr>
          <a:xfrm>
            <a:off x="6705600" y="651479"/>
            <a:ext cx="4974773" cy="17958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511BDF1-0BF2-0125-5C1A-2CF5CA835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17" t="45003" b="4034"/>
          <a:stretch>
            <a:fillRect/>
          </a:stretch>
        </p:blipFill>
        <p:spPr>
          <a:xfrm>
            <a:off x="6705600" y="2615250"/>
            <a:ext cx="4974772" cy="23228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F5D7BA6-F9DA-5A65-FB31-92FFA294A66A}"/>
              </a:ext>
            </a:extLst>
          </p:cNvPr>
          <p:cNvSpPr txBox="1"/>
          <p:nvPr/>
        </p:nvSpPr>
        <p:spPr>
          <a:xfrm>
            <a:off x="10029832" y="687829"/>
            <a:ext cx="16219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>
                <a:solidFill>
                  <a:srgbClr val="0000FF"/>
                </a:solidFill>
              </a:defRPr>
            </a:lvl1pPr>
          </a:lstStyle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Printed</a:t>
            </a:r>
            <a:endParaRPr lang="en-GB" sz="24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F1AEB8-61A7-BB22-36CA-C87A2B7D8FA8}"/>
              </a:ext>
            </a:extLst>
          </p:cNvPr>
          <p:cNvSpPr txBox="1"/>
          <p:nvPr/>
        </p:nvSpPr>
        <p:spPr>
          <a:xfrm rot="16200000">
            <a:off x="5606981" y="3018515"/>
            <a:ext cx="1495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>
                <a:solidFill>
                  <a:srgbClr val="0000FF"/>
                </a:solidFill>
              </a:defRPr>
            </a:lvl1pPr>
          </a:lstStyle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  <a:endParaRPr lang="en-GB" sz="28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61D8B2-1561-C685-7297-740D867F16C1}"/>
              </a:ext>
            </a:extLst>
          </p:cNvPr>
          <p:cNvGrpSpPr>
            <a:grpSpLocks noChangeAspect="1"/>
          </p:cNvGrpSpPr>
          <p:nvPr/>
        </p:nvGrpSpPr>
        <p:grpSpPr>
          <a:xfrm>
            <a:off x="678684" y="3210875"/>
            <a:ext cx="4877353" cy="2942152"/>
            <a:chOff x="322216" y="3019052"/>
            <a:chExt cx="5519474" cy="3329497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E9D78FC-A9F0-161A-B5C7-ABA7352AF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748" t="9050" r="67184" b="66061"/>
            <a:stretch>
              <a:fillRect/>
            </a:stretch>
          </p:blipFill>
          <p:spPr>
            <a:xfrm>
              <a:off x="322216" y="3019053"/>
              <a:ext cx="2420984" cy="110714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094B13F-A5E0-E8CD-CE8D-3ACAA9BB0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946" t="48903" r="60805" b="2231"/>
            <a:stretch>
              <a:fillRect/>
            </a:stretch>
          </p:blipFill>
          <p:spPr>
            <a:xfrm>
              <a:off x="2910840" y="3019052"/>
              <a:ext cx="2930850" cy="207970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A2FEBC7-5E88-737D-62CE-961378375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7767" y="4268840"/>
              <a:ext cx="2402948" cy="207970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90BF4C24-79E7-B909-2D48-F842675B4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030" y="5077211"/>
            <a:ext cx="4349575" cy="13930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87012C3-282F-FEBE-C4B0-B50DEB4B2630}"/>
              </a:ext>
            </a:extLst>
          </p:cNvPr>
          <p:cNvSpPr txBox="1"/>
          <p:nvPr/>
        </p:nvSpPr>
        <p:spPr>
          <a:xfrm>
            <a:off x="8709" y="662979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i="0" u="none" strike="noStrike" baseline="0" dirty="0">
                <a:solidFill>
                  <a:schemeClr val="accent2"/>
                </a:solidFill>
                <a:latin typeface="AdvOTa2fa4214.B"/>
              </a:rPr>
              <a:t>Solute trapping and non-equilibrium microstructure </a:t>
            </a:r>
            <a:r>
              <a:rPr lang="en-GB" sz="1000" b="1" i="0" u="none" strike="noStrike" baseline="0" dirty="0">
                <a:solidFill>
                  <a:schemeClr val="accent2"/>
                </a:solidFill>
                <a:latin typeface="AdvOTa2fa4214.B"/>
              </a:rPr>
              <a:t>during rapid solidi</a:t>
            </a:r>
            <a:r>
              <a:rPr lang="en-GB" sz="1000" b="1" i="0" u="none" strike="noStrike" baseline="0" dirty="0">
                <a:solidFill>
                  <a:schemeClr val="accent2"/>
                </a:solidFill>
                <a:latin typeface="AdvOTa2fa4214.B+fb"/>
              </a:rPr>
              <a:t>fi</a:t>
            </a:r>
            <a:r>
              <a:rPr lang="en-GB" sz="1000" b="1" i="0" u="none" strike="noStrike" baseline="0" dirty="0">
                <a:solidFill>
                  <a:schemeClr val="accent2"/>
                </a:solidFill>
                <a:latin typeface="AdvOTa2fa4214.B"/>
              </a:rPr>
              <a:t>cation of additive </a:t>
            </a:r>
            <a:r>
              <a:rPr lang="en-US" sz="1000" b="1" i="0" u="none" strike="noStrike" baseline="0" dirty="0">
                <a:solidFill>
                  <a:schemeClr val="accent2"/>
                </a:solidFill>
                <a:latin typeface="AdvOTa2fa4214.B"/>
              </a:rPr>
              <a:t>manufacturing</a:t>
            </a:r>
            <a:endParaRPr lang="LID4096" sz="1000" b="1" dirty="0">
              <a:solidFill>
                <a:schemeClr val="accent2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8A28C-04CA-5432-7115-335E104ADF21}"/>
              </a:ext>
            </a:extLst>
          </p:cNvPr>
          <p:cNvSpPr/>
          <p:nvPr/>
        </p:nvSpPr>
        <p:spPr>
          <a:xfrm>
            <a:off x="357897" y="688420"/>
            <a:ext cx="1559713" cy="889008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Laser</a:t>
            </a:r>
          </a:p>
          <a:p>
            <a:pPr algn="ctr"/>
            <a:r>
              <a:rPr lang="LID4096" sz="2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Powder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Bed Fusion (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L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PBF)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C12347-0F5A-8559-3DCF-88CB0A23E200}"/>
              </a:ext>
            </a:extLst>
          </p:cNvPr>
          <p:cNvSpPr/>
          <p:nvPr/>
        </p:nvSpPr>
        <p:spPr>
          <a:xfrm>
            <a:off x="43544" y="-21164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EX: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025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421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036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9D5A93-641C-ED55-E5B0-9FA35FCBAEB8}"/>
              </a:ext>
            </a:extLst>
          </p:cNvPr>
          <p:cNvSpPr txBox="1"/>
          <p:nvPr/>
        </p:nvSpPr>
        <p:spPr>
          <a:xfrm>
            <a:off x="462993" y="59600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0" u="none" strike="noStrike" baseline="0" dirty="0">
                <a:solidFill>
                  <a:srgbClr val="000000"/>
                </a:solidFill>
                <a:latin typeface="Charis SIL"/>
              </a:rPr>
              <a:t>Heat Affected Zone (HAZ)</a:t>
            </a:r>
            <a:endParaRPr lang="LID4096" sz="5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9D9C9-9B3A-C2E2-304D-58E8755D1B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27" t="14307" r="35724" b="19738"/>
          <a:stretch>
            <a:fillRect/>
          </a:stretch>
        </p:blipFill>
        <p:spPr>
          <a:xfrm>
            <a:off x="567497" y="978344"/>
            <a:ext cx="1207572" cy="21684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7F73E3-2BEF-B067-FE2A-2954DDD86B8D}"/>
              </a:ext>
            </a:extLst>
          </p:cNvPr>
          <p:cNvSpPr txBox="1"/>
          <p:nvPr/>
        </p:nvSpPr>
        <p:spPr>
          <a:xfrm>
            <a:off x="1847655" y="978344"/>
            <a:ext cx="1863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2000" b="1" i="0" u="none" strike="noStrike" baseline="0">
                <a:solidFill>
                  <a:srgbClr val="000000"/>
                </a:solidFill>
                <a:latin typeface="Charis SIL"/>
              </a:defRPr>
            </a:lvl1pPr>
          </a:lstStyle>
          <a:p>
            <a:r>
              <a:rPr lang="LID4096" dirty="0"/>
              <a:t>phase 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D3E41-9434-80D6-4E99-7BB9A2B55FCD}"/>
              </a:ext>
            </a:extLst>
          </p:cNvPr>
          <p:cNvSpPr txBox="1"/>
          <p:nvPr/>
        </p:nvSpPr>
        <p:spPr>
          <a:xfrm>
            <a:off x="1847655" y="1946449"/>
            <a:ext cx="4389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baseline="0" dirty="0">
                <a:solidFill>
                  <a:srgbClr val="000000"/>
                </a:solidFill>
                <a:latin typeface="Charis SIL"/>
              </a:rPr>
              <a:t>the balance of energy equation</a:t>
            </a:r>
          </a:p>
          <a:p>
            <a:r>
              <a:rPr lang="en-GB" sz="2400" b="1" dirty="0">
                <a:solidFill>
                  <a:srgbClr val="000000"/>
                </a:solidFill>
                <a:latin typeface="Charis SIL"/>
              </a:rPr>
              <a:t>    + </a:t>
            </a:r>
            <a:r>
              <a:rPr lang="en-GB" sz="2400" b="1" i="0" u="none" strike="noStrike" baseline="0" dirty="0">
                <a:solidFill>
                  <a:srgbClr val="000000"/>
                </a:solidFill>
                <a:latin typeface="Charis SIL"/>
              </a:rPr>
              <a:t>phase change </a:t>
            </a:r>
          </a:p>
          <a:p>
            <a:r>
              <a:rPr lang="en-GB" sz="2400" b="1" dirty="0">
                <a:solidFill>
                  <a:srgbClr val="000000"/>
                </a:solidFill>
                <a:latin typeface="Charis SIL"/>
              </a:rPr>
              <a:t>    + </a:t>
            </a:r>
            <a:r>
              <a:rPr lang="en-GB" sz="2400" b="1" i="0" u="none" strike="noStrike" baseline="0" dirty="0">
                <a:solidFill>
                  <a:srgbClr val="000000"/>
                </a:solidFill>
                <a:latin typeface="Charis SIL"/>
              </a:rPr>
              <a:t>growing domain</a:t>
            </a:r>
            <a:endParaRPr lang="LID4096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D6F1F8-B1CC-6223-0A12-E2FCBA87E2E9}"/>
              </a:ext>
            </a:extLst>
          </p:cNvPr>
          <p:cNvSpPr txBox="1"/>
          <p:nvPr/>
        </p:nvSpPr>
        <p:spPr>
          <a:xfrm>
            <a:off x="1879573" y="1378949"/>
            <a:ext cx="33992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400" b="1" dirty="0">
                <a:solidFill>
                  <a:srgbClr val="0000FF"/>
                </a:solidFill>
              </a:rPr>
              <a:t>multi-timestep</a:t>
            </a:r>
            <a:r>
              <a:rPr lang="pt-BR" sz="2400" b="1" dirty="0">
                <a:solidFill>
                  <a:srgbClr val="0000FF"/>
                </a:solidFill>
              </a:rPr>
              <a:t> </a:t>
            </a:r>
            <a:r>
              <a:rPr lang="LID4096" sz="2400" b="1" dirty="0">
                <a:solidFill>
                  <a:srgbClr val="0000FF"/>
                </a:solidFill>
              </a:rPr>
              <a:t>methods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F72EBC-F7DC-34D1-9A2F-C0455CBFC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0" y="3625497"/>
            <a:ext cx="7977050" cy="16491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42D4601-15DD-F79C-B8C9-2B4871CC5FD0}"/>
              </a:ext>
            </a:extLst>
          </p:cNvPr>
          <p:cNvSpPr txBox="1"/>
          <p:nvPr/>
        </p:nvSpPr>
        <p:spPr>
          <a:xfrm>
            <a:off x="462993" y="4066856"/>
            <a:ext cx="255160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1" u="none" strike="noStrike" baseline="0" dirty="0">
                <a:solidFill>
                  <a:srgbClr val="0000FF"/>
                </a:solidFill>
                <a:latin typeface="STIXMath"/>
              </a:rPr>
              <a:t>𝜌,𝑐</a:t>
            </a:r>
            <a:r>
              <a:rPr lang="en-GB" sz="900" b="1" i="1" u="none" strike="noStrike" baseline="0" dirty="0">
                <a:solidFill>
                  <a:srgbClr val="0000FF"/>
                </a:solidFill>
                <a:latin typeface="STIXMath"/>
              </a:rPr>
              <a:t>𝑝</a:t>
            </a:r>
            <a:r>
              <a:rPr lang="en-GB" sz="2000" b="1" i="1" u="none" strike="noStrike" baseline="0" dirty="0">
                <a:solidFill>
                  <a:srgbClr val="0000FF"/>
                </a:solidFill>
                <a:latin typeface="STIXMath"/>
              </a:rPr>
              <a:t>,𝐿,𝑓</a:t>
            </a:r>
            <a:r>
              <a:rPr lang="en-GB" sz="900" b="1" i="1" u="none" strike="noStrike" baseline="0" dirty="0">
                <a:solidFill>
                  <a:srgbClr val="0000FF"/>
                </a:solidFill>
                <a:latin typeface="STIXMath"/>
              </a:rPr>
              <a:t>𝑙 </a:t>
            </a:r>
            <a:r>
              <a:rPr lang="en-GB" sz="2000" b="1" i="1" dirty="0">
                <a:solidFill>
                  <a:srgbClr val="0000FF"/>
                </a:solidFill>
                <a:latin typeface="STIXMath"/>
              </a:rPr>
              <a:t>,𝑟 </a:t>
            </a:r>
            <a:r>
              <a:rPr lang="en-GB" sz="2000" b="1" i="1" u="none" strike="noStrike" baseline="0" dirty="0">
                <a:solidFill>
                  <a:srgbClr val="0000FF"/>
                </a:solidFill>
                <a:latin typeface="STIXMath"/>
              </a:rPr>
              <a:t> 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Charis SIL"/>
              </a:rPr>
              <a:t>density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Charis SIL"/>
              </a:rPr>
              <a:t>specific and latent heats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Charis SIL"/>
              </a:rPr>
              <a:t>liquid fraction and 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Charis SIL"/>
              </a:rPr>
              <a:t>power density </a:t>
            </a:r>
            <a:endParaRPr lang="LID4096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14344-6462-498D-3537-B52335A1FEBA}"/>
              </a:ext>
            </a:extLst>
          </p:cNvPr>
          <p:cNvSpPr txBox="1"/>
          <p:nvPr/>
        </p:nvSpPr>
        <p:spPr>
          <a:xfrm>
            <a:off x="462993" y="5487873"/>
            <a:ext cx="380564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u="none" strike="noStrike" baseline="0" dirty="0" err="1">
                <a:solidFill>
                  <a:srgbClr val="0000FF"/>
                </a:solidFill>
                <a:latin typeface="STIXMath"/>
              </a:rPr>
              <a:t>ℎ</a:t>
            </a:r>
            <a:r>
              <a:rPr lang="en-US" sz="900" b="1" i="0" u="none" strike="noStrike" baseline="0" dirty="0" err="1">
                <a:solidFill>
                  <a:srgbClr val="0000FF"/>
                </a:solidFill>
                <a:latin typeface="Charis SIL"/>
              </a:rPr>
              <a:t>conv</a:t>
            </a:r>
            <a:r>
              <a:rPr lang="en-US" sz="2000" b="1" i="0" u="none" strike="noStrike" baseline="0" dirty="0">
                <a:solidFill>
                  <a:srgbClr val="0000FF"/>
                </a:solidFill>
                <a:latin typeface="Charis SIL"/>
              </a:rPr>
              <a:t>, </a:t>
            </a:r>
            <a:r>
              <a:rPr lang="en-US" sz="2000" b="1" i="1" u="none" strike="noStrike" baseline="0" dirty="0">
                <a:solidFill>
                  <a:srgbClr val="0000FF"/>
                </a:solidFill>
                <a:latin typeface="STIXMath"/>
              </a:rPr>
              <a:t>𝜀</a:t>
            </a:r>
            <a:r>
              <a:rPr lang="en-US" sz="2000" b="1" i="0" u="none" strike="noStrike" baseline="0" dirty="0">
                <a:solidFill>
                  <a:srgbClr val="0000FF"/>
                </a:solidFill>
                <a:latin typeface="Charis SIL"/>
              </a:rPr>
              <a:t>, </a:t>
            </a:r>
            <a:r>
              <a:rPr lang="en-US" sz="2000" b="1" i="1" u="none" strike="noStrike" baseline="0" dirty="0">
                <a:solidFill>
                  <a:srgbClr val="0000FF"/>
                </a:solidFill>
                <a:latin typeface="STIXMath"/>
              </a:rPr>
              <a:t>𝜎</a:t>
            </a:r>
            <a:r>
              <a:rPr lang="en-US" sz="2000" b="1" i="0" u="none" strike="noStrike" baseline="0" dirty="0">
                <a:solidFill>
                  <a:srgbClr val="0000FF"/>
                </a:solidFill>
                <a:latin typeface="Charis SIL"/>
              </a:rPr>
              <a:t>, </a:t>
            </a:r>
            <a:r>
              <a:rPr lang="en-US" sz="2000" b="1" i="1" u="none" strike="noStrike" baseline="0" dirty="0">
                <a:solidFill>
                  <a:srgbClr val="0000FF"/>
                </a:solidFill>
                <a:latin typeface="STIXMath"/>
              </a:rPr>
              <a:t>𝑇</a:t>
            </a:r>
            <a:r>
              <a:rPr lang="en-US" sz="900" b="1" i="0" u="none" strike="noStrike" baseline="0" dirty="0">
                <a:solidFill>
                  <a:srgbClr val="0000FF"/>
                </a:solidFill>
                <a:latin typeface="Charis SIL"/>
              </a:rPr>
              <a:t>env</a:t>
            </a:r>
            <a:r>
              <a:rPr lang="en-US" sz="2000" b="1" i="0" u="none" strike="noStrike" baseline="0" dirty="0">
                <a:solidFill>
                  <a:srgbClr val="0000FF"/>
                </a:solidFill>
                <a:latin typeface="Charis SIL"/>
              </a:rPr>
              <a:t>, </a:t>
            </a:r>
            <a:r>
              <a:rPr lang="en-US" sz="2000" b="1" i="1" u="none" strike="noStrike" baseline="0" dirty="0">
                <a:solidFill>
                  <a:srgbClr val="0000FF"/>
                </a:solidFill>
                <a:latin typeface="STIXMath"/>
              </a:rPr>
              <a:t>𝑇</a:t>
            </a:r>
            <a:r>
              <a:rPr lang="en-US" sz="900" b="1" i="0" u="none" strike="noStrike" baseline="0" dirty="0">
                <a:solidFill>
                  <a:srgbClr val="0000FF"/>
                </a:solidFill>
                <a:latin typeface="STIXMath"/>
              </a:rPr>
              <a:t>0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haris SIL"/>
              </a:rPr>
              <a:t>convection heat transfer coefficient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haris SIL"/>
              </a:rPr>
              <a:t>emissivity, Stefan–Boltzmann constant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haris SIL"/>
              </a:rPr>
              <a:t>environment &amp; initial temperatures </a:t>
            </a:r>
            <a:endParaRPr lang="LID4096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0B9153-75B0-027B-C081-E78A1381EC58}"/>
              </a:ext>
            </a:extLst>
          </p:cNvPr>
          <p:cNvSpPr txBox="1"/>
          <p:nvPr/>
        </p:nvSpPr>
        <p:spPr>
          <a:xfrm>
            <a:off x="6357260" y="564188"/>
            <a:ext cx="16894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2400" b="1" i="0" u="none" strike="noStrike" baseline="0">
                <a:solidFill>
                  <a:srgbClr val="000000"/>
                </a:solidFill>
                <a:latin typeface="Charis SIL"/>
              </a:defRPr>
            </a:lvl1pPr>
          </a:lstStyle>
          <a:p>
            <a:pPr algn="ctr"/>
            <a:r>
              <a:rPr lang="LID4096" dirty="0"/>
              <a:t>latent heat treatment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A4ADE-6940-4338-444E-1058736549F8}"/>
              </a:ext>
            </a:extLst>
          </p:cNvPr>
          <p:cNvSpPr txBox="1"/>
          <p:nvPr/>
        </p:nvSpPr>
        <p:spPr>
          <a:xfrm>
            <a:off x="8046720" y="1940841"/>
            <a:ext cx="2995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haris SIL"/>
              </a:rPr>
              <a:t>born-dead element technique</a:t>
            </a:r>
            <a:endParaRPr lang="LID4096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6A24B8-634C-02D0-93D4-D9DF7CAD6657}"/>
              </a:ext>
            </a:extLst>
          </p:cNvPr>
          <p:cNvSpPr/>
          <p:nvPr/>
        </p:nvSpPr>
        <p:spPr>
          <a:xfrm>
            <a:off x="43544" y="-21164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EX: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6FED32-B15F-C3A2-EB56-288A7F0E87A9}"/>
              </a:ext>
            </a:extLst>
          </p:cNvPr>
          <p:cNvCxnSpPr>
            <a:cxnSpLocks/>
          </p:cNvCxnSpPr>
          <p:nvPr/>
        </p:nvCxnSpPr>
        <p:spPr>
          <a:xfrm flipH="1">
            <a:off x="216372" y="3511424"/>
            <a:ext cx="8805708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906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383AFA05-AE80-CBF4-788E-F2994CD23B67}"/>
              </a:ext>
            </a:extLst>
          </p:cNvPr>
          <p:cNvSpPr txBox="1"/>
          <p:nvPr/>
        </p:nvSpPr>
        <p:spPr>
          <a:xfrm>
            <a:off x="79760" y="570978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u="sng" strike="noStrike" baseline="0" dirty="0">
                <a:latin typeface="MyriadPro-SemiboldSemiCn"/>
              </a:rPr>
              <a:t>- A multi‑criteria </a:t>
            </a:r>
            <a:r>
              <a:rPr lang="en-US" sz="1600" b="1" i="1" u="sng" strike="noStrike" baseline="0" dirty="0">
                <a:latin typeface="MyriadPro-SemiboldSemiCnIt"/>
              </a:rPr>
              <a:t>h</a:t>
            </a:r>
            <a:r>
              <a:rPr lang="en-US" sz="1600" b="1" i="0" u="sng" strike="noStrike" baseline="0" dirty="0">
                <a:latin typeface="MyriadPro-SemiboldSemiCn"/>
              </a:rPr>
              <a:t>‑adaptive finite‑element framework</a:t>
            </a:r>
            <a:r>
              <a:rPr lang="en-US" sz="1200" b="0" i="0" u="none" strike="noStrike" baseline="0" dirty="0">
                <a:latin typeface="MyriadPro-SemiboldSemiCn"/>
              </a:rPr>
              <a:t> for industrial </a:t>
            </a:r>
            <a:r>
              <a:rPr lang="en-GB" sz="1200" b="0" i="0" u="none" strike="noStrike" baseline="0" dirty="0">
                <a:latin typeface="MyriadPro-SemiboldSemiCn"/>
              </a:rPr>
              <a:t>part‑scale thermal analysis in additive manufacturing processes – </a:t>
            </a:r>
            <a:r>
              <a:rPr lang="en-US" sz="1200" dirty="0"/>
              <a:t>Moreira &amp; </a:t>
            </a:r>
            <a:r>
              <a:rPr lang="en-US" sz="1200" dirty="0" err="1">
                <a:highlight>
                  <a:srgbClr val="FFFF00"/>
                </a:highlight>
              </a:rPr>
              <a:t>Chiumenti</a:t>
            </a:r>
            <a:r>
              <a:rPr lang="en-US" sz="1200" dirty="0">
                <a:highlight>
                  <a:srgbClr val="FFFF00"/>
                </a:highlight>
              </a:rPr>
              <a:t> </a:t>
            </a:r>
            <a:r>
              <a:rPr lang="en-US" sz="1200" dirty="0"/>
              <a:t>(2021)</a:t>
            </a:r>
          </a:p>
          <a:p>
            <a:r>
              <a:rPr lang="en-GB" sz="1200" dirty="0"/>
              <a:t>- Numerical simulation and experimental calibration of Additive Manufacturing by blown powder technology. </a:t>
            </a:r>
            <a:r>
              <a:rPr lang="en-US" sz="1200" dirty="0"/>
              <a:t>Part I: thermal analysis -- M. </a:t>
            </a:r>
            <a:r>
              <a:rPr lang="en-US" sz="1200" dirty="0" err="1">
                <a:highlight>
                  <a:srgbClr val="FFFF00"/>
                </a:highlight>
              </a:rPr>
              <a:t>Chiumenti</a:t>
            </a:r>
            <a:endParaRPr lang="en-US" sz="1200" dirty="0">
              <a:highlight>
                <a:srgbClr val="FFFF00"/>
              </a:highlight>
            </a:endParaRPr>
          </a:p>
          <a:p>
            <a:r>
              <a:rPr lang="en-GB" sz="1200" dirty="0"/>
              <a:t>- Residual stress and distortion of rectangular and S-shaped Ti-6Al-4V parts </a:t>
            </a:r>
            <a:r>
              <a:rPr lang="en-US" sz="1200" dirty="0"/>
              <a:t>-- M. </a:t>
            </a:r>
            <a:r>
              <a:rPr lang="en-US" sz="1200" dirty="0" err="1">
                <a:highlight>
                  <a:srgbClr val="FFFF00"/>
                </a:highlight>
              </a:rPr>
              <a:t>Chiumenti</a:t>
            </a:r>
            <a:endParaRPr lang="LID4096" sz="1200" dirty="0">
              <a:highlight>
                <a:srgbClr val="FFFF0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B78473-A7F0-914B-C99C-1BF327B3FDA8}"/>
              </a:ext>
            </a:extLst>
          </p:cNvPr>
          <p:cNvSpPr txBox="1"/>
          <p:nvPr/>
        </p:nvSpPr>
        <p:spPr>
          <a:xfrm>
            <a:off x="507223" y="698995"/>
            <a:ext cx="48088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h-adaptive finite-element (FE) strategy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b="1" dirty="0"/>
              <a:t>mesh coarsening and refinement</a:t>
            </a: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common layer interface (CLI)  </a:t>
            </a:r>
            <a:r>
              <a:rPr lang="en-US" b="1" dirty="0">
                <a:solidFill>
                  <a:srgbClr val="0000FF"/>
                </a:solidFill>
              </a:rPr>
              <a:t>x </a:t>
            </a:r>
            <a:r>
              <a:rPr lang="en-US" b="1" dirty="0" err="1">
                <a:solidFill>
                  <a:srgbClr val="0000FF"/>
                </a:solidFill>
              </a:rPr>
              <a:t>GCode</a:t>
            </a:r>
            <a:endParaRPr lang="LID4096" b="1" dirty="0">
              <a:solidFill>
                <a:srgbClr val="0000FF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D4AE64D-142C-C5A6-6B1E-B80609B23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23" y="2062144"/>
            <a:ext cx="4760272" cy="33845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F20649-871F-C592-E74E-004711043AA6}"/>
              </a:ext>
            </a:extLst>
          </p:cNvPr>
          <p:cNvSpPr txBox="1"/>
          <p:nvPr/>
        </p:nvSpPr>
        <p:spPr>
          <a:xfrm>
            <a:off x="7340531" y="6063723"/>
            <a:ext cx="2484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Caicedo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9CEB4DE-F19B-25D2-D69C-0FB7DBF81CC8}"/>
              </a:ext>
            </a:extLst>
          </p:cNvPr>
          <p:cNvGrpSpPr/>
          <p:nvPr/>
        </p:nvGrpSpPr>
        <p:grpSpPr>
          <a:xfrm>
            <a:off x="5905794" y="2062144"/>
            <a:ext cx="5641879" cy="3330812"/>
            <a:chOff x="5870960" y="1834785"/>
            <a:chExt cx="5641879" cy="333081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2884BF6-7107-207F-BD5F-B4C5C233DF35}"/>
                </a:ext>
              </a:extLst>
            </p:cNvPr>
            <p:cNvGrpSpPr/>
            <p:nvPr/>
          </p:nvGrpSpPr>
          <p:grpSpPr>
            <a:xfrm>
              <a:off x="5870960" y="1834785"/>
              <a:ext cx="5641879" cy="3258752"/>
              <a:chOff x="5564776" y="1514854"/>
              <a:chExt cx="5641879" cy="3258752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6E57E60B-F3DF-524A-8F29-346395CE7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56742"/>
              <a:stretch>
                <a:fillRect/>
              </a:stretch>
            </p:blipFill>
            <p:spPr>
              <a:xfrm>
                <a:off x="6253655" y="4077260"/>
                <a:ext cx="4953000" cy="696346"/>
              </a:xfrm>
              <a:prstGeom prst="rect">
                <a:avLst/>
              </a:prstGeom>
            </p:spPr>
          </p:pic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6DAC0AD-FD90-EDDD-759F-9EB4DA08F0A4}"/>
                  </a:ext>
                </a:extLst>
              </p:cNvPr>
              <p:cNvGrpSpPr/>
              <p:nvPr/>
            </p:nvGrpSpPr>
            <p:grpSpPr>
              <a:xfrm>
                <a:off x="5564776" y="1514854"/>
                <a:ext cx="5357427" cy="2563504"/>
                <a:chOff x="676003" y="334423"/>
                <a:chExt cx="5357427" cy="2563504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E5E0877E-0A06-E5B1-0B43-BBC1749C3A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8051" y="419236"/>
                  <a:ext cx="1676400" cy="428625"/>
                </a:xfrm>
                <a:prstGeom prst="rect">
                  <a:avLst/>
                </a:prstGeom>
              </p:spPr>
            </p:pic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3826787-2279-F854-B987-63CF4E26EB9C}"/>
                    </a:ext>
                  </a:extLst>
                </p:cNvPr>
                <p:cNvSpPr txBox="1"/>
                <p:nvPr/>
              </p:nvSpPr>
              <p:spPr>
                <a:xfrm>
                  <a:off x="3721053" y="334424"/>
                  <a:ext cx="2312377" cy="118494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400" b="0" i="1" u="none" strike="noStrike" baseline="0" dirty="0">
                      <a:solidFill>
                        <a:srgbClr val="0000FF"/>
                      </a:solidFill>
                      <a:latin typeface="STIXMath-Italic"/>
                    </a:rPr>
                    <a:t>̇</a:t>
                  </a:r>
                  <a:r>
                    <a:rPr lang="en-US" sz="1400" b="0" i="1" u="none" strike="noStrike" baseline="0" dirty="0">
                      <a:solidFill>
                        <a:srgbClr val="0000FF"/>
                      </a:solidFill>
                      <a:latin typeface="STIXGeneral-Italic2"/>
                    </a:rPr>
                    <a:t>H   </a:t>
                  </a:r>
                  <a:r>
                    <a:rPr lang="en-GB" sz="1400" dirty="0">
                      <a:solidFill>
                        <a:srgbClr val="0000FF"/>
                      </a:solidFill>
                      <a:latin typeface="STIX-Regular"/>
                    </a:rPr>
                    <a:t>rate of enthalpy</a:t>
                  </a:r>
                  <a:endParaRPr lang="en-US" sz="1400" b="0" i="1" u="none" strike="noStrike" baseline="0" dirty="0">
                    <a:solidFill>
                      <a:srgbClr val="0000FF"/>
                    </a:solidFill>
                    <a:latin typeface="STIXGeneral-Italic2"/>
                  </a:endParaRPr>
                </a:p>
                <a:p>
                  <a:r>
                    <a:rPr lang="en-GB" sz="1400" b="1" i="1" u="none" strike="noStrike" baseline="0" dirty="0">
                      <a:solidFill>
                        <a:srgbClr val="0000FF"/>
                      </a:solidFill>
                      <a:latin typeface="STIXGeneral-BoldItalic"/>
                    </a:rPr>
                    <a:t>q   </a:t>
                  </a:r>
                  <a:r>
                    <a:rPr lang="en-GB" sz="1400" b="0" i="0" u="none" strike="noStrike" baseline="0" dirty="0">
                      <a:solidFill>
                        <a:srgbClr val="0000FF"/>
                      </a:solidFill>
                      <a:latin typeface="STIX-Regular"/>
                    </a:rPr>
                    <a:t>heat-flux per unit volume</a:t>
                  </a:r>
                </a:p>
                <a:p>
                  <a:r>
                    <a:rPr lang="en-GB" sz="1400" i="1" dirty="0">
                      <a:solidFill>
                        <a:srgbClr val="0000FF"/>
                      </a:solidFill>
                      <a:latin typeface="STIXGeneral-Italic3"/>
                    </a:rPr>
                    <a:t>r</a:t>
                  </a:r>
                  <a:r>
                    <a:rPr lang="en-GB" sz="1400" i="1" dirty="0">
                      <a:solidFill>
                        <a:srgbClr val="0000FF"/>
                      </a:solidFill>
                      <a:latin typeface="STIXMath-Italic"/>
                    </a:rPr>
                    <a:t>̇  </a:t>
                  </a:r>
                  <a:r>
                    <a:rPr lang="en-GB" sz="1400" dirty="0">
                      <a:solidFill>
                        <a:srgbClr val="0000FF"/>
                      </a:solidFill>
                      <a:latin typeface="STIX-Regular"/>
                    </a:rPr>
                    <a:t>  rate of heat source</a:t>
                  </a:r>
                  <a:endParaRPr lang="en-GB" sz="1400" i="1" dirty="0">
                    <a:solidFill>
                      <a:srgbClr val="0000FF"/>
                    </a:solidFill>
                    <a:latin typeface="STIXMath-Italic"/>
                  </a:endParaRPr>
                </a:p>
                <a:p>
                  <a:endParaRPr lang="en-GB" sz="100" b="0" i="0" u="none" strike="noStrike" baseline="0" dirty="0">
                    <a:solidFill>
                      <a:srgbClr val="0000FF"/>
                    </a:solidFill>
                    <a:latin typeface="STIX-Regular"/>
                  </a:endParaRPr>
                </a:p>
                <a:p>
                  <a:r>
                    <a:rPr lang="en-GB" sz="1400" dirty="0">
                      <a:solidFill>
                        <a:srgbClr val="0000FF"/>
                      </a:solidFill>
                      <a:latin typeface="STIX-Regular"/>
                    </a:rPr>
                    <a:t>C   </a:t>
                  </a:r>
                  <a:r>
                    <a:rPr lang="en-GB" sz="1400" dirty="0">
                      <a:solidFill>
                        <a:srgbClr val="0000FF"/>
                      </a:solidFill>
                    </a:rPr>
                    <a:t>(temperature dependent) heat capacity</a:t>
                  </a:r>
                  <a:endParaRPr lang="LID4096" sz="1400" dirty="0">
                    <a:solidFill>
                      <a:srgbClr val="0000FF"/>
                    </a:solidFill>
                  </a:endParaRPr>
                </a:p>
              </p:txBody>
            </p:sp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0233BAAB-ABE6-5897-4FB7-A0AF4988C8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t="18000" b="13963"/>
                <a:stretch>
                  <a:fillRect/>
                </a:stretch>
              </p:blipFill>
              <p:spPr>
                <a:xfrm>
                  <a:off x="1738992" y="796115"/>
                  <a:ext cx="1285875" cy="324024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41D14760-1E87-0A6F-3873-6AD13A5FCC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8051" y="997075"/>
                  <a:ext cx="1009650" cy="390525"/>
                </a:xfrm>
                <a:prstGeom prst="rect">
                  <a:avLst/>
                </a:prstGeom>
              </p:spPr>
            </p:pic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42164C09-3E45-EAB5-94A0-D52A6CAFF7B3}"/>
                    </a:ext>
                  </a:extLst>
                </p:cNvPr>
                <p:cNvGrpSpPr/>
                <p:nvPr/>
              </p:nvGrpSpPr>
              <p:grpSpPr>
                <a:xfrm>
                  <a:off x="771889" y="1561596"/>
                  <a:ext cx="2848519" cy="476250"/>
                  <a:chOff x="771889" y="1474509"/>
                  <a:chExt cx="2848519" cy="476250"/>
                </a:xfrm>
              </p:grpSpPr>
              <p:pic>
                <p:nvPicPr>
                  <p:cNvPr id="13" name="Picture 12">
                    <a:extLst>
                      <a:ext uri="{FF2B5EF4-FFF2-40B4-BE49-F238E27FC236}">
                        <a16:creationId xmlns:a16="http://schemas.microsoft.com/office/drawing/2014/main" id="{03048724-9AC1-2634-3030-559A1647CE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rcRect t="-2041" r="20544"/>
                  <a:stretch>
                    <a:fillRect/>
                  </a:stretch>
                </p:blipFill>
                <p:spPr>
                  <a:xfrm>
                    <a:off x="771889" y="1474509"/>
                    <a:ext cx="2066108" cy="476250"/>
                  </a:xfrm>
                  <a:prstGeom prst="rect">
                    <a:avLst/>
                  </a:prstGeom>
                </p:spPr>
              </p:pic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CAA6090C-5358-9B70-4C86-B31AA578B2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rcRect l="78954"/>
                  <a:stretch>
                    <a:fillRect/>
                  </a:stretch>
                </p:blipFill>
                <p:spPr>
                  <a:xfrm>
                    <a:off x="3073129" y="1479271"/>
                    <a:ext cx="547279" cy="466725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7A8DCB8C-179F-7DC5-2651-1DB79A1984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1" b="49340"/>
                <a:stretch>
                  <a:fillRect/>
                </a:stretch>
              </p:blipFill>
              <p:spPr>
                <a:xfrm>
                  <a:off x="1000980" y="2082468"/>
                  <a:ext cx="4953000" cy="815459"/>
                </a:xfrm>
                <a:prstGeom prst="rect">
                  <a:avLst/>
                </a:prstGeom>
              </p:spPr>
            </p:pic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2752B941-3E23-0EEE-3C03-4FAF44369101}"/>
                    </a:ext>
                  </a:extLst>
                </p:cNvPr>
                <p:cNvSpPr/>
                <p:nvPr/>
              </p:nvSpPr>
              <p:spPr>
                <a:xfrm>
                  <a:off x="676003" y="334423"/>
                  <a:ext cx="2824842" cy="118254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F3F83B-A6CA-28F1-E03A-7B349F665D43}"/>
                </a:ext>
              </a:extLst>
            </p:cNvPr>
            <p:cNvSpPr txBox="1"/>
            <p:nvPr/>
          </p:nvSpPr>
          <p:spPr>
            <a:xfrm>
              <a:off x="7279369" y="4850526"/>
              <a:ext cx="1219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400" dirty="0">
                  <a:solidFill>
                    <a:srgbClr val="0000FF"/>
                  </a:solidFill>
                </a:rPr>
                <a:t>heat losses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A3E7AF0-73B5-4CC6-9427-4896A57CAA4B}"/>
                </a:ext>
              </a:extLst>
            </p:cNvPr>
            <p:cNvSpPr txBox="1"/>
            <p:nvPr/>
          </p:nvSpPr>
          <p:spPr>
            <a:xfrm>
              <a:off x="8695802" y="4857820"/>
              <a:ext cx="275279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LID4096"/>
              </a:defPPr>
              <a:lvl1pPr>
                <a:defRPr>
                  <a:solidFill>
                    <a:srgbClr val="0000FF"/>
                  </a:solidFill>
                </a:defRPr>
              </a:lvl1pPr>
            </a:lstStyle>
            <a:p>
              <a:r>
                <a:rPr lang="LID4096" sz="1400" dirty="0"/>
                <a:t>external work of the thermal loads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AF9E4C3-CBA3-6E42-B4D0-628D34F56B7C}"/>
              </a:ext>
            </a:extLst>
          </p:cNvPr>
          <p:cNvSpPr/>
          <p:nvPr/>
        </p:nvSpPr>
        <p:spPr>
          <a:xfrm>
            <a:off x="43544" y="-21164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EX: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693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C14BD59-47E8-C5D9-8AFC-F148706527C2}"/>
              </a:ext>
            </a:extLst>
          </p:cNvPr>
          <p:cNvGrpSpPr/>
          <p:nvPr/>
        </p:nvGrpSpPr>
        <p:grpSpPr>
          <a:xfrm>
            <a:off x="6949440" y="866386"/>
            <a:ext cx="4812172" cy="2253628"/>
            <a:chOff x="6421215" y="1042096"/>
            <a:chExt cx="4812172" cy="22536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C87A80-0346-D31E-5F26-94BFDB010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1215" y="1042096"/>
              <a:ext cx="2527660" cy="65719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388581-7A19-8817-C767-1F2F45EF0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1215" y="1885476"/>
              <a:ext cx="4812172" cy="60833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EB1FFF9-4A2C-4F64-2C16-40E9E2F400B9}"/>
                </a:ext>
              </a:extLst>
            </p:cNvPr>
            <p:cNvGrpSpPr/>
            <p:nvPr/>
          </p:nvGrpSpPr>
          <p:grpSpPr>
            <a:xfrm>
              <a:off x="10386060" y="1847553"/>
              <a:ext cx="508748" cy="646254"/>
              <a:chOff x="9845949" y="5808609"/>
              <a:chExt cx="508748" cy="646254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913BAFA-4C54-7AF2-E37F-24D9D13296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45949" y="5926651"/>
                <a:ext cx="257258" cy="528212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CA9137-AEED-FCFC-4410-E8FF1DC97D60}"/>
                  </a:ext>
                </a:extLst>
              </p:cNvPr>
              <p:cNvSpPr txBox="1"/>
              <p:nvPr/>
            </p:nvSpPr>
            <p:spPr>
              <a:xfrm>
                <a:off x="10049948" y="5808609"/>
                <a:ext cx="3047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GB" sz="1100" noProof="0" dirty="0"/>
                  <a:t>0</a:t>
                </a:r>
                <a:endParaRPr lang="en-GB" sz="1400" noProof="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EA9833-85F6-500A-7CCC-9E8A31F33D11}"/>
                </a:ext>
              </a:extLst>
            </p:cNvPr>
            <p:cNvSpPr/>
            <p:nvPr/>
          </p:nvSpPr>
          <p:spPr>
            <a:xfrm>
              <a:off x="8832658" y="1820981"/>
              <a:ext cx="1190820" cy="773846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D0B6F7-A108-10F7-EDC5-DFD9017F2E0F}"/>
                </a:ext>
              </a:extLst>
            </p:cNvPr>
            <p:cNvSpPr txBox="1"/>
            <p:nvPr/>
          </p:nvSpPr>
          <p:spPr>
            <a:xfrm>
              <a:off x="9128665" y="1510663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Diffusion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F637DB3-C5A4-EE4A-ECFA-867DC6814BD2}"/>
                </a:ext>
              </a:extLst>
            </p:cNvPr>
            <p:cNvCxnSpPr/>
            <p:nvPr/>
          </p:nvCxnSpPr>
          <p:spPr>
            <a:xfrm>
              <a:off x="9212771" y="2400334"/>
              <a:ext cx="70701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13677D-D828-F4A5-9E84-AADFF3629640}"/>
                </a:ext>
              </a:extLst>
            </p:cNvPr>
            <p:cNvGrpSpPr/>
            <p:nvPr/>
          </p:nvGrpSpPr>
          <p:grpSpPr>
            <a:xfrm>
              <a:off x="7407751" y="1874134"/>
              <a:ext cx="484962" cy="623513"/>
              <a:chOff x="9949646" y="5835190"/>
              <a:chExt cx="484962" cy="623513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1FBC4EF-D541-0D8F-364C-27324D330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49646" y="5986139"/>
                <a:ext cx="214998" cy="47256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D380E6-43B8-2CC5-69A1-37F15B1E25EC}"/>
                  </a:ext>
                </a:extLst>
              </p:cNvPr>
              <p:cNvSpPr txBox="1"/>
              <p:nvPr/>
            </p:nvSpPr>
            <p:spPr>
              <a:xfrm>
                <a:off x="10129859" y="5835190"/>
                <a:ext cx="304749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GB" sz="1100" noProof="0" dirty="0">
                    <a:solidFill>
                      <a:srgbClr val="FF0000"/>
                    </a:solidFill>
                  </a:rPr>
                  <a:t>0</a:t>
                </a:r>
                <a:endParaRPr lang="en-GB" sz="1400" noProof="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0E35160-F9B2-5986-AF3C-19E52912E109}"/>
                </a:ext>
              </a:extLst>
            </p:cNvPr>
            <p:cNvGrpSpPr/>
            <p:nvPr/>
          </p:nvGrpSpPr>
          <p:grpSpPr>
            <a:xfrm>
              <a:off x="6421215" y="2623803"/>
              <a:ext cx="3145061" cy="671921"/>
              <a:chOff x="6351988" y="3053597"/>
              <a:chExt cx="3145061" cy="671921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24F183D-C502-8636-6FF8-26FD76DAF0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7406" t="11705" b="67943"/>
              <a:stretch>
                <a:fillRect/>
              </a:stretch>
            </p:blipFill>
            <p:spPr>
              <a:xfrm>
                <a:off x="6351988" y="3053597"/>
                <a:ext cx="1443417" cy="3940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249F1059-0003-0D55-3A13-DB52AED51F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207" t="65732" r="57173" b="3646"/>
              <a:stretch>
                <a:fillRect/>
              </a:stretch>
            </p:blipFill>
            <p:spPr>
              <a:xfrm>
                <a:off x="7920798" y="3115918"/>
                <a:ext cx="1576251" cy="609600"/>
              </a:xfrm>
              <a:prstGeom prst="rect">
                <a:avLst/>
              </a:prstGeom>
            </p:spPr>
          </p:pic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2877E64-6625-A4EC-FBDE-10C59026951A}"/>
              </a:ext>
            </a:extLst>
          </p:cNvPr>
          <p:cNvGrpSpPr/>
          <p:nvPr/>
        </p:nvGrpSpPr>
        <p:grpSpPr>
          <a:xfrm>
            <a:off x="2701391" y="3320638"/>
            <a:ext cx="9187942" cy="3192499"/>
            <a:chOff x="2760433" y="3593931"/>
            <a:chExt cx="9187942" cy="319249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D2BEF95-69B0-064C-A5E7-2EC89B79D477}"/>
                </a:ext>
              </a:extLst>
            </p:cNvPr>
            <p:cNvGrpSpPr/>
            <p:nvPr/>
          </p:nvGrpSpPr>
          <p:grpSpPr>
            <a:xfrm>
              <a:off x="2760433" y="3593931"/>
              <a:ext cx="9187942" cy="3192499"/>
              <a:chOff x="2524363" y="3333321"/>
              <a:chExt cx="9187942" cy="3192499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CAC372F-1AD2-75FA-87E0-A15ED3A38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83556" y="3333321"/>
                <a:ext cx="1381125" cy="381000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235EA163-5A44-CB13-AF5A-082E5F493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8874"/>
              <a:stretch>
                <a:fillRect/>
              </a:stretch>
            </p:blipFill>
            <p:spPr>
              <a:xfrm>
                <a:off x="7383556" y="3799971"/>
                <a:ext cx="4304215" cy="660338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707436EC-DAC3-05BB-B16A-A5125C0E0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5183" b="14643"/>
              <a:stretch>
                <a:fillRect/>
              </a:stretch>
            </p:blipFill>
            <p:spPr>
              <a:xfrm>
                <a:off x="9565733" y="5553673"/>
                <a:ext cx="2124075" cy="664370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4F47EBA-CA9D-6848-00AB-41E7FC21B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24901" t="62166" r="1990" b="23492"/>
              <a:stretch>
                <a:fillRect/>
              </a:stretch>
            </p:blipFill>
            <p:spPr>
              <a:xfrm>
                <a:off x="2524363" y="4534410"/>
                <a:ext cx="9163408" cy="89381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049E6A-CFBC-ABB4-DDBA-DD657CCB78C5}"/>
                  </a:ext>
                </a:extLst>
              </p:cNvPr>
              <p:cNvSpPr txBox="1"/>
              <p:nvPr/>
            </p:nvSpPr>
            <p:spPr>
              <a:xfrm>
                <a:off x="9588230" y="6218043"/>
                <a:ext cx="21240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US" sz="1400" dirty="0"/>
                  <a:t>Marangoni shear stress </a:t>
                </a:r>
                <a:endParaRPr lang="en-GB" sz="3600" noProof="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7D41F92-A924-BFE8-BD64-102B9933C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60099" y="6063645"/>
              <a:ext cx="2333625" cy="295275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5DB4A8B6-CC82-25CF-7DA4-95451A5454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480" y="4911924"/>
            <a:ext cx="1857375" cy="84772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E2E764C-A418-858D-47E7-014D877AD9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825" y="5759649"/>
            <a:ext cx="3219450" cy="10953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6CEBFC-4EAE-21F5-9CD2-72568EF52188}"/>
              </a:ext>
            </a:extLst>
          </p:cNvPr>
          <p:cNvSpPr txBox="1"/>
          <p:nvPr/>
        </p:nvSpPr>
        <p:spPr>
          <a:xfrm>
            <a:off x="8968504" y="6606609"/>
            <a:ext cx="32194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500" i="0" u="none" strike="noStrike" baseline="0" dirty="0">
                <a:solidFill>
                  <a:srgbClr val="000000"/>
                </a:solidFill>
                <a:latin typeface="Myriad Pro"/>
              </a:rPr>
              <a:t>Multi-scale modeling approaches in wire arc additive manufacturing: from melt pool dynamics to residual stress prediction </a:t>
            </a:r>
            <a:r>
              <a:rPr lang="en-GB" sz="500" dirty="0">
                <a:solidFill>
                  <a:srgbClr val="000000"/>
                </a:solidFill>
                <a:latin typeface="Myriad Pro"/>
              </a:rPr>
              <a:t>&amp; </a:t>
            </a:r>
            <a:r>
              <a:rPr lang="LID4096" sz="500" dirty="0"/>
              <a:t>AM PravaH®</a:t>
            </a:r>
          </a:p>
        </p:txBody>
      </p:sp>
    </p:spTree>
    <p:extLst>
      <p:ext uri="{BB962C8B-B14F-4D97-AF65-F5344CB8AC3E}">
        <p14:creationId xmlns:p14="http://schemas.microsoft.com/office/powerpoint/2010/main" val="3453376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7DF188-F017-C769-7AD1-5A6D9484570D}"/>
              </a:ext>
            </a:extLst>
          </p:cNvPr>
          <p:cNvSpPr txBox="1"/>
          <p:nvPr/>
        </p:nvSpPr>
        <p:spPr>
          <a:xfrm>
            <a:off x="254101" y="5179900"/>
            <a:ext cx="77339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Contatar:</a:t>
            </a:r>
          </a:p>
          <a:p>
            <a:endParaRPr lang="pt-BR" dirty="0"/>
          </a:p>
          <a:p>
            <a:r>
              <a:rPr lang="pt-BR" dirty="0"/>
              <a:t>Prof. Carlos Henrique Marchi		UFPR	– CFD – Computação</a:t>
            </a:r>
          </a:p>
          <a:p>
            <a:r>
              <a:rPr lang="pt-BR" dirty="0"/>
              <a:t>Guilherme Ferreira Gomes		UNIFEI 	– A.M. – CFD</a:t>
            </a:r>
          </a:p>
          <a:p>
            <a:r>
              <a:rPr lang="en-US" dirty="0"/>
              <a:t>Diego </a:t>
            </a:r>
            <a:r>
              <a:rPr lang="en-US" dirty="0" err="1"/>
              <a:t>Raimundi</a:t>
            </a:r>
            <a:r>
              <a:rPr lang="en-US" dirty="0"/>
              <a:t> Corradi </a:t>
            </a:r>
            <a:r>
              <a:rPr lang="pt-BR" dirty="0"/>
              <a:t>(WAAM)	UFMG  	– OSCILAÇÃO MAGNÉTICA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0B3A0-BFB2-AA01-579D-FC29D1EA9A68}"/>
              </a:ext>
            </a:extLst>
          </p:cNvPr>
          <p:cNvSpPr txBox="1"/>
          <p:nvPr/>
        </p:nvSpPr>
        <p:spPr>
          <a:xfrm>
            <a:off x="8133804" y="5179900"/>
            <a:ext cx="34856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MODELO:</a:t>
            </a:r>
          </a:p>
          <a:p>
            <a:r>
              <a:rPr lang="pt-BR" dirty="0"/>
              <a:t>Fonte (externa) de calor x Material - Condução, convecção, radiação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98604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5A4F41C-7B9C-8F0B-ED94-16CEA8C41DB9}"/>
              </a:ext>
            </a:extLst>
          </p:cNvPr>
          <p:cNvGrpSpPr/>
          <p:nvPr/>
        </p:nvGrpSpPr>
        <p:grpSpPr>
          <a:xfrm>
            <a:off x="191589" y="156754"/>
            <a:ext cx="11695611" cy="6467900"/>
            <a:chOff x="607054" y="495112"/>
            <a:chExt cx="10925552" cy="61295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DC42CEF-AD24-C393-6ED0-35BE5728F9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7054" y="495112"/>
              <a:ext cx="10925552" cy="6129542"/>
              <a:chOff x="607054" y="495112"/>
              <a:chExt cx="10925552" cy="612954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2EBD62A-9AA4-2364-9DB5-A2E80B72F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3135"/>
              <a:stretch>
                <a:fillRect/>
              </a:stretch>
            </p:blipFill>
            <p:spPr>
              <a:xfrm>
                <a:off x="607054" y="495112"/>
                <a:ext cx="10851664" cy="522667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957222-A3DB-85F2-F22A-343ED12BEC06}"/>
                  </a:ext>
                </a:extLst>
              </p:cNvPr>
              <p:cNvSpPr txBox="1"/>
              <p:nvPr/>
            </p:nvSpPr>
            <p:spPr>
              <a:xfrm>
                <a:off x="6326109" y="2786174"/>
                <a:ext cx="36327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Laser heat input … latent input </a:t>
                </a:r>
                <a:endParaRPr lang="LID4096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1F4CE9-F311-EE29-6519-1396E63DC8DB}"/>
                  </a:ext>
                </a:extLst>
              </p:cNvPr>
              <p:cNvSpPr txBox="1"/>
              <p:nvPr/>
            </p:nvSpPr>
            <p:spPr>
              <a:xfrm>
                <a:off x="976264" y="5916768"/>
                <a:ext cx="10556342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2000" b="0" u="none" strike="noStrike" dirty="0">
                    <a:solidFill>
                      <a:srgbClr val="0000FF"/>
                    </a:solidFill>
                    <a:effectLst/>
                    <a:latin typeface="Google Sans"/>
                  </a:rPr>
                  <a:t>“This gives you the basis of how the simulation solver is modelled and </a:t>
                </a:r>
                <a:r>
                  <a:rPr lang="en-GB" sz="2000" b="0" u="none" strike="noStrike" dirty="0">
                    <a:solidFill>
                      <a:srgbClr val="FF0000"/>
                    </a:solidFill>
                    <a:effectLst/>
                    <a:latin typeface="Google Sans"/>
                  </a:rPr>
                  <a:t>how we can rely on the data that has been predicted </a:t>
                </a:r>
                <a:r>
                  <a:rPr lang="en-GB" sz="2000" b="1" u="none" strike="noStrike" dirty="0">
                    <a:solidFill>
                      <a:srgbClr val="00B050"/>
                    </a:solidFill>
                    <a:effectLst/>
                    <a:latin typeface="Google Sans"/>
                  </a:rPr>
                  <a:t>… based on this robust physic equations that are provided” </a:t>
                </a:r>
                <a:endParaRPr lang="LID4096" sz="2000" b="1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601D0C4-AB71-192A-6BAE-2D32411C5691}"/>
                  </a:ext>
                </a:extLst>
              </p:cNvPr>
              <p:cNvCxnSpPr/>
              <p:nvPr/>
            </p:nvCxnSpPr>
            <p:spPr>
              <a:xfrm>
                <a:off x="878186" y="2598345"/>
                <a:ext cx="2770361" cy="0"/>
              </a:xfrm>
              <a:prstGeom prst="line">
                <a:avLst/>
              </a:prstGeom>
              <a:ln w="38100">
                <a:solidFill>
                  <a:srgbClr val="00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51581D6-050B-AB35-E91D-BE6723F29376}"/>
                  </a:ext>
                </a:extLst>
              </p:cNvPr>
              <p:cNvCxnSpPr/>
              <p:nvPr/>
            </p:nvCxnSpPr>
            <p:spPr>
              <a:xfrm>
                <a:off x="2687370" y="3429000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83735AB-302F-C9AE-3FF8-46C47F14FFAA}"/>
                  </a:ext>
                </a:extLst>
              </p:cNvPr>
              <p:cNvCxnSpPr/>
              <p:nvPr/>
            </p:nvCxnSpPr>
            <p:spPr>
              <a:xfrm>
                <a:off x="956649" y="4441479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EAF8CEC-4854-3856-02CD-A95D3AB85367}"/>
                  </a:ext>
                </a:extLst>
              </p:cNvPr>
              <p:cNvCxnSpPr/>
              <p:nvPr/>
            </p:nvCxnSpPr>
            <p:spPr>
              <a:xfrm>
                <a:off x="765017" y="5472065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Arrow: Down 12">
                <a:extLst>
                  <a:ext uri="{FF2B5EF4-FFF2-40B4-BE49-F238E27FC236}">
                    <a16:creationId xmlns:a16="http://schemas.microsoft.com/office/drawing/2014/main" id="{1A9F3B76-7F9F-DA46-531F-9DF3B645F5B1}"/>
                  </a:ext>
                </a:extLst>
              </p:cNvPr>
              <p:cNvSpPr/>
              <p:nvPr/>
            </p:nvSpPr>
            <p:spPr>
              <a:xfrm>
                <a:off x="6096000" y="3612333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" name="Arrow: Down 13">
                <a:extLst>
                  <a:ext uri="{FF2B5EF4-FFF2-40B4-BE49-F238E27FC236}">
                    <a16:creationId xmlns:a16="http://schemas.microsoft.com/office/drawing/2014/main" id="{C36CF552-73B3-9AF1-3656-6D52BC8B12E6}"/>
                  </a:ext>
                </a:extLst>
              </p:cNvPr>
              <p:cNvSpPr/>
              <p:nvPr/>
            </p:nvSpPr>
            <p:spPr>
              <a:xfrm>
                <a:off x="7119796" y="3612333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" name="Arrow: Down 14">
                <a:extLst>
                  <a:ext uri="{FF2B5EF4-FFF2-40B4-BE49-F238E27FC236}">
                    <a16:creationId xmlns:a16="http://schemas.microsoft.com/office/drawing/2014/main" id="{FA345EE5-1FBC-C64A-AA9E-36628533B164}"/>
                  </a:ext>
                </a:extLst>
              </p:cNvPr>
              <p:cNvSpPr/>
              <p:nvPr/>
            </p:nvSpPr>
            <p:spPr>
              <a:xfrm>
                <a:off x="8947087" y="4769667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" name="Arrow: Down 15">
                <a:extLst>
                  <a:ext uri="{FF2B5EF4-FFF2-40B4-BE49-F238E27FC236}">
                    <a16:creationId xmlns:a16="http://schemas.microsoft.com/office/drawing/2014/main" id="{68520981-5B4A-BFEB-72E1-C0718E35858C}"/>
                  </a:ext>
                </a:extLst>
              </p:cNvPr>
              <p:cNvSpPr/>
              <p:nvPr/>
            </p:nvSpPr>
            <p:spPr>
              <a:xfrm>
                <a:off x="10631031" y="4769667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AA139EA-9305-9CAD-BBCE-A72932AD9499}"/>
                  </a:ext>
                </a:extLst>
              </p:cNvPr>
              <p:cNvCxnSpPr/>
              <p:nvPr/>
            </p:nvCxnSpPr>
            <p:spPr>
              <a:xfrm>
                <a:off x="3238122" y="5618430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9FB577-F992-4E60-14EB-5332DB8C4422}"/>
                  </a:ext>
                </a:extLst>
              </p:cNvPr>
              <p:cNvSpPr txBox="1"/>
              <p:nvPr/>
            </p:nvSpPr>
            <p:spPr>
              <a:xfrm>
                <a:off x="956649" y="2583479"/>
                <a:ext cx="36327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Volum</a:t>
                </a:r>
                <a:r>
                  <a:rPr lang="en-GB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e of fluid method</a:t>
                </a:r>
                <a:endParaRPr lang="LID4096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EAE0F0-62B5-17B4-5D8A-18633E1A3D31}"/>
                  </a:ext>
                </a:extLst>
              </p:cNvPr>
              <p:cNvSpPr txBox="1"/>
              <p:nvPr/>
            </p:nvSpPr>
            <p:spPr>
              <a:xfrm>
                <a:off x="10702141" y="565429"/>
                <a:ext cx="636419" cy="40011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CFD</a:t>
                </a:r>
                <a:endParaRPr lang="LID4096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1E3B3D-BF74-FBBD-5231-49BE03323EE8}"/>
                  </a:ext>
                </a:extLst>
              </p:cNvPr>
              <p:cNvSpPr txBox="1"/>
              <p:nvPr/>
            </p:nvSpPr>
            <p:spPr>
              <a:xfrm>
                <a:off x="9406550" y="3175122"/>
                <a:ext cx="1721328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6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Surface tension </a:t>
                </a:r>
              </a:p>
              <a:p>
                <a:pPr algn="r"/>
                <a:r>
                  <a:rPr lang="en-GB" sz="16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Marangoni force</a:t>
                </a:r>
                <a:endParaRPr lang="LID4096" sz="16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AF0705-8CE9-94F0-E953-8CD5B4245D40}"/>
                </a:ext>
              </a:extLst>
            </p:cNvPr>
            <p:cNvSpPr txBox="1"/>
            <p:nvPr/>
          </p:nvSpPr>
          <p:spPr>
            <a:xfrm>
              <a:off x="8265814" y="951544"/>
              <a:ext cx="3072746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LID4096" sz="1200" dirty="0">
                  <a:hlinkClick r:id="rId3"/>
                </a:rPr>
                <a:t>https://github.com/DLR-RY/</a:t>
              </a:r>
              <a:r>
                <a:rPr lang="LID4096" sz="2000" b="1" dirty="0">
                  <a:hlinkClick r:id="rId3"/>
                </a:rPr>
                <a:t>VoFLibrary</a:t>
              </a:r>
              <a:endParaRPr lang="LID4096" sz="1600" b="1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0E8FB94-86F6-2C05-AADA-342736A2CDC8}"/>
              </a:ext>
            </a:extLst>
          </p:cNvPr>
          <p:cNvSpPr txBox="1"/>
          <p:nvPr/>
        </p:nvSpPr>
        <p:spPr>
          <a:xfrm>
            <a:off x="9888371" y="6690465"/>
            <a:ext cx="2304838" cy="16158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defPPr>
              <a:defRPr lang="LID4096"/>
            </a:defPPr>
            <a:lvl1pPr algn="r">
              <a:defRPr sz="2800" b="1" u="none" strike="noStrike">
                <a:solidFill>
                  <a:srgbClr val="FF0000"/>
                </a:solidFill>
                <a:effectLst/>
                <a:latin typeface="Google Sans"/>
              </a:defRPr>
            </a:lvl1pPr>
          </a:lstStyle>
          <a:p>
            <a:r>
              <a:rPr lang="LID4096" sz="1050" dirty="0"/>
              <a:t>AM PravaH®</a:t>
            </a:r>
          </a:p>
        </p:txBody>
      </p:sp>
    </p:spTree>
    <p:extLst>
      <p:ext uri="{BB962C8B-B14F-4D97-AF65-F5344CB8AC3E}">
        <p14:creationId xmlns:p14="http://schemas.microsoft.com/office/powerpoint/2010/main" val="1172744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3985</TotalTime>
  <Words>1055</Words>
  <Application>Microsoft Office PowerPoint</Application>
  <PresentationFormat>Widescreen</PresentationFormat>
  <Paragraphs>206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50" baseType="lpstr">
      <vt:lpstr>AdvOT46dcae81</vt:lpstr>
      <vt:lpstr>AdvOTa2fa4214.B</vt:lpstr>
      <vt:lpstr>AdvOTa2fa4214.B+fb</vt:lpstr>
      <vt:lpstr>AdvOTdd63dae3</vt:lpstr>
      <vt:lpstr>AdvOTdd63dae3+03</vt:lpstr>
      <vt:lpstr>Arial</vt:lpstr>
      <vt:lpstr>Calibri</vt:lpstr>
      <vt:lpstr>Calibri (Body)</vt:lpstr>
      <vt:lpstr>Calibri Light</vt:lpstr>
      <vt:lpstr>Cambria Math</vt:lpstr>
      <vt:lpstr>Charis SIL</vt:lpstr>
      <vt:lpstr>Google Sans</vt:lpstr>
      <vt:lpstr>Horley Old Style MT</vt:lpstr>
      <vt:lpstr>LMRoman12-Regular</vt:lpstr>
      <vt:lpstr>Myriad Pro</vt:lpstr>
      <vt:lpstr>MyriadPro-SemiboldSemiCn</vt:lpstr>
      <vt:lpstr>MyriadPro-SemiboldSemiCnIt</vt:lpstr>
      <vt:lpstr>NywgqrAdvTT3713a231</vt:lpstr>
      <vt:lpstr>Segoe UI</vt:lpstr>
      <vt:lpstr>STIXGeneral-BoldItalic</vt:lpstr>
      <vt:lpstr>STIXGeneral-Italic2</vt:lpstr>
      <vt:lpstr>STIXGeneral-Italic3</vt:lpstr>
      <vt:lpstr>STIXMath</vt:lpstr>
      <vt:lpstr>STIXMath-Italic</vt:lpstr>
      <vt:lpstr>STIX-Regular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158</cp:revision>
  <dcterms:created xsi:type="dcterms:W3CDTF">2026-09-30T17:20:39Z</dcterms:created>
  <dcterms:modified xsi:type="dcterms:W3CDTF">2026-10-14T18:36:21Z</dcterms:modified>
</cp:coreProperties>
</file>