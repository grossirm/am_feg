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9" r:id="rId3"/>
    <p:sldId id="263" r:id="rId4"/>
    <p:sldId id="289" r:id="rId5"/>
    <p:sldId id="295" r:id="rId6"/>
    <p:sldId id="299" r:id="rId7"/>
    <p:sldId id="300" r:id="rId8"/>
    <p:sldId id="301" r:id="rId9"/>
    <p:sldId id="302" r:id="rId10"/>
    <p:sldId id="293" r:id="rId11"/>
    <p:sldId id="303" r:id="rId12"/>
    <p:sldId id="298" r:id="rId13"/>
    <p:sldId id="304" r:id="rId14"/>
    <p:sldId id="284" r:id="rId15"/>
    <p:sldId id="273" r:id="rId16"/>
    <p:sldId id="270" r:id="rId17"/>
    <p:sldId id="282" r:id="rId18"/>
    <p:sldId id="281" r:id="rId19"/>
    <p:sldId id="266" r:id="rId20"/>
    <p:sldId id="290" r:id="rId21"/>
    <p:sldId id="265" r:id="rId22"/>
    <p:sldId id="257" r:id="rId23"/>
    <p:sldId id="277" r:id="rId24"/>
    <p:sldId id="278" r:id="rId25"/>
    <p:sldId id="260" r:id="rId26"/>
    <p:sldId id="268" r:id="rId2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2F2F2"/>
    <a:srgbClr val="E5FFF6"/>
    <a:srgbClr val="FFDDFF"/>
    <a:srgbClr val="F5EADF"/>
    <a:srgbClr val="EBD7C3"/>
    <a:srgbClr val="FFFFCC"/>
    <a:srgbClr val="FFEFFF"/>
    <a:srgbClr val="FFFBF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>
        <p:scale>
          <a:sx n="100" d="100"/>
          <a:sy n="100" d="100"/>
        </p:scale>
        <p:origin x="59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8921-5049-2E32-25A4-86F65610A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8C54D-5AEE-839C-E6CE-1CBBACA45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35BE-C74C-CB6A-2B3A-763F6D31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BB9B-E6B7-AB9D-291F-299AABC9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DC91E-CD3E-36EF-0845-6EAE8937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358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7D1C-F319-72E2-9ADA-D91D0A1E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CDC5-F031-8865-C1B3-15A3AAD6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8A3C3-35B0-0245-783F-E1D2295E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B5C52-A3F0-8838-8AE5-DC29946D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6FA7B-93B4-7B06-EB54-C87EECEE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512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FD5D-8C2D-47C9-F784-D71D6C99D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A3644-D5D7-639D-9D01-47ADEF79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7BC99-1286-48D3-90FB-10CC7DA1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7651-21C8-1EE2-9B79-BB8017B8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1145-94A9-10EB-063F-1B221B67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614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DD21-43A1-10C1-3651-871BCCB0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32DD-14B2-A15A-D2A1-AE2297F82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3FE99-E72B-9244-7EFB-C60EE1AF8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4D93A-4972-F498-6313-8CD04CD8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F39C-ED62-2D11-0F4C-739C2509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26EF5-B03A-255C-2AA0-0E0F94A1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803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D20D-092D-A734-2227-98DBAC15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B66FA-ED88-86AB-4998-A266CC8DA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BCE67-A9D1-C824-1A0C-4D0B2EEF1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F5106-4821-0BA4-2A24-5ACDA9815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F419F-06FF-BE02-F0F5-5279F1BC0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0294E-7236-2751-0FBB-8408E34B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FF2BE-B79E-CBEF-1F90-9BB0D58C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957DA-9932-5F90-3C6B-110E650F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296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B9A1-A865-C17A-18A1-8D9423F2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2FA0B-0456-19AB-C82E-85FAE831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35560-35B7-033F-8002-88AE8FBC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48C5D-7CDC-90A0-B7BE-0B413E51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596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CFCFB-D5E3-1EBB-0813-5525914B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7FED4-FD0E-4038-C245-9C42D33B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2338A-5F42-05CD-688E-6235921A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730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402A-1B0E-19F5-4F43-61DA5EF2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5FC5-D1B1-6B16-0C4A-D5B9C9DEC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356E4-A0AB-2182-EC2A-312898C8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A5BF0-567A-36EE-9770-251B1098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92492-1424-5EC0-7797-DCD14F90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B43C3-D0BE-17BE-258A-D2095F03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398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BD9E-3C35-7CE6-C397-02CAB9CE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81586-3DE7-1CED-A6FA-516F32DC9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83911-9CA4-91CC-A2D5-74E33EB36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B73AF-257F-4AB4-4438-B5F82E03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D3FD0-2C0F-2D84-53E7-202C71E3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82C7F-0CEB-AF03-1866-F3FAD42C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721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5A0D-E1E8-F181-8213-2B452845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580F6-16D9-4C8A-4D3E-2C67E9F8A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FA7D0-F549-C4AD-CA87-A769E218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9DD54-320A-040C-9CEB-DB00F45E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B8D1B-8549-922B-2420-31F98FD7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37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5A027-C698-463D-495A-D7085AE74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5A546-1999-B8F8-7674-248D56D08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8244-F6AE-3BFA-0CD4-70293E6F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82EAB-7A87-22ED-E19C-E146064A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3936B-53D2-50CB-D565-BBC7F103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975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41BD9-EA3F-C372-285F-0E39B54A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9B9AB-C7EC-E7BA-13DB-1B474E0B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6A62A-CFD7-80AA-9B44-CBD28EA44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2F609-7128-42D8-8672-4D6F16D38DEE}" type="datetimeFigureOut">
              <a:rPr lang="LID4096" smtClean="0"/>
              <a:t>10/27/2026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750B6-8239-FB0A-429F-C1C3D106C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FF734-DC96-1ACA-B5C3-248A9D54B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479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00.png"/><Relationship Id="rId26" Type="http://schemas.openxmlformats.org/officeDocument/2006/relationships/image" Target="../media/image8.png"/><Relationship Id="rId3" Type="http://schemas.openxmlformats.org/officeDocument/2006/relationships/image" Target="../media/image5.png"/><Relationship Id="rId21" Type="http://schemas.openxmlformats.org/officeDocument/2006/relationships/image" Target="../media/image53.png"/><Relationship Id="rId17" Type="http://schemas.openxmlformats.org/officeDocument/2006/relationships/image" Target="../media/image190.png"/><Relationship Id="rId25" Type="http://schemas.openxmlformats.org/officeDocument/2006/relationships/image" Target="../media/image62.png"/><Relationship Id="rId2" Type="http://schemas.openxmlformats.org/officeDocument/2006/relationships/image" Target="../media/image4.PNG"/><Relationship Id="rId16" Type="http://schemas.openxmlformats.org/officeDocument/2006/relationships/image" Target="../media/image180.png"/><Relationship Id="rId20" Type="http://schemas.openxmlformats.org/officeDocument/2006/relationships/image" Target="../media/image220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28" Type="http://schemas.openxmlformats.org/officeDocument/2006/relationships/image" Target="../media/image10.png"/><Relationship Id="rId10" Type="http://schemas.openxmlformats.org/officeDocument/2006/relationships/image" Target="../media/image6.png"/><Relationship Id="rId19" Type="http://schemas.openxmlformats.org/officeDocument/2006/relationships/image" Target="../media/image210.png"/><Relationship Id="rId9" Type="http://schemas.openxmlformats.org/officeDocument/2006/relationships/image" Target="../media/image55.png"/><Relationship Id="rId22" Type="http://schemas.openxmlformats.org/officeDocument/2006/relationships/image" Target="../media/image110.png"/><Relationship Id="rId27" Type="http://schemas.openxmlformats.org/officeDocument/2006/relationships/image" Target="../media/image9.png"/><Relationship Id="rId30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4.png"/><Relationship Id="rId7" Type="http://schemas.openxmlformats.org/officeDocument/2006/relationships/hyperlink" Target="d.xl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7" Type="http://schemas.openxmlformats.org/officeDocument/2006/relationships/image" Target="../media/image2000.png"/><Relationship Id="rId12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11" Type="http://schemas.openxmlformats.org/officeDocument/2006/relationships/image" Target="../media/image29.png"/><Relationship Id="rId5" Type="http://schemas.openxmlformats.org/officeDocument/2006/relationships/image" Target="../media/image130.png"/><Relationship Id="rId10" Type="http://schemas.openxmlformats.org/officeDocument/2006/relationships/image" Target="../media/image28.emf"/><Relationship Id="rId4" Type="http://schemas.openxmlformats.org/officeDocument/2006/relationships/image" Target="../media/image240.png"/><Relationship Id="rId9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hyperlink" Target="../../09_CFD_ON/02_FiPy/01_mesh1D_Beta_Diffusion__0__.ipynb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../09_CFD_ON/02_FiPy/02_diffusion.mesh20x20.ipynb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1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jpeg"/><Relationship Id="rId5" Type="http://schemas.openxmlformats.org/officeDocument/2006/relationships/image" Target="../media/image64.png"/><Relationship Id="rId15" Type="http://schemas.openxmlformats.org/officeDocument/2006/relationships/image" Target="../media/image36.png"/><Relationship Id="rId10" Type="http://schemas.openxmlformats.org/officeDocument/2006/relationships/image" Target="../media/image69.jpe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hyperlink" Target="../../09_CFD_ON/02_FiPy/02_diffusion.mesh20x20.ipynb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next.mesago.com/frankfurt/en/industry-insights/am-field-guide/process_in_general.html" TargetMode="External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jpeg"/><Relationship Id="rId4" Type="http://schemas.openxmlformats.org/officeDocument/2006/relationships/image" Target="../media/image7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next.mesago.com/frankfurt/en/industry-insights/am-field-guide/process_in_general.html" TargetMode="Externa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5" Type="http://schemas.openxmlformats.org/officeDocument/2006/relationships/image" Target="../media/image72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24" Type="http://schemas.openxmlformats.org/officeDocument/2006/relationships/image" Target="../media/image62.png"/><Relationship Id="rId5" Type="http://schemas.openxmlformats.org/officeDocument/2006/relationships/image" Target="../media/image86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5" Type="http://schemas.openxmlformats.org/officeDocument/2006/relationships/image" Target="../media/image690.png"/><Relationship Id="rId4" Type="http://schemas.openxmlformats.org/officeDocument/2006/relationships/image" Target="../media/image6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LR-RY/VoFLibrary" TargetMode="External"/><Relationship Id="rId7" Type="http://schemas.openxmlformats.org/officeDocument/2006/relationships/image" Target="../media/image75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5" Type="http://schemas.openxmlformats.org/officeDocument/2006/relationships/image" Target="../media/image730.png"/><Relationship Id="rId4" Type="http://schemas.openxmlformats.org/officeDocument/2006/relationships/image" Target="../media/image7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1.png"/><Relationship Id="rId7" Type="http://schemas.openxmlformats.org/officeDocument/2006/relationships/image" Target="../media/image10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7.png"/><Relationship Id="rId5" Type="http://schemas.openxmlformats.org/officeDocument/2006/relationships/image" Target="../media/image103.png"/><Relationship Id="rId10" Type="http://schemas.openxmlformats.org/officeDocument/2006/relationships/image" Target="../media/image99.png"/><Relationship Id="rId4" Type="http://schemas.openxmlformats.org/officeDocument/2006/relationships/image" Target="../media/image102.png"/><Relationship Id="rId9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2E74B6-3C6E-346D-648E-B4AB2B22A884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037BCBA-444F-A065-9520-D96B0388A2B9}"/>
              </a:ext>
            </a:extLst>
          </p:cNvPr>
          <p:cNvCxnSpPr/>
          <p:nvPr/>
        </p:nvCxnSpPr>
        <p:spPr>
          <a:xfrm>
            <a:off x="567652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80FE23-DB89-9CAC-5DE4-80E598169ABA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1717DC-E08A-F153-F093-47FAB12A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53" t="1979" r="3871" b="55847"/>
          <a:stretch>
            <a:fillRect/>
          </a:stretch>
        </p:blipFill>
        <p:spPr>
          <a:xfrm>
            <a:off x="6331768" y="697116"/>
            <a:ext cx="4705992" cy="30691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64638C-E3C1-B05C-2A60-DC9970BE6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44" t="52481"/>
          <a:stretch>
            <a:fillRect/>
          </a:stretch>
        </p:blipFill>
        <p:spPr>
          <a:xfrm>
            <a:off x="6578430" y="3953203"/>
            <a:ext cx="4332584" cy="2768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5E4821-3A2C-49A0-D61A-EF6CBAC7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0" t="1979" r="52120" b="55847"/>
          <a:stretch>
            <a:fillRect/>
          </a:stretch>
        </p:blipFill>
        <p:spPr>
          <a:xfrm>
            <a:off x="585177" y="697116"/>
            <a:ext cx="4704696" cy="30691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1418AD-8511-5108-6887-B0645A1BE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91" r="50044"/>
          <a:stretch>
            <a:fillRect/>
          </a:stretch>
        </p:blipFill>
        <p:spPr>
          <a:xfrm>
            <a:off x="707853" y="3969366"/>
            <a:ext cx="4332584" cy="275052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794F47-B59C-8DC5-E51E-9257C60CD17A}"/>
              </a:ext>
            </a:extLst>
          </p:cNvPr>
          <p:cNvSpPr/>
          <p:nvPr/>
        </p:nvSpPr>
        <p:spPr>
          <a:xfrm>
            <a:off x="784340" y="201481"/>
            <a:ext cx="3380256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LID4096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(PBF)</a:t>
            </a:r>
          </a:p>
        </p:txBody>
      </p:sp>
    </p:spTree>
    <p:extLst>
      <p:ext uri="{BB962C8B-B14F-4D97-AF65-F5344CB8AC3E}">
        <p14:creationId xmlns:p14="http://schemas.microsoft.com/office/powerpoint/2010/main" val="204689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47A7-35CA-C242-B76D-83DA96D6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45C74A-CC08-BD7F-61E8-7645E6DD463F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E7A7C-03EC-0F16-903D-BFF551759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30"/>
          <a:stretch>
            <a:fillRect/>
          </a:stretch>
        </p:blipFill>
        <p:spPr>
          <a:xfrm>
            <a:off x="8908610" y="4405154"/>
            <a:ext cx="2117835" cy="215012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EBB0BD-7342-CEEC-C6FC-434A548652F7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 -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B8D4F16C-1F71-CD67-F7B1-035A0F996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647" y="697120"/>
            <a:ext cx="4707798" cy="35308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9DBE22-0C4C-95E4-AABC-C64DD76A297F}"/>
              </a:ext>
            </a:extLst>
          </p:cNvPr>
          <p:cNvSpPr txBox="1"/>
          <p:nvPr/>
        </p:nvSpPr>
        <p:spPr>
          <a:xfrm>
            <a:off x="6318647" y="4522849"/>
            <a:ext cx="24541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rgbClr val="0000FF"/>
                </a:solidFill>
              </a:rPr>
              <a:t>Wire Arc  </a:t>
            </a:r>
          </a:p>
          <a:p>
            <a:pPr algn="ctr"/>
            <a:r>
              <a:rPr lang="en-GB" sz="3600" b="1" dirty="0">
                <a:solidFill>
                  <a:srgbClr val="0000FF"/>
                </a:solidFill>
              </a:rPr>
              <a:t>WAAM</a:t>
            </a:r>
          </a:p>
          <a:p>
            <a:pPr algn="ctr"/>
            <a:r>
              <a:rPr lang="en-GB" sz="3600" b="1" dirty="0">
                <a:solidFill>
                  <a:srgbClr val="0000FF"/>
                </a:solidFill>
              </a:rPr>
              <a:t>Wire DED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C6E52-701D-9A04-C61F-B318F5709B32}"/>
              </a:ext>
            </a:extLst>
          </p:cNvPr>
          <p:cNvSpPr txBox="1"/>
          <p:nvPr/>
        </p:nvSpPr>
        <p:spPr>
          <a:xfrm>
            <a:off x="6183514" y="6057399"/>
            <a:ext cx="25840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Arco Voltaico</a:t>
            </a:r>
            <a:endParaRPr lang="pt-BR" sz="280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0FDF19-A33C-136F-1A28-B6A70AF3043D}"/>
              </a:ext>
            </a:extLst>
          </p:cNvPr>
          <p:cNvGrpSpPr/>
          <p:nvPr/>
        </p:nvGrpSpPr>
        <p:grpSpPr>
          <a:xfrm>
            <a:off x="469242" y="1316124"/>
            <a:ext cx="5131267" cy="1977507"/>
            <a:chOff x="469242" y="658584"/>
            <a:chExt cx="5131267" cy="197750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51DC266-B0C6-7AD9-4BB8-8ADFB9064D9E}"/>
                </a:ext>
              </a:extLst>
            </p:cNvPr>
            <p:cNvSpPr/>
            <p:nvPr/>
          </p:nvSpPr>
          <p:spPr>
            <a:xfrm>
              <a:off x="3722009" y="769025"/>
              <a:ext cx="980423" cy="318411"/>
            </a:xfrm>
            <a:prstGeom prst="round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algn="r"/>
              <a:r>
                <a:rPr lang="en-US" sz="2400" b="1" dirty="0">
                  <a:latin typeface="Horley Old Style MT"/>
                </a:rPr>
                <a:t>EBM </a:t>
              </a:r>
              <a:endParaRPr lang="LID4096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E35006-F1A4-F82E-9FA6-576C303FC24C}"/>
                </a:ext>
              </a:extLst>
            </p:cNvPr>
            <p:cNvSpPr txBox="1"/>
            <p:nvPr/>
          </p:nvSpPr>
          <p:spPr>
            <a:xfrm>
              <a:off x="469242" y="658584"/>
              <a:ext cx="34670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u="sng" dirty="0">
                  <a:latin typeface="Horley Old Style MT"/>
                </a:rPr>
                <a:t>Electron Beam</a:t>
              </a:r>
              <a:r>
                <a:rPr lang="en-US" sz="2400" b="1" dirty="0">
                  <a:latin typeface="Horley Old Style MT"/>
                </a:rPr>
                <a:t> Melting</a:t>
              </a:r>
              <a:endParaRPr lang="LID4096" sz="2400" b="1" dirty="0">
                <a:latin typeface="Horley Old Style M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E1CCE9-6D2A-0BD7-3430-CB907C3B0A37}"/>
                </a:ext>
              </a:extLst>
            </p:cNvPr>
            <p:cNvSpPr txBox="1"/>
            <p:nvPr/>
          </p:nvSpPr>
          <p:spPr>
            <a:xfrm>
              <a:off x="469242" y="1066431"/>
              <a:ext cx="5131267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b="1" u="none" strike="noStrike" dirty="0">
                  <a:effectLst/>
                  <a:latin typeface="Google Sans"/>
                </a:rPr>
                <a:t>Vat </a:t>
              </a:r>
              <a:r>
                <a:rPr lang="en-GB" sz="2400" b="1" u="sng" strike="noStrike" dirty="0">
                  <a:solidFill>
                    <a:srgbClr val="FF0000"/>
                  </a:solidFill>
                  <a:effectLst/>
                  <a:latin typeface="Google Sans"/>
                </a:rPr>
                <a:t>Photo</a:t>
              </a:r>
              <a:r>
                <a:rPr lang="en-GB" sz="2400" b="1" u="none" strike="noStrike" dirty="0">
                  <a:effectLst/>
                  <a:latin typeface="Google Sans"/>
                </a:rPr>
                <a:t>polymerization      VPP</a:t>
              </a:r>
              <a:r>
                <a:rPr lang="en-GB" sz="2400" b="1" dirty="0"/>
                <a:t> </a:t>
              </a:r>
            </a:p>
            <a:p>
              <a:r>
                <a:rPr lang="en-GB" sz="2400" b="1" u="sng" dirty="0">
                  <a:latin typeface="Google Sans"/>
                </a:rPr>
                <a:t>Binder</a:t>
              </a:r>
              <a:r>
                <a:rPr lang="en-GB" sz="2400" b="1" dirty="0">
                  <a:latin typeface="Google Sans"/>
                </a:rPr>
                <a:t> Jetting 	</a:t>
              </a:r>
              <a:r>
                <a:rPr lang="en-GB" sz="2400" b="1" dirty="0">
                  <a:solidFill>
                    <a:srgbClr val="FF0000"/>
                  </a:solidFill>
                  <a:latin typeface="Google Sans"/>
                </a:rPr>
                <a:t>(glue)</a:t>
              </a:r>
              <a:r>
                <a:rPr lang="en-GB" sz="2400" b="1" dirty="0">
                  <a:latin typeface="Google Sans"/>
                </a:rPr>
                <a:t>	            BJ</a:t>
              </a:r>
              <a:r>
                <a:rPr lang="en-GB" sz="2400" b="1" dirty="0"/>
                <a:t> </a:t>
              </a:r>
            </a:p>
            <a:p>
              <a:r>
                <a:rPr lang="en-GB" sz="2400" b="1" dirty="0"/>
                <a:t>Material Jetting 	            MJ</a:t>
              </a:r>
            </a:p>
            <a:p>
              <a:r>
                <a:rPr lang="en-US" sz="2400" b="1" dirty="0">
                  <a:latin typeface="Horley Old Style MT"/>
                </a:rPr>
                <a:t>Sheet Lamination </a:t>
              </a:r>
              <a:r>
                <a:rPr lang="en-US" sz="2400" b="1" dirty="0">
                  <a:solidFill>
                    <a:srgbClr val="FF0000"/>
                  </a:solidFill>
                  <a:latin typeface="Horley Old Style MT"/>
                </a:rPr>
                <a:t>(cut)</a:t>
              </a:r>
              <a:r>
                <a:rPr lang="en-US" sz="2400" b="1" dirty="0">
                  <a:latin typeface="Horley Old Style MT"/>
                </a:rPr>
                <a:t>          SHL</a:t>
              </a:r>
              <a:endParaRPr lang="LID4096" sz="2400" b="1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415A883-323F-D825-8070-C7FA0739707D}"/>
              </a:ext>
            </a:extLst>
          </p:cNvPr>
          <p:cNvSpPr txBox="1"/>
          <p:nvPr/>
        </p:nvSpPr>
        <p:spPr>
          <a:xfrm>
            <a:off x="613818" y="3919717"/>
            <a:ext cx="3661238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u="sng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Classificações A.M.:</a:t>
            </a:r>
          </a:p>
          <a:p>
            <a:endParaRPr lang="pt-BR" sz="1600" b="1" u="sng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Tx/>
              <a:buChar char="-"/>
            </a:pPr>
            <a:r>
              <a:rPr lang="pt-BR" sz="2400" dirty="0"/>
              <a:t>Por </a:t>
            </a:r>
            <a:r>
              <a:rPr lang="pt-BR" sz="2400" u="sng" dirty="0"/>
              <a:t>fonte de energia</a:t>
            </a:r>
          </a:p>
          <a:p>
            <a:pPr marL="342900" indent="-342900">
              <a:buFontTx/>
              <a:buChar char="-"/>
            </a:pPr>
            <a:endParaRPr lang="pt-BR" sz="900" dirty="0"/>
          </a:p>
          <a:p>
            <a:pPr marL="342900" indent="-342900">
              <a:buFontTx/>
              <a:buChar char="-"/>
            </a:pPr>
            <a:r>
              <a:rPr lang="pt-BR" sz="2400" noProof="0" dirty="0"/>
              <a:t>Por </a:t>
            </a:r>
            <a:r>
              <a:rPr lang="pt-BR" sz="2400" u="sng" noProof="0" dirty="0"/>
              <a:t>tipo de material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47E3A2-4DD7-7204-6E35-8ACDC72ADD98}"/>
              </a:ext>
            </a:extLst>
          </p:cNvPr>
          <p:cNvSpPr txBox="1"/>
          <p:nvPr/>
        </p:nvSpPr>
        <p:spPr>
          <a:xfrm>
            <a:off x="-1" y="6306902"/>
            <a:ext cx="55244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0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r>
              <a:rPr lang="en-GB" sz="1400" dirty="0"/>
              <a:t>Modelling and simulation of metal additive manufacturing processes with particle methods: </a:t>
            </a:r>
            <a:r>
              <a:rPr lang="en-US" sz="1600" u="sng" dirty="0"/>
              <a:t>A review</a:t>
            </a:r>
            <a:r>
              <a:rPr lang="en-US" sz="1400" u="sng" dirty="0"/>
              <a:t> </a:t>
            </a:r>
            <a:r>
              <a:rPr lang="en-US" sz="1050" dirty="0"/>
              <a:t>https://doi.org/10.1080/17452759.2023.2274494</a:t>
            </a:r>
            <a:endParaRPr lang="LID4096" sz="105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8CC822-50A7-BA08-8FEC-28D3FD8AAC40}"/>
              </a:ext>
            </a:extLst>
          </p:cNvPr>
          <p:cNvCxnSpPr/>
          <p:nvPr/>
        </p:nvCxnSpPr>
        <p:spPr>
          <a:xfrm>
            <a:off x="567652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B5466-651A-4813-52DC-98E73BD34022}"/>
              </a:ext>
            </a:extLst>
          </p:cNvPr>
          <p:cNvSpPr/>
          <p:nvPr/>
        </p:nvSpPr>
        <p:spPr>
          <a:xfrm>
            <a:off x="784340" y="201481"/>
            <a:ext cx="3380256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(PBF)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34A3A7-1340-B08A-9291-F6EE6511837A}"/>
              </a:ext>
            </a:extLst>
          </p:cNvPr>
          <p:cNvSpPr txBox="1"/>
          <p:nvPr/>
        </p:nvSpPr>
        <p:spPr>
          <a:xfrm>
            <a:off x="5647372" y="4706281"/>
            <a:ext cx="1206748" cy="46166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>
              <a:def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defRPr>
            </a:lvl1pPr>
          </a:lstStyle>
          <a:p>
            <a:pPr algn="ctr"/>
            <a:r>
              <a:rPr lang="LID4096" dirty="0"/>
              <a:t>GTAW</a:t>
            </a:r>
          </a:p>
        </p:txBody>
      </p:sp>
    </p:spTree>
    <p:extLst>
      <p:ext uri="{BB962C8B-B14F-4D97-AF65-F5344CB8AC3E}">
        <p14:creationId xmlns:p14="http://schemas.microsoft.com/office/powerpoint/2010/main" val="42662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A5E383-2B32-2865-3DDE-578942CA3C47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E5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78646D-4E92-EA17-AB94-8E5ACEB2D355}"/>
              </a:ext>
            </a:extLst>
          </p:cNvPr>
          <p:cNvSpPr txBox="1"/>
          <p:nvPr/>
        </p:nvSpPr>
        <p:spPr>
          <a:xfrm>
            <a:off x="439641" y="212602"/>
            <a:ext cx="6448837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</a:t>
            </a:r>
            <a:r>
              <a:rPr lang="pt-BR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A.M.</a:t>
            </a:r>
          </a:p>
          <a:p>
            <a:endParaRPr lang="pt-BR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LID4096" sz="1000" b="1" dirty="0"/>
          </a:p>
          <a:p>
            <a:pPr>
              <a:spcAft>
                <a:spcPts val="600"/>
              </a:spcAft>
            </a:pPr>
            <a:r>
              <a:rPr lang="pt-BR" sz="2800" dirty="0"/>
              <a:t>1- </a:t>
            </a:r>
            <a:r>
              <a:rPr lang="LID4096" sz="2800" dirty="0"/>
              <a:t>Orientação </a:t>
            </a:r>
            <a:r>
              <a:rPr lang="pt-BR" sz="2800" dirty="0"/>
              <a:t>– intensidade</a:t>
            </a:r>
            <a:endParaRPr lang="LID4096" sz="2800" dirty="0"/>
          </a:p>
          <a:p>
            <a:pPr>
              <a:spcAft>
                <a:spcPts val="600"/>
              </a:spcAft>
            </a:pPr>
            <a:r>
              <a:rPr lang="pt-BR" sz="2800" b="1" u="sng" dirty="0"/>
              <a:t>2- D</a:t>
            </a:r>
            <a:r>
              <a:rPr lang="LID4096" sz="2800" b="1" u="sng" dirty="0"/>
              <a:t>escontínuidades</a:t>
            </a:r>
            <a:r>
              <a:rPr lang="pt-BR" sz="2800" b="1" u="sng" dirty="0"/>
              <a:t> 	(</a:t>
            </a:r>
            <a:r>
              <a:rPr lang="LID4096" sz="2800" b="1" i="1" u="sng" dirty="0"/>
              <a:t>balling</a:t>
            </a:r>
            <a:r>
              <a:rPr lang="pt-BR" sz="2800" b="1" u="sng" dirty="0"/>
              <a:t>)</a:t>
            </a:r>
            <a:endParaRPr lang="LID4096" sz="2800" b="1" u="sng" dirty="0"/>
          </a:p>
          <a:p>
            <a:pPr>
              <a:spcAft>
                <a:spcPts val="600"/>
              </a:spcAft>
            </a:pPr>
            <a:r>
              <a:rPr lang="pt-BR" sz="2800" dirty="0"/>
              <a:t>3- </a:t>
            </a:r>
            <a:r>
              <a:rPr lang="LID4096" sz="2800" dirty="0"/>
              <a:t>Keyholes (espaços vazios - vapor)</a:t>
            </a:r>
          </a:p>
          <a:p>
            <a:pPr>
              <a:spcAft>
                <a:spcPts val="600"/>
              </a:spcAft>
            </a:pPr>
            <a:r>
              <a:rPr lang="pt-BR" sz="2800" dirty="0"/>
              <a:t>4- </a:t>
            </a:r>
            <a:r>
              <a:rPr lang="LID4096" sz="2800" dirty="0"/>
              <a:t>Degradação química e oxidação</a:t>
            </a:r>
            <a:endParaRPr lang="pt-BR" sz="2800" dirty="0"/>
          </a:p>
          <a:p>
            <a:pPr>
              <a:spcAft>
                <a:spcPts val="600"/>
              </a:spcAft>
            </a:pPr>
            <a:r>
              <a:rPr lang="pt-BR" sz="2800" b="1" u="sng" dirty="0"/>
              <a:t>5- </a:t>
            </a:r>
            <a:r>
              <a:rPr lang="LID4096" sz="2800" b="1" u="sng" dirty="0"/>
              <a:t>Partículas residuais</a:t>
            </a:r>
          </a:p>
          <a:p>
            <a:pPr>
              <a:spcAft>
                <a:spcPts val="600"/>
              </a:spcAft>
            </a:pPr>
            <a:r>
              <a:rPr lang="pt-BR" sz="2800" b="1" u="sng" dirty="0"/>
              <a:t>6- </a:t>
            </a:r>
            <a:r>
              <a:rPr lang="LID4096" sz="2800" b="1" u="sng" dirty="0"/>
              <a:t>Trincas</a:t>
            </a:r>
          </a:p>
          <a:p>
            <a:pPr>
              <a:spcAft>
                <a:spcPts val="600"/>
              </a:spcAft>
            </a:pPr>
            <a:r>
              <a:rPr lang="pt-BR" sz="2800" dirty="0"/>
              <a:t>7- </a:t>
            </a:r>
            <a:r>
              <a:rPr lang="LID4096" sz="2800" dirty="0"/>
              <a:t>Delaminação</a:t>
            </a:r>
            <a:r>
              <a:rPr lang="pt-BR" sz="2800" dirty="0"/>
              <a:t> / </a:t>
            </a:r>
            <a:r>
              <a:rPr lang="LID4096" sz="2800" dirty="0"/>
              <a:t>Distorção</a:t>
            </a:r>
          </a:p>
          <a:p>
            <a:pPr>
              <a:spcAft>
                <a:spcPts val="600"/>
              </a:spcAft>
            </a:pPr>
            <a:r>
              <a:rPr lang="pt-BR" sz="2800" dirty="0"/>
              <a:t>8- </a:t>
            </a:r>
            <a:r>
              <a:rPr lang="LID4096" sz="2800" dirty="0"/>
              <a:t>Acabamento superficial</a:t>
            </a:r>
          </a:p>
          <a:p>
            <a:pPr>
              <a:spcAft>
                <a:spcPts val="600"/>
              </a:spcAft>
            </a:pPr>
            <a:r>
              <a:rPr lang="pt-BR" sz="2800" b="1" u="sng" dirty="0"/>
              <a:t>9- </a:t>
            </a:r>
            <a:r>
              <a:rPr lang="LID4096" sz="2800" b="1" u="sng" dirty="0"/>
              <a:t>Porosidade</a:t>
            </a:r>
            <a:endParaRPr lang="LID4096" sz="28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802523-39A9-93CD-3D5D-F72290DAC1F3}"/>
              </a:ext>
            </a:extLst>
          </p:cNvPr>
          <p:cNvSpPr/>
          <p:nvPr/>
        </p:nvSpPr>
        <p:spPr>
          <a:xfrm>
            <a:off x="6444343" y="1336012"/>
            <a:ext cx="5251268" cy="3626024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1200" b="1" noProof="0" dirty="0">
                <a:latin typeface="Calibri (Body)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pt-BR" sz="3600" b="1" noProof="0" dirty="0">
                <a:solidFill>
                  <a:srgbClr val="0000FF"/>
                </a:solidFill>
                <a:latin typeface="Calibri (Body)"/>
              </a:rPr>
              <a:t>Racionalizar o problema;</a:t>
            </a:r>
          </a:p>
          <a:p>
            <a:pPr marL="457200" indent="-457200">
              <a:buFontTx/>
              <a:buChar char="-"/>
            </a:pPr>
            <a:r>
              <a:rPr lang="pt-BR" sz="3600" b="1" dirty="0">
                <a:latin typeface="Calibri (Body)"/>
              </a:rPr>
              <a:t>Criar hipóteses </a:t>
            </a:r>
          </a:p>
          <a:p>
            <a:pPr marL="457200" indent="-457200">
              <a:buFontTx/>
              <a:buChar char="-"/>
            </a:pPr>
            <a:r>
              <a:rPr lang="pt-BR" sz="3600" b="1" dirty="0">
                <a:latin typeface="Calibri (Body)"/>
              </a:rPr>
              <a:t>... entender a base de dados;</a:t>
            </a:r>
            <a:endParaRPr lang="pt-BR" sz="3600" b="1" noProof="0" dirty="0">
              <a:latin typeface="Calibri (Body)"/>
            </a:endParaRPr>
          </a:p>
          <a:p>
            <a:pPr marL="457200" indent="-457200">
              <a:buFontTx/>
              <a:buChar char="-"/>
            </a:pPr>
            <a:r>
              <a:rPr lang="pt-BR" sz="3600" b="1" dirty="0">
                <a:solidFill>
                  <a:srgbClr val="FF0000"/>
                </a:solidFill>
                <a:latin typeface="Calibri (Body)"/>
              </a:rPr>
              <a:t>Controlar o processo de fabricação.</a:t>
            </a:r>
            <a:endParaRPr lang="pt-BR" sz="3600" b="1" noProof="0" dirty="0">
              <a:solidFill>
                <a:srgbClr val="FF0000"/>
              </a:solidFill>
              <a:latin typeface="Calibri (Body)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F34C84-B521-4465-5ABE-19053F4AEFEF}"/>
              </a:ext>
            </a:extLst>
          </p:cNvPr>
          <p:cNvSpPr txBox="1"/>
          <p:nvPr/>
        </p:nvSpPr>
        <p:spPr>
          <a:xfrm>
            <a:off x="6609804" y="6593148"/>
            <a:ext cx="55893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4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pPr algn="r"/>
            <a:r>
              <a:rPr lang="LID4096" sz="1050" dirty="0"/>
              <a:t>Aula 3 - ED_Deposicao_por_energia_direcionada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126066-2354-2130-32C5-10AC28739FB2}"/>
              </a:ext>
            </a:extLst>
          </p:cNvPr>
          <p:cNvSpPr txBox="1"/>
          <p:nvPr/>
        </p:nvSpPr>
        <p:spPr>
          <a:xfrm>
            <a:off x="5722372" y="5707411"/>
            <a:ext cx="6268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Grande quantidade de variáveis !</a:t>
            </a:r>
            <a:endParaRPr lang="LID4096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DE9C45-8EE6-07C3-97F7-7DF495D5B300}"/>
              </a:ext>
            </a:extLst>
          </p:cNvPr>
          <p:cNvSpPr/>
          <p:nvPr/>
        </p:nvSpPr>
        <p:spPr>
          <a:xfrm>
            <a:off x="7796814" y="317105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que modelar?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13A21-F4D5-428F-4385-90FEBED3A7BA}"/>
              </a:ext>
            </a:extLst>
          </p:cNvPr>
          <p:cNvSpPr txBox="1"/>
          <p:nvPr/>
        </p:nvSpPr>
        <p:spPr>
          <a:xfrm>
            <a:off x="3074125" y="917645"/>
            <a:ext cx="31188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DED - Arco Voltaico</a:t>
            </a:r>
            <a:endParaRPr lang="pt-BR" sz="280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C46A5-2387-B86A-4A44-757F53436E0B}"/>
              </a:ext>
            </a:extLst>
          </p:cNvPr>
          <p:cNvSpPr txBox="1"/>
          <p:nvPr/>
        </p:nvSpPr>
        <p:spPr>
          <a:xfrm>
            <a:off x="3942737" y="1641679"/>
            <a:ext cx="3118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..da solda</a:t>
            </a:r>
            <a:endParaRPr lang="pt-BR" sz="240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622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4102D-CECA-980A-2AD6-9D7B5173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59B489-67D3-3532-7B30-DF76137F07F2}"/>
              </a:ext>
            </a:extLst>
          </p:cNvPr>
          <p:cNvSpPr/>
          <p:nvPr/>
        </p:nvSpPr>
        <p:spPr>
          <a:xfrm>
            <a:off x="-2583" y="0"/>
            <a:ext cx="12192000" cy="6858000"/>
          </a:xfrm>
          <a:prstGeom prst="rect">
            <a:avLst/>
          </a:prstGeom>
          <a:solidFill>
            <a:srgbClr val="E5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AEC11-8F9A-034C-308C-AA33CA01BA86}"/>
              </a:ext>
            </a:extLst>
          </p:cNvPr>
          <p:cNvSpPr txBox="1"/>
          <p:nvPr/>
        </p:nvSpPr>
        <p:spPr>
          <a:xfrm>
            <a:off x="272599" y="525679"/>
            <a:ext cx="5367946" cy="5850635"/>
          </a:xfrm>
          <a:prstGeom prst="rect">
            <a:avLst/>
          </a:prstGeom>
          <a:solidFill>
            <a:srgbClr val="A7E8FF"/>
          </a:solidFill>
          <a:effectLst/>
        </p:spPr>
        <p:txBody>
          <a:bodyPr wrap="none" lIns="0" tIns="0" rIns="0" bIns="0" rtlCol="0" anchor="t" anchorCtr="0">
            <a:noAutofit/>
          </a:bodyPr>
          <a:lstStyle>
            <a:defPPr>
              <a:defRPr lang="LID4096"/>
            </a:defPPr>
            <a:lvl1pPr algn="ctr"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r>
              <a:rPr lang="pt-BR" dirty="0"/>
              <a:t> </a:t>
            </a:r>
            <a:r>
              <a:rPr lang="pt-BR" sz="4000" u="sng" dirty="0"/>
              <a:t>Contexto</a:t>
            </a:r>
            <a:endParaRPr lang="pt-BR" u="sng" dirty="0"/>
          </a:p>
        </p:txBody>
      </p:sp>
      <p:sp>
        <p:nvSpPr>
          <p:cNvPr id="5" name="Retângulo 83">
            <a:extLst>
              <a:ext uri="{FF2B5EF4-FFF2-40B4-BE49-F238E27FC236}">
                <a16:creationId xmlns:a16="http://schemas.microsoft.com/office/drawing/2014/main" id="{E9DBDE52-75D3-B495-AE58-D2C816647D0C}"/>
              </a:ext>
            </a:extLst>
          </p:cNvPr>
          <p:cNvSpPr/>
          <p:nvPr/>
        </p:nvSpPr>
        <p:spPr>
          <a:xfrm>
            <a:off x="528640" y="1237518"/>
            <a:ext cx="4871383" cy="16633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 b="1" u="sng" dirty="0"/>
          </a:p>
        </p:txBody>
      </p:sp>
      <p:sp>
        <p:nvSpPr>
          <p:cNvPr id="6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F885EEA9-577F-D3DE-6E26-7E41EB9CDE73}"/>
              </a:ext>
            </a:extLst>
          </p:cNvPr>
          <p:cNvSpPr txBox="1"/>
          <p:nvPr/>
        </p:nvSpPr>
        <p:spPr>
          <a:xfrm>
            <a:off x="2563262" y="646332"/>
            <a:ext cx="2847048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pt-BR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Darcy  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  Fourier</a:t>
            </a:r>
            <a:endParaRPr lang="pt-B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E8056E78-FDBB-F7C9-9DCC-263CE7ABB10B}"/>
              </a:ext>
            </a:extLst>
          </p:cNvPr>
          <p:cNvSpPr txBox="1"/>
          <p:nvPr/>
        </p:nvSpPr>
        <p:spPr>
          <a:xfrm>
            <a:off x="3847550" y="2342797"/>
            <a:ext cx="1650878" cy="487809"/>
          </a:xfrm>
          <a:prstGeom prst="rect">
            <a:avLst/>
          </a:prstGeom>
          <a:noFill/>
          <a:ln w="38100">
            <a:noFill/>
          </a:ln>
        </p:spPr>
        <p:txBody>
          <a:bodyPr wrap="square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82B6B4C-4418-8F7B-F7EC-35982B117C06}"/>
              </a:ext>
            </a:extLst>
          </p:cNvPr>
          <p:cNvGrpSpPr/>
          <p:nvPr/>
        </p:nvGrpSpPr>
        <p:grpSpPr>
          <a:xfrm>
            <a:off x="5841960" y="4453325"/>
            <a:ext cx="3407577" cy="1885969"/>
            <a:chOff x="6178952" y="4366766"/>
            <a:chExt cx="4811155" cy="258243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84CA36E-0490-8358-8EA9-48538F80DA0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178952" y="4366766"/>
              <a:ext cx="4811155" cy="2582433"/>
              <a:chOff x="6612774" y="3332502"/>
              <a:chExt cx="4250457" cy="228147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A628C42-5B11-A5DD-8276-4D2BBA4E3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807" b="54338"/>
              <a:stretch>
                <a:fillRect/>
              </a:stretch>
            </p:blipFill>
            <p:spPr>
              <a:xfrm>
                <a:off x="6612774" y="3332502"/>
                <a:ext cx="4250457" cy="2281474"/>
              </a:xfrm>
              <a:prstGeom prst="rect">
                <a:avLst/>
              </a:prstGeom>
              <a:ln w="19050">
                <a:noFill/>
              </a:ln>
            </p:spPr>
          </p:pic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B0DAEB9-EF99-284C-43D1-714244542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1117" y="3502743"/>
                <a:ext cx="0" cy="1963112"/>
              </a:xfrm>
              <a:prstGeom prst="line">
                <a:avLst/>
              </a:prstGeom>
              <a:ln w="1016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6285E9-6BA4-8BC6-6454-5C1748830C14}"/>
                </a:ext>
              </a:extLst>
            </p:cNvPr>
            <p:cNvCxnSpPr>
              <a:cxnSpLocks/>
            </p:cNvCxnSpPr>
            <p:nvPr/>
          </p:nvCxnSpPr>
          <p:spPr>
            <a:xfrm>
              <a:off x="10459810" y="5766380"/>
              <a:ext cx="0" cy="1022879"/>
            </a:xfrm>
            <a:prstGeom prst="line">
              <a:avLst/>
            </a:prstGeom>
            <a:ln w="1016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3A574CF-E256-9CD0-1EE0-4F18C56B197A}"/>
              </a:ext>
            </a:extLst>
          </p:cNvPr>
          <p:cNvSpPr txBox="1"/>
          <p:nvPr/>
        </p:nvSpPr>
        <p:spPr>
          <a:xfrm>
            <a:off x="5816179" y="1830654"/>
            <a:ext cx="3108175" cy="46166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Premissas</a:t>
            </a:r>
            <a:endParaRPr lang="pt-B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AEE2E-AFC8-D5BD-1653-E5A40E928B16}"/>
              </a:ext>
            </a:extLst>
          </p:cNvPr>
          <p:cNvSpPr txBox="1"/>
          <p:nvPr/>
        </p:nvSpPr>
        <p:spPr>
          <a:xfrm>
            <a:off x="5798073" y="4058108"/>
            <a:ext cx="3128764" cy="46166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Resultados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F1C7B-2318-7CB7-789D-BDC7BF99A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" r="54968" b="54771"/>
          <a:stretch>
            <a:fillRect/>
          </a:stretch>
        </p:blipFill>
        <p:spPr>
          <a:xfrm>
            <a:off x="6003647" y="2264176"/>
            <a:ext cx="3212857" cy="1870863"/>
          </a:xfrm>
          <a:prstGeom prst="rect">
            <a:avLst/>
          </a:prstGeom>
          <a:ln w="19050">
            <a:noFill/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D96375-0F9B-7957-39D4-0FBB4DC089B0}"/>
              </a:ext>
            </a:extLst>
          </p:cNvPr>
          <p:cNvCxnSpPr>
            <a:cxnSpLocks/>
          </p:cNvCxnSpPr>
          <p:nvPr/>
        </p:nvCxnSpPr>
        <p:spPr>
          <a:xfrm>
            <a:off x="5932367" y="2408066"/>
            <a:ext cx="0" cy="1622797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4B77D4-EDEA-06DD-BB5A-E494B5B2A0DA}"/>
              </a:ext>
            </a:extLst>
          </p:cNvPr>
          <p:cNvCxnSpPr>
            <a:cxnSpLocks/>
          </p:cNvCxnSpPr>
          <p:nvPr/>
        </p:nvCxnSpPr>
        <p:spPr>
          <a:xfrm>
            <a:off x="8892951" y="3289485"/>
            <a:ext cx="0" cy="74701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05F1084B-FC58-64A3-D366-B64BA7CE9F48}"/>
              </a:ext>
            </a:extLst>
          </p:cNvPr>
          <p:cNvSpPr txBox="1"/>
          <p:nvPr/>
        </p:nvSpPr>
        <p:spPr>
          <a:xfrm>
            <a:off x="6301988" y="5777245"/>
            <a:ext cx="2372661" cy="369332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0">
            <a:spAutoFit/>
          </a:bodyPr>
          <a:lstStyle>
            <a:defPPr>
              <a:defRPr lang="LID4096"/>
            </a:defPPr>
            <a:lvl1pPr lvl="0" indent="0" algn="ctr"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  <a:ea typeface="Cambria Math" panose="02040503050406030204" pitchFamily="18" charset="0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pt-BR" dirty="0"/>
              <a:t>Carga (hidráulica)</a:t>
            </a:r>
          </a:p>
        </p:txBody>
      </p:sp>
      <p:sp>
        <p:nvSpPr>
          <p:cNvPr id="20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3FD5CF55-4D23-969F-FDF5-E64563D73725}"/>
              </a:ext>
            </a:extLst>
          </p:cNvPr>
          <p:cNvSpPr txBox="1"/>
          <p:nvPr/>
        </p:nvSpPr>
        <p:spPr>
          <a:xfrm>
            <a:off x="6641726" y="3555156"/>
            <a:ext cx="2074932" cy="369332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pt-BR" sz="2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  <a:ea typeface="Cambria Math" panose="02040503050406030204" pitchFamily="18" charset="0"/>
              </a:rPr>
              <a:t>Condutividade</a:t>
            </a:r>
            <a:endParaRPr lang="pt-BR" sz="2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Body)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BA803D-944C-3E12-17CB-49C679F91A96}"/>
              </a:ext>
            </a:extLst>
          </p:cNvPr>
          <p:cNvGrpSpPr/>
          <p:nvPr/>
        </p:nvGrpSpPr>
        <p:grpSpPr>
          <a:xfrm>
            <a:off x="470357" y="3064494"/>
            <a:ext cx="1671753" cy="1415001"/>
            <a:chOff x="844800" y="843864"/>
            <a:chExt cx="2174642" cy="1956264"/>
          </a:xfrm>
        </p:grpSpPr>
        <p:grpSp>
          <p:nvGrpSpPr>
            <p:cNvPr id="22" name="Agrupar 1086">
              <a:extLst>
                <a:ext uri="{FF2B5EF4-FFF2-40B4-BE49-F238E27FC236}">
                  <a16:creationId xmlns:a16="http://schemas.microsoft.com/office/drawing/2014/main" id="{BE4FF1A4-7E16-1DF3-A1A3-3C6B9CA4B0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4800" y="843864"/>
              <a:ext cx="2174642" cy="1956264"/>
              <a:chOff x="262811" y="138888"/>
              <a:chExt cx="727401" cy="654585"/>
            </a:xfrm>
          </p:grpSpPr>
          <p:sp>
            <p:nvSpPr>
              <p:cNvPr id="25" name="Seta: para a Direita 1078">
                <a:extLst>
                  <a:ext uri="{FF2B5EF4-FFF2-40B4-BE49-F238E27FC236}">
                    <a16:creationId xmlns:a16="http://schemas.microsoft.com/office/drawing/2014/main" id="{75FB556E-AC71-B631-462B-CFA8055D1412}"/>
                  </a:ext>
                </a:extLst>
              </p:cNvPr>
              <p:cNvSpPr/>
              <p:nvPr/>
            </p:nvSpPr>
            <p:spPr>
              <a:xfrm>
                <a:off x="765383" y="334159"/>
                <a:ext cx="159385" cy="173990"/>
              </a:xfrm>
              <a:prstGeom prst="rightArrow">
                <a:avLst/>
              </a:prstGeom>
              <a:solidFill>
                <a:schemeClr val="accent1">
                  <a:alpha val="50196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LID4096" sz="4000" dirty="0"/>
              </a:p>
            </p:txBody>
          </p:sp>
          <p:sp>
            <p:nvSpPr>
              <p:cNvPr id="26" name="Seta: para a Direita 1079">
                <a:extLst>
                  <a:ext uri="{FF2B5EF4-FFF2-40B4-BE49-F238E27FC236}">
                    <a16:creationId xmlns:a16="http://schemas.microsoft.com/office/drawing/2014/main" id="{C42C1604-0D88-58AC-E7A6-28698ECE175C}"/>
                  </a:ext>
                </a:extLst>
              </p:cNvPr>
              <p:cNvSpPr/>
              <p:nvPr/>
            </p:nvSpPr>
            <p:spPr>
              <a:xfrm>
                <a:off x="382198" y="333381"/>
                <a:ext cx="159147" cy="173990"/>
              </a:xfrm>
              <a:prstGeom prst="rightArrow">
                <a:avLst/>
              </a:prstGeom>
              <a:solidFill>
                <a:schemeClr val="accent6">
                  <a:lumMod val="60000"/>
                  <a:lumOff val="40000"/>
                  <a:alpha val="50196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7" name="Agrupar 1085">
                <a:extLst>
                  <a:ext uri="{FF2B5EF4-FFF2-40B4-BE49-F238E27FC236}">
                    <a16:creationId xmlns:a16="http://schemas.microsoft.com/office/drawing/2014/main" id="{060A4ED5-3BC2-7F07-0A92-461F003F285C}"/>
                  </a:ext>
                </a:extLst>
              </p:cNvPr>
              <p:cNvGrpSpPr/>
              <p:nvPr/>
            </p:nvGrpSpPr>
            <p:grpSpPr>
              <a:xfrm>
                <a:off x="262811" y="138888"/>
                <a:ext cx="727401" cy="654585"/>
                <a:chOff x="103251" y="138888"/>
                <a:chExt cx="727401" cy="654585"/>
              </a:xfrm>
            </p:grpSpPr>
            <p:grpSp>
              <p:nvGrpSpPr>
                <p:cNvPr id="28" name="Agrupar 1067">
                  <a:extLst>
                    <a:ext uri="{FF2B5EF4-FFF2-40B4-BE49-F238E27FC236}">
                      <a16:creationId xmlns:a16="http://schemas.microsoft.com/office/drawing/2014/main" id="{3428EC0E-9FE3-5138-F212-FBF42F7ECF32}"/>
                    </a:ext>
                  </a:extLst>
                </p:cNvPr>
                <p:cNvGrpSpPr/>
                <p:nvPr/>
              </p:nvGrpSpPr>
              <p:grpSpPr>
                <a:xfrm>
                  <a:off x="103251" y="138888"/>
                  <a:ext cx="727401" cy="654585"/>
                  <a:chOff x="-1076" y="113072"/>
                  <a:chExt cx="727401" cy="654643"/>
                </a:xfrm>
              </p:grpSpPr>
              <p:grpSp>
                <p:nvGrpSpPr>
                  <p:cNvPr id="34" name="Agrupar 1063">
                    <a:extLst>
                      <a:ext uri="{FF2B5EF4-FFF2-40B4-BE49-F238E27FC236}">
                        <a16:creationId xmlns:a16="http://schemas.microsoft.com/office/drawing/2014/main" id="{BC3FE826-756F-6EF3-45F4-954221B01C1F}"/>
                      </a:ext>
                    </a:extLst>
                  </p:cNvPr>
                  <p:cNvGrpSpPr/>
                  <p:nvPr/>
                </p:nvGrpSpPr>
                <p:grpSpPr>
                  <a:xfrm>
                    <a:off x="-1076" y="116538"/>
                    <a:ext cx="727401" cy="651177"/>
                    <a:chOff x="-1076" y="116538"/>
                    <a:chExt cx="727401" cy="651177"/>
                  </a:xfrm>
                </p:grpSpPr>
                <p:grpSp>
                  <p:nvGrpSpPr>
                    <p:cNvPr id="38" name="Agrupar 1059">
                      <a:extLst>
                        <a:ext uri="{FF2B5EF4-FFF2-40B4-BE49-F238E27FC236}">
                          <a16:creationId xmlns:a16="http://schemas.microsoft.com/office/drawing/2014/main" id="{87B5D7CF-68D8-59B0-2549-B303A42CB6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076" y="116538"/>
                      <a:ext cx="725170" cy="650542"/>
                      <a:chOff x="-1076" y="-937"/>
                      <a:chExt cx="725170" cy="650542"/>
                    </a:xfrm>
                  </p:grpSpPr>
                  <p:cxnSp>
                    <p:nvCxnSpPr>
                      <p:cNvPr id="47" name="Conector reto 1046">
                        <a:extLst>
                          <a:ext uri="{FF2B5EF4-FFF2-40B4-BE49-F238E27FC236}">
                            <a16:creationId xmlns:a16="http://schemas.microsoft.com/office/drawing/2014/main" id="{9697004F-777C-627B-01EE-16641C41C4D2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3175" y="479425"/>
                        <a:ext cx="166370" cy="17018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48" name="Conector reto 1056">
                        <a:extLst>
                          <a:ext uri="{FF2B5EF4-FFF2-40B4-BE49-F238E27FC236}">
                            <a16:creationId xmlns:a16="http://schemas.microsoft.com/office/drawing/2014/main" id="{B0461492-C289-9D2F-6FEC-32B8F5C0CC98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-1076" y="0"/>
                        <a:ext cx="166370" cy="17018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49" name="Conector reto 1057">
                        <a:extLst>
                          <a:ext uri="{FF2B5EF4-FFF2-40B4-BE49-F238E27FC236}">
                            <a16:creationId xmlns:a16="http://schemas.microsoft.com/office/drawing/2014/main" id="{00B0DD77-5135-DA98-D3AE-E5DFF9705EC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556728" y="-937"/>
                        <a:ext cx="166370" cy="17018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50" name="Conector reto 1058">
                        <a:extLst>
                          <a:ext uri="{FF2B5EF4-FFF2-40B4-BE49-F238E27FC236}">
                            <a16:creationId xmlns:a16="http://schemas.microsoft.com/office/drawing/2014/main" id="{41AA19D3-0582-3CEC-8982-94EF0C92617D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557724" y="479334"/>
                        <a:ext cx="166370" cy="17018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</p:grpSp>
                <p:grpSp>
                  <p:nvGrpSpPr>
                    <p:cNvPr id="39" name="Agrupar 1054">
                      <a:extLst>
                        <a:ext uri="{FF2B5EF4-FFF2-40B4-BE49-F238E27FC236}">
                          <a16:creationId xmlns:a16="http://schemas.microsoft.com/office/drawing/2014/main" id="{0C336F62-6A43-3E12-5866-1F89D028E9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117475"/>
                      <a:ext cx="726325" cy="650240"/>
                      <a:chOff x="0" y="111125"/>
                      <a:chExt cx="726325" cy="650240"/>
                    </a:xfrm>
                  </p:grpSpPr>
                  <p:sp>
                    <p:nvSpPr>
                      <p:cNvPr id="42" name="Retângulo 1044">
                        <a:extLst>
                          <a:ext uri="{FF2B5EF4-FFF2-40B4-BE49-F238E27FC236}">
                            <a16:creationId xmlns:a16="http://schemas.microsoft.com/office/drawing/2014/main" id="{FB5A4CAF-1456-A90B-8F28-5969D3CDB8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279400"/>
                        <a:ext cx="556651" cy="48196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LID4096" sz="4000" dirty="0"/>
                      </a:p>
                    </p:txBody>
                  </p:sp>
                  <p:cxnSp>
                    <p:nvCxnSpPr>
                      <p:cNvPr id="43" name="Conector reto 1047">
                        <a:extLst>
                          <a:ext uri="{FF2B5EF4-FFF2-40B4-BE49-F238E27FC236}">
                            <a16:creationId xmlns:a16="http://schemas.microsoft.com/office/drawing/2014/main" id="{39CF2F30-403A-D901-49F2-15ACF80E5DF2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168275" y="114300"/>
                        <a:ext cx="3175" cy="47625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44" name="Conector reto 1048">
                        <a:extLst>
                          <a:ext uri="{FF2B5EF4-FFF2-40B4-BE49-F238E27FC236}">
                            <a16:creationId xmlns:a16="http://schemas.microsoft.com/office/drawing/2014/main" id="{3021BCCA-BA38-FFDF-547E-E92F3E33B9D2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723900" y="111125"/>
                        <a:ext cx="635" cy="47625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45" name="Conector reto 1050">
                        <a:extLst>
                          <a:ext uri="{FF2B5EF4-FFF2-40B4-BE49-F238E27FC236}">
                            <a16:creationId xmlns:a16="http://schemas.microsoft.com/office/drawing/2014/main" id="{A486A0F6-4B2E-1882-F224-A1BF3511C0EA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169311" y="589708"/>
                        <a:ext cx="557014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  <p:cxnSp>
                    <p:nvCxnSpPr>
                      <p:cNvPr id="46" name="Conector reto 1051">
                        <a:extLst>
                          <a:ext uri="{FF2B5EF4-FFF2-40B4-BE49-F238E27FC236}">
                            <a16:creationId xmlns:a16="http://schemas.microsoft.com/office/drawing/2014/main" id="{A90D1C27-D61D-7F54-5F69-807FF7C6DBF5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165100" y="111125"/>
                        <a:ext cx="559435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cxnSp>
                </p:grpSp>
              </p:grpSp>
              <p:sp>
                <p:nvSpPr>
                  <p:cNvPr id="36" name="Forma Livre: Forma 1064">
                    <a:extLst>
                      <a:ext uri="{FF2B5EF4-FFF2-40B4-BE49-F238E27FC236}">
                        <a16:creationId xmlns:a16="http://schemas.microsoft.com/office/drawing/2014/main" id="{62B7CA0D-FA4A-20B0-7236-3F878664BC36}"/>
                      </a:ext>
                    </a:extLst>
                  </p:cNvPr>
                  <p:cNvSpPr/>
                  <p:nvPr/>
                </p:nvSpPr>
                <p:spPr>
                  <a:xfrm>
                    <a:off x="1324" y="118377"/>
                    <a:ext cx="166016" cy="643255"/>
                  </a:xfrm>
                  <a:custGeom>
                    <a:avLst/>
                    <a:gdLst>
                      <a:gd name="connsiteX0" fmla="*/ 6350 w 155575"/>
                      <a:gd name="connsiteY0" fmla="*/ 609600 h 609600"/>
                      <a:gd name="connsiteX1" fmla="*/ 0 w 155575"/>
                      <a:gd name="connsiteY1" fmla="*/ 161925 h 609600"/>
                      <a:gd name="connsiteX2" fmla="*/ 152400 w 155575"/>
                      <a:gd name="connsiteY2" fmla="*/ 0 h 609600"/>
                      <a:gd name="connsiteX3" fmla="*/ 155575 w 155575"/>
                      <a:gd name="connsiteY3" fmla="*/ 444500 h 609600"/>
                      <a:gd name="connsiteX4" fmla="*/ 6350 w 155575"/>
                      <a:gd name="connsiteY4" fmla="*/ 609600 h 609600"/>
                      <a:gd name="connsiteX0" fmla="*/ 6350 w 165100"/>
                      <a:gd name="connsiteY0" fmla="*/ 609600 h 609600"/>
                      <a:gd name="connsiteX1" fmla="*/ 0 w 165100"/>
                      <a:gd name="connsiteY1" fmla="*/ 161925 h 609600"/>
                      <a:gd name="connsiteX2" fmla="*/ 152400 w 165100"/>
                      <a:gd name="connsiteY2" fmla="*/ 0 h 609600"/>
                      <a:gd name="connsiteX3" fmla="*/ 165100 w 165100"/>
                      <a:gd name="connsiteY3" fmla="*/ 463550 h 609600"/>
                      <a:gd name="connsiteX4" fmla="*/ 6350 w 165100"/>
                      <a:gd name="connsiteY4" fmla="*/ 609600 h 609600"/>
                      <a:gd name="connsiteX0" fmla="*/ 611 w 165711"/>
                      <a:gd name="connsiteY0" fmla="*/ 630555 h 630555"/>
                      <a:gd name="connsiteX1" fmla="*/ 611 w 165711"/>
                      <a:gd name="connsiteY1" fmla="*/ 161925 h 630555"/>
                      <a:gd name="connsiteX2" fmla="*/ 153011 w 165711"/>
                      <a:gd name="connsiteY2" fmla="*/ 0 h 630555"/>
                      <a:gd name="connsiteX3" fmla="*/ 165711 w 165711"/>
                      <a:gd name="connsiteY3" fmla="*/ 463550 h 630555"/>
                      <a:gd name="connsiteX4" fmla="*/ 611 w 165711"/>
                      <a:gd name="connsiteY4" fmla="*/ 630555 h 630555"/>
                      <a:gd name="connsiteX0" fmla="*/ 611 w 166016"/>
                      <a:gd name="connsiteY0" fmla="*/ 643255 h 643255"/>
                      <a:gd name="connsiteX1" fmla="*/ 611 w 166016"/>
                      <a:gd name="connsiteY1" fmla="*/ 174625 h 643255"/>
                      <a:gd name="connsiteX2" fmla="*/ 165711 w 166016"/>
                      <a:gd name="connsiteY2" fmla="*/ 0 h 643255"/>
                      <a:gd name="connsiteX3" fmla="*/ 165711 w 166016"/>
                      <a:gd name="connsiteY3" fmla="*/ 476250 h 643255"/>
                      <a:gd name="connsiteX4" fmla="*/ 611 w 166016"/>
                      <a:gd name="connsiteY4" fmla="*/ 643255 h 6432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6016" h="643255">
                        <a:moveTo>
                          <a:pt x="611" y="643255"/>
                        </a:moveTo>
                        <a:cubicBezTo>
                          <a:pt x="-1506" y="494030"/>
                          <a:pt x="2728" y="323850"/>
                          <a:pt x="611" y="174625"/>
                        </a:cubicBezTo>
                        <a:lnTo>
                          <a:pt x="165711" y="0"/>
                        </a:lnTo>
                        <a:cubicBezTo>
                          <a:pt x="166769" y="148167"/>
                          <a:pt x="164653" y="328083"/>
                          <a:pt x="165711" y="476250"/>
                        </a:cubicBezTo>
                        <a:lnTo>
                          <a:pt x="611" y="643255"/>
                        </a:lnTo>
                        <a:close/>
                      </a:path>
                    </a:pathLst>
                  </a:custGeom>
                  <a:solidFill>
                    <a:schemeClr val="accent6">
                      <a:lumMod val="60000"/>
                      <a:lumOff val="40000"/>
                      <a:alpha val="50196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LID4096" sz="4000" dirty="0"/>
                  </a:p>
                </p:txBody>
              </p:sp>
              <p:sp>
                <p:nvSpPr>
                  <p:cNvPr id="37" name="Forma Livre: Forma 1065">
                    <a:extLst>
                      <a:ext uri="{FF2B5EF4-FFF2-40B4-BE49-F238E27FC236}">
                        <a16:creationId xmlns:a16="http://schemas.microsoft.com/office/drawing/2014/main" id="{4F789A60-68FB-2720-5CF1-AE81A5185715}"/>
                      </a:ext>
                    </a:extLst>
                  </p:cNvPr>
                  <p:cNvSpPr/>
                  <p:nvPr/>
                </p:nvSpPr>
                <p:spPr>
                  <a:xfrm>
                    <a:off x="556813" y="113072"/>
                    <a:ext cx="166016" cy="651805"/>
                  </a:xfrm>
                  <a:custGeom>
                    <a:avLst/>
                    <a:gdLst>
                      <a:gd name="connsiteX0" fmla="*/ 6350 w 155575"/>
                      <a:gd name="connsiteY0" fmla="*/ 609600 h 609600"/>
                      <a:gd name="connsiteX1" fmla="*/ 0 w 155575"/>
                      <a:gd name="connsiteY1" fmla="*/ 161925 h 609600"/>
                      <a:gd name="connsiteX2" fmla="*/ 152400 w 155575"/>
                      <a:gd name="connsiteY2" fmla="*/ 0 h 609600"/>
                      <a:gd name="connsiteX3" fmla="*/ 155575 w 155575"/>
                      <a:gd name="connsiteY3" fmla="*/ 444500 h 609600"/>
                      <a:gd name="connsiteX4" fmla="*/ 6350 w 155575"/>
                      <a:gd name="connsiteY4" fmla="*/ 609600 h 609600"/>
                      <a:gd name="connsiteX0" fmla="*/ 6350 w 165100"/>
                      <a:gd name="connsiteY0" fmla="*/ 609600 h 609600"/>
                      <a:gd name="connsiteX1" fmla="*/ 0 w 165100"/>
                      <a:gd name="connsiteY1" fmla="*/ 161925 h 609600"/>
                      <a:gd name="connsiteX2" fmla="*/ 152400 w 165100"/>
                      <a:gd name="connsiteY2" fmla="*/ 0 h 609600"/>
                      <a:gd name="connsiteX3" fmla="*/ 165100 w 165100"/>
                      <a:gd name="connsiteY3" fmla="*/ 463550 h 609600"/>
                      <a:gd name="connsiteX4" fmla="*/ 6350 w 165100"/>
                      <a:gd name="connsiteY4" fmla="*/ 609600 h 609600"/>
                      <a:gd name="connsiteX0" fmla="*/ 611 w 165711"/>
                      <a:gd name="connsiteY0" fmla="*/ 630555 h 630555"/>
                      <a:gd name="connsiteX1" fmla="*/ 611 w 165711"/>
                      <a:gd name="connsiteY1" fmla="*/ 161925 h 630555"/>
                      <a:gd name="connsiteX2" fmla="*/ 153011 w 165711"/>
                      <a:gd name="connsiteY2" fmla="*/ 0 h 630555"/>
                      <a:gd name="connsiteX3" fmla="*/ 165711 w 165711"/>
                      <a:gd name="connsiteY3" fmla="*/ 463550 h 630555"/>
                      <a:gd name="connsiteX4" fmla="*/ 611 w 165711"/>
                      <a:gd name="connsiteY4" fmla="*/ 630555 h 630555"/>
                      <a:gd name="connsiteX0" fmla="*/ 611 w 166016"/>
                      <a:gd name="connsiteY0" fmla="*/ 643255 h 643255"/>
                      <a:gd name="connsiteX1" fmla="*/ 611 w 166016"/>
                      <a:gd name="connsiteY1" fmla="*/ 174625 h 643255"/>
                      <a:gd name="connsiteX2" fmla="*/ 165711 w 166016"/>
                      <a:gd name="connsiteY2" fmla="*/ 0 h 643255"/>
                      <a:gd name="connsiteX3" fmla="*/ 165711 w 166016"/>
                      <a:gd name="connsiteY3" fmla="*/ 476250 h 643255"/>
                      <a:gd name="connsiteX4" fmla="*/ 611 w 166016"/>
                      <a:gd name="connsiteY4" fmla="*/ 643255 h 6432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6016" h="643255">
                        <a:moveTo>
                          <a:pt x="611" y="643255"/>
                        </a:moveTo>
                        <a:cubicBezTo>
                          <a:pt x="-1506" y="494030"/>
                          <a:pt x="2728" y="323850"/>
                          <a:pt x="611" y="174625"/>
                        </a:cubicBezTo>
                        <a:lnTo>
                          <a:pt x="165711" y="0"/>
                        </a:lnTo>
                        <a:cubicBezTo>
                          <a:pt x="166769" y="148167"/>
                          <a:pt x="164653" y="328083"/>
                          <a:pt x="165711" y="476250"/>
                        </a:cubicBezTo>
                        <a:lnTo>
                          <a:pt x="611" y="643255"/>
                        </a:lnTo>
                        <a:close/>
                      </a:path>
                    </a:pathLst>
                  </a:custGeom>
                  <a:solidFill>
                    <a:schemeClr val="accent1">
                      <a:alpha val="50196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LID4096" sz="4000" dirty="0"/>
                  </a:p>
                </p:txBody>
              </p:sp>
            </p:grpSp>
            <p:grpSp>
              <p:nvGrpSpPr>
                <p:cNvPr id="29" name="Agrupar 1083">
                  <a:extLst>
                    <a:ext uri="{FF2B5EF4-FFF2-40B4-BE49-F238E27FC236}">
                      <a16:creationId xmlns:a16="http://schemas.microsoft.com/office/drawing/2014/main" id="{69A66BAA-17F2-68F0-134C-113DEA3607E3}"/>
                    </a:ext>
                  </a:extLst>
                </p:cNvPr>
                <p:cNvGrpSpPr/>
                <p:nvPr/>
              </p:nvGrpSpPr>
              <p:grpSpPr>
                <a:xfrm>
                  <a:off x="203133" y="150803"/>
                  <a:ext cx="539247" cy="628276"/>
                  <a:chOff x="203135" y="150872"/>
                  <a:chExt cx="539254" cy="628524"/>
                </a:xfrm>
              </p:grpSpPr>
              <p:sp>
                <p:nvSpPr>
                  <p:cNvPr id="30" name="Caixa de texto 109">
                    <a:extLst>
                      <a:ext uri="{FF2B5EF4-FFF2-40B4-BE49-F238E27FC236}">
                        <a16:creationId xmlns:a16="http://schemas.microsoft.com/office/drawing/2014/main" id="{5B39DE95-85A4-4C95-E90B-02E963C5A3DA}"/>
                      </a:ext>
                    </a:extLst>
                  </p:cNvPr>
                  <p:cNvSpPr txBox="1"/>
                  <p:nvPr/>
                </p:nvSpPr>
                <p:spPr>
                  <a:xfrm>
                    <a:off x="516065" y="616044"/>
                    <a:ext cx="226324" cy="107950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Aft>
                        <a:spcPts val="800"/>
                      </a:spcAft>
                      <a:buNone/>
                    </a:pPr>
                    <a:r>
                      <a:rPr lang="en-US" sz="2000" b="1" dirty="0">
                        <a:solidFill>
                          <a:schemeClr val="tx1"/>
                        </a:solidFill>
                        <a:effectLst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Δ</a:t>
                    </a:r>
                    <a:r>
                      <a:rPr lang="en-US" sz="2000" b="1" dirty="0">
                        <a:solidFill>
                          <a:schemeClr val="tx1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x</a:t>
                    </a:r>
                    <a:endParaRPr sz="2000" b="1" dirty="0">
                      <a:solidFill>
                        <a:schemeClr val="tx1"/>
                      </a:solidFill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" name="Caixa de texto 109">
                    <a:extLst>
                      <a:ext uri="{FF2B5EF4-FFF2-40B4-BE49-F238E27FC236}">
                        <a16:creationId xmlns:a16="http://schemas.microsoft.com/office/drawing/2014/main" id="{A563CFA2-73A8-B35E-0AED-7B4A87254DCD}"/>
                      </a:ext>
                    </a:extLst>
                  </p:cNvPr>
                  <p:cNvSpPr txBox="1"/>
                  <p:nvPr/>
                </p:nvSpPr>
                <p:spPr>
                  <a:xfrm>
                    <a:off x="288978" y="150872"/>
                    <a:ext cx="149860" cy="107950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Aft>
                        <a:spcPts val="800"/>
                      </a:spcAft>
                      <a:buNone/>
                    </a:pPr>
                    <a:r>
                      <a:rPr lang="en-US" sz="1600" b="1" dirty="0">
                        <a:solidFill>
                          <a:schemeClr val="accent2"/>
                        </a:solidFill>
                        <a:effectLst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Δz</a:t>
                    </a:r>
                    <a:endParaRPr sz="1600" b="1" dirty="0">
                      <a:solidFill>
                        <a:schemeClr val="accent2"/>
                      </a:solidFill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Caixa de texto 109">
                    <a:extLst>
                      <a:ext uri="{FF2B5EF4-FFF2-40B4-BE49-F238E27FC236}">
                        <a16:creationId xmlns:a16="http://schemas.microsoft.com/office/drawing/2014/main" id="{3EFCBF55-B40E-CBC5-5543-4EBB05A8BF9B}"/>
                      </a:ext>
                    </a:extLst>
                  </p:cNvPr>
                  <p:cNvSpPr txBox="1"/>
                  <p:nvPr/>
                </p:nvSpPr>
                <p:spPr>
                  <a:xfrm>
                    <a:off x="203135" y="671446"/>
                    <a:ext cx="149860" cy="107950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Aft>
                        <a:spcPts val="800"/>
                      </a:spcAft>
                      <a:buNone/>
                    </a:pPr>
                    <a:r>
                      <a:rPr lang="en-US" sz="1600" b="1" dirty="0">
                        <a:solidFill>
                          <a:schemeClr val="accent2"/>
                        </a:solidFill>
                        <a:effectLst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Δy</a:t>
                    </a:r>
                    <a:endParaRPr sz="1600" b="1" dirty="0">
                      <a:solidFill>
                        <a:schemeClr val="accent2"/>
                      </a:solidFill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23" name="Caixa de texto 109">
              <a:extLst>
                <a:ext uri="{FF2B5EF4-FFF2-40B4-BE49-F238E27FC236}">
                  <a16:creationId xmlns:a16="http://schemas.microsoft.com/office/drawing/2014/main" id="{3FEA236C-5C85-2FDB-2351-5B721C7BC002}"/>
                </a:ext>
              </a:extLst>
            </p:cNvPr>
            <p:cNvSpPr txBox="1"/>
            <p:nvPr/>
          </p:nvSpPr>
          <p:spPr>
            <a:xfrm>
              <a:off x="1479186" y="1918575"/>
              <a:ext cx="448015" cy="32250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in</a:t>
              </a:r>
              <a:endParaRPr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Caixa de texto 109">
              <a:extLst>
                <a:ext uri="{FF2B5EF4-FFF2-40B4-BE49-F238E27FC236}">
                  <a16:creationId xmlns:a16="http://schemas.microsoft.com/office/drawing/2014/main" id="{1C000600-D393-7395-5B5C-7CC6295C6B5B}"/>
                </a:ext>
              </a:extLst>
            </p:cNvPr>
            <p:cNvSpPr txBox="1"/>
            <p:nvPr/>
          </p:nvSpPr>
          <p:spPr>
            <a:xfrm>
              <a:off x="2026713" y="1915481"/>
              <a:ext cx="646032" cy="32250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out</a:t>
              </a:r>
              <a:endParaRPr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Retângulo 83">
            <a:extLst>
              <a:ext uri="{FF2B5EF4-FFF2-40B4-BE49-F238E27FC236}">
                <a16:creationId xmlns:a16="http://schemas.microsoft.com/office/drawing/2014/main" id="{3A8604E3-6C86-A5D8-2EB7-A8B08A709C66}"/>
              </a:ext>
            </a:extLst>
          </p:cNvPr>
          <p:cNvSpPr/>
          <p:nvPr/>
        </p:nvSpPr>
        <p:spPr>
          <a:xfrm>
            <a:off x="2246468" y="3004862"/>
            <a:ext cx="3163842" cy="143723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 b="1" u="sng" dirty="0"/>
          </a:p>
        </p:txBody>
      </p:sp>
      <p:sp>
        <p:nvSpPr>
          <p:cNvPr id="52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677F8FAB-891F-C923-27E0-2D73C79154E8}"/>
              </a:ext>
            </a:extLst>
          </p:cNvPr>
          <p:cNvSpPr txBox="1"/>
          <p:nvPr/>
        </p:nvSpPr>
        <p:spPr>
          <a:xfrm>
            <a:off x="2548126" y="5777245"/>
            <a:ext cx="1573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 algn="r">
              <a:defRPr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dirty="0"/>
              <a:t>=   𝐟𝐨𝐧𝐭𝐞𝐬 </a:t>
            </a:r>
          </a:p>
          <a:p>
            <a:pPr algn="l"/>
            <a:r>
              <a:rPr lang="en-GB" sz="1400" dirty="0"/>
              <a:t>(-) 𝐬𝐮𝐦𝐢𝐝𝐨𝐮𝐫𝐨𝐬</a:t>
            </a:r>
          </a:p>
        </p:txBody>
      </p:sp>
      <p:sp>
        <p:nvSpPr>
          <p:cNvPr id="53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04559EF1-A99A-7CCC-C78E-851EA7EC93C2}"/>
              </a:ext>
            </a:extLst>
          </p:cNvPr>
          <p:cNvSpPr txBox="1"/>
          <p:nvPr/>
        </p:nvSpPr>
        <p:spPr>
          <a:xfrm>
            <a:off x="437798" y="5378784"/>
            <a:ext cx="1346944" cy="417907"/>
          </a:xfrm>
          <a:prstGeom prst="rect">
            <a:avLst/>
          </a:prstGeom>
          <a:noFill/>
          <a:ln w="38100">
            <a:noFill/>
          </a:ln>
        </p:spPr>
        <p:txBody>
          <a:bodyPr wrap="square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BR" sz="1800" b="1" dirty="0">
                <a:latin typeface="Horley Old Style MT"/>
              </a:rPr>
              <a:t>Laplace</a:t>
            </a:r>
            <a:endParaRPr lang="pt-BR" sz="1800" dirty="0">
              <a:latin typeface="Horley Old Style MT"/>
            </a:endParaRPr>
          </a:p>
        </p:txBody>
      </p:sp>
      <p:sp>
        <p:nvSpPr>
          <p:cNvPr id="58" name="CaixaDeTexto 141">
            <a:extLst>
              <a:ext uri="{FF2B5EF4-FFF2-40B4-BE49-F238E27FC236}">
                <a16:creationId xmlns:a16="http://schemas.microsoft.com/office/drawing/2014/main" id="{A533A617-5F98-B2B5-B6ED-CCC06B0B3975}"/>
              </a:ext>
            </a:extLst>
          </p:cNvPr>
          <p:cNvSpPr txBox="1"/>
          <p:nvPr/>
        </p:nvSpPr>
        <p:spPr>
          <a:xfrm>
            <a:off x="252833" y="2821370"/>
            <a:ext cx="422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Q</a:t>
            </a:r>
            <a:endParaRPr lang="LID4096" sz="1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EE0CFE30-22A8-5FBF-E1B1-61D2827359C3}"/>
                  </a:ext>
                </a:extLst>
              </p:cNvPr>
              <p:cNvSpPr txBox="1"/>
              <p:nvPr/>
            </p:nvSpPr>
            <p:spPr>
              <a:xfrm>
                <a:off x="4064279" y="3686021"/>
                <a:ext cx="1289081" cy="582171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txBody>
              <a:bodyPr wrap="none" lIns="0" tIns="0" rIns="0" bIns="0" anchor="ctr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pt-BR" sz="1800" b="1" i="0" dirty="0">
                    <a:solidFill>
                      <a:schemeClr val="accent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. .</a:t>
                </a:r>
              </a:p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lang="pt-B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GB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lang="pt-BR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𝐲</m:t>
                      </m:r>
                      <m:r>
                        <a:rPr lang="pt-BR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l-G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lang="pt-B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𝐳</m:t>
                      </m:r>
                    </m:oMath>
                  </m:oMathPara>
                </a14:m>
                <a:endParaRPr lang="pt-BR" sz="1800" b="1" i="0" dirty="0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lang="pt-B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pt-B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l-G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lang="pt-BR" sz="18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𝐲</m:t>
                      </m:r>
                      <m:r>
                        <a:rPr lang="en-GB" sz="1800" b="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1800" b="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l-GR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lang="pt-BR" sz="1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𝐳</m:t>
                      </m:r>
                    </m:oMath>
                  </m:oMathPara>
                </a14:m>
                <a:endParaRPr lang="pt-BR" sz="1800" b="1" dirty="0">
                  <a:solidFill>
                    <a:srgbClr val="0000FF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EE0CFE30-22A8-5FBF-E1B1-61D282735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279" y="3686021"/>
                <a:ext cx="1289081" cy="582171"/>
              </a:xfrm>
              <a:prstGeom prst="rect">
                <a:avLst/>
              </a:prstGeom>
              <a:blipFill>
                <a:blip r:embed="rId3"/>
                <a:stretch>
                  <a:fillRect t="-35789" b="-34737"/>
                </a:stretch>
              </a:blipFill>
              <a:ln w="3175">
                <a:noFill/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73108FF7-AE35-1067-AE5B-1D8FB4DCE18E}"/>
              </a:ext>
            </a:extLst>
          </p:cNvPr>
          <p:cNvSpPr txBox="1"/>
          <p:nvPr/>
        </p:nvSpPr>
        <p:spPr>
          <a:xfrm>
            <a:off x="851002" y="6101371"/>
            <a:ext cx="670916" cy="286976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none" anchor="b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GB" sz="2400" b="1" dirty="0">
                <a:solidFill>
                  <a:schemeClr val="accent2"/>
                </a:solidFill>
                <a:latin typeface="+mj-lt"/>
                <a:ea typeface="Cambria Math" panose="02040503050406030204" pitchFamily="18" charset="0"/>
              </a:rPr>
              <a:t>nabla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94AF9AD3-69D2-E2F4-D227-7F772A6720B5}"/>
                  </a:ext>
                </a:extLst>
              </p:cNvPr>
              <p:cNvSpPr txBox="1"/>
              <p:nvPr/>
            </p:nvSpPr>
            <p:spPr>
              <a:xfrm>
                <a:off x="1546576" y="5530742"/>
                <a:ext cx="983405" cy="602322"/>
              </a:xfrm>
              <a:prstGeom prst="rect">
                <a:avLst/>
              </a:prstGeom>
              <a:solidFill>
                <a:srgbClr val="FFFF00"/>
              </a:solidFill>
              <a:ln w="3175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45720" rIns="0" bIns="0" anchor="ctr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ar-AE" sz="3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sSup>
                            <m:sSupPr>
                              <m:ctrlPr>
                                <a:rPr lang="ar-AE" sz="3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𝛁</m:t>
                              </m:r>
                            </m:e>
                            <m:sup>
                              <m:r>
                                <a:rPr lang="pt-BR" sz="3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bar>
                      <m:r>
                        <a:rPr lang="pt-BR" sz="3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ar-AE" sz="3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pt-BR" sz="30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𝐡</m:t>
                          </m:r>
                        </m:e>
                      </m:bar>
                    </m:oMath>
                  </m:oMathPara>
                </a14:m>
                <a:endParaRPr lang="en-GB" sz="3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94AF9AD3-69D2-E2F4-D227-7F772A672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576" y="5530742"/>
                <a:ext cx="983405" cy="6023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175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5E19B602-AA52-35BB-23EE-F028810DBE65}"/>
                  </a:ext>
                </a:extLst>
              </p:cNvPr>
              <p:cNvSpPr txBox="1"/>
              <p:nvPr/>
            </p:nvSpPr>
            <p:spPr>
              <a:xfrm>
                <a:off x="402444" y="4660253"/>
                <a:ext cx="3558292" cy="731520"/>
              </a:xfrm>
              <a:prstGeom prst="rect">
                <a:avLst/>
              </a:prstGeom>
              <a:solidFill>
                <a:srgbClr val="FFFF00"/>
              </a:solidFill>
              <a:ln w="3175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182880" tIns="45720" rIns="91440" bIns="0" anchor="ctr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𝛛</m:t>
                              </m:r>
                            </m:e>
                            <m:sup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t-BR" sz="2000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ar-AE" sz="20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𝛛</m:t>
                          </m:r>
                          <m:sSup>
                            <m:sSupPr>
                              <m:ctrlPr>
                                <a:rPr lang="ar-AE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pt-BR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ar-AE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𝛛</m:t>
                              </m:r>
                            </m:e>
                            <m:sup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t-BR" sz="2000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ar-AE" sz="20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𝛛</m:t>
                          </m:r>
                          <m:sSup>
                            <m:sSupPr>
                              <m:ctrlPr>
                                <a:rPr lang="ar-AE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pt-BR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ar-AE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𝛛</m:t>
                              </m:r>
                            </m:e>
                            <m:sup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t-BR" sz="2000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ar-AE" sz="20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𝛛</m:t>
                          </m:r>
                          <m:sSup>
                            <m:sSupPr>
                              <m:ctrlPr>
                                <a:rPr lang="ar-AE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p>
                              <m:r>
                                <a:rPr lang="ar-AE" sz="20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pt-BR" sz="20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ar-AE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20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𝐐</m:t>
                      </m:r>
                      <m:r>
                        <a:rPr lang="pt-BR" sz="20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0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𝐏𝐀</m:t>
                      </m:r>
                    </m:oMath>
                  </m:oMathPara>
                </a14:m>
                <a:endParaRPr lang="en-GB" sz="2000" b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5E19B602-AA52-35BB-23EE-F028810DB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44" y="4660253"/>
                <a:ext cx="3558292" cy="731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175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7129078B-8E66-3D50-141D-35006F7044CD}"/>
              </a:ext>
            </a:extLst>
          </p:cNvPr>
          <p:cNvSpPr txBox="1"/>
          <p:nvPr/>
        </p:nvSpPr>
        <p:spPr>
          <a:xfrm>
            <a:off x="3940519" y="5822324"/>
            <a:ext cx="1650878" cy="461665"/>
          </a:xfrm>
          <a:prstGeom prst="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r"/>
            <a:r>
              <a:rPr lang="pt-BR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MODFLOW</a:t>
            </a:r>
            <a:endParaRPr lang="pt-BR" dirty="0">
              <a:solidFill>
                <a:srgbClr val="0000FF"/>
              </a:solidFill>
            </a:endParaRPr>
          </a:p>
        </p:txBody>
      </p:sp>
      <p:sp>
        <p:nvSpPr>
          <p:cNvPr id="64" name="Retângulo 83">
            <a:extLst>
              <a:ext uri="{FF2B5EF4-FFF2-40B4-BE49-F238E27FC236}">
                <a16:creationId xmlns:a16="http://schemas.microsoft.com/office/drawing/2014/main" id="{31D73027-EA17-7900-9D82-2DF5F7D17CAD}"/>
              </a:ext>
            </a:extLst>
          </p:cNvPr>
          <p:cNvSpPr/>
          <p:nvPr/>
        </p:nvSpPr>
        <p:spPr>
          <a:xfrm>
            <a:off x="4121776" y="4718002"/>
            <a:ext cx="1297253" cy="8861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4F1262B-17D8-60B9-77B8-B4E99FC28BB0}"/>
                  </a:ext>
                </a:extLst>
              </p:cNvPr>
              <p:cNvSpPr txBox="1"/>
              <p:nvPr/>
            </p:nvSpPr>
            <p:spPr>
              <a:xfrm>
                <a:off x="4118264" y="4759945"/>
                <a:ext cx="743004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l-G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𝛛</m:t>
                          </m:r>
                        </m:num>
                        <m:den>
                          <m:r>
                            <a:rPr lang="pt-BR" sz="20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𝛛</m:t>
                          </m:r>
                          <m:r>
                            <a:rPr lang="pt-BR" sz="20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d>
                        <m:dPr>
                          <m:ctrlPr>
                            <a:rPr lang="pt-B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𝐤</m:t>
                          </m:r>
                          <m:f>
                            <m:fPr>
                              <m:ctrlPr>
                                <a:rPr lang="el-GR" sz="20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𝛛</m:t>
                              </m:r>
                              <m:r>
                                <a:rPr lang="pt-BR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𝐡</m:t>
                              </m:r>
                            </m:num>
                            <m:den>
                              <m:r>
                                <a:rPr lang="pt-BR" sz="2000" b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𝛛</m:t>
                              </m:r>
                              <m:r>
                                <a:rPr lang="pt-BR" sz="2000" b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4F1262B-17D8-60B9-77B8-B4E99FC28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264" y="4759945"/>
                <a:ext cx="743004" cy="783869"/>
              </a:xfrm>
              <a:prstGeom prst="rect">
                <a:avLst/>
              </a:prstGeom>
              <a:blipFill>
                <a:blip r:embed="rId11"/>
                <a:stretch>
                  <a:fillRect r="-7024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CaixaDeTexto 141">
            <a:extLst>
              <a:ext uri="{FF2B5EF4-FFF2-40B4-BE49-F238E27FC236}">
                <a16:creationId xmlns:a16="http://schemas.microsoft.com/office/drawing/2014/main" id="{E1191DA1-8FC4-0801-7C47-0F3E41536735}"/>
              </a:ext>
            </a:extLst>
          </p:cNvPr>
          <p:cNvSpPr txBox="1"/>
          <p:nvPr/>
        </p:nvSpPr>
        <p:spPr>
          <a:xfrm>
            <a:off x="3919424" y="2535789"/>
            <a:ext cx="1430903" cy="33855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pt-BR" dirty="0"/>
              <a:t>Calor</a:t>
            </a:r>
            <a:endParaRPr lang="LID4096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DD1D3A6-88D6-5474-2003-0320BE916DB5}"/>
              </a:ext>
            </a:extLst>
          </p:cNvPr>
          <p:cNvGrpSpPr/>
          <p:nvPr/>
        </p:nvGrpSpPr>
        <p:grpSpPr>
          <a:xfrm>
            <a:off x="583412" y="1240914"/>
            <a:ext cx="2144086" cy="1511767"/>
            <a:chOff x="250339" y="1299318"/>
            <a:chExt cx="2144086" cy="151176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DB00BD7-9369-0C94-D8AE-088DE9ED6E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339" y="1299318"/>
              <a:ext cx="2144086" cy="1511767"/>
              <a:chOff x="1881494" y="1113381"/>
              <a:chExt cx="2301094" cy="1427179"/>
            </a:xfrm>
          </p:grpSpPr>
          <p:grpSp>
            <p:nvGrpSpPr>
              <p:cNvPr id="72" name="Agrupar 134">
                <a:extLst>
                  <a:ext uri="{FF2B5EF4-FFF2-40B4-BE49-F238E27FC236}">
                    <a16:creationId xmlns:a16="http://schemas.microsoft.com/office/drawing/2014/main" id="{70121B97-C4B5-2854-E989-3A30A0AF615E}"/>
                  </a:ext>
                </a:extLst>
              </p:cNvPr>
              <p:cNvGrpSpPr/>
              <p:nvPr/>
            </p:nvGrpSpPr>
            <p:grpSpPr>
              <a:xfrm>
                <a:off x="1881494" y="1113381"/>
                <a:ext cx="2301094" cy="1427179"/>
                <a:chOff x="1097433" y="1160227"/>
                <a:chExt cx="2736618" cy="1751228"/>
              </a:xfrm>
            </p:grpSpPr>
            <p:grpSp>
              <p:nvGrpSpPr>
                <p:cNvPr id="74" name="Agrupar 135">
                  <a:extLst>
                    <a:ext uri="{FF2B5EF4-FFF2-40B4-BE49-F238E27FC236}">
                      <a16:creationId xmlns:a16="http://schemas.microsoft.com/office/drawing/2014/main" id="{7F5976A9-7F52-0E86-DC36-36B1E6C23BB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097433" y="1160227"/>
                  <a:ext cx="2736618" cy="1711930"/>
                  <a:chOff x="5866419" y="814051"/>
                  <a:chExt cx="2528587" cy="1571172"/>
                </a:xfrm>
              </p:grpSpPr>
              <p:sp>
                <p:nvSpPr>
                  <p:cNvPr id="78" name="Cilindro 140">
                    <a:extLst>
                      <a:ext uri="{FF2B5EF4-FFF2-40B4-BE49-F238E27FC236}">
                        <a16:creationId xmlns:a16="http://schemas.microsoft.com/office/drawing/2014/main" id="{DCDFE901-29FC-DC7F-F8F9-F88AB9812414}"/>
                      </a:ext>
                    </a:extLst>
                  </p:cNvPr>
                  <p:cNvSpPr/>
                  <p:nvPr/>
                </p:nvSpPr>
                <p:spPr>
                  <a:xfrm rot="17926501">
                    <a:off x="7227774" y="974828"/>
                    <a:ext cx="438142" cy="1434517"/>
                  </a:xfrm>
                  <a:prstGeom prst="can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LID4096" sz="1400" b="1" u="sng"/>
                  </a:p>
                </p:txBody>
              </p:sp>
              <p:sp>
                <p:nvSpPr>
                  <p:cNvPr id="79" name="CaixaDeTexto 141">
                    <a:extLst>
                      <a:ext uri="{FF2B5EF4-FFF2-40B4-BE49-F238E27FC236}">
                        <a16:creationId xmlns:a16="http://schemas.microsoft.com/office/drawing/2014/main" id="{E1F218CC-678A-21F8-8A01-FA8AB50294A3}"/>
                      </a:ext>
                    </a:extLst>
                  </p:cNvPr>
                  <p:cNvSpPr txBox="1"/>
                  <p:nvPr/>
                </p:nvSpPr>
                <p:spPr>
                  <a:xfrm>
                    <a:off x="5866419" y="814051"/>
                    <a:ext cx="498667" cy="5562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sz="2800" b="1" dirty="0"/>
                      <a:t>Q</a:t>
                    </a:r>
                    <a:endParaRPr lang="LID4096" sz="1100" b="1" dirty="0"/>
                  </a:p>
                </p:txBody>
              </p:sp>
              <p:cxnSp>
                <p:nvCxnSpPr>
                  <p:cNvPr id="80" name="Conector de Seta Reta 142">
                    <a:extLst>
                      <a:ext uri="{FF2B5EF4-FFF2-40B4-BE49-F238E27FC236}">
                        <a16:creationId xmlns:a16="http://schemas.microsoft.com/office/drawing/2014/main" id="{C0929374-1C47-8B7D-CDB9-72C44247318A}"/>
                      </a:ext>
                    </a:extLst>
                  </p:cNvPr>
                  <p:cNvCxnSpPr>
                    <a:cxnSpLocks noChangeAspect="1"/>
                  </p:cNvCxnSpPr>
                  <p:nvPr/>
                </p:nvCxnSpPr>
                <p:spPr>
                  <a:xfrm>
                    <a:off x="6420377" y="1168911"/>
                    <a:ext cx="326127" cy="179853"/>
                  </a:xfrm>
                  <a:prstGeom prst="straightConnector1">
                    <a:avLst/>
                  </a:prstGeom>
                  <a:ln w="762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" name="CaixaDeTexto 143">
                    <a:extLst>
                      <a:ext uri="{FF2B5EF4-FFF2-40B4-BE49-F238E27FC236}">
                        <a16:creationId xmlns:a16="http://schemas.microsoft.com/office/drawing/2014/main" id="{754EDD70-DA66-1993-9D15-80ADC9A51DDF}"/>
                      </a:ext>
                    </a:extLst>
                  </p:cNvPr>
                  <p:cNvSpPr txBox="1"/>
                  <p:nvPr/>
                </p:nvSpPr>
                <p:spPr>
                  <a:xfrm>
                    <a:off x="6878378" y="1969296"/>
                    <a:ext cx="1190873" cy="415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pt-BR" sz="2000" b="1" dirty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Symbol" panose="05050102010706020507" pitchFamily="18" charset="2"/>
                      </a:rPr>
                      <a:t>L</a:t>
                    </a:r>
                    <a:endParaRPr lang="LID4096" sz="2000" b="1" dirty="0"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cxnSp>
                <p:nvCxnSpPr>
                  <p:cNvPr id="82" name="Conector de Seta Reta 144">
                    <a:extLst>
                      <a:ext uri="{FF2B5EF4-FFF2-40B4-BE49-F238E27FC236}">
                        <a16:creationId xmlns:a16="http://schemas.microsoft.com/office/drawing/2014/main" id="{AB616D83-7F68-5DBC-6AA0-53C85C67E1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06035" y="1467890"/>
                    <a:ext cx="431352" cy="0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Conector de Seta Reta 145">
                    <a:extLst>
                      <a:ext uri="{FF2B5EF4-FFF2-40B4-BE49-F238E27FC236}">
                        <a16:creationId xmlns:a16="http://schemas.microsoft.com/office/drawing/2014/main" id="{2B5C37C7-E468-2F98-5272-1946D75F46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08775" y="2102363"/>
                    <a:ext cx="485271" cy="0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Conector de Seta Reta 146">
                    <a:extLst>
                      <a:ext uri="{FF2B5EF4-FFF2-40B4-BE49-F238E27FC236}">
                        <a16:creationId xmlns:a16="http://schemas.microsoft.com/office/drawing/2014/main" id="{86360858-8055-A54B-6C78-8EFFF89A15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88298" y="1600517"/>
                    <a:ext cx="0" cy="328570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Conector de Seta Reta 147">
                    <a:extLst>
                      <a:ext uri="{FF2B5EF4-FFF2-40B4-BE49-F238E27FC236}">
                        <a16:creationId xmlns:a16="http://schemas.microsoft.com/office/drawing/2014/main" id="{52B96891-06B6-B9A0-A7F3-8908E79A90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00631" y="2364490"/>
                    <a:ext cx="576485" cy="0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" name="CaixaDeTexto 150">
                    <a:extLst>
                      <a:ext uri="{FF2B5EF4-FFF2-40B4-BE49-F238E27FC236}">
                        <a16:creationId xmlns:a16="http://schemas.microsoft.com/office/drawing/2014/main" id="{20DA643F-606A-A4AD-182D-BBCF18F57606}"/>
                      </a:ext>
                    </a:extLst>
                  </p:cNvPr>
                  <p:cNvSpPr txBox="1"/>
                  <p:nvPr/>
                </p:nvSpPr>
                <p:spPr>
                  <a:xfrm>
                    <a:off x="5989338" y="1602445"/>
                    <a:ext cx="392968" cy="32721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pt-BR" sz="2000" b="1" dirty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Symbol" panose="05050102010706020507" pitchFamily="18" charset="2"/>
                      </a:rPr>
                      <a:t>H</a:t>
                    </a:r>
                    <a:endParaRPr lang="LID4096" sz="2000" b="1" dirty="0"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87" name="CaixaDeTexto 151">
                    <a:extLst>
                      <a:ext uri="{FF2B5EF4-FFF2-40B4-BE49-F238E27FC236}">
                        <a16:creationId xmlns:a16="http://schemas.microsoft.com/office/drawing/2014/main" id="{19B62460-FC2D-484E-2296-30DD4E7EB47F}"/>
                      </a:ext>
                    </a:extLst>
                  </p:cNvPr>
                  <p:cNvSpPr txBox="1"/>
                  <p:nvPr/>
                </p:nvSpPr>
                <p:spPr>
                  <a:xfrm>
                    <a:off x="7344975" y="1047969"/>
                    <a:ext cx="1050031" cy="49082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pt-BR" sz="2400" b="1" dirty="0">
                        <a:solidFill>
                          <a:srgbClr val="FF0000"/>
                        </a:solidFill>
                        <a:sym typeface="Symbol" panose="05050102010706020507" pitchFamily="18" charset="2"/>
                      </a:rPr>
                      <a:t>k</a:t>
                    </a:r>
                    <a:r>
                      <a:rPr lang="pt-BR" b="1" dirty="0">
                        <a:solidFill>
                          <a:srgbClr val="FF0000"/>
                        </a:solidFill>
                        <a:sym typeface="Symbol" panose="05050102010706020507" pitchFamily="18" charset="2"/>
                      </a:rPr>
                      <a:t> </a:t>
                    </a:r>
                    <a:r>
                      <a:rPr lang="pt-BR" sz="1200" b="1" dirty="0">
                        <a:solidFill>
                          <a:srgbClr val="FF0000"/>
                        </a:solidFill>
                        <a:sym typeface="Symbol" panose="05050102010706020507" pitchFamily="18" charset="2"/>
                      </a:rPr>
                      <a:t>(m/d)</a:t>
                    </a:r>
                    <a:endParaRPr lang="LID4096" b="1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cxnSp>
              <p:nvCxnSpPr>
                <p:cNvPr id="75" name="Conector reto 136">
                  <a:extLst>
                    <a:ext uri="{FF2B5EF4-FFF2-40B4-BE49-F238E27FC236}">
                      <a16:creationId xmlns:a16="http://schemas.microsoft.com/office/drawing/2014/main" id="{6E124EE9-C7BE-B473-F316-E86A73A055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83988" y="2911455"/>
                  <a:ext cx="186736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Conector reto 137">
                  <a:extLst>
                    <a:ext uri="{FF2B5EF4-FFF2-40B4-BE49-F238E27FC236}">
                      <a16:creationId xmlns:a16="http://schemas.microsoft.com/office/drawing/2014/main" id="{558536E7-BB3F-6755-375B-C1F2947B9A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4794" y="1851780"/>
                  <a:ext cx="0" cy="105923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Conector reto 138">
                  <a:extLst>
                    <a:ext uri="{FF2B5EF4-FFF2-40B4-BE49-F238E27FC236}">
                      <a16:creationId xmlns:a16="http://schemas.microsoft.com/office/drawing/2014/main" id="{B5514EA8-D63F-9968-1D5E-B8CFF8366F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71574" y="1784174"/>
                  <a:ext cx="1309376" cy="7064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Cilindro 140">
                <a:extLst>
                  <a:ext uri="{FF2B5EF4-FFF2-40B4-BE49-F238E27FC236}">
                    <a16:creationId xmlns:a16="http://schemas.microsoft.com/office/drawing/2014/main" id="{94C28BEF-5EDF-FA4B-3FA4-22A1F2C30563}"/>
                  </a:ext>
                </a:extLst>
              </p:cNvPr>
              <p:cNvSpPr/>
              <p:nvPr/>
            </p:nvSpPr>
            <p:spPr>
              <a:xfrm rot="17926501">
                <a:off x="2631659" y="1560865"/>
                <a:ext cx="389057" cy="200226"/>
              </a:xfrm>
              <a:prstGeom prst="can">
                <a:avLst>
                  <a:gd name="adj" fmla="val 58875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400" b="1" u="sng"/>
              </a:p>
            </p:txBody>
          </p:sp>
        </p:grpSp>
        <p:cxnSp>
          <p:nvCxnSpPr>
            <p:cNvPr id="70" name="Conector reto 138">
              <a:extLst>
                <a:ext uri="{FF2B5EF4-FFF2-40B4-BE49-F238E27FC236}">
                  <a16:creationId xmlns:a16="http://schemas.microsoft.com/office/drawing/2014/main" id="{7934B41F-C815-B9CD-EFB0-2823C14F3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5245" y="1914309"/>
              <a:ext cx="239" cy="8686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to 138">
              <a:extLst>
                <a:ext uri="{FF2B5EF4-FFF2-40B4-BE49-F238E27FC236}">
                  <a16:creationId xmlns:a16="http://schemas.microsoft.com/office/drawing/2014/main" id="{1ACC1AA6-1D2F-4356-2F7C-5BA58616A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1321" y="2433796"/>
              <a:ext cx="239" cy="36576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CaixaDeTexto 141">
            <a:extLst>
              <a:ext uri="{FF2B5EF4-FFF2-40B4-BE49-F238E27FC236}">
                <a16:creationId xmlns:a16="http://schemas.microsoft.com/office/drawing/2014/main" id="{CDF764A2-5F68-9DEA-C94A-6E9208B00E7C}"/>
              </a:ext>
            </a:extLst>
          </p:cNvPr>
          <p:cNvSpPr txBox="1"/>
          <p:nvPr/>
        </p:nvSpPr>
        <p:spPr>
          <a:xfrm>
            <a:off x="4742771" y="1696351"/>
            <a:ext cx="682126" cy="33855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pt-BR" sz="16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endParaRPr lang="LID4096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EE7198C-297F-CE51-6CE0-4A22BCFB924C}"/>
              </a:ext>
            </a:extLst>
          </p:cNvPr>
          <p:cNvGrpSpPr/>
          <p:nvPr/>
        </p:nvGrpSpPr>
        <p:grpSpPr>
          <a:xfrm>
            <a:off x="2854364" y="1316717"/>
            <a:ext cx="2119290" cy="649211"/>
            <a:chOff x="2931273" y="1376538"/>
            <a:chExt cx="2119290" cy="6492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CB80A087-B853-C16F-E7A0-DE9A6345AEF8}"/>
                    </a:ext>
                  </a:extLst>
                </p:cNvPr>
                <p:cNvSpPr txBox="1"/>
                <p:nvPr/>
              </p:nvSpPr>
              <p:spPr>
                <a:xfrm>
                  <a:off x="2931273" y="1376538"/>
                  <a:ext cx="2119290" cy="649211"/>
                </a:xfrm>
                <a:prstGeom prst="rect">
                  <a:avLst/>
                </a:prstGeom>
                <a:noFill/>
                <a:ln w="3175">
                  <a:noFill/>
                </a:ln>
                <a:effectLst/>
              </p:spPr>
              <p:txBody>
                <a:bodyPr wrap="none" anchor="ctr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pt-BR" sz="1800" b="1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800" b="1" i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𝐐</m:t>
                            </m:r>
                          </m:num>
                          <m:den>
                            <m:sSub>
                              <m:sSubPr>
                                <m:ctrlPr>
                                  <a:rPr lang="pt-BR" sz="1800" b="1" i="1" smtClean="0">
                                    <a:solidFill>
                                      <a:schemeClr val="accent2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1" i="0" smtClean="0">
                                    <a:solidFill>
                                      <a:schemeClr val="accent2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pt-BR" sz="1800" b="1" dirty="0" smtClean="0">
                                    <a:solidFill>
                                      <a:schemeClr val="accent2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</m:t>
                                </m:r>
                              </m:sub>
                            </m:sSub>
                          </m:den>
                        </m:f>
                        <m:r>
                          <a:rPr lang="pt-BR" sz="1800" b="1" i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sz="1800" b="1" i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𝐪</m:t>
                        </m:r>
                        <m:r>
                          <a:rPr lang="pt-BR" sz="18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sz="18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𝐤</m:t>
                        </m:r>
                        <m:f>
                          <m:fPr>
                            <m:ctrlPr>
                              <a:rPr lang="pt-BR" sz="1800" b="1" i="1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800" b="1" i="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pt-BR" sz="1800" b="1" i="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𝐇</m:t>
                            </m:r>
                          </m:num>
                          <m:den>
                            <m:r>
                              <a:rPr lang="pt-BR" sz="1800" b="1" i="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pt-BR" sz="1800" b="1" i="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𝐋</m:t>
                            </m:r>
                          </m:den>
                        </m:f>
                      </m:oMath>
                    </m:oMathPara>
                  </a14:m>
                  <a:endParaRPr lang="en-GB" sz="18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0B88DAE8-A55B-3D68-2885-4CF1CA469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273" y="1376538"/>
                  <a:ext cx="2119290" cy="64921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3175">
                  <a:noFill/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D2C7FE55-A371-B339-E315-06351A0FB35B}"/>
                    </a:ext>
                  </a:extLst>
                </p:cNvPr>
                <p:cNvSpPr txBox="1"/>
                <p:nvPr/>
              </p:nvSpPr>
              <p:spPr>
                <a:xfrm>
                  <a:off x="3131379" y="1704340"/>
                  <a:ext cx="421230" cy="29005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txBody>
                <a:bodyPr wrap="none" lIns="0" tIns="0" rIns="0" bIns="0" anchor="ctr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1" i="1" smtClean="0">
                                <a:solidFill>
                                  <a:schemeClr val="accent2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1" i="0">
                                <a:solidFill>
                                  <a:schemeClr val="accent2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𝐀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pt-BR" sz="2000" b="1" dirty="0">
                                <a:solidFill>
                                  <a:schemeClr val="accent2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</m:t>
                            </m:r>
                          </m:sub>
                        </m:sSub>
                      </m:oMath>
                    </m:oMathPara>
                  </a14:m>
                  <a:endParaRPr lang="en-GB" sz="20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1D87B5CF-5F01-F491-23C7-1EF3AEB20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1379" y="1704340"/>
                  <a:ext cx="421230" cy="290051"/>
                </a:xfrm>
                <a:prstGeom prst="rect">
                  <a:avLst/>
                </a:prstGeom>
                <a:blipFill>
                  <a:blip r:embed="rId17"/>
                  <a:stretch>
                    <a:fillRect l="-26087" r="-18841" b="-48936"/>
                  </a:stretch>
                </a:blipFill>
                <a:ln w="3175">
                  <a:noFill/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B0FD8CC1-940E-1539-B380-AB874A3A5FAF}"/>
                    </a:ext>
                  </a:extLst>
                </p:cNvPr>
                <p:cNvSpPr txBox="1"/>
                <p:nvPr/>
              </p:nvSpPr>
              <p:spPr>
                <a:xfrm>
                  <a:off x="3770892" y="1523452"/>
                  <a:ext cx="274320" cy="37599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  <a:effectLst/>
              </p:spPr>
              <p:txBody>
                <a:bodyPr wrap="none" lIns="0" tIns="0" rIns="0" bIns="0" anchor="ctr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2200" b="1" i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𝐪</m:t>
                        </m:r>
                      </m:oMath>
                    </m:oMathPara>
                  </a14:m>
                  <a:endParaRPr lang="en-GB" sz="2200" b="1" dirty="0">
                    <a:solidFill>
                      <a:srgbClr val="0000FF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8C2C0F1A-F9F4-EB81-9734-7C4CB7287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0892" y="1523452"/>
                  <a:ext cx="274320" cy="375997"/>
                </a:xfrm>
                <a:prstGeom prst="rect">
                  <a:avLst/>
                </a:prstGeom>
                <a:blipFill>
                  <a:blip r:embed="rId18"/>
                  <a:stretch>
                    <a:fillRect l="-31111" r="-6667" b="-20968"/>
                  </a:stretch>
                </a:blipFill>
                <a:ln w="3175">
                  <a:noFill/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9B38E7BE-C41D-09BF-CD92-AE1AF4CBF417}"/>
              </a:ext>
            </a:extLst>
          </p:cNvPr>
          <p:cNvSpPr txBox="1"/>
          <p:nvPr/>
        </p:nvSpPr>
        <p:spPr>
          <a:xfrm>
            <a:off x="2813373" y="2102180"/>
            <a:ext cx="2259685" cy="433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182880" tIns="45720" rIns="9144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endParaRPr lang="en-GB" sz="1800" b="1" dirty="0">
              <a:solidFill>
                <a:prstClr val="black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0100653-E2BC-64D7-1C8C-86D5D743221D}"/>
              </a:ext>
            </a:extLst>
          </p:cNvPr>
          <p:cNvGrpSpPr/>
          <p:nvPr/>
        </p:nvGrpSpPr>
        <p:grpSpPr>
          <a:xfrm>
            <a:off x="2942447" y="2078608"/>
            <a:ext cx="1992664" cy="490068"/>
            <a:chOff x="3124483" y="2239011"/>
            <a:chExt cx="1992664" cy="529462"/>
          </a:xfrm>
          <a:solidFill>
            <a:schemeClr val="accent2">
              <a:lumMod val="20000"/>
              <a:lumOff val="80000"/>
            </a:schemeClr>
          </a:solidFill>
          <a:effectLst/>
        </p:grpSpPr>
        <p:sp>
          <p:nvSpPr>
            <p:cNvPr id="96" name="Object 4">
              <a:extLst>
                <a:ext uri="{63B3BB69-23CF-44E3-9099-C40C66FF867C}">
                  <a14:compatExt xmlns:a14="http://schemas.microsoft.com/office/drawing/2010/main" spid="_x0000_s1028"/>
                </a:ext>
                <a:ext uri="{FF2B5EF4-FFF2-40B4-BE49-F238E27FC236}">
                  <a16:creationId xmlns:a16="http://schemas.microsoft.com/office/drawing/2014/main" id="{BB058801-DB9A-A3D2-2FF1-7628CC726295}"/>
                </a:ext>
              </a:extLst>
            </p:cNvPr>
            <p:cNvSpPr txBox="1"/>
            <p:nvPr/>
          </p:nvSpPr>
          <p:spPr>
            <a:xfrm>
              <a:off x="3434964" y="2280664"/>
              <a:ext cx="675042" cy="487809"/>
            </a:xfrm>
            <a:prstGeom prst="rect">
              <a:avLst/>
            </a:prstGeom>
            <a:noFill/>
            <a:ln w="3175">
              <a:noFill/>
            </a:ln>
            <a:effectLst/>
          </p:spPr>
          <p:txBody>
            <a:bodyPr wrap="none" anchor="ctr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pt-BR" sz="2400" b="1" dirty="0">
                  <a:ea typeface="Cambria Math" panose="02040503050406030204" pitchFamily="18" charset="0"/>
                </a:rPr>
                <a:t>=</a:t>
              </a:r>
              <a:r>
                <a:rPr lang="pt-BR" sz="2400" b="1" dirty="0">
                  <a:solidFill>
                    <a:srgbClr val="00B050"/>
                  </a:solidFill>
                  <a:ea typeface="Cambria Math" panose="02040503050406030204" pitchFamily="18" charset="0"/>
                </a:rPr>
                <a:t>  </a:t>
              </a:r>
              <a:r>
                <a:rPr lang="pt-BR" sz="2400" b="1" dirty="0">
                  <a:solidFill>
                    <a:srgbClr val="FF0000"/>
                  </a:solidFill>
                  <a:ea typeface="Cambria Math" panose="02040503050406030204" pitchFamily="18" charset="0"/>
                </a:rPr>
                <a:t>-</a:t>
              </a:r>
              <a:endParaRPr lang="en-GB" sz="2400" b="1" dirty="0">
                <a:solidFill>
                  <a:srgbClr val="FF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B0CE60EA-0CF4-03DA-9309-3C03205F4D5B}"/>
                    </a:ext>
                  </a:extLst>
                </p:cNvPr>
                <p:cNvSpPr txBox="1"/>
                <p:nvPr/>
              </p:nvSpPr>
              <p:spPr>
                <a:xfrm>
                  <a:off x="3612481" y="2257738"/>
                  <a:ext cx="1504666" cy="487809"/>
                </a:xfrm>
                <a:prstGeom prst="rect">
                  <a:avLst/>
                </a:prstGeom>
                <a:noFill/>
                <a:ln w="3175">
                  <a:noFill/>
                </a:ln>
                <a:effectLst/>
              </p:spPr>
              <p:txBody>
                <a:bodyPr wrap="none" anchor="ctr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b="1" i="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            ∆</m:t>
                        </m:r>
                        <m:r>
                          <a:rPr lang="pt-BR" sz="1800" b="1" i="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𝐓</m:t>
                        </m:r>
                        <m:r>
                          <a:rPr lang="pt-BR" sz="1800" b="1" i="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)/</m:t>
                        </m:r>
                        <m:r>
                          <a:rPr lang="pt-BR" sz="1800" b="1" i="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𝐋</m:t>
                        </m:r>
                      </m:oMath>
                    </m:oMathPara>
                  </a14:m>
                  <a:endParaRPr lang="en-GB" sz="18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2F2464A1-3A0E-A58D-F9ED-90527F9DE3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481" y="2257738"/>
                  <a:ext cx="1504666" cy="487809"/>
                </a:xfrm>
                <a:prstGeom prst="rect">
                  <a:avLst/>
                </a:prstGeom>
                <a:blipFill>
                  <a:blip r:embed="rId19"/>
                  <a:stretch>
                    <a:fillRect l="-1215" b="-2703"/>
                  </a:stretch>
                </a:blipFill>
                <a:ln w="3175">
                  <a:noFill/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3BD05542-3D57-F04F-A78A-5EAE93177F4A}"/>
                    </a:ext>
                  </a:extLst>
                </p:cNvPr>
                <p:cNvSpPr txBox="1"/>
                <p:nvPr/>
              </p:nvSpPr>
              <p:spPr>
                <a:xfrm>
                  <a:off x="3124483" y="2239011"/>
                  <a:ext cx="1122226" cy="487809"/>
                </a:xfrm>
                <a:prstGeom prst="rect">
                  <a:avLst/>
                </a:prstGeom>
                <a:noFill/>
                <a:ln w="3175">
                  <a:noFill/>
                </a:ln>
                <a:effectLst/>
              </p:spPr>
              <p:txBody>
                <a:bodyPr wrap="none" anchor="ctr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pt-BR" sz="2400" b="1" i="1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1" i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  <m:r>
                          <a:rPr lang="pt-BR" sz="2400" b="1" i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  <m:r>
                          <a:rPr lang="pt-BR" sz="24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𝐤</m:t>
                        </m:r>
                        <m:r>
                          <a:rPr lang="pt-BR" sz="2400" b="1" i="0" smtClean="0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</m:t>
                        </m:r>
                      </m:oMath>
                    </m:oMathPara>
                  </a14:m>
                  <a:endParaRPr lang="en-GB" sz="24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DB95894E-294F-BCF5-27C1-29A520AB4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483" y="2239011"/>
                  <a:ext cx="1122226" cy="487809"/>
                </a:xfrm>
                <a:prstGeom prst="rect">
                  <a:avLst/>
                </a:prstGeom>
                <a:blipFill>
                  <a:blip r:embed="rId20"/>
                  <a:stretch>
                    <a:fillRect r="-9783"/>
                  </a:stretch>
                </a:blipFill>
                <a:ln w="3175">
                  <a:noFill/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BBF24E9-96E5-C50D-0576-49358198EC65}"/>
              </a:ext>
            </a:extLst>
          </p:cNvPr>
          <p:cNvGrpSpPr/>
          <p:nvPr/>
        </p:nvGrpSpPr>
        <p:grpSpPr>
          <a:xfrm>
            <a:off x="2516985" y="3182781"/>
            <a:ext cx="1826016" cy="802240"/>
            <a:chOff x="2439338" y="3000792"/>
            <a:chExt cx="1826016" cy="8022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8FFCF345-DB94-FF7B-7FFE-A535C9305DAF}"/>
                    </a:ext>
                  </a:extLst>
                </p:cNvPr>
                <p:cNvSpPr txBox="1"/>
                <p:nvPr/>
              </p:nvSpPr>
              <p:spPr>
                <a:xfrm>
                  <a:off x="2439338" y="3096136"/>
                  <a:ext cx="785274" cy="706896"/>
                </a:xfrm>
                <a:prstGeom prst="rect">
                  <a:avLst/>
                </a:prstGeom>
                <a:noFill/>
                <a:ln w="3175">
                  <a:noFill/>
                </a:ln>
                <a:effectLst/>
              </p:spPr>
              <p:txBody>
                <a:bodyPr wrap="none" lIns="0" tIns="0" rIns="0" bIns="0" anchor="ctr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l-GR" sz="28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28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800" b="1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𝛛</m:t>
                                </m:r>
                                <m:r>
                                  <a:rPr lang="pt-BR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pt-BR" sz="2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sub>
                            </m:sSub>
                          </m:num>
                          <m:den>
                            <m:r>
                              <a:rPr lang="pt-BR" sz="2800" b="1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pt-BR" sz="2800" b="1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den>
                        </m:f>
                      </m:oMath>
                    </m:oMathPara>
                  </a14:m>
                  <a:endParaRPr lang="pt-BR" sz="2800" dirty="0">
                    <a:solidFill>
                      <a:srgbClr val="0000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8FFCF345-DB94-FF7B-7FFE-A535C9305D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9338" y="3096136"/>
                  <a:ext cx="785274" cy="706896"/>
                </a:xfrm>
                <a:prstGeom prst="rect">
                  <a:avLst/>
                </a:prstGeom>
                <a:blipFill>
                  <a:blip r:embed="rId21"/>
                  <a:stretch>
                    <a:fillRect l="-775" b="-7759"/>
                  </a:stretch>
                </a:blipFill>
                <a:ln w="3175">
                  <a:noFill/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51864E1F-34D4-A099-2217-848BB8B27774}"/>
                    </a:ext>
                  </a:extLst>
                </p:cNvPr>
                <p:cNvSpPr txBox="1"/>
                <p:nvPr/>
              </p:nvSpPr>
              <p:spPr>
                <a:xfrm>
                  <a:off x="2976273" y="3000792"/>
                  <a:ext cx="1289081" cy="582171"/>
                </a:xfrm>
                <a:prstGeom prst="rect">
                  <a:avLst/>
                </a:prstGeom>
                <a:noFill/>
                <a:ln w="3175">
                  <a:noFill/>
                </a:ln>
                <a:effectLst/>
              </p:spPr>
              <p:txBody>
                <a:bodyPr wrap="none" lIns="0" tIns="0" rIns="0" bIns="0" anchor="ctr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l-GR" sz="20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  <m:r>
                          <a:rPr lang="pt-BR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GB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l-GR" sz="2000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  <m:r>
                          <a:rPr lang="pt-BR" sz="2000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𝐲</m:t>
                        </m:r>
                        <m:r>
                          <a:rPr lang="el-GR" sz="2000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  <m:r>
                          <a:rPr lang="pt-BR" sz="2000" b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𝐳</m:t>
                        </m:r>
                      </m:oMath>
                    </m:oMathPara>
                  </a14:m>
                  <a:endParaRPr lang="pt-BR" sz="1600" b="1" dirty="0">
                    <a:solidFill>
                      <a:srgbClr val="0000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91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D970DF81-89D2-9568-D849-32DAAC3B0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6273" y="3000792"/>
                  <a:ext cx="1289081" cy="58217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3175">
                  <a:noFill/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91DBC90-5334-2E5C-115B-29F013B07E75}"/>
              </a:ext>
            </a:extLst>
          </p:cNvPr>
          <p:cNvSpPr/>
          <p:nvPr/>
        </p:nvSpPr>
        <p:spPr>
          <a:xfrm>
            <a:off x="7796814" y="317105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um modelo?</a:t>
            </a:r>
          </a:p>
        </p:txBody>
      </p:sp>
      <p:grpSp>
        <p:nvGrpSpPr>
          <p:cNvPr id="105" name="Grupo 10">
            <a:extLst>
              <a:ext uri="{FF2B5EF4-FFF2-40B4-BE49-F238E27FC236}">
                <a16:creationId xmlns:a16="http://schemas.microsoft.com/office/drawing/2014/main" id="{3DD2E4AE-1B16-A075-DF2D-8D2A29B80D7B}"/>
              </a:ext>
            </a:extLst>
          </p:cNvPr>
          <p:cNvGrpSpPr>
            <a:grpSpLocks noChangeAspect="1"/>
          </p:cNvGrpSpPr>
          <p:nvPr/>
        </p:nvGrpSpPr>
        <p:grpSpPr>
          <a:xfrm>
            <a:off x="5768508" y="568855"/>
            <a:ext cx="2034501" cy="1243506"/>
            <a:chOff x="7551799" y="3880749"/>
            <a:chExt cx="1792685" cy="1055366"/>
          </a:xfrm>
        </p:grpSpPr>
        <p:sp>
          <p:nvSpPr>
            <p:cNvPr id="106" name="Seta para a direita 12">
              <a:extLst>
                <a:ext uri="{FF2B5EF4-FFF2-40B4-BE49-F238E27FC236}">
                  <a16:creationId xmlns:a16="http://schemas.microsoft.com/office/drawing/2014/main" id="{7E82F3A3-8D7E-B508-D76D-C2189ABDF1C2}"/>
                </a:ext>
              </a:extLst>
            </p:cNvPr>
            <p:cNvSpPr/>
            <p:nvPr/>
          </p:nvSpPr>
          <p:spPr>
            <a:xfrm rot="2573740">
              <a:off x="7603764" y="4134921"/>
              <a:ext cx="288000" cy="108000"/>
            </a:xfrm>
            <a:prstGeom prst="rightArrow">
              <a:avLst/>
            </a:prstGeom>
            <a:solidFill>
              <a:schemeClr val="accent2"/>
            </a:solidFill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107" name="Grupo 13">
              <a:extLst>
                <a:ext uri="{FF2B5EF4-FFF2-40B4-BE49-F238E27FC236}">
                  <a16:creationId xmlns:a16="http://schemas.microsoft.com/office/drawing/2014/main" id="{E0C8D19E-DA8A-C0F7-0285-CF2B16EDDAE5}"/>
                </a:ext>
              </a:extLst>
            </p:cNvPr>
            <p:cNvGrpSpPr/>
            <p:nvPr/>
          </p:nvGrpSpPr>
          <p:grpSpPr>
            <a:xfrm>
              <a:off x="7551799" y="3880749"/>
              <a:ext cx="1792685" cy="1055366"/>
              <a:chOff x="6308874" y="4003609"/>
              <a:chExt cx="1792685" cy="1055366"/>
            </a:xfrm>
          </p:grpSpPr>
          <p:sp>
            <p:nvSpPr>
              <p:cNvPr id="109" name="Seta para a direita 15">
                <a:extLst>
                  <a:ext uri="{FF2B5EF4-FFF2-40B4-BE49-F238E27FC236}">
                    <a16:creationId xmlns:a16="http://schemas.microsoft.com/office/drawing/2014/main" id="{DEA541A1-E3BF-824B-C208-125A597255F3}"/>
                  </a:ext>
                </a:extLst>
              </p:cNvPr>
              <p:cNvSpPr/>
              <p:nvPr/>
            </p:nvSpPr>
            <p:spPr>
              <a:xfrm rot="16166615">
                <a:off x="6618727" y="4743355"/>
                <a:ext cx="288000" cy="108000"/>
              </a:xfrm>
              <a:prstGeom prst="rightArrow">
                <a:avLst/>
              </a:prstGeom>
              <a:solidFill>
                <a:schemeClr val="accent2"/>
              </a:solidFill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grpSp>
            <p:nvGrpSpPr>
              <p:cNvPr id="110" name="Grupo 16">
                <a:extLst>
                  <a:ext uri="{FF2B5EF4-FFF2-40B4-BE49-F238E27FC236}">
                    <a16:creationId xmlns:a16="http://schemas.microsoft.com/office/drawing/2014/main" id="{503D2665-72C5-5500-141F-4385446FDBA0}"/>
                  </a:ext>
                </a:extLst>
              </p:cNvPr>
              <p:cNvGrpSpPr/>
              <p:nvPr/>
            </p:nvGrpSpPr>
            <p:grpSpPr>
              <a:xfrm>
                <a:off x="6308874" y="4003609"/>
                <a:ext cx="1792685" cy="1055366"/>
                <a:chOff x="5618130" y="5251772"/>
                <a:chExt cx="1792685" cy="1055366"/>
              </a:xfrm>
            </p:grpSpPr>
            <p:grpSp>
              <p:nvGrpSpPr>
                <p:cNvPr id="112" name="Grupo 18">
                  <a:extLst>
                    <a:ext uri="{FF2B5EF4-FFF2-40B4-BE49-F238E27FC236}">
                      <a16:creationId xmlns:a16="http://schemas.microsoft.com/office/drawing/2014/main" id="{E51BEB84-E48B-06A6-0495-5DF118B593F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416287" y="5251772"/>
                  <a:ext cx="994528" cy="1055366"/>
                  <a:chOff x="7015665" y="3769107"/>
                  <a:chExt cx="2095099" cy="2554882"/>
                </a:xfr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16" name="Cubo 854">
                    <a:extLst>
                      <a:ext uri="{FF2B5EF4-FFF2-40B4-BE49-F238E27FC236}">
                        <a16:creationId xmlns:a16="http://schemas.microsoft.com/office/drawing/2014/main" id="{AAF86330-BF18-E421-4121-A0DBA6C50BF2}"/>
                      </a:ext>
                    </a:extLst>
                  </p:cNvPr>
                  <p:cNvSpPr/>
                  <p:nvPr/>
                </p:nvSpPr>
                <p:spPr>
                  <a:xfrm flipH="1">
                    <a:off x="7285076" y="5243990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17" name="Cubo 855">
                    <a:extLst>
                      <a:ext uri="{FF2B5EF4-FFF2-40B4-BE49-F238E27FC236}">
                        <a16:creationId xmlns:a16="http://schemas.microsoft.com/office/drawing/2014/main" id="{37D37679-A82B-9203-540A-595488AFA056}"/>
                      </a:ext>
                    </a:extLst>
                  </p:cNvPr>
                  <p:cNvSpPr/>
                  <p:nvPr/>
                </p:nvSpPr>
                <p:spPr>
                  <a:xfrm flipH="1">
                    <a:off x="7015665" y="4123701"/>
                    <a:ext cx="1080000" cy="1080000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18" name="Cubo 856">
                    <a:extLst>
                      <a:ext uri="{FF2B5EF4-FFF2-40B4-BE49-F238E27FC236}">
                        <a16:creationId xmlns:a16="http://schemas.microsoft.com/office/drawing/2014/main" id="{7081C526-DB86-B762-6F34-EB69700DE98B}"/>
                      </a:ext>
                    </a:extLst>
                  </p:cNvPr>
                  <p:cNvSpPr/>
                  <p:nvPr/>
                </p:nvSpPr>
                <p:spPr>
                  <a:xfrm flipH="1">
                    <a:off x="8030765" y="4498395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19" name="Cubo 857">
                    <a:extLst>
                      <a:ext uri="{FF2B5EF4-FFF2-40B4-BE49-F238E27FC236}">
                        <a16:creationId xmlns:a16="http://schemas.microsoft.com/office/drawing/2014/main" id="{A6806F81-C5DB-4B76-431F-DFD89DDB7DAE}"/>
                      </a:ext>
                    </a:extLst>
                  </p:cNvPr>
                  <p:cNvSpPr/>
                  <p:nvPr/>
                </p:nvSpPr>
                <p:spPr>
                  <a:xfrm flipH="1">
                    <a:off x="7285461" y="4504733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20" name="Cubo 858">
                    <a:extLst>
                      <a:ext uri="{FF2B5EF4-FFF2-40B4-BE49-F238E27FC236}">
                        <a16:creationId xmlns:a16="http://schemas.microsoft.com/office/drawing/2014/main" id="{9FE485CF-B23F-A9BE-1646-57B7CFC7735E}"/>
                      </a:ext>
                    </a:extLst>
                  </p:cNvPr>
                  <p:cNvSpPr/>
                  <p:nvPr/>
                </p:nvSpPr>
                <p:spPr>
                  <a:xfrm flipH="1">
                    <a:off x="7288823" y="3769107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21" name="Cubo 859">
                    <a:extLst>
                      <a:ext uri="{FF2B5EF4-FFF2-40B4-BE49-F238E27FC236}">
                        <a16:creationId xmlns:a16="http://schemas.microsoft.com/office/drawing/2014/main" id="{D7EC0AE3-309E-3607-180E-283730B4A6CD}"/>
                      </a:ext>
                    </a:extLst>
                  </p:cNvPr>
                  <p:cNvSpPr/>
                  <p:nvPr/>
                </p:nvSpPr>
                <p:spPr>
                  <a:xfrm flipH="1">
                    <a:off x="7609327" y="4854685"/>
                    <a:ext cx="1080000" cy="1080002"/>
                  </a:xfrm>
                  <a:prstGeom prst="cube">
                    <a:avLst>
                      <a:gd name="adj" fmla="val 32078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113" name="Seta para a direita 19">
                  <a:extLst>
                    <a:ext uri="{FF2B5EF4-FFF2-40B4-BE49-F238E27FC236}">
                      <a16:creationId xmlns:a16="http://schemas.microsoft.com/office/drawing/2014/main" id="{892332CE-F3FB-0453-C14C-E22BF5128D36}"/>
                    </a:ext>
                  </a:extLst>
                </p:cNvPr>
                <p:cNvSpPr/>
                <p:nvPr/>
              </p:nvSpPr>
              <p:spPr>
                <a:xfrm>
                  <a:off x="6062205" y="5705476"/>
                  <a:ext cx="576000" cy="180000"/>
                </a:xfrm>
                <a:prstGeom prst="rightArrow">
                  <a:avLst/>
                </a:prstGeom>
                <a:solidFill>
                  <a:schemeClr val="accent2"/>
                </a:solidFill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114" name="Cubo 852">
                  <a:extLst>
                    <a:ext uri="{FF2B5EF4-FFF2-40B4-BE49-F238E27FC236}">
                      <a16:creationId xmlns:a16="http://schemas.microsoft.com/office/drawing/2014/main" id="{4051E8B0-95D4-A0C2-6CE9-0BE4F8CE0011}"/>
                    </a:ext>
                  </a:extLst>
                </p:cNvPr>
                <p:cNvSpPr/>
                <p:nvPr/>
              </p:nvSpPr>
              <p:spPr>
                <a:xfrm flipH="1">
                  <a:off x="5811644" y="5563045"/>
                  <a:ext cx="512668" cy="446124"/>
                </a:xfrm>
                <a:prstGeom prst="cube">
                  <a:avLst>
                    <a:gd name="adj" fmla="val 32078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115" name="Seta para a direita 24">
                  <a:extLst>
                    <a:ext uri="{FF2B5EF4-FFF2-40B4-BE49-F238E27FC236}">
                      <a16:creationId xmlns:a16="http://schemas.microsoft.com/office/drawing/2014/main" id="{B8F46508-041C-4BA8-9178-5CBA3B130279}"/>
                    </a:ext>
                  </a:extLst>
                </p:cNvPr>
                <p:cNvSpPr/>
                <p:nvPr/>
              </p:nvSpPr>
              <p:spPr>
                <a:xfrm>
                  <a:off x="5618130" y="5734051"/>
                  <a:ext cx="288000" cy="108000"/>
                </a:xfrm>
                <a:prstGeom prst="rightArrow">
                  <a:avLst/>
                </a:prstGeom>
                <a:solidFill>
                  <a:schemeClr val="accent2"/>
                </a:solidFill>
                <a:effectLst>
                  <a:outerShdw blurRad="50800" dist="1397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11" name="Seta para a direita 17">
                <a:extLst>
                  <a:ext uri="{FF2B5EF4-FFF2-40B4-BE49-F238E27FC236}">
                    <a16:creationId xmlns:a16="http://schemas.microsoft.com/office/drawing/2014/main" id="{5C1C4696-F299-9047-4FC6-C431E93C126F}"/>
                  </a:ext>
                </a:extLst>
              </p:cNvPr>
              <p:cNvSpPr/>
              <p:nvPr/>
            </p:nvSpPr>
            <p:spPr>
              <a:xfrm rot="5400000">
                <a:off x="6612548" y="4194806"/>
                <a:ext cx="288000" cy="108000"/>
              </a:xfrm>
              <a:prstGeom prst="rightArrow">
                <a:avLst/>
              </a:prstGeom>
              <a:solidFill>
                <a:schemeClr val="accent2"/>
              </a:solidFill>
              <a:effectLst>
                <a:outerShdw blurRad="50800" dist="1397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08" name="Seta para a direita 14">
              <a:extLst>
                <a:ext uri="{FF2B5EF4-FFF2-40B4-BE49-F238E27FC236}">
                  <a16:creationId xmlns:a16="http://schemas.microsoft.com/office/drawing/2014/main" id="{5D47EDBE-78BC-BFC7-290F-5C7E6D4A271E}"/>
                </a:ext>
              </a:extLst>
            </p:cNvPr>
            <p:cNvSpPr/>
            <p:nvPr/>
          </p:nvSpPr>
          <p:spPr>
            <a:xfrm rot="13276495">
              <a:off x="8046776" y="4538294"/>
              <a:ext cx="288000" cy="108000"/>
            </a:xfrm>
            <a:prstGeom prst="rightArrow">
              <a:avLst/>
            </a:prstGeom>
            <a:solidFill>
              <a:schemeClr val="accent2"/>
            </a:solidFill>
            <a:effectLst>
              <a:outerShdw blurRad="50800" dist="1397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22" name="Agrupar 221">
            <a:extLst>
              <a:ext uri="{FF2B5EF4-FFF2-40B4-BE49-F238E27FC236}">
                <a16:creationId xmlns:a16="http://schemas.microsoft.com/office/drawing/2014/main" id="{798D4ED3-E339-5746-6398-48D42649F979}"/>
              </a:ext>
            </a:extLst>
          </p:cNvPr>
          <p:cNvGrpSpPr/>
          <p:nvPr/>
        </p:nvGrpSpPr>
        <p:grpSpPr>
          <a:xfrm>
            <a:off x="8137943" y="973098"/>
            <a:ext cx="3120386" cy="1197745"/>
            <a:chOff x="8805611" y="2854336"/>
            <a:chExt cx="2942277" cy="1017208"/>
          </a:xfrm>
        </p:grpSpPr>
        <p:cxnSp>
          <p:nvCxnSpPr>
            <p:cNvPr id="123" name="Conector de Seta Reta 98">
              <a:extLst>
                <a:ext uri="{FF2B5EF4-FFF2-40B4-BE49-F238E27FC236}">
                  <a16:creationId xmlns:a16="http://schemas.microsoft.com/office/drawing/2014/main" id="{9960C934-7385-0C67-E765-D42E7299A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2400" y="3533610"/>
              <a:ext cx="4759" cy="275267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3F9C59A4-257B-D9F2-5DD4-058337E238C7}"/>
                    </a:ext>
                  </a:extLst>
                </p:cNvPr>
                <p:cNvSpPr txBox="1"/>
                <p:nvPr/>
              </p:nvSpPr>
              <p:spPr>
                <a:xfrm>
                  <a:off x="11119645" y="3359970"/>
                  <a:ext cx="628243" cy="51157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square" anchor="ctr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pt-BR" sz="3200" b="1" i="1" baseline="-250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GB" sz="32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3F9C59A4-257B-D9F2-5DD4-058337E23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9645" y="3359970"/>
                  <a:ext cx="628243" cy="51157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38100"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Conector reto 191">
              <a:extLst>
                <a:ext uri="{FF2B5EF4-FFF2-40B4-BE49-F238E27FC236}">
                  <a16:creationId xmlns:a16="http://schemas.microsoft.com/office/drawing/2014/main" id="{7D011BA3-2965-B5A8-CDC2-18D648D14392}"/>
                </a:ext>
              </a:extLst>
            </p:cNvPr>
            <p:cNvCxnSpPr>
              <a:cxnSpLocks/>
            </p:cNvCxnSpPr>
            <p:nvPr/>
          </p:nvCxnSpPr>
          <p:spPr>
            <a:xfrm>
              <a:off x="8805611" y="3231347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Conector reto 196">
              <a:extLst>
                <a:ext uri="{FF2B5EF4-FFF2-40B4-BE49-F238E27FC236}">
                  <a16:creationId xmlns:a16="http://schemas.microsoft.com/office/drawing/2014/main" id="{A93F4503-0BF0-4B26-5852-69ED53366D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032" y="3391830"/>
              <a:ext cx="738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7" name="Agrupar 207">
              <a:extLst>
                <a:ext uri="{FF2B5EF4-FFF2-40B4-BE49-F238E27FC236}">
                  <a16:creationId xmlns:a16="http://schemas.microsoft.com/office/drawing/2014/main" id="{3C87EAD9-8601-3E65-362F-44CF4E90263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809159" y="2854336"/>
              <a:ext cx="1941029" cy="948588"/>
              <a:chOff x="8673239" y="3288564"/>
              <a:chExt cx="1261022" cy="616267"/>
            </a:xfrm>
          </p:grpSpPr>
          <p:grpSp>
            <p:nvGrpSpPr>
              <p:cNvPr id="137" name="Agrupar 87">
                <a:extLst>
                  <a:ext uri="{FF2B5EF4-FFF2-40B4-BE49-F238E27FC236}">
                    <a16:creationId xmlns:a16="http://schemas.microsoft.com/office/drawing/2014/main" id="{0FC39CC3-E475-2663-D6B5-49DE0EBF208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73239" y="3288564"/>
                <a:ext cx="798508" cy="616267"/>
                <a:chOff x="8741399" y="2617366"/>
                <a:chExt cx="1364715" cy="1053253"/>
              </a:xfrm>
            </p:grpSpPr>
            <p:sp>
              <p:nvSpPr>
                <p:cNvPr id="141" name="Cubo 79">
                  <a:extLst>
                    <a:ext uri="{FF2B5EF4-FFF2-40B4-BE49-F238E27FC236}">
                      <a16:creationId xmlns:a16="http://schemas.microsoft.com/office/drawing/2014/main" id="{FCD22416-67E3-3C51-5136-5B3CC3073E22}"/>
                    </a:ext>
                  </a:extLst>
                </p:cNvPr>
                <p:cNvSpPr/>
                <p:nvPr/>
              </p:nvSpPr>
              <p:spPr>
                <a:xfrm flipH="1">
                  <a:off x="8741399" y="2617366"/>
                  <a:ext cx="1073719" cy="791634"/>
                </a:xfrm>
                <a:prstGeom prst="cube">
                  <a:avLst>
                    <a:gd name="adj" fmla="val 32078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142" name="Cubo 85">
                  <a:extLst>
                    <a:ext uri="{FF2B5EF4-FFF2-40B4-BE49-F238E27FC236}">
                      <a16:creationId xmlns:a16="http://schemas.microsoft.com/office/drawing/2014/main" id="{B5CEE7F3-7D89-9770-29FD-65E31F95B303}"/>
                    </a:ext>
                  </a:extLst>
                </p:cNvPr>
                <p:cNvSpPr/>
                <p:nvPr/>
              </p:nvSpPr>
              <p:spPr>
                <a:xfrm flipH="1">
                  <a:off x="9032395" y="2878985"/>
                  <a:ext cx="1073719" cy="791634"/>
                </a:xfrm>
                <a:prstGeom prst="cube">
                  <a:avLst>
                    <a:gd name="adj" fmla="val 32078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grpSp>
            <p:nvGrpSpPr>
              <p:cNvPr id="138" name="Agrupar 204">
                <a:extLst>
                  <a:ext uri="{FF2B5EF4-FFF2-40B4-BE49-F238E27FC236}">
                    <a16:creationId xmlns:a16="http://schemas.microsoft.com/office/drawing/2014/main" id="{AD109542-6D9C-4514-19F4-7A442301DBE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35756" y="3290794"/>
                <a:ext cx="798505" cy="611266"/>
                <a:chOff x="8712967" y="2617366"/>
                <a:chExt cx="1364711" cy="1044702"/>
              </a:xfrm>
            </p:grpSpPr>
            <p:sp>
              <p:nvSpPr>
                <p:cNvPr id="139" name="Cubo 205">
                  <a:extLst>
                    <a:ext uri="{FF2B5EF4-FFF2-40B4-BE49-F238E27FC236}">
                      <a16:creationId xmlns:a16="http://schemas.microsoft.com/office/drawing/2014/main" id="{9706DE44-5687-0FD6-2E9B-A593EE90DF63}"/>
                    </a:ext>
                  </a:extLst>
                </p:cNvPr>
                <p:cNvSpPr/>
                <p:nvPr/>
              </p:nvSpPr>
              <p:spPr>
                <a:xfrm flipH="1">
                  <a:off x="8712967" y="2617366"/>
                  <a:ext cx="1073719" cy="791634"/>
                </a:xfrm>
                <a:prstGeom prst="cube">
                  <a:avLst>
                    <a:gd name="adj" fmla="val 32078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140" name="Cubo 206">
                  <a:extLst>
                    <a:ext uri="{FF2B5EF4-FFF2-40B4-BE49-F238E27FC236}">
                      <a16:creationId xmlns:a16="http://schemas.microsoft.com/office/drawing/2014/main" id="{F39D64E7-4108-D4B0-8029-F6E231C5CDC8}"/>
                    </a:ext>
                  </a:extLst>
                </p:cNvPr>
                <p:cNvSpPr/>
                <p:nvPr/>
              </p:nvSpPr>
              <p:spPr>
                <a:xfrm flipH="1">
                  <a:off x="9003959" y="2870434"/>
                  <a:ext cx="1073719" cy="791634"/>
                </a:xfrm>
                <a:prstGeom prst="cube">
                  <a:avLst>
                    <a:gd name="adj" fmla="val 32078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</p:grpSp>
        <p:cxnSp>
          <p:nvCxnSpPr>
            <p:cNvPr id="128" name="Conector reto 210">
              <a:extLst>
                <a:ext uri="{FF2B5EF4-FFF2-40B4-BE49-F238E27FC236}">
                  <a16:creationId xmlns:a16="http://schemas.microsoft.com/office/drawing/2014/main" id="{62FFB071-EDD1-FEB2-93D6-CBD46638E2E5}"/>
                </a:ext>
              </a:extLst>
            </p:cNvPr>
            <p:cNvCxnSpPr>
              <a:cxnSpLocks/>
            </p:cNvCxnSpPr>
            <p:nvPr/>
          </p:nvCxnSpPr>
          <p:spPr>
            <a:xfrm>
              <a:off x="9033852" y="3172458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Conector reto 211">
              <a:extLst>
                <a:ext uri="{FF2B5EF4-FFF2-40B4-BE49-F238E27FC236}">
                  <a16:creationId xmlns:a16="http://schemas.microsoft.com/office/drawing/2014/main" id="{01CE75FE-F54A-E18B-7B85-6D7934BCB2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4097" y="3691515"/>
              <a:ext cx="738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0" name="Conector reto 212">
              <a:extLst>
                <a:ext uri="{FF2B5EF4-FFF2-40B4-BE49-F238E27FC236}">
                  <a16:creationId xmlns:a16="http://schemas.microsoft.com/office/drawing/2014/main" id="{C3A26A0B-82B4-CAC7-F757-54982F8DC9B9}"/>
                </a:ext>
              </a:extLst>
            </p:cNvPr>
            <p:cNvCxnSpPr>
              <a:cxnSpLocks/>
            </p:cNvCxnSpPr>
            <p:nvPr/>
          </p:nvCxnSpPr>
          <p:spPr>
            <a:xfrm>
              <a:off x="9777961" y="3466898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1" name="Conector reto 213">
              <a:extLst>
                <a:ext uri="{FF2B5EF4-FFF2-40B4-BE49-F238E27FC236}">
                  <a16:creationId xmlns:a16="http://schemas.microsoft.com/office/drawing/2014/main" id="{1865F7E6-9036-B28E-69F4-7B333C7A3846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504" y="3466898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2" name="Conector reto 214">
              <a:extLst>
                <a:ext uri="{FF2B5EF4-FFF2-40B4-BE49-F238E27FC236}">
                  <a16:creationId xmlns:a16="http://schemas.microsoft.com/office/drawing/2014/main" id="{746ECE35-2842-FD9F-E07F-088C025F5235}"/>
                </a:ext>
              </a:extLst>
            </p:cNvPr>
            <p:cNvCxnSpPr>
              <a:cxnSpLocks/>
            </p:cNvCxnSpPr>
            <p:nvPr/>
          </p:nvCxnSpPr>
          <p:spPr>
            <a:xfrm>
              <a:off x="10506614" y="3565845"/>
              <a:ext cx="236576" cy="2375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Conector reto 215">
              <a:extLst>
                <a:ext uri="{FF2B5EF4-FFF2-40B4-BE49-F238E27FC236}">
                  <a16:creationId xmlns:a16="http://schemas.microsoft.com/office/drawing/2014/main" id="{97ECE51C-378F-CD8E-80DA-6A0B31A2A5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7504" y="3459538"/>
              <a:ext cx="738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Conector reto 216">
              <a:extLst>
                <a:ext uri="{FF2B5EF4-FFF2-40B4-BE49-F238E27FC236}">
                  <a16:creationId xmlns:a16="http://schemas.microsoft.com/office/drawing/2014/main" id="{A2158EEA-2022-3743-3A7F-816BB514F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6552" y="3171246"/>
              <a:ext cx="738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Conector reto 217">
              <a:extLst>
                <a:ext uri="{FF2B5EF4-FFF2-40B4-BE49-F238E27FC236}">
                  <a16:creationId xmlns:a16="http://schemas.microsoft.com/office/drawing/2014/main" id="{E758FD02-097E-F804-4338-A77C736B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774708" y="3165277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Conector reto 219">
              <a:extLst>
                <a:ext uri="{FF2B5EF4-FFF2-40B4-BE49-F238E27FC236}">
                  <a16:creationId xmlns:a16="http://schemas.microsoft.com/office/drawing/2014/main" id="{6E870AD9-60AD-4F53-B032-203D740F8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267" y="3231347"/>
              <a:ext cx="216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143" name="Imagem 4">
            <a:extLst>
              <a:ext uri="{FF2B5EF4-FFF2-40B4-BE49-F238E27FC236}">
                <a16:creationId xmlns:a16="http://schemas.microsoft.com/office/drawing/2014/main" id="{5FDC551C-AA9F-98BF-6121-89EA29F2E04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40980" y="4819988"/>
            <a:ext cx="2009882" cy="152481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120F3C6-34A5-E2B7-44C1-0AA19D98BD5E}"/>
              </a:ext>
            </a:extLst>
          </p:cNvPr>
          <p:cNvGrpSpPr/>
          <p:nvPr/>
        </p:nvGrpSpPr>
        <p:grpSpPr>
          <a:xfrm>
            <a:off x="9450952" y="2256080"/>
            <a:ext cx="2424418" cy="2404173"/>
            <a:chOff x="5782638" y="3435325"/>
            <a:chExt cx="2424418" cy="2404173"/>
          </a:xfrm>
        </p:grpSpPr>
        <p:pic>
          <p:nvPicPr>
            <p:cNvPr id="145" name="Imagem 150">
              <a:extLst>
                <a:ext uri="{FF2B5EF4-FFF2-40B4-BE49-F238E27FC236}">
                  <a16:creationId xmlns:a16="http://schemas.microsoft.com/office/drawing/2014/main" id="{18C92F61-C007-F3D1-8CD4-577BB9D34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789892" y="3435325"/>
              <a:ext cx="2409911" cy="2404173"/>
            </a:xfrm>
            <a:prstGeom prst="rect">
              <a:avLst/>
            </a:prstGeom>
          </p:spPr>
        </p:pic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11B22BEA-DA1C-410A-6021-0F73AF841CD9}"/>
                </a:ext>
              </a:extLst>
            </p:cNvPr>
            <p:cNvGrpSpPr/>
            <p:nvPr/>
          </p:nvGrpSpPr>
          <p:grpSpPr>
            <a:xfrm>
              <a:off x="5782638" y="3441535"/>
              <a:ext cx="2424418" cy="2365695"/>
              <a:chOff x="5908166" y="1237410"/>
              <a:chExt cx="2424418" cy="2365695"/>
            </a:xfrm>
          </p:grpSpPr>
          <p:grpSp>
            <p:nvGrpSpPr>
              <p:cNvPr id="147" name="Agrupar 164">
                <a:extLst>
                  <a:ext uri="{FF2B5EF4-FFF2-40B4-BE49-F238E27FC236}">
                    <a16:creationId xmlns:a16="http://schemas.microsoft.com/office/drawing/2014/main" id="{748FEC9C-59F0-E4D2-32E7-09C868BF6A46}"/>
                  </a:ext>
                </a:extLst>
              </p:cNvPr>
              <p:cNvGrpSpPr/>
              <p:nvPr/>
            </p:nvGrpSpPr>
            <p:grpSpPr>
              <a:xfrm>
                <a:off x="5908166" y="1237410"/>
                <a:ext cx="2424418" cy="2365695"/>
                <a:chOff x="5469622" y="1107347"/>
                <a:chExt cx="2424418" cy="2365695"/>
              </a:xfrm>
            </p:grpSpPr>
            <p:sp>
              <p:nvSpPr>
                <p:cNvPr id="152" name="Forma Livre: Forma 158">
                  <a:extLst>
                    <a:ext uri="{FF2B5EF4-FFF2-40B4-BE49-F238E27FC236}">
                      <a16:creationId xmlns:a16="http://schemas.microsoft.com/office/drawing/2014/main" id="{3477F66B-7F0A-99A0-BD76-E1A172BC561E}"/>
                    </a:ext>
                  </a:extLst>
                </p:cNvPr>
                <p:cNvSpPr/>
                <p:nvPr/>
              </p:nvSpPr>
              <p:spPr>
                <a:xfrm>
                  <a:off x="5494789" y="2474752"/>
                  <a:ext cx="1275127" cy="998290"/>
                </a:xfrm>
                <a:custGeom>
                  <a:avLst/>
                  <a:gdLst>
                    <a:gd name="connsiteX0" fmla="*/ 0 w 1275127"/>
                    <a:gd name="connsiteY0" fmla="*/ 0 h 998290"/>
                    <a:gd name="connsiteX1" fmla="*/ 234892 w 1275127"/>
                    <a:gd name="connsiteY1" fmla="*/ 134224 h 998290"/>
                    <a:gd name="connsiteX2" fmla="*/ 444617 w 1275127"/>
                    <a:gd name="connsiteY2" fmla="*/ 268448 h 998290"/>
                    <a:gd name="connsiteX3" fmla="*/ 679508 w 1275127"/>
                    <a:gd name="connsiteY3" fmla="*/ 453006 h 998290"/>
                    <a:gd name="connsiteX4" fmla="*/ 729842 w 1275127"/>
                    <a:gd name="connsiteY4" fmla="*/ 536896 h 998290"/>
                    <a:gd name="connsiteX5" fmla="*/ 880844 w 1275127"/>
                    <a:gd name="connsiteY5" fmla="*/ 729842 h 998290"/>
                    <a:gd name="connsiteX6" fmla="*/ 1082180 w 1275127"/>
                    <a:gd name="connsiteY6" fmla="*/ 864066 h 998290"/>
                    <a:gd name="connsiteX7" fmla="*/ 1275127 w 1275127"/>
                    <a:gd name="connsiteY7" fmla="*/ 998290 h 998290"/>
                    <a:gd name="connsiteX8" fmla="*/ 1275127 w 1275127"/>
                    <a:gd name="connsiteY8" fmla="*/ 998290 h 998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5127" h="998290">
                      <a:moveTo>
                        <a:pt x="0" y="0"/>
                      </a:moveTo>
                      <a:lnTo>
                        <a:pt x="234892" y="134224"/>
                      </a:lnTo>
                      <a:lnTo>
                        <a:pt x="444617" y="268448"/>
                      </a:lnTo>
                      <a:lnTo>
                        <a:pt x="679508" y="453006"/>
                      </a:lnTo>
                      <a:lnTo>
                        <a:pt x="729842" y="536896"/>
                      </a:lnTo>
                      <a:lnTo>
                        <a:pt x="880844" y="729842"/>
                      </a:lnTo>
                      <a:lnTo>
                        <a:pt x="1082180" y="864066"/>
                      </a:lnTo>
                      <a:lnTo>
                        <a:pt x="1275127" y="998290"/>
                      </a:lnTo>
                      <a:lnTo>
                        <a:pt x="1275127" y="998290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53" name="Forma Livre: Forma 159">
                  <a:extLst>
                    <a:ext uri="{FF2B5EF4-FFF2-40B4-BE49-F238E27FC236}">
                      <a16:creationId xmlns:a16="http://schemas.microsoft.com/office/drawing/2014/main" id="{C3D644F2-06A9-3B7A-409E-EDE7117954E1}"/>
                    </a:ext>
                  </a:extLst>
                </p:cNvPr>
                <p:cNvSpPr/>
                <p:nvPr/>
              </p:nvSpPr>
              <p:spPr>
                <a:xfrm>
                  <a:off x="5511567" y="2189527"/>
                  <a:ext cx="1820411" cy="1283515"/>
                </a:xfrm>
                <a:custGeom>
                  <a:avLst/>
                  <a:gdLst>
                    <a:gd name="connsiteX0" fmla="*/ 0 w 1820411"/>
                    <a:gd name="connsiteY0" fmla="*/ 0 h 1283515"/>
                    <a:gd name="connsiteX1" fmla="*/ 0 w 1820411"/>
                    <a:gd name="connsiteY1" fmla="*/ 0 h 1283515"/>
                    <a:gd name="connsiteX2" fmla="*/ 67112 w 1820411"/>
                    <a:gd name="connsiteY2" fmla="*/ 41945 h 1283515"/>
                    <a:gd name="connsiteX3" fmla="*/ 427839 w 1820411"/>
                    <a:gd name="connsiteY3" fmla="*/ 226502 h 1283515"/>
                    <a:gd name="connsiteX4" fmla="*/ 713064 w 1820411"/>
                    <a:gd name="connsiteY4" fmla="*/ 394282 h 1283515"/>
                    <a:gd name="connsiteX5" fmla="*/ 771787 w 1820411"/>
                    <a:gd name="connsiteY5" fmla="*/ 503339 h 1283515"/>
                    <a:gd name="connsiteX6" fmla="*/ 939567 w 1820411"/>
                    <a:gd name="connsiteY6" fmla="*/ 687897 h 1283515"/>
                    <a:gd name="connsiteX7" fmla="*/ 1048624 w 1820411"/>
                    <a:gd name="connsiteY7" fmla="*/ 771787 h 1283515"/>
                    <a:gd name="connsiteX8" fmla="*/ 1233182 w 1820411"/>
                    <a:gd name="connsiteY8" fmla="*/ 880844 h 1283515"/>
                    <a:gd name="connsiteX9" fmla="*/ 1308683 w 1820411"/>
                    <a:gd name="connsiteY9" fmla="*/ 931178 h 1283515"/>
                    <a:gd name="connsiteX10" fmla="*/ 1409350 w 1820411"/>
                    <a:gd name="connsiteY10" fmla="*/ 998290 h 1283515"/>
                    <a:gd name="connsiteX11" fmla="*/ 1459684 w 1820411"/>
                    <a:gd name="connsiteY11" fmla="*/ 1057012 h 1283515"/>
                    <a:gd name="connsiteX12" fmla="*/ 1820411 w 1820411"/>
                    <a:gd name="connsiteY12" fmla="*/ 1283515 h 1283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20411" h="12835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7112" y="41945"/>
                      </a:lnTo>
                      <a:lnTo>
                        <a:pt x="427839" y="226502"/>
                      </a:lnTo>
                      <a:lnTo>
                        <a:pt x="713064" y="394282"/>
                      </a:lnTo>
                      <a:cubicBezTo>
                        <a:pt x="773196" y="497365"/>
                        <a:pt x="771787" y="456102"/>
                        <a:pt x="771787" y="503339"/>
                      </a:cubicBezTo>
                      <a:lnTo>
                        <a:pt x="939567" y="687897"/>
                      </a:lnTo>
                      <a:lnTo>
                        <a:pt x="1048624" y="771787"/>
                      </a:lnTo>
                      <a:lnTo>
                        <a:pt x="1233182" y="880844"/>
                      </a:lnTo>
                      <a:cubicBezTo>
                        <a:pt x="1296993" y="926423"/>
                        <a:pt x="1270390" y="912031"/>
                        <a:pt x="1308683" y="931178"/>
                      </a:cubicBezTo>
                      <a:lnTo>
                        <a:pt x="1409350" y="998290"/>
                      </a:lnTo>
                      <a:lnTo>
                        <a:pt x="1459684" y="1057012"/>
                      </a:lnTo>
                      <a:lnTo>
                        <a:pt x="1820411" y="1283515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54" name="Forma Livre: Forma 160">
                  <a:extLst>
                    <a:ext uri="{FF2B5EF4-FFF2-40B4-BE49-F238E27FC236}">
                      <a16:creationId xmlns:a16="http://schemas.microsoft.com/office/drawing/2014/main" id="{11BACE2C-1532-83EC-B788-4E80BD59D914}"/>
                    </a:ext>
                  </a:extLst>
                </p:cNvPr>
                <p:cNvSpPr/>
                <p:nvPr/>
              </p:nvSpPr>
              <p:spPr>
                <a:xfrm>
                  <a:off x="5511567" y="1887523"/>
                  <a:ext cx="2248250" cy="1577130"/>
                </a:xfrm>
                <a:custGeom>
                  <a:avLst/>
                  <a:gdLst>
                    <a:gd name="connsiteX0" fmla="*/ 0 w 2248250"/>
                    <a:gd name="connsiteY0" fmla="*/ 0 h 1577130"/>
                    <a:gd name="connsiteX1" fmla="*/ 0 w 2248250"/>
                    <a:gd name="connsiteY1" fmla="*/ 0 h 1577130"/>
                    <a:gd name="connsiteX2" fmla="*/ 234892 w 2248250"/>
                    <a:gd name="connsiteY2" fmla="*/ 167780 h 1577130"/>
                    <a:gd name="connsiteX3" fmla="*/ 528506 w 2248250"/>
                    <a:gd name="connsiteY3" fmla="*/ 335560 h 1577130"/>
                    <a:gd name="connsiteX4" fmla="*/ 922789 w 2248250"/>
                    <a:gd name="connsiteY4" fmla="*/ 553673 h 1577130"/>
                    <a:gd name="connsiteX5" fmla="*/ 981512 w 2248250"/>
                    <a:gd name="connsiteY5" fmla="*/ 629174 h 1577130"/>
                    <a:gd name="connsiteX6" fmla="*/ 1140903 w 2248250"/>
                    <a:gd name="connsiteY6" fmla="*/ 763398 h 1577130"/>
                    <a:gd name="connsiteX7" fmla="*/ 1434517 w 2248250"/>
                    <a:gd name="connsiteY7" fmla="*/ 956345 h 1577130"/>
                    <a:gd name="connsiteX8" fmla="*/ 1803633 w 2248250"/>
                    <a:gd name="connsiteY8" fmla="*/ 1208015 h 1577130"/>
                    <a:gd name="connsiteX9" fmla="*/ 2248250 w 2248250"/>
                    <a:gd name="connsiteY9" fmla="*/ 1577130 h 1577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48250" h="1577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34892" y="167780"/>
                      </a:lnTo>
                      <a:lnTo>
                        <a:pt x="528506" y="335560"/>
                      </a:lnTo>
                      <a:lnTo>
                        <a:pt x="922789" y="553673"/>
                      </a:lnTo>
                      <a:lnTo>
                        <a:pt x="981512" y="629174"/>
                      </a:lnTo>
                      <a:lnTo>
                        <a:pt x="1140903" y="763398"/>
                      </a:lnTo>
                      <a:lnTo>
                        <a:pt x="1434517" y="956345"/>
                      </a:lnTo>
                      <a:lnTo>
                        <a:pt x="1803633" y="1208015"/>
                      </a:lnTo>
                      <a:lnTo>
                        <a:pt x="2248250" y="1577130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55" name="Forma Livre: Forma 161">
                  <a:extLst>
                    <a:ext uri="{FF2B5EF4-FFF2-40B4-BE49-F238E27FC236}">
                      <a16:creationId xmlns:a16="http://schemas.microsoft.com/office/drawing/2014/main" id="{F750C8AD-B07C-D1EA-B2F7-856CC6DDB682}"/>
                    </a:ext>
                  </a:extLst>
                </p:cNvPr>
                <p:cNvSpPr/>
                <p:nvPr/>
              </p:nvSpPr>
              <p:spPr>
                <a:xfrm>
                  <a:off x="5503178" y="1602297"/>
                  <a:ext cx="2365695" cy="1342239"/>
                </a:xfrm>
                <a:custGeom>
                  <a:avLst/>
                  <a:gdLst>
                    <a:gd name="connsiteX0" fmla="*/ 0 w 2365695"/>
                    <a:gd name="connsiteY0" fmla="*/ 25167 h 1342239"/>
                    <a:gd name="connsiteX1" fmla="*/ 0 w 2365695"/>
                    <a:gd name="connsiteY1" fmla="*/ 25167 h 1342239"/>
                    <a:gd name="connsiteX2" fmla="*/ 134224 w 2365695"/>
                    <a:gd name="connsiteY2" fmla="*/ 0 h 1342239"/>
                    <a:gd name="connsiteX3" fmla="*/ 746620 w 2365695"/>
                    <a:gd name="connsiteY3" fmla="*/ 176169 h 1342239"/>
                    <a:gd name="connsiteX4" fmla="*/ 813732 w 2365695"/>
                    <a:gd name="connsiteY4" fmla="*/ 218114 h 1342239"/>
                    <a:gd name="connsiteX5" fmla="*/ 1283516 w 2365695"/>
                    <a:gd name="connsiteY5" fmla="*/ 578841 h 1342239"/>
                    <a:gd name="connsiteX6" fmla="*/ 1367405 w 2365695"/>
                    <a:gd name="connsiteY6" fmla="*/ 645953 h 1342239"/>
                    <a:gd name="connsiteX7" fmla="*/ 1577130 w 2365695"/>
                    <a:gd name="connsiteY7" fmla="*/ 931178 h 1342239"/>
                    <a:gd name="connsiteX8" fmla="*/ 1652631 w 2365695"/>
                    <a:gd name="connsiteY8" fmla="*/ 989901 h 1342239"/>
                    <a:gd name="connsiteX9" fmla="*/ 1904301 w 2365695"/>
                    <a:gd name="connsiteY9" fmla="*/ 1140903 h 1342239"/>
                    <a:gd name="connsiteX10" fmla="*/ 2181138 w 2365695"/>
                    <a:gd name="connsiteY10" fmla="*/ 1266738 h 1342239"/>
                    <a:gd name="connsiteX11" fmla="*/ 2365695 w 2365695"/>
                    <a:gd name="connsiteY11" fmla="*/ 1342239 h 1342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5695" h="1342239">
                      <a:moveTo>
                        <a:pt x="0" y="25167"/>
                      </a:moveTo>
                      <a:lnTo>
                        <a:pt x="0" y="25167"/>
                      </a:lnTo>
                      <a:lnTo>
                        <a:pt x="134224" y="0"/>
                      </a:lnTo>
                      <a:lnTo>
                        <a:pt x="746620" y="176169"/>
                      </a:lnTo>
                      <a:lnTo>
                        <a:pt x="813732" y="218114"/>
                      </a:lnTo>
                      <a:lnTo>
                        <a:pt x="1283516" y="578841"/>
                      </a:lnTo>
                      <a:lnTo>
                        <a:pt x="1367405" y="645953"/>
                      </a:lnTo>
                      <a:lnTo>
                        <a:pt x="1577130" y="931178"/>
                      </a:lnTo>
                      <a:cubicBezTo>
                        <a:pt x="1642289" y="977720"/>
                        <a:pt x="1618844" y="956114"/>
                        <a:pt x="1652631" y="989901"/>
                      </a:cubicBezTo>
                      <a:lnTo>
                        <a:pt x="1904301" y="1140903"/>
                      </a:lnTo>
                      <a:lnTo>
                        <a:pt x="2181138" y="1266738"/>
                      </a:lnTo>
                      <a:lnTo>
                        <a:pt x="2365695" y="1342239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56" name="Forma Livre: Forma 162">
                  <a:extLst>
                    <a:ext uri="{FF2B5EF4-FFF2-40B4-BE49-F238E27FC236}">
                      <a16:creationId xmlns:a16="http://schemas.microsoft.com/office/drawing/2014/main" id="{F72C4048-FFB3-3DDF-7589-8AC6E21F1984}"/>
                    </a:ext>
                  </a:extLst>
                </p:cNvPr>
                <p:cNvSpPr/>
                <p:nvPr/>
              </p:nvSpPr>
              <p:spPr>
                <a:xfrm>
                  <a:off x="5469622" y="1283516"/>
                  <a:ext cx="2399251" cy="1199625"/>
                </a:xfrm>
                <a:custGeom>
                  <a:avLst/>
                  <a:gdLst>
                    <a:gd name="connsiteX0" fmla="*/ 0 w 2399251"/>
                    <a:gd name="connsiteY0" fmla="*/ 0 h 1199625"/>
                    <a:gd name="connsiteX1" fmla="*/ 411061 w 2399251"/>
                    <a:gd name="connsiteY1" fmla="*/ 125834 h 1199625"/>
                    <a:gd name="connsiteX2" fmla="*/ 486561 w 2399251"/>
                    <a:gd name="connsiteY2" fmla="*/ 125834 h 1199625"/>
                    <a:gd name="connsiteX3" fmla="*/ 738231 w 2399251"/>
                    <a:gd name="connsiteY3" fmla="*/ 109056 h 1199625"/>
                    <a:gd name="connsiteX4" fmla="*/ 1065402 w 2399251"/>
                    <a:gd name="connsiteY4" fmla="*/ 50334 h 1199625"/>
                    <a:gd name="connsiteX5" fmla="*/ 1182848 w 2399251"/>
                    <a:gd name="connsiteY5" fmla="*/ 58723 h 1199625"/>
                    <a:gd name="connsiteX6" fmla="*/ 1501629 w 2399251"/>
                    <a:gd name="connsiteY6" fmla="*/ 310392 h 1199625"/>
                    <a:gd name="connsiteX7" fmla="*/ 1543574 w 2399251"/>
                    <a:gd name="connsiteY7" fmla="*/ 394282 h 1199625"/>
                    <a:gd name="connsiteX8" fmla="*/ 1644242 w 2399251"/>
                    <a:gd name="connsiteY8" fmla="*/ 696286 h 1199625"/>
                    <a:gd name="connsiteX9" fmla="*/ 1770077 w 2399251"/>
                    <a:gd name="connsiteY9" fmla="*/ 864066 h 1199625"/>
                    <a:gd name="connsiteX10" fmla="*/ 1845578 w 2399251"/>
                    <a:gd name="connsiteY10" fmla="*/ 889233 h 1199625"/>
                    <a:gd name="connsiteX11" fmla="*/ 2013358 w 2399251"/>
                    <a:gd name="connsiteY11" fmla="*/ 981512 h 1199625"/>
                    <a:gd name="connsiteX12" fmla="*/ 2399251 w 2399251"/>
                    <a:gd name="connsiteY12" fmla="*/ 1199625 h 119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399251" h="1199625">
                      <a:moveTo>
                        <a:pt x="0" y="0"/>
                      </a:moveTo>
                      <a:lnTo>
                        <a:pt x="411061" y="125834"/>
                      </a:lnTo>
                      <a:lnTo>
                        <a:pt x="486561" y="125834"/>
                      </a:lnTo>
                      <a:lnTo>
                        <a:pt x="738231" y="109056"/>
                      </a:lnTo>
                      <a:lnTo>
                        <a:pt x="1065402" y="50334"/>
                      </a:lnTo>
                      <a:lnTo>
                        <a:pt x="1182848" y="58723"/>
                      </a:lnTo>
                      <a:lnTo>
                        <a:pt x="1501629" y="310392"/>
                      </a:lnTo>
                      <a:lnTo>
                        <a:pt x="1543574" y="394282"/>
                      </a:lnTo>
                      <a:lnTo>
                        <a:pt x="1644242" y="696286"/>
                      </a:lnTo>
                      <a:lnTo>
                        <a:pt x="1770077" y="864066"/>
                      </a:lnTo>
                      <a:lnTo>
                        <a:pt x="1845578" y="889233"/>
                      </a:lnTo>
                      <a:lnTo>
                        <a:pt x="2013358" y="981512"/>
                      </a:lnTo>
                      <a:lnTo>
                        <a:pt x="2399251" y="1199625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57" name="Forma Livre: Forma 163">
                  <a:extLst>
                    <a:ext uri="{FF2B5EF4-FFF2-40B4-BE49-F238E27FC236}">
                      <a16:creationId xmlns:a16="http://schemas.microsoft.com/office/drawing/2014/main" id="{78514355-1963-A9AC-96B4-044207506601}"/>
                    </a:ext>
                  </a:extLst>
                </p:cNvPr>
                <p:cNvSpPr/>
                <p:nvPr/>
              </p:nvSpPr>
              <p:spPr>
                <a:xfrm>
                  <a:off x="6878972" y="1107347"/>
                  <a:ext cx="1015068" cy="1006679"/>
                </a:xfrm>
                <a:custGeom>
                  <a:avLst/>
                  <a:gdLst>
                    <a:gd name="connsiteX0" fmla="*/ 0 w 1015068"/>
                    <a:gd name="connsiteY0" fmla="*/ 0 h 1006679"/>
                    <a:gd name="connsiteX1" fmla="*/ 201336 w 1015068"/>
                    <a:gd name="connsiteY1" fmla="*/ 142613 h 1006679"/>
                    <a:gd name="connsiteX2" fmla="*/ 335560 w 1015068"/>
                    <a:gd name="connsiteY2" fmla="*/ 209725 h 1006679"/>
                    <a:gd name="connsiteX3" fmla="*/ 520118 w 1015068"/>
                    <a:gd name="connsiteY3" fmla="*/ 444616 h 1006679"/>
                    <a:gd name="connsiteX4" fmla="*/ 595619 w 1015068"/>
                    <a:gd name="connsiteY4" fmla="*/ 578840 h 1006679"/>
                    <a:gd name="connsiteX5" fmla="*/ 696287 w 1015068"/>
                    <a:gd name="connsiteY5" fmla="*/ 780176 h 1006679"/>
                    <a:gd name="connsiteX6" fmla="*/ 1015068 w 1015068"/>
                    <a:gd name="connsiteY6" fmla="*/ 1006679 h 1006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15068" h="1006679">
                      <a:moveTo>
                        <a:pt x="0" y="0"/>
                      </a:moveTo>
                      <a:lnTo>
                        <a:pt x="201336" y="142613"/>
                      </a:lnTo>
                      <a:cubicBezTo>
                        <a:pt x="300391" y="202046"/>
                        <a:pt x="254289" y="182635"/>
                        <a:pt x="335560" y="209725"/>
                      </a:cubicBezTo>
                      <a:lnTo>
                        <a:pt x="520118" y="444616"/>
                      </a:lnTo>
                      <a:cubicBezTo>
                        <a:pt x="575424" y="564445"/>
                        <a:pt x="542141" y="525362"/>
                        <a:pt x="595619" y="578840"/>
                      </a:cubicBezTo>
                      <a:lnTo>
                        <a:pt x="696287" y="780176"/>
                      </a:lnTo>
                      <a:lnTo>
                        <a:pt x="1015068" y="1006679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cxnSp>
            <p:nvCxnSpPr>
              <p:cNvPr id="148" name="Conector de Seta Reta 166">
                <a:extLst>
                  <a:ext uri="{FF2B5EF4-FFF2-40B4-BE49-F238E27FC236}">
                    <a16:creationId xmlns:a16="http://schemas.microsoft.com/office/drawing/2014/main" id="{75F1CC01-F2F1-C71C-25B7-5964BCD00E89}"/>
                  </a:ext>
                </a:extLst>
              </p:cNvPr>
              <p:cNvCxnSpPr/>
              <p:nvPr/>
            </p:nvCxnSpPr>
            <p:spPr>
              <a:xfrm flipV="1">
                <a:off x="6534544" y="3071658"/>
                <a:ext cx="378202" cy="4874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ector de Seta Reta 167">
                <a:extLst>
                  <a:ext uri="{FF2B5EF4-FFF2-40B4-BE49-F238E27FC236}">
                    <a16:creationId xmlns:a16="http://schemas.microsoft.com/office/drawing/2014/main" id="{3DBF22AE-C462-9301-1FEF-C42CBA8A40CA}"/>
                  </a:ext>
                </a:extLst>
              </p:cNvPr>
              <p:cNvCxnSpPr/>
              <p:nvPr/>
            </p:nvCxnSpPr>
            <p:spPr>
              <a:xfrm flipV="1">
                <a:off x="7315417" y="2821982"/>
                <a:ext cx="378202" cy="4874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ector de Seta Reta 168">
                <a:extLst>
                  <a:ext uri="{FF2B5EF4-FFF2-40B4-BE49-F238E27FC236}">
                    <a16:creationId xmlns:a16="http://schemas.microsoft.com/office/drawing/2014/main" id="{F4E8655E-3973-ABED-5C93-D814CD3AED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89162" y="1823007"/>
                <a:ext cx="503889" cy="921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ector de Seta Reta 170">
                <a:extLst>
                  <a:ext uri="{FF2B5EF4-FFF2-40B4-BE49-F238E27FC236}">
                    <a16:creationId xmlns:a16="http://schemas.microsoft.com/office/drawing/2014/main" id="{EF3B2D5C-6204-40C7-CF64-381408C25A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87165" y="2544134"/>
                <a:ext cx="513322" cy="2369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FE8E4903-B8B4-3B33-50F8-DD4CCA92C8DF}"/>
                  </a:ext>
                </a:extLst>
              </p:cNvPr>
              <p:cNvSpPr txBox="1"/>
              <p:nvPr/>
            </p:nvSpPr>
            <p:spPr>
              <a:xfrm>
                <a:off x="11226186" y="4168312"/>
                <a:ext cx="562178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LID4096"/>
                </a:defPPr>
                <a:lvl1pPr lvl="0" indent="0" algn="ctr">
                  <a:defRPr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 (Body)"/>
                    <a:ea typeface="Cambria Math" panose="02040503050406030204" pitchFamily="18" charset="0"/>
                  </a:defRPr>
                </a:lvl1pPr>
                <a:lvl2pPr indent="0">
                  <a:defRPr sz="1100"/>
                </a:lvl2pPr>
                <a:lvl3pPr indent="0">
                  <a:defRPr sz="1100"/>
                </a:lvl3pPr>
                <a:lvl4pPr indent="0">
                  <a:defRPr sz="1100"/>
                </a:lvl4pPr>
                <a:lvl5pPr indent="0">
                  <a:defRPr sz="1100"/>
                </a:lvl5pPr>
                <a:lvl6pPr indent="0">
                  <a:defRPr sz="1100"/>
                </a:lvl6pPr>
                <a:lvl7pPr indent="0">
                  <a:defRPr sz="1100"/>
                </a:lvl7pPr>
                <a:lvl8pPr indent="0">
                  <a:defRPr sz="1100"/>
                </a:lvl8pPr>
                <a:lvl9pPr indent="0">
                  <a:defRPr sz="1100"/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>
                          <a:latin typeface="Cambria Math" panose="02040503050406030204" pitchFamily="18" charset="0"/>
                        </a:rPr>
                        <m:t>𝟐𝐃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9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FE8E4903-B8B4-3B33-50F8-DD4CCA92C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6186" y="4168312"/>
                <a:ext cx="562178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99A5E381-024C-E7EE-E761-56E0A3CCF425}"/>
                  </a:ext>
                </a:extLst>
              </p:cNvPr>
              <p:cNvSpPr txBox="1"/>
              <p:nvPr/>
            </p:nvSpPr>
            <p:spPr>
              <a:xfrm>
                <a:off x="11240561" y="5805989"/>
                <a:ext cx="562178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LID4096"/>
                </a:defPPr>
                <a:lvl1pPr lvl="0" indent="0" algn="ctr">
                  <a:defRPr sz="2400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 (Body)"/>
                    <a:ea typeface="Cambria Math" panose="02040503050406030204" pitchFamily="18" charset="0"/>
                  </a:defRPr>
                </a:lvl1pPr>
                <a:lvl2pPr indent="0">
                  <a:defRPr sz="1100"/>
                </a:lvl2pPr>
                <a:lvl3pPr indent="0">
                  <a:defRPr sz="1100"/>
                </a:lvl3pPr>
                <a:lvl4pPr indent="0">
                  <a:defRPr sz="1100"/>
                </a:lvl4pPr>
                <a:lvl5pPr indent="0">
                  <a:defRPr sz="1100"/>
                </a:lvl5pPr>
                <a:lvl6pPr indent="0">
                  <a:defRPr sz="1100"/>
                </a:lvl6pPr>
                <a:lvl7pPr indent="0">
                  <a:defRPr sz="1100"/>
                </a:lvl7pPr>
                <a:lvl8pPr indent="0">
                  <a:defRPr sz="1100"/>
                </a:lvl8pPr>
                <a:lvl9pPr indent="0">
                  <a:defRPr sz="1100"/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0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99A5E381-024C-E7EE-E761-56E0A3CCF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0561" y="5805989"/>
                <a:ext cx="56217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31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1C30E08-71F9-1C57-B335-AE8609E2E5FA}"/>
                  </a:ext>
                </a:extLst>
              </p:cNvPr>
              <p:cNvSpPr txBox="1"/>
              <p:nvPr/>
            </p:nvSpPr>
            <p:spPr>
              <a:xfrm>
                <a:off x="10258697" y="752660"/>
                <a:ext cx="161420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0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𝐧𝐮𝐦</m:t>
                      </m:r>
                      <m:r>
                        <a:rPr lang="pt-BR" sz="20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pt-BR" sz="2000" b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𝐫𝐢𝐜𝐨</m:t>
                      </m:r>
                    </m:oMath>
                  </m:oMathPara>
                </a14:m>
                <a:endParaRPr lang="pt-BR" sz="2000" b="1" dirty="0">
                  <a:solidFill>
                    <a:srgbClr val="0000FF"/>
                  </a:solidFill>
                </a:endParaRPr>
              </a:p>
              <a:p>
                <a:pPr lvl="0">
                  <a:defRPr/>
                </a:pPr>
                <a:r>
                  <a:rPr lang="en-GB" sz="2000" b="1" dirty="0">
                    <a:solidFill>
                      <a:srgbClr val="0000FF"/>
                    </a:solidFill>
                  </a:rPr>
                  <a:t>infinitesimal</a:t>
                </a:r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1C30E08-71F9-1C57-B335-AE8609E2E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697" y="752660"/>
                <a:ext cx="1614209" cy="707886"/>
              </a:xfrm>
              <a:prstGeom prst="rect">
                <a:avLst/>
              </a:prstGeom>
              <a:blipFill>
                <a:blip r:embed="rId30"/>
                <a:stretch>
                  <a:fillRect l="-4151" b="-136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91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8066-97B5-71AA-F8AF-A16FEFF58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EBA8666F-DACB-D6A4-06A5-8BCF1C9830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1C697-21E1-FF29-DF9F-874264E011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12" t="6836" r="2004" b="5816"/>
          <a:stretch>
            <a:fillRect/>
          </a:stretch>
        </p:blipFill>
        <p:spPr>
          <a:xfrm>
            <a:off x="380618" y="412178"/>
            <a:ext cx="4163828" cy="14570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F7AA29-0BE6-0698-7458-D62C93D73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25" t="31619" r="67852" b="53270"/>
          <a:stretch>
            <a:fillRect/>
          </a:stretch>
        </p:blipFill>
        <p:spPr>
          <a:xfrm>
            <a:off x="4869650" y="2061959"/>
            <a:ext cx="2738940" cy="187779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DC37B8-F704-E22C-1D8A-4A6F6FC561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114"/>
          <a:stretch>
            <a:fillRect/>
          </a:stretch>
        </p:blipFill>
        <p:spPr>
          <a:xfrm>
            <a:off x="380616" y="2061959"/>
            <a:ext cx="4163829" cy="187779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10ACC8-839E-77DE-8CFA-AE2B14F734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597"/>
          <a:stretch>
            <a:fillRect/>
          </a:stretch>
        </p:blipFill>
        <p:spPr>
          <a:xfrm>
            <a:off x="380616" y="4052459"/>
            <a:ext cx="4163829" cy="224081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E33A8A-8920-DDA9-51C6-BE11A72B8C84}"/>
              </a:ext>
            </a:extLst>
          </p:cNvPr>
          <p:cNvGrpSpPr/>
          <p:nvPr/>
        </p:nvGrpSpPr>
        <p:grpSpPr>
          <a:xfrm>
            <a:off x="8109241" y="2313507"/>
            <a:ext cx="3516703" cy="1626248"/>
            <a:chOff x="7530420" y="250253"/>
            <a:chExt cx="4211060" cy="18049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733DF04-6607-2E39-403C-17A73F773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7432"/>
            <a:stretch>
              <a:fillRect/>
            </a:stretch>
          </p:blipFill>
          <p:spPr>
            <a:xfrm>
              <a:off x="7530420" y="250253"/>
              <a:ext cx="4211060" cy="18049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2800276-84F7-8F90-B60F-3B7D30A4B1CC}"/>
                </a:ext>
              </a:extLst>
            </p:cNvPr>
            <p:cNvSpPr/>
            <p:nvPr/>
          </p:nvSpPr>
          <p:spPr>
            <a:xfrm>
              <a:off x="8781358" y="309433"/>
              <a:ext cx="2130246" cy="4225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1ACEC6-AB24-CFCA-457B-836701420B97}"/>
                  </a:ext>
                </a:extLst>
              </p:cNvPr>
              <p:cNvSpPr txBox="1"/>
              <p:nvPr/>
            </p:nvSpPr>
            <p:spPr>
              <a:xfrm>
                <a:off x="4881372" y="1108389"/>
                <a:ext cx="2429255" cy="760849"/>
              </a:xfrm>
              <a:prstGeom prst="rect">
                <a:avLst/>
              </a:prstGeom>
              <a:noFill/>
              <a:ln w="28575">
                <a:solidFill>
                  <a:srgbClr val="0000FF"/>
                </a:solidFill>
              </a:ln>
            </p:spPr>
            <p:txBody>
              <a:bodyPr wrap="none" lIns="91440" tIns="91440" rIns="9144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pt-BR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LID4096" sz="20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1ACEC6-AB24-CFCA-457B-836701420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372" y="1108389"/>
                <a:ext cx="2429255" cy="7608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1A142C-7548-C361-5FA8-B486D74B34DE}"/>
              </a:ext>
            </a:extLst>
          </p:cNvPr>
          <p:cNvSpPr txBox="1"/>
          <p:nvPr/>
        </p:nvSpPr>
        <p:spPr>
          <a:xfrm>
            <a:off x="4869650" y="546541"/>
            <a:ext cx="620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noProof="0" dirty="0">
                <a:solidFill>
                  <a:srgbClr val="0000FF"/>
                </a:solidFill>
                <a:latin typeface="Horley Old Style MT"/>
              </a:rPr>
              <a:t>2D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99C002D-3ECF-D9D4-4CB7-9C3F6749A855}"/>
              </a:ext>
            </a:extLst>
          </p:cNvPr>
          <p:cNvSpPr txBox="1"/>
          <p:nvPr/>
        </p:nvSpPr>
        <p:spPr>
          <a:xfrm>
            <a:off x="692486" y="6522882"/>
            <a:ext cx="11502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1200" b="1">
                <a:solidFill>
                  <a:schemeClr val="accent2"/>
                </a:solidFill>
              </a:defRPr>
            </a:lvl1pPr>
          </a:lstStyle>
          <a:p>
            <a:r>
              <a:rPr lang="LID4096" sz="1600" dirty="0"/>
              <a:t>https://betami2022.wixsite.com/betami/home-2/t01-spatial-variances/02-inversion/</a:t>
            </a:r>
            <a:r>
              <a:rPr lang="LID4096" sz="1600" dirty="0">
                <a:solidFill>
                  <a:schemeClr val="tx1"/>
                </a:solidFill>
              </a:rPr>
              <a:t>03-iteractive-solution</a:t>
            </a:r>
          </a:p>
        </p:txBody>
      </p:sp>
      <p:pic>
        <p:nvPicPr>
          <p:cNvPr id="104" name="Picture 2" descr="Excel - GET – Engenharia de Produção">
            <a:hlinkClick r:id="rId7" action="ppaction://hlinkfile"/>
            <a:extLst>
              <a:ext uri="{FF2B5EF4-FFF2-40B4-BE49-F238E27FC236}">
                <a16:creationId xmlns:a16="http://schemas.microsoft.com/office/drawing/2014/main" id="{5486B8BA-5E94-5BC3-83AF-F8AB3466A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28" y="6445625"/>
            <a:ext cx="670916" cy="37647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057FFD9D-0865-4400-2781-954BE27B58C3}"/>
              </a:ext>
            </a:extLst>
          </p:cNvPr>
          <p:cNvSpPr txBox="1"/>
          <p:nvPr/>
        </p:nvSpPr>
        <p:spPr>
          <a:xfrm>
            <a:off x="1071287" y="6505835"/>
            <a:ext cx="755633" cy="286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b" anchorCtr="0">
            <a:noAutofit/>
          </a:bodyPr>
          <a:lstStyle/>
          <a:p>
            <a:r>
              <a:rPr lang="LID4096" sz="400" dirty="0"/>
              <a:t>E:\15_REPOS\a___________________\10_AM_FEG\Plano_V02_iii_AM_FEG\d.xls</a:t>
            </a:r>
          </a:p>
        </p:txBody>
      </p:sp>
      <p:pic>
        <p:nvPicPr>
          <p:cNvPr id="161" name="Picture 160" descr="Slide #1 image">
            <a:extLst>
              <a:ext uri="{FF2B5EF4-FFF2-40B4-BE49-F238E27FC236}">
                <a16:creationId xmlns:a16="http://schemas.microsoft.com/office/drawing/2014/main" id="{299DED96-7F04-C42B-DF81-8E80096AD7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25" t="39613" r="23086" b="48741"/>
          <a:stretch/>
        </p:blipFill>
        <p:spPr bwMode="auto">
          <a:xfrm>
            <a:off x="4833913" y="4070643"/>
            <a:ext cx="2774677" cy="224081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FE72EF-018D-0D1A-5CB5-FCF9A81F3257}"/>
              </a:ext>
            </a:extLst>
          </p:cNvPr>
          <p:cNvSpPr txBox="1"/>
          <p:nvPr/>
        </p:nvSpPr>
        <p:spPr>
          <a:xfrm>
            <a:off x="5744956" y="5822552"/>
            <a:ext cx="1865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noProof="0" dirty="0">
                <a:solidFill>
                  <a:srgbClr val="0000FF"/>
                </a:solidFill>
                <a:latin typeface="Horley Old Style MT"/>
              </a:rPr>
              <a:t>MODFLOW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8A4316-C2D6-28FE-A2EB-EA780CC71EEB}"/>
              </a:ext>
            </a:extLst>
          </p:cNvPr>
          <p:cNvSpPr/>
          <p:nvPr/>
        </p:nvSpPr>
        <p:spPr>
          <a:xfrm>
            <a:off x="7506789" y="456443"/>
            <a:ext cx="4119155" cy="1055608"/>
          </a:xfrm>
          <a:prstGeom prst="round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0000FF"/>
                </a:solidFill>
                <a:latin typeface="Horley Old Style MT"/>
              </a:rPr>
              <a:t>Método de </a:t>
            </a:r>
          </a:p>
          <a:p>
            <a:pPr algn="ctr"/>
            <a:r>
              <a:rPr lang="pt-BR" sz="2800" b="1" dirty="0">
                <a:solidFill>
                  <a:srgbClr val="0000FF"/>
                </a:solidFill>
                <a:latin typeface="Horley Old Style MT"/>
              </a:rPr>
              <a:t>Diferenças finitas (FDM)</a:t>
            </a:r>
          </a:p>
        </p:txBody>
      </p:sp>
    </p:spTree>
    <p:extLst>
      <p:ext uri="{BB962C8B-B14F-4D97-AF65-F5344CB8AC3E}">
        <p14:creationId xmlns:p14="http://schemas.microsoft.com/office/powerpoint/2010/main" val="151692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35695-EEDB-6E09-CE7A-FDB3804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BBEDAF9-143E-1135-3CC3-D160FED1A5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724E612E-656D-73B6-30CA-32FD9E7E971E}"/>
                  </a:ext>
                </a:extLst>
              </p:cNvPr>
              <p:cNvSpPr txBox="1"/>
              <p:nvPr/>
            </p:nvSpPr>
            <p:spPr>
              <a:xfrm>
                <a:off x="963989" y="674907"/>
                <a:ext cx="5208415" cy="943385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txBody>
              <a:bodyPr wrap="none" anchor="t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pc="15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LID4096" sz="3200" b="1" spc="15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pt-BR" sz="3200" b="1" i="0" spc="15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sz="3200" b="1" i="1" spc="15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𝛒</m:t>
                        </m:r>
                        <m:r>
                          <a:rPr lang="pt-BR" sz="3200" b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m:rPr>
                            <m:nor/>
                          </m:rPr>
                          <a:rPr lang="pt-BR" sz="3200" b="1" i="0" spc="15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LID4096" sz="3200" b="1" spc="15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LID4096" sz="3200" b="1" spc="15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nor/>
                      </m:rPr>
                      <a:rPr lang="pt-BR" sz="3200" b="1" i="0" spc="15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m:rPr>
                        <m:nor/>
                      </m:rPr>
                      <a:rPr lang="pt-BR" sz="3200" b="1" i="0" spc="15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pt-BR" sz="3200" b="1" i="0" spc="15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200" b="1" i="1" spc="15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200" b="1" i="1" spc="15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LID4096" sz="3200" b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pt-BR" sz="3200" b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LID4096" sz="3200" b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1" i="1" spc="15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pc="15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pt-BR" sz="3200" b="1" i="1" spc="15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LID4096" sz="3200" b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pt-BR" sz="3200" b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pt-BR" sz="3200" b="1" i="1" spc="15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pt-BR" sz="3200" b="1" i="1" spc="150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pt-BR" sz="3200" b="1" spc="15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nor/>
                      </m:rPr>
                      <a:rPr lang="LID4096" sz="3200" b="1" spc="15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3200" b="1" i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200" b="1" i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t-BR" sz="3200" b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sub>
                    </m:sSub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3200" b="1" spc="15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LID4096" sz="3200" b="1" spc="15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defRPr/>
                </a:pPr>
                <a:endParaRPr lang="en-GB" sz="2000" b="1" spc="15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724E612E-656D-73B6-30CA-32FD9E7E9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989" y="674907"/>
                <a:ext cx="5208415" cy="943385"/>
              </a:xfrm>
              <a:prstGeom prst="rect">
                <a:avLst/>
              </a:prstGeom>
              <a:blipFill>
                <a:blip r:embed="rId3"/>
                <a:stretch>
                  <a:fillRect l="-11813" r="-16491" b="-3896"/>
                </a:stretch>
              </a:blipFill>
              <a:ln w="3175">
                <a:noFill/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FBD3882-79C9-3AE9-D2DE-7DF6A0D8D096}"/>
              </a:ext>
            </a:extLst>
          </p:cNvPr>
          <p:cNvSpPr txBox="1"/>
          <p:nvPr/>
        </p:nvSpPr>
        <p:spPr>
          <a:xfrm>
            <a:off x="1748975" y="587223"/>
            <a:ext cx="5387417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dirty="0">
                <a:solidFill>
                  <a:srgbClr val="0000FF"/>
                </a:solidFill>
              </a:rPr>
              <a:t>convecção                 difusão                       fontes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FE7A0B-F1BF-7883-5537-4DE621170141}"/>
              </a:ext>
            </a:extLst>
          </p:cNvPr>
          <p:cNvSpPr txBox="1"/>
          <p:nvPr/>
        </p:nvSpPr>
        <p:spPr>
          <a:xfrm>
            <a:off x="1692811" y="1440337"/>
            <a:ext cx="347382" cy="143873"/>
          </a:xfrm>
          <a:prstGeom prst="rect">
            <a:avLst/>
          </a:prstGeom>
          <a:solidFill>
            <a:srgbClr val="FFFF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endParaRPr lang="pt-B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9F8B48-0662-8FC0-CBAE-93BF8C575076}"/>
              </a:ext>
            </a:extLst>
          </p:cNvPr>
          <p:cNvSpPr txBox="1"/>
          <p:nvPr/>
        </p:nvSpPr>
        <p:spPr>
          <a:xfrm>
            <a:off x="3462810" y="1453106"/>
            <a:ext cx="347382" cy="143873"/>
          </a:xfrm>
          <a:prstGeom prst="rect">
            <a:avLst/>
          </a:prstGeom>
          <a:solidFill>
            <a:srgbClr val="FFFF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endParaRPr lang="pt-BR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FB2319-B75A-5856-A809-2C4D634155F0}"/>
              </a:ext>
            </a:extLst>
          </p:cNvPr>
          <p:cNvGrpSpPr>
            <a:grpSpLocks noChangeAspect="1"/>
          </p:cNvGrpSpPr>
          <p:nvPr/>
        </p:nvGrpSpPr>
        <p:grpSpPr>
          <a:xfrm>
            <a:off x="1692811" y="1705134"/>
            <a:ext cx="4317953" cy="2350224"/>
            <a:chOff x="367258" y="2485081"/>
            <a:chExt cx="3403751" cy="1852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5D494488-E547-D0E7-97B7-835B1494086A}"/>
                    </a:ext>
                  </a:extLst>
                </p:cNvPr>
                <p:cNvSpPr txBox="1"/>
                <p:nvPr/>
              </p:nvSpPr>
              <p:spPr>
                <a:xfrm>
                  <a:off x="367258" y="3325650"/>
                  <a:ext cx="983405" cy="602322"/>
                </a:xfrm>
                <a:prstGeom prst="rect">
                  <a:avLst/>
                </a:prstGeom>
                <a:solidFill>
                  <a:srgbClr val="FFFF00"/>
                </a:solidFill>
                <a:ln w="3175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lIns="0" tIns="45720" rIns="0" bIns="0" anchor="ctr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ar-AE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sSup>
                              <m:sSupPr>
                                <m:ctrlPr>
                                  <a:rPr lang="ar-AE" sz="3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𝛁</m:t>
                                </m:r>
                              </m:e>
                              <m:sup>
                                <m:r>
                                  <a:rPr lang="pt-BR" sz="3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bar>
                        <m:r>
                          <a:rPr lang="pt-BR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bar>
                          <m:barPr>
                            <m:ctrlPr>
                              <a:rPr lang="ar-AE" sz="30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30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𝐡</m:t>
                            </m:r>
                          </m:e>
                        </m:bar>
                      </m:oMath>
                    </m:oMathPara>
                  </a14:m>
                  <a:endParaRPr lang="en-GB" sz="3000" b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5D494488-E547-D0E7-97B7-835B149408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58" y="3325650"/>
                  <a:ext cx="983405" cy="60232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175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7E74C647-D726-5FBB-AB34-D384D2ED55D0}"/>
                    </a:ext>
                  </a:extLst>
                </p:cNvPr>
                <p:cNvSpPr txBox="1"/>
                <p:nvPr/>
              </p:nvSpPr>
              <p:spPr>
                <a:xfrm>
                  <a:off x="367258" y="2485081"/>
                  <a:ext cx="3403751" cy="731520"/>
                </a:xfrm>
                <a:prstGeom prst="rect">
                  <a:avLst/>
                </a:prstGeom>
                <a:solidFill>
                  <a:srgbClr val="FFFF00"/>
                </a:solidFill>
                <a:ln w="3175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lIns="182880" tIns="45720" rIns="91440" bIns="0" anchor="ctr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ar-AE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ar-AE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𝛛</m:t>
                                </m:r>
                              </m:e>
                              <m:sup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pt-BR" sz="2400" b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ar-AE" sz="24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sSup>
                              <m:sSupPr>
                                <m:ctrlPr>
                                  <a:rPr lang="ar-AE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p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  <m:r>
                          <a:rPr lang="pt-BR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ar-AE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ar-AE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𝛛</m:t>
                                </m:r>
                              </m:e>
                              <m:sup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pt-BR" sz="2400" b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ar-AE" sz="24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sSup>
                              <m:sSupPr>
                                <m:ctrlPr>
                                  <a:rPr lang="ar-AE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p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  <m:r>
                          <a:rPr lang="pt-BR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ar-AE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ar-AE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𝛛</m:t>
                                </m:r>
                              </m:e>
                              <m:sup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pt-BR" sz="2400" b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ar-AE" sz="24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sSup>
                              <m:sSupPr>
                                <m:ctrlPr>
                                  <a:rPr lang="ar-AE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  <m:sup>
                                <m:r>
                                  <a:rPr lang="ar-AE" sz="2400" b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  <m:r>
                          <a:rPr lang="pt-BR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ar-AE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𝐐</m:t>
                        </m:r>
                        <m:r>
                          <a:rPr lang="pt-BR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𝐏𝐀</m:t>
                        </m:r>
                      </m:oMath>
                    </m:oMathPara>
                  </a14:m>
                  <a:endParaRPr lang="en-GB" sz="2400" b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7E74C647-D726-5FBB-AB34-D384D2ED5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58" y="2485081"/>
                  <a:ext cx="3403751" cy="7315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175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9A22B64-B6F8-B690-5685-61A4475B8F15}"/>
                    </a:ext>
                  </a:extLst>
                </p:cNvPr>
                <p:cNvSpPr txBox="1"/>
                <p:nvPr/>
              </p:nvSpPr>
              <p:spPr>
                <a:xfrm>
                  <a:off x="2980486" y="3415537"/>
                  <a:ext cx="743004" cy="9221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l-GR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</m:num>
                          <m:den>
                            <m:r>
                              <a:rPr lang="pt-BR" sz="2400" b="1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pt-BR" sz="2400" b="1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den>
                        </m:f>
                        <m:d>
                          <m:dPr>
                            <m:ctrlPr>
                              <a:rPr lang="pt-B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𝐤</m:t>
                            </m:r>
                            <m:f>
                              <m:fPr>
                                <m:ctrlPr>
                                  <a:rPr lang="el-GR" sz="24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400" b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𝛛</m:t>
                                </m:r>
                                <m:r>
                                  <a:rPr lang="pt-BR" sz="2400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𝐡</m:t>
                                </m:r>
                              </m:num>
                              <m:den>
                                <m:r>
                                  <a:rPr lang="pt-BR" sz="2400" b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𝛛</m:t>
                                </m:r>
                                <m:r>
                                  <a:rPr lang="pt-BR" sz="2400" b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LID4096" sz="24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9A22B64-B6F8-B690-5685-61A4475B8F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0486" y="3415537"/>
                  <a:ext cx="743004" cy="922176"/>
                </a:xfrm>
                <a:prstGeom prst="rect">
                  <a:avLst/>
                </a:prstGeom>
                <a:blipFill>
                  <a:blip r:embed="rId6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DE8357A-4BAF-7F03-DF09-15D79A3D5E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285" y="3943433"/>
            <a:ext cx="6125481" cy="258650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BD637B8D-31B4-4E5A-0E10-42EC23B787DA}"/>
              </a:ext>
            </a:extLst>
          </p:cNvPr>
          <p:cNvGrpSpPr>
            <a:grpSpLocks noChangeAspect="1"/>
          </p:cNvGrpSpPr>
          <p:nvPr/>
        </p:nvGrpSpPr>
        <p:grpSpPr>
          <a:xfrm>
            <a:off x="6743700" y="4809153"/>
            <a:ext cx="4800600" cy="1718799"/>
            <a:chOff x="6125203" y="4244225"/>
            <a:chExt cx="5650512" cy="20285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BB82046-AA35-15F0-DC43-5C8B270C2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25203" y="5359302"/>
              <a:ext cx="5650512" cy="9134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AB34E4C-7FC9-61DC-2E27-6531FCE84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26275" y="4244225"/>
              <a:ext cx="5649440" cy="10282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1" name="Grupo 10">
            <a:extLst>
              <a:ext uri="{FF2B5EF4-FFF2-40B4-BE49-F238E27FC236}">
                <a16:creationId xmlns:a16="http://schemas.microsoft.com/office/drawing/2014/main" id="{5F903ED8-DE08-CCC2-9652-E8C610414E30}"/>
              </a:ext>
            </a:extLst>
          </p:cNvPr>
          <p:cNvGrpSpPr>
            <a:grpSpLocks noChangeAspect="1"/>
          </p:cNvGrpSpPr>
          <p:nvPr/>
        </p:nvGrpSpPr>
        <p:grpSpPr>
          <a:xfrm>
            <a:off x="9407398" y="3372593"/>
            <a:ext cx="2034501" cy="1243506"/>
            <a:chOff x="7551799" y="3880749"/>
            <a:chExt cx="1792685" cy="1055366"/>
          </a:xfrm>
        </p:grpSpPr>
        <p:sp>
          <p:nvSpPr>
            <p:cNvPr id="22" name="Seta para a direita 12">
              <a:extLst>
                <a:ext uri="{FF2B5EF4-FFF2-40B4-BE49-F238E27FC236}">
                  <a16:creationId xmlns:a16="http://schemas.microsoft.com/office/drawing/2014/main" id="{76DD8210-D0D6-2D2B-2A93-9393F7812F37}"/>
                </a:ext>
              </a:extLst>
            </p:cNvPr>
            <p:cNvSpPr/>
            <p:nvPr/>
          </p:nvSpPr>
          <p:spPr>
            <a:xfrm rot="2573740">
              <a:off x="7603764" y="4134921"/>
              <a:ext cx="288000" cy="108000"/>
            </a:xfrm>
            <a:prstGeom prst="rightArrow">
              <a:avLst/>
            </a:prstGeom>
            <a:solidFill>
              <a:schemeClr val="accent2"/>
            </a:solidFill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23" name="Grupo 13">
              <a:extLst>
                <a:ext uri="{FF2B5EF4-FFF2-40B4-BE49-F238E27FC236}">
                  <a16:creationId xmlns:a16="http://schemas.microsoft.com/office/drawing/2014/main" id="{77DE158E-F01E-1C07-880A-4F32A5C0DAFC}"/>
                </a:ext>
              </a:extLst>
            </p:cNvPr>
            <p:cNvGrpSpPr/>
            <p:nvPr/>
          </p:nvGrpSpPr>
          <p:grpSpPr>
            <a:xfrm>
              <a:off x="7551799" y="3880749"/>
              <a:ext cx="1792685" cy="1055366"/>
              <a:chOff x="6308874" y="4003609"/>
              <a:chExt cx="1792685" cy="1055366"/>
            </a:xfrm>
          </p:grpSpPr>
          <p:sp>
            <p:nvSpPr>
              <p:cNvPr id="25" name="Seta para a direita 15">
                <a:extLst>
                  <a:ext uri="{FF2B5EF4-FFF2-40B4-BE49-F238E27FC236}">
                    <a16:creationId xmlns:a16="http://schemas.microsoft.com/office/drawing/2014/main" id="{526CF069-54C3-F025-1A17-678CFFEEBF30}"/>
                  </a:ext>
                </a:extLst>
              </p:cNvPr>
              <p:cNvSpPr/>
              <p:nvPr/>
            </p:nvSpPr>
            <p:spPr>
              <a:xfrm rot="16166615">
                <a:off x="6618727" y="4743355"/>
                <a:ext cx="288000" cy="108000"/>
              </a:xfrm>
              <a:prstGeom prst="rightArrow">
                <a:avLst/>
              </a:prstGeom>
              <a:solidFill>
                <a:schemeClr val="accent2"/>
              </a:solidFill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grpSp>
            <p:nvGrpSpPr>
              <p:cNvPr id="26" name="Grupo 16">
                <a:extLst>
                  <a:ext uri="{FF2B5EF4-FFF2-40B4-BE49-F238E27FC236}">
                    <a16:creationId xmlns:a16="http://schemas.microsoft.com/office/drawing/2014/main" id="{5B5F5DA5-02DD-D5A5-51C6-DC9F4C0BA591}"/>
                  </a:ext>
                </a:extLst>
              </p:cNvPr>
              <p:cNvGrpSpPr/>
              <p:nvPr/>
            </p:nvGrpSpPr>
            <p:grpSpPr>
              <a:xfrm>
                <a:off x="6308874" y="4003609"/>
                <a:ext cx="1792685" cy="1055366"/>
                <a:chOff x="5618130" y="5251772"/>
                <a:chExt cx="1792685" cy="1055366"/>
              </a:xfrm>
            </p:grpSpPr>
            <p:grpSp>
              <p:nvGrpSpPr>
                <p:cNvPr id="28" name="Grupo 18">
                  <a:extLst>
                    <a:ext uri="{FF2B5EF4-FFF2-40B4-BE49-F238E27FC236}">
                      <a16:creationId xmlns:a16="http://schemas.microsoft.com/office/drawing/2014/main" id="{BEE8D5F0-580C-D252-3383-A5E7496BF97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416287" y="5251772"/>
                  <a:ext cx="994528" cy="1055366"/>
                  <a:chOff x="7015665" y="3769107"/>
                  <a:chExt cx="2095099" cy="2554882"/>
                </a:xfr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2" name="Cubo 854">
                    <a:extLst>
                      <a:ext uri="{FF2B5EF4-FFF2-40B4-BE49-F238E27FC236}">
                        <a16:creationId xmlns:a16="http://schemas.microsoft.com/office/drawing/2014/main" id="{48C64F71-E1EB-AABA-609D-A693B3ED51D2}"/>
                      </a:ext>
                    </a:extLst>
                  </p:cNvPr>
                  <p:cNvSpPr/>
                  <p:nvPr/>
                </p:nvSpPr>
                <p:spPr>
                  <a:xfrm flipH="1">
                    <a:off x="7285076" y="5243990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33" name="Cubo 855">
                    <a:extLst>
                      <a:ext uri="{FF2B5EF4-FFF2-40B4-BE49-F238E27FC236}">
                        <a16:creationId xmlns:a16="http://schemas.microsoft.com/office/drawing/2014/main" id="{9102B15E-00DA-314E-EFC6-4897B1B1B5A8}"/>
                      </a:ext>
                    </a:extLst>
                  </p:cNvPr>
                  <p:cNvSpPr/>
                  <p:nvPr/>
                </p:nvSpPr>
                <p:spPr>
                  <a:xfrm flipH="1">
                    <a:off x="7015665" y="4123701"/>
                    <a:ext cx="1080000" cy="1080000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34" name="Cubo 856">
                    <a:extLst>
                      <a:ext uri="{FF2B5EF4-FFF2-40B4-BE49-F238E27FC236}">
                        <a16:creationId xmlns:a16="http://schemas.microsoft.com/office/drawing/2014/main" id="{C778A486-E2A2-802E-ABB5-83B776293DC0}"/>
                      </a:ext>
                    </a:extLst>
                  </p:cNvPr>
                  <p:cNvSpPr/>
                  <p:nvPr/>
                </p:nvSpPr>
                <p:spPr>
                  <a:xfrm flipH="1">
                    <a:off x="8030765" y="4498395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35" name="Cubo 857">
                    <a:extLst>
                      <a:ext uri="{FF2B5EF4-FFF2-40B4-BE49-F238E27FC236}">
                        <a16:creationId xmlns:a16="http://schemas.microsoft.com/office/drawing/2014/main" id="{83ADD491-2DE9-7A7F-EB84-22BAD64E80B9}"/>
                      </a:ext>
                    </a:extLst>
                  </p:cNvPr>
                  <p:cNvSpPr/>
                  <p:nvPr/>
                </p:nvSpPr>
                <p:spPr>
                  <a:xfrm flipH="1">
                    <a:off x="7285461" y="4504733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36" name="Cubo 858">
                    <a:extLst>
                      <a:ext uri="{FF2B5EF4-FFF2-40B4-BE49-F238E27FC236}">
                        <a16:creationId xmlns:a16="http://schemas.microsoft.com/office/drawing/2014/main" id="{EBF42647-021A-2166-02B2-CD8311D650BF}"/>
                      </a:ext>
                    </a:extLst>
                  </p:cNvPr>
                  <p:cNvSpPr/>
                  <p:nvPr/>
                </p:nvSpPr>
                <p:spPr>
                  <a:xfrm flipH="1">
                    <a:off x="7288823" y="3769107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37" name="Cubo 859">
                    <a:extLst>
                      <a:ext uri="{FF2B5EF4-FFF2-40B4-BE49-F238E27FC236}">
                        <a16:creationId xmlns:a16="http://schemas.microsoft.com/office/drawing/2014/main" id="{5BD3CCCC-E0D3-25CD-8354-31C542AB3D0D}"/>
                      </a:ext>
                    </a:extLst>
                  </p:cNvPr>
                  <p:cNvSpPr/>
                  <p:nvPr/>
                </p:nvSpPr>
                <p:spPr>
                  <a:xfrm flipH="1">
                    <a:off x="7609327" y="4854685"/>
                    <a:ext cx="1080000" cy="1080002"/>
                  </a:xfrm>
                  <a:prstGeom prst="cube">
                    <a:avLst>
                      <a:gd name="adj" fmla="val 32078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29" name="Seta para a direita 19">
                  <a:extLst>
                    <a:ext uri="{FF2B5EF4-FFF2-40B4-BE49-F238E27FC236}">
                      <a16:creationId xmlns:a16="http://schemas.microsoft.com/office/drawing/2014/main" id="{45670494-CEFC-8B1D-55E6-1101B55A6BB5}"/>
                    </a:ext>
                  </a:extLst>
                </p:cNvPr>
                <p:cNvSpPr/>
                <p:nvPr/>
              </p:nvSpPr>
              <p:spPr>
                <a:xfrm>
                  <a:off x="6062205" y="5705476"/>
                  <a:ext cx="576000" cy="180000"/>
                </a:xfrm>
                <a:prstGeom prst="rightArrow">
                  <a:avLst/>
                </a:prstGeom>
                <a:solidFill>
                  <a:schemeClr val="accent2"/>
                </a:solidFill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30" name="Cubo 852">
                  <a:extLst>
                    <a:ext uri="{FF2B5EF4-FFF2-40B4-BE49-F238E27FC236}">
                      <a16:creationId xmlns:a16="http://schemas.microsoft.com/office/drawing/2014/main" id="{7AABC20F-EA10-C8F8-3E1E-A7CF573D3981}"/>
                    </a:ext>
                  </a:extLst>
                </p:cNvPr>
                <p:cNvSpPr/>
                <p:nvPr/>
              </p:nvSpPr>
              <p:spPr>
                <a:xfrm flipH="1">
                  <a:off x="5811644" y="5563045"/>
                  <a:ext cx="512668" cy="446124"/>
                </a:xfrm>
                <a:prstGeom prst="cube">
                  <a:avLst>
                    <a:gd name="adj" fmla="val 32078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31" name="Seta para a direita 24">
                  <a:extLst>
                    <a:ext uri="{FF2B5EF4-FFF2-40B4-BE49-F238E27FC236}">
                      <a16:creationId xmlns:a16="http://schemas.microsoft.com/office/drawing/2014/main" id="{6E8482ED-D41A-EC89-4362-EAB8AAFD6B2F}"/>
                    </a:ext>
                  </a:extLst>
                </p:cNvPr>
                <p:cNvSpPr/>
                <p:nvPr/>
              </p:nvSpPr>
              <p:spPr>
                <a:xfrm>
                  <a:off x="5618130" y="5734051"/>
                  <a:ext cx="288000" cy="108000"/>
                </a:xfrm>
                <a:prstGeom prst="rightArrow">
                  <a:avLst/>
                </a:prstGeom>
                <a:solidFill>
                  <a:schemeClr val="accent2"/>
                </a:solidFill>
                <a:effectLst>
                  <a:outerShdw blurRad="50800" dist="1397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27" name="Seta para a direita 17">
                <a:extLst>
                  <a:ext uri="{FF2B5EF4-FFF2-40B4-BE49-F238E27FC236}">
                    <a16:creationId xmlns:a16="http://schemas.microsoft.com/office/drawing/2014/main" id="{022ECC2F-83AB-9F63-7909-79E31EEFA207}"/>
                  </a:ext>
                </a:extLst>
              </p:cNvPr>
              <p:cNvSpPr/>
              <p:nvPr/>
            </p:nvSpPr>
            <p:spPr>
              <a:xfrm rot="5400000">
                <a:off x="6612548" y="4194806"/>
                <a:ext cx="288000" cy="108000"/>
              </a:xfrm>
              <a:prstGeom prst="rightArrow">
                <a:avLst/>
              </a:prstGeom>
              <a:solidFill>
                <a:schemeClr val="accent2"/>
              </a:solidFill>
              <a:effectLst>
                <a:outerShdw blurRad="50800" dist="1397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24" name="Seta para a direita 14">
              <a:extLst>
                <a:ext uri="{FF2B5EF4-FFF2-40B4-BE49-F238E27FC236}">
                  <a16:creationId xmlns:a16="http://schemas.microsoft.com/office/drawing/2014/main" id="{70A0CBFA-013C-7F8D-0C48-2B091FE8B09D}"/>
                </a:ext>
              </a:extLst>
            </p:cNvPr>
            <p:cNvSpPr/>
            <p:nvPr/>
          </p:nvSpPr>
          <p:spPr>
            <a:xfrm rot="13276495">
              <a:off x="8046776" y="4538294"/>
              <a:ext cx="288000" cy="108000"/>
            </a:xfrm>
            <a:prstGeom prst="rightArrow">
              <a:avLst/>
            </a:prstGeom>
            <a:solidFill>
              <a:schemeClr val="accent2"/>
            </a:solidFill>
            <a:effectLst>
              <a:outerShdw blurRad="50800" dist="1397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2DF95AE5-09F4-EA64-7838-B4085216765E}"/>
              </a:ext>
            </a:extLst>
          </p:cNvPr>
          <p:cNvSpPr/>
          <p:nvPr/>
        </p:nvSpPr>
        <p:spPr>
          <a:xfrm>
            <a:off x="2447109" y="5116558"/>
            <a:ext cx="1746272" cy="836023"/>
          </a:xfrm>
          <a:prstGeom prst="rect">
            <a:avLst/>
          </a:prstGeom>
          <a:noFill/>
          <a:ln w="38100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C0E81E-84C7-D343-3554-ACF685756635}"/>
              </a:ext>
            </a:extLst>
          </p:cNvPr>
          <p:cNvSpPr txBox="1"/>
          <p:nvPr/>
        </p:nvSpPr>
        <p:spPr>
          <a:xfrm>
            <a:off x="714799" y="4712329"/>
            <a:ext cx="299203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2400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48823E-53CB-EC89-A794-067408B31F4A}"/>
              </a:ext>
            </a:extLst>
          </p:cNvPr>
          <p:cNvSpPr txBox="1"/>
          <p:nvPr/>
        </p:nvSpPr>
        <p:spPr>
          <a:xfrm>
            <a:off x="5687747" y="6016775"/>
            <a:ext cx="222514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2400" dirty="0">
                <a:solidFill>
                  <a:srgbClr val="0000FF"/>
                </a:solidFill>
              </a:rPr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1C0F00-1F56-0A36-80EA-275472279093}"/>
              </a:ext>
            </a:extLst>
          </p:cNvPr>
          <p:cNvSpPr txBox="1"/>
          <p:nvPr/>
        </p:nvSpPr>
        <p:spPr>
          <a:xfrm>
            <a:off x="3949435" y="4707566"/>
            <a:ext cx="222514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2400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50880B-90AE-8127-B7F6-82EA0EBD70D6}"/>
              </a:ext>
            </a:extLst>
          </p:cNvPr>
          <p:cNvSpPr txBox="1"/>
          <p:nvPr/>
        </p:nvSpPr>
        <p:spPr>
          <a:xfrm>
            <a:off x="3994150" y="5191124"/>
            <a:ext cx="157160" cy="229649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2400" dirty="0">
                <a:solidFill>
                  <a:srgbClr val="0000FF"/>
                </a:solidFill>
              </a:rPr>
              <a:t>F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677D9C-B7B8-93CA-9ABE-4E6C5E3FA1FE}"/>
              </a:ext>
            </a:extLst>
          </p:cNvPr>
          <p:cNvSpPr txBox="1"/>
          <p:nvPr/>
        </p:nvSpPr>
        <p:spPr>
          <a:xfrm>
            <a:off x="2523112" y="5191124"/>
            <a:ext cx="124838" cy="229649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2400" dirty="0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818B63-71B0-811F-EDB7-182A03C8C630}"/>
              </a:ext>
            </a:extLst>
          </p:cNvPr>
          <p:cNvSpPr txBox="1"/>
          <p:nvPr/>
        </p:nvSpPr>
        <p:spPr>
          <a:xfrm>
            <a:off x="2476959" y="6005229"/>
            <a:ext cx="222514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2400" dirty="0">
                <a:solidFill>
                  <a:srgbClr val="0000FF"/>
                </a:solidFill>
              </a:rPr>
              <a:t>C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FDEB26-890C-0CF6-D2D6-52930A10ED3B}"/>
              </a:ext>
            </a:extLst>
          </p:cNvPr>
          <p:cNvSpPr/>
          <p:nvPr/>
        </p:nvSpPr>
        <p:spPr>
          <a:xfrm>
            <a:off x="7506789" y="456443"/>
            <a:ext cx="4119155" cy="1055608"/>
          </a:xfrm>
          <a:prstGeom prst="round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0000FF"/>
                </a:solidFill>
                <a:latin typeface="Horley Old Style MT"/>
              </a:rPr>
              <a:t>Método de </a:t>
            </a:r>
          </a:p>
          <a:p>
            <a:pPr algn="ctr"/>
            <a:r>
              <a:rPr lang="pt-BR" sz="2800" b="1" dirty="0">
                <a:solidFill>
                  <a:srgbClr val="0000FF"/>
                </a:solidFill>
                <a:latin typeface="Horley Old Style MT"/>
              </a:rPr>
              <a:t>Diferenças finitas (FDM)</a:t>
            </a:r>
          </a:p>
        </p:txBody>
      </p:sp>
    </p:spTree>
    <p:extLst>
      <p:ext uri="{BB962C8B-B14F-4D97-AF65-F5344CB8AC3E}">
        <p14:creationId xmlns:p14="http://schemas.microsoft.com/office/powerpoint/2010/main" val="73317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55EA-1745-09A9-FA3D-87A712DA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36A803B-CE04-0DD5-B7F4-77D2657128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78C234-4BC1-68CA-DD5A-BDA4901ABDEE}"/>
              </a:ext>
            </a:extLst>
          </p:cNvPr>
          <p:cNvSpPr txBox="1"/>
          <p:nvPr/>
        </p:nvSpPr>
        <p:spPr>
          <a:xfrm>
            <a:off x="6775269" y="520854"/>
            <a:ext cx="4787337" cy="8321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r>
              <a:rPr lang="pt-BR" b="1" dirty="0"/>
              <a:t>Otimização Topográfica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9BEB3F9-D10C-9F28-12BC-D6C6E6C5B728}"/>
              </a:ext>
            </a:extLst>
          </p:cNvPr>
          <p:cNvSpPr/>
          <p:nvPr/>
        </p:nvSpPr>
        <p:spPr>
          <a:xfrm>
            <a:off x="7793001" y="69728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 pausa ”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44B044A-A29E-F773-8238-AC0D48AFB345}"/>
              </a:ext>
            </a:extLst>
          </p:cNvPr>
          <p:cNvGrpSpPr>
            <a:grpSpLocks noChangeAspect="1"/>
          </p:cNvGrpSpPr>
          <p:nvPr/>
        </p:nvGrpSpPr>
        <p:grpSpPr>
          <a:xfrm>
            <a:off x="2127053" y="4594452"/>
            <a:ext cx="1773751" cy="1707354"/>
            <a:chOff x="461511" y="5030643"/>
            <a:chExt cx="1701974" cy="157673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AB06798-563F-AFA8-EFD3-C13A2AE65F35}"/>
                </a:ext>
              </a:extLst>
            </p:cNvPr>
            <p:cNvSpPr/>
            <p:nvPr/>
          </p:nvSpPr>
          <p:spPr>
            <a:xfrm>
              <a:off x="461511" y="5030643"/>
              <a:ext cx="1652959" cy="15246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A0AC97D-FCFB-806D-79F7-7599DE32B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444" t="15866" r="32092" b="10122"/>
            <a:stretch>
              <a:fillRect/>
            </a:stretch>
          </p:blipFill>
          <p:spPr>
            <a:xfrm>
              <a:off x="519638" y="5117885"/>
              <a:ext cx="1643847" cy="1489496"/>
            </a:xfrm>
            <a:prstGeom prst="rect">
              <a:avLst/>
            </a:prstGeom>
          </p:spPr>
        </p:pic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F1B22B69-B0C5-657E-89B4-B60DCEE64EC6}"/>
              </a:ext>
            </a:extLst>
          </p:cNvPr>
          <p:cNvSpPr/>
          <p:nvPr/>
        </p:nvSpPr>
        <p:spPr>
          <a:xfrm>
            <a:off x="412305" y="4588388"/>
            <a:ext cx="1593222" cy="11665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69A2A8-C529-191D-FCDB-CB07004A1F4F}"/>
              </a:ext>
            </a:extLst>
          </p:cNvPr>
          <p:cNvSpPr txBox="1"/>
          <p:nvPr/>
        </p:nvSpPr>
        <p:spPr>
          <a:xfrm>
            <a:off x="272599" y="523299"/>
            <a:ext cx="5367946" cy="5846573"/>
          </a:xfrm>
          <a:prstGeom prst="rect">
            <a:avLst/>
          </a:prstGeom>
          <a:solidFill>
            <a:srgbClr val="A7E8FF"/>
          </a:solidFill>
        </p:spPr>
        <p:txBody>
          <a:bodyPr wrap="square" rtlCol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pt-BR" b="1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66FB4D-46E8-3FCD-CC6A-3316AD4F9821}"/>
              </a:ext>
            </a:extLst>
          </p:cNvPr>
          <p:cNvGrpSpPr>
            <a:grpSpLocks noChangeAspect="1"/>
          </p:cNvGrpSpPr>
          <p:nvPr/>
        </p:nvGrpSpPr>
        <p:grpSpPr>
          <a:xfrm>
            <a:off x="688622" y="1995080"/>
            <a:ext cx="2534869" cy="1563582"/>
            <a:chOff x="734330" y="2491541"/>
            <a:chExt cx="1585748" cy="978141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8594AE2-6F0E-C089-5C9C-C0F987C6E5AD}"/>
                </a:ext>
              </a:extLst>
            </p:cNvPr>
            <p:cNvSpPr txBox="1"/>
            <p:nvPr/>
          </p:nvSpPr>
          <p:spPr>
            <a:xfrm>
              <a:off x="734330" y="2525578"/>
              <a:ext cx="1286335" cy="944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endParaRPr lang="en-US" sz="1600" b="1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endParaRPr>
            </a:p>
            <a:p>
              <a:pPr algn="ctr"/>
              <a:endPara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endParaRPr>
            </a:p>
            <a:p>
              <a:pPr algn="ctr"/>
              <a:endParaRPr lang="en-US" sz="1600" b="1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endParaRPr>
            </a:p>
            <a:p>
              <a:pPr algn="ctr"/>
              <a:endPara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endParaRPr>
            </a:p>
            <a:p>
              <a:pPr algn="ctr"/>
              <a:endParaRPr lang="en-US" sz="1600" b="1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endParaRPr>
            </a:p>
            <a:p>
              <a:pPr algn="ctr"/>
              <a:endParaRPr lang="en-US" sz="2000" b="1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endParaRPr>
            </a:p>
            <a:p>
              <a:pPr algn="ctr"/>
              <a:endPara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endParaRPr>
            </a:p>
            <a:p>
              <a:pPr algn="ctr"/>
              <a:endParaRPr lang="en-US" sz="2000" b="1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2AEB3D1C-3E6A-4084-FCBB-ED57A0F18077}"/>
                    </a:ext>
                  </a:extLst>
                </p:cNvPr>
                <p:cNvSpPr txBox="1"/>
                <p:nvPr/>
              </p:nvSpPr>
              <p:spPr>
                <a:xfrm>
                  <a:off x="768541" y="2491541"/>
                  <a:ext cx="1551537" cy="763537"/>
                </a:xfrm>
                <a:prstGeom prst="rect">
                  <a:avLst/>
                </a:prstGeom>
                <a:noFill/>
                <a:ln w="3175">
                  <a:noFill/>
                </a:ln>
                <a:effectLst/>
              </p:spPr>
              <p:txBody>
                <a:bodyPr wrap="none" anchor="t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just"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eqArr>
                              <m:eqArrPr>
                                <m:ctrlPr>
                                  <a:rPr lang="en-US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pt-BR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  ∗  </m:t>
                                </m:r>
                                <m:r>
                                  <a:rPr lang="pt-BR" sz="2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pt-BR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∗</m:t>
                                </m:r>
                              </m:e>
                              <m:e>
                                <m:r>
                                  <a:rPr lang="pt-BR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 </m:t>
                                </m:r>
                                <m:borderBox>
                                  <m:borderBoxPr>
                                    <m:ctrlPr>
                                      <a:rPr lang="pt-BR" sz="2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r>
                                      <a:rPr lang="pt-BR" sz="2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e>
                                </m:borderBox>
                                <m:r>
                                  <a:rPr lang="pt-BR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∗  </m:t>
                                </m:r>
                                <m:r>
                                  <a:rPr lang="pt-BR" sz="2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lang="pt-BR" sz="2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pt-BR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∗  ∗  ∗</m:t>
                                </m:r>
                              </m:e>
                              <m:e>
                                <m:r>
                                  <a:rPr lang="pt-BR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 </m:t>
                                </m:r>
                                <m:r>
                                  <a:rPr lang="pt-BR" sz="2400" b="1" i="1" dirty="0" smtClean="0">
                                    <a:solidFill>
                                      <a:schemeClr val="accent2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pt-BR" sz="2400" b="1" i="1" dirty="0" smtClean="0">
                                    <a:solidFill>
                                      <a:schemeClr val="accent2">
                                        <a:lumMod val="20000"/>
                                        <a:lumOff val="8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pt-BR" sz="24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  ∗</m:t>
                                </m:r>
                              </m:e>
                            </m:eqArr>
                            <m:r>
                              <a:rPr lang="pt-BR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GB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pt-BR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1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b="1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sz="2400" b="1" i="1" dirty="0" smtClean="0">
                                      <a:solidFill>
                                        <a:srgbClr val="A7E8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pt-BR" sz="2400" b="1" i="1" dirty="0" smtClean="0">
                                      <a:solidFill>
                                        <a:srgbClr val="A7E8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b="1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sz="2400" b="1" i="1" spc="150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𝝓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pt-BR" sz="2400" b="1" i="1" dirty="0" smtClean="0">
                                            <a:solidFill>
                                              <a:srgbClr val="A7E8FF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pt-BR" sz="2400" b="1" i="1" dirty="0" smtClean="0">
                                            <a:solidFill>
                                              <a:srgbClr val="A7E8FF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pt-BR" sz="2400" b="1" i="1" dirty="0" smtClean="0">
                            <a:solidFill>
                              <a:srgbClr val="A7E8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</m:t>
                        </m:r>
                        <m:r>
                          <a:rPr kumimoji="0" lang="pt-BR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1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400" b="1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pt-BR" sz="2400" b="1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borderBox>
                                  <m:borderBoxPr>
                                    <m:ctrlPr>
                                      <a:rPr lang="pt-BR" sz="24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r>
                                      <a:rPr lang="pt-BR" sz="24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e>
                                </m:borderBox>
                              </m:e>
                              <m:e>
                                <m:r>
                                  <a:rPr lang="pt-BR" sz="2400" b="1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lang="pt-BR" sz="2400" b="1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0448708D-9BC7-B47C-2C2E-F888909D89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541" y="2491541"/>
                  <a:ext cx="1551537" cy="763537"/>
                </a:xfrm>
                <a:prstGeom prst="rect">
                  <a:avLst/>
                </a:prstGeom>
                <a:blipFill>
                  <a:blip r:embed="rId4"/>
                  <a:stretch>
                    <a:fillRect r="-69779" b="-24000"/>
                  </a:stretch>
                </a:blipFill>
                <a:ln w="3175">
                  <a:noFill/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B5E2EF58-026B-3EAD-3360-84E5D7F0C58B}"/>
                  </a:ext>
                </a:extLst>
              </p:cNvPr>
              <p:cNvSpPr txBox="1"/>
              <p:nvPr/>
            </p:nvSpPr>
            <p:spPr>
              <a:xfrm>
                <a:off x="494523" y="570019"/>
                <a:ext cx="5208415" cy="943385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txBody>
              <a:bodyPr wrap="none" anchor="t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b="1" i="1" spc="150" dirty="0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LID4096" sz="3000" b="1" spc="15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r>
                            <a:rPr lang="en-US" sz="3000" b="1" i="1" spc="15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LID4096" sz="3000" b="1" spc="15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LID4096" sz="3000" b="1" spc="15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r>
                        <a:rPr lang="pt-BR" sz="3000" b="1" i="1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3000" b="1" i="0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LID4096" sz="3000" b="1" spc="1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nor/>
                        </m:rPr>
                        <a:rPr lang="pt-BR" sz="3000" b="1" i="0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LID4096" sz="3000" b="1" spc="1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LID4096" sz="3000" b="1" spc="1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sz="3000" b="1" i="1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𝝓</m:t>
                      </m:r>
                      <m:r>
                        <m:rPr>
                          <m:nor/>
                        </m:rPr>
                        <a:rPr lang="LID4096" sz="3000" b="1" spc="1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pt-BR" sz="3000" b="1" i="0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ID4096" sz="3000" b="1" spc="1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pt-BR" sz="3000" b="1" i="0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3000" b="1" i="0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sSup>
                        <m:sSupPr>
                          <m:ctrlPr>
                            <a:rPr lang="en-US" sz="3000" b="1" i="1" spc="150" dirty="0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LID4096" sz="3000" b="1" spc="15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sz="3000" b="1" i="1" spc="150" dirty="0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000" b="1" i="1" spc="1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𝝓</m:t>
                      </m:r>
                      <m:r>
                        <m:rPr>
                          <m:nor/>
                        </m:rPr>
                        <a:rPr lang="pt-BR" sz="3000" b="1" i="0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LID4096" sz="3000" b="1" spc="1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sz="3000" b="1" i="0" spc="15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3000" b="1" i="1" spc="150" dirty="0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000" b="1" i="1" spc="150" dirty="0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3000" b="1" i="1" spc="150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</m:oMath>
                  </m:oMathPara>
                </a14:m>
                <a:endParaRPr lang="LID4096" sz="3000" b="1" spc="1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B5E2EF58-026B-3EAD-3360-84E5D7F0C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23" y="570019"/>
                <a:ext cx="5208415" cy="943385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 w="3175">
                <a:noFill/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AF14C076-611B-25CB-D628-6AD610F1227D}"/>
              </a:ext>
            </a:extLst>
          </p:cNvPr>
          <p:cNvSpPr txBox="1"/>
          <p:nvPr/>
        </p:nvSpPr>
        <p:spPr>
          <a:xfrm>
            <a:off x="9034334" y="1496248"/>
            <a:ext cx="2528273" cy="33843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91440" rIns="182880" bIns="18288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3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2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Sparce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matrix</a:t>
            </a: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MRoman12-Regular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ts val="33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2400" b="1" i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Derivative</a:t>
            </a:r>
            <a:r>
              <a:rPr kumimoji="0" lang="en-US" sz="2400" b="1" i="1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</a:t>
            </a: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ts val="33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2400" b="1" i="1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Asymmetric</a:t>
            </a:r>
            <a:r>
              <a:rPr kumimoji="0" lang="en-US" sz="1600" b="0" i="1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r">
              <a:lnSpc>
                <a:spcPts val="3300"/>
              </a:lnSpc>
            </a:pPr>
            <a:r>
              <a:rPr lang="en-US" sz="2400" b="1" i="1" u="sng" dirty="0">
                <a:solidFill>
                  <a:srgbClr val="0000FF"/>
                </a:solidFill>
                <a:latin typeface="LMRoman12-Regular"/>
              </a:rPr>
              <a:t>COV</a:t>
            </a:r>
            <a:r>
              <a:rPr lang="en-US" sz="2400" b="1" i="1" dirty="0">
                <a:solidFill>
                  <a:srgbClr val="0000FF"/>
                </a:solidFill>
                <a:latin typeface="LMRoman12-Regular"/>
              </a:rPr>
              <a:t>ariance </a:t>
            </a:r>
            <a:r>
              <a:rPr lang="en-US" b="1" i="1" dirty="0">
                <a:solidFill>
                  <a:srgbClr val="00B050"/>
                </a:solidFill>
                <a:latin typeface="LMRoman12-Regular"/>
              </a:rPr>
              <a:t>matrix</a:t>
            </a:r>
            <a:endParaRPr lang="en-US" sz="1600" b="1" i="1" dirty="0">
              <a:solidFill>
                <a:srgbClr val="00B050"/>
              </a:solidFill>
              <a:latin typeface="LMRoman12-Regular"/>
            </a:endParaRPr>
          </a:p>
          <a:p>
            <a:pPr marL="0" marR="0" lvl="0" indent="0" algn="r" defTabSz="914400" rtl="0" eaLnBrk="1" fontAlgn="auto" latinLnBrk="0" hangingPunct="1">
              <a:lnSpc>
                <a:spcPts val="33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MRoman12-Regular"/>
                <a:ea typeface="+mn-ea"/>
                <a:cs typeface="+mn-cs"/>
              </a:rPr>
              <a:t>Coefficient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matrix</a:t>
            </a:r>
            <a:endParaRPr kumimoji="0" lang="LID4096" sz="16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ts val="33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2400" b="1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Regressor</a:t>
            </a:r>
            <a:r>
              <a:rPr kumimoji="0" lang="en-US" sz="1600" b="1" i="1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</a:t>
            </a: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ts val="33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MRoman12-Regular"/>
                <a:ea typeface="+mn-ea"/>
                <a:cs typeface="+mn-cs"/>
              </a:rPr>
              <a:t>Design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MRoman12-Regular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m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atrix</a:t>
            </a:r>
          </a:p>
          <a:p>
            <a:pPr marL="0" marR="0" lvl="0" indent="0" algn="r" defTabSz="914400" rtl="0" eaLnBrk="1" fontAlgn="auto" latinLnBrk="0" hangingPunct="1">
              <a:lnSpc>
                <a:spcPts val="3300"/>
              </a:lnSpc>
              <a:buClrTx/>
              <a:buSzTx/>
              <a:buFontTx/>
              <a:buNone/>
              <a:tabLst/>
              <a:defRPr/>
            </a:pPr>
            <a:r>
              <a:rPr lang="en-US" sz="2400" b="1" i="1" dirty="0">
                <a:solidFill>
                  <a:prstClr val="black"/>
                </a:solidFill>
                <a:latin typeface="LMRoman12-Regular"/>
              </a:rPr>
              <a:t>Jacobian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m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MRoman12-Regular"/>
                <a:ea typeface="+mn-ea"/>
                <a:cs typeface="+mn-cs"/>
              </a:rPr>
              <a:t>atrix</a:t>
            </a: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654195-D8CE-CB93-317E-7C88516BC2A8}"/>
              </a:ext>
            </a:extLst>
          </p:cNvPr>
          <p:cNvGrpSpPr/>
          <p:nvPr/>
        </p:nvGrpSpPr>
        <p:grpSpPr>
          <a:xfrm>
            <a:off x="5974566" y="5370937"/>
            <a:ext cx="2798749" cy="1026562"/>
            <a:chOff x="6071082" y="3206304"/>
            <a:chExt cx="2798749" cy="102656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5F27371-91FA-92D9-3F11-A867712EC23F}"/>
                </a:ext>
              </a:extLst>
            </p:cNvPr>
            <p:cNvSpPr txBox="1"/>
            <p:nvPr/>
          </p:nvSpPr>
          <p:spPr>
            <a:xfrm>
              <a:off x="6071082" y="3801979"/>
              <a:ext cx="2097292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pt-BR" sz="28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Times New Roman" panose="02020603050405020304" pitchFamily="18" charset="0"/>
                </a:rPr>
                <a:t>Inversão</a:t>
              </a:r>
              <a:endParaRPr lang="pt-BR" sz="2800" b="1" noProof="0" dirty="0">
                <a:solidFill>
                  <a:srgbClr val="00B050"/>
                </a:solidFill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28145C4-1FA6-A896-99F1-C777CD10BC09}"/>
                </a:ext>
              </a:extLst>
            </p:cNvPr>
            <p:cNvGrpSpPr/>
            <p:nvPr/>
          </p:nvGrpSpPr>
          <p:grpSpPr>
            <a:xfrm>
              <a:off x="6319049" y="3206304"/>
              <a:ext cx="2550782" cy="710951"/>
              <a:chOff x="5631843" y="4665380"/>
              <a:chExt cx="2550782" cy="7109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Object 4">
                    <a:extLst>
                      <a:ext uri="{63B3BB69-23CF-44E3-9099-C40C66FF867C}">
                        <a14:compatExt spid="_x0000_s1028"/>
                      </a:ext>
                      <a:ext uri="{FF2B5EF4-FFF2-40B4-BE49-F238E27FC236}">
                        <a16:creationId xmlns:a16="http://schemas.microsoft.com/office/drawing/2014/main" id="{E0C3D684-59B8-05FC-8833-9C74B23C0461}"/>
                      </a:ext>
                    </a:extLst>
                  </p:cNvPr>
                  <p:cNvSpPr txBox="1"/>
                  <p:nvPr/>
                </p:nvSpPr>
                <p:spPr>
                  <a:xfrm>
                    <a:off x="5631843" y="4693010"/>
                    <a:ext cx="2550782" cy="683321"/>
                  </a:xfrm>
                  <a:prstGeom prst="rect">
                    <a:avLst/>
                  </a:prstGeom>
                </p:spPr>
                <p:txBody>
                  <a:bodyPr wrap="square">
                    <a:noAutofit/>
                  </a:bodyPr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pt-BR" sz="3600" b="1" i="0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𝛟</m:t>
                          </m:r>
                          <m:r>
                            <a:rPr kumimoji="0" lang="pt-BR" sz="3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0" lang="pt-BR" sz="3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kumimoji="0" lang="pt-BR" sz="3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𝐛</m:t>
                          </m:r>
                        </m:oMath>
                      </m:oMathPara>
                    </a14:m>
                    <a:endParaRPr lang="pt-BR" sz="36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Object 4">
                    <a:extLst>
                      <a:ext uri="{63B3BB69-23CF-44E3-9099-C40C66FF867C}">
                        <a14:compatExt xmlns:a14="http://schemas.microsoft.com/office/drawing/2010/main" spid="_x0000_s1028"/>
                      </a:ext>
                      <a:ext uri="{FF2B5EF4-FFF2-40B4-BE49-F238E27FC236}">
                        <a16:creationId xmlns:a16="http://schemas.microsoft.com/office/drawing/2014/main" id="{F698D269-5693-6DA9-5D90-BF5E5DCCA1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1843" y="4693010"/>
                    <a:ext cx="2550782" cy="6833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Object 4">
                    <a:extLst>
                      <a:ext uri="{63B3BB69-23CF-44E3-9099-C40C66FF867C}">
                        <a14:compatExt spid="_x0000_s1028"/>
                      </a:ext>
                      <a:ext uri="{FF2B5EF4-FFF2-40B4-BE49-F238E27FC236}">
                        <a16:creationId xmlns:a16="http://schemas.microsoft.com/office/drawing/2014/main" id="{9C09D6D4-544C-EE3C-CE17-D142E4A97CA4}"/>
                      </a:ext>
                    </a:extLst>
                  </p:cNvPr>
                  <p:cNvSpPr txBox="1"/>
                  <p:nvPr/>
                </p:nvSpPr>
                <p:spPr>
                  <a:xfrm>
                    <a:off x="6440425" y="4665380"/>
                    <a:ext cx="1251715" cy="683321"/>
                  </a:xfrm>
                  <a:prstGeom prst="rect">
                    <a:avLst/>
                  </a:prstGeom>
                </p:spPr>
                <p:txBody>
                  <a:bodyPr wrap="square">
                    <a:noAutofit/>
                  </a:bodyPr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pt-BR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pt-BR" sz="3600" b="1" i="1" smtClean="0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600" b="1" i="0" smtClean="0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p>
                              <m:r>
                                <a:rPr lang="pt-BR" sz="3600" b="1" i="0" smtClean="0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3600" b="1" i="0" smtClean="0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oMath>
                      </m:oMathPara>
                    </a14:m>
                    <a:endParaRPr lang="pt-BR" sz="36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Object 4">
                    <a:extLst>
                      <a:ext uri="{63B3BB69-23CF-44E3-9099-C40C66FF867C}">
                        <a14:compatExt xmlns:a14="http://schemas.microsoft.com/office/drawing/2010/main" spid="_x0000_s1028"/>
                      </a:ext>
                      <a:ext uri="{FF2B5EF4-FFF2-40B4-BE49-F238E27FC236}">
                        <a16:creationId xmlns:a16="http://schemas.microsoft.com/office/drawing/2014/main" id="{7D2385E6-611D-7193-4C27-C7750CFEA7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0425" y="4665380"/>
                    <a:ext cx="1251715" cy="6833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D54634FE-8F9B-F0F3-3379-3BA928F27DCD}"/>
              </a:ext>
            </a:extLst>
          </p:cNvPr>
          <p:cNvSpPr txBox="1"/>
          <p:nvPr/>
        </p:nvSpPr>
        <p:spPr>
          <a:xfrm>
            <a:off x="2910063" y="4046795"/>
            <a:ext cx="716326" cy="451087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sz="2400" b="1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OBS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" name="Arrow: Left-Right 62">
            <a:extLst>
              <a:ext uri="{FF2B5EF4-FFF2-40B4-BE49-F238E27FC236}">
                <a16:creationId xmlns:a16="http://schemas.microsoft.com/office/drawing/2014/main" id="{E5F9DCAA-5264-E931-D286-2A90CD0DA42B}"/>
              </a:ext>
            </a:extLst>
          </p:cNvPr>
          <p:cNvSpPr/>
          <p:nvPr/>
        </p:nvSpPr>
        <p:spPr>
          <a:xfrm>
            <a:off x="3709114" y="4132793"/>
            <a:ext cx="554126" cy="302015"/>
          </a:xfrm>
          <a:prstGeom prst="leftRightArrow">
            <a:avLst>
              <a:gd name="adj1" fmla="val 35808"/>
              <a:gd name="adj2" fmla="val 40539"/>
            </a:avLst>
          </a:prstGeom>
          <a:solidFill>
            <a:schemeClr val="tx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48D5BC-960B-9C5B-9894-37FB494938D1}"/>
              </a:ext>
            </a:extLst>
          </p:cNvPr>
          <p:cNvSpPr txBox="1"/>
          <p:nvPr/>
        </p:nvSpPr>
        <p:spPr>
          <a:xfrm>
            <a:off x="4318064" y="4065846"/>
            <a:ext cx="716326" cy="451087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sz="2400" b="1" i="0" u="none" strike="noStrike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PAR</a:t>
            </a:r>
            <a:endParaRPr lang="LID4096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28246D-2438-7AF7-FF5C-9A2247A7E514}"/>
              </a:ext>
            </a:extLst>
          </p:cNvPr>
          <p:cNvSpPr txBox="1"/>
          <p:nvPr/>
        </p:nvSpPr>
        <p:spPr>
          <a:xfrm>
            <a:off x="704765" y="4038429"/>
            <a:ext cx="2051652" cy="451087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Modelo</a:t>
            </a:r>
            <a:endParaRPr lang="LID4096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4B9887-6424-E443-B9F8-6D3EA04E1A59}"/>
              </a:ext>
            </a:extLst>
          </p:cNvPr>
          <p:cNvSpPr txBox="1"/>
          <p:nvPr/>
        </p:nvSpPr>
        <p:spPr>
          <a:xfrm>
            <a:off x="1631298" y="561320"/>
            <a:ext cx="4231304" cy="4001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2000" dirty="0">
                <a:solidFill>
                  <a:srgbClr val="0000FF"/>
                </a:solidFill>
              </a:rPr>
              <a:t>convecção         difusão            fontes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3B01287-5056-74FA-9304-3B6B1C921D29}"/>
              </a:ext>
            </a:extLst>
          </p:cNvPr>
          <p:cNvGrpSpPr/>
          <p:nvPr/>
        </p:nvGrpSpPr>
        <p:grpSpPr>
          <a:xfrm>
            <a:off x="884278" y="1429543"/>
            <a:ext cx="4230930" cy="574017"/>
            <a:chOff x="1012027" y="1716685"/>
            <a:chExt cx="4100791" cy="713340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607A4D3-B1C8-1B64-994D-44E8B94E1D8B}"/>
                </a:ext>
              </a:extLst>
            </p:cNvPr>
            <p:cNvSpPr/>
            <p:nvPr/>
          </p:nvSpPr>
          <p:spPr>
            <a:xfrm>
              <a:off x="1077913" y="1844061"/>
              <a:ext cx="3433583" cy="571601"/>
            </a:xfrm>
            <a:custGeom>
              <a:avLst/>
              <a:gdLst>
                <a:gd name="connsiteX0" fmla="*/ 35627 w 3513933"/>
                <a:gd name="connsiteY0" fmla="*/ 0 h 770965"/>
                <a:gd name="connsiteX1" fmla="*/ 250780 w 3513933"/>
                <a:gd name="connsiteY1" fmla="*/ 268942 h 770965"/>
                <a:gd name="connsiteX2" fmla="*/ 1909251 w 3513933"/>
                <a:gd name="connsiteY2" fmla="*/ 385483 h 770965"/>
                <a:gd name="connsiteX3" fmla="*/ 3244992 w 3513933"/>
                <a:gd name="connsiteY3" fmla="*/ 555812 h 770965"/>
                <a:gd name="connsiteX4" fmla="*/ 3513933 w 3513933"/>
                <a:gd name="connsiteY4" fmla="*/ 770965 h 770965"/>
                <a:gd name="connsiteX0" fmla="*/ 18181 w 3592407"/>
                <a:gd name="connsiteY0" fmla="*/ 0 h 726142"/>
                <a:gd name="connsiteX1" fmla="*/ 329254 w 3592407"/>
                <a:gd name="connsiteY1" fmla="*/ 224119 h 726142"/>
                <a:gd name="connsiteX2" fmla="*/ 1987725 w 3592407"/>
                <a:gd name="connsiteY2" fmla="*/ 340660 h 726142"/>
                <a:gd name="connsiteX3" fmla="*/ 3323466 w 3592407"/>
                <a:gd name="connsiteY3" fmla="*/ 510989 h 726142"/>
                <a:gd name="connsiteX4" fmla="*/ 3592407 w 3592407"/>
                <a:gd name="connsiteY4" fmla="*/ 726142 h 726142"/>
                <a:gd name="connsiteX0" fmla="*/ 16159 w 3609569"/>
                <a:gd name="connsiteY0" fmla="*/ 0 h 654424"/>
                <a:gd name="connsiteX1" fmla="*/ 346416 w 3609569"/>
                <a:gd name="connsiteY1" fmla="*/ 152401 h 654424"/>
                <a:gd name="connsiteX2" fmla="*/ 2004887 w 3609569"/>
                <a:gd name="connsiteY2" fmla="*/ 268942 h 654424"/>
                <a:gd name="connsiteX3" fmla="*/ 3340628 w 3609569"/>
                <a:gd name="connsiteY3" fmla="*/ 439271 h 654424"/>
                <a:gd name="connsiteX4" fmla="*/ 3609569 w 3609569"/>
                <a:gd name="connsiteY4" fmla="*/ 654424 h 654424"/>
                <a:gd name="connsiteX0" fmla="*/ 15908 w 3611956"/>
                <a:gd name="connsiteY0" fmla="*/ 0 h 663827"/>
                <a:gd name="connsiteX1" fmla="*/ 348803 w 3611956"/>
                <a:gd name="connsiteY1" fmla="*/ 161804 h 663827"/>
                <a:gd name="connsiteX2" fmla="*/ 2007274 w 3611956"/>
                <a:gd name="connsiteY2" fmla="*/ 278345 h 663827"/>
                <a:gd name="connsiteX3" fmla="*/ 3343015 w 3611956"/>
                <a:gd name="connsiteY3" fmla="*/ 448674 h 663827"/>
                <a:gd name="connsiteX4" fmla="*/ 3611956 w 3611956"/>
                <a:gd name="connsiteY4" fmla="*/ 663827 h 663827"/>
                <a:gd name="connsiteX0" fmla="*/ 0 w 3596048"/>
                <a:gd name="connsiteY0" fmla="*/ 0 h 663827"/>
                <a:gd name="connsiteX1" fmla="*/ 332895 w 3596048"/>
                <a:gd name="connsiteY1" fmla="*/ 161804 h 663827"/>
                <a:gd name="connsiteX2" fmla="*/ 1991366 w 3596048"/>
                <a:gd name="connsiteY2" fmla="*/ 278345 h 663827"/>
                <a:gd name="connsiteX3" fmla="*/ 3327107 w 3596048"/>
                <a:gd name="connsiteY3" fmla="*/ 448674 h 663827"/>
                <a:gd name="connsiteX4" fmla="*/ 3596048 w 3596048"/>
                <a:gd name="connsiteY4" fmla="*/ 663827 h 663827"/>
                <a:gd name="connsiteX0" fmla="*/ 0 w 3581974"/>
                <a:gd name="connsiteY0" fmla="*/ 0 h 670096"/>
                <a:gd name="connsiteX1" fmla="*/ 332895 w 3581974"/>
                <a:gd name="connsiteY1" fmla="*/ 161804 h 670096"/>
                <a:gd name="connsiteX2" fmla="*/ 1991366 w 3581974"/>
                <a:gd name="connsiteY2" fmla="*/ 278345 h 670096"/>
                <a:gd name="connsiteX3" fmla="*/ 3327107 w 3581974"/>
                <a:gd name="connsiteY3" fmla="*/ 448674 h 670096"/>
                <a:gd name="connsiteX4" fmla="*/ 3581974 w 3581974"/>
                <a:gd name="connsiteY4" fmla="*/ 670096 h 670096"/>
                <a:gd name="connsiteX0" fmla="*/ 0 w 3662897"/>
                <a:gd name="connsiteY0" fmla="*/ 0 h 673230"/>
                <a:gd name="connsiteX1" fmla="*/ 332895 w 3662897"/>
                <a:gd name="connsiteY1" fmla="*/ 161804 h 673230"/>
                <a:gd name="connsiteX2" fmla="*/ 1991366 w 3662897"/>
                <a:gd name="connsiteY2" fmla="*/ 278345 h 673230"/>
                <a:gd name="connsiteX3" fmla="*/ 3327107 w 3662897"/>
                <a:gd name="connsiteY3" fmla="*/ 448674 h 673230"/>
                <a:gd name="connsiteX4" fmla="*/ 3662897 w 3662897"/>
                <a:gd name="connsiteY4" fmla="*/ 673230 h 673230"/>
                <a:gd name="connsiteX0" fmla="*/ 0 w 3671407"/>
                <a:gd name="connsiteY0" fmla="*/ 0 h 673230"/>
                <a:gd name="connsiteX1" fmla="*/ 332895 w 3671407"/>
                <a:gd name="connsiteY1" fmla="*/ 161804 h 673230"/>
                <a:gd name="connsiteX2" fmla="*/ 1991366 w 3671407"/>
                <a:gd name="connsiteY2" fmla="*/ 278345 h 673230"/>
                <a:gd name="connsiteX3" fmla="*/ 3327107 w 3671407"/>
                <a:gd name="connsiteY3" fmla="*/ 448674 h 673230"/>
                <a:gd name="connsiteX4" fmla="*/ 3662897 w 3671407"/>
                <a:gd name="connsiteY4" fmla="*/ 673230 h 673230"/>
                <a:gd name="connsiteX0" fmla="*/ 0 w 3640879"/>
                <a:gd name="connsiteY0" fmla="*/ 0 h 676423"/>
                <a:gd name="connsiteX1" fmla="*/ 302367 w 3640879"/>
                <a:gd name="connsiteY1" fmla="*/ 164997 h 676423"/>
                <a:gd name="connsiteX2" fmla="*/ 1960838 w 3640879"/>
                <a:gd name="connsiteY2" fmla="*/ 281538 h 676423"/>
                <a:gd name="connsiteX3" fmla="*/ 3296579 w 3640879"/>
                <a:gd name="connsiteY3" fmla="*/ 451867 h 676423"/>
                <a:gd name="connsiteX4" fmla="*/ 3632369 w 3640879"/>
                <a:gd name="connsiteY4" fmla="*/ 676423 h 676423"/>
                <a:gd name="connsiteX0" fmla="*/ 0 w 3640879"/>
                <a:gd name="connsiteY0" fmla="*/ 0 h 676423"/>
                <a:gd name="connsiteX1" fmla="*/ 302367 w 3640879"/>
                <a:gd name="connsiteY1" fmla="*/ 164997 h 676423"/>
                <a:gd name="connsiteX2" fmla="*/ 1960838 w 3640879"/>
                <a:gd name="connsiteY2" fmla="*/ 281538 h 676423"/>
                <a:gd name="connsiteX3" fmla="*/ 3296579 w 3640879"/>
                <a:gd name="connsiteY3" fmla="*/ 451867 h 676423"/>
                <a:gd name="connsiteX4" fmla="*/ 3632369 w 3640879"/>
                <a:gd name="connsiteY4" fmla="*/ 676423 h 676423"/>
                <a:gd name="connsiteX0" fmla="*/ 0 w 3640879"/>
                <a:gd name="connsiteY0" fmla="*/ 0 h 676423"/>
                <a:gd name="connsiteX1" fmla="*/ 448221 w 3640879"/>
                <a:gd name="connsiteY1" fmla="*/ 235241 h 676423"/>
                <a:gd name="connsiteX2" fmla="*/ 1960838 w 3640879"/>
                <a:gd name="connsiteY2" fmla="*/ 281538 h 676423"/>
                <a:gd name="connsiteX3" fmla="*/ 3296579 w 3640879"/>
                <a:gd name="connsiteY3" fmla="*/ 451867 h 676423"/>
                <a:gd name="connsiteX4" fmla="*/ 3632369 w 3640879"/>
                <a:gd name="connsiteY4" fmla="*/ 676423 h 676423"/>
                <a:gd name="connsiteX0" fmla="*/ 0 w 3640879"/>
                <a:gd name="connsiteY0" fmla="*/ 0 h 676423"/>
                <a:gd name="connsiteX1" fmla="*/ 448221 w 3640879"/>
                <a:gd name="connsiteY1" fmla="*/ 235241 h 676423"/>
                <a:gd name="connsiteX2" fmla="*/ 1960838 w 3640879"/>
                <a:gd name="connsiteY2" fmla="*/ 281538 h 676423"/>
                <a:gd name="connsiteX3" fmla="*/ 3296579 w 3640879"/>
                <a:gd name="connsiteY3" fmla="*/ 451867 h 676423"/>
                <a:gd name="connsiteX4" fmla="*/ 3632369 w 3640879"/>
                <a:gd name="connsiteY4" fmla="*/ 676423 h 676423"/>
                <a:gd name="connsiteX0" fmla="*/ 0 w 3640879"/>
                <a:gd name="connsiteY0" fmla="*/ 0 h 676423"/>
                <a:gd name="connsiteX1" fmla="*/ 448221 w 3640879"/>
                <a:gd name="connsiteY1" fmla="*/ 235241 h 676423"/>
                <a:gd name="connsiteX2" fmla="*/ 1960838 w 3640879"/>
                <a:gd name="connsiteY2" fmla="*/ 281538 h 676423"/>
                <a:gd name="connsiteX3" fmla="*/ 3296579 w 3640879"/>
                <a:gd name="connsiteY3" fmla="*/ 451867 h 676423"/>
                <a:gd name="connsiteX4" fmla="*/ 3632369 w 3640879"/>
                <a:gd name="connsiteY4" fmla="*/ 676423 h 676423"/>
                <a:gd name="connsiteX0" fmla="*/ 0 w 3640879"/>
                <a:gd name="connsiteY0" fmla="*/ 0 h 676423"/>
                <a:gd name="connsiteX1" fmla="*/ 448221 w 3640879"/>
                <a:gd name="connsiteY1" fmla="*/ 235241 h 676423"/>
                <a:gd name="connsiteX2" fmla="*/ 1960838 w 3640879"/>
                <a:gd name="connsiteY2" fmla="*/ 281538 h 676423"/>
                <a:gd name="connsiteX3" fmla="*/ 3296579 w 3640879"/>
                <a:gd name="connsiteY3" fmla="*/ 451867 h 676423"/>
                <a:gd name="connsiteX4" fmla="*/ 3632369 w 3640879"/>
                <a:gd name="connsiteY4" fmla="*/ 676423 h 676423"/>
                <a:gd name="connsiteX0" fmla="*/ 0 w 3626461"/>
                <a:gd name="connsiteY0" fmla="*/ 0 h 676423"/>
                <a:gd name="connsiteX1" fmla="*/ 448221 w 3626461"/>
                <a:gd name="connsiteY1" fmla="*/ 235241 h 676423"/>
                <a:gd name="connsiteX2" fmla="*/ 1960838 w 3626461"/>
                <a:gd name="connsiteY2" fmla="*/ 281538 h 676423"/>
                <a:gd name="connsiteX3" fmla="*/ 3296579 w 3626461"/>
                <a:gd name="connsiteY3" fmla="*/ 451867 h 676423"/>
                <a:gd name="connsiteX4" fmla="*/ 3617104 w 3626461"/>
                <a:gd name="connsiteY4" fmla="*/ 676423 h 676423"/>
                <a:gd name="connsiteX0" fmla="*/ 0 w 3646378"/>
                <a:gd name="connsiteY0" fmla="*/ 0 h 676423"/>
                <a:gd name="connsiteX1" fmla="*/ 448221 w 3646378"/>
                <a:gd name="connsiteY1" fmla="*/ 235241 h 676423"/>
                <a:gd name="connsiteX2" fmla="*/ 1960838 w 3646378"/>
                <a:gd name="connsiteY2" fmla="*/ 281538 h 676423"/>
                <a:gd name="connsiteX3" fmla="*/ 3428865 w 3646378"/>
                <a:gd name="connsiteY3" fmla="*/ 415055 h 676423"/>
                <a:gd name="connsiteX4" fmla="*/ 3617104 w 3646378"/>
                <a:gd name="connsiteY4" fmla="*/ 676423 h 676423"/>
                <a:gd name="connsiteX0" fmla="*/ 0 w 3642822"/>
                <a:gd name="connsiteY0" fmla="*/ 0 h 639613"/>
                <a:gd name="connsiteX1" fmla="*/ 448221 w 3642822"/>
                <a:gd name="connsiteY1" fmla="*/ 235241 h 639613"/>
                <a:gd name="connsiteX2" fmla="*/ 1960838 w 3642822"/>
                <a:gd name="connsiteY2" fmla="*/ 281538 h 639613"/>
                <a:gd name="connsiteX3" fmla="*/ 3428865 w 3642822"/>
                <a:gd name="connsiteY3" fmla="*/ 415055 h 639613"/>
                <a:gd name="connsiteX4" fmla="*/ 3612017 w 3642822"/>
                <a:gd name="connsiteY4" fmla="*/ 639613 h 639613"/>
                <a:gd name="connsiteX0" fmla="*/ 0 w 3627177"/>
                <a:gd name="connsiteY0" fmla="*/ 0 h 639613"/>
                <a:gd name="connsiteX1" fmla="*/ 448221 w 3627177"/>
                <a:gd name="connsiteY1" fmla="*/ 235241 h 639613"/>
                <a:gd name="connsiteX2" fmla="*/ 1960838 w 3627177"/>
                <a:gd name="connsiteY2" fmla="*/ 281538 h 639613"/>
                <a:gd name="connsiteX3" fmla="*/ 3428865 w 3627177"/>
                <a:gd name="connsiteY3" fmla="*/ 415055 h 639613"/>
                <a:gd name="connsiteX4" fmla="*/ 3612017 w 3627177"/>
                <a:gd name="connsiteY4" fmla="*/ 639613 h 639613"/>
                <a:gd name="connsiteX0" fmla="*/ 0 w 3671040"/>
                <a:gd name="connsiteY0" fmla="*/ 0 h 671165"/>
                <a:gd name="connsiteX1" fmla="*/ 448221 w 3671040"/>
                <a:gd name="connsiteY1" fmla="*/ 235241 h 671165"/>
                <a:gd name="connsiteX2" fmla="*/ 1960838 w 3671040"/>
                <a:gd name="connsiteY2" fmla="*/ 281538 h 671165"/>
                <a:gd name="connsiteX3" fmla="*/ 3428865 w 3671040"/>
                <a:gd name="connsiteY3" fmla="*/ 415055 h 671165"/>
                <a:gd name="connsiteX4" fmla="*/ 3667984 w 3671040"/>
                <a:gd name="connsiteY4" fmla="*/ 671165 h 671165"/>
                <a:gd name="connsiteX0" fmla="*/ 0 w 3675351"/>
                <a:gd name="connsiteY0" fmla="*/ 0 h 671165"/>
                <a:gd name="connsiteX1" fmla="*/ 448221 w 3675351"/>
                <a:gd name="connsiteY1" fmla="*/ 235241 h 671165"/>
                <a:gd name="connsiteX2" fmla="*/ 1960838 w 3675351"/>
                <a:gd name="connsiteY2" fmla="*/ 281538 h 671165"/>
                <a:gd name="connsiteX3" fmla="*/ 3456111 w 3675351"/>
                <a:gd name="connsiteY3" fmla="*/ 337927 h 671165"/>
                <a:gd name="connsiteX4" fmla="*/ 3667984 w 3675351"/>
                <a:gd name="connsiteY4" fmla="*/ 671165 h 671165"/>
                <a:gd name="connsiteX0" fmla="*/ 0 w 3671198"/>
                <a:gd name="connsiteY0" fmla="*/ 0 h 671165"/>
                <a:gd name="connsiteX1" fmla="*/ 448221 w 3671198"/>
                <a:gd name="connsiteY1" fmla="*/ 235241 h 671165"/>
                <a:gd name="connsiteX2" fmla="*/ 1960838 w 3671198"/>
                <a:gd name="connsiteY2" fmla="*/ 281538 h 671165"/>
                <a:gd name="connsiteX3" fmla="*/ 3456111 w 3671198"/>
                <a:gd name="connsiteY3" fmla="*/ 337927 h 671165"/>
                <a:gd name="connsiteX4" fmla="*/ 3667984 w 3671198"/>
                <a:gd name="connsiteY4" fmla="*/ 671165 h 671165"/>
                <a:gd name="connsiteX0" fmla="*/ 0 w 3670059"/>
                <a:gd name="connsiteY0" fmla="*/ 0 h 671165"/>
                <a:gd name="connsiteX1" fmla="*/ 448221 w 3670059"/>
                <a:gd name="connsiteY1" fmla="*/ 235241 h 671165"/>
                <a:gd name="connsiteX2" fmla="*/ 1960838 w 3670059"/>
                <a:gd name="connsiteY2" fmla="*/ 281538 h 671165"/>
                <a:gd name="connsiteX3" fmla="*/ 3456111 w 3670059"/>
                <a:gd name="connsiteY3" fmla="*/ 337927 h 671165"/>
                <a:gd name="connsiteX4" fmla="*/ 3667984 w 3670059"/>
                <a:gd name="connsiteY4" fmla="*/ 671165 h 671165"/>
                <a:gd name="connsiteX0" fmla="*/ 0 w 3670059"/>
                <a:gd name="connsiteY0" fmla="*/ 0 h 671165"/>
                <a:gd name="connsiteX1" fmla="*/ 448221 w 3670059"/>
                <a:gd name="connsiteY1" fmla="*/ 235241 h 671165"/>
                <a:gd name="connsiteX2" fmla="*/ 1960838 w 3670059"/>
                <a:gd name="connsiteY2" fmla="*/ 281538 h 671165"/>
                <a:gd name="connsiteX3" fmla="*/ 3456111 w 3670059"/>
                <a:gd name="connsiteY3" fmla="*/ 337927 h 671165"/>
                <a:gd name="connsiteX4" fmla="*/ 3667984 w 3670059"/>
                <a:gd name="connsiteY4" fmla="*/ 671165 h 671165"/>
                <a:gd name="connsiteX0" fmla="*/ 0 w 3674562"/>
                <a:gd name="connsiteY0" fmla="*/ 0 h 684312"/>
                <a:gd name="connsiteX1" fmla="*/ 448221 w 3674562"/>
                <a:gd name="connsiteY1" fmla="*/ 235241 h 684312"/>
                <a:gd name="connsiteX2" fmla="*/ 1960838 w 3674562"/>
                <a:gd name="connsiteY2" fmla="*/ 281538 h 684312"/>
                <a:gd name="connsiteX3" fmla="*/ 3456111 w 3674562"/>
                <a:gd name="connsiteY3" fmla="*/ 337927 h 684312"/>
                <a:gd name="connsiteX4" fmla="*/ 3672823 w 3674562"/>
                <a:gd name="connsiteY4" fmla="*/ 684312 h 684312"/>
                <a:gd name="connsiteX0" fmla="*/ 0 w 3676840"/>
                <a:gd name="connsiteY0" fmla="*/ 0 h 694829"/>
                <a:gd name="connsiteX1" fmla="*/ 448221 w 3676840"/>
                <a:gd name="connsiteY1" fmla="*/ 235241 h 694829"/>
                <a:gd name="connsiteX2" fmla="*/ 1960838 w 3676840"/>
                <a:gd name="connsiteY2" fmla="*/ 281538 h 694829"/>
                <a:gd name="connsiteX3" fmla="*/ 3456111 w 3676840"/>
                <a:gd name="connsiteY3" fmla="*/ 337927 h 694829"/>
                <a:gd name="connsiteX4" fmla="*/ 3675244 w 3676840"/>
                <a:gd name="connsiteY4" fmla="*/ 694829 h 694829"/>
                <a:gd name="connsiteX0" fmla="*/ 0 w 3683752"/>
                <a:gd name="connsiteY0" fmla="*/ 0 h 686942"/>
                <a:gd name="connsiteX1" fmla="*/ 448221 w 3683752"/>
                <a:gd name="connsiteY1" fmla="*/ 235241 h 686942"/>
                <a:gd name="connsiteX2" fmla="*/ 1960838 w 3683752"/>
                <a:gd name="connsiteY2" fmla="*/ 281538 h 686942"/>
                <a:gd name="connsiteX3" fmla="*/ 3456111 w 3683752"/>
                <a:gd name="connsiteY3" fmla="*/ 337927 h 686942"/>
                <a:gd name="connsiteX4" fmla="*/ 3682503 w 3683752"/>
                <a:gd name="connsiteY4" fmla="*/ 686942 h 686942"/>
                <a:gd name="connsiteX0" fmla="*/ 0 w 3682503"/>
                <a:gd name="connsiteY0" fmla="*/ 0 h 686942"/>
                <a:gd name="connsiteX1" fmla="*/ 448221 w 3682503"/>
                <a:gd name="connsiteY1" fmla="*/ 235241 h 686942"/>
                <a:gd name="connsiteX2" fmla="*/ 1960838 w 3682503"/>
                <a:gd name="connsiteY2" fmla="*/ 281538 h 686942"/>
                <a:gd name="connsiteX3" fmla="*/ 3456111 w 3682503"/>
                <a:gd name="connsiteY3" fmla="*/ 337927 h 686942"/>
                <a:gd name="connsiteX4" fmla="*/ 3682503 w 3682503"/>
                <a:gd name="connsiteY4" fmla="*/ 686942 h 686942"/>
                <a:gd name="connsiteX0" fmla="*/ 0 w 3682503"/>
                <a:gd name="connsiteY0" fmla="*/ 0 h 683404"/>
                <a:gd name="connsiteX1" fmla="*/ 448221 w 3682503"/>
                <a:gd name="connsiteY1" fmla="*/ 235241 h 683404"/>
                <a:gd name="connsiteX2" fmla="*/ 1960838 w 3682503"/>
                <a:gd name="connsiteY2" fmla="*/ 281538 h 683404"/>
                <a:gd name="connsiteX3" fmla="*/ 3456111 w 3682503"/>
                <a:gd name="connsiteY3" fmla="*/ 337927 h 683404"/>
                <a:gd name="connsiteX4" fmla="*/ 3682503 w 3682503"/>
                <a:gd name="connsiteY4" fmla="*/ 683404 h 683404"/>
                <a:gd name="connsiteX0" fmla="*/ 0 w 3682636"/>
                <a:gd name="connsiteY0" fmla="*/ 0 h 683404"/>
                <a:gd name="connsiteX1" fmla="*/ 448221 w 3682636"/>
                <a:gd name="connsiteY1" fmla="*/ 235241 h 683404"/>
                <a:gd name="connsiteX2" fmla="*/ 1960838 w 3682636"/>
                <a:gd name="connsiteY2" fmla="*/ 281538 h 683404"/>
                <a:gd name="connsiteX3" fmla="*/ 3456111 w 3682636"/>
                <a:gd name="connsiteY3" fmla="*/ 337927 h 683404"/>
                <a:gd name="connsiteX4" fmla="*/ 3682503 w 3682636"/>
                <a:gd name="connsiteY4" fmla="*/ 683404 h 683404"/>
                <a:gd name="connsiteX0" fmla="*/ 0 w 3683158"/>
                <a:gd name="connsiteY0" fmla="*/ 0 h 683404"/>
                <a:gd name="connsiteX1" fmla="*/ 448221 w 3683158"/>
                <a:gd name="connsiteY1" fmla="*/ 235241 h 683404"/>
                <a:gd name="connsiteX2" fmla="*/ 1960838 w 3683158"/>
                <a:gd name="connsiteY2" fmla="*/ 281538 h 683404"/>
                <a:gd name="connsiteX3" fmla="*/ 3456111 w 3683158"/>
                <a:gd name="connsiteY3" fmla="*/ 337927 h 683404"/>
                <a:gd name="connsiteX4" fmla="*/ 3682503 w 3683158"/>
                <a:gd name="connsiteY4" fmla="*/ 683404 h 68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3158" h="683404">
                  <a:moveTo>
                    <a:pt x="0" y="0"/>
                  </a:moveTo>
                  <a:cubicBezTo>
                    <a:pt x="10254" y="143854"/>
                    <a:pt x="6088" y="233018"/>
                    <a:pt x="448221" y="235241"/>
                  </a:cubicBezTo>
                  <a:cubicBezTo>
                    <a:pt x="890354" y="237464"/>
                    <a:pt x="1459523" y="264424"/>
                    <a:pt x="1960838" y="281538"/>
                  </a:cubicBezTo>
                  <a:cubicBezTo>
                    <a:pt x="2462153" y="298652"/>
                    <a:pt x="3150349" y="302602"/>
                    <a:pt x="3456111" y="337927"/>
                  </a:cubicBezTo>
                  <a:cubicBezTo>
                    <a:pt x="3682690" y="346956"/>
                    <a:pt x="3686111" y="511276"/>
                    <a:pt x="3682503" y="683404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w="lg" len="med"/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9BDB397-05EC-32C9-FD48-C75B622BCA01}"/>
                </a:ext>
              </a:extLst>
            </p:cNvPr>
            <p:cNvSpPr/>
            <p:nvPr/>
          </p:nvSpPr>
          <p:spPr>
            <a:xfrm>
              <a:off x="2029901" y="1730942"/>
              <a:ext cx="1886919" cy="698453"/>
            </a:xfrm>
            <a:custGeom>
              <a:avLst/>
              <a:gdLst>
                <a:gd name="connsiteX0" fmla="*/ 1461247 w 1471187"/>
                <a:gd name="connsiteY0" fmla="*/ 0 h 770965"/>
                <a:gd name="connsiteX1" fmla="*/ 1416423 w 1471187"/>
                <a:gd name="connsiteY1" fmla="*/ 71718 h 770965"/>
                <a:gd name="connsiteX2" fmla="*/ 1039906 w 1471187"/>
                <a:gd name="connsiteY2" fmla="*/ 322729 h 770965"/>
                <a:gd name="connsiteX3" fmla="*/ 268941 w 1471187"/>
                <a:gd name="connsiteY3" fmla="*/ 448235 h 770965"/>
                <a:gd name="connsiteX4" fmla="*/ 0 w 1471187"/>
                <a:gd name="connsiteY4" fmla="*/ 770965 h 770965"/>
                <a:gd name="connsiteX0" fmla="*/ 1455382 w 1465322"/>
                <a:gd name="connsiteY0" fmla="*/ 0 h 766453"/>
                <a:gd name="connsiteX1" fmla="*/ 1410558 w 1465322"/>
                <a:gd name="connsiteY1" fmla="*/ 71718 h 766453"/>
                <a:gd name="connsiteX2" fmla="*/ 1034041 w 1465322"/>
                <a:gd name="connsiteY2" fmla="*/ 322729 h 766453"/>
                <a:gd name="connsiteX3" fmla="*/ 263076 w 1465322"/>
                <a:gd name="connsiteY3" fmla="*/ 448235 h 766453"/>
                <a:gd name="connsiteX4" fmla="*/ 0 w 1465322"/>
                <a:gd name="connsiteY4" fmla="*/ 766453 h 766453"/>
                <a:gd name="connsiteX0" fmla="*/ 1455382 w 1465322"/>
                <a:gd name="connsiteY0" fmla="*/ 0 h 766453"/>
                <a:gd name="connsiteX1" fmla="*/ 1410558 w 1465322"/>
                <a:gd name="connsiteY1" fmla="*/ 71718 h 766453"/>
                <a:gd name="connsiteX2" fmla="*/ 1034041 w 1465322"/>
                <a:gd name="connsiteY2" fmla="*/ 322729 h 766453"/>
                <a:gd name="connsiteX3" fmla="*/ 263076 w 1465322"/>
                <a:gd name="connsiteY3" fmla="*/ 448235 h 766453"/>
                <a:gd name="connsiteX4" fmla="*/ 0 w 1465322"/>
                <a:gd name="connsiteY4" fmla="*/ 766453 h 766453"/>
                <a:gd name="connsiteX0" fmla="*/ 1459603 w 1469543"/>
                <a:gd name="connsiteY0" fmla="*/ 0 h 766453"/>
                <a:gd name="connsiteX1" fmla="*/ 1414779 w 1469543"/>
                <a:gd name="connsiteY1" fmla="*/ 71718 h 766453"/>
                <a:gd name="connsiteX2" fmla="*/ 1038262 w 1469543"/>
                <a:gd name="connsiteY2" fmla="*/ 322729 h 766453"/>
                <a:gd name="connsiteX3" fmla="*/ 267297 w 1469543"/>
                <a:gd name="connsiteY3" fmla="*/ 448235 h 766453"/>
                <a:gd name="connsiteX4" fmla="*/ 4221 w 1469543"/>
                <a:gd name="connsiteY4" fmla="*/ 766453 h 766453"/>
                <a:gd name="connsiteX0" fmla="*/ 1488926 w 1493345"/>
                <a:gd name="connsiteY0" fmla="*/ 0 h 809310"/>
                <a:gd name="connsiteX1" fmla="*/ 1414779 w 1493345"/>
                <a:gd name="connsiteY1" fmla="*/ 114575 h 809310"/>
                <a:gd name="connsiteX2" fmla="*/ 1038262 w 1493345"/>
                <a:gd name="connsiteY2" fmla="*/ 365586 h 809310"/>
                <a:gd name="connsiteX3" fmla="*/ 267297 w 1493345"/>
                <a:gd name="connsiteY3" fmla="*/ 491092 h 809310"/>
                <a:gd name="connsiteX4" fmla="*/ 4221 w 1493345"/>
                <a:gd name="connsiteY4" fmla="*/ 809310 h 809310"/>
                <a:gd name="connsiteX0" fmla="*/ 1488926 w 1491209"/>
                <a:gd name="connsiteY0" fmla="*/ 0 h 809310"/>
                <a:gd name="connsiteX1" fmla="*/ 1385456 w 1491209"/>
                <a:gd name="connsiteY1" fmla="*/ 173220 h 809310"/>
                <a:gd name="connsiteX2" fmla="*/ 1038262 w 1491209"/>
                <a:gd name="connsiteY2" fmla="*/ 365586 h 809310"/>
                <a:gd name="connsiteX3" fmla="*/ 267297 w 1491209"/>
                <a:gd name="connsiteY3" fmla="*/ 491092 h 809310"/>
                <a:gd name="connsiteX4" fmla="*/ 4221 w 1491209"/>
                <a:gd name="connsiteY4" fmla="*/ 809310 h 809310"/>
                <a:gd name="connsiteX0" fmla="*/ 1491024 w 1493307"/>
                <a:gd name="connsiteY0" fmla="*/ 0 h 809310"/>
                <a:gd name="connsiteX1" fmla="*/ 1387554 w 1493307"/>
                <a:gd name="connsiteY1" fmla="*/ 173220 h 809310"/>
                <a:gd name="connsiteX2" fmla="*/ 1040360 w 1493307"/>
                <a:gd name="connsiteY2" fmla="*/ 365586 h 809310"/>
                <a:gd name="connsiteX3" fmla="*/ 218159 w 1493307"/>
                <a:gd name="connsiteY3" fmla="*/ 460609 h 809310"/>
                <a:gd name="connsiteX4" fmla="*/ 6319 w 1493307"/>
                <a:gd name="connsiteY4" fmla="*/ 809310 h 809310"/>
                <a:gd name="connsiteX0" fmla="*/ 1492065 w 1494348"/>
                <a:gd name="connsiteY0" fmla="*/ 0 h 809310"/>
                <a:gd name="connsiteX1" fmla="*/ 1388595 w 1494348"/>
                <a:gd name="connsiteY1" fmla="*/ 173220 h 809310"/>
                <a:gd name="connsiteX2" fmla="*/ 1041401 w 1494348"/>
                <a:gd name="connsiteY2" fmla="*/ 365586 h 809310"/>
                <a:gd name="connsiteX3" fmla="*/ 219200 w 1494348"/>
                <a:gd name="connsiteY3" fmla="*/ 460609 h 809310"/>
                <a:gd name="connsiteX4" fmla="*/ 7360 w 1494348"/>
                <a:gd name="connsiteY4" fmla="*/ 809310 h 809310"/>
                <a:gd name="connsiteX0" fmla="*/ 1492504 w 1494787"/>
                <a:gd name="connsiteY0" fmla="*/ 0 h 809310"/>
                <a:gd name="connsiteX1" fmla="*/ 1389034 w 1494787"/>
                <a:gd name="connsiteY1" fmla="*/ 173220 h 809310"/>
                <a:gd name="connsiteX2" fmla="*/ 1041840 w 1494787"/>
                <a:gd name="connsiteY2" fmla="*/ 365586 h 809310"/>
                <a:gd name="connsiteX3" fmla="*/ 214149 w 1494787"/>
                <a:gd name="connsiteY3" fmla="*/ 511414 h 809310"/>
                <a:gd name="connsiteX4" fmla="*/ 7799 w 1494787"/>
                <a:gd name="connsiteY4" fmla="*/ 809310 h 809310"/>
                <a:gd name="connsiteX0" fmla="*/ 1490561 w 1492844"/>
                <a:gd name="connsiteY0" fmla="*/ 0 h 809310"/>
                <a:gd name="connsiteX1" fmla="*/ 1387091 w 1492844"/>
                <a:gd name="connsiteY1" fmla="*/ 173220 h 809310"/>
                <a:gd name="connsiteX2" fmla="*/ 1039897 w 1492844"/>
                <a:gd name="connsiteY2" fmla="*/ 365586 h 809310"/>
                <a:gd name="connsiteX3" fmla="*/ 212206 w 1492844"/>
                <a:gd name="connsiteY3" fmla="*/ 511414 h 809310"/>
                <a:gd name="connsiteX4" fmla="*/ 5856 w 1492844"/>
                <a:gd name="connsiteY4" fmla="*/ 809310 h 809310"/>
                <a:gd name="connsiteX0" fmla="*/ 1488986 w 1491269"/>
                <a:gd name="connsiteY0" fmla="*/ 0 h 809310"/>
                <a:gd name="connsiteX1" fmla="*/ 1385516 w 1491269"/>
                <a:gd name="connsiteY1" fmla="*/ 173220 h 809310"/>
                <a:gd name="connsiteX2" fmla="*/ 1038322 w 1491269"/>
                <a:gd name="connsiteY2" fmla="*/ 365586 h 809310"/>
                <a:gd name="connsiteX3" fmla="*/ 210631 w 1491269"/>
                <a:gd name="connsiteY3" fmla="*/ 511414 h 809310"/>
                <a:gd name="connsiteX4" fmla="*/ 4281 w 1491269"/>
                <a:gd name="connsiteY4" fmla="*/ 809310 h 809310"/>
                <a:gd name="connsiteX0" fmla="*/ 1488986 w 1491269"/>
                <a:gd name="connsiteY0" fmla="*/ 0 h 809310"/>
                <a:gd name="connsiteX1" fmla="*/ 1385516 w 1491269"/>
                <a:gd name="connsiteY1" fmla="*/ 173220 h 809310"/>
                <a:gd name="connsiteX2" fmla="*/ 1038322 w 1491269"/>
                <a:gd name="connsiteY2" fmla="*/ 365586 h 809310"/>
                <a:gd name="connsiteX3" fmla="*/ 210631 w 1491269"/>
                <a:gd name="connsiteY3" fmla="*/ 511414 h 809310"/>
                <a:gd name="connsiteX4" fmla="*/ 4281 w 1491269"/>
                <a:gd name="connsiteY4" fmla="*/ 809310 h 809310"/>
                <a:gd name="connsiteX0" fmla="*/ 1488986 w 1491125"/>
                <a:gd name="connsiteY0" fmla="*/ 0 h 809310"/>
                <a:gd name="connsiteX1" fmla="*/ 1385516 w 1491125"/>
                <a:gd name="connsiteY1" fmla="*/ 173220 h 809310"/>
                <a:gd name="connsiteX2" fmla="*/ 1062110 w 1491125"/>
                <a:gd name="connsiteY2" fmla="*/ 416391 h 809310"/>
                <a:gd name="connsiteX3" fmla="*/ 210631 w 1491125"/>
                <a:gd name="connsiteY3" fmla="*/ 511414 h 809310"/>
                <a:gd name="connsiteX4" fmla="*/ 4281 w 1491125"/>
                <a:gd name="connsiteY4" fmla="*/ 809310 h 809310"/>
                <a:gd name="connsiteX0" fmla="*/ 1488986 w 1493254"/>
                <a:gd name="connsiteY0" fmla="*/ 0 h 809310"/>
                <a:gd name="connsiteX1" fmla="*/ 1417234 w 1493254"/>
                <a:gd name="connsiteY1" fmla="*/ 281604 h 809310"/>
                <a:gd name="connsiteX2" fmla="*/ 1062110 w 1493254"/>
                <a:gd name="connsiteY2" fmla="*/ 416391 h 809310"/>
                <a:gd name="connsiteX3" fmla="*/ 210631 w 1493254"/>
                <a:gd name="connsiteY3" fmla="*/ 511414 h 809310"/>
                <a:gd name="connsiteX4" fmla="*/ 4281 w 1493254"/>
                <a:gd name="connsiteY4" fmla="*/ 809310 h 809310"/>
                <a:gd name="connsiteX0" fmla="*/ 1487984 w 1492252"/>
                <a:gd name="connsiteY0" fmla="*/ 0 h 809310"/>
                <a:gd name="connsiteX1" fmla="*/ 1416232 w 1492252"/>
                <a:gd name="connsiteY1" fmla="*/ 281604 h 809310"/>
                <a:gd name="connsiteX2" fmla="*/ 1061108 w 1492252"/>
                <a:gd name="connsiteY2" fmla="*/ 416391 h 809310"/>
                <a:gd name="connsiteX3" fmla="*/ 254003 w 1492252"/>
                <a:gd name="connsiteY3" fmla="*/ 478899 h 809310"/>
                <a:gd name="connsiteX4" fmla="*/ 3279 w 1492252"/>
                <a:gd name="connsiteY4" fmla="*/ 809310 h 809310"/>
                <a:gd name="connsiteX0" fmla="*/ 1487984 w 1500156"/>
                <a:gd name="connsiteY0" fmla="*/ 0 h 809310"/>
                <a:gd name="connsiteX1" fmla="*/ 1416232 w 1500156"/>
                <a:gd name="connsiteY1" fmla="*/ 281604 h 809310"/>
                <a:gd name="connsiteX2" fmla="*/ 822596 w 1500156"/>
                <a:gd name="connsiteY2" fmla="*/ 392005 h 809310"/>
                <a:gd name="connsiteX3" fmla="*/ 254003 w 1500156"/>
                <a:gd name="connsiteY3" fmla="*/ 478899 h 809310"/>
                <a:gd name="connsiteX4" fmla="*/ 3279 w 1500156"/>
                <a:gd name="connsiteY4" fmla="*/ 809310 h 809310"/>
                <a:gd name="connsiteX0" fmla="*/ 1488105 w 1500277"/>
                <a:gd name="connsiteY0" fmla="*/ 0 h 809310"/>
                <a:gd name="connsiteX1" fmla="*/ 1416353 w 1500277"/>
                <a:gd name="connsiteY1" fmla="*/ 281604 h 809310"/>
                <a:gd name="connsiteX2" fmla="*/ 822717 w 1500277"/>
                <a:gd name="connsiteY2" fmla="*/ 392005 h 809310"/>
                <a:gd name="connsiteX3" fmla="*/ 254124 w 1500277"/>
                <a:gd name="connsiteY3" fmla="*/ 478899 h 809310"/>
                <a:gd name="connsiteX4" fmla="*/ 3400 w 1500277"/>
                <a:gd name="connsiteY4" fmla="*/ 809310 h 809310"/>
                <a:gd name="connsiteX0" fmla="*/ 1488339 w 1500511"/>
                <a:gd name="connsiteY0" fmla="*/ 0 h 809310"/>
                <a:gd name="connsiteX1" fmla="*/ 1416587 w 1500511"/>
                <a:gd name="connsiteY1" fmla="*/ 281604 h 809310"/>
                <a:gd name="connsiteX2" fmla="*/ 822951 w 1500511"/>
                <a:gd name="connsiteY2" fmla="*/ 392005 h 809310"/>
                <a:gd name="connsiteX3" fmla="*/ 254358 w 1500511"/>
                <a:gd name="connsiteY3" fmla="*/ 478899 h 809310"/>
                <a:gd name="connsiteX4" fmla="*/ 3634 w 1500511"/>
                <a:gd name="connsiteY4" fmla="*/ 809310 h 809310"/>
                <a:gd name="connsiteX0" fmla="*/ 1500473 w 1509464"/>
                <a:gd name="connsiteY0" fmla="*/ 0 h 806770"/>
                <a:gd name="connsiteX1" fmla="*/ 1416587 w 1509464"/>
                <a:gd name="connsiteY1" fmla="*/ 279064 h 806770"/>
                <a:gd name="connsiteX2" fmla="*/ 822951 w 1509464"/>
                <a:gd name="connsiteY2" fmla="*/ 389465 h 806770"/>
                <a:gd name="connsiteX3" fmla="*/ 254358 w 1509464"/>
                <a:gd name="connsiteY3" fmla="*/ 476359 h 806770"/>
                <a:gd name="connsiteX4" fmla="*/ 3634 w 1509464"/>
                <a:gd name="connsiteY4" fmla="*/ 806770 h 806770"/>
                <a:gd name="connsiteX0" fmla="*/ 1514340 w 1520689"/>
                <a:gd name="connsiteY0" fmla="*/ 0 h 806770"/>
                <a:gd name="connsiteX1" fmla="*/ 1416587 w 1520689"/>
                <a:gd name="connsiteY1" fmla="*/ 279064 h 806770"/>
                <a:gd name="connsiteX2" fmla="*/ 822951 w 1520689"/>
                <a:gd name="connsiteY2" fmla="*/ 389465 h 806770"/>
                <a:gd name="connsiteX3" fmla="*/ 254358 w 1520689"/>
                <a:gd name="connsiteY3" fmla="*/ 476359 h 806770"/>
                <a:gd name="connsiteX4" fmla="*/ 3634 w 1520689"/>
                <a:gd name="connsiteY4" fmla="*/ 806770 h 806770"/>
                <a:gd name="connsiteX0" fmla="*/ 1514340 w 1518314"/>
                <a:gd name="connsiteY0" fmla="*/ 0 h 806770"/>
                <a:gd name="connsiteX1" fmla="*/ 1399254 w 1518314"/>
                <a:gd name="connsiteY1" fmla="*/ 286685 h 806770"/>
                <a:gd name="connsiteX2" fmla="*/ 822951 w 1518314"/>
                <a:gd name="connsiteY2" fmla="*/ 389465 h 806770"/>
                <a:gd name="connsiteX3" fmla="*/ 254358 w 1518314"/>
                <a:gd name="connsiteY3" fmla="*/ 476359 h 806770"/>
                <a:gd name="connsiteX4" fmla="*/ 3634 w 1518314"/>
                <a:gd name="connsiteY4" fmla="*/ 806770 h 806770"/>
                <a:gd name="connsiteX0" fmla="*/ 1513504 w 1517478"/>
                <a:gd name="connsiteY0" fmla="*/ 0 h 806770"/>
                <a:gd name="connsiteX1" fmla="*/ 1398418 w 1517478"/>
                <a:gd name="connsiteY1" fmla="*/ 286685 h 806770"/>
                <a:gd name="connsiteX2" fmla="*/ 822115 w 1517478"/>
                <a:gd name="connsiteY2" fmla="*/ 389465 h 806770"/>
                <a:gd name="connsiteX3" fmla="*/ 304492 w 1517478"/>
                <a:gd name="connsiteY3" fmla="*/ 461117 h 806770"/>
                <a:gd name="connsiteX4" fmla="*/ 2798 w 1517478"/>
                <a:gd name="connsiteY4" fmla="*/ 806770 h 806770"/>
                <a:gd name="connsiteX0" fmla="*/ 1513550 w 1517524"/>
                <a:gd name="connsiteY0" fmla="*/ 0 h 806770"/>
                <a:gd name="connsiteX1" fmla="*/ 1398464 w 1517524"/>
                <a:gd name="connsiteY1" fmla="*/ 286685 h 806770"/>
                <a:gd name="connsiteX2" fmla="*/ 822161 w 1517524"/>
                <a:gd name="connsiteY2" fmla="*/ 389465 h 806770"/>
                <a:gd name="connsiteX3" fmla="*/ 300897 w 1517524"/>
                <a:gd name="connsiteY3" fmla="*/ 440795 h 806770"/>
                <a:gd name="connsiteX4" fmla="*/ 2844 w 1517524"/>
                <a:gd name="connsiteY4" fmla="*/ 806770 h 806770"/>
                <a:gd name="connsiteX0" fmla="*/ 1513458 w 1517432"/>
                <a:gd name="connsiteY0" fmla="*/ 0 h 806770"/>
                <a:gd name="connsiteX1" fmla="*/ 1398372 w 1517432"/>
                <a:gd name="connsiteY1" fmla="*/ 286685 h 806770"/>
                <a:gd name="connsiteX2" fmla="*/ 822069 w 1517432"/>
                <a:gd name="connsiteY2" fmla="*/ 389465 h 806770"/>
                <a:gd name="connsiteX3" fmla="*/ 308086 w 1517432"/>
                <a:gd name="connsiteY3" fmla="*/ 468738 h 806770"/>
                <a:gd name="connsiteX4" fmla="*/ 2752 w 1517432"/>
                <a:gd name="connsiteY4" fmla="*/ 806770 h 806770"/>
                <a:gd name="connsiteX0" fmla="*/ 1514067 w 1518041"/>
                <a:gd name="connsiteY0" fmla="*/ 0 h 806770"/>
                <a:gd name="connsiteX1" fmla="*/ 1398981 w 1518041"/>
                <a:gd name="connsiteY1" fmla="*/ 286685 h 806770"/>
                <a:gd name="connsiteX2" fmla="*/ 822678 w 1518041"/>
                <a:gd name="connsiteY2" fmla="*/ 389465 h 806770"/>
                <a:gd name="connsiteX3" fmla="*/ 308695 w 1518041"/>
                <a:gd name="connsiteY3" fmla="*/ 468738 h 806770"/>
                <a:gd name="connsiteX4" fmla="*/ 3361 w 1518041"/>
                <a:gd name="connsiteY4" fmla="*/ 806770 h 806770"/>
                <a:gd name="connsiteX0" fmla="*/ 1519842 w 1523816"/>
                <a:gd name="connsiteY0" fmla="*/ 0 h 806770"/>
                <a:gd name="connsiteX1" fmla="*/ 1404756 w 1523816"/>
                <a:gd name="connsiteY1" fmla="*/ 286685 h 806770"/>
                <a:gd name="connsiteX2" fmla="*/ 828453 w 1523816"/>
                <a:gd name="connsiteY2" fmla="*/ 389465 h 806770"/>
                <a:gd name="connsiteX3" fmla="*/ 314470 w 1523816"/>
                <a:gd name="connsiteY3" fmla="*/ 468738 h 806770"/>
                <a:gd name="connsiteX4" fmla="*/ 9136 w 1523816"/>
                <a:gd name="connsiteY4" fmla="*/ 806770 h 806770"/>
                <a:gd name="connsiteX0" fmla="*/ 1516513 w 1520487"/>
                <a:gd name="connsiteY0" fmla="*/ 0 h 806770"/>
                <a:gd name="connsiteX1" fmla="*/ 1401427 w 1520487"/>
                <a:gd name="connsiteY1" fmla="*/ 286685 h 806770"/>
                <a:gd name="connsiteX2" fmla="*/ 825124 w 1520487"/>
                <a:gd name="connsiteY2" fmla="*/ 389465 h 806770"/>
                <a:gd name="connsiteX3" fmla="*/ 311141 w 1520487"/>
                <a:gd name="connsiteY3" fmla="*/ 468738 h 806770"/>
                <a:gd name="connsiteX4" fmla="*/ 5807 w 1520487"/>
                <a:gd name="connsiteY4" fmla="*/ 806770 h 806770"/>
                <a:gd name="connsiteX0" fmla="*/ 1520176 w 1524150"/>
                <a:gd name="connsiteY0" fmla="*/ 0 h 806770"/>
                <a:gd name="connsiteX1" fmla="*/ 1405090 w 1524150"/>
                <a:gd name="connsiteY1" fmla="*/ 286685 h 806770"/>
                <a:gd name="connsiteX2" fmla="*/ 828787 w 1524150"/>
                <a:gd name="connsiteY2" fmla="*/ 389465 h 806770"/>
                <a:gd name="connsiteX3" fmla="*/ 314804 w 1524150"/>
                <a:gd name="connsiteY3" fmla="*/ 468738 h 806770"/>
                <a:gd name="connsiteX4" fmla="*/ 9470 w 1524150"/>
                <a:gd name="connsiteY4" fmla="*/ 806770 h 806770"/>
                <a:gd name="connsiteX0" fmla="*/ 1519734 w 1523708"/>
                <a:gd name="connsiteY0" fmla="*/ 0 h 806770"/>
                <a:gd name="connsiteX1" fmla="*/ 1404648 w 1523708"/>
                <a:gd name="connsiteY1" fmla="*/ 286685 h 806770"/>
                <a:gd name="connsiteX2" fmla="*/ 828345 w 1523708"/>
                <a:gd name="connsiteY2" fmla="*/ 389465 h 806770"/>
                <a:gd name="connsiteX3" fmla="*/ 314362 w 1523708"/>
                <a:gd name="connsiteY3" fmla="*/ 468738 h 806770"/>
                <a:gd name="connsiteX4" fmla="*/ 9028 w 1523708"/>
                <a:gd name="connsiteY4" fmla="*/ 806770 h 806770"/>
                <a:gd name="connsiteX0" fmla="*/ 1517886 w 1521860"/>
                <a:gd name="connsiteY0" fmla="*/ 0 h 806770"/>
                <a:gd name="connsiteX1" fmla="*/ 1402800 w 1521860"/>
                <a:gd name="connsiteY1" fmla="*/ 286685 h 806770"/>
                <a:gd name="connsiteX2" fmla="*/ 826497 w 1521860"/>
                <a:gd name="connsiteY2" fmla="*/ 389465 h 806770"/>
                <a:gd name="connsiteX3" fmla="*/ 312514 w 1521860"/>
                <a:gd name="connsiteY3" fmla="*/ 468738 h 806770"/>
                <a:gd name="connsiteX4" fmla="*/ 7180 w 1521860"/>
                <a:gd name="connsiteY4" fmla="*/ 806770 h 806770"/>
                <a:gd name="connsiteX0" fmla="*/ 1518184 w 1522158"/>
                <a:gd name="connsiteY0" fmla="*/ 0 h 806770"/>
                <a:gd name="connsiteX1" fmla="*/ 1403098 w 1522158"/>
                <a:gd name="connsiteY1" fmla="*/ 286685 h 806770"/>
                <a:gd name="connsiteX2" fmla="*/ 826795 w 1522158"/>
                <a:gd name="connsiteY2" fmla="*/ 389465 h 806770"/>
                <a:gd name="connsiteX3" fmla="*/ 312812 w 1522158"/>
                <a:gd name="connsiteY3" fmla="*/ 468738 h 806770"/>
                <a:gd name="connsiteX4" fmla="*/ 7478 w 1522158"/>
                <a:gd name="connsiteY4" fmla="*/ 806770 h 806770"/>
                <a:gd name="connsiteX0" fmla="*/ 1518763 w 1522737"/>
                <a:gd name="connsiteY0" fmla="*/ 0 h 806770"/>
                <a:gd name="connsiteX1" fmla="*/ 1403677 w 1522737"/>
                <a:gd name="connsiteY1" fmla="*/ 286685 h 806770"/>
                <a:gd name="connsiteX2" fmla="*/ 827374 w 1522737"/>
                <a:gd name="connsiteY2" fmla="*/ 389465 h 806770"/>
                <a:gd name="connsiteX3" fmla="*/ 313391 w 1522737"/>
                <a:gd name="connsiteY3" fmla="*/ 468738 h 806770"/>
                <a:gd name="connsiteX4" fmla="*/ 8057 w 1522737"/>
                <a:gd name="connsiteY4" fmla="*/ 806770 h 80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2737" h="806770">
                  <a:moveTo>
                    <a:pt x="1518763" y="0"/>
                  </a:moveTo>
                  <a:cubicBezTo>
                    <a:pt x="1531463" y="8965"/>
                    <a:pt x="1518909" y="221774"/>
                    <a:pt x="1403677" y="286685"/>
                  </a:cubicBezTo>
                  <a:cubicBezTo>
                    <a:pt x="1288445" y="351596"/>
                    <a:pt x="1009088" y="359123"/>
                    <a:pt x="827374" y="389465"/>
                  </a:cubicBezTo>
                  <a:cubicBezTo>
                    <a:pt x="645660" y="419807"/>
                    <a:pt x="528796" y="432135"/>
                    <a:pt x="313391" y="468738"/>
                  </a:cubicBezTo>
                  <a:cubicBezTo>
                    <a:pt x="73972" y="541494"/>
                    <a:pt x="-31294" y="681072"/>
                    <a:pt x="8057" y="80677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w="lg" len="med"/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A4184C5-77C1-E885-8907-C72EAF15B153}"/>
                </a:ext>
              </a:extLst>
            </p:cNvPr>
            <p:cNvSpPr/>
            <p:nvPr/>
          </p:nvSpPr>
          <p:spPr>
            <a:xfrm>
              <a:off x="4824975" y="1716685"/>
              <a:ext cx="287843" cy="703114"/>
            </a:xfrm>
            <a:custGeom>
              <a:avLst/>
              <a:gdLst>
                <a:gd name="connsiteX0" fmla="*/ 373609 w 373781"/>
                <a:gd name="connsiteY0" fmla="*/ 0 h 690283"/>
                <a:gd name="connsiteX1" fmla="*/ 319821 w 373781"/>
                <a:gd name="connsiteY1" fmla="*/ 233083 h 690283"/>
                <a:gd name="connsiteX2" fmla="*/ 41915 w 373781"/>
                <a:gd name="connsiteY2" fmla="*/ 385483 h 690283"/>
                <a:gd name="connsiteX3" fmla="*/ 6057 w 373781"/>
                <a:gd name="connsiteY3" fmla="*/ 690283 h 690283"/>
                <a:gd name="connsiteX0" fmla="*/ 369084 w 369150"/>
                <a:gd name="connsiteY0" fmla="*/ 0 h 690283"/>
                <a:gd name="connsiteX1" fmla="*/ 315296 w 369150"/>
                <a:gd name="connsiteY1" fmla="*/ 233083 h 690283"/>
                <a:gd name="connsiteX2" fmla="*/ 70728 w 369150"/>
                <a:gd name="connsiteY2" fmla="*/ 376597 h 690283"/>
                <a:gd name="connsiteX3" fmla="*/ 1532 w 369150"/>
                <a:gd name="connsiteY3" fmla="*/ 690283 h 690283"/>
                <a:gd name="connsiteX0" fmla="*/ 374875 w 375070"/>
                <a:gd name="connsiteY0" fmla="*/ 0 h 690283"/>
                <a:gd name="connsiteX1" fmla="*/ 321087 w 375070"/>
                <a:gd name="connsiteY1" fmla="*/ 233083 h 690283"/>
                <a:gd name="connsiteX2" fmla="*/ 39403 w 375070"/>
                <a:gd name="connsiteY2" fmla="*/ 398812 h 690283"/>
                <a:gd name="connsiteX3" fmla="*/ 7323 w 375070"/>
                <a:gd name="connsiteY3" fmla="*/ 690283 h 690283"/>
                <a:gd name="connsiteX0" fmla="*/ 374875 w 374886"/>
                <a:gd name="connsiteY0" fmla="*/ 0 h 690283"/>
                <a:gd name="connsiteX1" fmla="*/ 283971 w 374886"/>
                <a:gd name="connsiteY1" fmla="*/ 290845 h 690283"/>
                <a:gd name="connsiteX2" fmla="*/ 39403 w 374886"/>
                <a:gd name="connsiteY2" fmla="*/ 398812 h 690283"/>
                <a:gd name="connsiteX3" fmla="*/ 7323 w 374886"/>
                <a:gd name="connsiteY3" fmla="*/ 690283 h 690283"/>
                <a:gd name="connsiteX0" fmla="*/ 374875 w 374889"/>
                <a:gd name="connsiteY0" fmla="*/ 0 h 690283"/>
                <a:gd name="connsiteX1" fmla="*/ 290157 w 374889"/>
                <a:gd name="connsiteY1" fmla="*/ 333055 h 690283"/>
                <a:gd name="connsiteX2" fmla="*/ 39403 w 374889"/>
                <a:gd name="connsiteY2" fmla="*/ 398812 h 690283"/>
                <a:gd name="connsiteX3" fmla="*/ 7323 w 374889"/>
                <a:gd name="connsiteY3" fmla="*/ 690283 h 690283"/>
                <a:gd name="connsiteX0" fmla="*/ 389805 w 389821"/>
                <a:gd name="connsiteY0" fmla="*/ 0 h 690283"/>
                <a:gd name="connsiteX1" fmla="*/ 305087 w 389821"/>
                <a:gd name="connsiteY1" fmla="*/ 333055 h 690283"/>
                <a:gd name="connsiteX2" fmla="*/ 26496 w 389821"/>
                <a:gd name="connsiteY2" fmla="*/ 434358 h 690283"/>
                <a:gd name="connsiteX3" fmla="*/ 22253 w 389821"/>
                <a:gd name="connsiteY3" fmla="*/ 690283 h 690283"/>
                <a:gd name="connsiteX0" fmla="*/ 372135 w 372148"/>
                <a:gd name="connsiteY0" fmla="*/ 0 h 690283"/>
                <a:gd name="connsiteX1" fmla="*/ 287417 w 372148"/>
                <a:gd name="connsiteY1" fmla="*/ 333055 h 690283"/>
                <a:gd name="connsiteX2" fmla="*/ 45943 w 372148"/>
                <a:gd name="connsiteY2" fmla="*/ 432136 h 690283"/>
                <a:gd name="connsiteX3" fmla="*/ 4583 w 372148"/>
                <a:gd name="connsiteY3" fmla="*/ 690283 h 690283"/>
                <a:gd name="connsiteX0" fmla="*/ 370141 w 370153"/>
                <a:gd name="connsiteY0" fmla="*/ 0 h 690283"/>
                <a:gd name="connsiteX1" fmla="*/ 285423 w 370153"/>
                <a:gd name="connsiteY1" fmla="*/ 333055 h 690283"/>
                <a:gd name="connsiteX2" fmla="*/ 56321 w 370153"/>
                <a:gd name="connsiteY2" fmla="*/ 427693 h 690283"/>
                <a:gd name="connsiteX3" fmla="*/ 2589 w 370153"/>
                <a:gd name="connsiteY3" fmla="*/ 690283 h 690283"/>
                <a:gd name="connsiteX0" fmla="*/ 368790 w 368802"/>
                <a:gd name="connsiteY0" fmla="*/ 0 h 690283"/>
                <a:gd name="connsiteX1" fmla="*/ 284072 w 368802"/>
                <a:gd name="connsiteY1" fmla="*/ 333055 h 690283"/>
                <a:gd name="connsiteX2" fmla="*/ 54970 w 368802"/>
                <a:gd name="connsiteY2" fmla="*/ 427693 h 690283"/>
                <a:gd name="connsiteX3" fmla="*/ 1238 w 368802"/>
                <a:gd name="connsiteY3" fmla="*/ 690283 h 690283"/>
                <a:gd name="connsiteX0" fmla="*/ 369428 w 369440"/>
                <a:gd name="connsiteY0" fmla="*/ 0 h 690283"/>
                <a:gd name="connsiteX1" fmla="*/ 284710 w 369440"/>
                <a:gd name="connsiteY1" fmla="*/ 333055 h 690283"/>
                <a:gd name="connsiteX2" fmla="*/ 55608 w 369440"/>
                <a:gd name="connsiteY2" fmla="*/ 427693 h 690283"/>
                <a:gd name="connsiteX3" fmla="*/ 1876 w 369440"/>
                <a:gd name="connsiteY3" fmla="*/ 690283 h 690283"/>
                <a:gd name="connsiteX0" fmla="*/ 369428 w 369440"/>
                <a:gd name="connsiteY0" fmla="*/ 0 h 690283"/>
                <a:gd name="connsiteX1" fmla="*/ 284710 w 369440"/>
                <a:gd name="connsiteY1" fmla="*/ 333055 h 690283"/>
                <a:gd name="connsiteX2" fmla="*/ 55608 w 369440"/>
                <a:gd name="connsiteY2" fmla="*/ 427693 h 690283"/>
                <a:gd name="connsiteX3" fmla="*/ 1876 w 369440"/>
                <a:gd name="connsiteY3" fmla="*/ 690283 h 690283"/>
                <a:gd name="connsiteX0" fmla="*/ 369428 w 369444"/>
                <a:gd name="connsiteY0" fmla="*/ 0 h 690283"/>
                <a:gd name="connsiteX1" fmla="*/ 284710 w 369444"/>
                <a:gd name="connsiteY1" fmla="*/ 333055 h 690283"/>
                <a:gd name="connsiteX2" fmla="*/ 55608 w 369444"/>
                <a:gd name="connsiteY2" fmla="*/ 427693 h 690283"/>
                <a:gd name="connsiteX3" fmla="*/ 1876 w 369444"/>
                <a:gd name="connsiteY3" fmla="*/ 690283 h 690283"/>
                <a:gd name="connsiteX0" fmla="*/ 369428 w 371122"/>
                <a:gd name="connsiteY0" fmla="*/ 0 h 690283"/>
                <a:gd name="connsiteX1" fmla="*/ 321826 w 371122"/>
                <a:gd name="connsiteY1" fmla="*/ 335278 h 690283"/>
                <a:gd name="connsiteX2" fmla="*/ 55608 w 371122"/>
                <a:gd name="connsiteY2" fmla="*/ 427693 h 690283"/>
                <a:gd name="connsiteX3" fmla="*/ 1876 w 371122"/>
                <a:gd name="connsiteY3" fmla="*/ 690283 h 690283"/>
                <a:gd name="connsiteX0" fmla="*/ 372188 w 373882"/>
                <a:gd name="connsiteY0" fmla="*/ 0 h 710278"/>
                <a:gd name="connsiteX1" fmla="*/ 324586 w 373882"/>
                <a:gd name="connsiteY1" fmla="*/ 335278 h 710278"/>
                <a:gd name="connsiteX2" fmla="*/ 58368 w 373882"/>
                <a:gd name="connsiteY2" fmla="*/ 427693 h 710278"/>
                <a:gd name="connsiteX3" fmla="*/ 1707 w 373882"/>
                <a:gd name="connsiteY3" fmla="*/ 710278 h 71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882" h="710278">
                  <a:moveTo>
                    <a:pt x="372188" y="0"/>
                  </a:moveTo>
                  <a:cubicBezTo>
                    <a:pt x="372935" y="84418"/>
                    <a:pt x="386168" y="259552"/>
                    <a:pt x="324586" y="335278"/>
                  </a:cubicBezTo>
                  <a:cubicBezTo>
                    <a:pt x="263004" y="411004"/>
                    <a:pt x="138500" y="355936"/>
                    <a:pt x="58368" y="427693"/>
                  </a:cubicBezTo>
                  <a:cubicBezTo>
                    <a:pt x="15353" y="495007"/>
                    <a:pt x="-6511" y="595978"/>
                    <a:pt x="1707" y="710278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w="lg" len="med"/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77602EE-8B1D-4315-08A2-F499BE75689A}"/>
                </a:ext>
              </a:extLst>
            </p:cNvPr>
            <p:cNvSpPr/>
            <p:nvPr/>
          </p:nvSpPr>
          <p:spPr>
            <a:xfrm>
              <a:off x="1012027" y="1853991"/>
              <a:ext cx="728272" cy="574017"/>
            </a:xfrm>
            <a:custGeom>
              <a:avLst/>
              <a:gdLst>
                <a:gd name="connsiteX0" fmla="*/ 0 w 586155"/>
                <a:gd name="connsiteY0" fmla="*/ 0 h 555812"/>
                <a:gd name="connsiteX1" fmla="*/ 188258 w 586155"/>
                <a:gd name="connsiteY1" fmla="*/ 215153 h 555812"/>
                <a:gd name="connsiteX2" fmla="*/ 528917 w 586155"/>
                <a:gd name="connsiteY2" fmla="*/ 233082 h 555812"/>
                <a:gd name="connsiteX3" fmla="*/ 582705 w 586155"/>
                <a:gd name="connsiteY3" fmla="*/ 555812 h 555812"/>
                <a:gd name="connsiteX0" fmla="*/ 0 w 586155"/>
                <a:gd name="connsiteY0" fmla="*/ 0 h 560936"/>
                <a:gd name="connsiteX1" fmla="*/ 188258 w 586155"/>
                <a:gd name="connsiteY1" fmla="*/ 220277 h 560936"/>
                <a:gd name="connsiteX2" fmla="*/ 528917 w 586155"/>
                <a:gd name="connsiteY2" fmla="*/ 238206 h 560936"/>
                <a:gd name="connsiteX3" fmla="*/ 582705 w 586155"/>
                <a:gd name="connsiteY3" fmla="*/ 560936 h 560936"/>
                <a:gd name="connsiteX0" fmla="*/ 107 w 586262"/>
                <a:gd name="connsiteY0" fmla="*/ 0 h 560936"/>
                <a:gd name="connsiteX1" fmla="*/ 188365 w 586262"/>
                <a:gd name="connsiteY1" fmla="*/ 220277 h 560936"/>
                <a:gd name="connsiteX2" fmla="*/ 529024 w 586262"/>
                <a:gd name="connsiteY2" fmla="*/ 238206 h 560936"/>
                <a:gd name="connsiteX3" fmla="*/ 582812 w 586262"/>
                <a:gd name="connsiteY3" fmla="*/ 560936 h 560936"/>
                <a:gd name="connsiteX0" fmla="*/ 445 w 586600"/>
                <a:gd name="connsiteY0" fmla="*/ 0 h 560936"/>
                <a:gd name="connsiteX1" fmla="*/ 105592 w 586600"/>
                <a:gd name="connsiteY1" fmla="*/ 202009 h 560936"/>
                <a:gd name="connsiteX2" fmla="*/ 529362 w 586600"/>
                <a:gd name="connsiteY2" fmla="*/ 238206 h 560936"/>
                <a:gd name="connsiteX3" fmla="*/ 583150 w 586600"/>
                <a:gd name="connsiteY3" fmla="*/ 560936 h 560936"/>
                <a:gd name="connsiteX0" fmla="*/ 455 w 587507"/>
                <a:gd name="connsiteY0" fmla="*/ 0 h 560936"/>
                <a:gd name="connsiteX1" fmla="*/ 105602 w 587507"/>
                <a:gd name="connsiteY1" fmla="*/ 202009 h 560936"/>
                <a:gd name="connsiteX2" fmla="*/ 533330 w 587507"/>
                <a:gd name="connsiteY2" fmla="*/ 293009 h 560936"/>
                <a:gd name="connsiteX3" fmla="*/ 583160 w 587507"/>
                <a:gd name="connsiteY3" fmla="*/ 560936 h 560936"/>
                <a:gd name="connsiteX0" fmla="*/ 455 w 583160"/>
                <a:gd name="connsiteY0" fmla="*/ 0 h 560936"/>
                <a:gd name="connsiteX1" fmla="*/ 105602 w 583160"/>
                <a:gd name="connsiteY1" fmla="*/ 202009 h 560936"/>
                <a:gd name="connsiteX2" fmla="*/ 533330 w 583160"/>
                <a:gd name="connsiteY2" fmla="*/ 293009 h 560936"/>
                <a:gd name="connsiteX3" fmla="*/ 583160 w 583160"/>
                <a:gd name="connsiteY3" fmla="*/ 560936 h 560936"/>
                <a:gd name="connsiteX0" fmla="*/ 455 w 584291"/>
                <a:gd name="connsiteY0" fmla="*/ 0 h 560936"/>
                <a:gd name="connsiteX1" fmla="*/ 105602 w 584291"/>
                <a:gd name="connsiteY1" fmla="*/ 202009 h 560936"/>
                <a:gd name="connsiteX2" fmla="*/ 533330 w 584291"/>
                <a:gd name="connsiteY2" fmla="*/ 293009 h 560936"/>
                <a:gd name="connsiteX3" fmla="*/ 583160 w 584291"/>
                <a:gd name="connsiteY3" fmla="*/ 560936 h 560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4291" h="560936">
                  <a:moveTo>
                    <a:pt x="455" y="0"/>
                  </a:moveTo>
                  <a:cubicBezTo>
                    <a:pt x="-3468" y="93276"/>
                    <a:pt x="16789" y="153174"/>
                    <a:pt x="105602" y="202009"/>
                  </a:cubicBezTo>
                  <a:cubicBezTo>
                    <a:pt x="194415" y="250844"/>
                    <a:pt x="467589" y="236233"/>
                    <a:pt x="533330" y="293009"/>
                  </a:cubicBezTo>
                  <a:cubicBezTo>
                    <a:pt x="599071" y="349785"/>
                    <a:pt x="581897" y="432257"/>
                    <a:pt x="583160" y="56093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w="lg" len="med"/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8AB7F49-E46B-23A8-CDFF-14E499C746DD}"/>
                </a:ext>
              </a:extLst>
            </p:cNvPr>
            <p:cNvSpPr/>
            <p:nvPr/>
          </p:nvSpPr>
          <p:spPr>
            <a:xfrm>
              <a:off x="1888346" y="1722143"/>
              <a:ext cx="455416" cy="707882"/>
            </a:xfrm>
            <a:custGeom>
              <a:avLst/>
              <a:gdLst>
                <a:gd name="connsiteX0" fmla="*/ 411881 w 446386"/>
                <a:gd name="connsiteY0" fmla="*/ 0 h 699247"/>
                <a:gd name="connsiteX1" fmla="*/ 411881 w 446386"/>
                <a:gd name="connsiteY1" fmla="*/ 313765 h 699247"/>
                <a:gd name="connsiteX2" fmla="*/ 53293 w 446386"/>
                <a:gd name="connsiteY2" fmla="*/ 546847 h 699247"/>
                <a:gd name="connsiteX3" fmla="*/ 8470 w 446386"/>
                <a:gd name="connsiteY3" fmla="*/ 699247 h 699247"/>
                <a:gd name="connsiteX0" fmla="*/ 405917 w 440422"/>
                <a:gd name="connsiteY0" fmla="*/ 0 h 697269"/>
                <a:gd name="connsiteX1" fmla="*/ 405917 w 440422"/>
                <a:gd name="connsiteY1" fmla="*/ 313765 h 697269"/>
                <a:gd name="connsiteX2" fmla="*/ 47329 w 440422"/>
                <a:gd name="connsiteY2" fmla="*/ 546847 h 697269"/>
                <a:gd name="connsiteX3" fmla="*/ 12031 w 440422"/>
                <a:gd name="connsiteY3" fmla="*/ 697269 h 697269"/>
                <a:gd name="connsiteX0" fmla="*/ 395259 w 429764"/>
                <a:gd name="connsiteY0" fmla="*/ 0 h 697269"/>
                <a:gd name="connsiteX1" fmla="*/ 395259 w 429764"/>
                <a:gd name="connsiteY1" fmla="*/ 313765 h 697269"/>
                <a:gd name="connsiteX2" fmla="*/ 36671 w 429764"/>
                <a:gd name="connsiteY2" fmla="*/ 546847 h 697269"/>
                <a:gd name="connsiteX3" fmla="*/ 1373 w 429764"/>
                <a:gd name="connsiteY3" fmla="*/ 697269 h 697269"/>
                <a:gd name="connsiteX0" fmla="*/ 402403 w 433178"/>
                <a:gd name="connsiteY0" fmla="*/ 0 h 697269"/>
                <a:gd name="connsiteX1" fmla="*/ 395259 w 433178"/>
                <a:gd name="connsiteY1" fmla="*/ 313765 h 697269"/>
                <a:gd name="connsiteX2" fmla="*/ 36671 w 433178"/>
                <a:gd name="connsiteY2" fmla="*/ 546847 h 697269"/>
                <a:gd name="connsiteX3" fmla="*/ 1373 w 433178"/>
                <a:gd name="connsiteY3" fmla="*/ 697269 h 697269"/>
                <a:gd name="connsiteX0" fmla="*/ 402403 w 427228"/>
                <a:gd name="connsiteY0" fmla="*/ 0 h 697269"/>
                <a:gd name="connsiteX1" fmla="*/ 395259 w 427228"/>
                <a:gd name="connsiteY1" fmla="*/ 313765 h 697269"/>
                <a:gd name="connsiteX2" fmla="*/ 36671 w 427228"/>
                <a:gd name="connsiteY2" fmla="*/ 546847 h 697269"/>
                <a:gd name="connsiteX3" fmla="*/ 1373 w 427228"/>
                <a:gd name="connsiteY3" fmla="*/ 697269 h 697269"/>
                <a:gd name="connsiteX0" fmla="*/ 466697 w 470318"/>
                <a:gd name="connsiteY0" fmla="*/ 0 h 697269"/>
                <a:gd name="connsiteX1" fmla="*/ 395259 w 470318"/>
                <a:gd name="connsiteY1" fmla="*/ 313765 h 697269"/>
                <a:gd name="connsiteX2" fmla="*/ 36671 w 470318"/>
                <a:gd name="connsiteY2" fmla="*/ 546847 h 697269"/>
                <a:gd name="connsiteX3" fmla="*/ 1373 w 470318"/>
                <a:gd name="connsiteY3" fmla="*/ 697269 h 697269"/>
                <a:gd name="connsiteX0" fmla="*/ 466697 w 467266"/>
                <a:gd name="connsiteY0" fmla="*/ 0 h 697269"/>
                <a:gd name="connsiteX1" fmla="*/ 259528 w 467266"/>
                <a:gd name="connsiteY1" fmla="*/ 329024 h 697269"/>
                <a:gd name="connsiteX2" fmla="*/ 36671 w 467266"/>
                <a:gd name="connsiteY2" fmla="*/ 546847 h 697269"/>
                <a:gd name="connsiteX3" fmla="*/ 1373 w 467266"/>
                <a:gd name="connsiteY3" fmla="*/ 697269 h 697269"/>
                <a:gd name="connsiteX0" fmla="*/ 466697 w 468563"/>
                <a:gd name="connsiteY0" fmla="*/ 0 h 697269"/>
                <a:gd name="connsiteX1" fmla="*/ 369066 w 468563"/>
                <a:gd name="connsiteY1" fmla="*/ 326844 h 697269"/>
                <a:gd name="connsiteX2" fmla="*/ 36671 w 468563"/>
                <a:gd name="connsiteY2" fmla="*/ 546847 h 697269"/>
                <a:gd name="connsiteX3" fmla="*/ 1373 w 468563"/>
                <a:gd name="connsiteY3" fmla="*/ 697269 h 697269"/>
                <a:gd name="connsiteX0" fmla="*/ 466697 w 467508"/>
                <a:gd name="connsiteY0" fmla="*/ 0 h 697269"/>
                <a:gd name="connsiteX1" fmla="*/ 369066 w 467508"/>
                <a:gd name="connsiteY1" fmla="*/ 326844 h 697269"/>
                <a:gd name="connsiteX2" fmla="*/ 36671 w 467508"/>
                <a:gd name="connsiteY2" fmla="*/ 546847 h 697269"/>
                <a:gd name="connsiteX3" fmla="*/ 1373 w 467508"/>
                <a:gd name="connsiteY3" fmla="*/ 697269 h 697269"/>
                <a:gd name="connsiteX0" fmla="*/ 466697 w 468011"/>
                <a:gd name="connsiteY0" fmla="*/ 0 h 697269"/>
                <a:gd name="connsiteX1" fmla="*/ 369066 w 468011"/>
                <a:gd name="connsiteY1" fmla="*/ 326844 h 697269"/>
                <a:gd name="connsiteX2" fmla="*/ 36671 w 468011"/>
                <a:gd name="connsiteY2" fmla="*/ 546847 h 697269"/>
                <a:gd name="connsiteX3" fmla="*/ 1373 w 468011"/>
                <a:gd name="connsiteY3" fmla="*/ 697269 h 697269"/>
                <a:gd name="connsiteX0" fmla="*/ 466697 w 469892"/>
                <a:gd name="connsiteY0" fmla="*/ 0 h 697269"/>
                <a:gd name="connsiteX1" fmla="*/ 369066 w 469892"/>
                <a:gd name="connsiteY1" fmla="*/ 326844 h 697269"/>
                <a:gd name="connsiteX2" fmla="*/ 36671 w 469892"/>
                <a:gd name="connsiteY2" fmla="*/ 546847 h 697269"/>
                <a:gd name="connsiteX3" fmla="*/ 1373 w 469892"/>
                <a:gd name="connsiteY3" fmla="*/ 697269 h 697269"/>
                <a:gd name="connsiteX0" fmla="*/ 466697 w 467571"/>
                <a:gd name="connsiteY0" fmla="*/ 0 h 697269"/>
                <a:gd name="connsiteX1" fmla="*/ 290485 w 467571"/>
                <a:gd name="connsiteY1" fmla="*/ 326844 h 697269"/>
                <a:gd name="connsiteX2" fmla="*/ 36671 w 467571"/>
                <a:gd name="connsiteY2" fmla="*/ 546847 h 697269"/>
                <a:gd name="connsiteX3" fmla="*/ 1373 w 467571"/>
                <a:gd name="connsiteY3" fmla="*/ 697269 h 697269"/>
                <a:gd name="connsiteX0" fmla="*/ 466697 w 470369"/>
                <a:gd name="connsiteY0" fmla="*/ 0 h 697269"/>
                <a:gd name="connsiteX1" fmla="*/ 373829 w 470369"/>
                <a:gd name="connsiteY1" fmla="*/ 383518 h 697269"/>
                <a:gd name="connsiteX2" fmla="*/ 36671 w 470369"/>
                <a:gd name="connsiteY2" fmla="*/ 546847 h 697269"/>
                <a:gd name="connsiteX3" fmla="*/ 1373 w 470369"/>
                <a:gd name="connsiteY3" fmla="*/ 697269 h 697269"/>
                <a:gd name="connsiteX0" fmla="*/ 465324 w 467334"/>
                <a:gd name="connsiteY0" fmla="*/ 0 h 697269"/>
                <a:gd name="connsiteX1" fmla="*/ 372456 w 467334"/>
                <a:gd name="connsiteY1" fmla="*/ 383518 h 697269"/>
                <a:gd name="connsiteX2" fmla="*/ 42442 w 467334"/>
                <a:gd name="connsiteY2" fmla="*/ 440039 h 697269"/>
                <a:gd name="connsiteX3" fmla="*/ 0 w 467334"/>
                <a:gd name="connsiteY3" fmla="*/ 697269 h 697269"/>
                <a:gd name="connsiteX0" fmla="*/ 465324 w 467440"/>
                <a:gd name="connsiteY0" fmla="*/ 0 h 697269"/>
                <a:gd name="connsiteX1" fmla="*/ 374837 w 467440"/>
                <a:gd name="connsiteY1" fmla="*/ 320305 h 697269"/>
                <a:gd name="connsiteX2" fmla="*/ 42442 w 467440"/>
                <a:gd name="connsiteY2" fmla="*/ 440039 h 697269"/>
                <a:gd name="connsiteX3" fmla="*/ 0 w 467440"/>
                <a:gd name="connsiteY3" fmla="*/ 697269 h 697269"/>
                <a:gd name="connsiteX0" fmla="*/ 465324 w 467440"/>
                <a:gd name="connsiteY0" fmla="*/ 0 h 697269"/>
                <a:gd name="connsiteX1" fmla="*/ 374837 w 467440"/>
                <a:gd name="connsiteY1" fmla="*/ 320305 h 697269"/>
                <a:gd name="connsiteX2" fmla="*/ 42442 w 467440"/>
                <a:gd name="connsiteY2" fmla="*/ 440039 h 697269"/>
                <a:gd name="connsiteX3" fmla="*/ 0 w 467440"/>
                <a:gd name="connsiteY3" fmla="*/ 697269 h 697269"/>
                <a:gd name="connsiteX0" fmla="*/ 465324 w 467440"/>
                <a:gd name="connsiteY0" fmla="*/ 0 h 697269"/>
                <a:gd name="connsiteX1" fmla="*/ 374837 w 467440"/>
                <a:gd name="connsiteY1" fmla="*/ 320305 h 697269"/>
                <a:gd name="connsiteX2" fmla="*/ 42442 w 467440"/>
                <a:gd name="connsiteY2" fmla="*/ 440039 h 697269"/>
                <a:gd name="connsiteX3" fmla="*/ 0 w 467440"/>
                <a:gd name="connsiteY3" fmla="*/ 697269 h 697269"/>
                <a:gd name="connsiteX0" fmla="*/ 467455 w 469571"/>
                <a:gd name="connsiteY0" fmla="*/ 0 h 697269"/>
                <a:gd name="connsiteX1" fmla="*/ 376968 w 469571"/>
                <a:gd name="connsiteY1" fmla="*/ 320305 h 697269"/>
                <a:gd name="connsiteX2" fmla="*/ 44573 w 469571"/>
                <a:gd name="connsiteY2" fmla="*/ 440039 h 697269"/>
                <a:gd name="connsiteX3" fmla="*/ 2131 w 469571"/>
                <a:gd name="connsiteY3" fmla="*/ 697269 h 697269"/>
                <a:gd name="connsiteX0" fmla="*/ 462820 w 464936"/>
                <a:gd name="connsiteY0" fmla="*/ 0 h 701628"/>
                <a:gd name="connsiteX1" fmla="*/ 372333 w 464936"/>
                <a:gd name="connsiteY1" fmla="*/ 320305 h 701628"/>
                <a:gd name="connsiteX2" fmla="*/ 39938 w 464936"/>
                <a:gd name="connsiteY2" fmla="*/ 440039 h 701628"/>
                <a:gd name="connsiteX3" fmla="*/ 9402 w 464936"/>
                <a:gd name="connsiteY3" fmla="*/ 701628 h 701628"/>
                <a:gd name="connsiteX0" fmla="*/ 453418 w 455416"/>
                <a:gd name="connsiteY0" fmla="*/ 0 h 701628"/>
                <a:gd name="connsiteX1" fmla="*/ 362931 w 455416"/>
                <a:gd name="connsiteY1" fmla="*/ 320305 h 701628"/>
                <a:gd name="connsiteX2" fmla="*/ 47204 w 455416"/>
                <a:gd name="connsiteY2" fmla="*/ 442219 h 701628"/>
                <a:gd name="connsiteX3" fmla="*/ 0 w 455416"/>
                <a:gd name="connsiteY3" fmla="*/ 701628 h 70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5416" h="701628">
                  <a:moveTo>
                    <a:pt x="453418" y="0"/>
                  </a:moveTo>
                  <a:cubicBezTo>
                    <a:pt x="464250" y="125158"/>
                    <a:pt x="430633" y="246602"/>
                    <a:pt x="362931" y="320305"/>
                  </a:cubicBezTo>
                  <a:cubicBezTo>
                    <a:pt x="295229" y="394008"/>
                    <a:pt x="114439" y="377972"/>
                    <a:pt x="47204" y="442219"/>
                  </a:cubicBezTo>
                  <a:cubicBezTo>
                    <a:pt x="-31937" y="508647"/>
                    <a:pt x="17369" y="655573"/>
                    <a:pt x="0" y="701628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w="lg" len="med"/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9B16D4B-4A95-8C68-8FD1-5128DED98C25}"/>
                </a:ext>
              </a:extLst>
            </p:cNvPr>
            <p:cNvSpPr/>
            <p:nvPr/>
          </p:nvSpPr>
          <p:spPr>
            <a:xfrm>
              <a:off x="3965124" y="1719407"/>
              <a:ext cx="705037" cy="698227"/>
            </a:xfrm>
            <a:custGeom>
              <a:avLst/>
              <a:gdLst>
                <a:gd name="connsiteX0" fmla="*/ 0 w 698500"/>
                <a:gd name="connsiteY0" fmla="*/ 0 h 800100"/>
                <a:gd name="connsiteX1" fmla="*/ 241300 w 698500"/>
                <a:gd name="connsiteY1" fmla="*/ 361950 h 800100"/>
                <a:gd name="connsiteX2" fmla="*/ 603250 w 698500"/>
                <a:gd name="connsiteY2" fmla="*/ 431800 h 800100"/>
                <a:gd name="connsiteX3" fmla="*/ 698500 w 698500"/>
                <a:gd name="connsiteY3" fmla="*/ 800100 h 800100"/>
                <a:gd name="connsiteX0" fmla="*/ 0 w 619125"/>
                <a:gd name="connsiteY0" fmla="*/ 0 h 796160"/>
                <a:gd name="connsiteX1" fmla="*/ 161925 w 619125"/>
                <a:gd name="connsiteY1" fmla="*/ 358010 h 796160"/>
                <a:gd name="connsiteX2" fmla="*/ 523875 w 619125"/>
                <a:gd name="connsiteY2" fmla="*/ 427860 h 796160"/>
                <a:gd name="connsiteX3" fmla="*/ 619125 w 619125"/>
                <a:gd name="connsiteY3" fmla="*/ 796160 h 796160"/>
                <a:gd name="connsiteX0" fmla="*/ 0 w 619125"/>
                <a:gd name="connsiteY0" fmla="*/ 0 h 796160"/>
                <a:gd name="connsiteX1" fmla="*/ 161925 w 619125"/>
                <a:gd name="connsiteY1" fmla="*/ 358010 h 796160"/>
                <a:gd name="connsiteX2" fmla="*/ 523875 w 619125"/>
                <a:gd name="connsiteY2" fmla="*/ 427860 h 796160"/>
                <a:gd name="connsiteX3" fmla="*/ 619125 w 619125"/>
                <a:gd name="connsiteY3" fmla="*/ 796160 h 796160"/>
                <a:gd name="connsiteX0" fmla="*/ 0 w 619125"/>
                <a:gd name="connsiteY0" fmla="*/ 0 h 847381"/>
                <a:gd name="connsiteX1" fmla="*/ 161925 w 619125"/>
                <a:gd name="connsiteY1" fmla="*/ 358010 h 847381"/>
                <a:gd name="connsiteX2" fmla="*/ 523875 w 619125"/>
                <a:gd name="connsiteY2" fmla="*/ 427860 h 847381"/>
                <a:gd name="connsiteX3" fmla="*/ 619125 w 619125"/>
                <a:gd name="connsiteY3" fmla="*/ 847381 h 847381"/>
                <a:gd name="connsiteX0" fmla="*/ 0 w 621846"/>
                <a:gd name="connsiteY0" fmla="*/ 0 h 847381"/>
                <a:gd name="connsiteX1" fmla="*/ 161925 w 621846"/>
                <a:gd name="connsiteY1" fmla="*/ 358010 h 847381"/>
                <a:gd name="connsiteX2" fmla="*/ 523875 w 621846"/>
                <a:gd name="connsiteY2" fmla="*/ 427860 h 847381"/>
                <a:gd name="connsiteX3" fmla="*/ 619125 w 621846"/>
                <a:gd name="connsiteY3" fmla="*/ 847381 h 847381"/>
                <a:gd name="connsiteX0" fmla="*/ 0 w 619416"/>
                <a:gd name="connsiteY0" fmla="*/ 0 h 847381"/>
                <a:gd name="connsiteX1" fmla="*/ 161925 w 619416"/>
                <a:gd name="connsiteY1" fmla="*/ 358010 h 847381"/>
                <a:gd name="connsiteX2" fmla="*/ 523875 w 619416"/>
                <a:gd name="connsiteY2" fmla="*/ 427860 h 847381"/>
                <a:gd name="connsiteX3" fmla="*/ 619125 w 619416"/>
                <a:gd name="connsiteY3" fmla="*/ 847381 h 847381"/>
                <a:gd name="connsiteX0" fmla="*/ 0 w 625377"/>
                <a:gd name="connsiteY0" fmla="*/ 0 h 866485"/>
                <a:gd name="connsiteX1" fmla="*/ 161925 w 625377"/>
                <a:gd name="connsiteY1" fmla="*/ 358010 h 866485"/>
                <a:gd name="connsiteX2" fmla="*/ 523875 w 625377"/>
                <a:gd name="connsiteY2" fmla="*/ 427860 h 866485"/>
                <a:gd name="connsiteX3" fmla="*/ 625139 w 625377"/>
                <a:gd name="connsiteY3" fmla="*/ 866485 h 866485"/>
                <a:gd name="connsiteX0" fmla="*/ 0 w 627707"/>
                <a:gd name="connsiteY0" fmla="*/ 0 h 866485"/>
                <a:gd name="connsiteX1" fmla="*/ 161925 w 627707"/>
                <a:gd name="connsiteY1" fmla="*/ 358010 h 866485"/>
                <a:gd name="connsiteX2" fmla="*/ 523875 w 627707"/>
                <a:gd name="connsiteY2" fmla="*/ 427860 h 866485"/>
                <a:gd name="connsiteX3" fmla="*/ 625139 w 627707"/>
                <a:gd name="connsiteY3" fmla="*/ 866485 h 866485"/>
                <a:gd name="connsiteX0" fmla="*/ 0 w 625377"/>
                <a:gd name="connsiteY0" fmla="*/ 0 h 866485"/>
                <a:gd name="connsiteX1" fmla="*/ 161925 w 625377"/>
                <a:gd name="connsiteY1" fmla="*/ 358010 h 866485"/>
                <a:gd name="connsiteX2" fmla="*/ 523875 w 625377"/>
                <a:gd name="connsiteY2" fmla="*/ 427860 h 866485"/>
                <a:gd name="connsiteX3" fmla="*/ 625139 w 625377"/>
                <a:gd name="connsiteY3" fmla="*/ 866485 h 866485"/>
                <a:gd name="connsiteX0" fmla="*/ 0 w 626599"/>
                <a:gd name="connsiteY0" fmla="*/ 0 h 866485"/>
                <a:gd name="connsiteX1" fmla="*/ 161925 w 626599"/>
                <a:gd name="connsiteY1" fmla="*/ 358010 h 866485"/>
                <a:gd name="connsiteX2" fmla="*/ 523875 w 626599"/>
                <a:gd name="connsiteY2" fmla="*/ 427860 h 866485"/>
                <a:gd name="connsiteX3" fmla="*/ 625139 w 626599"/>
                <a:gd name="connsiteY3" fmla="*/ 866485 h 86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599" h="866485">
                  <a:moveTo>
                    <a:pt x="0" y="0"/>
                  </a:moveTo>
                  <a:cubicBezTo>
                    <a:pt x="3704" y="164692"/>
                    <a:pt x="74613" y="286700"/>
                    <a:pt x="161925" y="358010"/>
                  </a:cubicBezTo>
                  <a:cubicBezTo>
                    <a:pt x="249237" y="429320"/>
                    <a:pt x="447675" y="354835"/>
                    <a:pt x="523875" y="427860"/>
                  </a:cubicBezTo>
                  <a:cubicBezTo>
                    <a:pt x="600075" y="500885"/>
                    <a:pt x="634330" y="718847"/>
                    <a:pt x="625139" y="86648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prstDash val="dash"/>
              <a:headEnd w="lg" len="med"/>
              <a:tailEnd type="triangl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CD5285A3-5B3C-4F02-5466-4703BFD0A94C}"/>
              </a:ext>
            </a:extLst>
          </p:cNvPr>
          <p:cNvSpPr txBox="1"/>
          <p:nvPr/>
        </p:nvSpPr>
        <p:spPr>
          <a:xfrm>
            <a:off x="5754827" y="4963674"/>
            <a:ext cx="3713685" cy="43088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Probabilidade condicional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97A88708-9B8B-14A1-06CF-8099FD1E7AFE}"/>
                  </a:ext>
                </a:extLst>
              </p:cNvPr>
              <p:cNvSpPr txBox="1"/>
              <p:nvPr/>
            </p:nvSpPr>
            <p:spPr>
              <a:xfrm>
                <a:off x="2676383" y="3531788"/>
                <a:ext cx="3076576" cy="683321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3200" b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𝛟</m:t>
                      </m:r>
                      <m:r>
                        <a:rPr lang="en-GB" sz="3200" b="1" i="0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pt-BR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97A88708-9B8B-14A1-06CF-8099FD1E7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383" y="3531788"/>
                <a:ext cx="3076576" cy="6833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E64427DB-5C30-445D-709C-44949C865EF5}"/>
                  </a:ext>
                </a:extLst>
              </p:cNvPr>
              <p:cNvSpPr txBox="1"/>
              <p:nvPr/>
            </p:nvSpPr>
            <p:spPr>
              <a:xfrm>
                <a:off x="1307448" y="3507895"/>
                <a:ext cx="841441" cy="683321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𝐀</m:t>
                      </m:r>
                    </m:oMath>
                  </m:oMathPara>
                </a14:m>
                <a:endParaRPr lang="pt-BR" sz="32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7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E64427DB-5C30-445D-709C-44949C865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448" y="3507895"/>
                <a:ext cx="841441" cy="6833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" name="Picture 77">
            <a:extLst>
              <a:ext uri="{FF2B5EF4-FFF2-40B4-BE49-F238E27FC236}">
                <a16:creationId xmlns:a16="http://schemas.microsoft.com/office/drawing/2014/main" id="{32F1F8F7-BF46-61A4-5D20-4932F1213F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6652" y="4589339"/>
            <a:ext cx="1562100" cy="11620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6F9484AC-4D68-999A-AF37-B2B018D28EEA}"/>
              </a:ext>
            </a:extLst>
          </p:cNvPr>
          <p:cNvSpPr txBox="1"/>
          <p:nvPr/>
        </p:nvSpPr>
        <p:spPr>
          <a:xfrm>
            <a:off x="350505" y="5785895"/>
            <a:ext cx="1661448" cy="4510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sz="36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COV</a:t>
            </a:r>
            <a:endParaRPr lang="LID4096" sz="24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6FBD6A-F629-F51A-ACD5-BFAE2B17ACB8}"/>
              </a:ext>
            </a:extLst>
          </p:cNvPr>
          <p:cNvSpPr txBox="1"/>
          <p:nvPr/>
        </p:nvSpPr>
        <p:spPr>
          <a:xfrm>
            <a:off x="4862482" y="5738200"/>
            <a:ext cx="859526" cy="30777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1400" dirty="0"/>
              <a:t>Zoom +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3CFC86A7-4D48-C016-684E-1FE8FDD646E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" b="2030"/>
          <a:stretch>
            <a:fillRect/>
          </a:stretch>
        </p:blipFill>
        <p:spPr>
          <a:xfrm>
            <a:off x="437099" y="4595160"/>
            <a:ext cx="1557100" cy="1170801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11FDD5F-75A0-95BC-403F-0A187904B2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5659" y="4594237"/>
            <a:ext cx="1763517" cy="1611370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E0068CD-E834-AA6C-5C15-C7E8328E2797}"/>
              </a:ext>
            </a:extLst>
          </p:cNvPr>
          <p:cNvSpPr/>
          <p:nvPr/>
        </p:nvSpPr>
        <p:spPr>
          <a:xfrm rot="21346693">
            <a:off x="3176971" y="5104571"/>
            <a:ext cx="633716" cy="406242"/>
          </a:xfrm>
          <a:custGeom>
            <a:avLst/>
            <a:gdLst>
              <a:gd name="connsiteX0" fmla="*/ 738188 w 1190625"/>
              <a:gd name="connsiteY0" fmla="*/ 242887 h 759619"/>
              <a:gd name="connsiteX1" fmla="*/ 723900 w 1190625"/>
              <a:gd name="connsiteY1" fmla="*/ 0 h 759619"/>
              <a:gd name="connsiteX2" fmla="*/ 1190625 w 1190625"/>
              <a:gd name="connsiteY2" fmla="*/ 390525 h 759619"/>
              <a:gd name="connsiteX3" fmla="*/ 745331 w 1190625"/>
              <a:gd name="connsiteY3" fmla="*/ 759619 h 759619"/>
              <a:gd name="connsiteX4" fmla="*/ 742950 w 1190625"/>
              <a:gd name="connsiteY4" fmla="*/ 545306 h 759619"/>
              <a:gd name="connsiteX5" fmla="*/ 635794 w 1190625"/>
              <a:gd name="connsiteY5" fmla="*/ 507206 h 759619"/>
              <a:gd name="connsiteX6" fmla="*/ 614363 w 1190625"/>
              <a:gd name="connsiteY6" fmla="*/ 492919 h 759619"/>
              <a:gd name="connsiteX7" fmla="*/ 471488 w 1190625"/>
              <a:gd name="connsiteY7" fmla="*/ 502444 h 759619"/>
              <a:gd name="connsiteX8" fmla="*/ 304800 w 1190625"/>
              <a:gd name="connsiteY8" fmla="*/ 521494 h 759619"/>
              <a:gd name="connsiteX9" fmla="*/ 192881 w 1190625"/>
              <a:gd name="connsiteY9" fmla="*/ 566737 h 759619"/>
              <a:gd name="connsiteX10" fmla="*/ 83344 w 1190625"/>
              <a:gd name="connsiteY10" fmla="*/ 628650 h 759619"/>
              <a:gd name="connsiteX11" fmla="*/ 0 w 1190625"/>
              <a:gd name="connsiteY11" fmla="*/ 683419 h 759619"/>
              <a:gd name="connsiteX12" fmla="*/ 42863 w 1190625"/>
              <a:gd name="connsiteY12" fmla="*/ 592931 h 759619"/>
              <a:gd name="connsiteX13" fmla="*/ 104775 w 1190625"/>
              <a:gd name="connsiteY13" fmla="*/ 485775 h 759619"/>
              <a:gd name="connsiteX14" fmla="*/ 200025 w 1190625"/>
              <a:gd name="connsiteY14" fmla="*/ 388144 h 759619"/>
              <a:gd name="connsiteX15" fmla="*/ 280988 w 1190625"/>
              <a:gd name="connsiteY15" fmla="*/ 335756 h 759619"/>
              <a:gd name="connsiteX16" fmla="*/ 392906 w 1190625"/>
              <a:gd name="connsiteY16" fmla="*/ 285750 h 759619"/>
              <a:gd name="connsiteX17" fmla="*/ 531019 w 1190625"/>
              <a:gd name="connsiteY17" fmla="*/ 252412 h 759619"/>
              <a:gd name="connsiteX18" fmla="*/ 661988 w 1190625"/>
              <a:gd name="connsiteY18" fmla="*/ 247650 h 759619"/>
              <a:gd name="connsiteX19" fmla="*/ 738188 w 1190625"/>
              <a:gd name="connsiteY19" fmla="*/ 242887 h 759619"/>
              <a:gd name="connsiteX0" fmla="*/ 738188 w 1190625"/>
              <a:gd name="connsiteY0" fmla="*/ 92868 h 609600"/>
              <a:gd name="connsiteX1" fmla="*/ 797718 w 1190625"/>
              <a:gd name="connsiteY1" fmla="*/ 0 h 609600"/>
              <a:gd name="connsiteX2" fmla="*/ 1190625 w 1190625"/>
              <a:gd name="connsiteY2" fmla="*/ 240506 h 609600"/>
              <a:gd name="connsiteX3" fmla="*/ 745331 w 1190625"/>
              <a:gd name="connsiteY3" fmla="*/ 609600 h 609600"/>
              <a:gd name="connsiteX4" fmla="*/ 742950 w 1190625"/>
              <a:gd name="connsiteY4" fmla="*/ 395287 h 609600"/>
              <a:gd name="connsiteX5" fmla="*/ 635794 w 1190625"/>
              <a:gd name="connsiteY5" fmla="*/ 357187 h 609600"/>
              <a:gd name="connsiteX6" fmla="*/ 614363 w 1190625"/>
              <a:gd name="connsiteY6" fmla="*/ 342900 h 609600"/>
              <a:gd name="connsiteX7" fmla="*/ 471488 w 1190625"/>
              <a:gd name="connsiteY7" fmla="*/ 352425 h 609600"/>
              <a:gd name="connsiteX8" fmla="*/ 304800 w 1190625"/>
              <a:gd name="connsiteY8" fmla="*/ 371475 h 609600"/>
              <a:gd name="connsiteX9" fmla="*/ 192881 w 1190625"/>
              <a:gd name="connsiteY9" fmla="*/ 416718 h 609600"/>
              <a:gd name="connsiteX10" fmla="*/ 83344 w 1190625"/>
              <a:gd name="connsiteY10" fmla="*/ 478631 h 609600"/>
              <a:gd name="connsiteX11" fmla="*/ 0 w 1190625"/>
              <a:gd name="connsiteY11" fmla="*/ 533400 h 609600"/>
              <a:gd name="connsiteX12" fmla="*/ 42863 w 1190625"/>
              <a:gd name="connsiteY12" fmla="*/ 442912 h 609600"/>
              <a:gd name="connsiteX13" fmla="*/ 104775 w 1190625"/>
              <a:gd name="connsiteY13" fmla="*/ 335756 h 609600"/>
              <a:gd name="connsiteX14" fmla="*/ 200025 w 1190625"/>
              <a:gd name="connsiteY14" fmla="*/ 238125 h 609600"/>
              <a:gd name="connsiteX15" fmla="*/ 280988 w 1190625"/>
              <a:gd name="connsiteY15" fmla="*/ 185737 h 609600"/>
              <a:gd name="connsiteX16" fmla="*/ 392906 w 1190625"/>
              <a:gd name="connsiteY16" fmla="*/ 135731 h 609600"/>
              <a:gd name="connsiteX17" fmla="*/ 531019 w 1190625"/>
              <a:gd name="connsiteY17" fmla="*/ 102393 h 609600"/>
              <a:gd name="connsiteX18" fmla="*/ 661988 w 1190625"/>
              <a:gd name="connsiteY18" fmla="*/ 97631 h 609600"/>
              <a:gd name="connsiteX19" fmla="*/ 738188 w 1190625"/>
              <a:gd name="connsiteY19" fmla="*/ 92868 h 609600"/>
              <a:gd name="connsiteX0" fmla="*/ 738188 w 1190625"/>
              <a:gd name="connsiteY0" fmla="*/ 211931 h 728663"/>
              <a:gd name="connsiteX1" fmla="*/ 745330 w 1190625"/>
              <a:gd name="connsiteY1" fmla="*/ 0 h 728663"/>
              <a:gd name="connsiteX2" fmla="*/ 1190625 w 1190625"/>
              <a:gd name="connsiteY2" fmla="*/ 359569 h 728663"/>
              <a:gd name="connsiteX3" fmla="*/ 745331 w 1190625"/>
              <a:gd name="connsiteY3" fmla="*/ 728663 h 728663"/>
              <a:gd name="connsiteX4" fmla="*/ 742950 w 1190625"/>
              <a:gd name="connsiteY4" fmla="*/ 514350 h 728663"/>
              <a:gd name="connsiteX5" fmla="*/ 635794 w 1190625"/>
              <a:gd name="connsiteY5" fmla="*/ 476250 h 728663"/>
              <a:gd name="connsiteX6" fmla="*/ 614363 w 1190625"/>
              <a:gd name="connsiteY6" fmla="*/ 461963 h 728663"/>
              <a:gd name="connsiteX7" fmla="*/ 471488 w 1190625"/>
              <a:gd name="connsiteY7" fmla="*/ 471488 h 728663"/>
              <a:gd name="connsiteX8" fmla="*/ 304800 w 1190625"/>
              <a:gd name="connsiteY8" fmla="*/ 490538 h 728663"/>
              <a:gd name="connsiteX9" fmla="*/ 192881 w 1190625"/>
              <a:gd name="connsiteY9" fmla="*/ 535781 h 728663"/>
              <a:gd name="connsiteX10" fmla="*/ 83344 w 1190625"/>
              <a:gd name="connsiteY10" fmla="*/ 597694 h 728663"/>
              <a:gd name="connsiteX11" fmla="*/ 0 w 1190625"/>
              <a:gd name="connsiteY11" fmla="*/ 652463 h 728663"/>
              <a:gd name="connsiteX12" fmla="*/ 42863 w 1190625"/>
              <a:gd name="connsiteY12" fmla="*/ 561975 h 728663"/>
              <a:gd name="connsiteX13" fmla="*/ 104775 w 1190625"/>
              <a:gd name="connsiteY13" fmla="*/ 454819 h 728663"/>
              <a:gd name="connsiteX14" fmla="*/ 200025 w 1190625"/>
              <a:gd name="connsiteY14" fmla="*/ 357188 h 728663"/>
              <a:gd name="connsiteX15" fmla="*/ 280988 w 1190625"/>
              <a:gd name="connsiteY15" fmla="*/ 304800 h 728663"/>
              <a:gd name="connsiteX16" fmla="*/ 392906 w 1190625"/>
              <a:gd name="connsiteY16" fmla="*/ 254794 h 728663"/>
              <a:gd name="connsiteX17" fmla="*/ 531019 w 1190625"/>
              <a:gd name="connsiteY17" fmla="*/ 221456 h 728663"/>
              <a:gd name="connsiteX18" fmla="*/ 661988 w 1190625"/>
              <a:gd name="connsiteY18" fmla="*/ 216694 h 728663"/>
              <a:gd name="connsiteX19" fmla="*/ 738188 w 1190625"/>
              <a:gd name="connsiteY19" fmla="*/ 211931 h 728663"/>
              <a:gd name="connsiteX0" fmla="*/ 738188 w 1190625"/>
              <a:gd name="connsiteY0" fmla="*/ 211931 h 728663"/>
              <a:gd name="connsiteX1" fmla="*/ 745330 w 1190625"/>
              <a:gd name="connsiteY1" fmla="*/ 0 h 728663"/>
              <a:gd name="connsiteX2" fmla="*/ 1190625 w 1190625"/>
              <a:gd name="connsiteY2" fmla="*/ 359569 h 728663"/>
              <a:gd name="connsiteX3" fmla="*/ 745331 w 1190625"/>
              <a:gd name="connsiteY3" fmla="*/ 728663 h 728663"/>
              <a:gd name="connsiteX4" fmla="*/ 742950 w 1190625"/>
              <a:gd name="connsiteY4" fmla="*/ 514350 h 728663"/>
              <a:gd name="connsiteX5" fmla="*/ 635794 w 1190625"/>
              <a:gd name="connsiteY5" fmla="*/ 476250 h 728663"/>
              <a:gd name="connsiteX6" fmla="*/ 601483 w 1190625"/>
              <a:gd name="connsiteY6" fmla="*/ 465583 h 728663"/>
              <a:gd name="connsiteX7" fmla="*/ 471488 w 1190625"/>
              <a:gd name="connsiteY7" fmla="*/ 471488 h 728663"/>
              <a:gd name="connsiteX8" fmla="*/ 304800 w 1190625"/>
              <a:gd name="connsiteY8" fmla="*/ 490538 h 728663"/>
              <a:gd name="connsiteX9" fmla="*/ 192881 w 1190625"/>
              <a:gd name="connsiteY9" fmla="*/ 535781 h 728663"/>
              <a:gd name="connsiteX10" fmla="*/ 83344 w 1190625"/>
              <a:gd name="connsiteY10" fmla="*/ 597694 h 728663"/>
              <a:gd name="connsiteX11" fmla="*/ 0 w 1190625"/>
              <a:gd name="connsiteY11" fmla="*/ 652463 h 728663"/>
              <a:gd name="connsiteX12" fmla="*/ 42863 w 1190625"/>
              <a:gd name="connsiteY12" fmla="*/ 561975 h 728663"/>
              <a:gd name="connsiteX13" fmla="*/ 104775 w 1190625"/>
              <a:gd name="connsiteY13" fmla="*/ 454819 h 728663"/>
              <a:gd name="connsiteX14" fmla="*/ 200025 w 1190625"/>
              <a:gd name="connsiteY14" fmla="*/ 357188 h 728663"/>
              <a:gd name="connsiteX15" fmla="*/ 280988 w 1190625"/>
              <a:gd name="connsiteY15" fmla="*/ 304800 h 728663"/>
              <a:gd name="connsiteX16" fmla="*/ 392906 w 1190625"/>
              <a:gd name="connsiteY16" fmla="*/ 254794 h 728663"/>
              <a:gd name="connsiteX17" fmla="*/ 531019 w 1190625"/>
              <a:gd name="connsiteY17" fmla="*/ 221456 h 728663"/>
              <a:gd name="connsiteX18" fmla="*/ 661988 w 1190625"/>
              <a:gd name="connsiteY18" fmla="*/ 216694 h 728663"/>
              <a:gd name="connsiteX19" fmla="*/ 738188 w 1190625"/>
              <a:gd name="connsiteY19" fmla="*/ 211931 h 728663"/>
              <a:gd name="connsiteX0" fmla="*/ 738188 w 1190625"/>
              <a:gd name="connsiteY0" fmla="*/ 211931 h 728663"/>
              <a:gd name="connsiteX1" fmla="*/ 745330 w 1190625"/>
              <a:gd name="connsiteY1" fmla="*/ 0 h 728663"/>
              <a:gd name="connsiteX2" fmla="*/ 1190625 w 1190625"/>
              <a:gd name="connsiteY2" fmla="*/ 359569 h 728663"/>
              <a:gd name="connsiteX3" fmla="*/ 745331 w 1190625"/>
              <a:gd name="connsiteY3" fmla="*/ 728663 h 728663"/>
              <a:gd name="connsiteX4" fmla="*/ 742950 w 1190625"/>
              <a:gd name="connsiteY4" fmla="*/ 514350 h 728663"/>
              <a:gd name="connsiteX5" fmla="*/ 644810 w 1190625"/>
              <a:gd name="connsiteY5" fmla="*/ 477457 h 728663"/>
              <a:gd name="connsiteX6" fmla="*/ 601483 w 1190625"/>
              <a:gd name="connsiteY6" fmla="*/ 465583 h 728663"/>
              <a:gd name="connsiteX7" fmla="*/ 471488 w 1190625"/>
              <a:gd name="connsiteY7" fmla="*/ 471488 h 728663"/>
              <a:gd name="connsiteX8" fmla="*/ 304800 w 1190625"/>
              <a:gd name="connsiteY8" fmla="*/ 490538 h 728663"/>
              <a:gd name="connsiteX9" fmla="*/ 192881 w 1190625"/>
              <a:gd name="connsiteY9" fmla="*/ 535781 h 728663"/>
              <a:gd name="connsiteX10" fmla="*/ 83344 w 1190625"/>
              <a:gd name="connsiteY10" fmla="*/ 597694 h 728663"/>
              <a:gd name="connsiteX11" fmla="*/ 0 w 1190625"/>
              <a:gd name="connsiteY11" fmla="*/ 652463 h 728663"/>
              <a:gd name="connsiteX12" fmla="*/ 42863 w 1190625"/>
              <a:gd name="connsiteY12" fmla="*/ 561975 h 728663"/>
              <a:gd name="connsiteX13" fmla="*/ 104775 w 1190625"/>
              <a:gd name="connsiteY13" fmla="*/ 454819 h 728663"/>
              <a:gd name="connsiteX14" fmla="*/ 200025 w 1190625"/>
              <a:gd name="connsiteY14" fmla="*/ 357188 h 728663"/>
              <a:gd name="connsiteX15" fmla="*/ 280988 w 1190625"/>
              <a:gd name="connsiteY15" fmla="*/ 304800 h 728663"/>
              <a:gd name="connsiteX16" fmla="*/ 392906 w 1190625"/>
              <a:gd name="connsiteY16" fmla="*/ 254794 h 728663"/>
              <a:gd name="connsiteX17" fmla="*/ 531019 w 1190625"/>
              <a:gd name="connsiteY17" fmla="*/ 221456 h 728663"/>
              <a:gd name="connsiteX18" fmla="*/ 661988 w 1190625"/>
              <a:gd name="connsiteY18" fmla="*/ 216694 h 728663"/>
              <a:gd name="connsiteX19" fmla="*/ 738188 w 1190625"/>
              <a:gd name="connsiteY19" fmla="*/ 211931 h 728663"/>
              <a:gd name="connsiteX0" fmla="*/ 738188 w 1190625"/>
              <a:gd name="connsiteY0" fmla="*/ 211931 h 728663"/>
              <a:gd name="connsiteX1" fmla="*/ 745330 w 1190625"/>
              <a:gd name="connsiteY1" fmla="*/ 0 h 728663"/>
              <a:gd name="connsiteX2" fmla="*/ 1190625 w 1190625"/>
              <a:gd name="connsiteY2" fmla="*/ 359569 h 728663"/>
              <a:gd name="connsiteX3" fmla="*/ 745331 w 1190625"/>
              <a:gd name="connsiteY3" fmla="*/ 728663 h 728663"/>
              <a:gd name="connsiteX4" fmla="*/ 742950 w 1190625"/>
              <a:gd name="connsiteY4" fmla="*/ 514350 h 728663"/>
              <a:gd name="connsiteX5" fmla="*/ 644810 w 1190625"/>
              <a:gd name="connsiteY5" fmla="*/ 477457 h 728663"/>
              <a:gd name="connsiteX6" fmla="*/ 578300 w 1190625"/>
              <a:gd name="connsiteY6" fmla="*/ 465583 h 728663"/>
              <a:gd name="connsiteX7" fmla="*/ 471488 w 1190625"/>
              <a:gd name="connsiteY7" fmla="*/ 471488 h 728663"/>
              <a:gd name="connsiteX8" fmla="*/ 304800 w 1190625"/>
              <a:gd name="connsiteY8" fmla="*/ 490538 h 728663"/>
              <a:gd name="connsiteX9" fmla="*/ 192881 w 1190625"/>
              <a:gd name="connsiteY9" fmla="*/ 535781 h 728663"/>
              <a:gd name="connsiteX10" fmla="*/ 83344 w 1190625"/>
              <a:gd name="connsiteY10" fmla="*/ 597694 h 728663"/>
              <a:gd name="connsiteX11" fmla="*/ 0 w 1190625"/>
              <a:gd name="connsiteY11" fmla="*/ 652463 h 728663"/>
              <a:gd name="connsiteX12" fmla="*/ 42863 w 1190625"/>
              <a:gd name="connsiteY12" fmla="*/ 561975 h 728663"/>
              <a:gd name="connsiteX13" fmla="*/ 104775 w 1190625"/>
              <a:gd name="connsiteY13" fmla="*/ 454819 h 728663"/>
              <a:gd name="connsiteX14" fmla="*/ 200025 w 1190625"/>
              <a:gd name="connsiteY14" fmla="*/ 357188 h 728663"/>
              <a:gd name="connsiteX15" fmla="*/ 280988 w 1190625"/>
              <a:gd name="connsiteY15" fmla="*/ 304800 h 728663"/>
              <a:gd name="connsiteX16" fmla="*/ 392906 w 1190625"/>
              <a:gd name="connsiteY16" fmla="*/ 254794 h 728663"/>
              <a:gd name="connsiteX17" fmla="*/ 531019 w 1190625"/>
              <a:gd name="connsiteY17" fmla="*/ 221456 h 728663"/>
              <a:gd name="connsiteX18" fmla="*/ 661988 w 1190625"/>
              <a:gd name="connsiteY18" fmla="*/ 216694 h 728663"/>
              <a:gd name="connsiteX19" fmla="*/ 738188 w 1190625"/>
              <a:gd name="connsiteY19" fmla="*/ 211931 h 72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90625" h="728663">
                <a:moveTo>
                  <a:pt x="738188" y="211931"/>
                </a:moveTo>
                <a:lnTo>
                  <a:pt x="745330" y="0"/>
                </a:lnTo>
                <a:lnTo>
                  <a:pt x="1190625" y="359569"/>
                </a:lnTo>
                <a:lnTo>
                  <a:pt x="745331" y="728663"/>
                </a:lnTo>
                <a:cubicBezTo>
                  <a:pt x="744537" y="657225"/>
                  <a:pt x="743744" y="585788"/>
                  <a:pt x="742950" y="514350"/>
                </a:cubicBezTo>
                <a:lnTo>
                  <a:pt x="644810" y="477457"/>
                </a:lnTo>
                <a:lnTo>
                  <a:pt x="578300" y="465583"/>
                </a:lnTo>
                <a:lnTo>
                  <a:pt x="471488" y="471488"/>
                </a:lnTo>
                <a:lnTo>
                  <a:pt x="304800" y="490538"/>
                </a:lnTo>
                <a:lnTo>
                  <a:pt x="192881" y="535781"/>
                </a:lnTo>
                <a:lnTo>
                  <a:pt x="83344" y="597694"/>
                </a:lnTo>
                <a:lnTo>
                  <a:pt x="0" y="652463"/>
                </a:lnTo>
                <a:lnTo>
                  <a:pt x="42863" y="561975"/>
                </a:lnTo>
                <a:lnTo>
                  <a:pt x="104775" y="454819"/>
                </a:lnTo>
                <a:lnTo>
                  <a:pt x="200025" y="357188"/>
                </a:lnTo>
                <a:lnTo>
                  <a:pt x="280988" y="304800"/>
                </a:lnTo>
                <a:lnTo>
                  <a:pt x="392906" y="254794"/>
                </a:lnTo>
                <a:lnTo>
                  <a:pt x="531019" y="221456"/>
                </a:lnTo>
                <a:lnTo>
                  <a:pt x="661988" y="216694"/>
                </a:lnTo>
                <a:lnTo>
                  <a:pt x="738188" y="21193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B9C6C1-96E2-5960-96AF-FEC471EF7CEC}"/>
              </a:ext>
            </a:extLst>
          </p:cNvPr>
          <p:cNvSpPr txBox="1"/>
          <p:nvPr/>
        </p:nvSpPr>
        <p:spPr>
          <a:xfrm>
            <a:off x="9015567" y="4980231"/>
            <a:ext cx="2547041" cy="13721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Abordagem</a:t>
            </a:r>
          </a:p>
          <a:p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Estocástica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B77C74-1D40-A5A0-0B19-B91B4CC76A52}"/>
              </a:ext>
            </a:extLst>
          </p:cNvPr>
          <p:cNvSpPr txBox="1"/>
          <p:nvPr/>
        </p:nvSpPr>
        <p:spPr>
          <a:xfrm>
            <a:off x="5814549" y="2581450"/>
            <a:ext cx="3108175" cy="22159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algn="l">
              <a:defRPr/>
            </a:pPr>
            <a:r>
              <a:rPr lang="pt-BR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  <a:ea typeface="Cambria Math" panose="02040503050406030204" pitchFamily="18" charset="0"/>
              </a:rPr>
              <a:t>Condutividade hidráulica </a:t>
            </a:r>
            <a:r>
              <a:rPr lang="pt-BR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  <a:ea typeface="Cambria Math" panose="02040503050406030204" pitchFamily="18" charset="0"/>
              </a:rPr>
              <a:t>x</a:t>
            </a:r>
            <a:endParaRPr lang="pt-BR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Body)"/>
              <a:ea typeface="Cambria Math" panose="02040503050406030204" pitchFamily="18" charset="0"/>
            </a:endParaRPr>
          </a:p>
          <a:p>
            <a:pPr algn="l"/>
            <a:r>
              <a:rPr lang="pt-BR" sz="2200" dirty="0"/>
              <a:t>- Densidade  (Massa)</a:t>
            </a:r>
          </a:p>
          <a:p>
            <a:pPr algn="l"/>
            <a:r>
              <a:rPr lang="pt-BR" sz="2200" dirty="0"/>
              <a:t>- Elasticidade</a:t>
            </a:r>
          </a:p>
          <a:p>
            <a:pPr algn="l"/>
            <a:r>
              <a:rPr lang="pt-BR" sz="2200" dirty="0"/>
              <a:t>- Rigidez </a:t>
            </a:r>
          </a:p>
          <a:p>
            <a:pPr algn="l"/>
            <a:r>
              <a:rPr lang="pt-BR" sz="2200" dirty="0"/>
              <a:t>- Limite de escoamento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162827-854D-7AAB-0709-C6415EFEE531}"/>
              </a:ext>
            </a:extLst>
          </p:cNvPr>
          <p:cNvSpPr txBox="1"/>
          <p:nvPr/>
        </p:nvSpPr>
        <p:spPr>
          <a:xfrm>
            <a:off x="7592173" y="2989391"/>
            <a:ext cx="1270567" cy="400110"/>
          </a:xfrm>
          <a:prstGeom prst="rect">
            <a:avLst/>
          </a:prstGeom>
          <a:solidFill>
            <a:srgbClr val="00F8F2"/>
          </a:solidFill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400" b="1" u="sng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LID4096" sz="2000" dirty="0"/>
              <a:t>load flow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A7AEAB-9A58-2DE4-9A60-1DFF2FDFA0FD}"/>
              </a:ext>
            </a:extLst>
          </p:cNvPr>
          <p:cNvSpPr txBox="1"/>
          <p:nvPr/>
        </p:nvSpPr>
        <p:spPr>
          <a:xfrm>
            <a:off x="5837012" y="1568017"/>
            <a:ext cx="3204600" cy="92333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Notações:</a:t>
            </a:r>
          </a:p>
          <a:p>
            <a:pPr algn="l"/>
            <a:endParaRPr lang="pt-BR" sz="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Diferencial x Matricial</a:t>
            </a:r>
            <a:endParaRPr lang="pt-BR" sz="2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B78053-78C5-458E-F14C-E91A94B79581}"/>
              </a:ext>
            </a:extLst>
          </p:cNvPr>
          <p:cNvSpPr txBox="1"/>
          <p:nvPr/>
        </p:nvSpPr>
        <p:spPr>
          <a:xfrm>
            <a:off x="1657975" y="1306440"/>
            <a:ext cx="347382" cy="143873"/>
          </a:xfrm>
          <a:prstGeom prst="rect">
            <a:avLst/>
          </a:prstGeom>
          <a:solidFill>
            <a:srgbClr val="FFFF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endParaRPr lang="pt-BR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E87E07D-81AF-F0D6-4CB6-51DC5932772C}"/>
              </a:ext>
            </a:extLst>
          </p:cNvPr>
          <p:cNvSpPr txBox="1"/>
          <p:nvPr/>
        </p:nvSpPr>
        <p:spPr>
          <a:xfrm>
            <a:off x="3671816" y="1319209"/>
            <a:ext cx="347382" cy="143873"/>
          </a:xfrm>
          <a:prstGeom prst="rect">
            <a:avLst/>
          </a:prstGeom>
          <a:solidFill>
            <a:srgbClr val="FFFF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endParaRPr lang="pt-BR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54A271-9EAE-54E1-ED58-70ADAAD42867}"/>
              </a:ext>
            </a:extLst>
          </p:cNvPr>
          <p:cNvSpPr txBox="1"/>
          <p:nvPr/>
        </p:nvSpPr>
        <p:spPr>
          <a:xfrm>
            <a:off x="5508902" y="438210"/>
            <a:ext cx="957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noProof="0" dirty="0">
                <a:solidFill>
                  <a:srgbClr val="0000FF"/>
                </a:solidFill>
                <a:latin typeface="Horley Old Style MT"/>
              </a:rPr>
              <a:t>CFD</a:t>
            </a:r>
          </a:p>
        </p:txBody>
      </p:sp>
    </p:spTree>
    <p:extLst>
      <p:ext uri="{BB962C8B-B14F-4D97-AF65-F5344CB8AC3E}">
        <p14:creationId xmlns:p14="http://schemas.microsoft.com/office/powerpoint/2010/main" val="63313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89C50-2998-9D11-BF58-6DD35B35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45BA830-1FC1-215E-7D8A-B4A6C37642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108E80-1069-048E-EDB9-1344559F3D02}"/>
              </a:ext>
            </a:extLst>
          </p:cNvPr>
          <p:cNvSpPr txBox="1"/>
          <p:nvPr/>
        </p:nvSpPr>
        <p:spPr>
          <a:xfrm>
            <a:off x="8234881" y="3317752"/>
            <a:ext cx="32700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Linguagem orientada a objetos:</a:t>
            </a:r>
          </a:p>
        </p:txBody>
      </p:sp>
      <p:sp>
        <p:nvSpPr>
          <p:cNvPr id="2097" name="Rectangle: Rounded Corners 2096">
            <a:extLst>
              <a:ext uri="{FF2B5EF4-FFF2-40B4-BE49-F238E27FC236}">
                <a16:creationId xmlns:a16="http://schemas.microsoft.com/office/drawing/2014/main" id="{15F68239-5CC1-E802-0206-312732D2AFD4}"/>
              </a:ext>
            </a:extLst>
          </p:cNvPr>
          <p:cNvSpPr/>
          <p:nvPr/>
        </p:nvSpPr>
        <p:spPr>
          <a:xfrm>
            <a:off x="152506" y="1449696"/>
            <a:ext cx="376812" cy="2735533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C1</a:t>
            </a:r>
          </a:p>
          <a:p>
            <a:pPr algn="r"/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C2</a:t>
            </a:r>
          </a:p>
          <a:p>
            <a:pPr algn="r"/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C3</a:t>
            </a:r>
          </a:p>
          <a:p>
            <a:pPr algn="r"/>
            <a:endParaRPr lang="pt-B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C4</a:t>
            </a:r>
          </a:p>
          <a:p>
            <a:pPr algn="r"/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C5</a:t>
            </a:r>
          </a:p>
          <a:p>
            <a:pPr algn="r"/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C6</a:t>
            </a:r>
          </a:p>
          <a:p>
            <a:pPr algn="r"/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99" name="Picture 2098">
            <a:extLst>
              <a:ext uri="{FF2B5EF4-FFF2-40B4-BE49-F238E27FC236}">
                <a16:creationId xmlns:a16="http://schemas.microsoft.com/office/drawing/2014/main" id="{DBC91884-550B-541A-30AC-B49171779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12" y="5785839"/>
            <a:ext cx="11182350" cy="7610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00" name="Rectangle: Rounded Corners 2099">
            <a:extLst>
              <a:ext uri="{FF2B5EF4-FFF2-40B4-BE49-F238E27FC236}">
                <a16:creationId xmlns:a16="http://schemas.microsoft.com/office/drawing/2014/main" id="{9CC9E0FD-90B3-93BA-44C1-80ECACEF699B}"/>
              </a:ext>
            </a:extLst>
          </p:cNvPr>
          <p:cNvSpPr/>
          <p:nvPr/>
        </p:nvSpPr>
        <p:spPr>
          <a:xfrm>
            <a:off x="340912" y="5020715"/>
            <a:ext cx="253072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Resultado:</a:t>
            </a:r>
          </a:p>
        </p:txBody>
      </p:sp>
      <p:sp>
        <p:nvSpPr>
          <p:cNvPr id="2102" name="Rectangle: Rounded Corners 2101">
            <a:extLst>
              <a:ext uri="{FF2B5EF4-FFF2-40B4-BE49-F238E27FC236}">
                <a16:creationId xmlns:a16="http://schemas.microsoft.com/office/drawing/2014/main" id="{9155AD30-02C3-D4B1-2430-4DCED519102E}"/>
              </a:ext>
            </a:extLst>
          </p:cNvPr>
          <p:cNvSpPr/>
          <p:nvPr/>
        </p:nvSpPr>
        <p:spPr>
          <a:xfrm>
            <a:off x="8447314" y="456443"/>
            <a:ext cx="3178630" cy="1089660"/>
          </a:xfrm>
          <a:prstGeom prst="round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2900" b="1" dirty="0">
                <a:solidFill>
                  <a:srgbClr val="0000FF"/>
                </a:solidFill>
                <a:latin typeface="Horley Old Style MT"/>
              </a:rPr>
              <a:t>finite volume method (FVM)</a:t>
            </a:r>
            <a:endParaRPr lang="pt-BR" sz="2900" b="1" dirty="0">
              <a:solidFill>
                <a:srgbClr val="0000FF"/>
              </a:solidFill>
              <a:latin typeface="Horley Old Style M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C5F1A3-396B-3DAD-5261-43EF1FE56641}"/>
              </a:ext>
            </a:extLst>
          </p:cNvPr>
          <p:cNvSpPr txBox="1"/>
          <p:nvPr/>
        </p:nvSpPr>
        <p:spPr>
          <a:xfrm>
            <a:off x="2351802" y="5151565"/>
            <a:ext cx="1913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GRID 1D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5A981-2D22-ED65-8F16-914F79081551}"/>
              </a:ext>
            </a:extLst>
          </p:cNvPr>
          <p:cNvSpPr txBox="1"/>
          <p:nvPr/>
        </p:nvSpPr>
        <p:spPr>
          <a:xfrm>
            <a:off x="626319" y="431564"/>
            <a:ext cx="7477049" cy="38574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tIns="182880" bIns="182880">
            <a:spAutoFit/>
          </a:bodyPr>
          <a:lstStyle/>
          <a:p>
            <a:pPr>
              <a:lnSpc>
                <a:spcPts val="1650"/>
              </a:lnSpc>
            </a:pP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fipy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import </a:t>
            </a:r>
            <a:r>
              <a:rPr 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Grid1D</a:t>
            </a:r>
            <a:endParaRPr lang="en-US" sz="16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      import 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numpy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np  </a:t>
            </a:r>
          </a:p>
          <a:p>
            <a:pPr>
              <a:lnSpc>
                <a:spcPts val="1650"/>
              </a:lnSpc>
            </a:pP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         import </a:t>
            </a:r>
            <a:r>
              <a:rPr lang="en-US" sz="1600" dirty="0">
                <a:solidFill>
                  <a:srgbClr val="005CC5"/>
                </a:solidFill>
                <a:latin typeface="Consolas" panose="020B0609020204030204" pitchFamily="49" charset="0"/>
              </a:rPr>
              <a:t>matplotlib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pyplot</a:t>
            </a:r>
            <a:r>
              <a:rPr lang="en-US" sz="1600" dirty="0">
                <a:solidFill>
                  <a:srgbClr val="2429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as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plt</a:t>
            </a:r>
            <a:endParaRPr lang="en-US" sz="16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endParaRPr lang="en-US" sz="4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2000" b="1" dirty="0" err="1">
                <a:solidFill>
                  <a:srgbClr val="24292E"/>
                </a:solidFill>
                <a:latin typeface="Consolas" panose="020B0609020204030204" pitchFamily="49" charset="0"/>
              </a:rPr>
              <a:t>nx</a:t>
            </a:r>
            <a:r>
              <a:rPr lang="en-US" sz="2000" b="1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05CC5"/>
                </a:solidFill>
                <a:latin typeface="Consolas" panose="020B0609020204030204" pitchFamily="49" charset="0"/>
              </a:rPr>
              <a:t>50</a:t>
            </a:r>
            <a:r>
              <a:rPr lang="en-US" sz="2000" b="1" dirty="0">
                <a:solidFill>
                  <a:srgbClr val="24292E"/>
                </a:solidFill>
                <a:latin typeface="Consolas" panose="020B0609020204030204" pitchFamily="49" charset="0"/>
              </a:rPr>
              <a:t> ;dx</a:t>
            </a:r>
            <a:r>
              <a:rPr lang="en-US" sz="2000" b="1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sz="2000" b="1" dirty="0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 	     ;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mesh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Grid1D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nx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nx,dx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dx)</a:t>
            </a:r>
          </a:p>
          <a:p>
            <a:pPr>
              <a:lnSpc>
                <a:spcPts val="1650"/>
              </a:lnSpc>
              <a:buNone/>
            </a:pPr>
            <a:endParaRPr lang="en-US" sz="16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plt</a:t>
            </a:r>
            <a:r>
              <a:rPr lang="en-US" b="1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5CC5"/>
                </a:solidFill>
                <a:latin typeface="Consolas" panose="020B0609020204030204" pitchFamily="49" charset="0"/>
              </a:rPr>
              <a:t>figure</a:t>
            </a:r>
            <a:r>
              <a:rPr lang="en-US" b="1" dirty="0">
                <a:solidFill>
                  <a:srgbClr val="24292E"/>
                </a:solidFill>
                <a:latin typeface="Consolas" panose="020B0609020204030204" pitchFamily="49" charset="0"/>
              </a:rPr>
              <a:t>(figsize</a:t>
            </a:r>
            <a:r>
              <a:rPr lang="en-US" b="1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5CC5"/>
                </a:solidFill>
                <a:latin typeface="Consolas" panose="020B0609020204030204" pitchFamily="49" charset="0"/>
              </a:rPr>
              <a:t>20</a:t>
            </a:r>
            <a:r>
              <a:rPr lang="en-US" b="1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5CC5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5CC5"/>
                </a:solidFill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24292E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650"/>
              </a:lnSpc>
              <a:buNone/>
            </a:pPr>
            <a:endParaRPr lang="en-US" sz="16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FF 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mesh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faceCenters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()      ; X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mesh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faceCenters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[0] </a:t>
            </a:r>
          </a:p>
          <a:p>
            <a:pPr>
              <a:lnSpc>
                <a:spcPts val="1650"/>
              </a:lnSpc>
              <a:buNone/>
            </a:pPr>
            <a:endParaRPr lang="en-US" sz="16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plt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xlim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FF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min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(),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FF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())   ; 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xticks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(X)</a:t>
            </a:r>
          </a:p>
          <a:p>
            <a:pPr>
              <a:lnSpc>
                <a:spcPts val="1650"/>
              </a:lnSpc>
              <a:buNone/>
            </a:pPr>
            <a:endParaRPr lang="en-US" sz="1400" dirty="0">
              <a:solidFill>
                <a:srgbClr val="005CC5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plt</a:t>
            </a:r>
            <a:r>
              <a:rPr lang="en-US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plot</a:t>
            </a:r>
            <a:r>
              <a:rPr 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  (</a:t>
            </a:r>
            <a:r>
              <a:rPr lang="en-US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mesh</a:t>
            </a:r>
            <a:r>
              <a:rPr lang="en-US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.cellCenters</a:t>
            </a:r>
            <a:r>
              <a:rPr 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()   , </a:t>
            </a:r>
            <a:r>
              <a:rPr lang="en-US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np</a:t>
            </a:r>
            <a:r>
              <a:rPr lang="en-US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zeros_like</a:t>
            </a:r>
            <a:r>
              <a:rPr 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mesh</a:t>
            </a:r>
            <a:r>
              <a:rPr lang="en-US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cellCenters</a:t>
            </a:r>
            <a:r>
              <a:rPr 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())   ,</a:t>
            </a:r>
            <a:r>
              <a:rPr lang="en-US" sz="1400" dirty="0">
                <a:solidFill>
                  <a:srgbClr val="032F62"/>
                </a:solidFill>
                <a:latin typeface="Consolas" panose="020B0609020204030204" pitchFamily="49" charset="0"/>
              </a:rPr>
              <a:t>'o-’                             </a:t>
            </a:r>
            <a:r>
              <a:rPr 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markersize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5CC5"/>
                </a:solidFill>
                <a:latin typeface="Consolas" panose="020B0609020204030204" pitchFamily="49" charset="0"/>
              </a:rPr>
              <a:t>5      </a:t>
            </a:r>
            <a:r>
              <a:rPr 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,color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32F62"/>
                </a:solidFill>
                <a:latin typeface="Consolas" panose="020B0609020204030204" pitchFamily="49" charset="0"/>
              </a:rPr>
              <a:t>'green’</a:t>
            </a:r>
            <a:r>
              <a:rPr 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</a:t>
            </a:r>
          </a:p>
          <a:p>
            <a:pPr>
              <a:lnSpc>
                <a:spcPts val="1650"/>
              </a:lnSpc>
              <a:buNone/>
            </a:pPr>
            <a:endParaRPr 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plt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5CC5"/>
                </a:solidFill>
                <a:latin typeface="Consolas" panose="020B0609020204030204" pitchFamily="49" charset="0"/>
              </a:rPr>
              <a:t>grid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(True, axis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32F62"/>
                </a:solidFill>
                <a:latin typeface="Consolas" panose="020B0609020204030204" pitchFamily="49" charset="0"/>
              </a:rPr>
              <a:t>‘x’       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linestyle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32F62"/>
                </a:solidFill>
                <a:latin typeface="Consolas" panose="020B0609020204030204" pitchFamily="49" charset="0"/>
              </a:rPr>
              <a:t>'--'  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,color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32F62"/>
                </a:solidFill>
                <a:latin typeface="Consolas" panose="020B0609020204030204" pitchFamily="49" charset="0"/>
              </a:rPr>
              <a:t>'red'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)</a:t>
            </a:r>
            <a:endParaRPr lang="en-US" sz="16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572D57B-DD6E-89E3-DD30-2EE6C3D7E8F2}"/>
              </a:ext>
            </a:extLst>
          </p:cNvPr>
          <p:cNvGrpSpPr/>
          <p:nvPr/>
        </p:nvGrpSpPr>
        <p:grpSpPr>
          <a:xfrm>
            <a:off x="9592094" y="4444470"/>
            <a:ext cx="1912854" cy="574049"/>
            <a:chOff x="9590107" y="3153483"/>
            <a:chExt cx="1918879" cy="57404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8EFCC9-C786-4DD0-08E7-021D194F379B}"/>
                </a:ext>
              </a:extLst>
            </p:cNvPr>
            <p:cNvSpPr/>
            <p:nvPr/>
          </p:nvSpPr>
          <p:spPr>
            <a:xfrm>
              <a:off x="9590107" y="3153483"/>
              <a:ext cx="1918879" cy="5740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3F98BC-B250-9E40-F782-56C4327DEF10}"/>
                </a:ext>
              </a:extLst>
            </p:cNvPr>
            <p:cNvSpPr txBox="1"/>
            <p:nvPr/>
          </p:nvSpPr>
          <p:spPr>
            <a:xfrm>
              <a:off x="10071074" y="3197028"/>
              <a:ext cx="14071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gri1D.py</a:t>
              </a: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2C50826A-4A1E-39FD-8506-AFF0C2E9F3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8487" y="3205283"/>
              <a:ext cx="496260" cy="4962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E025DD-4E5D-FCED-9BF9-86CC20784C8C}"/>
              </a:ext>
            </a:extLst>
          </p:cNvPr>
          <p:cNvSpPr txBox="1"/>
          <p:nvPr/>
        </p:nvSpPr>
        <p:spPr>
          <a:xfrm>
            <a:off x="6156960" y="6645140"/>
            <a:ext cx="6035040" cy="205131"/>
          </a:xfrm>
          <a:prstGeom prst="rect">
            <a:avLst/>
          </a:prstGeom>
          <a:noFill/>
          <a:ln>
            <a:noFill/>
          </a:ln>
        </p:spPr>
        <p:txBody>
          <a:bodyPr wrap="square" anchor="b" anchorCtr="0">
            <a:noAutofit/>
          </a:bodyPr>
          <a:lstStyle>
            <a:defPPr>
              <a:defRPr lang="LID4096"/>
            </a:defPPr>
            <a:lvl1pPr algn="r">
              <a:defRPr sz="1000"/>
            </a:lvl1pPr>
          </a:lstStyle>
          <a:p>
            <a:r>
              <a:rPr lang="LID4096" dirty="0"/>
              <a:t>E:\15_REPOS\a___________________\09_CFD_ON\02_FiPy\</a:t>
            </a:r>
            <a:r>
              <a:rPr lang="it-IT" dirty="0"/>
              <a:t>01_mesh1D_Beta_Diffusion__0__.ipynb</a:t>
            </a:r>
            <a:endParaRPr lang="LID4096" dirty="0"/>
          </a:p>
        </p:txBody>
      </p:sp>
      <p:grpSp>
        <p:nvGrpSpPr>
          <p:cNvPr id="2082" name="Group 2081">
            <a:extLst>
              <a:ext uri="{FF2B5EF4-FFF2-40B4-BE49-F238E27FC236}">
                <a16:creationId xmlns:a16="http://schemas.microsoft.com/office/drawing/2014/main" id="{95CDB7EB-6E62-B47E-547E-093328B1BBB7}"/>
              </a:ext>
            </a:extLst>
          </p:cNvPr>
          <p:cNvGrpSpPr/>
          <p:nvPr/>
        </p:nvGrpSpPr>
        <p:grpSpPr>
          <a:xfrm>
            <a:off x="4944839" y="4382661"/>
            <a:ext cx="3158529" cy="1045561"/>
            <a:chOff x="8336871" y="4570342"/>
            <a:chExt cx="3158529" cy="1045561"/>
          </a:xfrm>
        </p:grpSpPr>
        <p:grpSp>
          <p:nvGrpSpPr>
            <p:cNvPr id="2076" name="Group 2075">
              <a:extLst>
                <a:ext uri="{FF2B5EF4-FFF2-40B4-BE49-F238E27FC236}">
                  <a16:creationId xmlns:a16="http://schemas.microsoft.com/office/drawing/2014/main" id="{C31F39EF-A87B-52DF-0278-CEDD47B12384}"/>
                </a:ext>
              </a:extLst>
            </p:cNvPr>
            <p:cNvGrpSpPr/>
            <p:nvPr/>
          </p:nvGrpSpPr>
          <p:grpSpPr>
            <a:xfrm>
              <a:off x="9350503" y="4570342"/>
              <a:ext cx="2144897" cy="1045561"/>
              <a:chOff x="9255253" y="4570342"/>
              <a:chExt cx="2144897" cy="1045561"/>
            </a:xfrm>
          </p:grpSpPr>
          <p:pic>
            <p:nvPicPr>
              <p:cNvPr id="2078" name="Picture 8" descr="Project Jupyter - Wikipedia">
                <a:extLst>
                  <a:ext uri="{FF2B5EF4-FFF2-40B4-BE49-F238E27FC236}">
                    <a16:creationId xmlns:a16="http://schemas.microsoft.com/office/drawing/2014/main" id="{1114490E-F308-86A2-9545-F2FA48902A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07574" y="4575543"/>
                <a:ext cx="992576" cy="104036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6" descr="Visual Studio Code - Baixar e instalar no Windows | Microsoft Store">
                <a:extLst>
                  <a:ext uri="{FF2B5EF4-FFF2-40B4-BE49-F238E27FC236}">
                    <a16:creationId xmlns:a16="http://schemas.microsoft.com/office/drawing/2014/main" id="{295B0B8F-7087-B9AC-2768-318BA72D32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55253" y="4570342"/>
                <a:ext cx="1040360" cy="104036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081" name="Rectangle: Rounded Corners 2080">
              <a:extLst>
                <a:ext uri="{FF2B5EF4-FFF2-40B4-BE49-F238E27FC236}">
                  <a16:creationId xmlns:a16="http://schemas.microsoft.com/office/drawing/2014/main" id="{0CAB0A03-134E-3D0E-C037-FFACB2EE2447}"/>
                </a:ext>
              </a:extLst>
            </p:cNvPr>
            <p:cNvSpPr/>
            <p:nvPr/>
          </p:nvSpPr>
          <p:spPr>
            <a:xfrm>
              <a:off x="8336871" y="4589476"/>
              <a:ext cx="840636" cy="505040"/>
            </a:xfrm>
            <a:prstGeom prst="roundRect">
              <a:avLst/>
            </a:prstGeom>
            <a:noFill/>
          </p:spPr>
          <p:txBody>
            <a:bodyPr wrap="square" lIns="0" tIns="0" rIns="0" bIns="0" anchor="t" anchorCtr="0">
              <a:noAutofit/>
            </a:bodyPr>
            <a:lstStyle/>
            <a:p>
              <a:pPr algn="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Visual Studio</a:t>
              </a:r>
            </a:p>
            <a:p>
              <a:pPr algn="r"/>
              <a:endPara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Jupyter Notebook</a:t>
              </a:r>
            </a:p>
            <a:p>
              <a:pPr algn="r"/>
              <a:endPara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r"/>
              <a:endParaRPr lang="pt-BR" sz="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EA284-5B2C-7789-352B-5D51657737BC}"/>
              </a:ext>
            </a:extLst>
          </p:cNvPr>
          <p:cNvSpPr/>
          <p:nvPr/>
        </p:nvSpPr>
        <p:spPr>
          <a:xfrm>
            <a:off x="629570" y="1776550"/>
            <a:ext cx="3811799" cy="418010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6" name="Picture 2" descr="Python (programming language) - Wikipedia">
            <a:extLst>
              <a:ext uri="{FF2B5EF4-FFF2-40B4-BE49-F238E27FC236}">
                <a16:creationId xmlns:a16="http://schemas.microsoft.com/office/drawing/2014/main" id="{CEB90D50-B677-E077-9483-76847AC3C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3586" y="1774872"/>
            <a:ext cx="1433747" cy="13727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1E62CB7-7148-0996-B4E9-529278111396}"/>
              </a:ext>
            </a:extLst>
          </p:cNvPr>
          <p:cNvSpPr/>
          <p:nvPr/>
        </p:nvSpPr>
        <p:spPr>
          <a:xfrm>
            <a:off x="8581353" y="2464157"/>
            <a:ext cx="1169630" cy="353305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AB0B28-F8AA-C5E4-FAE8-94F520E0EAF9}"/>
              </a:ext>
            </a:extLst>
          </p:cNvPr>
          <p:cNvGrpSpPr/>
          <p:nvPr/>
        </p:nvGrpSpPr>
        <p:grpSpPr>
          <a:xfrm>
            <a:off x="10071202" y="1776550"/>
            <a:ext cx="1472762" cy="1406896"/>
            <a:chOff x="8322157" y="1672458"/>
            <a:chExt cx="1314995" cy="1312026"/>
          </a:xfrm>
        </p:grpSpPr>
        <p:pic>
          <p:nvPicPr>
            <p:cNvPr id="19" name="Picture 18">
              <a:hlinkClick r:id="rId7" action="ppaction://hlinkfile"/>
              <a:extLst>
                <a:ext uri="{FF2B5EF4-FFF2-40B4-BE49-F238E27FC236}">
                  <a16:creationId xmlns:a16="http://schemas.microsoft.com/office/drawing/2014/main" id="{63D4066D-72C7-199E-D5D1-94786EB59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22157" y="1672458"/>
              <a:ext cx="1280159" cy="128016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3F1E5D-25C1-3F92-C22A-37D75C7587A6}"/>
                </a:ext>
              </a:extLst>
            </p:cNvPr>
            <p:cNvSpPr txBox="1"/>
            <p:nvPr/>
          </p:nvSpPr>
          <p:spPr>
            <a:xfrm>
              <a:off x="8882799" y="2584374"/>
              <a:ext cx="7543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pt-BR" sz="2000" b="1" dirty="0"/>
                <a:t>Fi</a:t>
              </a:r>
              <a:r>
                <a:rPr lang="pt-BR" sz="2000" b="1" dirty="0">
                  <a:solidFill>
                    <a:srgbClr val="FF0000"/>
                  </a:solidFill>
                </a:rPr>
                <a:t>Py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890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B0EA3B-4202-A008-0427-963D759AB36B}"/>
              </a:ext>
            </a:extLst>
          </p:cNvPr>
          <p:cNvSpPr/>
          <p:nvPr/>
        </p:nvSpPr>
        <p:spPr>
          <a:xfrm>
            <a:off x="0" y="-2742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56CAE1-68B9-28CF-2A17-97FDD47ACC70}"/>
                  </a:ext>
                </a:extLst>
              </p:cNvPr>
              <p:cNvSpPr txBox="1"/>
              <p:nvPr/>
            </p:nvSpPr>
            <p:spPr>
              <a:xfrm>
                <a:off x="763160" y="1571144"/>
                <a:ext cx="1971630" cy="888914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txBody>
              <a:bodyPr wrap="none" anchor="t" anchorCtr="0">
                <a:noAutofit/>
              </a:bodyPr>
              <a:lstStyle>
                <a:defPPr>
                  <a:defRPr lang="LID4096"/>
                </a:defPPr>
                <a:lvl1pPr indent="0" algn="ctr">
                  <a:defRPr sz="3200" b="1" i="1" spc="15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  <a:lvl2pPr indent="0">
                  <a:defRPr sz="1100"/>
                </a:lvl2pPr>
                <a:lvl3pPr indent="0">
                  <a:defRPr sz="1100"/>
                </a:lvl3pPr>
                <a:lvl4pPr indent="0">
                  <a:defRPr sz="1100"/>
                </a:lvl4pPr>
                <a:lvl5pPr indent="0">
                  <a:defRPr sz="1100"/>
                </a:lvl5pPr>
                <a:lvl6pPr indent="0">
                  <a:defRPr sz="1100"/>
                </a:lvl6pPr>
                <a:lvl7pPr indent="0">
                  <a:defRPr sz="1100"/>
                </a:lvl7pPr>
                <a:lvl8pPr indent="0">
                  <a:defRPr sz="1100"/>
                </a:lvl8pPr>
                <a:lvl9pPr indent="0">
                  <a:defRPr sz="1100"/>
                </a:lvl9pPr>
              </a:lstStyle>
              <a:p>
                <a14:m>
                  <m:oMath xmlns:m="http://schemas.openxmlformats.org/officeDocument/2006/math">
                    <m:f>
                      <m:fPr>
                        <m:ctrlPr>
                          <a:rPr lang="pt-BR" smtClean="0">
                            <a:solidFill>
                              <a:srgbClr val="FF0000"/>
                            </a:solidFill>
                          </a:rPr>
                        </m:ctrlPr>
                      </m:fPr>
                      <m:num>
                        <m:r>
                          <a:rPr lang="pt-BR">
                            <a:solidFill>
                              <a:srgbClr val="FF0000"/>
                            </a:solidFill>
                          </a:rPr>
                          <m:t>𝛛</m:t>
                        </m:r>
                        <m:r>
                          <a:rPr lang="pt-BR">
                            <a:solidFill>
                              <a:srgbClr val="FF0000"/>
                            </a:solidFill>
                          </a:rPr>
                          <m:t>∅</m:t>
                        </m:r>
                      </m:num>
                      <m:den>
                        <m:r>
                          <a:rPr lang="pt-BR">
                            <a:solidFill>
                              <a:srgbClr val="FF0000"/>
                            </a:solidFill>
                          </a:rPr>
                          <m:t>𝛛</m:t>
                        </m:r>
                        <m:r>
                          <a:rPr lang="pt-BR">
                            <a:solidFill>
                              <a:srgbClr val="FF0000"/>
                            </a:solidFill>
                          </a:rPr>
                          <m:t>𝐭</m:t>
                        </m:r>
                      </m:den>
                    </m:f>
                  </m:oMath>
                </a14:m>
                <a:r>
                  <a:rPr lang="pt-BR" dirty="0">
                    <a:solidFill>
                      <a:srgbClr val="FF0000"/>
                    </a:solidFill>
                  </a:rPr>
                  <a:t>  </a:t>
                </a:r>
                <a:r>
                  <a:rPr lang="pt-BR" i="0" dirty="0">
                    <a:solidFill>
                      <a:srgbClr val="FF0000"/>
                    </a:solidFill>
                  </a:rPr>
                  <a:t>=</a:t>
                </a:r>
                <a:r>
                  <a:rPr lang="pt-BR" dirty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pt-BR">
                        <a:solidFill>
                          <a:srgbClr val="FF0000"/>
                        </a:solidFill>
                      </a:rPr>
                      <m:t>𝐃</m:t>
                    </m:r>
                    <m:sSup>
                      <m:sSupPr>
                        <m:ctrlPr>
                          <a:rPr lang="pt-BR">
                            <a:solidFill>
                              <a:srgbClr val="FF0000"/>
                            </a:solidFill>
                          </a:rPr>
                        </m:ctrlPr>
                      </m:sSupPr>
                      <m:e>
                        <m:r>
                          <a:rPr lang="pt-BR">
                            <a:solidFill>
                              <a:srgbClr val="FF0000"/>
                            </a:solidFill>
                          </a:rPr>
                          <m:t>𝛁</m:t>
                        </m:r>
                      </m:e>
                      <m:sup>
                        <m:r>
                          <a:rPr lang="pt-BR">
                            <a:solidFill>
                              <a:srgbClr val="FF0000"/>
                            </a:solidFill>
                          </a:rPr>
                          <m:t>𝟐</m:t>
                        </m:r>
                      </m:sup>
                    </m:sSup>
                    <m:r>
                      <a:rPr lang="pt-BR">
                        <a:solidFill>
                          <a:srgbClr val="FF0000"/>
                        </a:solidFill>
                      </a:rPr>
                      <m:t>∅</m:t>
                    </m:r>
                  </m:oMath>
                </a14:m>
                <a:endParaRPr lang="LID4096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56CAE1-68B9-28CF-2A17-97FDD47AC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60" y="1571144"/>
                <a:ext cx="1971630" cy="888914"/>
              </a:xfrm>
              <a:prstGeom prst="rect">
                <a:avLst/>
              </a:prstGeom>
              <a:blipFill>
                <a:blip r:embed="rId2"/>
                <a:stretch>
                  <a:fillRect l="-6481" r="-4321"/>
                </a:stretch>
              </a:blipFill>
              <a:ln w="3175">
                <a:noFill/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A9B70D4-9DED-0B6A-C1D1-F3D24A43950F}"/>
              </a:ext>
            </a:extLst>
          </p:cNvPr>
          <p:cNvSpPr txBox="1"/>
          <p:nvPr/>
        </p:nvSpPr>
        <p:spPr>
          <a:xfrm>
            <a:off x="6949442" y="6627223"/>
            <a:ext cx="5244941" cy="230777"/>
          </a:xfrm>
          <a:prstGeom prst="rect">
            <a:avLst/>
          </a:prstGeom>
          <a:noFill/>
          <a:ln>
            <a:noFill/>
          </a:ln>
        </p:spPr>
        <p:txBody>
          <a:bodyPr wrap="square" anchor="b" anchorCtr="0">
            <a:noAutofit/>
          </a:bodyPr>
          <a:lstStyle>
            <a:defPPr>
              <a:defRPr lang="LID4096"/>
            </a:defPPr>
            <a:lvl1pPr>
              <a:defRPr sz="400"/>
            </a:lvl1pPr>
          </a:lstStyle>
          <a:p>
            <a:pPr algn="r"/>
            <a:r>
              <a:rPr lang="fr-FR" sz="1000" dirty="0"/>
              <a:t>E:\15_REPOS\a___________________\09_CFD_ON\02_FiPy\02_diffusion.mesh20x20.ipynb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348AD0-8FD0-562E-57A4-E83AA9C1349C}"/>
              </a:ext>
            </a:extLst>
          </p:cNvPr>
          <p:cNvGrpSpPr/>
          <p:nvPr/>
        </p:nvGrpSpPr>
        <p:grpSpPr>
          <a:xfrm>
            <a:off x="10271643" y="5098432"/>
            <a:ext cx="1314995" cy="1312026"/>
            <a:chOff x="8322157" y="1672458"/>
            <a:chExt cx="1314995" cy="1312026"/>
          </a:xfrm>
        </p:grpSpPr>
        <p:pic>
          <p:nvPicPr>
            <p:cNvPr id="5" name="Picture 4">
              <a:hlinkClick r:id="rId3" action="ppaction://hlinkfile"/>
              <a:extLst>
                <a:ext uri="{FF2B5EF4-FFF2-40B4-BE49-F238E27FC236}">
                  <a16:creationId xmlns:a16="http://schemas.microsoft.com/office/drawing/2014/main" id="{36D5A515-8A88-B9C4-7FCB-85B289005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22157" y="1672458"/>
              <a:ext cx="1280159" cy="128016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3A26E2-9532-4E81-2B65-9284DEFBB791}"/>
                </a:ext>
              </a:extLst>
            </p:cNvPr>
            <p:cNvSpPr txBox="1"/>
            <p:nvPr/>
          </p:nvSpPr>
          <p:spPr>
            <a:xfrm>
              <a:off x="8882799" y="2584374"/>
              <a:ext cx="7543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pt-BR" sz="2000" b="1" dirty="0"/>
                <a:t>Fi</a:t>
              </a:r>
              <a:r>
                <a:rPr lang="pt-BR" sz="2000" b="1" dirty="0">
                  <a:solidFill>
                    <a:srgbClr val="FF0000"/>
                  </a:solidFill>
                </a:rPr>
                <a:t>Py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0A32AA1A-A9F0-D61F-35BB-D05F2CED096E}"/>
                  </a:ext>
                </a:extLst>
              </p:cNvPr>
              <p:cNvSpPr txBox="1"/>
              <p:nvPr/>
            </p:nvSpPr>
            <p:spPr>
              <a:xfrm>
                <a:off x="963989" y="674907"/>
                <a:ext cx="5208415" cy="943385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txBody>
              <a:bodyPr wrap="none" anchor="t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pc="150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LID4096" sz="3200" b="1" spc="150" dirty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pt-BR" sz="3200" b="1" i="0" spc="150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sz="3200" b="1" i="1" spc="150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𝛒</m:t>
                        </m:r>
                        <m:r>
                          <a:rPr lang="pt-BR" sz="3200" b="1" spc="15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m:rPr>
                            <m:nor/>
                          </m:rPr>
                          <a:rPr lang="pt-BR" sz="3200" b="1" i="0" spc="150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LID4096" sz="3200" b="1" spc="150" dirty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LID4096" sz="3200" b="1" spc="150" dirty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m:rPr>
                        <m:nor/>
                      </m:rPr>
                      <a:rPr lang="pt-BR" sz="3200" b="1" i="0" spc="15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m:rPr>
                        <m:nor/>
                      </m:rPr>
                      <a:rPr lang="pt-BR" sz="3200" b="1" i="0" spc="15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</m:t>
                    </m:r>
                    <m:r>
                      <a:rPr lang="pt-BR" sz="3200" b="1" i="0" spc="15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)−</m:t>
                    </m:r>
                    <m:sSup>
                      <m:sSupPr>
                        <m:ctrlPr>
                          <a:rPr lang="en-US" sz="3200" b="1" i="1" spc="150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200" b="1" i="1" spc="150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LID4096" sz="3200" b="1" spc="15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pt-BR" sz="3200" b="1" spc="15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LID4096" sz="3200" b="1" spc="15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1" i="1" spc="15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pc="15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pt-BR" sz="3200" b="1" i="1" spc="15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LID4096" sz="3200" b="1" spc="15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pt-BR" sz="3200" b="1" spc="15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pt-BR" sz="3200" b="1" i="1" spc="150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pt-BR" sz="3200" b="1" i="1" spc="150" dirty="0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pt-BR" sz="3200" b="1" spc="15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m:rPr>
                        <m:nor/>
                      </m:rPr>
                      <a:rPr lang="LID4096" sz="3200" b="1" spc="15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3200" b="1" i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200" b="1" i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pt-BR" sz="3200" b="1" spc="15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sub>
                    </m:sSub>
                    <m:r>
                      <m:rPr>
                        <m:nor/>
                      </m:rPr>
                      <a:rPr lang="LID4096" sz="3200" b="1" spc="15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3200" b="1" spc="15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LID4096" sz="3200" b="1" spc="15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defRPr/>
                </a:pPr>
                <a:endParaRPr lang="en-GB" sz="2000" b="1" spc="15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0A32AA1A-A9F0-D61F-35BB-D05F2CED0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989" y="674907"/>
                <a:ext cx="5208415" cy="943385"/>
              </a:xfrm>
              <a:prstGeom prst="rect">
                <a:avLst/>
              </a:prstGeom>
              <a:blipFill>
                <a:blip r:embed="rId5"/>
                <a:stretch>
                  <a:fillRect l="-11813" r="-16491" b="-3896"/>
                </a:stretch>
              </a:blipFill>
              <a:ln w="3175">
                <a:noFill/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8CC3A7F-D668-887E-778B-5D4ED194B02E}"/>
              </a:ext>
            </a:extLst>
          </p:cNvPr>
          <p:cNvSpPr txBox="1"/>
          <p:nvPr/>
        </p:nvSpPr>
        <p:spPr>
          <a:xfrm>
            <a:off x="1748975" y="587223"/>
            <a:ext cx="5387417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dirty="0">
                <a:solidFill>
                  <a:srgbClr val="0000FF"/>
                </a:solidFill>
              </a:rPr>
              <a:t>convecção                 difusão                       fontes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777291-A11A-E477-9FAF-36B4F0486B17}"/>
              </a:ext>
            </a:extLst>
          </p:cNvPr>
          <p:cNvSpPr txBox="1"/>
          <p:nvPr/>
        </p:nvSpPr>
        <p:spPr>
          <a:xfrm>
            <a:off x="1692811" y="1440337"/>
            <a:ext cx="347382" cy="143873"/>
          </a:xfrm>
          <a:prstGeom prst="rect">
            <a:avLst/>
          </a:prstGeom>
          <a:solidFill>
            <a:srgbClr val="FFFF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endParaRPr lang="pt-BR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8590B7-09B1-52FD-AE8E-4262D1BF6B16}"/>
              </a:ext>
            </a:extLst>
          </p:cNvPr>
          <p:cNvSpPr txBox="1"/>
          <p:nvPr/>
        </p:nvSpPr>
        <p:spPr>
          <a:xfrm>
            <a:off x="3462810" y="1453106"/>
            <a:ext cx="347382" cy="143873"/>
          </a:xfrm>
          <a:prstGeom prst="rect">
            <a:avLst/>
          </a:prstGeom>
          <a:solidFill>
            <a:srgbClr val="FFFF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3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endParaRPr lang="pt-BR" b="1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B8BB7DD-10EC-9F2B-FE4A-DB17724AF62F}"/>
              </a:ext>
            </a:extLst>
          </p:cNvPr>
          <p:cNvGrpSpPr/>
          <p:nvPr/>
        </p:nvGrpSpPr>
        <p:grpSpPr>
          <a:xfrm>
            <a:off x="129180" y="2271550"/>
            <a:ext cx="2892699" cy="374984"/>
            <a:chOff x="85635" y="2236714"/>
            <a:chExt cx="2892699" cy="37498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41AB27-835E-67EF-D76B-B76398534822}"/>
                </a:ext>
              </a:extLst>
            </p:cNvPr>
            <p:cNvSpPr txBox="1"/>
            <p:nvPr/>
          </p:nvSpPr>
          <p:spPr>
            <a:xfrm>
              <a:off x="85635" y="2236714"/>
              <a:ext cx="1971630" cy="36933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LID4096"/>
              </a:defPPr>
              <a:lvl1pPr algn="ctr">
                <a:defRPr b="1">
                  <a:latin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dirty="0"/>
                <a:t>Tempo transiente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038589-6020-48DF-4AC9-FC974D1546E0}"/>
                </a:ext>
              </a:extLst>
            </p:cNvPr>
            <p:cNvSpPr txBox="1"/>
            <p:nvPr/>
          </p:nvSpPr>
          <p:spPr>
            <a:xfrm>
              <a:off x="1997172" y="2242366"/>
              <a:ext cx="981162" cy="36933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LID4096"/>
              </a:defPPr>
              <a:lvl1pPr algn="ctr">
                <a:defRPr b="1">
                  <a:latin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pPr algn="l"/>
              <a:r>
                <a:rPr lang="pt-BR" dirty="0"/>
                <a:t>difusão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A6DC6FA-BAF2-6B35-DB6D-05F4DD8A8503}"/>
              </a:ext>
            </a:extLst>
          </p:cNvPr>
          <p:cNvSpPr txBox="1"/>
          <p:nvPr/>
        </p:nvSpPr>
        <p:spPr>
          <a:xfrm>
            <a:off x="3091841" y="1739688"/>
            <a:ext cx="8499564" cy="810222"/>
          </a:xfrm>
          <a:prstGeom prst="rect">
            <a:avLst/>
          </a:prstGeom>
          <a:solidFill>
            <a:schemeClr val="bg1"/>
          </a:solidFill>
        </p:spPr>
        <p:txBody>
          <a:bodyPr wrap="square" tIns="182880" bIns="182880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GB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timeStepDuration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dx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GB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D)       ; steps 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10</a:t>
            </a:r>
          </a:p>
          <a:p>
            <a:pPr>
              <a:lnSpc>
                <a:spcPts val="1650"/>
              </a:lnSpc>
              <a:buNone/>
            </a:pP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step 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(steps):   </a:t>
            </a:r>
            <a:r>
              <a:rPr lang="en-GB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eq.solve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phi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,</a:t>
            </a:r>
            <a:r>
              <a:rPr lang="en-GB" b="0" dirty="0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GB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timeStepDuration</a:t>
            </a:r>
            <a:r>
              <a:rPr lang="en-GB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A2DFED-B2C9-410E-4BCD-51FE89E8BA7C}"/>
              </a:ext>
            </a:extLst>
          </p:cNvPr>
          <p:cNvSpPr txBox="1"/>
          <p:nvPr/>
        </p:nvSpPr>
        <p:spPr>
          <a:xfrm>
            <a:off x="470263" y="2677800"/>
            <a:ext cx="11121142" cy="18280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YY 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phi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;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XX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np.linspace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YY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YY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))  ; 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XA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mesh.cellCenters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] </a:t>
            </a:r>
          </a:p>
          <a:p>
            <a:pPr>
              <a:lnSpc>
                <a:spcPts val="1650"/>
              </a:lnSpc>
              <a:buNone/>
            </a:pP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xx 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mesh.cellCenters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value.reshape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nx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ny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	    </a:t>
            </a:r>
            <a:r>
              <a:rPr 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; 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zz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4292E"/>
                </a:solidFill>
                <a:latin typeface="Consolas" panose="020B0609020204030204" pitchFamily="49" charset="0"/>
              </a:rPr>
              <a:t>phi.value</a:t>
            </a:r>
            <a:r>
              <a:rPr lang="en-US" sz="1600" dirty="0">
                <a:solidFill>
                  <a:srgbClr val="24292E"/>
                </a:solidFill>
                <a:latin typeface="Consolas" panose="020B0609020204030204" pitchFamily="49" charset="0"/>
              </a:rPr>
              <a:t>  </a:t>
            </a:r>
            <a:endParaRPr lang="en-US" sz="16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yy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mesh.cellCenters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value.reshape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nx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ny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          ; 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ZZ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zz.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reshape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nx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ny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endParaRPr lang="en-US" sz="16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fig, (ax1, ax2, ax3) 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plt.subplots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ax1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.plot(</a:t>
            </a:r>
            <a:r>
              <a:rPr lang="en-US" sz="14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XX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YY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ax2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.plot(</a:t>
            </a:r>
            <a:r>
              <a:rPr lang="en-US" sz="14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XA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.value,phi.value,</a:t>
            </a:r>
            <a:r>
              <a:rPr lang="en-US" sz="14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'o-'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 err="1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US" sz="14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  ; </a:t>
            </a:r>
            <a:r>
              <a:rPr lang="en-US" sz="14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WW</a:t>
            </a:r>
            <a:r>
              <a:rPr lang="en-US" sz="14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ax3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.pcolormesh(</a:t>
            </a:r>
            <a:r>
              <a:rPr lang="en-US" sz="14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xx,yy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ZZ</a:t>
            </a:r>
            <a:r>
              <a:rPr lang="en-US" sz="14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 err="1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cmap</a:t>
            </a:r>
            <a:r>
              <a:rPr lang="en-US" sz="14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'jet’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cbar </a:t>
            </a:r>
            <a:r>
              <a:rPr lang="en-US" sz="14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plt.colorbar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WW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  		       ; </a:t>
            </a:r>
            <a:r>
              <a:rPr lang="en-US" sz="14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plt.tight_layout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() 	   ; </a:t>
            </a:r>
            <a:r>
              <a:rPr lang="en-US" sz="14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sz="14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33CE853-B1DF-E10F-16D6-B791704A4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63" y="4600708"/>
            <a:ext cx="8667750" cy="18097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A25B911-B138-8E65-ED12-3B437EAFDBAC}"/>
              </a:ext>
            </a:extLst>
          </p:cNvPr>
          <p:cNvSpPr txBox="1"/>
          <p:nvPr/>
        </p:nvSpPr>
        <p:spPr>
          <a:xfrm>
            <a:off x="7134010" y="1204251"/>
            <a:ext cx="4452628" cy="414152"/>
          </a:xfrm>
          <a:prstGeom prst="rect">
            <a:avLst/>
          </a:prstGeom>
          <a:solidFill>
            <a:schemeClr val="bg1"/>
          </a:solidFill>
        </p:spPr>
        <p:txBody>
          <a:bodyPr wrap="square" tIns="91440" bIns="91440">
            <a:spAutoFit/>
          </a:bodyPr>
          <a:lstStyle/>
          <a:p>
            <a:pPr algn="ct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mesh=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Grid2D 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nx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5CC5"/>
                </a:solidFill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E36209"/>
                </a:solidFill>
                <a:effectLst/>
                <a:latin typeface="Consolas" panose="020B0609020204030204" pitchFamily="49" charset="0"/>
              </a:rPr>
              <a:t>ny</a:t>
            </a:r>
            <a:r>
              <a:rPr lang="en-US" sz="16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5CC5"/>
                </a:solidFill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2FF082-4FBC-3850-1D28-4DF4A5D797FF}"/>
              </a:ext>
            </a:extLst>
          </p:cNvPr>
          <p:cNvSpPr/>
          <p:nvPr/>
        </p:nvSpPr>
        <p:spPr>
          <a:xfrm>
            <a:off x="247913" y="590968"/>
            <a:ext cx="6638184" cy="1039867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95ED8EA-74BC-FE87-D34C-2FFBBFDD3B4B}"/>
              </a:ext>
            </a:extLst>
          </p:cNvPr>
          <p:cNvSpPr/>
          <p:nvPr/>
        </p:nvSpPr>
        <p:spPr>
          <a:xfrm>
            <a:off x="9461906" y="4494895"/>
            <a:ext cx="2020261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Resultado:</a:t>
            </a:r>
          </a:p>
        </p:txBody>
      </p:sp>
    </p:spTree>
    <p:extLst>
      <p:ext uri="{BB962C8B-B14F-4D97-AF65-F5344CB8AC3E}">
        <p14:creationId xmlns:p14="http://schemas.microsoft.com/office/powerpoint/2010/main" val="2434495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D875D-67FD-9B24-B912-8EA09C7FF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3BE21A-7AD4-B7FC-B779-AF6E28BF59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21E43-DF4B-16CA-174D-BFAAA204C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92" t="7661" b="20744"/>
          <a:stretch>
            <a:fillRect/>
          </a:stretch>
        </p:blipFill>
        <p:spPr>
          <a:xfrm>
            <a:off x="6195835" y="3642311"/>
            <a:ext cx="5510170" cy="28593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AE20E3A-A3B3-E7F6-CB63-5518A306DA40}"/>
              </a:ext>
            </a:extLst>
          </p:cNvPr>
          <p:cNvGrpSpPr>
            <a:grpSpLocks noChangeAspect="1"/>
          </p:cNvGrpSpPr>
          <p:nvPr/>
        </p:nvGrpSpPr>
        <p:grpSpPr>
          <a:xfrm>
            <a:off x="9613943" y="3817761"/>
            <a:ext cx="1885554" cy="1959790"/>
            <a:chOff x="6630437" y="2359743"/>
            <a:chExt cx="1294361" cy="134532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A32EFC-B4A4-BF9E-2776-8EE16FCB5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0437" y="2359743"/>
              <a:ext cx="1294361" cy="1345321"/>
            </a:xfrm>
            <a:prstGeom prst="rect">
              <a:avLst/>
            </a:prstGeom>
            <a:effectLst>
              <a:outerShdw blurRad="50800" dist="38100" dir="8100000" algn="tr" rotWithShape="0">
                <a:schemeClr val="bg1">
                  <a:alpha val="40000"/>
                </a:schemeClr>
              </a:outerShdw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6DAC8DD-9485-EEB0-E59D-776CA2068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7569" r="22774" b="29231"/>
            <a:stretch>
              <a:fillRect/>
            </a:stretch>
          </p:blipFill>
          <p:spPr>
            <a:xfrm>
              <a:off x="6691982" y="2409489"/>
              <a:ext cx="1196534" cy="115983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AD92629-455D-79A1-D84A-276DC8EFAA12}"/>
              </a:ext>
            </a:extLst>
          </p:cNvPr>
          <p:cNvGrpSpPr/>
          <p:nvPr/>
        </p:nvGrpSpPr>
        <p:grpSpPr>
          <a:xfrm>
            <a:off x="581376" y="3176135"/>
            <a:ext cx="4493466" cy="2876412"/>
            <a:chOff x="4765767" y="939899"/>
            <a:chExt cx="4493466" cy="287641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B002F90-A0B3-0035-4634-68B53EB6479F}"/>
                </a:ext>
              </a:extLst>
            </p:cNvPr>
            <p:cNvGrpSpPr/>
            <p:nvPr/>
          </p:nvGrpSpPr>
          <p:grpSpPr>
            <a:xfrm>
              <a:off x="4765767" y="2791929"/>
              <a:ext cx="4461584" cy="1024382"/>
              <a:chOff x="344381" y="5205049"/>
              <a:chExt cx="4461584" cy="102438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7B91B55-0F6F-9EE3-9055-BA28C3136980}"/>
                      </a:ext>
                    </a:extLst>
                  </p:cNvPr>
                  <p:cNvSpPr txBox="1"/>
                  <p:nvPr/>
                </p:nvSpPr>
                <p:spPr>
                  <a:xfrm>
                    <a:off x="344381" y="5205049"/>
                    <a:ext cx="3351861" cy="81926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  <m:sSub>
                            <m:sSubPr>
                              <m:ctrlPr>
                                <a:rPr lang="pt-B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pt-BR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𝐕</m:t>
                              </m:r>
                            </m:sub>
                          </m:sSub>
                          <m:f>
                            <m:fPr>
                              <m:ctrlPr>
                                <a:rPr lang="pt-BR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𝛛</m:t>
                              </m:r>
                              <m:r>
                                <a:rPr lang="pt-BR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num>
                            <m:den>
                              <m:r>
                                <a:rPr lang="pt-BR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𝛛</m:t>
                              </m:r>
                              <m:r>
                                <a:rPr lang="pt-BR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den>
                          </m:f>
                          <m:r>
                            <a:rPr lang="pt-B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𝐊</m:t>
                          </m:r>
                          <m:sSup>
                            <m:sSupPr>
                              <m:ctrlPr>
                                <a:rPr lang="el-G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𝛁</m:t>
                              </m:r>
                            </m:e>
                            <m:sup>
                              <m:r>
                                <a:rPr lang="pt-BR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𝐓</m:t>
                          </m:r>
                          <m:r>
                            <a:rPr lang="pt-B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l-G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𝚽</m:t>
                          </m:r>
                        </m:oMath>
                      </m:oMathPara>
                    </a14:m>
                    <a:endParaRPr lang="LID4096" sz="28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7B91B55-0F6F-9EE3-9055-BA28C31369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81" y="5205049"/>
                    <a:ext cx="3351861" cy="81926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4D8DA1-6611-11DD-379F-B2D7435B9B4B}"/>
                  </a:ext>
                </a:extLst>
              </p:cNvPr>
              <p:cNvSpPr txBox="1"/>
              <p:nvPr/>
            </p:nvSpPr>
            <p:spPr>
              <a:xfrm>
                <a:off x="2393134" y="5767766"/>
                <a:ext cx="24128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r"/>
                <a:r>
                  <a:rPr lang="pt-BR" sz="2400" dirty="0"/>
                  <a:t>Energia</a:t>
                </a:r>
                <a:endParaRPr lang="pt-BR" sz="3600" noProof="0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EA04D87-4B50-C084-712B-3B43805AB039}"/>
                </a:ext>
              </a:extLst>
            </p:cNvPr>
            <p:cNvGrpSpPr/>
            <p:nvPr/>
          </p:nvGrpSpPr>
          <p:grpSpPr>
            <a:xfrm>
              <a:off x="4875007" y="939899"/>
              <a:ext cx="4384226" cy="461665"/>
              <a:chOff x="497166" y="3622989"/>
              <a:chExt cx="4384226" cy="461665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D1A05D-C64F-6499-0CA6-09CFCBAEFF65}"/>
                  </a:ext>
                </a:extLst>
              </p:cNvPr>
              <p:cNvSpPr txBox="1"/>
              <p:nvPr/>
            </p:nvSpPr>
            <p:spPr>
              <a:xfrm>
                <a:off x="2446624" y="3622989"/>
                <a:ext cx="24347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r"/>
                <a:r>
                  <a:rPr lang="pt-BR" sz="2400" dirty="0"/>
                  <a:t>Continuidade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5D19B56-30CF-C12D-83DE-A252FFCB9FA7}"/>
                      </a:ext>
                    </a:extLst>
                  </p:cNvPr>
                  <p:cNvSpPr txBox="1"/>
                  <p:nvPr/>
                </p:nvSpPr>
                <p:spPr>
                  <a:xfrm>
                    <a:off x="497166" y="3647287"/>
                    <a:ext cx="1362232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28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  <m:r>
                            <a:rPr lang="pt-BR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𝐕</m:t>
                          </m:r>
                          <m:r>
                            <a:rPr lang="pt-BR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LID4096" sz="2800" b="1" dirty="0"/>
                  </a:p>
                </p:txBody>
              </p:sp>
            </mc:Choice>
            <mc:Fallback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5D19B56-30CF-C12D-83DE-A252FFCB9F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166" y="3647287"/>
                    <a:ext cx="1362232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73C092D-4B0A-2458-2B3B-5C3466C9CE98}"/>
                </a:ext>
              </a:extLst>
            </p:cNvPr>
            <p:cNvGrpSpPr/>
            <p:nvPr/>
          </p:nvGrpSpPr>
          <p:grpSpPr>
            <a:xfrm>
              <a:off x="4831628" y="1654093"/>
              <a:ext cx="4420480" cy="1039507"/>
              <a:chOff x="453787" y="4284932"/>
              <a:chExt cx="4420480" cy="1039507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51652DF-135A-35F9-7448-374E521E7B74}"/>
                  </a:ext>
                </a:extLst>
              </p:cNvPr>
              <p:cNvSpPr txBox="1"/>
              <p:nvPr/>
            </p:nvSpPr>
            <p:spPr>
              <a:xfrm>
                <a:off x="453787" y="4862774"/>
                <a:ext cx="442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r"/>
                <a:r>
                  <a:rPr lang="pt-BR" sz="2400" noProof="0" dirty="0"/>
                  <a:t>Qde de movimento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F0B2FFC-B66B-2426-1D38-85F84B9B3EFB}"/>
                      </a:ext>
                    </a:extLst>
                  </p:cNvPr>
                  <p:cNvSpPr txBox="1"/>
                  <p:nvPr/>
                </p:nvSpPr>
                <p:spPr>
                  <a:xfrm>
                    <a:off x="497166" y="4284932"/>
                    <a:ext cx="3728585" cy="62946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f>
                          <m:fPr>
                            <m:ctrlPr>
                              <a:rPr lang="pt-BR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𝐕</m:t>
                            </m:r>
                          </m:num>
                          <m:den>
                            <m:r>
                              <a:rPr lang="pt-BR" sz="28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den>
                        </m:f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pt-BR" sz="2800" b="1" dirty="0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pt-BR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𝐠</m:t>
                        </m:r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𝛁</m:t>
                        </m:r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l-GR" sz="2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  <m:sSup>
                          <m:sSupPr>
                            <m:ctrlPr>
                              <a:rPr lang="el-G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𝛁</m:t>
                            </m:r>
                          </m:e>
                          <m:sup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𝐕</m:t>
                        </m:r>
                      </m:oMath>
                    </a14:m>
                    <a:endParaRPr lang="LID4096" sz="28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F0B2FFC-B66B-2426-1D38-85F84B9B3E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166" y="4284932"/>
                    <a:ext cx="3728585" cy="62946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E6AA54-0F5B-302D-5CF2-ED74A57BC7D6}"/>
                </a:ext>
              </a:extLst>
            </p:cNvPr>
            <p:cNvCxnSpPr/>
            <p:nvPr/>
          </p:nvCxnSpPr>
          <p:spPr>
            <a:xfrm>
              <a:off x="5113972" y="1584447"/>
              <a:ext cx="3657600" cy="0"/>
            </a:xfrm>
            <a:prstGeom prst="line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0E13B1-A7E2-56E7-DC22-1684209FA68D}"/>
                </a:ext>
              </a:extLst>
            </p:cNvPr>
            <p:cNvCxnSpPr/>
            <p:nvPr/>
          </p:nvCxnSpPr>
          <p:spPr>
            <a:xfrm>
              <a:off x="5113972" y="2693600"/>
              <a:ext cx="3657600" cy="0"/>
            </a:xfrm>
            <a:prstGeom prst="line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A876CA4-1D9D-EA73-0176-6BF234BF5D64}"/>
              </a:ext>
            </a:extLst>
          </p:cNvPr>
          <p:cNvSpPr txBox="1"/>
          <p:nvPr/>
        </p:nvSpPr>
        <p:spPr>
          <a:xfrm>
            <a:off x="5094195" y="6582883"/>
            <a:ext cx="70982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1200" b="1">
                <a:solidFill>
                  <a:schemeClr val="accent2"/>
                </a:solidFill>
              </a:defRPr>
            </a:lvl1pPr>
          </a:lstStyle>
          <a:p>
            <a:r>
              <a:rPr lang="LID4096" dirty="0"/>
              <a:t>https://github.com/grossiRM/CFD_ON/blob/main/04_OpenFoam/03_NOTES-on-CFD_OpenFoam.pdf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51149E-C1BF-EEF4-84C5-386A7363F418}"/>
              </a:ext>
            </a:extLst>
          </p:cNvPr>
          <p:cNvSpPr/>
          <p:nvPr/>
        </p:nvSpPr>
        <p:spPr>
          <a:xfrm>
            <a:off x="8447314" y="456443"/>
            <a:ext cx="3178630" cy="1055608"/>
          </a:xfrm>
          <a:prstGeom prst="round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00FF"/>
                </a:solidFill>
                <a:latin typeface="Horley Old Style MT"/>
              </a:rPr>
              <a:t>finite volume method (FVM)</a:t>
            </a:r>
            <a:endParaRPr lang="pt-BR" sz="2800" b="1" dirty="0">
              <a:solidFill>
                <a:srgbClr val="0000FF"/>
              </a:solidFill>
              <a:latin typeface="Horley Old Style M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F4BFBB-1CC9-3088-1AC9-25F5C31B01AE}"/>
              </a:ext>
            </a:extLst>
          </p:cNvPr>
          <p:cNvSpPr txBox="1"/>
          <p:nvPr/>
        </p:nvSpPr>
        <p:spPr>
          <a:xfrm>
            <a:off x="344758" y="694990"/>
            <a:ext cx="13795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i="0" u="none" strike="noStrike" baseline="0" dirty="0">
                <a:solidFill>
                  <a:srgbClr val="0417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XvlwhpYpshnbMyriadPro-Cond"/>
              </a:rPr>
              <a:t>PDEs</a:t>
            </a:r>
            <a:endParaRPr lang="LID4096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5C415E-363C-4860-8718-0E36D31E62C6}"/>
              </a:ext>
            </a:extLst>
          </p:cNvPr>
          <p:cNvSpPr txBox="1"/>
          <p:nvPr/>
        </p:nvSpPr>
        <p:spPr>
          <a:xfrm>
            <a:off x="1868965" y="763655"/>
            <a:ext cx="31036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800" b="1" i="0" u="none" strike="noStrike" baseline="0">
                <a:solidFill>
                  <a:srgbClr val="041743"/>
                </a:solidFill>
                <a:latin typeface="XvlwhpYpshnbMyriadPro-Cond"/>
              </a:defRPr>
            </a:lvl1pPr>
          </a:lstStyle>
          <a:p>
            <a:pPr algn="ctr"/>
            <a:r>
              <a:rPr lang="en-US" sz="3600" spc="200" normalizeH="1" dirty="0"/>
              <a:t>Partial Differential Equations</a:t>
            </a:r>
            <a:endParaRPr lang="LID4096" sz="3600" spc="200" normalizeH="1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075F16B-F838-6273-3E59-D42FDD68D0CE}"/>
              </a:ext>
            </a:extLst>
          </p:cNvPr>
          <p:cNvGrpSpPr/>
          <p:nvPr/>
        </p:nvGrpSpPr>
        <p:grpSpPr>
          <a:xfrm>
            <a:off x="7885298" y="1634335"/>
            <a:ext cx="3829128" cy="1908215"/>
            <a:chOff x="6195835" y="1634335"/>
            <a:chExt cx="3829128" cy="190821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E029D6-4134-5BF0-C7C4-23057B78BBD5}"/>
                </a:ext>
              </a:extLst>
            </p:cNvPr>
            <p:cNvSpPr txBox="1"/>
            <p:nvPr/>
          </p:nvSpPr>
          <p:spPr>
            <a:xfrm>
              <a:off x="6195835" y="1634335"/>
              <a:ext cx="3829128" cy="1908215"/>
            </a:xfrm>
            <a:prstGeom prst="rect">
              <a:avLst/>
            </a:prstGeom>
            <a:solidFill>
              <a:schemeClr val="tx1"/>
            </a:solidFill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   ===========                 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     \ \               /     </a:t>
              </a:r>
              <a:r>
                <a:rPr lang="en-US" sz="2400" b="1" dirty="0">
                  <a:solidFill>
                    <a:srgbClr val="FFFF00"/>
                  </a:solidFill>
                </a:rPr>
                <a:t>F</a:t>
              </a:r>
              <a:r>
                <a:rPr lang="en-US" sz="2000" dirty="0">
                  <a:solidFill>
                    <a:schemeClr val="bg1"/>
                  </a:solidFill>
                </a:rPr>
                <a:t>   ield             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      \ \          /      </a:t>
              </a:r>
              <a:r>
                <a:rPr lang="en-US" sz="2400" b="1" dirty="0">
                  <a:solidFill>
                    <a:srgbClr val="FFFF00"/>
                  </a:solidFill>
                </a:rPr>
                <a:t>O</a:t>
              </a:r>
              <a:r>
                <a:rPr lang="en-US" sz="2000" dirty="0">
                  <a:solidFill>
                    <a:schemeClr val="bg1"/>
                  </a:solidFill>
                </a:rPr>
                <a:t>  peration    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        \ \      /        </a:t>
              </a:r>
              <a:r>
                <a:rPr lang="en-US" sz="2400" b="1" dirty="0">
                  <a:solidFill>
                    <a:srgbClr val="FFFF00"/>
                  </a:solidFill>
                </a:rPr>
                <a:t>A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</a:rPr>
                <a:t>nd          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          \ \  /          </a:t>
              </a:r>
              <a:r>
                <a:rPr lang="en-US" sz="2400" b="1" dirty="0">
                  <a:solidFill>
                    <a:srgbClr val="FFFF00"/>
                  </a:solidFill>
                </a:rPr>
                <a:t>M</a:t>
              </a:r>
              <a:r>
                <a:rPr lang="en-US" sz="2000" dirty="0">
                  <a:solidFill>
                    <a:schemeClr val="bg1"/>
                  </a:solidFill>
                </a:rPr>
                <a:t> anipulation  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DC99F3-D516-6C94-E653-1814A37DBA19}"/>
                </a:ext>
              </a:extLst>
            </p:cNvPr>
            <p:cNvSpPr txBox="1"/>
            <p:nvPr/>
          </p:nvSpPr>
          <p:spPr>
            <a:xfrm>
              <a:off x="8738973" y="1651751"/>
              <a:ext cx="12129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800" b="1" u="sng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Open</a:t>
              </a:r>
              <a:endParaRPr lang="LID4096" sz="28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5939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CA42-944B-E7FF-4968-DFD9EC4B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BFB98B-DC36-464A-D531-959289A4F3C1}"/>
              </a:ext>
            </a:extLst>
          </p:cNvPr>
          <p:cNvSpPr/>
          <p:nvPr/>
        </p:nvSpPr>
        <p:spPr>
          <a:xfrm>
            <a:off x="-25517" y="0"/>
            <a:ext cx="12192000" cy="6858000"/>
          </a:xfrm>
          <a:prstGeom prst="rect">
            <a:avLst/>
          </a:prstGeom>
          <a:solidFill>
            <a:srgbClr val="FFD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C73A60-CC49-AB1E-3AAB-A1242942E544}"/>
              </a:ext>
            </a:extLst>
          </p:cNvPr>
          <p:cNvSpPr txBox="1"/>
          <p:nvPr/>
        </p:nvSpPr>
        <p:spPr>
          <a:xfrm>
            <a:off x="5094195" y="6582883"/>
            <a:ext cx="70982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1200" b="1">
                <a:solidFill>
                  <a:schemeClr val="accent2"/>
                </a:solidFill>
              </a:defRPr>
            </a:lvl1pPr>
          </a:lstStyle>
          <a:p>
            <a:r>
              <a:rPr lang="LID4096" dirty="0"/>
              <a:t>https://github.com/grossiRM/CFD_ON/blob/main/04_OpenFoam/03_NOTES-on-CFD_OpenFoam.pdf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42E092-8135-D477-FDAD-74609D9EA8EE}"/>
              </a:ext>
            </a:extLst>
          </p:cNvPr>
          <p:cNvSpPr/>
          <p:nvPr/>
        </p:nvSpPr>
        <p:spPr>
          <a:xfrm>
            <a:off x="8447314" y="456443"/>
            <a:ext cx="3178630" cy="1055608"/>
          </a:xfrm>
          <a:prstGeom prst="round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00FF"/>
                </a:solidFill>
                <a:latin typeface="Horley Old Style MT"/>
              </a:rPr>
              <a:t>finite volume method (FVM)</a:t>
            </a:r>
            <a:endParaRPr lang="pt-BR" sz="2800" b="1" dirty="0">
              <a:solidFill>
                <a:srgbClr val="0000FF"/>
              </a:solidFill>
              <a:latin typeface="Horley Old Style M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DBE2D85-C6D1-7A7A-0561-3BD6A05D1D20}"/>
              </a:ext>
            </a:extLst>
          </p:cNvPr>
          <p:cNvGrpSpPr/>
          <p:nvPr/>
        </p:nvGrpSpPr>
        <p:grpSpPr>
          <a:xfrm>
            <a:off x="9307224" y="3664833"/>
            <a:ext cx="2407202" cy="1423892"/>
            <a:chOff x="6371924" y="3742286"/>
            <a:chExt cx="3471012" cy="2071683"/>
          </a:xfrm>
        </p:grpSpPr>
        <p:pic>
          <p:nvPicPr>
            <p:cNvPr id="2" name="Picture 2" descr="Ícone de Ubuntu simples a marca logo">
              <a:extLst>
                <a:ext uri="{FF2B5EF4-FFF2-40B4-BE49-F238E27FC236}">
                  <a16:creationId xmlns:a16="http://schemas.microsoft.com/office/drawing/2014/main" id="{46B51EE5-8F08-5C01-8191-542971D6E7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6677" y="3742286"/>
              <a:ext cx="1856259" cy="185625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4" descr="Linux SVG and transparent PNG icons | TechIcons">
              <a:extLst>
                <a:ext uri="{FF2B5EF4-FFF2-40B4-BE49-F238E27FC236}">
                  <a16:creationId xmlns:a16="http://schemas.microsoft.com/office/drawing/2014/main" id="{18EF3775-C478-6507-4F0D-52AC7A0FDA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1924" y="3742286"/>
              <a:ext cx="1560091" cy="15600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C63E12-8E2E-6263-15C2-2AAA6B5223B1}"/>
                </a:ext>
              </a:extLst>
            </p:cNvPr>
            <p:cNvSpPr txBox="1"/>
            <p:nvPr/>
          </p:nvSpPr>
          <p:spPr>
            <a:xfrm>
              <a:off x="6412102" y="5231832"/>
              <a:ext cx="1212982" cy="5821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Linux</a:t>
              </a:r>
              <a:endParaRPr lang="LID4096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021C43-C1B7-B7FB-79CD-1BE1C113559D}"/>
              </a:ext>
            </a:extLst>
          </p:cNvPr>
          <p:cNvGrpSpPr/>
          <p:nvPr/>
        </p:nvGrpSpPr>
        <p:grpSpPr>
          <a:xfrm>
            <a:off x="7885298" y="1634335"/>
            <a:ext cx="3829128" cy="1908215"/>
            <a:chOff x="6195835" y="1634335"/>
            <a:chExt cx="3829128" cy="190821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8D6ABB-E488-E333-13E6-99EF678E2B01}"/>
                </a:ext>
              </a:extLst>
            </p:cNvPr>
            <p:cNvSpPr txBox="1"/>
            <p:nvPr/>
          </p:nvSpPr>
          <p:spPr>
            <a:xfrm>
              <a:off x="6195835" y="1634335"/>
              <a:ext cx="3829128" cy="1908215"/>
            </a:xfrm>
            <a:prstGeom prst="rect">
              <a:avLst/>
            </a:prstGeom>
            <a:solidFill>
              <a:schemeClr val="tx1"/>
            </a:solidFill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   ===========                 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     \ \               /     </a:t>
              </a:r>
              <a:r>
                <a:rPr lang="en-US" sz="2400" b="1" dirty="0">
                  <a:solidFill>
                    <a:srgbClr val="FFFF00"/>
                  </a:solidFill>
                </a:rPr>
                <a:t>F</a:t>
              </a:r>
              <a:r>
                <a:rPr lang="en-US" sz="2000" dirty="0">
                  <a:solidFill>
                    <a:schemeClr val="bg1"/>
                  </a:solidFill>
                </a:rPr>
                <a:t>   ield             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      \ \          /      </a:t>
              </a:r>
              <a:r>
                <a:rPr lang="en-US" sz="2400" b="1" dirty="0">
                  <a:solidFill>
                    <a:srgbClr val="FFFF00"/>
                  </a:solidFill>
                </a:rPr>
                <a:t>O</a:t>
              </a:r>
              <a:r>
                <a:rPr lang="en-US" sz="2000" dirty="0">
                  <a:solidFill>
                    <a:schemeClr val="bg1"/>
                  </a:solidFill>
                </a:rPr>
                <a:t>  peration    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        \ \      /        </a:t>
              </a:r>
              <a:r>
                <a:rPr lang="en-US" sz="2400" b="1" dirty="0">
                  <a:solidFill>
                    <a:srgbClr val="FFFF00"/>
                  </a:solidFill>
                </a:rPr>
                <a:t>A</a:t>
              </a:r>
              <a:r>
                <a:rPr lang="en-US" sz="2000" dirty="0">
                  <a:solidFill>
                    <a:schemeClr val="bg1"/>
                  </a:solidFill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</a:rPr>
                <a:t>nd          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          \ \  /          </a:t>
              </a:r>
              <a:r>
                <a:rPr lang="en-US" sz="2400" b="1" dirty="0">
                  <a:solidFill>
                    <a:srgbClr val="FFFF00"/>
                  </a:solidFill>
                </a:rPr>
                <a:t>M</a:t>
              </a:r>
              <a:r>
                <a:rPr lang="en-US" sz="2000" dirty="0">
                  <a:solidFill>
                    <a:schemeClr val="bg1"/>
                  </a:solidFill>
                </a:rPr>
                <a:t> anipulation 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58C2F5-BA69-63AE-98D8-C262466FA224}"/>
                </a:ext>
              </a:extLst>
            </p:cNvPr>
            <p:cNvSpPr txBox="1"/>
            <p:nvPr/>
          </p:nvSpPr>
          <p:spPr>
            <a:xfrm>
              <a:off x="8738973" y="1651751"/>
              <a:ext cx="12129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800" b="1" u="sng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Open</a:t>
              </a:r>
              <a:endParaRPr lang="LID4096" sz="28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1C1044D4-C7AB-6C93-7976-C69B58D418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49"/>
          <a:stretch>
            <a:fillRect/>
          </a:stretch>
        </p:blipFill>
        <p:spPr>
          <a:xfrm>
            <a:off x="5549747" y="3664833"/>
            <a:ext cx="2523479" cy="275327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E9F858C-EB74-DE8B-579E-C1B98F37BCD4}"/>
              </a:ext>
            </a:extLst>
          </p:cNvPr>
          <p:cNvGrpSpPr/>
          <p:nvPr/>
        </p:nvGrpSpPr>
        <p:grpSpPr>
          <a:xfrm>
            <a:off x="5992220" y="2830410"/>
            <a:ext cx="1771911" cy="627113"/>
            <a:chOff x="5952129" y="2829013"/>
            <a:chExt cx="1771911" cy="627113"/>
          </a:xfrm>
        </p:grpSpPr>
        <p:sp>
          <p:nvSpPr>
            <p:cNvPr id="34" name="Arrow: Left-Right 33">
              <a:extLst>
                <a:ext uri="{FF2B5EF4-FFF2-40B4-BE49-F238E27FC236}">
                  <a16:creationId xmlns:a16="http://schemas.microsoft.com/office/drawing/2014/main" id="{563142DB-D410-A5B8-FF3C-89B6F1EF943C}"/>
                </a:ext>
              </a:extLst>
            </p:cNvPr>
            <p:cNvSpPr/>
            <p:nvPr/>
          </p:nvSpPr>
          <p:spPr>
            <a:xfrm>
              <a:off x="6628191" y="3182741"/>
              <a:ext cx="419788" cy="273385"/>
            </a:xfrm>
            <a:prstGeom prst="leftRightArrow">
              <a:avLst/>
            </a:prstGeom>
            <a:solidFill>
              <a:srgbClr val="0000FF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482B95A-D8DF-ADE9-87BC-9F3E76004D7F}"/>
                </a:ext>
              </a:extLst>
            </p:cNvPr>
            <p:cNvSpPr txBox="1"/>
            <p:nvPr/>
          </p:nvSpPr>
          <p:spPr>
            <a:xfrm>
              <a:off x="5952129" y="2829013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600" noProof="0" dirty="0"/>
                <a:t>Diffusion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08F151-FE3A-C309-E381-B7F833599445}"/>
              </a:ext>
            </a:extLst>
          </p:cNvPr>
          <p:cNvGrpSpPr/>
          <p:nvPr/>
        </p:nvGrpSpPr>
        <p:grpSpPr>
          <a:xfrm>
            <a:off x="4010977" y="5713474"/>
            <a:ext cx="1771911" cy="614623"/>
            <a:chOff x="5918193" y="2271016"/>
            <a:chExt cx="1771911" cy="61462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222AA1-7B88-F41A-D22D-374396CA3CB9}"/>
                </a:ext>
              </a:extLst>
            </p:cNvPr>
            <p:cNvSpPr txBox="1"/>
            <p:nvPr/>
          </p:nvSpPr>
          <p:spPr>
            <a:xfrm>
              <a:off x="5918193" y="2271016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600" dirty="0"/>
                <a:t>Convection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7C23C4F5-EE04-8043-952A-FD01373D9A30}"/>
                </a:ext>
              </a:extLst>
            </p:cNvPr>
            <p:cNvSpPr/>
            <p:nvPr/>
          </p:nvSpPr>
          <p:spPr>
            <a:xfrm>
              <a:off x="6628192" y="2612254"/>
              <a:ext cx="419788" cy="273385"/>
            </a:xfrm>
            <a:prstGeom prst="rightArrow">
              <a:avLst/>
            </a:prstGeom>
            <a:solidFill>
              <a:srgbClr val="0000FF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69F650-745C-3684-43AA-375A0872FA20}"/>
              </a:ext>
            </a:extLst>
          </p:cNvPr>
          <p:cNvGrpSpPr/>
          <p:nvPr/>
        </p:nvGrpSpPr>
        <p:grpSpPr>
          <a:xfrm>
            <a:off x="195923" y="2756706"/>
            <a:ext cx="5932123" cy="2625143"/>
            <a:chOff x="477994" y="2440507"/>
            <a:chExt cx="5932123" cy="262514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2F60EAB-C414-E9B6-8F84-DA483CB5A174}"/>
                </a:ext>
              </a:extLst>
            </p:cNvPr>
            <p:cNvGrpSpPr/>
            <p:nvPr/>
          </p:nvGrpSpPr>
          <p:grpSpPr>
            <a:xfrm>
              <a:off x="4759327" y="2621559"/>
              <a:ext cx="950514" cy="883294"/>
              <a:chOff x="9845949" y="5571569"/>
              <a:chExt cx="950514" cy="883294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830E9015-6308-2730-2E5B-2460429CC1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45949" y="5681017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ADE6537-FA2D-E505-7656-214443B94520}"/>
                  </a:ext>
                </a:extLst>
              </p:cNvPr>
              <p:cNvSpPr txBox="1"/>
              <p:nvPr/>
            </p:nvSpPr>
            <p:spPr>
              <a:xfrm>
                <a:off x="10491714" y="5571569"/>
                <a:ext cx="3047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/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D85CDA5-FA95-6C1C-63F5-4216390686B0}"/>
                </a:ext>
              </a:extLst>
            </p:cNvPr>
            <p:cNvSpPr/>
            <p:nvPr/>
          </p:nvSpPr>
          <p:spPr>
            <a:xfrm>
              <a:off x="1511152" y="2731586"/>
              <a:ext cx="1283035" cy="87428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CAA055A-30BC-C2FA-4078-581546984846}"/>
                </a:ext>
              </a:extLst>
            </p:cNvPr>
            <p:cNvSpPr txBox="1"/>
            <p:nvPr/>
          </p:nvSpPr>
          <p:spPr>
            <a:xfrm>
              <a:off x="1516360" y="2440507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Convection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0A33C73-84AC-5683-A5C4-947ED10DF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404" y="4102860"/>
              <a:ext cx="5048250" cy="6381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036BC6B-037C-E382-EA58-A095A4736E73}"/>
                </a:ext>
              </a:extLst>
            </p:cNvPr>
            <p:cNvGrpSpPr/>
            <p:nvPr/>
          </p:nvGrpSpPr>
          <p:grpSpPr>
            <a:xfrm>
              <a:off x="4759327" y="3857741"/>
              <a:ext cx="950514" cy="883294"/>
              <a:chOff x="9845949" y="5571569"/>
              <a:chExt cx="950514" cy="883294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1F42D383-B269-275E-70EE-6DBB8A09D8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45949" y="5681017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8863DE5-A794-62E4-83AC-7E8A481C4DCE}"/>
                  </a:ext>
                </a:extLst>
              </p:cNvPr>
              <p:cNvSpPr txBox="1"/>
              <p:nvPr/>
            </p:nvSpPr>
            <p:spPr>
              <a:xfrm>
                <a:off x="10491714" y="5571569"/>
                <a:ext cx="3047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/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81484EC-5D3A-1183-56FB-1942CADF23EA}"/>
                </a:ext>
              </a:extLst>
            </p:cNvPr>
            <p:cNvSpPr/>
            <p:nvPr/>
          </p:nvSpPr>
          <p:spPr>
            <a:xfrm>
              <a:off x="3113710" y="3967768"/>
              <a:ext cx="1283035" cy="87428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25FB294-9D43-FE31-EF20-DC8D56250767}"/>
                </a:ext>
              </a:extLst>
            </p:cNvPr>
            <p:cNvSpPr txBox="1"/>
            <p:nvPr/>
          </p:nvSpPr>
          <p:spPr>
            <a:xfrm>
              <a:off x="3284383" y="3676689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Diffusion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33BF864-9904-C9AA-FD4B-C920A6E1F5F0}"/>
                </a:ext>
              </a:extLst>
            </p:cNvPr>
            <p:cNvCxnSpPr/>
            <p:nvPr/>
          </p:nvCxnSpPr>
          <p:spPr>
            <a:xfrm>
              <a:off x="3586038" y="4647562"/>
              <a:ext cx="7070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3747334-5302-0FC6-BFF0-0672F09D5B85}"/>
                </a:ext>
              </a:extLst>
            </p:cNvPr>
            <p:cNvGrpSpPr/>
            <p:nvPr/>
          </p:nvGrpSpPr>
          <p:grpSpPr>
            <a:xfrm>
              <a:off x="558404" y="2489214"/>
              <a:ext cx="5851713" cy="1015639"/>
              <a:chOff x="558404" y="2489214"/>
              <a:chExt cx="5851713" cy="1015639"/>
            </a:xfrm>
          </p:grpSpPr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9744FEA0-5E34-8E39-0C2E-60FDF6B565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8404" y="2866678"/>
                <a:ext cx="5048250" cy="63817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25958C-491D-87F4-4577-E9EC1BB39419}"/>
                  </a:ext>
                </a:extLst>
              </p:cNvPr>
              <p:cNvSpPr txBox="1"/>
              <p:nvPr/>
            </p:nvSpPr>
            <p:spPr>
              <a:xfrm>
                <a:off x="4638206" y="2489214"/>
                <a:ext cx="17719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600" noProof="0" dirty="0">
                    <a:solidFill>
                      <a:schemeClr val="tx1"/>
                    </a:solidFill>
                  </a:rPr>
                  <a:t>source</a:t>
                </a:r>
                <a:endParaRPr lang="en-GB" sz="2400" noProof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C657EAA-5C3B-A5E5-3225-BE16ED66CE4E}"/>
                </a:ext>
              </a:extLst>
            </p:cNvPr>
            <p:cNvSpPr txBox="1"/>
            <p:nvPr/>
          </p:nvSpPr>
          <p:spPr>
            <a:xfrm>
              <a:off x="477994" y="4727096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>
                  <a:solidFill>
                    <a:schemeClr val="tx1"/>
                  </a:solidFill>
                </a:rPr>
                <a:t>transient</a:t>
              </a:r>
              <a:endParaRPr lang="en-GB" sz="24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09944E6B-4BFD-268B-503C-A49A9D0D1992}"/>
              </a:ext>
            </a:extLst>
          </p:cNvPr>
          <p:cNvSpPr txBox="1"/>
          <p:nvPr/>
        </p:nvSpPr>
        <p:spPr>
          <a:xfrm>
            <a:off x="344758" y="694990"/>
            <a:ext cx="13795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i="0" u="none" strike="noStrike" baseline="0" dirty="0">
                <a:solidFill>
                  <a:srgbClr val="0417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XvlwhpYpshnbMyriadPro-Cond"/>
              </a:rPr>
              <a:t>PDEs</a:t>
            </a:r>
            <a:endParaRPr lang="LID4096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0E95FB-2BBB-B58A-1787-D11D1EFC290B}"/>
              </a:ext>
            </a:extLst>
          </p:cNvPr>
          <p:cNvSpPr txBox="1"/>
          <p:nvPr/>
        </p:nvSpPr>
        <p:spPr>
          <a:xfrm>
            <a:off x="1868965" y="763655"/>
            <a:ext cx="31036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800" b="1" i="0" u="none" strike="noStrike" baseline="0">
                <a:solidFill>
                  <a:srgbClr val="041743"/>
                </a:solidFill>
                <a:latin typeface="XvlwhpYpshnbMyriadPro-Cond"/>
              </a:defRPr>
            </a:lvl1pPr>
          </a:lstStyle>
          <a:p>
            <a:pPr algn="ctr"/>
            <a:r>
              <a:rPr lang="en-US" sz="3600" spc="200" normalizeH="1" dirty="0"/>
              <a:t>Partial Differential Equations</a:t>
            </a:r>
            <a:endParaRPr lang="LID4096" sz="3600" spc="200" normalizeH="1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F2F42FA-41DC-97EB-8977-95B3ECD7F2E9}"/>
              </a:ext>
            </a:extLst>
          </p:cNvPr>
          <p:cNvSpPr/>
          <p:nvPr/>
        </p:nvSpPr>
        <p:spPr>
          <a:xfrm>
            <a:off x="8073226" y="3719957"/>
            <a:ext cx="376812" cy="2735533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C1</a:t>
            </a:r>
          </a:p>
          <a:p>
            <a:pPr algn="r"/>
            <a:endParaRPr lang="pt-BR" sz="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C2</a:t>
            </a:r>
          </a:p>
          <a:p>
            <a:pPr algn="r"/>
            <a:endParaRPr lang="pt-BR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C3</a:t>
            </a:r>
          </a:p>
          <a:p>
            <a:pPr algn="r"/>
            <a:endParaRPr lang="pt-BR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C4</a:t>
            </a:r>
          </a:p>
          <a:p>
            <a:pPr algn="r"/>
            <a:endParaRPr lang="pt-BR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C5</a:t>
            </a:r>
          </a:p>
          <a:p>
            <a:pPr algn="r"/>
            <a:endParaRPr lang="pt-BR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C6</a:t>
            </a:r>
          </a:p>
          <a:p>
            <a:pPr algn="r"/>
            <a:endParaRPr lang="pt-BR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C7</a:t>
            </a:r>
          </a:p>
          <a:p>
            <a:pPr algn="r"/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4116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A58A-6C46-866C-0D85-59A28878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B9457490-AF82-8A4F-4217-133C98BFD39C}"/>
              </a:ext>
            </a:extLst>
          </p:cNvPr>
          <p:cNvSpPr/>
          <p:nvPr/>
        </p:nvSpPr>
        <p:spPr>
          <a:xfrm>
            <a:off x="1946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D87D8A-63D3-DE88-AC58-65983C3CBD20}"/>
              </a:ext>
            </a:extLst>
          </p:cNvPr>
          <p:cNvSpPr txBox="1"/>
          <p:nvPr/>
        </p:nvSpPr>
        <p:spPr>
          <a:xfrm>
            <a:off x="3758601" y="6522885"/>
            <a:ext cx="84540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1200" b="1">
                <a:solidFill>
                  <a:schemeClr val="accent2"/>
                </a:solidFill>
              </a:defRPr>
            </a:lvl1pPr>
          </a:lstStyle>
          <a:p>
            <a:r>
              <a:rPr lang="en-GB" sz="1600" dirty="0"/>
              <a:t>Introduction to Numerical Methods for Variational Problems - Langtangen &amp; Mardal</a:t>
            </a:r>
            <a:endParaRPr lang="LID4096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5F1433-02AA-1EDC-8570-831A44EEE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337" y="2331071"/>
            <a:ext cx="3413627" cy="3372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1F7F86-E502-BFD3-8743-2969849D7261}"/>
              </a:ext>
            </a:extLst>
          </p:cNvPr>
          <p:cNvSpPr txBox="1"/>
          <p:nvPr/>
        </p:nvSpPr>
        <p:spPr>
          <a:xfrm>
            <a:off x="8447314" y="1619621"/>
            <a:ext cx="3149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noProof="0" dirty="0">
                <a:latin typeface="Horley Old Style MT"/>
              </a:rPr>
              <a:t>Malha triangular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A51EF00-3CB9-63AE-145E-DE141466D7AF}"/>
              </a:ext>
            </a:extLst>
          </p:cNvPr>
          <p:cNvGrpSpPr/>
          <p:nvPr/>
        </p:nvGrpSpPr>
        <p:grpSpPr>
          <a:xfrm>
            <a:off x="334363" y="2557024"/>
            <a:ext cx="6848475" cy="3926818"/>
            <a:chOff x="5118870" y="351029"/>
            <a:chExt cx="6848475" cy="392681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8E7F1FA-FA45-4E27-9C92-44E6825D7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1864" y="351029"/>
              <a:ext cx="2609850" cy="12382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9DDA495-BA6E-A1F1-A64A-8C74B43EB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18870" y="1704265"/>
              <a:ext cx="3838575" cy="762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1BEE937-7FF7-51AC-CCBF-60D3F104E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18870" y="2573835"/>
              <a:ext cx="6848475" cy="8096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03EA25C-9777-90A3-5D8E-75F0603B0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14394" y="3496797"/>
              <a:ext cx="2257425" cy="7810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2DCA818B-6DA0-345C-BDBF-43642CF8F31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027" t="14307" r="35724" b="19738"/>
          <a:stretch>
            <a:fillRect/>
          </a:stretch>
        </p:blipFill>
        <p:spPr>
          <a:xfrm>
            <a:off x="5594297" y="661075"/>
            <a:ext cx="1588541" cy="31341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68A6BE-84FF-2A73-2613-AD4C1FD5F80E}"/>
              </a:ext>
            </a:extLst>
          </p:cNvPr>
          <p:cNvSpPr/>
          <p:nvPr/>
        </p:nvSpPr>
        <p:spPr>
          <a:xfrm>
            <a:off x="8447314" y="456443"/>
            <a:ext cx="3178630" cy="1055608"/>
          </a:xfrm>
          <a:prstGeom prst="round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00FF"/>
                </a:solidFill>
                <a:latin typeface="Horley Old Style MT"/>
              </a:rPr>
              <a:t>finite elements method (FEM)</a:t>
            </a:r>
            <a:endParaRPr lang="pt-BR" sz="2800" b="1" dirty="0">
              <a:solidFill>
                <a:srgbClr val="0000FF"/>
              </a:solidFill>
              <a:latin typeface="Horley Old Style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C97F4-065E-5060-711D-AD66C9BF8393}"/>
              </a:ext>
            </a:extLst>
          </p:cNvPr>
          <p:cNvSpPr txBox="1"/>
          <p:nvPr/>
        </p:nvSpPr>
        <p:spPr>
          <a:xfrm>
            <a:off x="344758" y="694990"/>
            <a:ext cx="13795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i="0" u="none" strike="noStrike" baseline="0" dirty="0">
                <a:solidFill>
                  <a:srgbClr val="0417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XvlwhpYpshnbMyriadPro-Cond"/>
              </a:rPr>
              <a:t>PDEs</a:t>
            </a:r>
            <a:endParaRPr lang="LID4096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803E0-3BA9-412A-FCFD-896610FA3E3F}"/>
              </a:ext>
            </a:extLst>
          </p:cNvPr>
          <p:cNvSpPr txBox="1"/>
          <p:nvPr/>
        </p:nvSpPr>
        <p:spPr>
          <a:xfrm>
            <a:off x="1868965" y="763655"/>
            <a:ext cx="31036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800" b="1" i="0" u="none" strike="noStrike" baseline="0">
                <a:solidFill>
                  <a:srgbClr val="041743"/>
                </a:solidFill>
                <a:latin typeface="XvlwhpYpshnbMyriadPro-Cond"/>
              </a:defRPr>
            </a:lvl1pPr>
          </a:lstStyle>
          <a:p>
            <a:pPr algn="ctr"/>
            <a:r>
              <a:rPr lang="en-US" sz="3600" spc="200" normalizeH="1" dirty="0"/>
              <a:t>Partial Differential Equations</a:t>
            </a:r>
            <a:endParaRPr lang="LID4096" sz="3600" spc="200" normalizeH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31A93-78FA-76B1-2D2A-C8F98A25BDC1}"/>
              </a:ext>
            </a:extLst>
          </p:cNvPr>
          <p:cNvSpPr txBox="1"/>
          <p:nvPr/>
        </p:nvSpPr>
        <p:spPr>
          <a:xfrm>
            <a:off x="5172891" y="6208080"/>
            <a:ext cx="70452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1600" b="1">
                <a:solidFill>
                  <a:schemeClr val="accent2"/>
                </a:solidFill>
              </a:defRPr>
            </a:lvl1pPr>
          </a:lstStyle>
          <a:p>
            <a:r>
              <a:rPr lang="LID4096" sz="1100" dirty="0"/>
              <a:t>https://github.com/grossiRM/CFD_ON/blob/main/04_OpenFoam/FEniCS/01b__A%20FEniCS%20Tutorial__ii__.pdf</a:t>
            </a:r>
          </a:p>
        </p:txBody>
      </p:sp>
    </p:spTree>
    <p:extLst>
      <p:ext uri="{BB962C8B-B14F-4D97-AF65-F5344CB8AC3E}">
        <p14:creationId xmlns:p14="http://schemas.microsoft.com/office/powerpoint/2010/main" val="3858129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4C30-0AE8-241B-5F4F-32BC5BE17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DD407B-310E-88AA-8071-9D494A8EFD66}"/>
              </a:ext>
            </a:extLst>
          </p:cNvPr>
          <p:cNvSpPr/>
          <p:nvPr/>
        </p:nvSpPr>
        <p:spPr>
          <a:xfrm>
            <a:off x="1946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0003C3-8A10-83C1-5A2D-B5C0783F9B94}"/>
              </a:ext>
            </a:extLst>
          </p:cNvPr>
          <p:cNvSpPr/>
          <p:nvPr/>
        </p:nvSpPr>
        <p:spPr>
          <a:xfrm>
            <a:off x="8447314" y="456443"/>
            <a:ext cx="3178630" cy="1055608"/>
          </a:xfrm>
          <a:prstGeom prst="round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00FF"/>
                </a:solidFill>
                <a:latin typeface="Horley Old Style MT"/>
              </a:rPr>
              <a:t>finite elements method (FEM)</a:t>
            </a:r>
            <a:endParaRPr lang="pt-BR" sz="2800" b="1" dirty="0">
              <a:solidFill>
                <a:srgbClr val="0000FF"/>
              </a:solidFill>
              <a:latin typeface="Horley Old Style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D5A93-641C-ED55-E5B0-9FA35FCBAEB8}"/>
              </a:ext>
            </a:extLst>
          </p:cNvPr>
          <p:cNvSpPr txBox="1"/>
          <p:nvPr/>
        </p:nvSpPr>
        <p:spPr>
          <a:xfrm>
            <a:off x="932749" y="49315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/>
              </a:rPr>
              <a:t>Heat Affected Zone (HAZ)</a:t>
            </a:r>
            <a:endParaRPr lang="LID4096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D3E41-9434-80D6-4E99-7BB9A2B55FCD}"/>
              </a:ext>
            </a:extLst>
          </p:cNvPr>
          <p:cNvSpPr txBox="1"/>
          <p:nvPr/>
        </p:nvSpPr>
        <p:spPr>
          <a:xfrm>
            <a:off x="1919770" y="1607436"/>
            <a:ext cx="52597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none" strike="noStrike" baseline="0" dirty="0">
                <a:solidFill>
                  <a:srgbClr val="000000"/>
                </a:solidFill>
                <a:latin typeface="Charis SIL"/>
              </a:rPr>
              <a:t>the balance of energy equation</a:t>
            </a:r>
          </a:p>
          <a:p>
            <a:r>
              <a:rPr lang="en-GB" sz="2800" b="1" dirty="0">
                <a:solidFill>
                  <a:srgbClr val="000000"/>
                </a:solidFill>
                <a:latin typeface="Charis SIL"/>
              </a:rPr>
              <a:t>    + </a:t>
            </a:r>
            <a:r>
              <a:rPr lang="en-GB" sz="2800" b="1" i="0" u="none" strike="noStrike" baseline="0" dirty="0">
                <a:solidFill>
                  <a:srgbClr val="000000"/>
                </a:solidFill>
                <a:latin typeface="Charis SIL"/>
              </a:rPr>
              <a:t>phase change </a:t>
            </a:r>
          </a:p>
          <a:p>
            <a:r>
              <a:rPr lang="en-GB" sz="2800" b="1" dirty="0">
                <a:solidFill>
                  <a:srgbClr val="000000"/>
                </a:solidFill>
                <a:latin typeface="Charis SIL"/>
              </a:rPr>
              <a:t>    + </a:t>
            </a:r>
            <a:r>
              <a:rPr lang="en-GB" sz="2800" b="1" i="0" u="none" strike="noStrike" baseline="0" dirty="0">
                <a:solidFill>
                  <a:srgbClr val="000000"/>
                </a:solidFill>
                <a:latin typeface="Charis SIL"/>
              </a:rPr>
              <a:t>growing domain</a:t>
            </a:r>
            <a:endParaRPr lang="LID4096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6F1F8-B1CC-6223-0A12-E2FCBA87E2E9}"/>
              </a:ext>
            </a:extLst>
          </p:cNvPr>
          <p:cNvSpPr txBox="1"/>
          <p:nvPr/>
        </p:nvSpPr>
        <p:spPr>
          <a:xfrm>
            <a:off x="1911825" y="1022425"/>
            <a:ext cx="4989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3200" b="1" i="0" u="none" strike="noStrike" baseline="0">
                <a:solidFill>
                  <a:srgbClr val="0000FF"/>
                </a:solidFill>
                <a:latin typeface="Charis SIL"/>
              </a:defRPr>
            </a:lvl1pPr>
          </a:lstStyle>
          <a:p>
            <a:r>
              <a:rPr lang="LID4096" dirty="0"/>
              <a:t>multi-timestep</a:t>
            </a:r>
            <a:r>
              <a:rPr lang="pt-BR" dirty="0"/>
              <a:t> </a:t>
            </a:r>
            <a:r>
              <a:rPr lang="LID4096" dirty="0"/>
              <a:t>method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ADE-6940-4338-444E-1058736549F8}"/>
              </a:ext>
            </a:extLst>
          </p:cNvPr>
          <p:cNvSpPr txBox="1"/>
          <p:nvPr/>
        </p:nvSpPr>
        <p:spPr>
          <a:xfrm>
            <a:off x="1919770" y="2925463"/>
            <a:ext cx="5551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0000FF"/>
                </a:solidFill>
                <a:latin typeface="Charis SIL"/>
              </a:rPr>
              <a:t>born-dead element technique</a:t>
            </a:r>
            <a:endParaRPr lang="LID4096" sz="3200" b="1" dirty="0">
              <a:solidFill>
                <a:srgbClr val="0000FF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6A24B8-634C-02D0-93D4-D9DF7CAD6657}"/>
              </a:ext>
            </a:extLst>
          </p:cNvPr>
          <p:cNvSpPr/>
          <p:nvPr/>
        </p:nvSpPr>
        <p:spPr>
          <a:xfrm>
            <a:off x="157687" y="5475415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Exemplo: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F8370-15B6-DACC-BCFC-1469ED22D519}"/>
              </a:ext>
            </a:extLst>
          </p:cNvPr>
          <p:cNvSpPr txBox="1"/>
          <p:nvPr/>
        </p:nvSpPr>
        <p:spPr>
          <a:xfrm>
            <a:off x="466" y="5922954"/>
            <a:ext cx="8047651" cy="938719"/>
          </a:xfrm>
          <a:prstGeom prst="rect">
            <a:avLst/>
          </a:prstGeom>
          <a:noFill/>
        </p:spPr>
        <p:txBody>
          <a:bodyPr wrap="square" anchor="b" anchorCtr="0">
            <a:spAutoFit/>
          </a:bodyPr>
          <a:lstStyle>
            <a:defPPr>
              <a:defRPr lang="LID4096"/>
            </a:defPPr>
            <a:lvl1pPr>
              <a:defRPr sz="14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endParaRPr lang="pt-BR" sz="800" dirty="0"/>
          </a:p>
          <a:p>
            <a:r>
              <a:rPr lang="LID4096" sz="1800" dirty="0"/>
              <a:t>A Chimera method for thermal part-scale metal Additive Manufacturing simulation</a:t>
            </a:r>
            <a:endParaRPr lang="pt-BR" sz="1800" dirty="0"/>
          </a:p>
          <a:p>
            <a:endParaRPr lang="pt-BR" sz="900" dirty="0"/>
          </a:p>
          <a:p>
            <a:r>
              <a:rPr lang="en-GB" sz="1800" dirty="0"/>
              <a:t> Substepped and advected </a:t>
            </a:r>
            <a:r>
              <a:rPr lang="en-GB" sz="2000" dirty="0">
                <a:solidFill>
                  <a:schemeClr val="tx1"/>
                </a:solidFill>
              </a:rPr>
              <a:t>subdomain methods </a:t>
            </a:r>
            <a:r>
              <a:rPr lang="en-GB" sz="1800" dirty="0"/>
              <a:t>for part-scale LPBF modeling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EFCAE55-6849-908E-1D20-7B0FA38E1293}"/>
              </a:ext>
            </a:extLst>
          </p:cNvPr>
          <p:cNvGrpSpPr/>
          <p:nvPr/>
        </p:nvGrpSpPr>
        <p:grpSpPr>
          <a:xfrm>
            <a:off x="374391" y="1135820"/>
            <a:ext cx="1568161" cy="2483850"/>
            <a:chOff x="374391" y="857146"/>
            <a:chExt cx="1568161" cy="248385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A99D9C9-9B3A-C2E2-304D-58E8755D1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6027" t="14307" r="35724" b="19738"/>
            <a:stretch>
              <a:fillRect/>
            </a:stretch>
          </p:blipFill>
          <p:spPr>
            <a:xfrm>
              <a:off x="374391" y="857146"/>
              <a:ext cx="1383223" cy="24838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FB66D9E-A07D-480A-7599-210FB52BF78C}"/>
                </a:ext>
              </a:extLst>
            </p:cNvPr>
            <p:cNvSpPr txBox="1"/>
            <p:nvPr/>
          </p:nvSpPr>
          <p:spPr>
            <a:xfrm>
              <a:off x="494748" y="2506030"/>
              <a:ext cx="144780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aris SIL"/>
                </a:rPr>
                <a:t>&amp; FEniCS</a:t>
              </a:r>
              <a:endParaRPr lang="LID4096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BF5D71F-04B0-53C9-2924-E16E80EEB7B6}"/>
              </a:ext>
            </a:extLst>
          </p:cNvPr>
          <p:cNvSpPr txBox="1"/>
          <p:nvPr/>
        </p:nvSpPr>
        <p:spPr>
          <a:xfrm>
            <a:off x="1887270" y="3615664"/>
            <a:ext cx="45135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3200"/>
            </a:lvl1pPr>
          </a:lstStyle>
          <a:p>
            <a:r>
              <a:rPr lang="en-US" dirty="0"/>
              <a:t>Adaptive Mesh Refinement</a:t>
            </a:r>
            <a:endParaRPr lang="LID4096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93058E-FCBA-836A-7AD4-4E787CCCC394}"/>
              </a:ext>
            </a:extLst>
          </p:cNvPr>
          <p:cNvSpPr txBox="1"/>
          <p:nvPr/>
        </p:nvSpPr>
        <p:spPr>
          <a:xfrm>
            <a:off x="7963741" y="2566925"/>
            <a:ext cx="36109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noProof="0" dirty="0"/>
              <a:t>moving mesh</a:t>
            </a:r>
          </a:p>
          <a:p>
            <a:r>
              <a:rPr lang="en-GB" sz="3200" noProof="0" dirty="0"/>
              <a:t>moving heat source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656F5F-1576-55B7-719C-676633D10FD4}"/>
              </a:ext>
            </a:extLst>
          </p:cNvPr>
          <p:cNvSpPr txBox="1"/>
          <p:nvPr/>
        </p:nvSpPr>
        <p:spPr>
          <a:xfrm>
            <a:off x="6954651" y="1598583"/>
            <a:ext cx="4319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noProof="0" dirty="0"/>
              <a:t>Simulação do processo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C5EBAF-16D2-D819-2ED6-F51AC81BB241}"/>
              </a:ext>
            </a:extLst>
          </p:cNvPr>
          <p:cNvSpPr txBox="1"/>
          <p:nvPr/>
        </p:nvSpPr>
        <p:spPr>
          <a:xfrm>
            <a:off x="7124844" y="2079832"/>
            <a:ext cx="3610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noProof="0" dirty="0"/>
              <a:t>Digital twin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BE85373-BC3F-9B58-4980-C20D32520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169" y="3719480"/>
            <a:ext cx="4693417" cy="21666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61D1FCE-5F00-2706-314B-BE896338B840}"/>
              </a:ext>
            </a:extLst>
          </p:cNvPr>
          <p:cNvSpPr txBox="1"/>
          <p:nvPr/>
        </p:nvSpPr>
        <p:spPr>
          <a:xfrm>
            <a:off x="8360229" y="6313714"/>
            <a:ext cx="3828348" cy="55112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LID4096"/>
            </a:defPPr>
            <a:lvl1pPr algn="r">
              <a:defRPr sz="14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r>
              <a:rPr lang="en-US" sz="1200" dirty="0"/>
              <a:t>https://github.com/ordinary-slim/moving_heat_source</a:t>
            </a:r>
          </a:p>
          <a:p>
            <a:r>
              <a:rPr lang="en-US" sz="1200" dirty="0"/>
              <a:t>https://github.com/ordinary-slim/mhs_fenicsx</a:t>
            </a:r>
            <a:endParaRPr lang="LID4096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B6F600-1C78-7F24-F815-C3A14DCAA551}"/>
              </a:ext>
            </a:extLst>
          </p:cNvPr>
          <p:cNvGrpSpPr/>
          <p:nvPr/>
        </p:nvGrpSpPr>
        <p:grpSpPr>
          <a:xfrm>
            <a:off x="5091887" y="4359912"/>
            <a:ext cx="1464694" cy="1527639"/>
            <a:chOff x="10297180" y="4379027"/>
            <a:chExt cx="1755763" cy="1724444"/>
          </a:xfrm>
        </p:grpSpPr>
        <p:pic>
          <p:nvPicPr>
            <p:cNvPr id="1026" name="Picture 2" descr="Docker Desktop - Baixar e instalar no Windows | Microsoft Store">
              <a:extLst>
                <a:ext uri="{FF2B5EF4-FFF2-40B4-BE49-F238E27FC236}">
                  <a16:creationId xmlns:a16="http://schemas.microsoft.com/office/drawing/2014/main" id="{E439F3FD-A5F5-4B3B-082E-52EA20AA7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97180" y="4379027"/>
              <a:ext cx="1724444" cy="172444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A16DC95-9F13-6385-859E-7BB8ABB2FD32}"/>
                </a:ext>
              </a:extLst>
            </p:cNvPr>
            <p:cNvSpPr txBox="1"/>
            <p:nvPr/>
          </p:nvSpPr>
          <p:spPr>
            <a:xfrm>
              <a:off x="10328498" y="5575245"/>
              <a:ext cx="1724445" cy="4169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haris SIL"/>
                </a:rPr>
                <a:t>docker</a:t>
              </a:r>
              <a:endParaRPr lang="LID4096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621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4E42-99DA-B8B5-69FA-9D786FFC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7DE534B-5949-FB9B-E933-F00174A09EB5}"/>
              </a:ext>
            </a:extLst>
          </p:cNvPr>
          <p:cNvSpPr/>
          <p:nvPr/>
        </p:nvSpPr>
        <p:spPr>
          <a:xfrm>
            <a:off x="-37480" y="-47734"/>
            <a:ext cx="12192000" cy="6858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33A6C5-3ACB-E41E-B133-E6E6DA188638}"/>
              </a:ext>
            </a:extLst>
          </p:cNvPr>
          <p:cNvSpPr/>
          <p:nvPr/>
        </p:nvSpPr>
        <p:spPr>
          <a:xfrm>
            <a:off x="7796814" y="317105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Ecossistema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74E5E0-D854-BCCE-58C9-5075E40DA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7" y="2560424"/>
            <a:ext cx="2807277" cy="39010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FEAF43-EB15-D0F3-200F-39BF7CF51F2F}"/>
              </a:ext>
            </a:extLst>
          </p:cNvPr>
          <p:cNvSpPr txBox="1"/>
          <p:nvPr/>
        </p:nvSpPr>
        <p:spPr>
          <a:xfrm>
            <a:off x="1428933" y="2610565"/>
            <a:ext cx="171390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sz="17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LID4096" sz="1200" dirty="0"/>
              <a:t>https://github.com/grossiRM/CFD_ON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63F6F3-8038-D153-5BFD-A9316E3E5E98}"/>
              </a:ext>
            </a:extLst>
          </p:cNvPr>
          <p:cNvGrpSpPr>
            <a:grpSpLocks noChangeAspect="1"/>
          </p:cNvGrpSpPr>
          <p:nvPr/>
        </p:nvGrpSpPr>
        <p:grpSpPr>
          <a:xfrm>
            <a:off x="413658" y="447303"/>
            <a:ext cx="5887933" cy="2016837"/>
            <a:chOff x="170587" y="203777"/>
            <a:chExt cx="4687854" cy="160576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83B6BCC-AF6B-F46B-6FEC-2E1C60508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3602" b="63439"/>
            <a:stretch>
              <a:fillRect/>
            </a:stretch>
          </p:blipFill>
          <p:spPr>
            <a:xfrm>
              <a:off x="170587" y="203777"/>
              <a:ext cx="4687854" cy="63486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2B97477-9DA2-41D5-9AC9-D881CD430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1443" t="44209" r="2159"/>
            <a:stretch>
              <a:fillRect/>
            </a:stretch>
          </p:blipFill>
          <p:spPr>
            <a:xfrm>
              <a:off x="170587" y="840758"/>
              <a:ext cx="4687854" cy="96878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" name="Arrow: Down 30">
            <a:extLst>
              <a:ext uri="{FF2B5EF4-FFF2-40B4-BE49-F238E27FC236}">
                <a16:creationId xmlns:a16="http://schemas.microsoft.com/office/drawing/2014/main" id="{16E2746B-586D-0388-3F09-17C8DAC5E878}"/>
              </a:ext>
            </a:extLst>
          </p:cNvPr>
          <p:cNvSpPr/>
          <p:nvPr/>
        </p:nvSpPr>
        <p:spPr>
          <a:xfrm rot="16200000" flipV="1">
            <a:off x="1451457" y="3826415"/>
            <a:ext cx="312186" cy="426906"/>
          </a:xfrm>
          <a:prstGeom prst="downArrow">
            <a:avLst/>
          </a:prstGeom>
          <a:solidFill>
            <a:srgbClr val="0000FF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69316A-6FA2-8628-4449-D948D7698896}"/>
              </a:ext>
            </a:extLst>
          </p:cNvPr>
          <p:cNvSpPr txBox="1"/>
          <p:nvPr/>
        </p:nvSpPr>
        <p:spPr>
          <a:xfrm>
            <a:off x="3467100" y="479250"/>
            <a:ext cx="2722149" cy="353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 algn="ctr">
              <a:defRPr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LID4096" sz="1600" dirty="0"/>
              <a:t>https://github.com/usnistgov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D6E7B2E2-319B-2363-473C-F7B7A036D3E9}"/>
              </a:ext>
            </a:extLst>
          </p:cNvPr>
          <p:cNvSpPr/>
          <p:nvPr/>
        </p:nvSpPr>
        <p:spPr>
          <a:xfrm rot="16200000">
            <a:off x="5246511" y="1648300"/>
            <a:ext cx="404892" cy="589319"/>
          </a:xfrm>
          <a:prstGeom prst="downArrow">
            <a:avLst/>
          </a:prstGeom>
          <a:solidFill>
            <a:srgbClr val="0000FF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50E6FF3-DA78-01AE-0D91-A4836A987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905" y="3009427"/>
            <a:ext cx="2975686" cy="16506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0FD3AA5-83C5-EF4A-B940-110383E1BE53}"/>
              </a:ext>
            </a:extLst>
          </p:cNvPr>
          <p:cNvSpPr txBox="1"/>
          <p:nvPr/>
        </p:nvSpPr>
        <p:spPr>
          <a:xfrm>
            <a:off x="3325905" y="2563129"/>
            <a:ext cx="2975686" cy="353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0">
            <a:noAutofit/>
          </a:bodyPr>
          <a:lstStyle>
            <a:defPPr>
              <a:defRPr lang="LID4096"/>
            </a:defPPr>
            <a:lvl1pPr>
              <a:defRPr sz="17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 </a:t>
            </a:r>
            <a:r>
              <a:rPr lang="LID4096" dirty="0"/>
              <a:t>https://github.com/new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691D91-8EA8-8308-91AA-D47C1F8CCB84}"/>
              </a:ext>
            </a:extLst>
          </p:cNvPr>
          <p:cNvSpPr/>
          <p:nvPr/>
        </p:nvSpPr>
        <p:spPr>
          <a:xfrm>
            <a:off x="7949214" y="129872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“pausa”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1B2F01F-9FA3-A152-8B40-256695A1230D}"/>
              </a:ext>
            </a:extLst>
          </p:cNvPr>
          <p:cNvGrpSpPr/>
          <p:nvPr/>
        </p:nvGrpSpPr>
        <p:grpSpPr>
          <a:xfrm>
            <a:off x="7544376" y="1010688"/>
            <a:ext cx="4100617" cy="4134793"/>
            <a:chOff x="7276331" y="1269071"/>
            <a:chExt cx="4100617" cy="413479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5FC4262-52E4-981D-8066-7F523DA399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76507" y="1269071"/>
              <a:ext cx="2924051" cy="2076780"/>
              <a:chOff x="6236841" y="204550"/>
              <a:chExt cx="3525468" cy="250393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689B3F4-F951-0E17-26C6-7AC72F12F7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6841" y="204550"/>
                <a:ext cx="3200061" cy="205718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2F4AF90-0B66-0A6E-6035-0197047C8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79329" r="8299"/>
              <a:stretch>
                <a:fillRect/>
              </a:stretch>
            </p:blipFill>
            <p:spPr>
              <a:xfrm>
                <a:off x="6236841" y="2268905"/>
                <a:ext cx="3525468" cy="43957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D7F6F25-AEBD-1A8F-FA4A-1E40BF251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9833" t="34471" r="67292" b="29016"/>
            <a:stretch>
              <a:fillRect/>
            </a:stretch>
          </p:blipFill>
          <p:spPr>
            <a:xfrm>
              <a:off x="10285238" y="1269072"/>
              <a:ext cx="1091709" cy="207678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DE04BA7-0F71-CADB-E003-F4F2BA89C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91181" y="4688479"/>
              <a:ext cx="1056899" cy="681814"/>
            </a:xfrm>
            <a:prstGeom prst="rect">
              <a:avLst/>
            </a:prstGeom>
            <a:ln w="28575">
              <a:solidFill>
                <a:schemeClr val="tx1"/>
              </a:solidFill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255B77-EC91-3448-0154-E8D745EA8AA8}"/>
                </a:ext>
              </a:extLst>
            </p:cNvPr>
            <p:cNvSpPr txBox="1"/>
            <p:nvPr/>
          </p:nvSpPr>
          <p:spPr>
            <a:xfrm>
              <a:off x="7276331" y="3380310"/>
              <a:ext cx="4100616" cy="120032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LID4096" sz="1200" dirty="0">
                  <a:solidFill>
                    <a:schemeClr val="bg1"/>
                  </a:solidFill>
                </a:rPr>
                <a:t>echo "# </a:t>
              </a:r>
              <a:r>
                <a:rPr lang="pt-BR" sz="1200" dirty="0">
                  <a:solidFill>
                    <a:schemeClr val="bg1"/>
                  </a:solidFill>
                </a:rPr>
                <a:t>new</a:t>
              </a:r>
              <a:r>
                <a:rPr lang="LID4096" sz="1200" dirty="0">
                  <a:solidFill>
                    <a:schemeClr val="bg1"/>
                  </a:solidFill>
                </a:rPr>
                <a:t>" &gt;&gt; README.md</a:t>
              </a:r>
              <a:endParaRPr lang="pt-BR" sz="1200" dirty="0">
                <a:solidFill>
                  <a:schemeClr val="bg1"/>
                </a:solidFill>
              </a:endParaRPr>
            </a:p>
            <a:p>
              <a:r>
                <a:rPr lang="LID4096" sz="1200" dirty="0">
                  <a:solidFill>
                    <a:schemeClr val="bg1"/>
                  </a:solidFill>
                </a:rPr>
                <a:t>git initgit add README.md</a:t>
              </a:r>
              <a:endParaRPr lang="pt-BR" sz="1200" dirty="0">
                <a:solidFill>
                  <a:schemeClr val="bg1"/>
                </a:solidFill>
              </a:endParaRPr>
            </a:p>
            <a:p>
              <a:r>
                <a:rPr lang="LID4096" sz="1200" dirty="0">
                  <a:solidFill>
                    <a:schemeClr val="bg1"/>
                  </a:solidFill>
                </a:rPr>
                <a:t>git commit -m "first commit“</a:t>
              </a:r>
              <a:endParaRPr lang="pt-BR" sz="1200" dirty="0">
                <a:solidFill>
                  <a:schemeClr val="bg1"/>
                </a:solidFill>
              </a:endParaRPr>
            </a:p>
            <a:p>
              <a:r>
                <a:rPr lang="LID4096" sz="1200" dirty="0">
                  <a:solidFill>
                    <a:schemeClr val="bg1"/>
                  </a:solidFill>
                </a:rPr>
                <a:t>git branch -M main</a:t>
              </a:r>
              <a:endParaRPr lang="pt-BR" sz="1200" dirty="0">
                <a:solidFill>
                  <a:schemeClr val="bg1"/>
                </a:solidFill>
              </a:endParaRPr>
            </a:p>
            <a:p>
              <a:r>
                <a:rPr lang="LID4096" sz="1200" dirty="0">
                  <a:solidFill>
                    <a:schemeClr val="bg1"/>
                  </a:solidFill>
                </a:rPr>
                <a:t>git remote add origin </a:t>
              </a:r>
              <a:r>
                <a:rPr lang="LID4096" sz="800" dirty="0">
                  <a:solidFill>
                    <a:srgbClr val="FFFF00"/>
                  </a:solidFill>
                </a:rPr>
                <a:t>https://github.com/</a:t>
              </a:r>
              <a:r>
                <a:rPr lang="LID4096" sz="1200" b="1" dirty="0">
                  <a:solidFill>
                    <a:srgbClr val="FFFF00"/>
                  </a:solidFill>
                </a:rPr>
                <a:t>grossiRM/</a:t>
              </a:r>
              <a:r>
                <a:rPr lang="pt-BR" sz="1200" b="1" dirty="0">
                  <a:solidFill>
                    <a:srgbClr val="FFFF00"/>
                  </a:solidFill>
                </a:rPr>
                <a:t>new</a:t>
              </a:r>
              <a:r>
                <a:rPr lang="LID4096" sz="1200" b="1" dirty="0">
                  <a:solidFill>
                    <a:srgbClr val="FFFF00"/>
                  </a:solidFill>
                </a:rPr>
                <a:t>.git</a:t>
              </a:r>
              <a:endParaRPr lang="pt-BR" sz="1100" b="1" dirty="0">
                <a:solidFill>
                  <a:srgbClr val="FFFF00"/>
                </a:solidFill>
              </a:endParaRPr>
            </a:p>
            <a:p>
              <a:r>
                <a:rPr lang="LID4096" sz="1200" dirty="0">
                  <a:solidFill>
                    <a:schemeClr val="bg1"/>
                  </a:solidFill>
                </a:rPr>
                <a:t>git push -u origin main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AB3280-4193-B65A-C710-00528AE868BB}"/>
                </a:ext>
              </a:extLst>
            </p:cNvPr>
            <p:cNvSpPr txBox="1"/>
            <p:nvPr/>
          </p:nvSpPr>
          <p:spPr>
            <a:xfrm>
              <a:off x="7276332" y="4629343"/>
              <a:ext cx="1910410" cy="73866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$ git add .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$ git commit -m “001"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$ git push origin</a:t>
              </a:r>
            </a:p>
          </p:txBody>
        </p:sp>
        <p:pic>
          <p:nvPicPr>
            <p:cNvPr id="19" name="Picture 4" descr="GitHub – Wikipédia, a enciclopédia livre">
              <a:extLst>
                <a:ext uri="{FF2B5EF4-FFF2-40B4-BE49-F238E27FC236}">
                  <a16:creationId xmlns:a16="http://schemas.microsoft.com/office/drawing/2014/main" id="{3249C9E7-75A4-2B59-E859-55B038271A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0180" y="4617096"/>
              <a:ext cx="786768" cy="78676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0C4E985-0CE5-70C3-BC62-E1A94308DEF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822452" y="3463620"/>
              <a:ext cx="1420689" cy="663268"/>
              <a:chOff x="6929135" y="2785673"/>
              <a:chExt cx="2846759" cy="1329047"/>
            </a:xfrm>
          </p:grpSpPr>
          <p:pic>
            <p:nvPicPr>
              <p:cNvPr id="29" name="Picture 2">
                <a:extLst>
                  <a:ext uri="{FF2B5EF4-FFF2-40B4-BE49-F238E27FC236}">
                    <a16:creationId xmlns:a16="http://schemas.microsoft.com/office/drawing/2014/main" id="{712A92F1-B203-F397-802C-B1F458FC3D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46848" y="2785673"/>
                <a:ext cx="1329046" cy="132904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4">
                <a:extLst>
                  <a:ext uri="{FF2B5EF4-FFF2-40B4-BE49-F238E27FC236}">
                    <a16:creationId xmlns:a16="http://schemas.microsoft.com/office/drawing/2014/main" id="{F163D0BE-EA60-6A98-6C7D-6C5C7FBFA1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9135" y="2785673"/>
                <a:ext cx="1310884" cy="132904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6829948-23D7-069F-6436-FED7933CDD0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7272" t="68014" r="59655" b="12008"/>
          <a:stretch>
            <a:fillRect/>
          </a:stretch>
        </p:blipFill>
        <p:spPr>
          <a:xfrm>
            <a:off x="3338008" y="4787684"/>
            <a:ext cx="3425013" cy="16681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A06A972-B22B-4AF9-2D56-E5A8B07E39E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7510"/>
          <a:stretch>
            <a:fillRect/>
          </a:stretch>
        </p:blipFill>
        <p:spPr>
          <a:xfrm>
            <a:off x="7651353" y="5375161"/>
            <a:ext cx="4100616" cy="108066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8776EFB1-F0A9-B381-686C-BD1DBE0B5260}"/>
              </a:ext>
            </a:extLst>
          </p:cNvPr>
          <p:cNvGrpSpPr/>
          <p:nvPr/>
        </p:nvGrpSpPr>
        <p:grpSpPr>
          <a:xfrm>
            <a:off x="5867791" y="1739726"/>
            <a:ext cx="1178514" cy="1080530"/>
            <a:chOff x="8322157" y="1672458"/>
            <a:chExt cx="1314995" cy="1312026"/>
          </a:xfrm>
        </p:grpSpPr>
        <p:pic>
          <p:nvPicPr>
            <p:cNvPr id="38" name="Picture 37">
              <a:hlinkClick r:id="rId14" action="ppaction://hlinkfile"/>
              <a:extLst>
                <a:ext uri="{FF2B5EF4-FFF2-40B4-BE49-F238E27FC236}">
                  <a16:creationId xmlns:a16="http://schemas.microsoft.com/office/drawing/2014/main" id="{96CB07EB-A43C-80B0-85FE-41A8B6225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22157" y="1672458"/>
              <a:ext cx="1280159" cy="128016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BBE2387-7FF8-95C6-37E7-F9A561E8903C}"/>
                </a:ext>
              </a:extLst>
            </p:cNvPr>
            <p:cNvSpPr txBox="1"/>
            <p:nvPr/>
          </p:nvSpPr>
          <p:spPr>
            <a:xfrm>
              <a:off x="8882799" y="2584374"/>
              <a:ext cx="7543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pt-BR" sz="2000" b="1" dirty="0"/>
                <a:t>Fi</a:t>
              </a:r>
              <a:r>
                <a:rPr lang="pt-BR" sz="2000" b="1" dirty="0">
                  <a:solidFill>
                    <a:srgbClr val="FF0000"/>
                  </a:solidFill>
                </a:rPr>
                <a:t>Py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0" name="Arrow: Down 39">
            <a:extLst>
              <a:ext uri="{FF2B5EF4-FFF2-40B4-BE49-F238E27FC236}">
                <a16:creationId xmlns:a16="http://schemas.microsoft.com/office/drawing/2014/main" id="{F0329D91-259B-64DF-256F-D51D6886AE52}"/>
              </a:ext>
            </a:extLst>
          </p:cNvPr>
          <p:cNvSpPr/>
          <p:nvPr/>
        </p:nvSpPr>
        <p:spPr>
          <a:xfrm rot="16200000">
            <a:off x="7341015" y="5731965"/>
            <a:ext cx="404892" cy="589319"/>
          </a:xfrm>
          <a:prstGeom prst="downArrow">
            <a:avLst/>
          </a:prstGeom>
          <a:solidFill>
            <a:srgbClr val="0000FF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39410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01A74-F5A5-16F0-F1BF-66E37219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3766BC-03E2-9BD8-569C-E6C042905C3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6" name="Picture 2" descr="Development phase">
            <a:extLst>
              <a:ext uri="{FF2B5EF4-FFF2-40B4-BE49-F238E27FC236}">
                <a16:creationId xmlns:a16="http://schemas.microsoft.com/office/drawing/2014/main" id="{14D74540-E379-CFE4-7D31-130239E683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4" r="37082" b="29005"/>
          <a:stretch>
            <a:fillRect/>
          </a:stretch>
        </p:blipFill>
        <p:spPr bwMode="auto">
          <a:xfrm>
            <a:off x="393544" y="315915"/>
            <a:ext cx="5851492" cy="27759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F2CD72-C7D1-A28B-A201-E4BC34BF78B4}"/>
              </a:ext>
            </a:extLst>
          </p:cNvPr>
          <p:cNvSpPr txBox="1"/>
          <p:nvPr/>
        </p:nvSpPr>
        <p:spPr>
          <a:xfrm>
            <a:off x="2612571" y="6586841"/>
            <a:ext cx="95794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1200" b="1">
                <a:solidFill>
                  <a:schemeClr val="accent2"/>
                </a:solidFill>
              </a:defRPr>
            </a:lvl1pPr>
          </a:lstStyle>
          <a:p>
            <a:r>
              <a:rPr lang="LID4096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https://formnext.mesago.com/frankfurt/en/industry-insights/am-field-guide/process_in_general.html</a:t>
            </a:r>
            <a:endParaRPr lang="LID4096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93643FC-C13D-2DCF-C53B-CE201BB988FF}"/>
              </a:ext>
            </a:extLst>
          </p:cNvPr>
          <p:cNvGrpSpPr/>
          <p:nvPr/>
        </p:nvGrpSpPr>
        <p:grpSpPr>
          <a:xfrm>
            <a:off x="333332" y="3644329"/>
            <a:ext cx="4367732" cy="2705302"/>
            <a:chOff x="434246" y="3370024"/>
            <a:chExt cx="4367732" cy="27053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226F45-96C5-5790-AA40-656947B1114D}"/>
                </a:ext>
              </a:extLst>
            </p:cNvPr>
            <p:cNvSpPr txBox="1"/>
            <p:nvPr/>
          </p:nvSpPr>
          <p:spPr>
            <a:xfrm>
              <a:off x="434246" y="4907442"/>
              <a:ext cx="2180776" cy="1167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b="1" u="sng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CAM</a:t>
              </a: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</a:p>
            <a:p>
              <a:pPr algn="r">
                <a:lnSpc>
                  <a:spcPct val="107000"/>
                </a:lnSpc>
                <a:spcAft>
                  <a:spcPts val="800"/>
                </a:spcAft>
              </a:pP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Computer-Aided Manufacturing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2C074CF-8F7A-5F3A-6BF1-C90ED073E49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8438" y="3370024"/>
              <a:ext cx="4053540" cy="2559167"/>
              <a:chOff x="182831" y="3131184"/>
              <a:chExt cx="3789317" cy="2392353"/>
            </a:xfrm>
          </p:grpSpPr>
          <p:pic>
            <p:nvPicPr>
              <p:cNvPr id="21" name="Picture 2" descr="Development phase">
                <a:extLst>
                  <a:ext uri="{FF2B5EF4-FFF2-40B4-BE49-F238E27FC236}">
                    <a16:creationId xmlns:a16="http://schemas.microsoft.com/office/drawing/2014/main" id="{086B03E6-F34E-1145-3D09-B0CE1E95E3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797" t="23507" r="7142" b="28567"/>
              <a:stretch>
                <a:fillRect/>
              </a:stretch>
            </p:blipFill>
            <p:spPr bwMode="auto">
              <a:xfrm>
                <a:off x="182831" y="3131184"/>
                <a:ext cx="1451202" cy="122056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4" descr="AM production phase">
                <a:extLst>
                  <a:ext uri="{FF2B5EF4-FFF2-40B4-BE49-F238E27FC236}">
                    <a16:creationId xmlns:a16="http://schemas.microsoft.com/office/drawing/2014/main" id="{7B2EC496-F5F2-A9D6-BCB3-5E9621F219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819" t="18312" r="40994" b="24811"/>
              <a:stretch>
                <a:fillRect/>
              </a:stretch>
            </p:blipFill>
            <p:spPr bwMode="auto">
              <a:xfrm>
                <a:off x="2089196" y="3131184"/>
                <a:ext cx="1882952" cy="23923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3CA16F-7AC3-758D-A398-DE541F6AAC38}"/>
              </a:ext>
            </a:extLst>
          </p:cNvPr>
          <p:cNvGrpSpPr/>
          <p:nvPr/>
        </p:nvGrpSpPr>
        <p:grpSpPr>
          <a:xfrm>
            <a:off x="6574343" y="963500"/>
            <a:ext cx="5304147" cy="2143912"/>
            <a:chOff x="6763177" y="796305"/>
            <a:chExt cx="5304147" cy="21439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EBFE5E-1B50-4B85-6981-545C9D574D42}"/>
                </a:ext>
              </a:extLst>
            </p:cNvPr>
            <p:cNvSpPr txBox="1"/>
            <p:nvPr/>
          </p:nvSpPr>
          <p:spPr>
            <a:xfrm>
              <a:off x="6763177" y="796305"/>
              <a:ext cx="4005035" cy="10670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GB" sz="2400" b="1" u="sng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CAD</a:t>
              </a: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(Computer-Aided Design)</a:t>
              </a:r>
              <a:r>
                <a: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shapes </a:t>
              </a:r>
              <a:r>
                <a:rPr lang="en-GB" kern="100" dirty="0">
                  <a:solidFill>
                    <a:srgbClr val="EE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- parametric 3D models (length, width, angles + Rules + History Tree)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577DA59-FD78-1502-E621-7079958E1B61}"/>
                </a:ext>
              </a:extLst>
            </p:cNvPr>
            <p:cNvSpPr txBox="1"/>
            <p:nvPr/>
          </p:nvSpPr>
          <p:spPr>
            <a:xfrm>
              <a:off x="6763177" y="1874925"/>
              <a:ext cx="5304147" cy="10652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b="1" u="sng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CAE</a:t>
              </a: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(Computer-Aided Engineering)</a:t>
              </a:r>
              <a:r>
                <a: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GB" kern="1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– </a:t>
              </a:r>
              <a:r>
                <a:rPr lang="en-GB" kern="100" dirty="0">
                  <a:latin typeface="Calibri" panose="020F0502020204030204" pitchFamily="34" charset="0"/>
                  <a:cs typeface="Arial" panose="020B0604020202020204" pitchFamily="34" charset="0"/>
                </a:rPr>
                <a:t>data harvesting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- structural stresses, deformations,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cs typeface="Arial" panose="020B0604020202020204" pitchFamily="34" charset="0"/>
                </a:rPr>
                <a:t>displacement,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and failures – </a:t>
              </a:r>
              <a:r>
                <a:rPr lang="en-GB" b="1" kern="100" dirty="0">
                  <a:solidFill>
                    <a:srgbClr val="0000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FEA - CFD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Picture 2" descr="Development phase">
              <a:extLst>
                <a:ext uri="{FF2B5EF4-FFF2-40B4-BE49-F238E27FC236}">
                  <a16:creationId xmlns:a16="http://schemas.microsoft.com/office/drawing/2014/main" id="{1F419332-9E0B-3D4F-FD43-722D617EAB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81" t="38669" r="65218" b="48355"/>
            <a:stretch>
              <a:fillRect/>
            </a:stretch>
          </p:blipFill>
          <p:spPr bwMode="auto">
            <a:xfrm>
              <a:off x="10768212" y="1114044"/>
              <a:ext cx="962796" cy="9627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545CA32-B555-00D8-C431-C7D7060516EB}"/>
              </a:ext>
            </a:extLst>
          </p:cNvPr>
          <p:cNvGrpSpPr/>
          <p:nvPr/>
        </p:nvGrpSpPr>
        <p:grpSpPr>
          <a:xfrm>
            <a:off x="5735426" y="5706256"/>
            <a:ext cx="5682866" cy="656087"/>
            <a:chOff x="5591803" y="5690247"/>
            <a:chExt cx="5682866" cy="65608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E8F990-D7E2-4864-AC68-D0069658B8A4}"/>
                </a:ext>
              </a:extLst>
            </p:cNvPr>
            <p:cNvSpPr txBox="1"/>
            <p:nvPr/>
          </p:nvSpPr>
          <p:spPr>
            <a:xfrm>
              <a:off x="5591803" y="5690247"/>
              <a:ext cx="18538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b="1" noProof="0" dirty="0"/>
                <a:t>Pós Processamento</a:t>
              </a:r>
              <a:endParaRPr lang="pt-BR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FE72C2-4D8E-82EB-10F4-F6EEF285DD8E}"/>
                </a:ext>
              </a:extLst>
            </p:cNvPr>
            <p:cNvSpPr txBox="1"/>
            <p:nvPr/>
          </p:nvSpPr>
          <p:spPr>
            <a:xfrm>
              <a:off x="8390919" y="5700003"/>
              <a:ext cx="28837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b="1" noProof="0" dirty="0"/>
                <a:t>Testes, Medições </a:t>
              </a:r>
            </a:p>
            <a:p>
              <a:r>
                <a:rPr lang="pt-BR" b="1" noProof="0" dirty="0"/>
                <a:t>&amp; controle de qualidade</a:t>
              </a:r>
              <a:endParaRPr lang="pt-BR" noProof="0" dirty="0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52C720-64B6-BF56-5FCE-1E9507F4538D}"/>
              </a:ext>
            </a:extLst>
          </p:cNvPr>
          <p:cNvCxnSpPr>
            <a:cxnSpLocks/>
          </p:cNvCxnSpPr>
          <p:nvPr/>
        </p:nvCxnSpPr>
        <p:spPr>
          <a:xfrm>
            <a:off x="5110467" y="3553097"/>
            <a:ext cx="0" cy="2781029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C38D7A-B395-A54D-499A-69264F12F803}"/>
              </a:ext>
            </a:extLst>
          </p:cNvPr>
          <p:cNvCxnSpPr>
            <a:cxnSpLocks/>
          </p:cNvCxnSpPr>
          <p:nvPr/>
        </p:nvCxnSpPr>
        <p:spPr>
          <a:xfrm flipH="1">
            <a:off x="513806" y="3429000"/>
            <a:ext cx="1093487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6" descr="Post-processing phase">
            <a:extLst>
              <a:ext uri="{FF2B5EF4-FFF2-40B4-BE49-F238E27FC236}">
                <a16:creationId xmlns:a16="http://schemas.microsoft.com/office/drawing/2014/main" id="{61DC19E1-F7C6-0430-4B2C-A59B1C8B11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43" r="8917" b="31349"/>
          <a:stretch>
            <a:fillRect/>
          </a:stretch>
        </p:blipFill>
        <p:spPr bwMode="auto">
          <a:xfrm>
            <a:off x="5536053" y="3644329"/>
            <a:ext cx="6081613" cy="19312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39894B7-E229-5711-B9E9-38F156B4385C}"/>
              </a:ext>
            </a:extLst>
          </p:cNvPr>
          <p:cNvSpPr/>
          <p:nvPr/>
        </p:nvSpPr>
        <p:spPr>
          <a:xfrm>
            <a:off x="7796814" y="317105"/>
            <a:ext cx="3829129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modelar?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911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FED2-8C2D-CBC5-EC1D-3E567474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D18262-79C3-97F3-7608-04C239CF9BEE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931FF7F-D890-000A-DBE8-01F406BEC642}"/>
              </a:ext>
            </a:extLst>
          </p:cNvPr>
          <p:cNvGrpSpPr>
            <a:grpSpLocks noChangeAspect="1"/>
          </p:cNvGrpSpPr>
          <p:nvPr/>
        </p:nvGrpSpPr>
        <p:grpSpPr>
          <a:xfrm>
            <a:off x="699788" y="2562897"/>
            <a:ext cx="10792424" cy="2244475"/>
            <a:chOff x="1022745" y="1409461"/>
            <a:chExt cx="10669753" cy="22858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A93156-15E9-6FCC-08A2-D16608D8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7529" b="51086"/>
            <a:stretch>
              <a:fillRect/>
            </a:stretch>
          </p:blipFill>
          <p:spPr>
            <a:xfrm>
              <a:off x="1022745" y="1409461"/>
              <a:ext cx="10669753" cy="221043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00BA0A-1C05-83BB-E2E6-874CF37D9164}"/>
                </a:ext>
              </a:extLst>
            </p:cNvPr>
            <p:cNvSpPr/>
            <p:nvPr/>
          </p:nvSpPr>
          <p:spPr>
            <a:xfrm>
              <a:off x="4694548" y="3381865"/>
              <a:ext cx="3073139" cy="3134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579ACB3-1D08-3FBB-935E-915DB5103E55}"/>
              </a:ext>
            </a:extLst>
          </p:cNvPr>
          <p:cNvSpPr txBox="1"/>
          <p:nvPr/>
        </p:nvSpPr>
        <p:spPr>
          <a:xfrm>
            <a:off x="532889" y="1335393"/>
            <a:ext cx="34093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i="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Macro-scale</a:t>
            </a:r>
            <a:r>
              <a:rPr lang="en-GB" sz="1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models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heat flow and structural (stress) deformation &amp;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</a:rPr>
              <a:t>interlayer bonding,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585BF-3078-B5E5-DCD6-6FC3D4B4C024}"/>
              </a:ext>
            </a:extLst>
          </p:cNvPr>
          <p:cNvSpPr txBox="1"/>
          <p:nvPr/>
        </p:nvSpPr>
        <p:spPr>
          <a:xfrm>
            <a:off x="508200" y="4942141"/>
            <a:ext cx="35208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Distorção, stress residual</a:t>
            </a:r>
          </a:p>
          <a:p>
            <a:endParaRPr lang="pt-BR" sz="1600" b="1" dirty="0"/>
          </a:p>
          <a:p>
            <a:r>
              <a:rPr lang="pt-BR" sz="1400" b="1" u="sng" dirty="0"/>
              <a:t>Métodos</a:t>
            </a:r>
            <a:r>
              <a:rPr lang="pt-BR" sz="1400" b="1" dirty="0"/>
              <a:t>:</a:t>
            </a:r>
            <a:r>
              <a:rPr lang="pt-BR" sz="2400" b="1" dirty="0"/>
              <a:t> FEM, FVM</a:t>
            </a:r>
            <a:endParaRPr lang="LID4096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793E5-19E5-D29C-D284-048AAFC498D3}"/>
              </a:ext>
            </a:extLst>
          </p:cNvPr>
          <p:cNvSpPr txBox="1"/>
          <p:nvPr/>
        </p:nvSpPr>
        <p:spPr>
          <a:xfrm>
            <a:off x="4532480" y="4942142"/>
            <a:ext cx="33431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Fluxo, </a:t>
            </a:r>
            <a:r>
              <a:rPr lang="pt-PT" sz="2400" b="1" dirty="0"/>
              <a:t>poça de fusão</a:t>
            </a:r>
          </a:p>
          <a:p>
            <a:endParaRPr lang="pt-BR" sz="1400" b="1" dirty="0"/>
          </a:p>
          <a:p>
            <a:r>
              <a:rPr lang="pt-BR" sz="1600" b="1" u="sng" dirty="0"/>
              <a:t>Métodos</a:t>
            </a:r>
            <a:r>
              <a:rPr lang="pt-BR" sz="1600" b="1" dirty="0"/>
              <a:t>: </a:t>
            </a:r>
            <a:r>
              <a:rPr lang="pt-BR" sz="2400" b="1" dirty="0"/>
              <a:t>CFD, SPH, LBM</a:t>
            </a:r>
            <a:endParaRPr lang="LID4096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1A13F-E240-B758-DA48-9CB20B91F2D0}"/>
              </a:ext>
            </a:extLst>
          </p:cNvPr>
          <p:cNvSpPr txBox="1"/>
          <p:nvPr/>
        </p:nvSpPr>
        <p:spPr>
          <a:xfrm>
            <a:off x="8070678" y="4942142"/>
            <a:ext cx="33431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Grãos, nucleação, vazios  </a:t>
            </a:r>
          </a:p>
          <a:p>
            <a:endParaRPr lang="pt-BR" sz="1200" b="1" dirty="0"/>
          </a:p>
          <a:p>
            <a:r>
              <a:rPr lang="pt-BR" sz="1600" b="1" u="sng" dirty="0"/>
              <a:t>Métodos</a:t>
            </a:r>
            <a:r>
              <a:rPr lang="pt-BR" sz="1600" b="1" dirty="0"/>
              <a:t>:</a:t>
            </a:r>
            <a:r>
              <a:rPr lang="pt-BR" sz="2400" b="1" dirty="0"/>
              <a:t> CA, MC, PF</a:t>
            </a:r>
            <a:endParaRPr lang="LID4096" sz="2400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D92701-2C39-7EB4-A46C-F1AD49A526C1}"/>
              </a:ext>
            </a:extLst>
          </p:cNvPr>
          <p:cNvGrpSpPr/>
          <p:nvPr/>
        </p:nvGrpSpPr>
        <p:grpSpPr>
          <a:xfrm>
            <a:off x="8128401" y="1274828"/>
            <a:ext cx="3363811" cy="1107996"/>
            <a:chOff x="6653058" y="732502"/>
            <a:chExt cx="3363811" cy="11079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12F553-9E88-0BC5-7CE8-BADD93E0B0F8}"/>
                </a:ext>
              </a:extLst>
            </p:cNvPr>
            <p:cNvSpPr txBox="1"/>
            <p:nvPr/>
          </p:nvSpPr>
          <p:spPr>
            <a:xfrm>
              <a:off x="6673714" y="1194167"/>
              <a:ext cx="334315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dirty="0"/>
                <a:t>grain growth, microstructural transitions, solidification kinetics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812636-A4FB-E46F-694E-EE55083C9D34}"/>
                </a:ext>
              </a:extLst>
            </p:cNvPr>
            <p:cNvSpPr txBox="1"/>
            <p:nvPr/>
          </p:nvSpPr>
          <p:spPr>
            <a:xfrm>
              <a:off x="6653058" y="732502"/>
              <a:ext cx="30694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i="0" u="sng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Micro-scale</a:t>
              </a:r>
              <a:r>
                <a:rPr lang="en-GB" sz="1800" b="1" i="0" u="sng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phase-field</a:t>
              </a:r>
              <a:endParaRPr lang="LID4096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4EBBB04-CED1-CA15-A508-9EEC5791E0AF}"/>
              </a:ext>
            </a:extLst>
          </p:cNvPr>
          <p:cNvSpPr txBox="1"/>
          <p:nvPr/>
        </p:nvSpPr>
        <p:spPr>
          <a:xfrm>
            <a:off x="4578282" y="1320995"/>
            <a:ext cx="29439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Meso-scale</a:t>
            </a:r>
            <a:r>
              <a:rPr lang="en-GB" sz="1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models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pool geometry, bead formation, and dilution. </a:t>
            </a:r>
            <a:endParaRPr lang="LID4096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6E7739-B156-5FE7-31E7-3EC340D9E0CF}"/>
              </a:ext>
            </a:extLst>
          </p:cNvPr>
          <p:cNvCxnSpPr>
            <a:cxnSpLocks/>
          </p:cNvCxnSpPr>
          <p:nvPr/>
        </p:nvCxnSpPr>
        <p:spPr>
          <a:xfrm>
            <a:off x="4154277" y="973999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973B47-50DE-DA68-A410-F1ABE21EDF32}"/>
              </a:ext>
            </a:extLst>
          </p:cNvPr>
          <p:cNvCxnSpPr>
            <a:cxnSpLocks/>
          </p:cNvCxnSpPr>
          <p:nvPr/>
        </p:nvCxnSpPr>
        <p:spPr>
          <a:xfrm>
            <a:off x="7692476" y="973998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115BA8-7EB1-9D87-ECF4-114E0CA95B6D}"/>
              </a:ext>
            </a:extLst>
          </p:cNvPr>
          <p:cNvCxnSpPr>
            <a:cxnSpLocks/>
          </p:cNvCxnSpPr>
          <p:nvPr/>
        </p:nvCxnSpPr>
        <p:spPr>
          <a:xfrm>
            <a:off x="4154277" y="4818833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32C9D7-49BC-51C2-3E0C-82CDC84270CC}"/>
              </a:ext>
            </a:extLst>
          </p:cNvPr>
          <p:cNvCxnSpPr>
            <a:cxnSpLocks/>
          </p:cNvCxnSpPr>
          <p:nvPr/>
        </p:nvCxnSpPr>
        <p:spPr>
          <a:xfrm>
            <a:off x="7692476" y="4818832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83482A-51B4-C9C8-5B2B-9A3F5760AC2E}"/>
              </a:ext>
            </a:extLst>
          </p:cNvPr>
          <p:cNvSpPr/>
          <p:nvPr/>
        </p:nvSpPr>
        <p:spPr>
          <a:xfrm>
            <a:off x="3176725" y="317105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Escalas de modelagem</a:t>
            </a:r>
            <a:endParaRPr lang="pt-BR" sz="3600" noProof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89CD8D-4B1D-099E-72FE-E4A9D8A4FE3D}"/>
              </a:ext>
            </a:extLst>
          </p:cNvPr>
          <p:cNvSpPr/>
          <p:nvPr/>
        </p:nvSpPr>
        <p:spPr>
          <a:xfrm>
            <a:off x="8372475" y="317105"/>
            <a:ext cx="3253468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modelar?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505BF1-A086-DBA7-1C0E-52B01E52FC86}"/>
              </a:ext>
            </a:extLst>
          </p:cNvPr>
          <p:cNvSpPr txBox="1"/>
          <p:nvPr/>
        </p:nvSpPr>
        <p:spPr>
          <a:xfrm>
            <a:off x="2612571" y="6586841"/>
            <a:ext cx="95794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1200" b="1">
                <a:solidFill>
                  <a:schemeClr val="accent2"/>
                </a:solidFill>
              </a:defRPr>
            </a:lvl1pPr>
          </a:lstStyle>
          <a:p>
            <a:r>
              <a:rPr lang="LID4096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https://formnext.mesago.com/frankfurt/en/industry-insights/am-field-guide/process_in_general.html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61323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C27728-C905-B009-3AA3-FD5D0FA2B16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6FEA9-7EF3-C277-8E36-C7669F63E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1"/>
          <a:stretch>
            <a:fillRect/>
          </a:stretch>
        </p:blipFill>
        <p:spPr>
          <a:xfrm>
            <a:off x="276720" y="2335731"/>
            <a:ext cx="4085603" cy="273256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6D91F9-C9A0-ABDD-E36F-6420C1DADA46}"/>
              </a:ext>
            </a:extLst>
          </p:cNvPr>
          <p:cNvSpPr txBox="1"/>
          <p:nvPr/>
        </p:nvSpPr>
        <p:spPr>
          <a:xfrm>
            <a:off x="212135" y="185056"/>
            <a:ext cx="8862196" cy="13080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algn="l">
              <a:defRPr/>
            </a:pPr>
            <a:r>
              <a:rPr lang="pt-BR" sz="3200" dirty="0">
                <a:solidFill>
                  <a:srgbClr val="0000FF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FEA – Análise de Elementos Finitos  </a:t>
            </a:r>
          </a:p>
          <a:p>
            <a:pPr lvl="0" algn="l">
              <a:defRPr/>
            </a:pPr>
            <a:endParaRPr lang="pt-BR" sz="1100" dirty="0">
              <a:solidFill>
                <a:srgbClr val="0000FF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lvl="0" algn="l">
              <a:defRPr/>
            </a:pPr>
            <a:r>
              <a:rPr lang="pt-BR" dirty="0"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- Decompõe um objeto 3D complexo em milhares de pequenas partes gerenciáveis ​​("elementos"); - Calcula tensões estruturais, falhas e deformações.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40DB6-C404-19BC-9D0F-ECB805C01817}"/>
              </a:ext>
            </a:extLst>
          </p:cNvPr>
          <p:cNvSpPr txBox="1"/>
          <p:nvPr/>
        </p:nvSpPr>
        <p:spPr>
          <a:xfrm>
            <a:off x="4814543" y="4237295"/>
            <a:ext cx="156877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2400" b="1" i="0" u="none" strike="noStrike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Peça de Suporte</a:t>
            </a:r>
            <a:endParaRPr lang="pt-BR" sz="24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7B3F9-F49D-8161-28CC-53F9CF4C1625}"/>
              </a:ext>
            </a:extLst>
          </p:cNvPr>
          <p:cNvSpPr/>
          <p:nvPr/>
        </p:nvSpPr>
        <p:spPr>
          <a:xfrm>
            <a:off x="6513187" y="1524000"/>
            <a:ext cx="5466680" cy="5249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1319E9-D6B9-8AE1-F641-877AEAD80FDB}"/>
              </a:ext>
            </a:extLst>
          </p:cNvPr>
          <p:cNvGrpSpPr>
            <a:grpSpLocks noChangeAspect="1"/>
          </p:cNvGrpSpPr>
          <p:nvPr/>
        </p:nvGrpSpPr>
        <p:grpSpPr>
          <a:xfrm>
            <a:off x="6665587" y="1609725"/>
            <a:ext cx="5249693" cy="5112462"/>
            <a:chOff x="4964461" y="288938"/>
            <a:chExt cx="6855569" cy="667636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1D5FCEF-AF2B-7018-FF25-444431D18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284872" y="288938"/>
              <a:ext cx="4558587" cy="5974983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0453F9-7876-B5D9-A9E4-12F46EA5BE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378909" y="878366"/>
              <a:ext cx="1441121" cy="5943659"/>
              <a:chOff x="11076678" y="3429000"/>
              <a:chExt cx="822685" cy="3393024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A4CDDEC-3E2D-61DF-2E45-44983BE66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1076678" y="3429000"/>
                <a:ext cx="822685" cy="3393024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348DBEB-5B21-9AB1-912B-82C28516B5B0}"/>
                  </a:ext>
                </a:extLst>
              </p:cNvPr>
              <p:cNvSpPr/>
              <p:nvPr/>
            </p:nvSpPr>
            <p:spPr>
              <a:xfrm>
                <a:off x="11582492" y="3429000"/>
                <a:ext cx="316871" cy="651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60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43AE0F8-07E5-A686-8BD7-FE8564A80116}"/>
                </a:ext>
              </a:extLst>
            </p:cNvPr>
            <p:cNvSpPr txBox="1"/>
            <p:nvPr/>
          </p:nvSpPr>
          <p:spPr>
            <a:xfrm>
              <a:off x="4964461" y="6347118"/>
              <a:ext cx="6659546" cy="61818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182880" tIns="91440" rIns="182880" bIns="91440" anchor="ctr" anchorCtr="0">
              <a:noAutofit/>
            </a:bodyPr>
            <a:lstStyle>
              <a:defPPr>
                <a:defRPr lang="LID4096"/>
              </a:defPPr>
              <a:lvl1pPr indent="0" algn="ctr">
                <a:spcAft>
                  <a:spcPts val="600"/>
                </a:spcAft>
                <a:defRPr sz="2000" b="1" i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r>
                <a:rPr lang="en-US" sz="2400" i="0" dirty="0">
                  <a:solidFill>
                    <a:srgbClr val="0000FF"/>
                  </a:solidFill>
                </a:rPr>
                <a:t>FSI –</a:t>
              </a:r>
              <a:r>
                <a:rPr lang="en-US" sz="2400" dirty="0">
                  <a:solidFill>
                    <a:srgbClr val="0000FF"/>
                  </a:solidFill>
                </a:rPr>
                <a:t> Fluid</a:t>
              </a:r>
              <a:r>
                <a:rPr lang="en-US" sz="1100" dirty="0">
                  <a:solidFill>
                    <a:srgbClr val="0000FF"/>
                  </a:solidFill>
                </a:rPr>
                <a:t> </a:t>
              </a:r>
              <a:r>
                <a:rPr lang="en-US" sz="2400" dirty="0">
                  <a:solidFill>
                    <a:srgbClr val="0000FF"/>
                  </a:solidFill>
                </a:rPr>
                <a:t>-</a:t>
              </a:r>
              <a:r>
                <a:rPr lang="en-US" sz="1100" dirty="0">
                  <a:solidFill>
                    <a:srgbClr val="0000FF"/>
                  </a:solidFill>
                </a:rPr>
                <a:t> </a:t>
              </a:r>
              <a:r>
                <a:rPr lang="en-US" sz="2400" dirty="0">
                  <a:solidFill>
                    <a:srgbClr val="0000FF"/>
                  </a:solidFill>
                </a:rPr>
                <a:t>Structure Interaction</a:t>
              </a:r>
              <a:endParaRPr lang="LID4096" sz="2800" dirty="0">
                <a:solidFill>
                  <a:srgbClr val="0000FF"/>
                </a:solidFill>
              </a:endParaRPr>
            </a:p>
          </p:txBody>
        </p:sp>
      </p:grpSp>
      <p:pic>
        <p:nvPicPr>
          <p:cNvPr id="22" name="Picture 4">
            <a:extLst>
              <a:ext uri="{FF2B5EF4-FFF2-40B4-BE49-F238E27FC236}">
                <a16:creationId xmlns:a16="http://schemas.microsoft.com/office/drawing/2014/main" id="{3187604D-67DE-972C-8C65-C7C199488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889" y="2331893"/>
            <a:ext cx="1865424" cy="15615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8072DCC-E31C-2B39-5872-F434A53FDAD9}"/>
              </a:ext>
            </a:extLst>
          </p:cNvPr>
          <p:cNvSpPr txBox="1"/>
          <p:nvPr/>
        </p:nvSpPr>
        <p:spPr>
          <a:xfrm>
            <a:off x="2726458" y="5194043"/>
            <a:ext cx="3535368" cy="12618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algn="r">
              <a:defRPr/>
            </a:pPr>
            <a:r>
              <a:rPr lang="pt-BR" sz="2800" noProof="0" dirty="0">
                <a:solidFill>
                  <a:srgbClr val="0000FF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CFD  </a:t>
            </a:r>
          </a:p>
          <a:p>
            <a:pPr lvl="0" algn="r">
              <a:defRPr/>
            </a:pPr>
            <a:r>
              <a:rPr lang="pt-BR" sz="2400" noProof="0" dirty="0">
                <a:solidFill>
                  <a:srgbClr val="0000FF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- Fluidodinâmica Computacional</a:t>
            </a:r>
            <a:endParaRPr lang="pt-BR" sz="2400" dirty="0">
              <a:solidFill>
                <a:srgbClr val="0000FF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59D2E8-8EE9-1D79-6CA1-CB86AE4CE007}"/>
              </a:ext>
            </a:extLst>
          </p:cNvPr>
          <p:cNvSpPr txBox="1"/>
          <p:nvPr/>
        </p:nvSpPr>
        <p:spPr>
          <a:xfrm>
            <a:off x="92649" y="1650270"/>
            <a:ext cx="404338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90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900" b="1" noProof="0" dirty="0"/>
              <a:t> </a:t>
            </a:r>
            <a:r>
              <a:rPr lang="pt-BR" sz="1900" b="1" noProof="0" dirty="0">
                <a:solidFill>
                  <a:srgbClr val="0000FF"/>
                </a:solidFill>
              </a:rPr>
              <a:t>Stress, Deformação, Vibração, Fadiga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AACB8-6577-8ADD-6ECA-ACC088CBEB3F}"/>
              </a:ext>
            </a:extLst>
          </p:cNvPr>
          <p:cNvSpPr txBox="1"/>
          <p:nvPr/>
        </p:nvSpPr>
        <p:spPr>
          <a:xfrm>
            <a:off x="264386" y="1962561"/>
            <a:ext cx="4161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noProof="0" dirty="0">
                <a:solidFill>
                  <a:srgbClr val="FF0000"/>
                </a:solidFill>
              </a:rPr>
              <a:t>Análise Estrutural 	</a:t>
            </a:r>
            <a:endParaRPr lang="pt-BR" sz="1400" b="1" i="1" noProof="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B1CBB-EEA5-8A49-7ABE-340A99B5BA07}"/>
              </a:ext>
            </a:extLst>
          </p:cNvPr>
          <p:cNvSpPr txBox="1"/>
          <p:nvPr/>
        </p:nvSpPr>
        <p:spPr>
          <a:xfrm>
            <a:off x="562643" y="5260688"/>
            <a:ext cx="29118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noProof="0" dirty="0">
                <a:solidFill>
                  <a:srgbClr val="0000FF"/>
                </a:solidFill>
              </a:rPr>
              <a:t>Fluxo, pressão, </a:t>
            </a:r>
            <a:r>
              <a:rPr lang="pt-BR" sz="2400" b="1" noProof="0" dirty="0">
                <a:solidFill>
                  <a:srgbClr val="FF0000"/>
                </a:solidFill>
              </a:rPr>
              <a:t>temperatura, momento, energia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495001-3623-55B3-48B9-EB838E208526}"/>
              </a:ext>
            </a:extLst>
          </p:cNvPr>
          <p:cNvSpPr/>
          <p:nvPr/>
        </p:nvSpPr>
        <p:spPr>
          <a:xfrm>
            <a:off x="6958150" y="317105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modelar?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35248-ED5C-2F1C-D049-43AF15EF8757}"/>
              </a:ext>
            </a:extLst>
          </p:cNvPr>
          <p:cNvSpPr txBox="1"/>
          <p:nvPr/>
        </p:nvSpPr>
        <p:spPr>
          <a:xfrm>
            <a:off x="1" y="6611815"/>
            <a:ext cx="66663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1200" b="1">
                <a:solidFill>
                  <a:schemeClr val="accent2"/>
                </a:solidFill>
              </a:defRPr>
            </a:lvl1pPr>
          </a:lstStyle>
          <a:p>
            <a:pPr algn="l"/>
            <a:r>
              <a:rPr lang="LID4096" sz="1000" dirty="0"/>
              <a:t>Hybridization of generative design and TPMS lattices: A statistical approach for lightweight aeronautical components</a:t>
            </a:r>
          </a:p>
        </p:txBody>
      </p:sp>
    </p:spTree>
    <p:extLst>
      <p:ext uri="{BB962C8B-B14F-4D97-AF65-F5344CB8AC3E}">
        <p14:creationId xmlns:p14="http://schemas.microsoft.com/office/powerpoint/2010/main" val="3817329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0ECFE3-2D41-9A4D-2CA6-79E475C15769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5D1E5-5971-C9EF-56F5-6D0A4BEE46C2}"/>
              </a:ext>
            </a:extLst>
          </p:cNvPr>
          <p:cNvSpPr txBox="1"/>
          <p:nvPr/>
        </p:nvSpPr>
        <p:spPr>
          <a:xfrm>
            <a:off x="375220" y="799481"/>
            <a:ext cx="328942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noProof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FEM</a:t>
            </a:r>
            <a:r>
              <a:rPr lang="pt-BR" sz="1800" b="1" noProof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| Finite Element Method</a:t>
            </a:r>
            <a:br>
              <a:rPr lang="pt-BR" sz="18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pt-BR" sz="24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Material contínuo  </a:t>
            </a:r>
          </a:p>
          <a:p>
            <a:pPr algn="ctr"/>
            <a:r>
              <a:rPr lang="pt-BR" sz="24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stress e deformação</a:t>
            </a:r>
            <a:endParaRPr lang="pt-BR" sz="24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BA448-BEA9-CB97-9C7B-3E7B90052A24}"/>
              </a:ext>
            </a:extLst>
          </p:cNvPr>
          <p:cNvSpPr txBox="1"/>
          <p:nvPr/>
        </p:nvSpPr>
        <p:spPr>
          <a:xfrm>
            <a:off x="3927287" y="903985"/>
            <a:ext cx="33753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noProof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 | Discrete Element Method</a:t>
            </a:r>
          </a:p>
          <a:p>
            <a:br>
              <a:rPr lang="pt-BR" sz="6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pt-BR" sz="2400" b="1" noProof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Interação de partículas</a:t>
            </a:r>
          </a:p>
          <a:p>
            <a:r>
              <a:rPr lang="pt-BR" sz="20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Escorregamento, aberturas</a:t>
            </a:r>
            <a:endParaRPr lang="pt-BR" sz="2000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C8C27-44E0-0546-F931-E45EBA93BD19}"/>
              </a:ext>
            </a:extLst>
          </p:cNvPr>
          <p:cNvSpPr txBox="1"/>
          <p:nvPr/>
        </p:nvSpPr>
        <p:spPr>
          <a:xfrm>
            <a:off x="7271818" y="912694"/>
            <a:ext cx="45131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noProof="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FDEM | Finite-Discrete Element Method</a:t>
            </a:r>
          </a:p>
          <a:p>
            <a:br>
              <a:rPr lang="pt-BR" sz="4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pt-BR" sz="200" b="1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b="1" noProof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Combinação:</a:t>
            </a:r>
            <a:endParaRPr lang="pt-BR" sz="2000" b="1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1ADC83-C321-1E01-AEA0-82953A101F7A}"/>
              </a:ext>
            </a:extLst>
          </p:cNvPr>
          <p:cNvSpPr/>
          <p:nvPr/>
        </p:nvSpPr>
        <p:spPr>
          <a:xfrm>
            <a:off x="6958150" y="317105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modelar?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1BF80DB-5FB3-F14F-9A5F-2C1AD5896DD2}"/>
              </a:ext>
            </a:extLst>
          </p:cNvPr>
          <p:cNvGrpSpPr/>
          <p:nvPr/>
        </p:nvGrpSpPr>
        <p:grpSpPr>
          <a:xfrm>
            <a:off x="7540367" y="4577292"/>
            <a:ext cx="3818361" cy="2020728"/>
            <a:chOff x="-442821" y="4638065"/>
            <a:chExt cx="3818361" cy="2020728"/>
          </a:xfrm>
        </p:grpSpPr>
        <p:sp>
          <p:nvSpPr>
            <p:cNvPr id="24" name="Object 4">
              <a:extLst>
                <a:ext uri="{63B3BB69-23CF-44E3-9099-C40C66FF867C}">
                  <a14:compatExt xmlns:a14="http://schemas.microsoft.com/office/drawing/2010/main" spid="_x0000_s1028"/>
                </a:ext>
                <a:ext uri="{FF2B5EF4-FFF2-40B4-BE49-F238E27FC236}">
                  <a16:creationId xmlns:a16="http://schemas.microsoft.com/office/drawing/2014/main" id="{2386D903-222E-8DAB-32FC-FECE345707C8}"/>
                </a:ext>
              </a:extLst>
            </p:cNvPr>
            <p:cNvSpPr txBox="1"/>
            <p:nvPr/>
          </p:nvSpPr>
          <p:spPr>
            <a:xfrm>
              <a:off x="529486" y="4800187"/>
              <a:ext cx="2846054" cy="185860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  <a:effectLst>
              <a:outerShdw blurRad="50800" dist="38100" dir="8100000" sx="101000" sy="101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274320" tIns="137160" rIns="182880" bIns="91440" anchor="t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400" b="1" u="sng" dirty="0">
                  <a:solidFill>
                    <a:srgbClr val="0000FF"/>
                  </a:solidFill>
                  <a:latin typeface="Calibri (Body)"/>
                </a:rPr>
                <a:t>Finite-difference</a:t>
              </a:r>
            </a:p>
            <a:p>
              <a:r>
                <a:rPr lang="en-GB" sz="2400" b="1" dirty="0">
                  <a:solidFill>
                    <a:srgbClr val="0000FF"/>
                  </a:solidFill>
                  <a:latin typeface="Calibri (Body)"/>
                </a:rPr>
                <a:t>  </a:t>
              </a:r>
              <a:r>
                <a:rPr lang="en-GB" sz="2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 (Body)"/>
                </a:rPr>
                <a:t>MODFLOW</a:t>
              </a:r>
            </a:p>
            <a:p>
              <a:endParaRPr lang="en-GB" sz="1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</a:endParaRPr>
            </a:p>
            <a:p>
              <a:r>
                <a:rPr lang="en-GB" sz="2400" b="1" u="sng" dirty="0">
                  <a:solidFill>
                    <a:srgbClr val="FF0000"/>
                  </a:solidFill>
                  <a:latin typeface="Calibri (Body)"/>
                </a:rPr>
                <a:t>Finite-volume</a:t>
              </a:r>
            </a:p>
            <a:p>
              <a:r>
                <a:rPr lang="en-US" sz="2400" dirty="0">
                  <a:solidFill>
                    <a:srgbClr val="FF0000"/>
                  </a:solidFill>
                  <a:latin typeface="Calibri (Body)"/>
                </a:rPr>
                <a:t>   </a:t>
              </a:r>
              <a:r>
                <a:rPr 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 (Body)"/>
                </a:rPr>
                <a:t>OpenFOAM, </a:t>
              </a:r>
              <a:r>
                <a:rPr lang="pt-BR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 (Body)"/>
                </a:rPr>
                <a:t>Fi</a:t>
              </a:r>
              <a:r>
                <a:rPr lang="pt-BR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 (Body)"/>
                </a:rPr>
                <a:t>Py</a:t>
              </a:r>
            </a:p>
          </p:txBody>
        </p:sp>
        <p:sp>
          <p:nvSpPr>
            <p:cNvPr id="2" name="Object 4">
              <a:extLst>
                <a:ext uri="{63B3BB69-23CF-44E3-9099-C40C66FF867C}">
                  <a14:compatExt xmlns:a14="http://schemas.microsoft.com/office/drawing/2010/main" spid="_x0000_s1028"/>
                </a:ext>
                <a:ext uri="{FF2B5EF4-FFF2-40B4-BE49-F238E27FC236}">
                  <a16:creationId xmlns:a16="http://schemas.microsoft.com/office/drawing/2014/main" id="{F88326D3-A093-B7BE-2E82-E620740886C1}"/>
                </a:ext>
              </a:extLst>
            </p:cNvPr>
            <p:cNvSpPr txBox="1"/>
            <p:nvPr/>
          </p:nvSpPr>
          <p:spPr>
            <a:xfrm>
              <a:off x="-442821" y="4638065"/>
              <a:ext cx="73152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</a:pPr>
              <a:r>
                <a:rPr lang="pt-BR" sz="2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 (Body)"/>
                </a:rPr>
                <a:t>FDM</a:t>
              </a:r>
              <a:endParaRPr lang="en-GB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" name="Object 4">
              <a:extLst>
                <a:ext uri="{63B3BB69-23CF-44E3-9099-C40C66FF867C}">
                  <a14:compatExt xmlns:a14="http://schemas.microsoft.com/office/drawing/2010/main" spid="_x0000_s1028"/>
                </a:ext>
                <a:ext uri="{FF2B5EF4-FFF2-40B4-BE49-F238E27FC236}">
                  <a16:creationId xmlns:a16="http://schemas.microsoft.com/office/drawing/2014/main" id="{DCE87608-81A5-9AD5-9DFE-0B3859404E17}"/>
                </a:ext>
              </a:extLst>
            </p:cNvPr>
            <p:cNvSpPr txBox="1"/>
            <p:nvPr/>
          </p:nvSpPr>
          <p:spPr>
            <a:xfrm>
              <a:off x="-434110" y="5658637"/>
              <a:ext cx="73152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</a:pPr>
              <a:r>
                <a:rPr lang="pt-BR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 (Body)"/>
                </a:rPr>
                <a:t>FVM</a:t>
              </a:r>
              <a:endPara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5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A1EF7ECF-C30D-E333-D069-C30EF80C5E46}"/>
              </a:ext>
            </a:extLst>
          </p:cNvPr>
          <p:cNvSpPr txBox="1"/>
          <p:nvPr/>
        </p:nvSpPr>
        <p:spPr>
          <a:xfrm>
            <a:off x="501167" y="869149"/>
            <a:ext cx="82296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pt-BR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</a:rPr>
              <a:t>FEM</a:t>
            </a:r>
            <a:endParaRPr lang="en-GB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50A98748-6229-F7E8-302B-574D864C98BC}"/>
              </a:ext>
            </a:extLst>
          </p:cNvPr>
          <p:cNvSpPr txBox="1"/>
          <p:nvPr/>
        </p:nvSpPr>
        <p:spPr>
          <a:xfrm>
            <a:off x="3858331" y="873504"/>
            <a:ext cx="82296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pt-BR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</a:rPr>
              <a:t>DEM</a:t>
            </a:r>
            <a:endParaRPr lang="en-GB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Object 4">
            <a:extLst>
              <a:ext uri="{63B3BB69-23CF-44E3-9099-C40C66FF867C}">
                <a14:compatExt xmlns:a14="http://schemas.microsoft.com/office/drawing/2010/main" spid="_x0000_s1028"/>
              </a:ext>
              <a:ext uri="{FF2B5EF4-FFF2-40B4-BE49-F238E27FC236}">
                <a16:creationId xmlns:a16="http://schemas.microsoft.com/office/drawing/2014/main" id="{DB3C6D52-327D-F57A-A3A1-A45EC551CBF1}"/>
              </a:ext>
            </a:extLst>
          </p:cNvPr>
          <p:cNvSpPr txBox="1"/>
          <p:nvPr/>
        </p:nvSpPr>
        <p:spPr>
          <a:xfrm>
            <a:off x="7468042" y="886566"/>
            <a:ext cx="91440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pt-BR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Body)"/>
              </a:rPr>
              <a:t>FDEM</a:t>
            </a:r>
            <a:endParaRPr lang="en-GB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4758915-2B77-10F0-4246-FFAE7042588D}"/>
              </a:ext>
            </a:extLst>
          </p:cNvPr>
          <p:cNvGrpSpPr>
            <a:grpSpLocks noChangeAspect="1"/>
          </p:cNvGrpSpPr>
          <p:nvPr/>
        </p:nvGrpSpPr>
        <p:grpSpPr>
          <a:xfrm>
            <a:off x="484691" y="4263451"/>
            <a:ext cx="3406383" cy="2089381"/>
            <a:chOff x="4371703" y="4937760"/>
            <a:chExt cx="2995748" cy="1837509"/>
          </a:xfrm>
        </p:grpSpPr>
        <p:pic>
          <p:nvPicPr>
            <p:cNvPr id="7" name="Picture 2" descr="Coupling of FEM and DEM simulations to consider dynamic deformations under  particle load | Granular Matter | Springer Nature Link">
              <a:extLst>
                <a:ext uri="{FF2B5EF4-FFF2-40B4-BE49-F238E27FC236}">
                  <a16:creationId xmlns:a16="http://schemas.microsoft.com/office/drawing/2014/main" id="{BBAD27A5-9D7B-6DED-DBD5-72193CC639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437" r="59286"/>
            <a:stretch>
              <a:fillRect/>
            </a:stretch>
          </p:blipFill>
          <p:spPr bwMode="auto">
            <a:xfrm>
              <a:off x="4600321" y="5225143"/>
              <a:ext cx="2357829" cy="1453518"/>
            </a:xfrm>
            <a:prstGeom prst="rect">
              <a:avLst/>
            </a:prstGeom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FF3CC0-6B83-C8A9-35D8-52064A3C9EE6}"/>
                </a:ext>
              </a:extLst>
            </p:cNvPr>
            <p:cNvSpPr/>
            <p:nvPr/>
          </p:nvSpPr>
          <p:spPr>
            <a:xfrm>
              <a:off x="4371703" y="4937760"/>
              <a:ext cx="2995748" cy="1837509"/>
            </a:xfrm>
            <a:custGeom>
              <a:avLst/>
              <a:gdLst>
                <a:gd name="connsiteX0" fmla="*/ 0 w 2995748"/>
                <a:gd name="connsiteY0" fmla="*/ 269966 h 1837509"/>
                <a:gd name="connsiteX1" fmla="*/ 731520 w 2995748"/>
                <a:gd name="connsiteY1" fmla="*/ 304800 h 1837509"/>
                <a:gd name="connsiteX2" fmla="*/ 1166948 w 2995748"/>
                <a:gd name="connsiteY2" fmla="*/ 644434 h 1837509"/>
                <a:gd name="connsiteX3" fmla="*/ 1698171 w 2995748"/>
                <a:gd name="connsiteY3" fmla="*/ 896983 h 1837509"/>
                <a:gd name="connsiteX4" fmla="*/ 1828800 w 2995748"/>
                <a:gd name="connsiteY4" fmla="*/ 957943 h 1837509"/>
                <a:gd name="connsiteX5" fmla="*/ 2142308 w 2995748"/>
                <a:gd name="connsiteY5" fmla="*/ 1045029 h 1837509"/>
                <a:gd name="connsiteX6" fmla="*/ 2272937 w 2995748"/>
                <a:gd name="connsiteY6" fmla="*/ 1140823 h 1837509"/>
                <a:gd name="connsiteX7" fmla="*/ 2629988 w 2995748"/>
                <a:gd name="connsiteY7" fmla="*/ 1306286 h 1837509"/>
                <a:gd name="connsiteX8" fmla="*/ 2725783 w 2995748"/>
                <a:gd name="connsiteY8" fmla="*/ 1349829 h 1837509"/>
                <a:gd name="connsiteX9" fmla="*/ 2577737 w 2995748"/>
                <a:gd name="connsiteY9" fmla="*/ 1550126 h 1837509"/>
                <a:gd name="connsiteX10" fmla="*/ 2429691 w 2995748"/>
                <a:gd name="connsiteY10" fmla="*/ 1820091 h 1837509"/>
                <a:gd name="connsiteX11" fmla="*/ 2751908 w 2995748"/>
                <a:gd name="connsiteY11" fmla="*/ 1837509 h 1837509"/>
                <a:gd name="connsiteX12" fmla="*/ 2987040 w 2995748"/>
                <a:gd name="connsiteY12" fmla="*/ 1166949 h 1837509"/>
                <a:gd name="connsiteX13" fmla="*/ 2899954 w 2995748"/>
                <a:gd name="connsiteY13" fmla="*/ 1184366 h 1837509"/>
                <a:gd name="connsiteX14" fmla="*/ 2995748 w 2995748"/>
                <a:gd name="connsiteY14" fmla="*/ 0 h 1837509"/>
                <a:gd name="connsiteX15" fmla="*/ 0 w 2995748"/>
                <a:gd name="connsiteY15" fmla="*/ 43543 h 1837509"/>
                <a:gd name="connsiteX16" fmla="*/ 0 w 2995748"/>
                <a:gd name="connsiteY16" fmla="*/ 269966 h 183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995748" h="1837509">
                  <a:moveTo>
                    <a:pt x="0" y="269966"/>
                  </a:moveTo>
                  <a:lnTo>
                    <a:pt x="731520" y="304800"/>
                  </a:lnTo>
                  <a:lnTo>
                    <a:pt x="1166948" y="644434"/>
                  </a:lnTo>
                  <a:lnTo>
                    <a:pt x="1698171" y="896983"/>
                  </a:lnTo>
                  <a:cubicBezTo>
                    <a:pt x="1796407" y="929729"/>
                    <a:pt x="1753634" y="907833"/>
                    <a:pt x="1828800" y="957943"/>
                  </a:cubicBezTo>
                  <a:lnTo>
                    <a:pt x="2142308" y="1045029"/>
                  </a:lnTo>
                  <a:lnTo>
                    <a:pt x="2272937" y="1140823"/>
                  </a:lnTo>
                  <a:lnTo>
                    <a:pt x="2629988" y="1306286"/>
                  </a:lnTo>
                  <a:lnTo>
                    <a:pt x="2725783" y="1349829"/>
                  </a:lnTo>
                  <a:lnTo>
                    <a:pt x="2577737" y="1550126"/>
                  </a:lnTo>
                  <a:lnTo>
                    <a:pt x="2429691" y="1820091"/>
                  </a:lnTo>
                  <a:lnTo>
                    <a:pt x="2751908" y="1837509"/>
                  </a:lnTo>
                  <a:lnTo>
                    <a:pt x="2987040" y="1166949"/>
                  </a:lnTo>
                  <a:lnTo>
                    <a:pt x="2899954" y="1184366"/>
                  </a:lnTo>
                  <a:lnTo>
                    <a:pt x="2995748" y="0"/>
                  </a:lnTo>
                  <a:lnTo>
                    <a:pt x="0" y="43543"/>
                  </a:lnTo>
                  <a:lnTo>
                    <a:pt x="0" y="269966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05F2F3C-BB55-2C53-EEE2-47627CB437F2}"/>
              </a:ext>
            </a:extLst>
          </p:cNvPr>
          <p:cNvGrpSpPr>
            <a:grpSpLocks noChangeAspect="1"/>
          </p:cNvGrpSpPr>
          <p:nvPr/>
        </p:nvGrpSpPr>
        <p:grpSpPr>
          <a:xfrm>
            <a:off x="3346537" y="3999782"/>
            <a:ext cx="3975155" cy="2743200"/>
            <a:chOff x="8012784" y="4694472"/>
            <a:chExt cx="2718515" cy="1876010"/>
          </a:xfrm>
        </p:grpSpPr>
        <p:pic>
          <p:nvPicPr>
            <p:cNvPr id="19" name="Picture 2" descr="Coupling of FEM and DEM simulations to consider dynamic deformations under  particle load | Granular Matter | Springer Nature Link">
              <a:extLst>
                <a:ext uri="{FF2B5EF4-FFF2-40B4-BE49-F238E27FC236}">
                  <a16:creationId xmlns:a16="http://schemas.microsoft.com/office/drawing/2014/main" id="{65216146-BBD5-5BDD-F2BD-D21B3BD3B8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173" t="61992"/>
            <a:stretch>
              <a:fillRect/>
            </a:stretch>
          </p:blipFill>
          <p:spPr bwMode="auto">
            <a:xfrm>
              <a:off x="8540684" y="5112653"/>
              <a:ext cx="2190615" cy="1329217"/>
            </a:xfrm>
            <a:prstGeom prst="rect">
              <a:avLst/>
            </a:prstGeom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DC31478-3B19-1FBD-9845-CA5B221A367B}"/>
                </a:ext>
              </a:extLst>
            </p:cNvPr>
            <p:cNvSpPr/>
            <p:nvPr/>
          </p:nvSpPr>
          <p:spPr>
            <a:xfrm>
              <a:off x="8012784" y="4694472"/>
              <a:ext cx="2714919" cy="1876010"/>
            </a:xfrm>
            <a:custGeom>
              <a:avLst/>
              <a:gdLst>
                <a:gd name="connsiteX0" fmla="*/ 490193 w 2714919"/>
                <a:gd name="connsiteY0" fmla="*/ 1687474 h 1876010"/>
                <a:gd name="connsiteX1" fmla="*/ 509047 w 2714919"/>
                <a:gd name="connsiteY1" fmla="*/ 773074 h 1876010"/>
                <a:gd name="connsiteX2" fmla="*/ 1414020 w 2714919"/>
                <a:gd name="connsiteY2" fmla="*/ 678806 h 1876010"/>
                <a:gd name="connsiteX3" fmla="*/ 1791092 w 2714919"/>
                <a:gd name="connsiteY3" fmla="*/ 584538 h 1876010"/>
                <a:gd name="connsiteX4" fmla="*/ 2714919 w 2714919"/>
                <a:gd name="connsiteY4" fmla="*/ 348868 h 1876010"/>
                <a:gd name="connsiteX5" fmla="*/ 2639505 w 2714919"/>
                <a:gd name="connsiteY5" fmla="*/ 28357 h 1876010"/>
                <a:gd name="connsiteX6" fmla="*/ 2526383 w 2714919"/>
                <a:gd name="connsiteY6" fmla="*/ 76 h 1876010"/>
                <a:gd name="connsiteX7" fmla="*/ 28280 w 2714919"/>
                <a:gd name="connsiteY7" fmla="*/ 122625 h 1876010"/>
                <a:gd name="connsiteX8" fmla="*/ 0 w 2714919"/>
                <a:gd name="connsiteY8" fmla="*/ 1706328 h 1876010"/>
                <a:gd name="connsiteX9" fmla="*/ 461913 w 2714919"/>
                <a:gd name="connsiteY9" fmla="*/ 1876010 h 1876010"/>
                <a:gd name="connsiteX10" fmla="*/ 490193 w 2714919"/>
                <a:gd name="connsiteY10" fmla="*/ 1687474 h 187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14919" h="1876010">
                  <a:moveTo>
                    <a:pt x="490193" y="1687474"/>
                  </a:moveTo>
                  <a:lnTo>
                    <a:pt x="509047" y="773074"/>
                  </a:lnTo>
                  <a:lnTo>
                    <a:pt x="1414020" y="678806"/>
                  </a:lnTo>
                  <a:lnTo>
                    <a:pt x="1791092" y="584538"/>
                  </a:lnTo>
                  <a:lnTo>
                    <a:pt x="2714919" y="348868"/>
                  </a:lnTo>
                  <a:lnTo>
                    <a:pt x="2639505" y="28357"/>
                  </a:lnTo>
                  <a:cubicBezTo>
                    <a:pt x="2545720" y="-2905"/>
                    <a:pt x="2584473" y="76"/>
                    <a:pt x="2526383" y="76"/>
                  </a:cubicBezTo>
                  <a:lnTo>
                    <a:pt x="28280" y="122625"/>
                  </a:lnTo>
                  <a:lnTo>
                    <a:pt x="0" y="1706328"/>
                  </a:lnTo>
                  <a:lnTo>
                    <a:pt x="461913" y="1876010"/>
                  </a:lnTo>
                  <a:lnTo>
                    <a:pt x="490193" y="1687474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7C8487-1AFC-2168-812A-03A580DB6F7F}"/>
              </a:ext>
            </a:extLst>
          </p:cNvPr>
          <p:cNvGrpSpPr>
            <a:grpSpLocks noChangeAspect="1"/>
          </p:cNvGrpSpPr>
          <p:nvPr/>
        </p:nvGrpSpPr>
        <p:grpSpPr>
          <a:xfrm>
            <a:off x="1247775" y="2102874"/>
            <a:ext cx="9143746" cy="2391566"/>
            <a:chOff x="779140" y="1831005"/>
            <a:chExt cx="9926706" cy="297024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75D0D32-EAAA-3652-EBC3-78978633F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81" t="16117" b="48462"/>
            <a:stretch>
              <a:fillRect/>
            </a:stretch>
          </p:blipFill>
          <p:spPr>
            <a:xfrm>
              <a:off x="8369951" y="1831005"/>
              <a:ext cx="2335895" cy="29606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5C040F1-2E46-8BAC-ABB0-2B5C1C32C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75" t="16117" r="33465" b="48462"/>
            <a:stretch>
              <a:fillRect/>
            </a:stretch>
          </p:blipFill>
          <p:spPr>
            <a:xfrm>
              <a:off x="4410092" y="1840555"/>
              <a:ext cx="2409690" cy="29606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092686D-5195-F561-F218-0FCD3B83C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7" t="16117" r="67064" b="48462"/>
            <a:stretch>
              <a:fillRect/>
            </a:stretch>
          </p:blipFill>
          <p:spPr>
            <a:xfrm>
              <a:off x="779140" y="1840556"/>
              <a:ext cx="2481582" cy="296069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A525A11-A703-66E5-4AF9-60AB3F156C64}"/>
              </a:ext>
            </a:extLst>
          </p:cNvPr>
          <p:cNvSpPr txBox="1"/>
          <p:nvPr/>
        </p:nvSpPr>
        <p:spPr>
          <a:xfrm>
            <a:off x="8382442" y="1177115"/>
            <a:ext cx="3308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800" b="1" u="sng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fraturas</a:t>
            </a:r>
            <a:endParaRPr lang="pt-BR" sz="2800" b="1" u="sng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FF0A1A-F0F9-7072-0AB3-560843CFD2D6}"/>
              </a:ext>
            </a:extLst>
          </p:cNvPr>
          <p:cNvSpPr txBox="1"/>
          <p:nvPr/>
        </p:nvSpPr>
        <p:spPr>
          <a:xfrm>
            <a:off x="7344584" y="1625575"/>
            <a:ext cx="4050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deformação + interação de blocos</a:t>
            </a:r>
            <a:endParaRPr lang="pt-BR" sz="2000" b="1" noProof="0" dirty="0"/>
          </a:p>
        </p:txBody>
      </p:sp>
    </p:spTree>
    <p:extLst>
      <p:ext uri="{BB962C8B-B14F-4D97-AF65-F5344CB8AC3E}">
        <p14:creationId xmlns:p14="http://schemas.microsoft.com/office/powerpoint/2010/main" val="2764807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224F62-85DE-5919-A7A4-4EC5D1F01FE7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E4FBC-3E05-436A-43A3-0267366B00A8}"/>
              </a:ext>
            </a:extLst>
          </p:cNvPr>
          <p:cNvSpPr txBox="1"/>
          <p:nvPr/>
        </p:nvSpPr>
        <p:spPr>
          <a:xfrm>
            <a:off x="-1" y="6491538"/>
            <a:ext cx="9363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0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r>
              <a:rPr lang="en-GB" sz="1600" dirty="0"/>
              <a:t>  Modelling and simulation of metal additive manufacturing processes </a:t>
            </a:r>
            <a:r>
              <a:rPr lang="en-GB" sz="1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particle methods</a:t>
            </a:r>
            <a:r>
              <a:rPr lang="en-GB" sz="16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LID4096" sz="16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14472BB-24B5-FFD0-70FD-00E7E49A772B}"/>
              </a:ext>
            </a:extLst>
          </p:cNvPr>
          <p:cNvGrpSpPr/>
          <p:nvPr/>
        </p:nvGrpSpPr>
        <p:grpSpPr>
          <a:xfrm>
            <a:off x="7267080" y="3488585"/>
            <a:ext cx="4777212" cy="1118298"/>
            <a:chOff x="7276605" y="3717185"/>
            <a:chExt cx="4777212" cy="111829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FBDAC9-8C53-45F9-5A4A-32D1EEBC4BCA}"/>
                </a:ext>
              </a:extLst>
            </p:cNvPr>
            <p:cNvSpPr/>
            <p:nvPr/>
          </p:nvSpPr>
          <p:spPr>
            <a:xfrm>
              <a:off x="7276605" y="3738145"/>
              <a:ext cx="4777212" cy="1097338"/>
            </a:xfrm>
            <a:prstGeom prst="rect">
              <a:avLst/>
            </a:prstGeom>
            <a:solidFill>
              <a:srgbClr val="E5FF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3B4C5E1-8721-4AAF-60A1-3B843C65F5A1}"/>
                </a:ext>
              </a:extLst>
            </p:cNvPr>
            <p:cNvGrpSpPr/>
            <p:nvPr/>
          </p:nvGrpSpPr>
          <p:grpSpPr>
            <a:xfrm>
              <a:off x="7383388" y="3717185"/>
              <a:ext cx="4584703" cy="1087315"/>
              <a:chOff x="7312398" y="3950366"/>
              <a:chExt cx="4584703" cy="108731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35A3EF-D08A-12CC-3C13-206EE46C92C4}"/>
                  </a:ext>
                </a:extLst>
              </p:cNvPr>
              <p:cNvSpPr txBox="1"/>
              <p:nvPr/>
            </p:nvSpPr>
            <p:spPr>
              <a:xfrm>
                <a:off x="7459308" y="3950366"/>
                <a:ext cx="253141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ID4096" sz="3200" b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ML</a:t>
                </a:r>
                <a:r>
                  <a:rPr lang="LID4096" sz="2800" b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algorithms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213B0C6-69EB-AA10-8CF9-B16BCBEFDD77}"/>
                  </a:ext>
                </a:extLst>
              </p:cNvPr>
              <p:cNvSpPr txBox="1"/>
              <p:nvPr/>
            </p:nvSpPr>
            <p:spPr>
              <a:xfrm>
                <a:off x="7312398" y="4576016"/>
                <a:ext cx="458470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ID4096" sz="2400" b="1" dirty="0"/>
                  <a:t>physics-based </a:t>
                </a:r>
                <a:r>
                  <a:rPr lang="pt-BR" sz="2400" b="1" dirty="0">
                    <a:solidFill>
                      <a:srgbClr val="FFFF00"/>
                    </a:solidFill>
                    <a:highlight>
                      <a:srgbClr val="FFFF00"/>
                    </a:highlight>
                  </a:rPr>
                  <a:t>. </a:t>
                </a:r>
                <a:r>
                  <a:rPr lang="LID4096" sz="2400" b="1" dirty="0">
                    <a:highlight>
                      <a:srgbClr val="FFFF00"/>
                    </a:highlight>
                  </a:rPr>
                  <a:t>surrogate </a:t>
                </a:r>
                <a:r>
                  <a:rPr lang="pt-BR" sz="2400" b="1" dirty="0">
                    <a:highlight>
                      <a:srgbClr val="FFFF00"/>
                    </a:highlight>
                  </a:rPr>
                  <a:t>models</a:t>
                </a:r>
                <a:r>
                  <a:rPr lang="pt-BR" sz="2400" b="1" dirty="0">
                    <a:solidFill>
                      <a:srgbClr val="FFFF00"/>
                    </a:solidFill>
                    <a:highlight>
                      <a:srgbClr val="FFFF00"/>
                    </a:highlight>
                  </a:rPr>
                  <a:t>.</a:t>
                </a:r>
                <a:endParaRPr lang="LID4096" sz="2400" b="1" dirty="0">
                  <a:highlight>
                    <a:srgbClr val="FFFF00"/>
                  </a:highlight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D0F46-1BE3-348C-2B9F-5D969114A4EB}"/>
              </a:ext>
            </a:extLst>
          </p:cNvPr>
          <p:cNvGrpSpPr/>
          <p:nvPr/>
        </p:nvGrpSpPr>
        <p:grpSpPr>
          <a:xfrm>
            <a:off x="291509" y="1378598"/>
            <a:ext cx="11762308" cy="3226958"/>
            <a:chOff x="291509" y="1386415"/>
            <a:chExt cx="11762308" cy="32269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2BA07D8-C7C9-80CC-0A01-BE98DDA9D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4576" r="43519"/>
            <a:stretch>
              <a:fillRect/>
            </a:stretch>
          </p:blipFill>
          <p:spPr>
            <a:xfrm>
              <a:off x="291509" y="1386415"/>
              <a:ext cx="6730766" cy="322695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8F8D699-4DF7-7CFB-7149-7E681B674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405" t="24662" b="28137"/>
            <a:stretch>
              <a:fillRect/>
            </a:stretch>
          </p:blipFill>
          <p:spPr>
            <a:xfrm>
              <a:off x="7276605" y="1403275"/>
              <a:ext cx="4777212" cy="204456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8293B0-7326-CC9E-F851-418B49E9161C}"/>
                </a:ext>
              </a:extLst>
            </p:cNvPr>
            <p:cNvSpPr txBox="1"/>
            <p:nvPr/>
          </p:nvSpPr>
          <p:spPr>
            <a:xfrm>
              <a:off x="5697447" y="3556749"/>
              <a:ext cx="7751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Horley Old Style MT"/>
                </a:rPr>
                <a:t>PFEM</a:t>
              </a:r>
              <a:endParaRPr lang="LID4096" b="1" dirty="0">
                <a:solidFill>
                  <a:srgbClr val="0000FF"/>
                </a:solidFill>
                <a:latin typeface="Horley Old Style M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334FD4-B42D-E93C-250F-A58DC83CFC26}"/>
                </a:ext>
              </a:extLst>
            </p:cNvPr>
            <p:cNvSpPr txBox="1"/>
            <p:nvPr/>
          </p:nvSpPr>
          <p:spPr>
            <a:xfrm>
              <a:off x="403897" y="1394652"/>
              <a:ext cx="2368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b="1" dirty="0">
                  <a:solidFill>
                    <a:srgbClr val="FF0000"/>
                  </a:solidFill>
                </a:rPr>
                <a:t>Massive parallelisation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1C09256-4C1E-62D9-E0A7-A0C3AC614B27}"/>
                </a:ext>
              </a:extLst>
            </p:cNvPr>
            <p:cNvSpPr/>
            <p:nvPr/>
          </p:nvSpPr>
          <p:spPr>
            <a:xfrm>
              <a:off x="407405" y="1852989"/>
              <a:ext cx="2034833" cy="289713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pt-BR" sz="20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 MT"/>
                </a:rPr>
                <a:t>Particle based</a:t>
              </a:r>
              <a:endParaRPr lang="LID4096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E38427-47BD-60F9-EFE1-816AAC792B33}"/>
              </a:ext>
            </a:extLst>
          </p:cNvPr>
          <p:cNvSpPr/>
          <p:nvPr/>
        </p:nvSpPr>
        <p:spPr>
          <a:xfrm>
            <a:off x="6958150" y="317105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modelar?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2E1C13F-BF03-2A7B-DB0D-D1A9AD5EDE8B}"/>
              </a:ext>
            </a:extLst>
          </p:cNvPr>
          <p:cNvSpPr/>
          <p:nvPr/>
        </p:nvSpPr>
        <p:spPr>
          <a:xfrm>
            <a:off x="4586200" y="2100204"/>
            <a:ext cx="501157" cy="365760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LID409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4A3FA29-3C4D-906A-3C33-FB0E63523A03}"/>
              </a:ext>
            </a:extLst>
          </p:cNvPr>
          <p:cNvSpPr/>
          <p:nvPr/>
        </p:nvSpPr>
        <p:spPr>
          <a:xfrm>
            <a:off x="2557757" y="1836822"/>
            <a:ext cx="2034833" cy="289713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Grid based</a:t>
            </a:r>
            <a:endParaRPr lang="LID4096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40BBDA6-9A25-E367-8650-1FC54D6F0E2D}"/>
              </a:ext>
            </a:extLst>
          </p:cNvPr>
          <p:cNvSpPr/>
          <p:nvPr/>
        </p:nvSpPr>
        <p:spPr>
          <a:xfrm>
            <a:off x="4575667" y="2684112"/>
            <a:ext cx="501157" cy="365760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LID409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97BDB67-1204-ADD4-BB75-EAF0FA40D622}"/>
              </a:ext>
            </a:extLst>
          </p:cNvPr>
          <p:cNvSpPr/>
          <p:nvPr/>
        </p:nvSpPr>
        <p:spPr>
          <a:xfrm>
            <a:off x="4575667" y="3228921"/>
            <a:ext cx="501157" cy="365760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LID409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3A00913-5101-9C13-56E5-BE037B499771}"/>
              </a:ext>
            </a:extLst>
          </p:cNvPr>
          <p:cNvSpPr/>
          <p:nvPr/>
        </p:nvSpPr>
        <p:spPr>
          <a:xfrm>
            <a:off x="7221850" y="2097327"/>
            <a:ext cx="457200" cy="365760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LID409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82ED7DD-8A99-8411-C77E-318D2B85AB8E}"/>
              </a:ext>
            </a:extLst>
          </p:cNvPr>
          <p:cNvGrpSpPr>
            <a:grpSpLocks noChangeAspect="1"/>
          </p:cNvGrpSpPr>
          <p:nvPr/>
        </p:nvGrpSpPr>
        <p:grpSpPr>
          <a:xfrm>
            <a:off x="1538445" y="915782"/>
            <a:ext cx="10313066" cy="420727"/>
            <a:chOff x="1538445" y="998464"/>
            <a:chExt cx="10313066" cy="29994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9A5AB33-B365-06CE-7250-B8D2207B27E2}"/>
                </a:ext>
              </a:extLst>
            </p:cNvPr>
            <p:cNvSpPr/>
            <p:nvPr/>
          </p:nvSpPr>
          <p:spPr>
            <a:xfrm>
              <a:off x="4807965" y="1008696"/>
              <a:ext cx="2034833" cy="2897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sz="2400" b="1" noProof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 MT"/>
                </a:rPr>
                <a:t>Mesh based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84CEBBE-8D0D-63C1-55BF-D225E705E803}"/>
                </a:ext>
              </a:extLst>
            </p:cNvPr>
            <p:cNvSpPr/>
            <p:nvPr/>
          </p:nvSpPr>
          <p:spPr>
            <a:xfrm>
              <a:off x="1538445" y="1008696"/>
              <a:ext cx="2034833" cy="2897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sz="2400" b="1" noProof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 MT"/>
                </a:rPr>
                <a:t>Mesh-free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A68D285-DE6B-1E43-C3D9-6A6151C672D7}"/>
                </a:ext>
              </a:extLst>
            </p:cNvPr>
            <p:cNvSpPr/>
            <p:nvPr/>
          </p:nvSpPr>
          <p:spPr>
            <a:xfrm>
              <a:off x="7469113" y="998464"/>
              <a:ext cx="2034833" cy="2897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sz="2400" b="1" noProof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 MT"/>
                </a:rPr>
                <a:t>Deterministic</a:t>
              </a:r>
              <a:endParaRPr lang="en-US" sz="2400" b="1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47005E6-D948-34E4-6290-F72D65977635}"/>
                </a:ext>
              </a:extLst>
            </p:cNvPr>
            <p:cNvSpPr/>
            <p:nvPr/>
          </p:nvSpPr>
          <p:spPr>
            <a:xfrm>
              <a:off x="9816678" y="998464"/>
              <a:ext cx="2034833" cy="2897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sz="2400" b="1" noProof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orley Old Style MT"/>
                </a:rPr>
                <a:t>Stochastic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1C58329-7D7D-9D56-4419-07ABFDC624CF}"/>
              </a:ext>
            </a:extLst>
          </p:cNvPr>
          <p:cNvSpPr txBox="1"/>
          <p:nvPr/>
        </p:nvSpPr>
        <p:spPr>
          <a:xfrm>
            <a:off x="252520" y="4745337"/>
            <a:ext cx="473454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FF0000"/>
                </a:solidFill>
                <a:latin typeface="AdvOT46dcae81"/>
              </a:rPr>
              <a:t>simulation-informed </a:t>
            </a:r>
          </a:p>
          <a:p>
            <a:r>
              <a:rPr lang="en-US" sz="2800" b="1" i="0" u="none" strike="noStrike" baseline="0" dirty="0">
                <a:solidFill>
                  <a:srgbClr val="FF0000"/>
                </a:solidFill>
                <a:latin typeface="AdvOT46dcae81"/>
              </a:rPr>
              <a:t>closed-loop control feedback </a:t>
            </a:r>
            <a:r>
              <a:rPr lang="en-GB" sz="2800" b="1" i="0" u="none" strike="noStrike" baseline="0" dirty="0">
                <a:solidFill>
                  <a:srgbClr val="FF0000"/>
                </a:solidFill>
                <a:latin typeface="AdvOT46dcae81"/>
              </a:rPr>
              <a:t>real-time monitoring systems</a:t>
            </a:r>
            <a:endParaRPr lang="LID4096" sz="2800" b="1" dirty="0">
              <a:solidFill>
                <a:srgbClr val="FF0000"/>
              </a:solidFill>
            </a:endParaRP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CD19762E-1D12-FE12-D6A0-3E4046329B3E}"/>
              </a:ext>
            </a:extLst>
          </p:cNvPr>
          <p:cNvSpPr/>
          <p:nvPr/>
        </p:nvSpPr>
        <p:spPr>
          <a:xfrm>
            <a:off x="252520" y="3926918"/>
            <a:ext cx="457200" cy="365760"/>
          </a:xfrm>
          <a:prstGeom prst="triangle">
            <a:avLst>
              <a:gd name="adj" fmla="val 48501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endParaRPr lang="LID409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2CD8C851-703D-BC14-E36E-33D56EEBCB80}"/>
              </a:ext>
            </a:extLst>
          </p:cNvPr>
          <p:cNvSpPr/>
          <p:nvPr/>
        </p:nvSpPr>
        <p:spPr>
          <a:xfrm>
            <a:off x="221461" y="2108444"/>
            <a:ext cx="457200" cy="365760"/>
          </a:xfrm>
          <a:prstGeom prst="triangle">
            <a:avLst>
              <a:gd name="adj" fmla="val 48501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endParaRPr lang="LID409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C99EC9EE-22F1-364E-BF5D-932FF000DA59}"/>
              </a:ext>
            </a:extLst>
          </p:cNvPr>
          <p:cNvSpPr/>
          <p:nvPr/>
        </p:nvSpPr>
        <p:spPr>
          <a:xfrm>
            <a:off x="2364640" y="2097327"/>
            <a:ext cx="457200" cy="365760"/>
          </a:xfrm>
          <a:prstGeom prst="triangle">
            <a:avLst>
              <a:gd name="adj" fmla="val 48501"/>
            </a:avLst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endParaRPr lang="LID4096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F295761-EECA-B3D1-EDA7-E11A7AAEE1C7}"/>
              </a:ext>
            </a:extLst>
          </p:cNvPr>
          <p:cNvGrpSpPr/>
          <p:nvPr/>
        </p:nvGrpSpPr>
        <p:grpSpPr>
          <a:xfrm>
            <a:off x="4962525" y="4738626"/>
            <a:ext cx="7091293" cy="1723255"/>
            <a:chOff x="-108132" y="4740421"/>
            <a:chExt cx="7091293" cy="172325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EADCAF4-653D-AAB8-F5D7-F15732EEDAA3}"/>
                </a:ext>
              </a:extLst>
            </p:cNvPr>
            <p:cNvSpPr/>
            <p:nvPr/>
          </p:nvSpPr>
          <p:spPr>
            <a:xfrm>
              <a:off x="-108132" y="4740421"/>
              <a:ext cx="7086516" cy="1723255"/>
            </a:xfrm>
            <a:prstGeom prst="rect">
              <a:avLst/>
            </a:prstGeom>
            <a:solidFill>
              <a:srgbClr val="E5FF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FF4B0D7-6BB9-1323-2A86-D6C9CA2D9D06}"/>
                </a:ext>
              </a:extLst>
            </p:cNvPr>
            <p:cNvGrpSpPr/>
            <p:nvPr/>
          </p:nvGrpSpPr>
          <p:grpSpPr>
            <a:xfrm>
              <a:off x="281984" y="4755936"/>
              <a:ext cx="6701177" cy="1647114"/>
              <a:chOff x="3960177" y="3941471"/>
              <a:chExt cx="6701177" cy="1647114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030490-DB93-F4DC-BB3A-9280CD14D85B}"/>
                  </a:ext>
                </a:extLst>
              </p:cNvPr>
              <p:cNvSpPr txBox="1"/>
              <p:nvPr/>
            </p:nvSpPr>
            <p:spPr>
              <a:xfrm>
                <a:off x="5629811" y="3941471"/>
                <a:ext cx="5031543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400" b="1" dirty="0"/>
                  <a:t>01 - </a:t>
                </a:r>
                <a:r>
                  <a:rPr lang="LID4096" sz="2400" b="1" dirty="0"/>
                  <a:t>finite element analysis </a:t>
                </a:r>
                <a:r>
                  <a:rPr lang="LID4096" sz="2800" b="1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(FEA)</a:t>
                </a:r>
                <a:endParaRPr lang="pt-BR" sz="3200" b="1" dirty="0"/>
              </a:p>
              <a:p>
                <a:r>
                  <a:rPr lang="pt-BR" sz="2400" b="1" dirty="0"/>
                  <a:t>02 - </a:t>
                </a:r>
                <a:r>
                  <a:rPr lang="LID4096" sz="2400" b="1" u="sng" dirty="0">
                    <a:solidFill>
                      <a:srgbClr val="FF0000"/>
                    </a:solidFill>
                  </a:rPr>
                  <a:t>phase-field modeling</a:t>
                </a:r>
                <a:r>
                  <a:rPr lang="LID4096" sz="2400" b="1" dirty="0"/>
                  <a:t> techniques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CD4E9B6-2A00-FB75-CE18-635A77908225}"/>
                  </a:ext>
                </a:extLst>
              </p:cNvPr>
              <p:cNvSpPr txBox="1"/>
              <p:nvPr/>
            </p:nvSpPr>
            <p:spPr>
              <a:xfrm>
                <a:off x="3960177" y="5203864"/>
                <a:ext cx="6498870" cy="384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ID4096" sz="1900" b="1" dirty="0">
                    <a:solidFill>
                      <a:srgbClr val="0000FF"/>
                    </a:solidFill>
                  </a:rPr>
                  <a:t>heat flow, temperature,</a:t>
                </a:r>
                <a:r>
                  <a:rPr lang="pt-BR" sz="1900" b="1" dirty="0">
                    <a:solidFill>
                      <a:srgbClr val="0000FF"/>
                    </a:solidFill>
                  </a:rPr>
                  <a:t> </a:t>
                </a:r>
                <a:r>
                  <a:rPr lang="LID4096" sz="1900" b="1" dirty="0">
                    <a:solidFill>
                      <a:srgbClr val="0000FF"/>
                    </a:solidFill>
                  </a:rPr>
                  <a:t>and stress evolution during deposition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02E9AB0-1B66-2B81-8AA7-7E094D7F3C7E}"/>
                  </a:ext>
                </a:extLst>
              </p:cNvPr>
              <p:cNvSpPr txBox="1"/>
              <p:nvPr/>
            </p:nvSpPr>
            <p:spPr>
              <a:xfrm>
                <a:off x="4481246" y="3945738"/>
                <a:ext cx="11101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400" b="1" i="0" strike="noStrike" baseline="0" dirty="0">
                    <a:solidFill>
                      <a:srgbClr val="FF0000"/>
                    </a:solidFill>
                    <a:latin typeface="Calibri (Body)"/>
                  </a:rPr>
                  <a:t>Macro</a:t>
                </a:r>
                <a:endParaRPr lang="LID4096" dirty="0">
                  <a:latin typeface="Calibri (Body)"/>
                </a:endParaRPr>
              </a:p>
            </p:txBody>
          </p:sp>
        </p:grp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D3F4970-4AFF-7764-2D24-7C73ECF0502E}"/>
              </a:ext>
            </a:extLst>
          </p:cNvPr>
          <p:cNvSpPr/>
          <p:nvPr/>
        </p:nvSpPr>
        <p:spPr>
          <a:xfrm>
            <a:off x="5125245" y="5234440"/>
            <a:ext cx="1036163" cy="515491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CFD</a:t>
            </a:r>
            <a:endParaRPr lang="pt-BR" sz="3200" noProof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6B12A4C-502A-255B-CB45-FCB1C7AB3335}"/>
              </a:ext>
            </a:extLst>
          </p:cNvPr>
          <p:cNvSpPr/>
          <p:nvPr/>
        </p:nvSpPr>
        <p:spPr>
          <a:xfrm>
            <a:off x="5404423" y="5675031"/>
            <a:ext cx="2666540" cy="515491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optimization</a:t>
            </a:r>
            <a:endParaRPr lang="pt-BR" sz="2400" noProof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9EF21B-F05E-F693-E152-311013C7D9EE}"/>
              </a:ext>
            </a:extLst>
          </p:cNvPr>
          <p:cNvSpPr txBox="1"/>
          <p:nvPr/>
        </p:nvSpPr>
        <p:spPr>
          <a:xfrm>
            <a:off x="5575322" y="2959305"/>
            <a:ext cx="1267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FF"/>
                </a:solidFill>
                <a:latin typeface="Horley Old Style MT"/>
              </a:rPr>
              <a:t>openFOAM</a:t>
            </a:r>
            <a:endParaRPr lang="LID4096" sz="1600" b="1" dirty="0">
              <a:solidFill>
                <a:srgbClr val="0000FF"/>
              </a:solidFill>
              <a:latin typeface="Horley Old Style M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A58A2-38F2-43FA-1EED-8B82E6E12765}"/>
              </a:ext>
            </a:extLst>
          </p:cNvPr>
          <p:cNvSpPr txBox="1"/>
          <p:nvPr/>
        </p:nvSpPr>
        <p:spPr>
          <a:xfrm>
            <a:off x="5600974" y="2369325"/>
            <a:ext cx="1267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00FF"/>
                </a:solidFill>
                <a:latin typeface="Horley Old Style MT"/>
              </a:rPr>
              <a:t>MODFLOW</a:t>
            </a:r>
            <a:endParaRPr lang="LID4096" sz="1600" b="1" dirty="0">
              <a:solidFill>
                <a:srgbClr val="0000FF"/>
              </a:solidFill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1747437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18CE85FB-A242-D04F-AC29-7D2493967477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0F914-8543-38E7-3BAF-80DD6923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042" b="2867"/>
          <a:stretch>
            <a:fillRect/>
          </a:stretch>
        </p:blipFill>
        <p:spPr>
          <a:xfrm>
            <a:off x="8530744" y="709776"/>
            <a:ext cx="3108650" cy="15853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70E2A7A-5EC8-5C3E-FC23-664973C83279}"/>
              </a:ext>
            </a:extLst>
          </p:cNvPr>
          <p:cNvGrpSpPr/>
          <p:nvPr/>
        </p:nvGrpSpPr>
        <p:grpSpPr>
          <a:xfrm>
            <a:off x="5450169" y="709776"/>
            <a:ext cx="2930034" cy="1585372"/>
            <a:chOff x="151039" y="766708"/>
            <a:chExt cx="2930034" cy="158537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48F848E-4CC5-DB14-6EA7-DC47870E8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039" y="766708"/>
              <a:ext cx="2930034" cy="15853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929432-8D1B-4356-0E04-A757695F1E01}"/>
                </a:ext>
              </a:extLst>
            </p:cNvPr>
            <p:cNvSpPr txBox="1"/>
            <p:nvPr/>
          </p:nvSpPr>
          <p:spPr>
            <a:xfrm>
              <a:off x="211999" y="2077236"/>
              <a:ext cx="17719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/>
                <a:t>Finite 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BFFEAC2-4B1A-5E35-CBEE-88725ADFD890}"/>
              </a:ext>
            </a:extLst>
          </p:cNvPr>
          <p:cNvGrpSpPr/>
          <p:nvPr/>
        </p:nvGrpSpPr>
        <p:grpSpPr>
          <a:xfrm>
            <a:off x="311836" y="3565677"/>
            <a:ext cx="3126171" cy="2893632"/>
            <a:chOff x="5782638" y="3435325"/>
            <a:chExt cx="2424418" cy="2404173"/>
          </a:xfrm>
        </p:grpSpPr>
        <p:pic>
          <p:nvPicPr>
            <p:cNvPr id="49" name="Imagem 150">
              <a:extLst>
                <a:ext uri="{FF2B5EF4-FFF2-40B4-BE49-F238E27FC236}">
                  <a16:creationId xmlns:a16="http://schemas.microsoft.com/office/drawing/2014/main" id="{9136375A-A24B-C080-937A-F45AC82EB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9892" y="3435325"/>
              <a:ext cx="2409911" cy="240417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784D8D7-4D49-DBA3-AF86-EA475574DF92}"/>
                </a:ext>
              </a:extLst>
            </p:cNvPr>
            <p:cNvGrpSpPr/>
            <p:nvPr/>
          </p:nvGrpSpPr>
          <p:grpSpPr>
            <a:xfrm>
              <a:off x="5782638" y="3441535"/>
              <a:ext cx="2424418" cy="2365695"/>
              <a:chOff x="5908166" y="1237410"/>
              <a:chExt cx="2424418" cy="2365695"/>
            </a:xfrm>
          </p:grpSpPr>
          <p:grpSp>
            <p:nvGrpSpPr>
              <p:cNvPr id="51" name="Agrupar 164">
                <a:extLst>
                  <a:ext uri="{FF2B5EF4-FFF2-40B4-BE49-F238E27FC236}">
                    <a16:creationId xmlns:a16="http://schemas.microsoft.com/office/drawing/2014/main" id="{FCC13C66-A1A3-6CEC-2F3A-624032F558A9}"/>
                  </a:ext>
                </a:extLst>
              </p:cNvPr>
              <p:cNvGrpSpPr/>
              <p:nvPr/>
            </p:nvGrpSpPr>
            <p:grpSpPr>
              <a:xfrm>
                <a:off x="5908166" y="1237410"/>
                <a:ext cx="2424418" cy="2365695"/>
                <a:chOff x="5469622" y="1107347"/>
                <a:chExt cx="2424418" cy="2365695"/>
              </a:xfrm>
            </p:grpSpPr>
            <p:sp>
              <p:nvSpPr>
                <p:cNvPr id="56" name="Forma Livre: Forma 158">
                  <a:extLst>
                    <a:ext uri="{FF2B5EF4-FFF2-40B4-BE49-F238E27FC236}">
                      <a16:creationId xmlns:a16="http://schemas.microsoft.com/office/drawing/2014/main" id="{66FC9AE8-78FF-684E-DDA3-288EB1EFDC7E}"/>
                    </a:ext>
                  </a:extLst>
                </p:cNvPr>
                <p:cNvSpPr/>
                <p:nvPr/>
              </p:nvSpPr>
              <p:spPr>
                <a:xfrm>
                  <a:off x="5494789" y="2474752"/>
                  <a:ext cx="1275127" cy="998290"/>
                </a:xfrm>
                <a:custGeom>
                  <a:avLst/>
                  <a:gdLst>
                    <a:gd name="connsiteX0" fmla="*/ 0 w 1275127"/>
                    <a:gd name="connsiteY0" fmla="*/ 0 h 998290"/>
                    <a:gd name="connsiteX1" fmla="*/ 234892 w 1275127"/>
                    <a:gd name="connsiteY1" fmla="*/ 134224 h 998290"/>
                    <a:gd name="connsiteX2" fmla="*/ 444617 w 1275127"/>
                    <a:gd name="connsiteY2" fmla="*/ 268448 h 998290"/>
                    <a:gd name="connsiteX3" fmla="*/ 679508 w 1275127"/>
                    <a:gd name="connsiteY3" fmla="*/ 453006 h 998290"/>
                    <a:gd name="connsiteX4" fmla="*/ 729842 w 1275127"/>
                    <a:gd name="connsiteY4" fmla="*/ 536896 h 998290"/>
                    <a:gd name="connsiteX5" fmla="*/ 880844 w 1275127"/>
                    <a:gd name="connsiteY5" fmla="*/ 729842 h 998290"/>
                    <a:gd name="connsiteX6" fmla="*/ 1082180 w 1275127"/>
                    <a:gd name="connsiteY6" fmla="*/ 864066 h 998290"/>
                    <a:gd name="connsiteX7" fmla="*/ 1275127 w 1275127"/>
                    <a:gd name="connsiteY7" fmla="*/ 998290 h 998290"/>
                    <a:gd name="connsiteX8" fmla="*/ 1275127 w 1275127"/>
                    <a:gd name="connsiteY8" fmla="*/ 998290 h 998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5127" h="998290">
                      <a:moveTo>
                        <a:pt x="0" y="0"/>
                      </a:moveTo>
                      <a:lnTo>
                        <a:pt x="234892" y="134224"/>
                      </a:lnTo>
                      <a:lnTo>
                        <a:pt x="444617" y="268448"/>
                      </a:lnTo>
                      <a:lnTo>
                        <a:pt x="679508" y="453006"/>
                      </a:lnTo>
                      <a:lnTo>
                        <a:pt x="729842" y="536896"/>
                      </a:lnTo>
                      <a:lnTo>
                        <a:pt x="880844" y="729842"/>
                      </a:lnTo>
                      <a:lnTo>
                        <a:pt x="1082180" y="864066"/>
                      </a:lnTo>
                      <a:lnTo>
                        <a:pt x="1275127" y="998290"/>
                      </a:lnTo>
                      <a:lnTo>
                        <a:pt x="1275127" y="998290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7" name="Forma Livre: Forma 159">
                  <a:extLst>
                    <a:ext uri="{FF2B5EF4-FFF2-40B4-BE49-F238E27FC236}">
                      <a16:creationId xmlns:a16="http://schemas.microsoft.com/office/drawing/2014/main" id="{91C30E61-B4AA-C56E-C482-5171D302BA92}"/>
                    </a:ext>
                  </a:extLst>
                </p:cNvPr>
                <p:cNvSpPr/>
                <p:nvPr/>
              </p:nvSpPr>
              <p:spPr>
                <a:xfrm>
                  <a:off x="5511567" y="2189527"/>
                  <a:ext cx="1820411" cy="1283515"/>
                </a:xfrm>
                <a:custGeom>
                  <a:avLst/>
                  <a:gdLst>
                    <a:gd name="connsiteX0" fmla="*/ 0 w 1820411"/>
                    <a:gd name="connsiteY0" fmla="*/ 0 h 1283515"/>
                    <a:gd name="connsiteX1" fmla="*/ 0 w 1820411"/>
                    <a:gd name="connsiteY1" fmla="*/ 0 h 1283515"/>
                    <a:gd name="connsiteX2" fmla="*/ 67112 w 1820411"/>
                    <a:gd name="connsiteY2" fmla="*/ 41945 h 1283515"/>
                    <a:gd name="connsiteX3" fmla="*/ 427839 w 1820411"/>
                    <a:gd name="connsiteY3" fmla="*/ 226502 h 1283515"/>
                    <a:gd name="connsiteX4" fmla="*/ 713064 w 1820411"/>
                    <a:gd name="connsiteY4" fmla="*/ 394282 h 1283515"/>
                    <a:gd name="connsiteX5" fmla="*/ 771787 w 1820411"/>
                    <a:gd name="connsiteY5" fmla="*/ 503339 h 1283515"/>
                    <a:gd name="connsiteX6" fmla="*/ 939567 w 1820411"/>
                    <a:gd name="connsiteY6" fmla="*/ 687897 h 1283515"/>
                    <a:gd name="connsiteX7" fmla="*/ 1048624 w 1820411"/>
                    <a:gd name="connsiteY7" fmla="*/ 771787 h 1283515"/>
                    <a:gd name="connsiteX8" fmla="*/ 1233182 w 1820411"/>
                    <a:gd name="connsiteY8" fmla="*/ 880844 h 1283515"/>
                    <a:gd name="connsiteX9" fmla="*/ 1308683 w 1820411"/>
                    <a:gd name="connsiteY9" fmla="*/ 931178 h 1283515"/>
                    <a:gd name="connsiteX10" fmla="*/ 1409350 w 1820411"/>
                    <a:gd name="connsiteY10" fmla="*/ 998290 h 1283515"/>
                    <a:gd name="connsiteX11" fmla="*/ 1459684 w 1820411"/>
                    <a:gd name="connsiteY11" fmla="*/ 1057012 h 1283515"/>
                    <a:gd name="connsiteX12" fmla="*/ 1820411 w 1820411"/>
                    <a:gd name="connsiteY12" fmla="*/ 1283515 h 1283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820411" h="1283515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67112" y="41945"/>
                      </a:lnTo>
                      <a:lnTo>
                        <a:pt x="427839" y="226502"/>
                      </a:lnTo>
                      <a:lnTo>
                        <a:pt x="713064" y="394282"/>
                      </a:lnTo>
                      <a:cubicBezTo>
                        <a:pt x="773196" y="497365"/>
                        <a:pt x="771787" y="456102"/>
                        <a:pt x="771787" y="503339"/>
                      </a:cubicBezTo>
                      <a:lnTo>
                        <a:pt x="939567" y="687897"/>
                      </a:lnTo>
                      <a:lnTo>
                        <a:pt x="1048624" y="771787"/>
                      </a:lnTo>
                      <a:lnTo>
                        <a:pt x="1233182" y="880844"/>
                      </a:lnTo>
                      <a:cubicBezTo>
                        <a:pt x="1296993" y="926423"/>
                        <a:pt x="1270390" y="912031"/>
                        <a:pt x="1308683" y="931178"/>
                      </a:cubicBezTo>
                      <a:lnTo>
                        <a:pt x="1409350" y="998290"/>
                      </a:lnTo>
                      <a:lnTo>
                        <a:pt x="1459684" y="1057012"/>
                      </a:lnTo>
                      <a:lnTo>
                        <a:pt x="1820411" y="1283515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8" name="Forma Livre: Forma 160">
                  <a:extLst>
                    <a:ext uri="{FF2B5EF4-FFF2-40B4-BE49-F238E27FC236}">
                      <a16:creationId xmlns:a16="http://schemas.microsoft.com/office/drawing/2014/main" id="{DA6EA826-928D-72E0-1B32-394D4151E05F}"/>
                    </a:ext>
                  </a:extLst>
                </p:cNvPr>
                <p:cNvSpPr/>
                <p:nvPr/>
              </p:nvSpPr>
              <p:spPr>
                <a:xfrm>
                  <a:off x="5511567" y="1887523"/>
                  <a:ext cx="2248250" cy="1577130"/>
                </a:xfrm>
                <a:custGeom>
                  <a:avLst/>
                  <a:gdLst>
                    <a:gd name="connsiteX0" fmla="*/ 0 w 2248250"/>
                    <a:gd name="connsiteY0" fmla="*/ 0 h 1577130"/>
                    <a:gd name="connsiteX1" fmla="*/ 0 w 2248250"/>
                    <a:gd name="connsiteY1" fmla="*/ 0 h 1577130"/>
                    <a:gd name="connsiteX2" fmla="*/ 234892 w 2248250"/>
                    <a:gd name="connsiteY2" fmla="*/ 167780 h 1577130"/>
                    <a:gd name="connsiteX3" fmla="*/ 528506 w 2248250"/>
                    <a:gd name="connsiteY3" fmla="*/ 335560 h 1577130"/>
                    <a:gd name="connsiteX4" fmla="*/ 922789 w 2248250"/>
                    <a:gd name="connsiteY4" fmla="*/ 553673 h 1577130"/>
                    <a:gd name="connsiteX5" fmla="*/ 981512 w 2248250"/>
                    <a:gd name="connsiteY5" fmla="*/ 629174 h 1577130"/>
                    <a:gd name="connsiteX6" fmla="*/ 1140903 w 2248250"/>
                    <a:gd name="connsiteY6" fmla="*/ 763398 h 1577130"/>
                    <a:gd name="connsiteX7" fmla="*/ 1434517 w 2248250"/>
                    <a:gd name="connsiteY7" fmla="*/ 956345 h 1577130"/>
                    <a:gd name="connsiteX8" fmla="*/ 1803633 w 2248250"/>
                    <a:gd name="connsiteY8" fmla="*/ 1208015 h 1577130"/>
                    <a:gd name="connsiteX9" fmla="*/ 2248250 w 2248250"/>
                    <a:gd name="connsiteY9" fmla="*/ 1577130 h 1577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48250" h="15771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34892" y="167780"/>
                      </a:lnTo>
                      <a:lnTo>
                        <a:pt x="528506" y="335560"/>
                      </a:lnTo>
                      <a:lnTo>
                        <a:pt x="922789" y="553673"/>
                      </a:lnTo>
                      <a:lnTo>
                        <a:pt x="981512" y="629174"/>
                      </a:lnTo>
                      <a:lnTo>
                        <a:pt x="1140903" y="763398"/>
                      </a:lnTo>
                      <a:lnTo>
                        <a:pt x="1434517" y="956345"/>
                      </a:lnTo>
                      <a:lnTo>
                        <a:pt x="1803633" y="1208015"/>
                      </a:lnTo>
                      <a:lnTo>
                        <a:pt x="2248250" y="1577130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9" name="Forma Livre: Forma 161">
                  <a:extLst>
                    <a:ext uri="{FF2B5EF4-FFF2-40B4-BE49-F238E27FC236}">
                      <a16:creationId xmlns:a16="http://schemas.microsoft.com/office/drawing/2014/main" id="{2AF1AC79-5655-45E8-7962-DB17565C2296}"/>
                    </a:ext>
                  </a:extLst>
                </p:cNvPr>
                <p:cNvSpPr/>
                <p:nvPr/>
              </p:nvSpPr>
              <p:spPr>
                <a:xfrm>
                  <a:off x="5503178" y="1602297"/>
                  <a:ext cx="2365695" cy="1342239"/>
                </a:xfrm>
                <a:custGeom>
                  <a:avLst/>
                  <a:gdLst>
                    <a:gd name="connsiteX0" fmla="*/ 0 w 2365695"/>
                    <a:gd name="connsiteY0" fmla="*/ 25167 h 1342239"/>
                    <a:gd name="connsiteX1" fmla="*/ 0 w 2365695"/>
                    <a:gd name="connsiteY1" fmla="*/ 25167 h 1342239"/>
                    <a:gd name="connsiteX2" fmla="*/ 134224 w 2365695"/>
                    <a:gd name="connsiteY2" fmla="*/ 0 h 1342239"/>
                    <a:gd name="connsiteX3" fmla="*/ 746620 w 2365695"/>
                    <a:gd name="connsiteY3" fmla="*/ 176169 h 1342239"/>
                    <a:gd name="connsiteX4" fmla="*/ 813732 w 2365695"/>
                    <a:gd name="connsiteY4" fmla="*/ 218114 h 1342239"/>
                    <a:gd name="connsiteX5" fmla="*/ 1283516 w 2365695"/>
                    <a:gd name="connsiteY5" fmla="*/ 578841 h 1342239"/>
                    <a:gd name="connsiteX6" fmla="*/ 1367405 w 2365695"/>
                    <a:gd name="connsiteY6" fmla="*/ 645953 h 1342239"/>
                    <a:gd name="connsiteX7" fmla="*/ 1577130 w 2365695"/>
                    <a:gd name="connsiteY7" fmla="*/ 931178 h 1342239"/>
                    <a:gd name="connsiteX8" fmla="*/ 1652631 w 2365695"/>
                    <a:gd name="connsiteY8" fmla="*/ 989901 h 1342239"/>
                    <a:gd name="connsiteX9" fmla="*/ 1904301 w 2365695"/>
                    <a:gd name="connsiteY9" fmla="*/ 1140903 h 1342239"/>
                    <a:gd name="connsiteX10" fmla="*/ 2181138 w 2365695"/>
                    <a:gd name="connsiteY10" fmla="*/ 1266738 h 1342239"/>
                    <a:gd name="connsiteX11" fmla="*/ 2365695 w 2365695"/>
                    <a:gd name="connsiteY11" fmla="*/ 1342239 h 1342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365695" h="1342239">
                      <a:moveTo>
                        <a:pt x="0" y="25167"/>
                      </a:moveTo>
                      <a:lnTo>
                        <a:pt x="0" y="25167"/>
                      </a:lnTo>
                      <a:lnTo>
                        <a:pt x="134224" y="0"/>
                      </a:lnTo>
                      <a:lnTo>
                        <a:pt x="746620" y="176169"/>
                      </a:lnTo>
                      <a:lnTo>
                        <a:pt x="813732" y="218114"/>
                      </a:lnTo>
                      <a:lnTo>
                        <a:pt x="1283516" y="578841"/>
                      </a:lnTo>
                      <a:lnTo>
                        <a:pt x="1367405" y="645953"/>
                      </a:lnTo>
                      <a:lnTo>
                        <a:pt x="1577130" y="931178"/>
                      </a:lnTo>
                      <a:cubicBezTo>
                        <a:pt x="1642289" y="977720"/>
                        <a:pt x="1618844" y="956114"/>
                        <a:pt x="1652631" y="989901"/>
                      </a:cubicBezTo>
                      <a:lnTo>
                        <a:pt x="1904301" y="1140903"/>
                      </a:lnTo>
                      <a:lnTo>
                        <a:pt x="2181138" y="1266738"/>
                      </a:lnTo>
                      <a:lnTo>
                        <a:pt x="2365695" y="1342239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60" name="Forma Livre: Forma 162">
                  <a:extLst>
                    <a:ext uri="{FF2B5EF4-FFF2-40B4-BE49-F238E27FC236}">
                      <a16:creationId xmlns:a16="http://schemas.microsoft.com/office/drawing/2014/main" id="{D741632A-A725-B2B9-AAC6-240B4B5132D9}"/>
                    </a:ext>
                  </a:extLst>
                </p:cNvPr>
                <p:cNvSpPr/>
                <p:nvPr/>
              </p:nvSpPr>
              <p:spPr>
                <a:xfrm>
                  <a:off x="5469622" y="1283516"/>
                  <a:ext cx="2399251" cy="1199625"/>
                </a:xfrm>
                <a:custGeom>
                  <a:avLst/>
                  <a:gdLst>
                    <a:gd name="connsiteX0" fmla="*/ 0 w 2399251"/>
                    <a:gd name="connsiteY0" fmla="*/ 0 h 1199625"/>
                    <a:gd name="connsiteX1" fmla="*/ 411061 w 2399251"/>
                    <a:gd name="connsiteY1" fmla="*/ 125834 h 1199625"/>
                    <a:gd name="connsiteX2" fmla="*/ 486561 w 2399251"/>
                    <a:gd name="connsiteY2" fmla="*/ 125834 h 1199625"/>
                    <a:gd name="connsiteX3" fmla="*/ 738231 w 2399251"/>
                    <a:gd name="connsiteY3" fmla="*/ 109056 h 1199625"/>
                    <a:gd name="connsiteX4" fmla="*/ 1065402 w 2399251"/>
                    <a:gd name="connsiteY4" fmla="*/ 50334 h 1199625"/>
                    <a:gd name="connsiteX5" fmla="*/ 1182848 w 2399251"/>
                    <a:gd name="connsiteY5" fmla="*/ 58723 h 1199625"/>
                    <a:gd name="connsiteX6" fmla="*/ 1501629 w 2399251"/>
                    <a:gd name="connsiteY6" fmla="*/ 310392 h 1199625"/>
                    <a:gd name="connsiteX7" fmla="*/ 1543574 w 2399251"/>
                    <a:gd name="connsiteY7" fmla="*/ 394282 h 1199625"/>
                    <a:gd name="connsiteX8" fmla="*/ 1644242 w 2399251"/>
                    <a:gd name="connsiteY8" fmla="*/ 696286 h 1199625"/>
                    <a:gd name="connsiteX9" fmla="*/ 1770077 w 2399251"/>
                    <a:gd name="connsiteY9" fmla="*/ 864066 h 1199625"/>
                    <a:gd name="connsiteX10" fmla="*/ 1845578 w 2399251"/>
                    <a:gd name="connsiteY10" fmla="*/ 889233 h 1199625"/>
                    <a:gd name="connsiteX11" fmla="*/ 2013358 w 2399251"/>
                    <a:gd name="connsiteY11" fmla="*/ 981512 h 1199625"/>
                    <a:gd name="connsiteX12" fmla="*/ 2399251 w 2399251"/>
                    <a:gd name="connsiteY12" fmla="*/ 1199625 h 119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399251" h="1199625">
                      <a:moveTo>
                        <a:pt x="0" y="0"/>
                      </a:moveTo>
                      <a:lnTo>
                        <a:pt x="411061" y="125834"/>
                      </a:lnTo>
                      <a:lnTo>
                        <a:pt x="486561" y="125834"/>
                      </a:lnTo>
                      <a:lnTo>
                        <a:pt x="738231" y="109056"/>
                      </a:lnTo>
                      <a:lnTo>
                        <a:pt x="1065402" y="50334"/>
                      </a:lnTo>
                      <a:lnTo>
                        <a:pt x="1182848" y="58723"/>
                      </a:lnTo>
                      <a:lnTo>
                        <a:pt x="1501629" y="310392"/>
                      </a:lnTo>
                      <a:lnTo>
                        <a:pt x="1543574" y="394282"/>
                      </a:lnTo>
                      <a:lnTo>
                        <a:pt x="1644242" y="696286"/>
                      </a:lnTo>
                      <a:lnTo>
                        <a:pt x="1770077" y="864066"/>
                      </a:lnTo>
                      <a:lnTo>
                        <a:pt x="1845578" y="889233"/>
                      </a:lnTo>
                      <a:lnTo>
                        <a:pt x="2013358" y="981512"/>
                      </a:lnTo>
                      <a:lnTo>
                        <a:pt x="2399251" y="1199625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61" name="Forma Livre: Forma 163">
                  <a:extLst>
                    <a:ext uri="{FF2B5EF4-FFF2-40B4-BE49-F238E27FC236}">
                      <a16:creationId xmlns:a16="http://schemas.microsoft.com/office/drawing/2014/main" id="{74CE5B29-6694-9008-2C4D-18C7A65A567D}"/>
                    </a:ext>
                  </a:extLst>
                </p:cNvPr>
                <p:cNvSpPr/>
                <p:nvPr/>
              </p:nvSpPr>
              <p:spPr>
                <a:xfrm>
                  <a:off x="6878972" y="1107347"/>
                  <a:ext cx="1015068" cy="1006679"/>
                </a:xfrm>
                <a:custGeom>
                  <a:avLst/>
                  <a:gdLst>
                    <a:gd name="connsiteX0" fmla="*/ 0 w 1015068"/>
                    <a:gd name="connsiteY0" fmla="*/ 0 h 1006679"/>
                    <a:gd name="connsiteX1" fmla="*/ 201336 w 1015068"/>
                    <a:gd name="connsiteY1" fmla="*/ 142613 h 1006679"/>
                    <a:gd name="connsiteX2" fmla="*/ 335560 w 1015068"/>
                    <a:gd name="connsiteY2" fmla="*/ 209725 h 1006679"/>
                    <a:gd name="connsiteX3" fmla="*/ 520118 w 1015068"/>
                    <a:gd name="connsiteY3" fmla="*/ 444616 h 1006679"/>
                    <a:gd name="connsiteX4" fmla="*/ 595619 w 1015068"/>
                    <a:gd name="connsiteY4" fmla="*/ 578840 h 1006679"/>
                    <a:gd name="connsiteX5" fmla="*/ 696287 w 1015068"/>
                    <a:gd name="connsiteY5" fmla="*/ 780176 h 1006679"/>
                    <a:gd name="connsiteX6" fmla="*/ 1015068 w 1015068"/>
                    <a:gd name="connsiteY6" fmla="*/ 1006679 h 1006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15068" h="1006679">
                      <a:moveTo>
                        <a:pt x="0" y="0"/>
                      </a:moveTo>
                      <a:lnTo>
                        <a:pt x="201336" y="142613"/>
                      </a:lnTo>
                      <a:cubicBezTo>
                        <a:pt x="300391" y="202046"/>
                        <a:pt x="254289" y="182635"/>
                        <a:pt x="335560" y="209725"/>
                      </a:cubicBezTo>
                      <a:lnTo>
                        <a:pt x="520118" y="444616"/>
                      </a:lnTo>
                      <a:cubicBezTo>
                        <a:pt x="575424" y="564445"/>
                        <a:pt x="542141" y="525362"/>
                        <a:pt x="595619" y="578840"/>
                      </a:cubicBezTo>
                      <a:lnTo>
                        <a:pt x="696287" y="780176"/>
                      </a:lnTo>
                      <a:lnTo>
                        <a:pt x="1015068" y="1006679"/>
                      </a:lnTo>
                    </a:path>
                  </a:pathLst>
                </a:custGeom>
                <a:noFill/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cxnSp>
            <p:nvCxnSpPr>
              <p:cNvPr id="52" name="Conector de Seta Reta 166">
                <a:extLst>
                  <a:ext uri="{FF2B5EF4-FFF2-40B4-BE49-F238E27FC236}">
                    <a16:creationId xmlns:a16="http://schemas.microsoft.com/office/drawing/2014/main" id="{0C057D96-9E23-4882-2785-9590EBDE2A2D}"/>
                  </a:ext>
                </a:extLst>
              </p:cNvPr>
              <p:cNvCxnSpPr/>
              <p:nvPr/>
            </p:nvCxnSpPr>
            <p:spPr>
              <a:xfrm flipV="1">
                <a:off x="6534544" y="3071658"/>
                <a:ext cx="378202" cy="4874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de Seta Reta 167">
                <a:extLst>
                  <a:ext uri="{FF2B5EF4-FFF2-40B4-BE49-F238E27FC236}">
                    <a16:creationId xmlns:a16="http://schemas.microsoft.com/office/drawing/2014/main" id="{8076419C-BEA1-97EB-20A8-983DB0D3D417}"/>
                  </a:ext>
                </a:extLst>
              </p:cNvPr>
              <p:cNvCxnSpPr/>
              <p:nvPr/>
            </p:nvCxnSpPr>
            <p:spPr>
              <a:xfrm flipV="1">
                <a:off x="7315417" y="2821982"/>
                <a:ext cx="378202" cy="4874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de Seta Reta 168">
                <a:extLst>
                  <a:ext uri="{FF2B5EF4-FFF2-40B4-BE49-F238E27FC236}">
                    <a16:creationId xmlns:a16="http://schemas.microsoft.com/office/drawing/2014/main" id="{6D79C43A-8243-27E3-A924-A83217AECF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89162" y="1823007"/>
                <a:ext cx="503889" cy="921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de Seta Reta 170">
                <a:extLst>
                  <a:ext uri="{FF2B5EF4-FFF2-40B4-BE49-F238E27FC236}">
                    <a16:creationId xmlns:a16="http://schemas.microsoft.com/office/drawing/2014/main" id="{5E6113F4-CDB6-2AA2-E837-F6A25016BF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87165" y="2544134"/>
                <a:ext cx="513322" cy="2369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CCBE5EB5-E547-C889-6B3E-F103E2E307AD}"/>
              </a:ext>
            </a:extLst>
          </p:cNvPr>
          <p:cNvSpPr txBox="1"/>
          <p:nvPr/>
        </p:nvSpPr>
        <p:spPr>
          <a:xfrm>
            <a:off x="740567" y="200466"/>
            <a:ext cx="4042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noProof="0" dirty="0">
                <a:solidFill>
                  <a:srgbClr val="0000FF"/>
                </a:solidFill>
                <a:latin typeface="Horley Old Style MT"/>
              </a:rPr>
              <a:t>Método de Diferenças finitas (FDM)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41086DE-BCE1-F960-5A34-70C3A32FD987}"/>
              </a:ext>
            </a:extLst>
          </p:cNvPr>
          <p:cNvGrpSpPr/>
          <p:nvPr/>
        </p:nvGrpSpPr>
        <p:grpSpPr>
          <a:xfrm>
            <a:off x="6659681" y="2488157"/>
            <a:ext cx="5254261" cy="1024710"/>
            <a:chOff x="470263" y="210586"/>
            <a:chExt cx="5254261" cy="1024710"/>
          </a:xfrm>
          <a:noFill/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A7A76B2C-0A87-4CEA-B425-4C5239D88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193"/>
            <a:stretch>
              <a:fillRect/>
            </a:stretch>
          </p:blipFill>
          <p:spPr>
            <a:xfrm>
              <a:off x="470263" y="210586"/>
              <a:ext cx="5254261" cy="981075"/>
            </a:xfrm>
            <a:prstGeom prst="rect">
              <a:avLst/>
            </a:prstGeom>
            <a:grpFill/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D1B1C90-9B7C-6BB2-9F6D-13164E769A51}"/>
                </a:ext>
              </a:extLst>
            </p:cNvPr>
            <p:cNvSpPr txBox="1"/>
            <p:nvPr/>
          </p:nvSpPr>
          <p:spPr>
            <a:xfrm>
              <a:off x="5240693" y="927519"/>
              <a:ext cx="450053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>
                  <a:solidFill>
                    <a:schemeClr val="tx1"/>
                  </a:solidFill>
                </a:rPr>
                <a:t>2.3</a:t>
              </a:r>
              <a:endParaRPr lang="en-GB" sz="20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4950264-0E5E-E77B-3700-DBB028544F12}"/>
                </a:ext>
              </a:extLst>
            </p:cNvPr>
            <p:cNvCxnSpPr>
              <a:cxnSpLocks/>
            </p:cNvCxnSpPr>
            <p:nvPr/>
          </p:nvCxnSpPr>
          <p:spPr>
            <a:xfrm>
              <a:off x="1887085" y="1019532"/>
              <a:ext cx="1255638" cy="0"/>
            </a:xfrm>
            <a:prstGeom prst="line">
              <a:avLst/>
            </a:prstGeom>
            <a:grpFill/>
            <a:ln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5AF6530-3361-DC33-2F11-129BC5E81E7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925" y="1018884"/>
              <a:ext cx="1185440" cy="648"/>
            </a:xfrm>
            <a:prstGeom prst="line">
              <a:avLst/>
            </a:prstGeom>
            <a:grpFill/>
            <a:ln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A39ED101-9B75-90F6-5077-CA8FA336BF7C}"/>
              </a:ext>
            </a:extLst>
          </p:cNvPr>
          <p:cNvSpPr/>
          <p:nvPr/>
        </p:nvSpPr>
        <p:spPr>
          <a:xfrm>
            <a:off x="7913868" y="2473213"/>
            <a:ext cx="1418273" cy="996019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971F67-2402-6093-50A2-A11C721E0257}"/>
              </a:ext>
            </a:extLst>
          </p:cNvPr>
          <p:cNvSpPr/>
          <p:nvPr/>
        </p:nvSpPr>
        <p:spPr>
          <a:xfrm>
            <a:off x="9546728" y="2479575"/>
            <a:ext cx="1255639" cy="985303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2003DB-5F44-C79E-497C-23BEE609ABDE}"/>
              </a:ext>
            </a:extLst>
          </p:cNvPr>
          <p:cNvSpPr txBox="1"/>
          <p:nvPr/>
        </p:nvSpPr>
        <p:spPr>
          <a:xfrm>
            <a:off x="4839199" y="6528029"/>
            <a:ext cx="73830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6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pPr algn="r"/>
            <a:r>
              <a:rPr lang="en-GB" dirty="0"/>
              <a:t>Notes on CFD: General Principles - 3.22 Bounded advection discretisation</a:t>
            </a:r>
            <a:endParaRPr lang="LID4096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E8A8A50E-616D-0344-A761-40CC327164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88"/>
          <a:stretch>
            <a:fillRect/>
          </a:stretch>
        </p:blipFill>
        <p:spPr>
          <a:xfrm>
            <a:off x="3942205" y="3581525"/>
            <a:ext cx="3137848" cy="25629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72BF1B16-7E05-F956-D747-46B0C57F560F}"/>
              </a:ext>
            </a:extLst>
          </p:cNvPr>
          <p:cNvGrpSpPr/>
          <p:nvPr/>
        </p:nvGrpSpPr>
        <p:grpSpPr>
          <a:xfrm>
            <a:off x="7494135" y="3644803"/>
            <a:ext cx="4143285" cy="2418100"/>
            <a:chOff x="6995820" y="3729443"/>
            <a:chExt cx="4143285" cy="2418100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50F587A5-DBA8-5C67-E5DC-80FAC2A4E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502" r="54516"/>
            <a:stretch>
              <a:fillRect/>
            </a:stretch>
          </p:blipFill>
          <p:spPr>
            <a:xfrm>
              <a:off x="6995820" y="3731937"/>
              <a:ext cx="3490970" cy="876300"/>
            </a:xfrm>
            <a:prstGeom prst="rect">
              <a:avLst/>
            </a:prstGeom>
          </p:spPr>
        </p:pic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E9E7150-D64A-727C-E048-4CBCAF728FBF}"/>
                </a:ext>
              </a:extLst>
            </p:cNvPr>
            <p:cNvSpPr/>
            <p:nvPr/>
          </p:nvSpPr>
          <p:spPr>
            <a:xfrm>
              <a:off x="6995820" y="3729443"/>
              <a:ext cx="1835772" cy="8763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8B168AA-2F30-B2B2-A17C-DC33FFDF7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45152" r="27105"/>
            <a:stretch>
              <a:fillRect/>
            </a:stretch>
          </p:blipFill>
          <p:spPr>
            <a:xfrm>
              <a:off x="8832174" y="4482552"/>
              <a:ext cx="2306931" cy="87630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BC8388D-4AAF-4E59-484A-56A5897D6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2298" r="9365"/>
            <a:stretch>
              <a:fillRect/>
            </a:stretch>
          </p:blipFill>
          <p:spPr>
            <a:xfrm>
              <a:off x="8831592" y="5271243"/>
              <a:ext cx="1524791" cy="876300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07971AD-A62D-28BF-C953-C86AA7D01D0B}"/>
                </a:ext>
              </a:extLst>
            </p:cNvPr>
            <p:cNvSpPr txBox="1"/>
            <p:nvPr/>
          </p:nvSpPr>
          <p:spPr>
            <a:xfrm>
              <a:off x="9686704" y="5731001"/>
              <a:ext cx="7071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>
                  <a:solidFill>
                    <a:schemeClr val="tx1"/>
                  </a:solidFill>
                </a:rPr>
                <a:t>2.12</a:t>
              </a:r>
              <a:endParaRPr lang="en-GB" sz="20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560536F-0B6F-FFA2-8A75-BDCCA5CFD960}"/>
              </a:ext>
            </a:extLst>
          </p:cNvPr>
          <p:cNvSpPr txBox="1"/>
          <p:nvPr/>
        </p:nvSpPr>
        <p:spPr>
          <a:xfrm>
            <a:off x="6659681" y="205704"/>
            <a:ext cx="4463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000" b="1" dirty="0">
                <a:latin typeface="Horley Old Style MT"/>
              </a:rPr>
              <a:t>Método de Volumes </a:t>
            </a:r>
            <a:r>
              <a:rPr lang="pt-BR" sz="2000" b="1" noProof="0" dirty="0">
                <a:latin typeface="Horley Old Style MT"/>
              </a:rPr>
              <a:t>finitos    (FVM)</a:t>
            </a:r>
          </a:p>
        </p:txBody>
      </p:sp>
      <p:grpSp>
        <p:nvGrpSpPr>
          <p:cNvPr id="87" name="Grupo 10">
            <a:extLst>
              <a:ext uri="{FF2B5EF4-FFF2-40B4-BE49-F238E27FC236}">
                <a16:creationId xmlns:a16="http://schemas.microsoft.com/office/drawing/2014/main" id="{DD8656C2-6880-892C-A528-D8D9D47095CF}"/>
              </a:ext>
            </a:extLst>
          </p:cNvPr>
          <p:cNvGrpSpPr>
            <a:grpSpLocks noChangeAspect="1"/>
          </p:cNvGrpSpPr>
          <p:nvPr/>
        </p:nvGrpSpPr>
        <p:grpSpPr>
          <a:xfrm>
            <a:off x="415562" y="691496"/>
            <a:ext cx="1697791" cy="1037706"/>
            <a:chOff x="7551799" y="3880749"/>
            <a:chExt cx="1792685" cy="1055366"/>
          </a:xfrm>
        </p:grpSpPr>
        <p:sp>
          <p:nvSpPr>
            <p:cNvPr id="88" name="Seta para a direita 12">
              <a:extLst>
                <a:ext uri="{FF2B5EF4-FFF2-40B4-BE49-F238E27FC236}">
                  <a16:creationId xmlns:a16="http://schemas.microsoft.com/office/drawing/2014/main" id="{2AC3DF96-BC3C-12EA-1765-A2BF3B5DAEEB}"/>
                </a:ext>
              </a:extLst>
            </p:cNvPr>
            <p:cNvSpPr/>
            <p:nvPr/>
          </p:nvSpPr>
          <p:spPr>
            <a:xfrm rot="2573740">
              <a:off x="7603764" y="4134921"/>
              <a:ext cx="288000" cy="108000"/>
            </a:xfrm>
            <a:prstGeom prst="rightArrow">
              <a:avLst/>
            </a:prstGeom>
            <a:solidFill>
              <a:schemeClr val="accent2"/>
            </a:solidFill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89" name="Grupo 13">
              <a:extLst>
                <a:ext uri="{FF2B5EF4-FFF2-40B4-BE49-F238E27FC236}">
                  <a16:creationId xmlns:a16="http://schemas.microsoft.com/office/drawing/2014/main" id="{D81DEE47-165C-1447-D2B0-B69647B68093}"/>
                </a:ext>
              </a:extLst>
            </p:cNvPr>
            <p:cNvGrpSpPr/>
            <p:nvPr/>
          </p:nvGrpSpPr>
          <p:grpSpPr>
            <a:xfrm>
              <a:off x="7551799" y="3880749"/>
              <a:ext cx="1792685" cy="1055366"/>
              <a:chOff x="6308874" y="4003609"/>
              <a:chExt cx="1792685" cy="1055366"/>
            </a:xfrm>
          </p:grpSpPr>
          <p:sp>
            <p:nvSpPr>
              <p:cNvPr id="91" name="Seta para a direita 15">
                <a:extLst>
                  <a:ext uri="{FF2B5EF4-FFF2-40B4-BE49-F238E27FC236}">
                    <a16:creationId xmlns:a16="http://schemas.microsoft.com/office/drawing/2014/main" id="{74EA86B1-EB11-D28D-1DEA-95E4B4107271}"/>
                  </a:ext>
                </a:extLst>
              </p:cNvPr>
              <p:cNvSpPr/>
              <p:nvPr/>
            </p:nvSpPr>
            <p:spPr>
              <a:xfrm rot="16166615">
                <a:off x="6618727" y="4743355"/>
                <a:ext cx="288000" cy="108000"/>
              </a:xfrm>
              <a:prstGeom prst="rightArrow">
                <a:avLst/>
              </a:prstGeom>
              <a:solidFill>
                <a:schemeClr val="accent2"/>
              </a:solidFill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grpSp>
            <p:nvGrpSpPr>
              <p:cNvPr id="92" name="Grupo 16">
                <a:extLst>
                  <a:ext uri="{FF2B5EF4-FFF2-40B4-BE49-F238E27FC236}">
                    <a16:creationId xmlns:a16="http://schemas.microsoft.com/office/drawing/2014/main" id="{7EE65652-AD52-203C-6F3A-9CDF93D15E1A}"/>
                  </a:ext>
                </a:extLst>
              </p:cNvPr>
              <p:cNvGrpSpPr/>
              <p:nvPr/>
            </p:nvGrpSpPr>
            <p:grpSpPr>
              <a:xfrm>
                <a:off x="6308874" y="4003609"/>
                <a:ext cx="1792685" cy="1055366"/>
                <a:chOff x="5618130" y="5251772"/>
                <a:chExt cx="1792685" cy="1055366"/>
              </a:xfrm>
            </p:grpSpPr>
            <p:grpSp>
              <p:nvGrpSpPr>
                <p:cNvPr id="94" name="Grupo 18">
                  <a:extLst>
                    <a:ext uri="{FF2B5EF4-FFF2-40B4-BE49-F238E27FC236}">
                      <a16:creationId xmlns:a16="http://schemas.microsoft.com/office/drawing/2014/main" id="{2AD9506D-BBA2-EA11-EB21-E4BC4F2B093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416287" y="5251772"/>
                  <a:ext cx="994528" cy="1055366"/>
                  <a:chOff x="7015665" y="3769107"/>
                  <a:chExt cx="2095099" cy="2554882"/>
                </a:xfr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98" name="Cubo 854">
                    <a:extLst>
                      <a:ext uri="{FF2B5EF4-FFF2-40B4-BE49-F238E27FC236}">
                        <a16:creationId xmlns:a16="http://schemas.microsoft.com/office/drawing/2014/main" id="{89EAC39C-A3DE-0D30-358A-B93722B53D6E}"/>
                      </a:ext>
                    </a:extLst>
                  </p:cNvPr>
                  <p:cNvSpPr/>
                  <p:nvPr/>
                </p:nvSpPr>
                <p:spPr>
                  <a:xfrm flipH="1">
                    <a:off x="7285076" y="5243990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99" name="Cubo 855">
                    <a:extLst>
                      <a:ext uri="{FF2B5EF4-FFF2-40B4-BE49-F238E27FC236}">
                        <a16:creationId xmlns:a16="http://schemas.microsoft.com/office/drawing/2014/main" id="{53E3672F-8B25-EEC5-6430-792FB42FE206}"/>
                      </a:ext>
                    </a:extLst>
                  </p:cNvPr>
                  <p:cNvSpPr/>
                  <p:nvPr/>
                </p:nvSpPr>
                <p:spPr>
                  <a:xfrm flipH="1">
                    <a:off x="7015665" y="4123701"/>
                    <a:ext cx="1080000" cy="1080000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00" name="Cubo 856">
                    <a:extLst>
                      <a:ext uri="{FF2B5EF4-FFF2-40B4-BE49-F238E27FC236}">
                        <a16:creationId xmlns:a16="http://schemas.microsoft.com/office/drawing/2014/main" id="{7C9C0A81-DE56-9610-B984-A0CC7A24F4D0}"/>
                      </a:ext>
                    </a:extLst>
                  </p:cNvPr>
                  <p:cNvSpPr/>
                  <p:nvPr/>
                </p:nvSpPr>
                <p:spPr>
                  <a:xfrm flipH="1">
                    <a:off x="8030765" y="4498395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01" name="Cubo 857">
                    <a:extLst>
                      <a:ext uri="{FF2B5EF4-FFF2-40B4-BE49-F238E27FC236}">
                        <a16:creationId xmlns:a16="http://schemas.microsoft.com/office/drawing/2014/main" id="{514671CE-AD65-1775-7EA8-5FB9026F22A1}"/>
                      </a:ext>
                    </a:extLst>
                  </p:cNvPr>
                  <p:cNvSpPr/>
                  <p:nvPr/>
                </p:nvSpPr>
                <p:spPr>
                  <a:xfrm flipH="1">
                    <a:off x="7285461" y="4504733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02" name="Cubo 858">
                    <a:extLst>
                      <a:ext uri="{FF2B5EF4-FFF2-40B4-BE49-F238E27FC236}">
                        <a16:creationId xmlns:a16="http://schemas.microsoft.com/office/drawing/2014/main" id="{F970F86F-188D-5111-5CD5-FAD7052B0075}"/>
                      </a:ext>
                    </a:extLst>
                  </p:cNvPr>
                  <p:cNvSpPr/>
                  <p:nvPr/>
                </p:nvSpPr>
                <p:spPr>
                  <a:xfrm flipH="1">
                    <a:off x="7288823" y="3769107"/>
                    <a:ext cx="1079999" cy="1079999"/>
                  </a:xfrm>
                  <a:prstGeom prst="cube">
                    <a:avLst>
                      <a:gd name="adj" fmla="val 32078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sp>
                <p:nvSpPr>
                  <p:cNvPr id="103" name="Cubo 859">
                    <a:extLst>
                      <a:ext uri="{FF2B5EF4-FFF2-40B4-BE49-F238E27FC236}">
                        <a16:creationId xmlns:a16="http://schemas.microsoft.com/office/drawing/2014/main" id="{363AF450-DE3F-7A87-4DFB-D6ECF9B068CF}"/>
                      </a:ext>
                    </a:extLst>
                  </p:cNvPr>
                  <p:cNvSpPr/>
                  <p:nvPr/>
                </p:nvSpPr>
                <p:spPr>
                  <a:xfrm flipH="1">
                    <a:off x="7609327" y="4854685"/>
                    <a:ext cx="1080000" cy="1080002"/>
                  </a:xfrm>
                  <a:prstGeom prst="cube">
                    <a:avLst>
                      <a:gd name="adj" fmla="val 32078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95" name="Seta para a direita 19">
                  <a:extLst>
                    <a:ext uri="{FF2B5EF4-FFF2-40B4-BE49-F238E27FC236}">
                      <a16:creationId xmlns:a16="http://schemas.microsoft.com/office/drawing/2014/main" id="{BF664AB9-3517-1DC3-BD28-435151DF1750}"/>
                    </a:ext>
                  </a:extLst>
                </p:cNvPr>
                <p:cNvSpPr/>
                <p:nvPr/>
              </p:nvSpPr>
              <p:spPr>
                <a:xfrm>
                  <a:off x="6062205" y="5705476"/>
                  <a:ext cx="576000" cy="180000"/>
                </a:xfrm>
                <a:prstGeom prst="rightArrow">
                  <a:avLst/>
                </a:prstGeom>
                <a:solidFill>
                  <a:schemeClr val="accent2"/>
                </a:solidFill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96" name="Cubo 852">
                  <a:extLst>
                    <a:ext uri="{FF2B5EF4-FFF2-40B4-BE49-F238E27FC236}">
                      <a16:creationId xmlns:a16="http://schemas.microsoft.com/office/drawing/2014/main" id="{B0EC1108-ACB9-8F61-136C-A7DE5476D19E}"/>
                    </a:ext>
                  </a:extLst>
                </p:cNvPr>
                <p:cNvSpPr/>
                <p:nvPr/>
              </p:nvSpPr>
              <p:spPr>
                <a:xfrm flipH="1">
                  <a:off x="5811644" y="5563045"/>
                  <a:ext cx="512668" cy="446124"/>
                </a:xfrm>
                <a:prstGeom prst="cube">
                  <a:avLst>
                    <a:gd name="adj" fmla="val 32078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97" name="Seta para a direita 24">
                  <a:extLst>
                    <a:ext uri="{FF2B5EF4-FFF2-40B4-BE49-F238E27FC236}">
                      <a16:creationId xmlns:a16="http://schemas.microsoft.com/office/drawing/2014/main" id="{D8D5BD3D-FF4C-3A2C-DC06-DE0889BC19F8}"/>
                    </a:ext>
                  </a:extLst>
                </p:cNvPr>
                <p:cNvSpPr/>
                <p:nvPr/>
              </p:nvSpPr>
              <p:spPr>
                <a:xfrm>
                  <a:off x="5618130" y="5734051"/>
                  <a:ext cx="288000" cy="108000"/>
                </a:xfrm>
                <a:prstGeom prst="rightArrow">
                  <a:avLst/>
                </a:prstGeom>
                <a:solidFill>
                  <a:schemeClr val="accent2"/>
                </a:solidFill>
                <a:effectLst>
                  <a:outerShdw blurRad="50800" dist="1397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93" name="Seta para a direita 17">
                <a:extLst>
                  <a:ext uri="{FF2B5EF4-FFF2-40B4-BE49-F238E27FC236}">
                    <a16:creationId xmlns:a16="http://schemas.microsoft.com/office/drawing/2014/main" id="{3032DEA9-CE8B-3E44-5429-1362E103FDAE}"/>
                  </a:ext>
                </a:extLst>
              </p:cNvPr>
              <p:cNvSpPr/>
              <p:nvPr/>
            </p:nvSpPr>
            <p:spPr>
              <a:xfrm rot="5400000">
                <a:off x="6612548" y="4194806"/>
                <a:ext cx="288000" cy="108000"/>
              </a:xfrm>
              <a:prstGeom prst="rightArrow">
                <a:avLst/>
              </a:prstGeom>
              <a:solidFill>
                <a:schemeClr val="accent2"/>
              </a:solidFill>
              <a:effectLst>
                <a:outerShdw blurRad="50800" dist="1397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90" name="Seta para a direita 14">
              <a:extLst>
                <a:ext uri="{FF2B5EF4-FFF2-40B4-BE49-F238E27FC236}">
                  <a16:creationId xmlns:a16="http://schemas.microsoft.com/office/drawing/2014/main" id="{A5C3EAE3-D921-94BA-4776-F89BA46136C6}"/>
                </a:ext>
              </a:extLst>
            </p:cNvPr>
            <p:cNvSpPr/>
            <p:nvPr/>
          </p:nvSpPr>
          <p:spPr>
            <a:xfrm rot="13276495">
              <a:off x="8046776" y="4538294"/>
              <a:ext cx="288000" cy="108000"/>
            </a:xfrm>
            <a:prstGeom prst="rightArrow">
              <a:avLst/>
            </a:prstGeom>
            <a:solidFill>
              <a:schemeClr val="accent2"/>
            </a:solidFill>
            <a:effectLst>
              <a:outerShdw blurRad="50800" dist="1397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104" name="Agrupar 221">
            <a:extLst>
              <a:ext uri="{FF2B5EF4-FFF2-40B4-BE49-F238E27FC236}">
                <a16:creationId xmlns:a16="http://schemas.microsoft.com/office/drawing/2014/main" id="{49736AF9-AA57-707A-CFE0-EAA387B7FD66}"/>
              </a:ext>
            </a:extLst>
          </p:cNvPr>
          <p:cNvGrpSpPr/>
          <p:nvPr/>
        </p:nvGrpSpPr>
        <p:grpSpPr>
          <a:xfrm>
            <a:off x="381470" y="2229319"/>
            <a:ext cx="3120386" cy="1197745"/>
            <a:chOff x="8805611" y="2854336"/>
            <a:chExt cx="2942277" cy="1017208"/>
          </a:xfrm>
        </p:grpSpPr>
        <p:cxnSp>
          <p:nvCxnSpPr>
            <p:cNvPr id="105" name="Conector de Seta Reta 98">
              <a:extLst>
                <a:ext uri="{FF2B5EF4-FFF2-40B4-BE49-F238E27FC236}">
                  <a16:creationId xmlns:a16="http://schemas.microsoft.com/office/drawing/2014/main" id="{A27248B7-E47E-F2D7-CAD3-5503B36925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2400" y="3533610"/>
              <a:ext cx="4759" cy="275267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B3F48217-F1AF-EF0E-3987-AE36DF527AC2}"/>
                    </a:ext>
                  </a:extLst>
                </p:cNvPr>
                <p:cNvSpPr txBox="1"/>
                <p:nvPr/>
              </p:nvSpPr>
              <p:spPr>
                <a:xfrm>
                  <a:off x="11119645" y="3359970"/>
                  <a:ext cx="628243" cy="51157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square" anchor="ctr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pt-BR" sz="3200" b="1" i="1" baseline="-250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pt-BR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GB" sz="32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3F9C59A4-257B-D9F2-5DD4-058337E23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9645" y="3359970"/>
                  <a:ext cx="628243" cy="51157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38100">
                  <a:noFill/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" name="Conector reto 191">
              <a:extLst>
                <a:ext uri="{FF2B5EF4-FFF2-40B4-BE49-F238E27FC236}">
                  <a16:creationId xmlns:a16="http://schemas.microsoft.com/office/drawing/2014/main" id="{0C45EA55-0990-720B-489C-D17D8D5DAB18}"/>
                </a:ext>
              </a:extLst>
            </p:cNvPr>
            <p:cNvCxnSpPr>
              <a:cxnSpLocks/>
            </p:cNvCxnSpPr>
            <p:nvPr/>
          </p:nvCxnSpPr>
          <p:spPr>
            <a:xfrm>
              <a:off x="8805611" y="3231347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8" name="Conector reto 196">
              <a:extLst>
                <a:ext uri="{FF2B5EF4-FFF2-40B4-BE49-F238E27FC236}">
                  <a16:creationId xmlns:a16="http://schemas.microsoft.com/office/drawing/2014/main" id="{1D0895A7-A6F1-3533-2016-B9497AEC6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032" y="3391830"/>
              <a:ext cx="738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9" name="Agrupar 207">
              <a:extLst>
                <a:ext uri="{FF2B5EF4-FFF2-40B4-BE49-F238E27FC236}">
                  <a16:creationId xmlns:a16="http://schemas.microsoft.com/office/drawing/2014/main" id="{10CB4660-507A-F205-6310-AA780FA7C8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809159" y="2854336"/>
              <a:ext cx="1941029" cy="948588"/>
              <a:chOff x="8673239" y="3288564"/>
              <a:chExt cx="1261022" cy="616267"/>
            </a:xfrm>
          </p:grpSpPr>
          <p:grpSp>
            <p:nvGrpSpPr>
              <p:cNvPr id="119" name="Agrupar 87">
                <a:extLst>
                  <a:ext uri="{FF2B5EF4-FFF2-40B4-BE49-F238E27FC236}">
                    <a16:creationId xmlns:a16="http://schemas.microsoft.com/office/drawing/2014/main" id="{0D5D8ABA-1548-656B-D436-2BF9DA3FDED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73239" y="3288564"/>
                <a:ext cx="798508" cy="616267"/>
                <a:chOff x="8741399" y="2617366"/>
                <a:chExt cx="1364715" cy="1053253"/>
              </a:xfrm>
            </p:grpSpPr>
            <p:sp>
              <p:nvSpPr>
                <p:cNvPr id="123" name="Cubo 79">
                  <a:extLst>
                    <a:ext uri="{FF2B5EF4-FFF2-40B4-BE49-F238E27FC236}">
                      <a16:creationId xmlns:a16="http://schemas.microsoft.com/office/drawing/2014/main" id="{5A45638A-572E-FED8-062B-86E4B5522F84}"/>
                    </a:ext>
                  </a:extLst>
                </p:cNvPr>
                <p:cNvSpPr/>
                <p:nvPr/>
              </p:nvSpPr>
              <p:spPr>
                <a:xfrm flipH="1">
                  <a:off x="8741399" y="2617366"/>
                  <a:ext cx="1073719" cy="791634"/>
                </a:xfrm>
                <a:prstGeom prst="cube">
                  <a:avLst>
                    <a:gd name="adj" fmla="val 32078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124" name="Cubo 85">
                  <a:extLst>
                    <a:ext uri="{FF2B5EF4-FFF2-40B4-BE49-F238E27FC236}">
                      <a16:creationId xmlns:a16="http://schemas.microsoft.com/office/drawing/2014/main" id="{052019AE-2DA9-5625-3FA0-161459021843}"/>
                    </a:ext>
                  </a:extLst>
                </p:cNvPr>
                <p:cNvSpPr/>
                <p:nvPr/>
              </p:nvSpPr>
              <p:spPr>
                <a:xfrm flipH="1">
                  <a:off x="9032395" y="2878985"/>
                  <a:ext cx="1073719" cy="791634"/>
                </a:xfrm>
                <a:prstGeom prst="cube">
                  <a:avLst>
                    <a:gd name="adj" fmla="val 32078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grpSp>
            <p:nvGrpSpPr>
              <p:cNvPr id="120" name="Agrupar 204">
                <a:extLst>
                  <a:ext uri="{FF2B5EF4-FFF2-40B4-BE49-F238E27FC236}">
                    <a16:creationId xmlns:a16="http://schemas.microsoft.com/office/drawing/2014/main" id="{1A460D1A-D6A3-886F-1070-8423C6A2788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35756" y="3290794"/>
                <a:ext cx="798505" cy="611266"/>
                <a:chOff x="8712967" y="2617366"/>
                <a:chExt cx="1364711" cy="1044702"/>
              </a:xfrm>
            </p:grpSpPr>
            <p:sp>
              <p:nvSpPr>
                <p:cNvPr id="121" name="Cubo 205">
                  <a:extLst>
                    <a:ext uri="{FF2B5EF4-FFF2-40B4-BE49-F238E27FC236}">
                      <a16:creationId xmlns:a16="http://schemas.microsoft.com/office/drawing/2014/main" id="{B5DE31E3-8820-8635-CE7C-BA0B8AF86219}"/>
                    </a:ext>
                  </a:extLst>
                </p:cNvPr>
                <p:cNvSpPr/>
                <p:nvPr/>
              </p:nvSpPr>
              <p:spPr>
                <a:xfrm flipH="1">
                  <a:off x="8712967" y="2617366"/>
                  <a:ext cx="1073719" cy="791634"/>
                </a:xfrm>
                <a:prstGeom prst="cube">
                  <a:avLst>
                    <a:gd name="adj" fmla="val 32078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122" name="Cubo 206">
                  <a:extLst>
                    <a:ext uri="{FF2B5EF4-FFF2-40B4-BE49-F238E27FC236}">
                      <a16:creationId xmlns:a16="http://schemas.microsoft.com/office/drawing/2014/main" id="{C1ED98BB-D25F-7A2F-A039-8A4FD7112D03}"/>
                    </a:ext>
                  </a:extLst>
                </p:cNvPr>
                <p:cNvSpPr/>
                <p:nvPr/>
              </p:nvSpPr>
              <p:spPr>
                <a:xfrm flipH="1">
                  <a:off x="9003959" y="2870434"/>
                  <a:ext cx="1073719" cy="791634"/>
                </a:xfrm>
                <a:prstGeom prst="cube">
                  <a:avLst>
                    <a:gd name="adj" fmla="val 32078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</p:grpSp>
        <p:cxnSp>
          <p:nvCxnSpPr>
            <p:cNvPr id="110" name="Conector reto 210">
              <a:extLst>
                <a:ext uri="{FF2B5EF4-FFF2-40B4-BE49-F238E27FC236}">
                  <a16:creationId xmlns:a16="http://schemas.microsoft.com/office/drawing/2014/main" id="{AF9EA45E-6E95-B2D6-24CB-25D8339D15AA}"/>
                </a:ext>
              </a:extLst>
            </p:cNvPr>
            <p:cNvCxnSpPr>
              <a:cxnSpLocks/>
            </p:cNvCxnSpPr>
            <p:nvPr/>
          </p:nvCxnSpPr>
          <p:spPr>
            <a:xfrm>
              <a:off x="9033852" y="3172458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1" name="Conector reto 211">
              <a:extLst>
                <a:ext uri="{FF2B5EF4-FFF2-40B4-BE49-F238E27FC236}">
                  <a16:creationId xmlns:a16="http://schemas.microsoft.com/office/drawing/2014/main" id="{5897E07D-5AFF-AB4E-28DA-777DD1591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4097" y="3691515"/>
              <a:ext cx="738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2" name="Conector reto 212">
              <a:extLst>
                <a:ext uri="{FF2B5EF4-FFF2-40B4-BE49-F238E27FC236}">
                  <a16:creationId xmlns:a16="http://schemas.microsoft.com/office/drawing/2014/main" id="{6C6D3458-5DCC-5DAC-58D7-8474652C9C6F}"/>
                </a:ext>
              </a:extLst>
            </p:cNvPr>
            <p:cNvCxnSpPr>
              <a:cxnSpLocks/>
            </p:cNvCxnSpPr>
            <p:nvPr/>
          </p:nvCxnSpPr>
          <p:spPr>
            <a:xfrm>
              <a:off x="9777961" y="3466898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3" name="Conector reto 213">
              <a:extLst>
                <a:ext uri="{FF2B5EF4-FFF2-40B4-BE49-F238E27FC236}">
                  <a16:creationId xmlns:a16="http://schemas.microsoft.com/office/drawing/2014/main" id="{9390849F-6DA7-D426-866F-2D202B0B98F8}"/>
                </a:ext>
              </a:extLst>
            </p:cNvPr>
            <p:cNvCxnSpPr>
              <a:cxnSpLocks/>
            </p:cNvCxnSpPr>
            <p:nvPr/>
          </p:nvCxnSpPr>
          <p:spPr>
            <a:xfrm>
              <a:off x="10505504" y="3466898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4" name="Conector reto 214">
              <a:extLst>
                <a:ext uri="{FF2B5EF4-FFF2-40B4-BE49-F238E27FC236}">
                  <a16:creationId xmlns:a16="http://schemas.microsoft.com/office/drawing/2014/main" id="{1D5DCCA3-32BD-ED3A-452B-92CA2BD4E6B8}"/>
                </a:ext>
              </a:extLst>
            </p:cNvPr>
            <p:cNvCxnSpPr>
              <a:cxnSpLocks/>
            </p:cNvCxnSpPr>
            <p:nvPr/>
          </p:nvCxnSpPr>
          <p:spPr>
            <a:xfrm>
              <a:off x="10506614" y="3565845"/>
              <a:ext cx="236576" cy="2375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5" name="Conector reto 215">
              <a:extLst>
                <a:ext uri="{FF2B5EF4-FFF2-40B4-BE49-F238E27FC236}">
                  <a16:creationId xmlns:a16="http://schemas.microsoft.com/office/drawing/2014/main" id="{4FE25118-52BA-EFE3-B3B0-BFA6B4B933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7504" y="3459538"/>
              <a:ext cx="738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Conector reto 216">
              <a:extLst>
                <a:ext uri="{FF2B5EF4-FFF2-40B4-BE49-F238E27FC236}">
                  <a16:creationId xmlns:a16="http://schemas.microsoft.com/office/drawing/2014/main" id="{E70EEEDF-605C-D726-342E-6AB72D3B2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6552" y="3171246"/>
              <a:ext cx="738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Conector reto 217">
              <a:extLst>
                <a:ext uri="{FF2B5EF4-FFF2-40B4-BE49-F238E27FC236}">
                  <a16:creationId xmlns:a16="http://schemas.microsoft.com/office/drawing/2014/main" id="{DBAD32B6-D372-0630-3EC0-80FEA8980245}"/>
                </a:ext>
              </a:extLst>
            </p:cNvPr>
            <p:cNvCxnSpPr>
              <a:cxnSpLocks/>
            </p:cNvCxnSpPr>
            <p:nvPr/>
          </p:nvCxnSpPr>
          <p:spPr>
            <a:xfrm>
              <a:off x="9774708" y="3165277"/>
              <a:ext cx="229436" cy="22796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8" name="Conector reto 219">
              <a:extLst>
                <a:ext uri="{FF2B5EF4-FFF2-40B4-BE49-F238E27FC236}">
                  <a16:creationId xmlns:a16="http://schemas.microsoft.com/office/drawing/2014/main" id="{6754E2D2-8678-373D-834D-E2A3B3E2F4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267" y="3231347"/>
              <a:ext cx="216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A3F9722D-EC69-534C-AF62-6F9A547B9653}"/>
              </a:ext>
            </a:extLst>
          </p:cNvPr>
          <p:cNvSpPr txBox="1"/>
          <p:nvPr/>
        </p:nvSpPr>
        <p:spPr>
          <a:xfrm>
            <a:off x="2317811" y="1866370"/>
            <a:ext cx="19407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0000FF"/>
                </a:solidFill>
                <a:latin typeface="Horley Old Style MT"/>
              </a:rPr>
              <a:t>Séries de Taylor</a:t>
            </a:r>
            <a:endParaRPr lang="pt-BR" sz="2000" b="1" noProof="0" dirty="0">
              <a:solidFill>
                <a:srgbClr val="0000FF"/>
              </a:solidFill>
              <a:latin typeface="Horley Old Style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EAAAB91C-3ECC-11EB-A050-7CD436CDD34A}"/>
                  </a:ext>
                </a:extLst>
              </p:cNvPr>
              <p:cNvSpPr txBox="1"/>
              <p:nvPr/>
            </p:nvSpPr>
            <p:spPr>
              <a:xfrm>
                <a:off x="2302386" y="897636"/>
                <a:ext cx="1971630" cy="8889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1440" tIns="0" rIns="91440" bIns="91440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                  </m:t>
                      </m:r>
                    </m:oMath>
                  </m:oMathPara>
                </a14:m>
                <a:endParaRPr lang="pt-BR" sz="2000" b="1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pt-B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pt-BR" sz="2000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b="1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pt-BR" sz="2000" b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pt-BR" sz="2000" b="1" dirty="0">
                              <a:solidFill>
                                <a:srgbClr val="0000FF"/>
                              </a:solidFill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LID4096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EAAAB91C-3ECC-11EB-A050-7CD436CDD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386" y="897636"/>
                <a:ext cx="1971630" cy="888914"/>
              </a:xfrm>
              <a:prstGeom prst="rect">
                <a:avLst/>
              </a:prstGeom>
              <a:blipFill>
                <a:blip r:embed="rId25"/>
                <a:stretch>
                  <a:fillRect l="-1548" t="-8219" r="-352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9091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400A28-C32A-D2D7-ACF9-31E3343BACE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E5FFF6"/>
          </a:solidFill>
          <a:ln>
            <a:noFill/>
          </a:ln>
        </p:spPr>
        <p:txBody>
          <a:bodyPr wrap="square" lIns="0" tIns="0" rIns="182880" bIns="0" anchor="ctr" anchorCtr="0">
            <a:noAutofit/>
          </a:bodyPr>
          <a:lstStyle/>
          <a:p>
            <a:pPr algn="r"/>
            <a:endParaRPr lang="LID4096" sz="1900" b="1">
              <a:solidFill>
                <a:srgbClr val="00B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B5CFE-A429-A8E9-E961-AA1723B8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66" t="51938" r="20133" b="2447"/>
          <a:stretch>
            <a:fillRect/>
          </a:stretch>
        </p:blipFill>
        <p:spPr>
          <a:xfrm>
            <a:off x="235390" y="199176"/>
            <a:ext cx="6498785" cy="31058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06E78-E635-0AE0-00E0-BED4328EB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5" t="5552" r="1319" b="14870"/>
          <a:stretch>
            <a:fillRect/>
          </a:stretch>
        </p:blipFill>
        <p:spPr>
          <a:xfrm>
            <a:off x="5229225" y="3167451"/>
            <a:ext cx="6727386" cy="34302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3CF2BD-C67F-5ACC-D491-17626E9EAB52}"/>
              </a:ext>
            </a:extLst>
          </p:cNvPr>
          <p:cNvSpPr txBox="1"/>
          <p:nvPr/>
        </p:nvSpPr>
        <p:spPr>
          <a:xfrm>
            <a:off x="6734175" y="199176"/>
            <a:ext cx="2242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Meso-scale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0EE05-7867-89D0-799C-C63BC7F1966C}"/>
              </a:ext>
            </a:extLst>
          </p:cNvPr>
          <p:cNvSpPr txBox="1"/>
          <p:nvPr/>
        </p:nvSpPr>
        <p:spPr>
          <a:xfrm>
            <a:off x="7123362" y="1126485"/>
            <a:ext cx="38887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u="none" strike="noStrike" dirty="0">
                <a:latin typeface="Google Sans"/>
              </a:rPr>
              <a:t>Mult—physics </a:t>
            </a:r>
          </a:p>
          <a:p>
            <a:r>
              <a:rPr lang="en-GB" sz="2800" b="1" dirty="0">
                <a:latin typeface="Google Sans"/>
              </a:rPr>
              <a:t>Mult—dimensional</a:t>
            </a:r>
            <a:endParaRPr lang="LID4096" sz="28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417CE8-36E9-3720-C1B4-76DC5D032122}"/>
              </a:ext>
            </a:extLst>
          </p:cNvPr>
          <p:cNvGrpSpPr/>
          <p:nvPr/>
        </p:nvGrpSpPr>
        <p:grpSpPr>
          <a:xfrm>
            <a:off x="453787" y="5614812"/>
            <a:ext cx="4298491" cy="1003017"/>
            <a:chOff x="410242" y="5675772"/>
            <a:chExt cx="4298491" cy="10030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10F4C06-3CA2-A363-7A2C-191C0AF7A05F}"/>
                    </a:ext>
                  </a:extLst>
                </p:cNvPr>
                <p:cNvSpPr txBox="1"/>
                <p:nvPr/>
              </p:nvSpPr>
              <p:spPr>
                <a:xfrm>
                  <a:off x="410242" y="5675772"/>
                  <a:ext cx="3351861" cy="8192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𝝆</m:t>
                        </m:r>
                        <m:sSub>
                          <m:sSubPr>
                            <m:ctrlPr>
                              <a:rPr lang="pt-B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𝐕</m:t>
                            </m:r>
                          </m:sub>
                        </m:sSub>
                        <m:f>
                          <m:fPr>
                            <m:ctrlPr>
                              <a:rPr lang="pt-BR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𝐓</m:t>
                            </m:r>
                          </m:num>
                          <m:den>
                            <m:r>
                              <a:rPr lang="pt-BR" sz="28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𝛛</m:t>
                            </m:r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𝐭</m:t>
                            </m:r>
                          </m:den>
                        </m:f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𝐊</m:t>
                        </m:r>
                        <m:sSup>
                          <m:sSupPr>
                            <m:ctrlPr>
                              <a:rPr lang="el-G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𝛁</m:t>
                            </m:r>
                          </m:e>
                          <m:sup>
                            <m:r>
                              <a:rPr lang="pt-BR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𝐓</m:t>
                        </m:r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l-G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</m:oMath>
                    </m:oMathPara>
                  </a14:m>
                  <a:endParaRPr lang="LID4096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10F4C06-3CA2-A363-7A2C-191C0AF7A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242" y="5675772"/>
                  <a:ext cx="3351861" cy="8192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9ACD7C-41F1-5A32-5126-DC3A746A5BE9}"/>
                </a:ext>
              </a:extLst>
            </p:cNvPr>
            <p:cNvSpPr txBox="1"/>
            <p:nvPr/>
          </p:nvSpPr>
          <p:spPr>
            <a:xfrm>
              <a:off x="2295902" y="6217124"/>
              <a:ext cx="24128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r"/>
              <a:r>
                <a:rPr lang="pt-BR" sz="2400" dirty="0"/>
                <a:t>Energia</a:t>
              </a:r>
              <a:endParaRPr lang="pt-BR" sz="3600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E2FDB2-7415-BFF2-FC3B-3C654EC03C58}"/>
              </a:ext>
            </a:extLst>
          </p:cNvPr>
          <p:cNvGrpSpPr/>
          <p:nvPr/>
        </p:nvGrpSpPr>
        <p:grpSpPr>
          <a:xfrm>
            <a:off x="497166" y="3605573"/>
            <a:ext cx="4384226" cy="461665"/>
            <a:chOff x="497166" y="3936503"/>
            <a:chExt cx="4384226" cy="4616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712775-DC6B-D77D-4604-068B196824F0}"/>
                </a:ext>
              </a:extLst>
            </p:cNvPr>
            <p:cNvSpPr txBox="1"/>
            <p:nvPr/>
          </p:nvSpPr>
          <p:spPr>
            <a:xfrm>
              <a:off x="2446624" y="3936503"/>
              <a:ext cx="24347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r"/>
              <a:r>
                <a:rPr lang="pt-BR" sz="2400" dirty="0"/>
                <a:t>Continuidade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71830DD-1380-76F1-6796-D0B84CB9A3F5}"/>
                    </a:ext>
                  </a:extLst>
                </p:cNvPr>
                <p:cNvSpPr txBox="1"/>
                <p:nvPr/>
              </p:nvSpPr>
              <p:spPr>
                <a:xfrm>
                  <a:off x="497166" y="3960801"/>
                  <a:ext cx="136223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𝛁</m:t>
                        </m:r>
                        <m:r>
                          <a:rPr lang="pt-BR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𝐕</m:t>
                        </m:r>
                        <m:r>
                          <a:rPr lang="pt-BR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LID4096" sz="28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71830DD-1380-76F1-6796-D0B84CB9A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66" y="3960801"/>
                  <a:ext cx="136223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902CB6-7244-ED69-F7F8-385B19DBC413}"/>
              </a:ext>
            </a:extLst>
          </p:cNvPr>
          <p:cNvGrpSpPr/>
          <p:nvPr/>
        </p:nvGrpSpPr>
        <p:grpSpPr>
          <a:xfrm>
            <a:off x="453787" y="4363358"/>
            <a:ext cx="4420480" cy="995965"/>
            <a:chOff x="453787" y="4642037"/>
            <a:chExt cx="4420480" cy="9959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EC9B11-0753-3A0B-C1F7-30438CA0A2D0}"/>
                </a:ext>
              </a:extLst>
            </p:cNvPr>
            <p:cNvSpPr txBox="1"/>
            <p:nvPr/>
          </p:nvSpPr>
          <p:spPr>
            <a:xfrm>
              <a:off x="453787" y="5176337"/>
              <a:ext cx="4420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r"/>
              <a:r>
                <a:rPr lang="pt-BR" sz="2400" noProof="0" dirty="0"/>
                <a:t>Qde de movimento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00310D1-2DFF-0C5E-A5EC-38D986885A99}"/>
                    </a:ext>
                  </a:extLst>
                </p:cNvPr>
                <p:cNvSpPr txBox="1"/>
                <p:nvPr/>
              </p:nvSpPr>
              <p:spPr>
                <a:xfrm>
                  <a:off x="497166" y="4642037"/>
                  <a:ext cx="3728585" cy="6294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pt-B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num>
                        <m:den>
                          <m:r>
                            <a:rPr lang="pt-BR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pt-B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den>
                      </m:f>
                      <m:r>
                        <a:rPr lang="pt-B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pt-BR" sz="2800" b="1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pt-BR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  <m:r>
                        <a:rPr lang="pt-B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𝐠</m:t>
                      </m:r>
                      <m:r>
                        <a:rPr lang="pt-B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𝛁</m:t>
                      </m:r>
                      <m:r>
                        <a:rPr lang="pt-B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𝐩</m:t>
                      </m:r>
                      <m:r>
                        <a:rPr lang="pt-B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l-GR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𝛍</m:t>
                      </m:r>
                      <m:sSup>
                        <m:sSupPr>
                          <m:ctrlPr>
                            <a:rPr lang="el-G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</m:e>
                        <m:sup>
                          <m:r>
                            <a:rPr lang="pt-BR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𝐕</m:t>
                      </m:r>
                    </m:oMath>
                  </a14:m>
                  <a:endParaRPr lang="LID4096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00310D1-2DFF-0C5E-A5EC-38D986885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66" y="4642037"/>
                  <a:ext cx="3728585" cy="629468"/>
                </a:xfrm>
                <a:prstGeom prst="rect">
                  <a:avLst/>
                </a:prstGeom>
                <a:blipFill>
                  <a:blip r:embed="rId6"/>
                  <a:stretch>
                    <a:fillRect l="-164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DAB984-B41E-FF65-877E-EA55802C5BE5}"/>
              </a:ext>
            </a:extLst>
          </p:cNvPr>
          <p:cNvCxnSpPr/>
          <p:nvPr/>
        </p:nvCxnSpPr>
        <p:spPr>
          <a:xfrm>
            <a:off x="757903" y="4310738"/>
            <a:ext cx="365760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B13FFA-E6BD-B252-137B-57D3CCF8BE54}"/>
              </a:ext>
            </a:extLst>
          </p:cNvPr>
          <p:cNvCxnSpPr/>
          <p:nvPr/>
        </p:nvCxnSpPr>
        <p:spPr>
          <a:xfrm>
            <a:off x="736131" y="5490752"/>
            <a:ext cx="365760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51ED484-E472-3C15-2E9C-355E8F3372A4}"/>
              </a:ext>
            </a:extLst>
          </p:cNvPr>
          <p:cNvSpPr txBox="1"/>
          <p:nvPr/>
        </p:nvSpPr>
        <p:spPr>
          <a:xfrm>
            <a:off x="5371967" y="6617829"/>
            <a:ext cx="68200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6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pPr algn="r"/>
            <a:r>
              <a:rPr lang="LID4096" sz="1050" dirty="0"/>
              <a:t>A review of multi-scale and multi-physics simulations of metal AM processes with focus on modeling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754687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BC748D-1483-DC28-F4CA-B168F1AE1E83}"/>
              </a:ext>
            </a:extLst>
          </p:cNvPr>
          <p:cNvSpPr txBox="1"/>
          <p:nvPr/>
        </p:nvSpPr>
        <p:spPr>
          <a:xfrm>
            <a:off x="0" y="0"/>
            <a:ext cx="12191999" cy="2635582"/>
          </a:xfrm>
          <a:prstGeom prst="rect">
            <a:avLst/>
          </a:prstGeom>
          <a:solidFill>
            <a:srgbClr val="E5FFF6"/>
          </a:solidFill>
          <a:ln>
            <a:noFill/>
          </a:ln>
        </p:spPr>
        <p:txBody>
          <a:bodyPr wrap="square" lIns="0" tIns="0" rIns="182880" bIns="0" anchor="ctr" anchorCtr="0">
            <a:noAutofit/>
          </a:bodyPr>
          <a:lstStyle/>
          <a:p>
            <a:pPr algn="r"/>
            <a:endParaRPr lang="LID4096" sz="1900" b="1" dirty="0">
              <a:solidFill>
                <a:srgbClr val="00B050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875C080-361E-0623-F0F2-42B93ECE40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708" b="3135"/>
          <a:stretch>
            <a:fillRect/>
          </a:stretch>
        </p:blipFill>
        <p:spPr>
          <a:xfrm>
            <a:off x="296363" y="4923098"/>
            <a:ext cx="11616517" cy="97687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4F41C-7B9C-8F0B-ED94-16CEA8C41DB9}"/>
              </a:ext>
            </a:extLst>
          </p:cNvPr>
          <p:cNvGrpSpPr/>
          <p:nvPr/>
        </p:nvGrpSpPr>
        <p:grpSpPr>
          <a:xfrm>
            <a:off x="465460" y="250003"/>
            <a:ext cx="11318793" cy="5331932"/>
            <a:chOff x="765017" y="565429"/>
            <a:chExt cx="10573543" cy="50530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DC42CEF-AD24-C393-6ED0-35BE5728F9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5017" y="565429"/>
              <a:ext cx="10573543" cy="5053001"/>
              <a:chOff x="765017" y="565429"/>
              <a:chExt cx="10573543" cy="505300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601D0C4-AB71-192A-6BAE-2D32411C5691}"/>
                  </a:ext>
                </a:extLst>
              </p:cNvPr>
              <p:cNvCxnSpPr/>
              <p:nvPr/>
            </p:nvCxnSpPr>
            <p:spPr>
              <a:xfrm>
                <a:off x="878186" y="2598345"/>
                <a:ext cx="2770361" cy="0"/>
              </a:xfrm>
              <a:prstGeom prst="line">
                <a:avLst/>
              </a:prstGeom>
              <a:ln w="381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EAF8CEC-4854-3856-02CD-A95D3AB85367}"/>
                  </a:ext>
                </a:extLst>
              </p:cNvPr>
              <p:cNvCxnSpPr/>
              <p:nvPr/>
            </p:nvCxnSpPr>
            <p:spPr>
              <a:xfrm>
                <a:off x="765017" y="5472065"/>
                <a:ext cx="2194560" cy="0"/>
              </a:xfrm>
              <a:prstGeom prst="line">
                <a:avLst/>
              </a:prstGeom>
              <a:ln w="381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AA139EA-9305-9CAD-BBCE-A72932AD9499}"/>
                  </a:ext>
                </a:extLst>
              </p:cNvPr>
              <p:cNvCxnSpPr/>
              <p:nvPr/>
            </p:nvCxnSpPr>
            <p:spPr>
              <a:xfrm>
                <a:off x="3238122" y="5618430"/>
                <a:ext cx="2194560" cy="0"/>
              </a:xfrm>
              <a:prstGeom prst="line">
                <a:avLst/>
              </a:prstGeom>
              <a:ln w="381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EAE0F0-62B5-17B4-5D8A-18633E1A3D31}"/>
                  </a:ext>
                </a:extLst>
              </p:cNvPr>
              <p:cNvSpPr txBox="1"/>
              <p:nvPr/>
            </p:nvSpPr>
            <p:spPr>
              <a:xfrm>
                <a:off x="10702141" y="565429"/>
                <a:ext cx="636419" cy="40011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CFD</a:t>
                </a:r>
                <a:endParaRPr lang="LID4096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AF0705-8CE9-94F0-E953-8CD5B4245D40}"/>
                </a:ext>
              </a:extLst>
            </p:cNvPr>
            <p:cNvSpPr txBox="1"/>
            <p:nvPr/>
          </p:nvSpPr>
          <p:spPr>
            <a:xfrm>
              <a:off x="7624961" y="582488"/>
              <a:ext cx="307274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LID4096" sz="1200" dirty="0">
                  <a:hlinkClick r:id="rId3"/>
                </a:rPr>
                <a:t>https://github.com/DLR-RY/</a:t>
              </a:r>
              <a:r>
                <a:rPr lang="LID4096" sz="2000" b="1" dirty="0">
                  <a:hlinkClick r:id="rId3"/>
                </a:rPr>
                <a:t>VoFLibrary</a:t>
              </a:r>
              <a:endParaRPr lang="LID4096" sz="1600" b="1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EE5D95-2C59-C92D-77B7-C154AE597321}"/>
              </a:ext>
            </a:extLst>
          </p:cNvPr>
          <p:cNvSpPr txBox="1"/>
          <p:nvPr/>
        </p:nvSpPr>
        <p:spPr>
          <a:xfrm>
            <a:off x="410325" y="763996"/>
            <a:ext cx="112776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u="sng" strike="noStrike" dirty="0">
                <a:latin typeface="Calibri (Body)"/>
              </a:rPr>
              <a:t>Incompressible</a:t>
            </a:r>
            <a:r>
              <a:rPr lang="en-GB" sz="2600" b="1" u="sng" dirty="0">
                <a:latin typeface="Calibri (Body)"/>
              </a:rPr>
              <a:t>, multiphase flow with surface tension and phase change</a:t>
            </a:r>
            <a:endParaRPr lang="LID4096" sz="2600" b="1" u="sng" dirty="0">
              <a:latin typeface="Calibri (Body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D14E93-E4BC-DA6E-3AE7-A2F89653A9C9}"/>
                  </a:ext>
                </a:extLst>
              </p:cNvPr>
              <p:cNvSpPr txBox="1"/>
              <p:nvPr/>
            </p:nvSpPr>
            <p:spPr>
              <a:xfrm>
                <a:off x="5068502" y="1667255"/>
                <a:ext cx="2471382" cy="629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𝛂</m:t>
                        </m:r>
                      </m:num>
                      <m:den>
                        <m:r>
                          <a:rPr lang="pt-BR" sz="2800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pt-BR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</m:den>
                    </m:f>
                  </m:oMath>
                </a14:m>
                <a:r>
                  <a:rPr lang="pt-BR" sz="28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pt-BR" sz="28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𝛁</m:t>
                    </m:r>
                    <m:r>
                      <a:rPr lang="pt-BR" sz="2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pt-BR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𝛂</m:t>
                        </m:r>
                        <m:r>
                          <a:rPr lang="pt-B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LID4096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D14E93-E4BC-DA6E-3AE7-A2F89653A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502" y="1667255"/>
                <a:ext cx="2471382" cy="629468"/>
              </a:xfrm>
              <a:prstGeom prst="rect">
                <a:avLst/>
              </a:prstGeom>
              <a:blipFill>
                <a:blip r:embed="rId4"/>
                <a:stretch>
                  <a:fillRect b="-2019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AC9FB577-F992-4E60-14EB-5332DB8C4422}"/>
              </a:ext>
            </a:extLst>
          </p:cNvPr>
          <p:cNvSpPr txBox="1"/>
          <p:nvPr/>
        </p:nvSpPr>
        <p:spPr>
          <a:xfrm>
            <a:off x="296363" y="1755019"/>
            <a:ext cx="427765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b="1" u="none" strike="noStrik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Volum</a:t>
            </a:r>
            <a:r>
              <a:rPr lang="en-GB" sz="2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e of fluid method (VOF)</a:t>
            </a:r>
            <a:endParaRPr lang="LID4096" sz="2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2AB36E-013F-5602-1199-4DB686E5A4CE}"/>
                  </a:ext>
                </a:extLst>
              </p:cNvPr>
              <p:cNvSpPr txBox="1"/>
              <p:nvPr/>
            </p:nvSpPr>
            <p:spPr>
              <a:xfrm>
                <a:off x="7583384" y="1532237"/>
                <a:ext cx="1675243" cy="1077218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dirty="0">
                    <a:solidFill>
                      <a:srgbClr val="FF0000"/>
                    </a:solidFill>
                    <a:latin typeface="Google Sans"/>
                  </a:rPr>
                  <a:t>Volume of</a:t>
                </a:r>
              </a:p>
              <a:p>
                <a:pPr algn="ctr"/>
                <a:r>
                  <a:rPr lang="en-GB" sz="2000" dirty="0">
                    <a:solidFill>
                      <a:srgbClr val="FF0000"/>
                    </a:solidFill>
                    <a:latin typeface="Google Sans"/>
                  </a:rPr>
                  <a:t>fraction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pt-BR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GB" sz="2400" b="1" dirty="0">
                    <a:solidFill>
                      <a:srgbClr val="FF0000"/>
                    </a:solidFill>
                    <a:latin typeface="Google Sans"/>
                  </a:rPr>
                  <a:t> = V</a:t>
                </a:r>
                <a:r>
                  <a:rPr lang="en-GB" sz="2400" b="1" baseline="-25000" dirty="0">
                    <a:solidFill>
                      <a:srgbClr val="FF0000"/>
                    </a:solidFill>
                    <a:latin typeface="Google Sans"/>
                  </a:rPr>
                  <a:t>i </a:t>
                </a:r>
                <a:r>
                  <a:rPr lang="en-GB" sz="2400" b="1" dirty="0">
                    <a:solidFill>
                      <a:srgbClr val="FF0000"/>
                    </a:solidFill>
                    <a:latin typeface="Google Sans"/>
                  </a:rPr>
                  <a:t>/ V</a:t>
                </a:r>
                <a:endParaRPr lang="LID4096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02AB36E-013F-5602-1199-4DB686E5A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384" y="1532237"/>
                <a:ext cx="1675243" cy="1077218"/>
              </a:xfrm>
              <a:prstGeom prst="rect">
                <a:avLst/>
              </a:prstGeom>
              <a:blipFill>
                <a:blip r:embed="rId5"/>
                <a:stretch>
                  <a:fillRect t="-2825" b="-11864"/>
                </a:stretch>
              </a:blipFill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E66D263D-FFFF-06AA-141B-E74D0F87AFD0}"/>
              </a:ext>
            </a:extLst>
          </p:cNvPr>
          <p:cNvSpPr txBox="1"/>
          <p:nvPr/>
        </p:nvSpPr>
        <p:spPr>
          <a:xfrm>
            <a:off x="270961" y="2854601"/>
            <a:ext cx="5800529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0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Continuity Equation (mass conservation)</a:t>
            </a:r>
            <a:endParaRPr lang="LID4096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4DD6D9-35C5-F891-8CFE-3959BB5F9F6F}"/>
                  </a:ext>
                </a:extLst>
              </p:cNvPr>
              <p:cNvSpPr txBox="1"/>
              <p:nvPr/>
            </p:nvSpPr>
            <p:spPr>
              <a:xfrm>
                <a:off x="5864142" y="2855627"/>
                <a:ext cx="1362232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8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𝛁</m:t>
                    </m:r>
                    <m:r>
                      <a:rPr lang="pt-BR" sz="2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pt-B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LID4096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4DD6D9-35C5-F891-8CFE-3959BB5F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142" y="2855627"/>
                <a:ext cx="136223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A5957222-A3DB-85F2-F22A-343ED12BEC06}"/>
              </a:ext>
            </a:extLst>
          </p:cNvPr>
          <p:cNvSpPr txBox="1"/>
          <p:nvPr/>
        </p:nvSpPr>
        <p:spPr>
          <a:xfrm>
            <a:off x="7895507" y="4521202"/>
            <a:ext cx="388874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Laser heat input       latent input </a:t>
            </a:r>
            <a:endParaRPr lang="LID4096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4A6B13-4CA8-CE52-D5EE-CC8C23BE7FDF}"/>
                  </a:ext>
                </a:extLst>
              </p:cNvPr>
              <p:cNvSpPr txBox="1"/>
              <p:nvPr/>
            </p:nvSpPr>
            <p:spPr>
              <a:xfrm>
                <a:off x="9410765" y="1588721"/>
                <a:ext cx="2265797" cy="923330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GB" b="1" dirty="0">
                    <a:solidFill>
                      <a:srgbClr val="FF0000"/>
                    </a:solidFill>
                    <a:latin typeface="Google Sans"/>
                  </a:rPr>
                  <a:t> = 0 (solid)</a:t>
                </a:r>
              </a:p>
              <a:p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GB" b="1" dirty="0">
                    <a:solidFill>
                      <a:srgbClr val="FF0000"/>
                    </a:solidFill>
                    <a:latin typeface="Google Sans"/>
                  </a:rPr>
                  <a:t> = 1 (liquid)</a:t>
                </a:r>
                <a:endParaRPr lang="LID4096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pt-B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pt-B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pt-BR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GB" b="1" dirty="0">
                    <a:solidFill>
                      <a:srgbClr val="FF0000"/>
                    </a:solidFill>
                    <a:latin typeface="Google Sans"/>
                  </a:rPr>
                  <a:t> &lt; 0 (interface)</a:t>
                </a:r>
                <a:endParaRPr lang="LID409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4A6B13-4CA8-CE52-D5EE-CC8C23BE7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765" y="1588721"/>
                <a:ext cx="2265797" cy="923330"/>
              </a:xfrm>
              <a:prstGeom prst="rect">
                <a:avLst/>
              </a:prstGeom>
              <a:blipFill>
                <a:blip r:embed="rId7"/>
                <a:stretch>
                  <a:fillRect t="-3974" b="-9934"/>
                </a:stretch>
              </a:blipFill>
              <a:effectLst/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E46C37BF-E976-8AA5-2002-7B282F7CB412}"/>
              </a:ext>
            </a:extLst>
          </p:cNvPr>
          <p:cNvSpPr txBox="1"/>
          <p:nvPr/>
        </p:nvSpPr>
        <p:spPr>
          <a:xfrm>
            <a:off x="383670" y="226880"/>
            <a:ext cx="493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u="sng" strike="noStrike" dirty="0">
                <a:latin typeface="Calibri (Body)"/>
              </a:rPr>
              <a:t>CFD Methodology</a:t>
            </a:r>
            <a:endParaRPr lang="LID4096" sz="3200" b="1" u="sng" dirty="0">
              <a:latin typeface="Calibri (Body)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135F60-F138-044C-DEEB-BE10A10F14B1}"/>
              </a:ext>
            </a:extLst>
          </p:cNvPr>
          <p:cNvSpPr txBox="1"/>
          <p:nvPr/>
        </p:nvSpPr>
        <p:spPr>
          <a:xfrm>
            <a:off x="383670" y="5266443"/>
            <a:ext cx="2693595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GB" sz="2000" b="1" u="none" strike="noStrike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Energy conservation</a:t>
            </a:r>
            <a:endParaRPr lang="LID4096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07E8784-62C9-8E9E-031E-8672EBE9D17A}"/>
              </a:ext>
            </a:extLst>
          </p:cNvPr>
          <p:cNvGrpSpPr/>
          <p:nvPr/>
        </p:nvGrpSpPr>
        <p:grpSpPr>
          <a:xfrm>
            <a:off x="296363" y="2724299"/>
            <a:ext cx="11616517" cy="1707082"/>
            <a:chOff x="296363" y="2519645"/>
            <a:chExt cx="11616517" cy="1707082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82EBD62A-9AA4-2364-9DB5-A2E80B72F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9089" b="22256"/>
            <a:stretch>
              <a:fillRect/>
            </a:stretch>
          </p:blipFill>
          <p:spPr>
            <a:xfrm>
              <a:off x="296363" y="3164572"/>
              <a:ext cx="11616517" cy="106215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B91431-B75F-3489-710F-E4303CA16694}"/>
                </a:ext>
              </a:extLst>
            </p:cNvPr>
            <p:cNvSpPr txBox="1"/>
            <p:nvPr/>
          </p:nvSpPr>
          <p:spPr>
            <a:xfrm>
              <a:off x="314505" y="3400569"/>
              <a:ext cx="2807896" cy="45382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GB" sz="2000" b="1" u="none" strike="noStrike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oogle Sans"/>
                </a:rPr>
                <a:t>Momentum conservation</a:t>
              </a:r>
              <a:endParaRPr lang="LID4096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F1E3B3D-BF74-FBBD-5231-49BE03323EE8}"/>
                </a:ext>
              </a:extLst>
            </p:cNvPr>
            <p:cNvSpPr txBox="1"/>
            <p:nvPr/>
          </p:nvSpPr>
          <p:spPr>
            <a:xfrm>
              <a:off x="9467850" y="2519645"/>
              <a:ext cx="2265796" cy="70788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2000" b="1" u="none" strike="noStrike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oogle Sans"/>
                </a:rPr>
                <a:t>Surface tension </a:t>
              </a:r>
            </a:p>
            <a:p>
              <a:pPr algn="ctr"/>
              <a:r>
                <a:rPr lang="en-GB" sz="2000" b="1" u="none" strike="noStrike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oogle Sans"/>
                </a:rPr>
                <a:t>Marangoni force</a:t>
              </a:r>
              <a:endParaRPr lang="LID4096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1C57D7A-52BC-3883-3AB1-1894146B1700}"/>
              </a:ext>
            </a:extLst>
          </p:cNvPr>
          <p:cNvGrpSpPr/>
          <p:nvPr/>
        </p:nvGrpSpPr>
        <p:grpSpPr>
          <a:xfrm>
            <a:off x="9224223" y="4967978"/>
            <a:ext cx="2141838" cy="187824"/>
            <a:chOff x="9224223" y="4686319"/>
            <a:chExt cx="2141838" cy="286597"/>
          </a:xfrm>
        </p:grpSpPr>
        <p:sp>
          <p:nvSpPr>
            <p:cNvPr id="3" name="Arrow: Down 2">
              <a:extLst>
                <a:ext uri="{FF2B5EF4-FFF2-40B4-BE49-F238E27FC236}">
                  <a16:creationId xmlns:a16="http://schemas.microsoft.com/office/drawing/2014/main" id="{FA345EE5-1FBC-C64A-AA9E-36628533B164}"/>
                </a:ext>
              </a:extLst>
            </p:cNvPr>
            <p:cNvSpPr/>
            <p:nvPr/>
          </p:nvSpPr>
          <p:spPr>
            <a:xfrm>
              <a:off x="9224223" y="4686319"/>
              <a:ext cx="339205" cy="286597"/>
            </a:xfrm>
            <a:prstGeom prst="downArrow">
              <a:avLst/>
            </a:prstGeom>
            <a:solidFill>
              <a:srgbClr val="003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68520981-5B4A-BFEB-72E1-C0718E35858C}"/>
                </a:ext>
              </a:extLst>
            </p:cNvPr>
            <p:cNvSpPr/>
            <p:nvPr/>
          </p:nvSpPr>
          <p:spPr>
            <a:xfrm>
              <a:off x="11026856" y="4686319"/>
              <a:ext cx="339205" cy="286597"/>
            </a:xfrm>
            <a:prstGeom prst="downArrow">
              <a:avLst/>
            </a:prstGeom>
            <a:solidFill>
              <a:srgbClr val="0033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31F4CE9-F311-EE29-6519-1396E63DC8DB}"/>
              </a:ext>
            </a:extLst>
          </p:cNvPr>
          <p:cNvSpPr txBox="1"/>
          <p:nvPr/>
        </p:nvSpPr>
        <p:spPr>
          <a:xfrm>
            <a:off x="0" y="5872105"/>
            <a:ext cx="12202463" cy="976877"/>
          </a:xfrm>
          <a:prstGeom prst="rect">
            <a:avLst/>
          </a:prstGeom>
          <a:solidFill>
            <a:srgbClr val="E5FFF6"/>
          </a:solidFill>
          <a:ln>
            <a:noFill/>
          </a:ln>
        </p:spPr>
        <p:txBody>
          <a:bodyPr wrap="square" lIns="0" tIns="0" rIns="182880" bIns="0" anchor="ctr" anchorCtr="0">
            <a:noAutofit/>
          </a:bodyPr>
          <a:lstStyle/>
          <a:p>
            <a:pPr algn="r"/>
            <a:r>
              <a:rPr lang="en-GB" sz="1900" b="1" u="none" strike="noStrike" dirty="0">
                <a:solidFill>
                  <a:srgbClr val="0000FF"/>
                </a:solidFill>
                <a:effectLst/>
                <a:latin typeface="Google Sans"/>
              </a:rPr>
              <a:t>“… the basis of how the simulation solver is modelled and </a:t>
            </a:r>
          </a:p>
          <a:p>
            <a:pPr algn="r"/>
            <a:r>
              <a:rPr lang="en-GB" sz="1900" b="1" u="none" strike="noStrike" dirty="0">
                <a:solidFill>
                  <a:srgbClr val="FF0000"/>
                </a:solidFill>
                <a:effectLst/>
                <a:latin typeface="Google Sans"/>
              </a:rPr>
              <a:t>how we can rely on the data that has been predicted </a:t>
            </a:r>
            <a:r>
              <a:rPr lang="en-GB" sz="1900" b="1" u="none" strike="noStrike" dirty="0">
                <a:solidFill>
                  <a:srgbClr val="00B050"/>
                </a:solidFill>
                <a:effectLst/>
                <a:latin typeface="Google Sans"/>
              </a:rPr>
              <a:t>… based on this robust physic equations that are provided ” </a:t>
            </a:r>
          </a:p>
          <a:p>
            <a:pPr algn="r"/>
            <a:endParaRPr lang="LID4096" sz="1400" b="1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8FB94-86F6-2C05-AADA-342736A2CDC8}"/>
              </a:ext>
            </a:extLst>
          </p:cNvPr>
          <p:cNvSpPr txBox="1"/>
          <p:nvPr/>
        </p:nvSpPr>
        <p:spPr>
          <a:xfrm>
            <a:off x="9897626" y="6504376"/>
            <a:ext cx="2304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4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pPr algn="r"/>
            <a:r>
              <a:rPr lang="LID4096" sz="1800" dirty="0"/>
              <a:t>AM PravaH®</a:t>
            </a:r>
          </a:p>
        </p:txBody>
      </p:sp>
    </p:spTree>
    <p:extLst>
      <p:ext uri="{BB962C8B-B14F-4D97-AF65-F5344CB8AC3E}">
        <p14:creationId xmlns:p14="http://schemas.microsoft.com/office/powerpoint/2010/main" val="1172744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38DA-AD81-0282-9C11-F23B1B58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171260-EB76-CA4B-243D-37924966B69A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51F313-CDCA-58BB-8BD2-FF282BB3FC95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 -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C70260-0027-6F19-2E23-7B17D61F94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7"/>
          <a:stretch>
            <a:fillRect/>
          </a:stretch>
        </p:blipFill>
        <p:spPr>
          <a:xfrm>
            <a:off x="6318648" y="697078"/>
            <a:ext cx="4707798" cy="35308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1E2041-643C-7461-CAB6-1FABB2F6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697078"/>
            <a:ext cx="5638392" cy="18002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49131F-7BC5-1788-F128-F560ABDEEE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77" r="53402" b="72066"/>
          <a:stretch>
            <a:fillRect/>
          </a:stretch>
        </p:blipFill>
        <p:spPr>
          <a:xfrm>
            <a:off x="4366517" y="3689352"/>
            <a:ext cx="1201540" cy="3778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4A704C-E8A1-A87D-AE5A-EAA60B8C5B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22" t="11952" r="3891" b="9751"/>
          <a:stretch>
            <a:fillRect/>
          </a:stretch>
        </p:blipFill>
        <p:spPr>
          <a:xfrm>
            <a:off x="309562" y="4605168"/>
            <a:ext cx="5589918" cy="1209675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7FA0806-70A3-4910-06CF-170AAEDF58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77" t="38368"/>
          <a:stretch>
            <a:fillRect/>
          </a:stretch>
        </p:blipFill>
        <p:spPr>
          <a:xfrm>
            <a:off x="1371736" y="3689352"/>
            <a:ext cx="2833384" cy="8336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24E538B-A9C6-7696-6587-F44F87DA13D0}"/>
              </a:ext>
            </a:extLst>
          </p:cNvPr>
          <p:cNvSpPr txBox="1"/>
          <p:nvPr/>
        </p:nvSpPr>
        <p:spPr>
          <a:xfrm>
            <a:off x="4386095" y="2669752"/>
            <a:ext cx="1814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LID4096" dirty="0"/>
              <a:t>new </a:t>
            </a:r>
            <a:r>
              <a:rPr lang="pt-BR" dirty="0"/>
              <a:t>(</a:t>
            </a:r>
            <a:r>
              <a:rPr lang="LID4096" dirty="0"/>
              <a:t>x</a:t>
            </a:r>
            <a:r>
              <a:rPr lang="pt-BR" dirty="0"/>
              <a:t>) </a:t>
            </a:r>
            <a:r>
              <a:rPr lang="LID4096" dirty="0"/>
              <a:t>coordinate system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9061413-9D3E-67F9-AA5E-5FB998882026}"/>
              </a:ext>
            </a:extLst>
          </p:cNvPr>
          <p:cNvGrpSpPr/>
          <p:nvPr/>
        </p:nvGrpSpPr>
        <p:grpSpPr>
          <a:xfrm>
            <a:off x="309562" y="2586206"/>
            <a:ext cx="4272499" cy="1050542"/>
            <a:chOff x="309562" y="2586206"/>
            <a:chExt cx="4272499" cy="105054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70DCF73-A2E1-5797-7CD7-A93E45481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9562" y="2586206"/>
              <a:ext cx="4272499" cy="101424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9EF701A-C34B-76DB-2B0D-E041B1D4143D}"/>
                </a:ext>
              </a:extLst>
            </p:cNvPr>
            <p:cNvSpPr txBox="1"/>
            <p:nvPr/>
          </p:nvSpPr>
          <p:spPr>
            <a:xfrm>
              <a:off x="2792488" y="3288197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Diffusion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EFEEA19-3E4A-5432-85F1-84C82AC62A8B}"/>
                </a:ext>
              </a:extLst>
            </p:cNvPr>
            <p:cNvSpPr txBox="1"/>
            <p:nvPr/>
          </p:nvSpPr>
          <p:spPr>
            <a:xfrm>
              <a:off x="1352933" y="3298194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Convection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10A54E0-5241-8461-3BAE-45E25250626C}"/>
              </a:ext>
            </a:extLst>
          </p:cNvPr>
          <p:cNvSpPr txBox="1"/>
          <p:nvPr/>
        </p:nvSpPr>
        <p:spPr>
          <a:xfrm>
            <a:off x="6292521" y="4418449"/>
            <a:ext cx="54825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    Heat conductivity</a:t>
            </a:r>
          </a:p>
          <a:p>
            <a:r>
              <a:rPr lang="en-GB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   Distance - moving heat source and pt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interest</a:t>
            </a:r>
          </a:p>
          <a:p>
            <a:r>
              <a:rPr lang="en-US" sz="2000" b="1" dirty="0"/>
              <a:t>c    Specific heat</a:t>
            </a:r>
            <a:endParaRPr lang="en-US" sz="2000" b="1" i="0" u="none" strike="noStrike" baseline="0" dirty="0">
              <a:solidFill>
                <a:srgbClr val="131413"/>
              </a:solidFill>
              <a:latin typeface="NywgqrAdvTT3713a231"/>
            </a:endParaRPr>
          </a:p>
          <a:p>
            <a:r>
              <a:rPr lang="en-US" sz="2000" b="1" i="0" u="none" strike="noStrike" baseline="0" dirty="0">
                <a:solidFill>
                  <a:srgbClr val="0000FF"/>
                </a:solidFill>
                <a:latin typeface="NywgqrAdvTT3713a231"/>
              </a:rPr>
              <a:t>v    Welding speed</a:t>
            </a:r>
          </a:p>
          <a:p>
            <a:r>
              <a:rPr lang="en-GB" sz="2000" b="1" dirty="0"/>
              <a:t>ξ    Moving coordinate parallel to the welding</a:t>
            </a:r>
            <a:endParaRPr lang="LID4096" sz="2000" b="1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27AA450-EBB1-0E43-D94C-41FBC8B539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562" y="5967073"/>
            <a:ext cx="2400300" cy="7715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8D96BD0-77D9-B321-9870-DD6DB5FD7C00}"/>
              </a:ext>
            </a:extLst>
          </p:cNvPr>
          <p:cNvSpPr/>
          <p:nvPr/>
        </p:nvSpPr>
        <p:spPr>
          <a:xfrm>
            <a:off x="784339" y="201481"/>
            <a:ext cx="5508182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GB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 welding –  </a:t>
            </a:r>
            <a:r>
              <a:rPr lang="en-GB" sz="32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  <a:latin typeface="Horley Old Style MT"/>
              </a:rPr>
              <a:t> analytical solution</a:t>
            </a: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  <a:latin typeface="Horley Old Style MT"/>
              </a:rPr>
              <a:t>.</a:t>
            </a:r>
            <a:r>
              <a:rPr lang="en-GB" sz="32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  <a:latin typeface="Horley Old Style MT"/>
              </a:rPr>
              <a:t>  </a:t>
            </a:r>
            <a:endParaRPr lang="LID4096" sz="2400" b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00"/>
              </a:highlight>
              <a:latin typeface="Horley Old Style MT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3D436DD5-2366-DE73-7DE7-B4FDAECD5428}"/>
              </a:ext>
            </a:extLst>
          </p:cNvPr>
          <p:cNvSpPr/>
          <p:nvPr/>
        </p:nvSpPr>
        <p:spPr>
          <a:xfrm rot="18866954" flipV="1">
            <a:off x="3661686" y="5601391"/>
            <a:ext cx="312186" cy="426906"/>
          </a:xfrm>
          <a:prstGeom prst="downArrow">
            <a:avLst/>
          </a:prstGeom>
          <a:solidFill>
            <a:srgbClr val="0000FF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62881-7FEA-40EF-4D68-6B7D66F95C04}"/>
              </a:ext>
            </a:extLst>
          </p:cNvPr>
          <p:cNvSpPr txBox="1"/>
          <p:nvPr/>
        </p:nvSpPr>
        <p:spPr>
          <a:xfrm>
            <a:off x="6078582" y="6274457"/>
            <a:ext cx="6117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400" b="1" i="0" u="none" strike="noStrike" baseline="0">
                <a:solidFill>
                  <a:schemeClr val="accent2"/>
                </a:solidFill>
                <a:latin typeface="AdvOTa2fa4214.B"/>
              </a:defRPr>
            </a:lvl1pPr>
          </a:lstStyle>
          <a:p>
            <a:pPr algn="r"/>
            <a:r>
              <a:rPr lang="LID4096" sz="1600" dirty="0"/>
              <a:t>An analytical solution for temperature distribution in fillet arc welding based on an adaptive function </a:t>
            </a:r>
            <a:r>
              <a:rPr lang="LID4096" sz="1600" u="sng" dirty="0"/>
              <a:t>Bagher &amp; Norbert Enzinger</a:t>
            </a:r>
          </a:p>
        </p:txBody>
      </p:sp>
      <p:pic>
        <p:nvPicPr>
          <p:cNvPr id="1026" name="Picture 2" descr="Excel - GET – Engenharia de Produção">
            <a:extLst>
              <a:ext uri="{FF2B5EF4-FFF2-40B4-BE49-F238E27FC236}">
                <a16:creationId xmlns:a16="http://schemas.microsoft.com/office/drawing/2014/main" id="{363B5D60-D89D-9982-4ED5-65BEEF31E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344" y="5967073"/>
            <a:ext cx="1308954" cy="7345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E25E82-46D3-D672-1627-3689257B9AC4}"/>
              </a:ext>
            </a:extLst>
          </p:cNvPr>
          <p:cNvSpPr/>
          <p:nvPr/>
        </p:nvSpPr>
        <p:spPr>
          <a:xfrm>
            <a:off x="43544" y="-21164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58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9BBA-DD77-1E52-FBB7-D61941D6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68CEFAF-0C2B-6506-BC6C-CF0D0E471333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4D445-F5BB-D09D-A239-D5CD9383B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94" y="3846680"/>
            <a:ext cx="4941256" cy="29009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9D3651-4C86-DC7F-D8FA-3E4956568DDA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 -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1AABF47-842A-954E-6FAF-D0D832F51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2" t="2493" r="2462" b="7363"/>
          <a:stretch>
            <a:fillRect/>
          </a:stretch>
        </p:blipFill>
        <p:spPr>
          <a:xfrm>
            <a:off x="264798" y="697078"/>
            <a:ext cx="7661670" cy="43342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16D5B8-4C72-758D-883A-7F4B221F9B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592" t="9679" b="40870"/>
          <a:stretch>
            <a:fillRect/>
          </a:stretch>
        </p:blipFill>
        <p:spPr>
          <a:xfrm>
            <a:off x="8029305" y="697078"/>
            <a:ext cx="3915315" cy="17430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CD3B99-9019-1FF2-15D2-F9BEA0B6BF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39" t="3661" r="3662" b="74669"/>
          <a:stretch>
            <a:fillRect/>
          </a:stretch>
        </p:blipFill>
        <p:spPr>
          <a:xfrm>
            <a:off x="10117602" y="3935930"/>
            <a:ext cx="1820792" cy="123888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4B4011-DB36-3320-7851-E4E0A12D6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305" y="2507162"/>
            <a:ext cx="2225945" cy="12706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C1781B-E4FF-3C69-CF52-DEE891F79F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4" t="2494" r="69754" b="74167"/>
          <a:stretch>
            <a:fillRect/>
          </a:stretch>
        </p:blipFill>
        <p:spPr>
          <a:xfrm>
            <a:off x="249883" y="5102182"/>
            <a:ext cx="3365894" cy="164546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F93B32D-0090-DE0D-9E76-FCB6FA3DB95D}"/>
              </a:ext>
            </a:extLst>
          </p:cNvPr>
          <p:cNvSpPr/>
          <p:nvPr/>
        </p:nvSpPr>
        <p:spPr>
          <a:xfrm>
            <a:off x="784339" y="201481"/>
            <a:ext cx="5018605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GB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 welding - </a:t>
            </a:r>
            <a:r>
              <a:rPr lang="en-GB" sz="32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analytical solution</a:t>
            </a:r>
            <a:endParaRPr lang="LID4096" sz="2400" b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32BEE6-3F62-796F-6587-F305A89F64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22" t="11952" r="3891" b="9751"/>
          <a:stretch>
            <a:fillRect/>
          </a:stretch>
        </p:blipFill>
        <p:spPr>
          <a:xfrm>
            <a:off x="3879501" y="5260781"/>
            <a:ext cx="3054033" cy="713299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CBBE9048-2207-D7A2-E34D-CD1860E9E343}"/>
              </a:ext>
            </a:extLst>
          </p:cNvPr>
          <p:cNvSpPr/>
          <p:nvPr/>
        </p:nvSpPr>
        <p:spPr>
          <a:xfrm rot="18866954" flipV="1">
            <a:off x="5754261" y="6139671"/>
            <a:ext cx="312186" cy="426906"/>
          </a:xfrm>
          <a:prstGeom prst="downArrow">
            <a:avLst/>
          </a:prstGeom>
          <a:solidFill>
            <a:srgbClr val="0000FF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36A0B8-6E90-3466-00EA-64BB7EEBE27C}"/>
              </a:ext>
            </a:extLst>
          </p:cNvPr>
          <p:cNvSpPr/>
          <p:nvPr/>
        </p:nvSpPr>
        <p:spPr>
          <a:xfrm>
            <a:off x="3650876" y="6243113"/>
            <a:ext cx="1095375" cy="318268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400" b="1" dirty="0">
                <a:latin typeface="Horley Old Style MT"/>
              </a:rPr>
              <a:t>Part 01</a:t>
            </a:r>
            <a:endParaRPr lang="LID4096" sz="2400" b="1" dirty="0">
              <a:latin typeface="Horley Old Style M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D0980C-988E-7936-5450-9AC89CDB9278}"/>
              </a:ext>
            </a:extLst>
          </p:cNvPr>
          <p:cNvSpPr/>
          <p:nvPr/>
        </p:nvSpPr>
        <p:spPr>
          <a:xfrm>
            <a:off x="43544" y="-21164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346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7E47-36F7-A14D-6D3D-105D701B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41018B7-70D0-A75A-CF22-A7EC1BF464C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809736-CF39-A5D8-B764-CA2C086D0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67" y="2038909"/>
            <a:ext cx="4033694" cy="1038484"/>
          </a:xfrm>
          <a:prstGeom prst="rect">
            <a:avLst/>
          </a:prstGeom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DA7D50B-C9B4-2452-B129-12632D37ECD8}"/>
              </a:ext>
            </a:extLst>
          </p:cNvPr>
          <p:cNvGrpSpPr>
            <a:grpSpLocks noChangeAspect="1"/>
          </p:cNvGrpSpPr>
          <p:nvPr/>
        </p:nvGrpSpPr>
        <p:grpSpPr>
          <a:xfrm>
            <a:off x="8192913" y="1763555"/>
            <a:ext cx="3279461" cy="1486255"/>
            <a:chOff x="8782077" y="4405112"/>
            <a:chExt cx="3020812" cy="1369035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5D8380C-F3FF-A0B3-4D46-48662A3B8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025" r="71901" b="49372"/>
            <a:stretch>
              <a:fillRect/>
            </a:stretch>
          </p:blipFill>
          <p:spPr>
            <a:xfrm>
              <a:off x="9836961" y="5118084"/>
              <a:ext cx="1965928" cy="65606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82DCF1E5-C5DA-46F3-BA72-AABE5CBEA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408" t="24331" b="13075"/>
            <a:stretch>
              <a:fillRect/>
            </a:stretch>
          </p:blipFill>
          <p:spPr>
            <a:xfrm>
              <a:off x="8782077" y="4405112"/>
              <a:ext cx="3020812" cy="65606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04BD2D46-8A5F-898A-1862-BF818BA33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465" y="345741"/>
            <a:ext cx="7105650" cy="42386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66A1B12-A203-0DC6-2A3E-3E3CB83FE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25" y="3220132"/>
            <a:ext cx="4314512" cy="98134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1F4DC11-8CBF-BADA-997B-252CF2FFC4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22" t="11952" r="3891" b="9751"/>
          <a:stretch>
            <a:fillRect/>
          </a:stretch>
        </p:blipFill>
        <p:spPr>
          <a:xfrm>
            <a:off x="507235" y="614258"/>
            <a:ext cx="3724926" cy="869993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4101EAB-05C3-0D3A-3E8C-874D69C869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26" y="4370375"/>
            <a:ext cx="4314512" cy="556417"/>
          </a:xfrm>
          <a:prstGeom prst="rect">
            <a:avLst/>
          </a:prstGeom>
          <a:ln w="19050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3B3247C-A186-71FB-2E21-FFB4C7F8625F}"/>
              </a:ext>
            </a:extLst>
          </p:cNvPr>
          <p:cNvSpPr/>
          <p:nvPr/>
        </p:nvSpPr>
        <p:spPr>
          <a:xfrm>
            <a:off x="3650876" y="6243113"/>
            <a:ext cx="1095375" cy="318268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2400" b="1" dirty="0">
                <a:latin typeface="Horley Old Style MT"/>
              </a:rPr>
              <a:t>Part 02</a:t>
            </a:r>
            <a:endParaRPr lang="LID4096" sz="2400" b="1" dirty="0">
              <a:latin typeface="Horley Old Style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D3408-F51D-70BF-D232-DF79ECF04F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053" b="71810"/>
          <a:stretch>
            <a:fillRect/>
          </a:stretch>
        </p:blipFill>
        <p:spPr>
          <a:xfrm>
            <a:off x="203642" y="5102182"/>
            <a:ext cx="3412135" cy="16326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EE29EFDE-2F13-B64F-18BF-359815E8FE2C}"/>
              </a:ext>
            </a:extLst>
          </p:cNvPr>
          <p:cNvSpPr/>
          <p:nvPr/>
        </p:nvSpPr>
        <p:spPr>
          <a:xfrm rot="18866954" flipV="1">
            <a:off x="2885934" y="1342167"/>
            <a:ext cx="312186" cy="426906"/>
          </a:xfrm>
          <a:prstGeom prst="downArrow">
            <a:avLst/>
          </a:prstGeom>
          <a:solidFill>
            <a:srgbClr val="0000FF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20581281-120F-F693-980F-DF586C6C96DD}"/>
              </a:ext>
            </a:extLst>
          </p:cNvPr>
          <p:cNvSpPr/>
          <p:nvPr/>
        </p:nvSpPr>
        <p:spPr>
          <a:xfrm rot="18866954" flipV="1">
            <a:off x="2269426" y="4031940"/>
            <a:ext cx="177754" cy="191373"/>
          </a:xfrm>
          <a:prstGeom prst="downArrow">
            <a:avLst/>
          </a:prstGeom>
          <a:solidFill>
            <a:srgbClr val="0000FF"/>
          </a:solidFill>
          <a:ln w="127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7C0B4A-B477-129E-051E-7AF8DE64FFFC}"/>
              </a:ext>
            </a:extLst>
          </p:cNvPr>
          <p:cNvGrpSpPr>
            <a:grpSpLocks noChangeAspect="1"/>
          </p:cNvGrpSpPr>
          <p:nvPr/>
        </p:nvGrpSpPr>
        <p:grpSpPr>
          <a:xfrm>
            <a:off x="5218135" y="4677679"/>
            <a:ext cx="6802419" cy="2072388"/>
            <a:chOff x="6370926" y="5028883"/>
            <a:chExt cx="5649624" cy="1721184"/>
          </a:xfrm>
          <a:effectLst/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6695ADC-18CD-4C20-3A03-0C1D80224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5045" r="2663" b="10307"/>
            <a:stretch>
              <a:fillRect/>
            </a:stretch>
          </p:blipFill>
          <p:spPr>
            <a:xfrm>
              <a:off x="6370926" y="5028884"/>
              <a:ext cx="2595388" cy="172118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C716D59-AA1A-8777-8F03-711FBBA25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85597" y="5028883"/>
              <a:ext cx="2934953" cy="172118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8D5F67A-2646-69E2-2787-402F89BB1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69735" t="21527" r="3221" b="40870"/>
            <a:stretch>
              <a:fillRect/>
            </a:stretch>
          </p:blipFill>
          <p:spPr>
            <a:xfrm>
              <a:off x="10985542" y="5059383"/>
              <a:ext cx="1006363" cy="798774"/>
            </a:xfrm>
            <a:prstGeom prst="rect">
              <a:avLst/>
            </a:prstGeom>
            <a:ln>
              <a:noFill/>
            </a:ln>
            <a:effectLst/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74E6F56-9AC3-F4AB-F231-891BD530F74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7639" t="3661" r="3662" b="74669"/>
          <a:stretch>
            <a:fillRect/>
          </a:stretch>
        </p:blipFill>
        <p:spPr>
          <a:xfrm>
            <a:off x="7117237" y="4715386"/>
            <a:ext cx="1179373" cy="802459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15B385FE-7139-45E5-3EC8-81E4510607AB}"/>
              </a:ext>
            </a:extLst>
          </p:cNvPr>
          <p:cNvSpPr/>
          <p:nvPr/>
        </p:nvSpPr>
        <p:spPr>
          <a:xfrm rot="18866954" flipV="1">
            <a:off x="1584057" y="4031704"/>
            <a:ext cx="177754" cy="191373"/>
          </a:xfrm>
          <a:prstGeom prst="downArrow">
            <a:avLst/>
          </a:prstGeom>
          <a:solidFill>
            <a:srgbClr val="0000FF"/>
          </a:solidFill>
          <a:ln w="127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AA2C53FD-BC72-9C09-413B-4BB95C73E50E}"/>
              </a:ext>
            </a:extLst>
          </p:cNvPr>
          <p:cNvSpPr/>
          <p:nvPr/>
        </p:nvSpPr>
        <p:spPr>
          <a:xfrm rot="18866954" flipV="1">
            <a:off x="2954797" y="4031703"/>
            <a:ext cx="177754" cy="191373"/>
          </a:xfrm>
          <a:prstGeom prst="downArrow">
            <a:avLst/>
          </a:prstGeom>
          <a:solidFill>
            <a:srgbClr val="0000FF"/>
          </a:solidFill>
          <a:ln w="127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DCA200-0A44-EF4D-AE38-9B8E7C9478EB}"/>
              </a:ext>
            </a:extLst>
          </p:cNvPr>
          <p:cNvSpPr/>
          <p:nvPr/>
        </p:nvSpPr>
        <p:spPr>
          <a:xfrm>
            <a:off x="43544" y="-21164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807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51E93-D7AA-3DC0-B98C-6CE8ACD8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A59159-463A-4515-3BBE-CC0F1379AAB3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89BD5-7F8D-3E07-9C24-2FB7427632BD}"/>
              </a:ext>
            </a:extLst>
          </p:cNvPr>
          <p:cNvSpPr txBox="1"/>
          <p:nvPr/>
        </p:nvSpPr>
        <p:spPr>
          <a:xfrm>
            <a:off x="254049" y="1965842"/>
            <a:ext cx="56649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LID4096" sz="2000" b="1" dirty="0"/>
              <a:t>insight into the solute transport process</a:t>
            </a:r>
            <a:r>
              <a:rPr lang="pt-BR" sz="2000" b="1" dirty="0"/>
              <a:t>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high-fidelity physics-based numerical modelling;</a:t>
            </a:r>
            <a:endParaRPr lang="LID4096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/>
              <a:t>effect of melt convection and solute partition.</a:t>
            </a:r>
            <a:endParaRPr lang="LID4096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95958-1321-34DA-5B5D-A7B298E0B9D9}"/>
              </a:ext>
            </a:extLst>
          </p:cNvPr>
          <p:cNvSpPr txBox="1"/>
          <p:nvPr/>
        </p:nvSpPr>
        <p:spPr>
          <a:xfrm>
            <a:off x="2695714" y="5239373"/>
            <a:ext cx="31546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000" b="1" dirty="0">
                <a:solidFill>
                  <a:srgbClr val="0000FF"/>
                </a:solidFill>
              </a:rPr>
              <a:t>Temperature,</a:t>
            </a:r>
            <a:r>
              <a:rPr lang="pt-BR" sz="2000" b="1" dirty="0">
                <a:solidFill>
                  <a:srgbClr val="0000FF"/>
                </a:solidFill>
              </a:rPr>
              <a:t> </a:t>
            </a:r>
            <a:r>
              <a:rPr lang="LID4096" sz="2000" b="1" dirty="0">
                <a:solidFill>
                  <a:srgbClr val="0000FF"/>
                </a:solidFill>
              </a:rPr>
              <a:t>flow velocity, solute concentration, and microstructure </a:t>
            </a:r>
            <a:endParaRPr lang="pt-BR" sz="2000" b="1" dirty="0">
              <a:solidFill>
                <a:srgbClr val="FF0000"/>
              </a:solidFill>
            </a:endParaRPr>
          </a:p>
          <a:p>
            <a:r>
              <a:rPr lang="pt-BR" sz="2000" b="1" dirty="0">
                <a:solidFill>
                  <a:srgbClr val="FF0000"/>
                </a:solidFill>
              </a:rPr>
              <a:t>... d</a:t>
            </a:r>
            <a:r>
              <a:rPr lang="LID4096" sz="2000" b="1" dirty="0">
                <a:solidFill>
                  <a:srgbClr val="FF0000"/>
                </a:solidFill>
              </a:rPr>
              <a:t>irectly coupled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00EEF1-2CBF-2E01-3442-D944A50E0CBA}"/>
              </a:ext>
            </a:extLst>
          </p:cNvPr>
          <p:cNvGrpSpPr/>
          <p:nvPr/>
        </p:nvGrpSpPr>
        <p:grpSpPr>
          <a:xfrm>
            <a:off x="2229808" y="343023"/>
            <a:ext cx="4295542" cy="1360750"/>
            <a:chOff x="326574" y="239486"/>
            <a:chExt cx="4295542" cy="13607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865A81-25FD-EFFC-EE19-89AA21692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574" y="239486"/>
              <a:ext cx="4295542" cy="136075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A1F596-C0A1-D18B-4C5E-F58FDD4668E1}"/>
                </a:ext>
              </a:extLst>
            </p:cNvPr>
            <p:cNvSpPr txBox="1"/>
            <p:nvPr/>
          </p:nvSpPr>
          <p:spPr>
            <a:xfrm>
              <a:off x="1916158" y="270558"/>
              <a:ext cx="22424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LID4096"/>
              </a:defPPr>
              <a:lvl1pPr algn="ctr">
                <a:defRPr sz="2000">
                  <a:solidFill>
                    <a:srgbClr val="0000FF"/>
                  </a:solidFill>
                </a:defRPr>
              </a:lvl1pPr>
            </a:lstStyle>
            <a:p>
              <a:r>
                <a:rPr lang="en-GB" sz="2800" b="1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Micro-scale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F613F02-D1CC-C2FD-E558-4F90E83774E5}"/>
              </a:ext>
            </a:extLst>
          </p:cNvPr>
          <p:cNvSpPr txBox="1"/>
          <p:nvPr/>
        </p:nvSpPr>
        <p:spPr>
          <a:xfrm>
            <a:off x="10118272" y="5085050"/>
            <a:ext cx="1502231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LID4096" sz="1700" b="1" dirty="0"/>
              <a:t>210 ×</a:t>
            </a:r>
            <a:r>
              <a:rPr lang="pt-BR" sz="1700" b="1" dirty="0"/>
              <a:t> </a:t>
            </a:r>
            <a:r>
              <a:rPr lang="LID4096" sz="1700" b="1" dirty="0"/>
              <a:t>400 µm computational domain</a:t>
            </a:r>
            <a:r>
              <a:rPr lang="pt-BR" sz="1700" b="1" dirty="0"/>
              <a:t> (2D)</a:t>
            </a:r>
          </a:p>
          <a:p>
            <a:pPr algn="r"/>
            <a:r>
              <a:rPr lang="en-GB" sz="1700" b="1" dirty="0">
                <a:latin typeface="AdvOTdd63dae3"/>
              </a:rPr>
              <a:t>1,341,561 </a:t>
            </a:r>
          </a:p>
          <a:p>
            <a:pPr algn="r"/>
            <a:r>
              <a:rPr lang="en-GB" sz="1700" b="1" dirty="0">
                <a:latin typeface="AdvOTdd63dae3"/>
              </a:rPr>
              <a:t>grid 0.25 </a:t>
            </a:r>
            <a:r>
              <a:rPr lang="en-GB" sz="1700" b="1" dirty="0">
                <a:latin typeface="AdvOTdd63dae3+03"/>
              </a:rPr>
              <a:t>μ</a:t>
            </a:r>
            <a:r>
              <a:rPr lang="en-GB" sz="1700" b="1" dirty="0">
                <a:latin typeface="AdvOTdd63dae3"/>
              </a:rPr>
              <a:t>m</a:t>
            </a:r>
            <a:endParaRPr lang="LID4096" sz="17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3FDDD3-7330-406D-9099-4460C47A9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7" b="60600"/>
          <a:stretch>
            <a:fillRect/>
          </a:stretch>
        </p:blipFill>
        <p:spPr>
          <a:xfrm>
            <a:off x="6705600" y="337154"/>
            <a:ext cx="4974773" cy="17958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511BDF1-0BF2-0125-5C1A-2CF5CA835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7" t="45003" b="4034"/>
          <a:stretch>
            <a:fillRect/>
          </a:stretch>
        </p:blipFill>
        <p:spPr>
          <a:xfrm>
            <a:off x="6204457" y="2314575"/>
            <a:ext cx="5475915" cy="25568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F5D7BA6-F9DA-5A65-FB31-92FFA294A66A}"/>
              </a:ext>
            </a:extLst>
          </p:cNvPr>
          <p:cNvSpPr txBox="1"/>
          <p:nvPr/>
        </p:nvSpPr>
        <p:spPr>
          <a:xfrm>
            <a:off x="10029832" y="316354"/>
            <a:ext cx="16219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Printed</a:t>
            </a:r>
            <a:endParaRPr lang="en-GB" sz="28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F1AEB8-61A7-BB22-36CA-C87A2B7D8FA8}"/>
              </a:ext>
            </a:extLst>
          </p:cNvPr>
          <p:cNvSpPr txBox="1"/>
          <p:nvPr/>
        </p:nvSpPr>
        <p:spPr>
          <a:xfrm rot="16200000">
            <a:off x="5134136" y="3325923"/>
            <a:ext cx="1495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  <a:endParaRPr lang="en-GB" sz="28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61D8B2-1561-C685-7297-740D867F16C1}"/>
              </a:ext>
            </a:extLst>
          </p:cNvPr>
          <p:cNvGrpSpPr>
            <a:grpSpLocks noChangeAspect="1"/>
          </p:cNvGrpSpPr>
          <p:nvPr/>
        </p:nvGrpSpPr>
        <p:grpSpPr>
          <a:xfrm>
            <a:off x="250059" y="3153724"/>
            <a:ext cx="5331535" cy="3216127"/>
            <a:chOff x="322216" y="3019052"/>
            <a:chExt cx="5519474" cy="3329497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E9D78FC-A9F0-161A-B5C7-ABA7352AF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748" t="9050" r="67184" b="66061"/>
            <a:stretch>
              <a:fillRect/>
            </a:stretch>
          </p:blipFill>
          <p:spPr>
            <a:xfrm>
              <a:off x="322216" y="3019053"/>
              <a:ext cx="2420984" cy="110714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094B13F-A5E0-E8CD-CE8D-3ACAA9BB0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946" t="48903" r="60805" b="2231"/>
            <a:stretch>
              <a:fillRect/>
            </a:stretch>
          </p:blipFill>
          <p:spPr>
            <a:xfrm>
              <a:off x="2910840" y="3019052"/>
              <a:ext cx="2930850" cy="207970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A2FEBC7-5E88-737D-62CE-961378375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7767" y="4268840"/>
              <a:ext cx="2402948" cy="207970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90BF4C24-79E7-B909-2D48-F842675B4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030" y="5077211"/>
            <a:ext cx="4349575" cy="13930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87012C3-282F-FEBE-C4B0-B50DEB4B2630}"/>
              </a:ext>
            </a:extLst>
          </p:cNvPr>
          <p:cNvSpPr txBox="1"/>
          <p:nvPr/>
        </p:nvSpPr>
        <p:spPr>
          <a:xfrm>
            <a:off x="8708" y="6551411"/>
            <a:ext cx="8403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u="none" strike="noStrike" baseline="0" dirty="0">
                <a:solidFill>
                  <a:schemeClr val="accent2"/>
                </a:solidFill>
                <a:latin typeface="AdvOTa2fa4214.B"/>
              </a:rPr>
              <a:t>Solute trapping and non-equilibrium microstructure </a:t>
            </a:r>
            <a:r>
              <a:rPr lang="en-GB" sz="1400" b="1" i="0" u="none" strike="noStrike" baseline="0" dirty="0">
                <a:solidFill>
                  <a:schemeClr val="accent2"/>
                </a:solidFill>
                <a:latin typeface="AdvOTa2fa4214.B"/>
              </a:rPr>
              <a:t>during rapid solidi</a:t>
            </a:r>
            <a:r>
              <a:rPr lang="en-GB" sz="1400" b="1" i="0" u="none" strike="noStrike" baseline="0" dirty="0">
                <a:solidFill>
                  <a:schemeClr val="accent2"/>
                </a:solidFill>
                <a:latin typeface="AdvOTa2fa4214.B+fb"/>
              </a:rPr>
              <a:t>fi</a:t>
            </a:r>
            <a:r>
              <a:rPr lang="en-GB" sz="1400" b="1" i="0" u="none" strike="noStrike" baseline="0" dirty="0">
                <a:solidFill>
                  <a:schemeClr val="accent2"/>
                </a:solidFill>
                <a:latin typeface="AdvOTa2fa4214.B"/>
              </a:rPr>
              <a:t>cation of additive </a:t>
            </a:r>
            <a:r>
              <a:rPr lang="en-US" sz="1400" b="1" i="0" u="none" strike="noStrike" baseline="0" dirty="0">
                <a:solidFill>
                  <a:schemeClr val="accent2"/>
                </a:solidFill>
                <a:latin typeface="AdvOTa2fa4214.B"/>
              </a:rPr>
              <a:t>manufacturing</a:t>
            </a:r>
            <a:endParaRPr lang="LID4096" sz="1400" b="1" dirty="0">
              <a:solidFill>
                <a:schemeClr val="accent2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8A28C-04CA-5432-7115-335E104ADF21}"/>
              </a:ext>
            </a:extLst>
          </p:cNvPr>
          <p:cNvSpPr/>
          <p:nvPr/>
        </p:nvSpPr>
        <p:spPr>
          <a:xfrm>
            <a:off x="357897" y="688420"/>
            <a:ext cx="1559713" cy="889008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Laser</a:t>
            </a:r>
          </a:p>
          <a:p>
            <a:pPr algn="ctr"/>
            <a:r>
              <a:rPr lang="LID4096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L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PBF)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C12347-0F5A-8559-3DCF-88CB0A23E200}"/>
              </a:ext>
            </a:extLst>
          </p:cNvPr>
          <p:cNvSpPr/>
          <p:nvPr/>
        </p:nvSpPr>
        <p:spPr>
          <a:xfrm>
            <a:off x="43544" y="-21164"/>
            <a:ext cx="4667794" cy="634862"/>
          </a:xfrm>
          <a:prstGeom prst="round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02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7736</TotalTime>
  <Words>2147</Words>
  <Application>Microsoft Office PowerPoint</Application>
  <PresentationFormat>Widescreen</PresentationFormat>
  <Paragraphs>458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8" baseType="lpstr">
      <vt:lpstr>AdvOT46dcae81</vt:lpstr>
      <vt:lpstr>AdvOTa2fa4214.B</vt:lpstr>
      <vt:lpstr>AdvOTa2fa4214.B+fb</vt:lpstr>
      <vt:lpstr>AdvOTdd63dae3</vt:lpstr>
      <vt:lpstr>AdvOTdd63dae3+03</vt:lpstr>
      <vt:lpstr>Arial</vt:lpstr>
      <vt:lpstr>Calibri</vt:lpstr>
      <vt:lpstr>Calibri (Body)</vt:lpstr>
      <vt:lpstr>Calibri Light</vt:lpstr>
      <vt:lpstr>Cambria Math</vt:lpstr>
      <vt:lpstr>Charis SIL</vt:lpstr>
      <vt:lpstr>Consolas</vt:lpstr>
      <vt:lpstr>Google Sans</vt:lpstr>
      <vt:lpstr>Horley Old Style MT</vt:lpstr>
      <vt:lpstr>LMRoman12-Regular</vt:lpstr>
      <vt:lpstr>NywgqrAdvTT3713a231</vt:lpstr>
      <vt:lpstr>Segoe UI</vt:lpstr>
      <vt:lpstr>Symbol</vt:lpstr>
      <vt:lpstr>Times New Roman</vt:lpstr>
      <vt:lpstr>Wingdings</vt:lpstr>
      <vt:lpstr>XvlwhpYpshnbMyriadPro-Cond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439</cp:revision>
  <dcterms:created xsi:type="dcterms:W3CDTF">2026-09-30T17:20:39Z</dcterms:created>
  <dcterms:modified xsi:type="dcterms:W3CDTF">2026-10-27T13:18:51Z</dcterms:modified>
</cp:coreProperties>
</file>