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89" r:id="rId5"/>
    <p:sldId id="295" r:id="rId6"/>
    <p:sldId id="300" r:id="rId7"/>
    <p:sldId id="299" r:id="rId8"/>
    <p:sldId id="301" r:id="rId9"/>
    <p:sldId id="302" r:id="rId10"/>
    <p:sldId id="288" r:id="rId11"/>
    <p:sldId id="293" r:id="rId12"/>
    <p:sldId id="298" r:id="rId13"/>
    <p:sldId id="272" r:id="rId14"/>
    <p:sldId id="297" r:id="rId15"/>
    <p:sldId id="276" r:id="rId16"/>
    <p:sldId id="284" r:id="rId17"/>
    <p:sldId id="285" r:id="rId18"/>
    <p:sldId id="287" r:id="rId19"/>
    <p:sldId id="294" r:id="rId20"/>
    <p:sldId id="273" r:id="rId21"/>
    <p:sldId id="270" r:id="rId22"/>
    <p:sldId id="282" r:id="rId23"/>
    <p:sldId id="281" r:id="rId24"/>
    <p:sldId id="266" r:id="rId25"/>
    <p:sldId id="290" r:id="rId26"/>
    <p:sldId id="265" r:id="rId27"/>
    <p:sldId id="257" r:id="rId28"/>
    <p:sldId id="277" r:id="rId29"/>
    <p:sldId id="278" r:id="rId30"/>
    <p:sldId id="260" r:id="rId31"/>
    <p:sldId id="296" r:id="rId32"/>
    <p:sldId id="268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FF"/>
    <a:srgbClr val="0000FF"/>
    <a:srgbClr val="F5EADF"/>
    <a:srgbClr val="EBD7C3"/>
    <a:srgbClr val="FFFFCC"/>
    <a:srgbClr val="FFEFFF"/>
    <a:srgbClr val="FFFBFF"/>
    <a:srgbClr val="DAE3F3"/>
    <a:srgbClr val="E5FFF6"/>
    <a:srgbClr val="BDFF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>
        <p:scale>
          <a:sx n="100" d="100"/>
          <a:sy n="100" d="100"/>
        </p:scale>
        <p:origin x="91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00.png"/><Relationship Id="rId26" Type="http://schemas.openxmlformats.org/officeDocument/2006/relationships/image" Target="../media/image8.png"/><Relationship Id="rId3" Type="http://schemas.openxmlformats.org/officeDocument/2006/relationships/image" Target="../media/image5.png"/><Relationship Id="rId21" Type="http://schemas.openxmlformats.org/officeDocument/2006/relationships/image" Target="../media/image53.png"/><Relationship Id="rId17" Type="http://schemas.openxmlformats.org/officeDocument/2006/relationships/image" Target="../media/image190.png"/><Relationship Id="rId25" Type="http://schemas.openxmlformats.org/officeDocument/2006/relationships/image" Target="../media/image62.png"/><Relationship Id="rId2" Type="http://schemas.openxmlformats.org/officeDocument/2006/relationships/image" Target="../media/image4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7.png"/><Relationship Id="rId28" Type="http://schemas.openxmlformats.org/officeDocument/2006/relationships/image" Target="../media/image10.png"/><Relationship Id="rId10" Type="http://schemas.openxmlformats.org/officeDocument/2006/relationships/image" Target="../media/image6.png"/><Relationship Id="rId19" Type="http://schemas.openxmlformats.org/officeDocument/2006/relationships/image" Target="../media/image210.png"/><Relationship Id="rId9" Type="http://schemas.openxmlformats.org/officeDocument/2006/relationships/image" Target="../media/image55.png"/><Relationship Id="rId22" Type="http://schemas.openxmlformats.org/officeDocument/2006/relationships/image" Target="../media/image110.png"/><Relationship Id="rId27" Type="http://schemas.openxmlformats.org/officeDocument/2006/relationships/image" Target="../media/image9.png"/><Relationship Id="rId30" Type="http://schemas.openxmlformats.org/officeDocument/2006/relationships/image" Target="../media/image9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3.png"/><Relationship Id="rId7" Type="http://schemas.openxmlformats.org/officeDocument/2006/relationships/hyperlink" Target="d.xls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8.gi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7" Type="http://schemas.openxmlformats.org/officeDocument/2006/relationships/image" Target="../media/image2000.png"/><Relationship Id="rId12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11" Type="http://schemas.openxmlformats.org/officeDocument/2006/relationships/image" Target="../media/image21.png"/><Relationship Id="rId5" Type="http://schemas.openxmlformats.org/officeDocument/2006/relationships/image" Target="../media/image130.png"/><Relationship Id="rId10" Type="http://schemas.openxmlformats.org/officeDocument/2006/relationships/image" Target="../media/image20.emf"/><Relationship Id="rId4" Type="http://schemas.openxmlformats.org/officeDocument/2006/relationships/image" Target="../media/image24.png"/><Relationship Id="rId9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0.png"/><Relationship Id="rId7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3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hyperlink" Target="../../09_CFD_ON/02_FiPy/01_mesh1D_Beta_Diffusion.ipynb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5.png"/><Relationship Id="rId2" Type="http://schemas.openxmlformats.org/officeDocument/2006/relationships/hyperlink" Target="../../09_CFD_ON/02_FiPy/02_diffusion.mesh20x20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ossiRM/CFD_ON/tree/main/04_OpenFoam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0.png"/><Relationship Id="rId3" Type="http://schemas.openxmlformats.org/officeDocument/2006/relationships/image" Target="../media/image42.png"/><Relationship Id="rId7" Type="http://schemas.openxmlformats.org/officeDocument/2006/relationships/image" Target="../media/image69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0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4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7" Type="http://schemas.openxmlformats.org/officeDocument/2006/relationships/image" Target="../media/image57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6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1.png"/><Relationship Id="rId7" Type="http://schemas.openxmlformats.org/officeDocument/2006/relationships/image" Target="../media/image3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12" Type="http://schemas.openxmlformats.org/officeDocument/2006/relationships/image" Target="../media/image6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4.jpeg"/><Relationship Id="rId5" Type="http://schemas.openxmlformats.org/officeDocument/2006/relationships/image" Target="../media/image69.png"/><Relationship Id="rId10" Type="http://schemas.openxmlformats.org/officeDocument/2006/relationships/image" Target="../media/image73.jpeg"/><Relationship Id="rId4" Type="http://schemas.openxmlformats.org/officeDocument/2006/relationships/image" Target="../media/image68.png"/><Relationship Id="rId9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6.png"/><Relationship Id="rId7" Type="http://schemas.openxmlformats.org/officeDocument/2006/relationships/image" Target="../media/image3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jpeg"/><Relationship Id="rId4" Type="http://schemas.openxmlformats.org/officeDocument/2006/relationships/image" Target="../media/image8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97.png"/><Relationship Id="rId25" Type="http://schemas.openxmlformats.org/officeDocument/2006/relationships/image" Target="../media/image721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24" Type="http://schemas.openxmlformats.org/officeDocument/2006/relationships/image" Target="../media/image62.png"/><Relationship Id="rId5" Type="http://schemas.openxmlformats.org/officeDocument/2006/relationships/image" Target="../media/image95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0.png"/><Relationship Id="rId5" Type="http://schemas.openxmlformats.org/officeDocument/2006/relationships/image" Target="../media/image690.png"/><Relationship Id="rId4" Type="http://schemas.openxmlformats.org/officeDocument/2006/relationships/image" Target="../media/image68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5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0.png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1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6.png"/><Relationship Id="rId5" Type="http://schemas.openxmlformats.org/officeDocument/2006/relationships/image" Target="../media/image113.png"/><Relationship Id="rId10" Type="http://schemas.openxmlformats.org/officeDocument/2006/relationships/image" Target="../media/image108.png"/><Relationship Id="rId4" Type="http://schemas.openxmlformats.org/officeDocument/2006/relationships/image" Target="../media/image112.png"/><Relationship Id="rId9" Type="http://schemas.openxmlformats.org/officeDocument/2006/relationships/image" Target="../media/image1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439641" y="212602"/>
            <a:ext cx="6448837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pt-BR" sz="4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problema;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dados;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fabricação.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6609804" y="6593148"/>
            <a:ext cx="55893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Aula 3 - ED_Deposicao_por_energia_direcionada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707411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813A21-F4D5-428F-4385-90FEBED3A7BA}"/>
              </a:ext>
            </a:extLst>
          </p:cNvPr>
          <p:cNvSpPr txBox="1"/>
          <p:nvPr/>
        </p:nvSpPr>
        <p:spPr>
          <a:xfrm>
            <a:off x="3074125" y="917645"/>
            <a:ext cx="31188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DED - 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4C46A5-2387-B86A-4A44-757F53436E0B}"/>
              </a:ext>
            </a:extLst>
          </p:cNvPr>
          <p:cNvSpPr txBox="1"/>
          <p:nvPr/>
        </p:nvSpPr>
        <p:spPr>
          <a:xfrm>
            <a:off x="3942737" y="1641679"/>
            <a:ext cx="31188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..da solda</a:t>
            </a:r>
            <a:endParaRPr lang="pt-BR" sz="24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-2583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841960" y="4453325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816179" y="1830654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798073" y="4058108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6003647" y="2264176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932367" y="2408066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892951" y="3289485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5F1084B-FC58-64A3-D366-B64BA7CE9F48}"/>
              </a:ext>
            </a:extLst>
          </p:cNvPr>
          <p:cNvSpPr txBox="1"/>
          <p:nvPr/>
        </p:nvSpPr>
        <p:spPr>
          <a:xfrm>
            <a:off x="6301988" y="5777245"/>
            <a:ext cx="2372661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defPPr>
              <a:defRPr lang="LID4096"/>
            </a:defPPr>
            <a:lvl1pPr lvl="0" indent="0"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pt-BR" dirty="0"/>
              <a:t>Carga (hidráulica)</a:t>
            </a: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3FD5CF55-4D23-969F-FDF5-E64563D73725}"/>
              </a:ext>
            </a:extLst>
          </p:cNvPr>
          <p:cNvSpPr txBox="1"/>
          <p:nvPr/>
        </p:nvSpPr>
        <p:spPr>
          <a:xfrm>
            <a:off x="6641726" y="3555156"/>
            <a:ext cx="2074932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pt-BR" sz="2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</a:t>
            </a:r>
            <a:endParaRPr lang="pt-BR" sz="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2"/>
            <a:ext cx="3163842" cy="143723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64279" y="36860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279" y="3686021"/>
                <a:ext cx="1289081" cy="582171"/>
              </a:xfrm>
              <a:prstGeom prst="rect">
                <a:avLst/>
              </a:prstGeom>
              <a:blipFill>
                <a:blip r:embed="rId3"/>
                <a:stretch>
                  <a:fillRect t="-35789" b="-34737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rgbClr val="FFFF00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558292" cy="731520"/>
              </a:xfrm>
              <a:prstGeom prst="rect">
                <a:avLst/>
              </a:prstGeom>
              <a:solidFill>
                <a:srgbClr val="FFFF00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20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20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20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20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2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20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20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20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20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2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20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20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20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20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20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20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2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0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20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20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20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558292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940519" y="5822324"/>
            <a:ext cx="1650878" cy="461665"/>
          </a:xfrm>
          <a:prstGeom prst="rect">
            <a:avLst/>
          </a:prstGeom>
          <a:solidFill>
            <a:srgbClr val="FFFF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4121776" y="4718002"/>
            <a:ext cx="1297253" cy="88616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4118264" y="4759945"/>
                <a:ext cx="743004" cy="7838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0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0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0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0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0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0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264" y="4759945"/>
                <a:ext cx="743004" cy="783869"/>
              </a:xfrm>
              <a:prstGeom prst="rect">
                <a:avLst/>
              </a:prstGeom>
              <a:blipFill>
                <a:blip r:embed="rId11"/>
                <a:stretch>
                  <a:fillRect r="-7024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91DBC90-5334-2E5C-115B-29F013B07E75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05" name="Grupo 10">
            <a:extLst>
              <a:ext uri="{FF2B5EF4-FFF2-40B4-BE49-F238E27FC236}">
                <a16:creationId xmlns:a16="http://schemas.microsoft.com/office/drawing/2014/main" id="{3DD2E4AE-1B16-A075-DF2D-8D2A29B80D7B}"/>
              </a:ext>
            </a:extLst>
          </p:cNvPr>
          <p:cNvGrpSpPr>
            <a:grpSpLocks noChangeAspect="1"/>
          </p:cNvGrpSpPr>
          <p:nvPr/>
        </p:nvGrpSpPr>
        <p:grpSpPr>
          <a:xfrm>
            <a:off x="5916557" y="568855"/>
            <a:ext cx="2034501" cy="1243506"/>
            <a:chOff x="7551799" y="3880749"/>
            <a:chExt cx="1792685" cy="1055366"/>
          </a:xfrm>
        </p:grpSpPr>
        <p:sp>
          <p:nvSpPr>
            <p:cNvPr id="106" name="Seta para a direita 12">
              <a:extLst>
                <a:ext uri="{FF2B5EF4-FFF2-40B4-BE49-F238E27FC236}">
                  <a16:creationId xmlns:a16="http://schemas.microsoft.com/office/drawing/2014/main" id="{7E82F3A3-8D7E-B508-D76D-C2189ABDF1C2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07" name="Grupo 13">
              <a:extLst>
                <a:ext uri="{FF2B5EF4-FFF2-40B4-BE49-F238E27FC236}">
                  <a16:creationId xmlns:a16="http://schemas.microsoft.com/office/drawing/2014/main" id="{E0C8D19E-DA8A-C0F7-0285-CF2B16EDDAE5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109" name="Seta para a direita 15">
                <a:extLst>
                  <a:ext uri="{FF2B5EF4-FFF2-40B4-BE49-F238E27FC236}">
                    <a16:creationId xmlns:a16="http://schemas.microsoft.com/office/drawing/2014/main" id="{DEA541A1-E3BF-824B-C208-125A597255F3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10" name="Grupo 16">
                <a:extLst>
                  <a:ext uri="{FF2B5EF4-FFF2-40B4-BE49-F238E27FC236}">
                    <a16:creationId xmlns:a16="http://schemas.microsoft.com/office/drawing/2014/main" id="{503D2665-72C5-5500-141F-4385446FDBA0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112" name="Grupo 18">
                  <a:extLst>
                    <a:ext uri="{FF2B5EF4-FFF2-40B4-BE49-F238E27FC236}">
                      <a16:creationId xmlns:a16="http://schemas.microsoft.com/office/drawing/2014/main" id="{E51BEB84-E48B-06A6-0495-5DF118B593F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116" name="Cubo 854">
                    <a:extLst>
                      <a:ext uri="{FF2B5EF4-FFF2-40B4-BE49-F238E27FC236}">
                        <a16:creationId xmlns:a16="http://schemas.microsoft.com/office/drawing/2014/main" id="{AAF86330-BF18-E421-4121-A0DBA6C50BF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7" name="Cubo 855">
                    <a:extLst>
                      <a:ext uri="{FF2B5EF4-FFF2-40B4-BE49-F238E27FC236}">
                        <a16:creationId xmlns:a16="http://schemas.microsoft.com/office/drawing/2014/main" id="{37D37679-A82B-9203-540A-595488AFA05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8" name="Cubo 856">
                    <a:extLst>
                      <a:ext uri="{FF2B5EF4-FFF2-40B4-BE49-F238E27FC236}">
                        <a16:creationId xmlns:a16="http://schemas.microsoft.com/office/drawing/2014/main" id="{7081C526-DB86-B762-6F34-EB69700DE98B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9" name="Cubo 857">
                    <a:extLst>
                      <a:ext uri="{FF2B5EF4-FFF2-40B4-BE49-F238E27FC236}">
                        <a16:creationId xmlns:a16="http://schemas.microsoft.com/office/drawing/2014/main" id="{A6806F81-C5DB-4B76-431F-DFD89DDB7DA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0" name="Cubo 858">
                    <a:extLst>
                      <a:ext uri="{FF2B5EF4-FFF2-40B4-BE49-F238E27FC236}">
                        <a16:creationId xmlns:a16="http://schemas.microsoft.com/office/drawing/2014/main" id="{9FE485CF-B23F-A9BE-1646-57B7CFC7735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1" name="Cubo 859">
                    <a:extLst>
                      <a:ext uri="{FF2B5EF4-FFF2-40B4-BE49-F238E27FC236}">
                        <a16:creationId xmlns:a16="http://schemas.microsoft.com/office/drawing/2014/main" id="{D7EC0AE3-309E-3607-180E-283730B4A6C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113" name="Seta para a direita 19">
                  <a:extLst>
                    <a:ext uri="{FF2B5EF4-FFF2-40B4-BE49-F238E27FC236}">
                      <a16:creationId xmlns:a16="http://schemas.microsoft.com/office/drawing/2014/main" id="{892332CE-F3FB-0453-C14C-E22BF5128D36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4" name="Cubo 852">
                  <a:extLst>
                    <a:ext uri="{FF2B5EF4-FFF2-40B4-BE49-F238E27FC236}">
                      <a16:creationId xmlns:a16="http://schemas.microsoft.com/office/drawing/2014/main" id="{4051E8B0-95D4-A0C2-6CE9-0BE4F8CE001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5" name="Seta para a direita 24">
                  <a:extLst>
                    <a:ext uri="{FF2B5EF4-FFF2-40B4-BE49-F238E27FC236}">
                      <a16:creationId xmlns:a16="http://schemas.microsoft.com/office/drawing/2014/main" id="{B8F46508-041C-4BA8-9178-5CBA3B130279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111" name="Seta para a direita 17">
                <a:extLst>
                  <a:ext uri="{FF2B5EF4-FFF2-40B4-BE49-F238E27FC236}">
                    <a16:creationId xmlns:a16="http://schemas.microsoft.com/office/drawing/2014/main" id="{5C1C4696-F299-9047-4FC6-C431E93C126F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08" name="Seta para a direita 14">
              <a:extLst>
                <a:ext uri="{FF2B5EF4-FFF2-40B4-BE49-F238E27FC236}">
                  <a16:creationId xmlns:a16="http://schemas.microsoft.com/office/drawing/2014/main" id="{5D47EDBE-78BC-BFC7-290F-5C7E6D4A271E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22" name="Agrupar 221">
            <a:extLst>
              <a:ext uri="{FF2B5EF4-FFF2-40B4-BE49-F238E27FC236}">
                <a16:creationId xmlns:a16="http://schemas.microsoft.com/office/drawing/2014/main" id="{798D4ED3-E339-5746-6398-48D42649F979}"/>
              </a:ext>
            </a:extLst>
          </p:cNvPr>
          <p:cNvGrpSpPr/>
          <p:nvPr/>
        </p:nvGrpSpPr>
        <p:grpSpPr>
          <a:xfrm>
            <a:off x="8303408" y="973098"/>
            <a:ext cx="3120386" cy="1197745"/>
            <a:chOff x="8805611" y="2854336"/>
            <a:chExt cx="2942277" cy="1017208"/>
          </a:xfrm>
        </p:grpSpPr>
        <p:cxnSp>
          <p:nvCxnSpPr>
            <p:cNvPr id="123" name="Conector de Seta Reta 98">
              <a:extLst>
                <a:ext uri="{FF2B5EF4-FFF2-40B4-BE49-F238E27FC236}">
                  <a16:creationId xmlns:a16="http://schemas.microsoft.com/office/drawing/2014/main" id="{9960C934-7385-0C67-E765-D42E7299A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Conector reto 191">
              <a:extLst>
                <a:ext uri="{FF2B5EF4-FFF2-40B4-BE49-F238E27FC236}">
                  <a16:creationId xmlns:a16="http://schemas.microsoft.com/office/drawing/2014/main" id="{7D011BA3-2965-B5A8-CDC2-18D648D14392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Conector reto 196">
              <a:extLst>
                <a:ext uri="{FF2B5EF4-FFF2-40B4-BE49-F238E27FC236}">
                  <a16:creationId xmlns:a16="http://schemas.microsoft.com/office/drawing/2014/main" id="{A93F4503-0BF0-4B26-5852-69ED53366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7" name="Agrupar 207">
              <a:extLst>
                <a:ext uri="{FF2B5EF4-FFF2-40B4-BE49-F238E27FC236}">
                  <a16:creationId xmlns:a16="http://schemas.microsoft.com/office/drawing/2014/main" id="{3C87EAD9-8601-3E65-362F-44CF4E9026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37" name="Agrupar 87">
                <a:extLst>
                  <a:ext uri="{FF2B5EF4-FFF2-40B4-BE49-F238E27FC236}">
                    <a16:creationId xmlns:a16="http://schemas.microsoft.com/office/drawing/2014/main" id="{0FC39CC3-E475-2663-D6B5-49DE0EBF20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41" name="Cubo 79">
                  <a:extLst>
                    <a:ext uri="{FF2B5EF4-FFF2-40B4-BE49-F238E27FC236}">
                      <a16:creationId xmlns:a16="http://schemas.microsoft.com/office/drawing/2014/main" id="{FCD22416-67E3-3C51-5136-5B3CC3073E22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2" name="Cubo 85">
                  <a:extLst>
                    <a:ext uri="{FF2B5EF4-FFF2-40B4-BE49-F238E27FC236}">
                      <a16:creationId xmlns:a16="http://schemas.microsoft.com/office/drawing/2014/main" id="{B5CEE7F3-7D89-9770-29FD-65E31F95B30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38" name="Agrupar 204">
                <a:extLst>
                  <a:ext uri="{FF2B5EF4-FFF2-40B4-BE49-F238E27FC236}">
                    <a16:creationId xmlns:a16="http://schemas.microsoft.com/office/drawing/2014/main" id="{AD109542-6D9C-4514-19F4-7A442301DBE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39" name="Cubo 205">
                  <a:extLst>
                    <a:ext uri="{FF2B5EF4-FFF2-40B4-BE49-F238E27FC236}">
                      <a16:creationId xmlns:a16="http://schemas.microsoft.com/office/drawing/2014/main" id="{9706DE44-5687-0FD6-2E9B-A593EE90DF63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0" name="Cubo 206">
                  <a:extLst>
                    <a:ext uri="{FF2B5EF4-FFF2-40B4-BE49-F238E27FC236}">
                      <a16:creationId xmlns:a16="http://schemas.microsoft.com/office/drawing/2014/main" id="{F39D64E7-4108-D4B0-8029-F6E231C5CDC8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28" name="Conector reto 210">
              <a:extLst>
                <a:ext uri="{FF2B5EF4-FFF2-40B4-BE49-F238E27FC236}">
                  <a16:creationId xmlns:a16="http://schemas.microsoft.com/office/drawing/2014/main" id="{62FFB071-EDD1-FEB2-93D6-CBD46638E2E5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Conector reto 211">
              <a:extLst>
                <a:ext uri="{FF2B5EF4-FFF2-40B4-BE49-F238E27FC236}">
                  <a16:creationId xmlns:a16="http://schemas.microsoft.com/office/drawing/2014/main" id="{01CE75FE-F54A-E18B-7B85-6D7934BCB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Conector reto 212">
              <a:extLst>
                <a:ext uri="{FF2B5EF4-FFF2-40B4-BE49-F238E27FC236}">
                  <a16:creationId xmlns:a16="http://schemas.microsoft.com/office/drawing/2014/main" id="{C3A26A0B-82B4-CAC7-F757-54982F8DC9B9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Conector reto 213">
              <a:extLst>
                <a:ext uri="{FF2B5EF4-FFF2-40B4-BE49-F238E27FC236}">
                  <a16:creationId xmlns:a16="http://schemas.microsoft.com/office/drawing/2014/main" id="{1865F7E6-9036-B28E-69F4-7B333C7A3846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Conector reto 214">
              <a:extLst>
                <a:ext uri="{FF2B5EF4-FFF2-40B4-BE49-F238E27FC236}">
                  <a16:creationId xmlns:a16="http://schemas.microsoft.com/office/drawing/2014/main" id="{746ECE35-2842-FD9F-E07F-088C025F52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to 215">
              <a:extLst>
                <a:ext uri="{FF2B5EF4-FFF2-40B4-BE49-F238E27FC236}">
                  <a16:creationId xmlns:a16="http://schemas.microsoft.com/office/drawing/2014/main" id="{97ECE51C-378F-CD8E-80DA-6A0B31A2A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to 216">
              <a:extLst>
                <a:ext uri="{FF2B5EF4-FFF2-40B4-BE49-F238E27FC236}">
                  <a16:creationId xmlns:a16="http://schemas.microsoft.com/office/drawing/2014/main" id="{A2158EEA-2022-3743-3A7F-816BB514F5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to 217">
              <a:extLst>
                <a:ext uri="{FF2B5EF4-FFF2-40B4-BE49-F238E27FC236}">
                  <a16:creationId xmlns:a16="http://schemas.microsoft.com/office/drawing/2014/main" id="{E758FD02-097E-F804-4338-A77C736B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to 219">
              <a:extLst>
                <a:ext uri="{FF2B5EF4-FFF2-40B4-BE49-F238E27FC236}">
                  <a16:creationId xmlns:a16="http://schemas.microsoft.com/office/drawing/2014/main" id="{6E870AD9-60AD-4F53-B032-203D740F8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pic>
        <p:nvPicPr>
          <p:cNvPr id="143" name="Imagem 4">
            <a:extLst>
              <a:ext uri="{FF2B5EF4-FFF2-40B4-BE49-F238E27FC236}">
                <a16:creationId xmlns:a16="http://schemas.microsoft.com/office/drawing/2014/main" id="{5FDC551C-AA9F-98BF-6121-89EA29F2E043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840980" y="4819988"/>
            <a:ext cx="2009882" cy="152481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120F3C6-34A5-E2B7-44C1-0AA19D98BD5E}"/>
              </a:ext>
            </a:extLst>
          </p:cNvPr>
          <p:cNvGrpSpPr/>
          <p:nvPr/>
        </p:nvGrpSpPr>
        <p:grpSpPr>
          <a:xfrm>
            <a:off x="9450952" y="2256080"/>
            <a:ext cx="2424418" cy="2404173"/>
            <a:chOff x="5782638" y="3435325"/>
            <a:chExt cx="2424418" cy="2404173"/>
          </a:xfrm>
        </p:grpSpPr>
        <p:pic>
          <p:nvPicPr>
            <p:cNvPr id="145" name="Imagem 150">
              <a:extLst>
                <a:ext uri="{FF2B5EF4-FFF2-40B4-BE49-F238E27FC236}">
                  <a16:creationId xmlns:a16="http://schemas.microsoft.com/office/drawing/2014/main" id="{18C92F61-C007-F3D1-8CD4-577BB9D34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</p:spPr>
        </p:pic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1B22BEA-DA1C-410A-6021-0F73AF841CD9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147" name="Agrupar 164">
                <a:extLst>
                  <a:ext uri="{FF2B5EF4-FFF2-40B4-BE49-F238E27FC236}">
                    <a16:creationId xmlns:a16="http://schemas.microsoft.com/office/drawing/2014/main" id="{748FEC9C-59F0-E4D2-32E7-09C868BF6A46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152" name="Forma Livre: Forma 158">
                  <a:extLst>
                    <a:ext uri="{FF2B5EF4-FFF2-40B4-BE49-F238E27FC236}">
                      <a16:creationId xmlns:a16="http://schemas.microsoft.com/office/drawing/2014/main" id="{3477F66B-7F0A-99A0-BD76-E1A172BC561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3" name="Forma Livre: Forma 159">
                  <a:extLst>
                    <a:ext uri="{FF2B5EF4-FFF2-40B4-BE49-F238E27FC236}">
                      <a16:creationId xmlns:a16="http://schemas.microsoft.com/office/drawing/2014/main" id="{C3D644F2-06A9-3B7A-409E-EDE7117954E1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Forma Livre: Forma 160">
                  <a:extLst>
                    <a:ext uri="{FF2B5EF4-FFF2-40B4-BE49-F238E27FC236}">
                      <a16:creationId xmlns:a16="http://schemas.microsoft.com/office/drawing/2014/main" id="{11BACE2C-1532-83EC-B788-4E80BD59D914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5" name="Forma Livre: Forma 161">
                  <a:extLst>
                    <a:ext uri="{FF2B5EF4-FFF2-40B4-BE49-F238E27FC236}">
                      <a16:creationId xmlns:a16="http://schemas.microsoft.com/office/drawing/2014/main" id="{F750C8AD-B07C-D1EA-B2F7-856CC6DDB682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Forma Livre: Forma 162">
                  <a:extLst>
                    <a:ext uri="{FF2B5EF4-FFF2-40B4-BE49-F238E27FC236}">
                      <a16:creationId xmlns:a16="http://schemas.microsoft.com/office/drawing/2014/main" id="{F72C4048-FFB3-3DDF-7589-8AC6E21F1984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7" name="Forma Livre: Forma 163">
                  <a:extLst>
                    <a:ext uri="{FF2B5EF4-FFF2-40B4-BE49-F238E27FC236}">
                      <a16:creationId xmlns:a16="http://schemas.microsoft.com/office/drawing/2014/main" id="{78514355-1963-A9AC-96B4-044207506601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148" name="Conector de Seta Reta 166">
                <a:extLst>
                  <a:ext uri="{FF2B5EF4-FFF2-40B4-BE49-F238E27FC236}">
                    <a16:creationId xmlns:a16="http://schemas.microsoft.com/office/drawing/2014/main" id="{75F1CC01-F2F1-C71C-25B7-5964BCD00E89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de Seta Reta 167">
                <a:extLst>
                  <a:ext uri="{FF2B5EF4-FFF2-40B4-BE49-F238E27FC236}">
                    <a16:creationId xmlns:a16="http://schemas.microsoft.com/office/drawing/2014/main" id="{3DBF22AE-C462-9301-1FEF-C42CBA8A40CA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de Seta Reta 168">
                <a:extLst>
                  <a:ext uri="{FF2B5EF4-FFF2-40B4-BE49-F238E27FC236}">
                    <a16:creationId xmlns:a16="http://schemas.microsoft.com/office/drawing/2014/main" id="{F4E8655E-3973-ABED-5C93-D814CD3AED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de Seta Reta 170">
                <a:extLst>
                  <a:ext uri="{FF2B5EF4-FFF2-40B4-BE49-F238E27FC236}">
                    <a16:creationId xmlns:a16="http://schemas.microsoft.com/office/drawing/2014/main" id="{EF3B2D5C-6204-40C7-CF64-381408C25A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/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𝟐𝐃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/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1C30E08-71F9-1C57-B335-AE8609E2E5FA}"/>
                  </a:ext>
                </a:extLst>
              </p:cNvPr>
              <p:cNvSpPr txBox="1"/>
              <p:nvPr/>
            </p:nvSpPr>
            <p:spPr>
              <a:xfrm>
                <a:off x="10428021" y="752660"/>
                <a:ext cx="144488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𝐧𝐮𝐦</m:t>
                      </m:r>
                      <m:r>
                        <a:rPr lang="pt-BR" b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é</m:t>
                      </m:r>
                      <m:r>
                        <a:rPr lang="pt-BR" b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𝐫𝐢𝐜𝐨</m:t>
                      </m:r>
                    </m:oMath>
                  </m:oMathPara>
                </a14:m>
                <a:endParaRPr lang="pt-BR" b="1" dirty="0">
                  <a:solidFill>
                    <a:srgbClr val="0000FF"/>
                  </a:solidFill>
                </a:endParaRPr>
              </a:p>
              <a:p>
                <a:pPr lvl="0">
                  <a:defRPr/>
                </a:pPr>
                <a:r>
                  <a:rPr lang="en-GB" b="1" dirty="0">
                    <a:solidFill>
                      <a:srgbClr val="0000FF"/>
                    </a:solidFill>
                  </a:rPr>
                  <a:t>infinitesimal</a:t>
                </a: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1C30E08-71F9-1C57-B335-AE8609E2E5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8021" y="752660"/>
                <a:ext cx="1444885" cy="646331"/>
              </a:xfrm>
              <a:prstGeom prst="rect">
                <a:avLst/>
              </a:prstGeom>
              <a:blipFill>
                <a:blip r:embed="rId30"/>
                <a:stretch>
                  <a:fillRect l="-3797" b="-1415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B8066-97B5-71AA-F8AF-A16FEFF5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EBA8666F-DACB-D6A4-06A5-8BCF1C9830F4}"/>
              </a:ext>
            </a:extLst>
          </p:cNvPr>
          <p:cNvSpPr/>
          <p:nvPr/>
        </p:nvSpPr>
        <p:spPr>
          <a:xfrm>
            <a:off x="0" y="-6519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31C697-21E1-FF29-DF9F-874264E011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912" t="6836" r="2004" b="5816"/>
          <a:stretch>
            <a:fillRect/>
          </a:stretch>
        </p:blipFill>
        <p:spPr>
          <a:xfrm>
            <a:off x="380618" y="412178"/>
            <a:ext cx="4163828" cy="14570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7AA29-0BE6-0698-7458-D62C93D73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25" t="31619" r="67852" b="53270"/>
          <a:stretch>
            <a:fillRect/>
          </a:stretch>
        </p:blipFill>
        <p:spPr>
          <a:xfrm>
            <a:off x="4872879" y="412178"/>
            <a:ext cx="2774677" cy="20187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DC37B8-F704-E22C-1D8A-4A6F6FC561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1114"/>
          <a:stretch>
            <a:fillRect/>
          </a:stretch>
        </p:blipFill>
        <p:spPr>
          <a:xfrm>
            <a:off x="380616" y="2061959"/>
            <a:ext cx="4163829" cy="1877796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10ACC8-839E-77DE-8CFA-AE2B14F734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3597"/>
          <a:stretch>
            <a:fillRect/>
          </a:stretch>
        </p:blipFill>
        <p:spPr>
          <a:xfrm>
            <a:off x="380616" y="4052459"/>
            <a:ext cx="4163829" cy="224081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E33A8A-8920-DDA9-51C6-BE11A72B8C84}"/>
              </a:ext>
            </a:extLst>
          </p:cNvPr>
          <p:cNvGrpSpPr/>
          <p:nvPr/>
        </p:nvGrpSpPr>
        <p:grpSpPr>
          <a:xfrm>
            <a:off x="8232743" y="4022178"/>
            <a:ext cx="2940354" cy="1229902"/>
            <a:chOff x="7530419" y="250253"/>
            <a:chExt cx="4211061" cy="180497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733DF04-6607-2E39-403C-17A73F773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17432"/>
            <a:stretch>
              <a:fillRect/>
            </a:stretch>
          </p:blipFill>
          <p:spPr>
            <a:xfrm>
              <a:off x="7530420" y="250253"/>
              <a:ext cx="4211060" cy="18049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2800276-84F7-8F90-B60F-3B7D30A4B1CC}"/>
                </a:ext>
              </a:extLst>
            </p:cNvPr>
            <p:cNvSpPr/>
            <p:nvPr/>
          </p:nvSpPr>
          <p:spPr>
            <a:xfrm>
              <a:off x="7530419" y="258157"/>
              <a:ext cx="3381186" cy="4738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/>
              <p:nvPr/>
            </p:nvSpPr>
            <p:spPr>
              <a:xfrm>
                <a:off x="8743842" y="1915676"/>
                <a:ext cx="2429255" cy="760849"/>
              </a:xfrm>
              <a:prstGeom prst="rect">
                <a:avLst/>
              </a:prstGeom>
              <a:noFill/>
              <a:ln w="28575">
                <a:solidFill>
                  <a:srgbClr val="0000FF"/>
                </a:solidFill>
              </a:ln>
            </p:spPr>
            <p:txBody>
              <a:bodyPr wrap="none" lIns="91440" tIns="91440" rIns="91440" bIns="9144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</m:oMath>
                  </m:oMathPara>
                </a14:m>
                <a:endParaRPr lang="LID4096" sz="20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3842" y="1915676"/>
                <a:ext cx="2429255" cy="76084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00FF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B1A142C-7548-C361-5FA8-B486D74B34DE}"/>
              </a:ext>
            </a:extLst>
          </p:cNvPr>
          <p:cNvSpPr txBox="1"/>
          <p:nvPr/>
        </p:nvSpPr>
        <p:spPr>
          <a:xfrm>
            <a:off x="10593641" y="1417609"/>
            <a:ext cx="620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solidFill>
                  <a:srgbClr val="0000FF"/>
                </a:solidFill>
                <a:latin typeface="Horley Old Style MT"/>
              </a:rPr>
              <a:t>2D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28CBFD-D498-B2E3-6F8F-B3D52379E0D0}"/>
              </a:ext>
            </a:extLst>
          </p:cNvPr>
          <p:cNvSpPr txBox="1"/>
          <p:nvPr/>
        </p:nvSpPr>
        <p:spPr>
          <a:xfrm>
            <a:off x="5723314" y="5526747"/>
            <a:ext cx="5449783" cy="523220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sz="2800" b="1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99C002D-3ECF-D9D4-4CB7-9C3F6749A855}"/>
              </a:ext>
            </a:extLst>
          </p:cNvPr>
          <p:cNvSpPr txBox="1"/>
          <p:nvPr/>
        </p:nvSpPr>
        <p:spPr>
          <a:xfrm>
            <a:off x="692486" y="6522882"/>
            <a:ext cx="115027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600" dirty="0"/>
              <a:t>https://betami2022.wixsite.com/betami/home-2/t01-spatial-variances/02-inversion/</a:t>
            </a:r>
            <a:r>
              <a:rPr lang="LID4096" sz="1600" dirty="0">
                <a:solidFill>
                  <a:schemeClr val="tx1"/>
                </a:solidFill>
              </a:rPr>
              <a:t>03-iteractive-solution</a:t>
            </a:r>
          </a:p>
        </p:txBody>
      </p:sp>
      <p:pic>
        <p:nvPicPr>
          <p:cNvPr id="104" name="Picture 2" descr="Excel - GET – Engenharia de Produção">
            <a:hlinkClick r:id="rId7" action="ppaction://hlinkfile"/>
            <a:extLst>
              <a:ext uri="{FF2B5EF4-FFF2-40B4-BE49-F238E27FC236}">
                <a16:creationId xmlns:a16="http://schemas.microsoft.com/office/drawing/2014/main" id="{5486B8BA-5E94-5BC3-83AF-F8AB3466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528" y="6445625"/>
            <a:ext cx="670916" cy="37647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057FFD9D-0865-4400-2781-954BE27B58C3}"/>
              </a:ext>
            </a:extLst>
          </p:cNvPr>
          <p:cNvSpPr txBox="1"/>
          <p:nvPr/>
        </p:nvSpPr>
        <p:spPr>
          <a:xfrm>
            <a:off x="1071287" y="6505835"/>
            <a:ext cx="755633" cy="286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anchor="b" anchorCtr="0">
            <a:noAutofit/>
          </a:bodyPr>
          <a:lstStyle/>
          <a:p>
            <a:r>
              <a:rPr lang="LID4096" sz="400" dirty="0"/>
              <a:t>E:\15_REPOS\a___________________\10_AM_FEG\Plano_V02_iii_AM_FEG\d.xls</a:t>
            </a:r>
          </a:p>
        </p:txBody>
      </p:sp>
      <p:pic>
        <p:nvPicPr>
          <p:cNvPr id="161" name="Picture 160" descr="Slide #1 image">
            <a:extLst>
              <a:ext uri="{FF2B5EF4-FFF2-40B4-BE49-F238E27FC236}">
                <a16:creationId xmlns:a16="http://schemas.microsoft.com/office/drawing/2014/main" id="{299DED96-7F04-C42B-DF81-8E80096AD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5" t="39613" r="23086" b="48741"/>
          <a:stretch/>
        </p:blipFill>
        <p:spPr bwMode="auto">
          <a:xfrm>
            <a:off x="4872879" y="2660487"/>
            <a:ext cx="2774677" cy="262243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356D81-69A3-ADF4-C1CA-F3A9D349617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</p:spTree>
    <p:extLst>
      <p:ext uri="{BB962C8B-B14F-4D97-AF65-F5344CB8AC3E}">
        <p14:creationId xmlns:p14="http://schemas.microsoft.com/office/powerpoint/2010/main" val="1516928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55EA-1745-09A9-FA3D-87A712DA3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836A803B-CE04-0DD5-B7F4-77D26571280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78C234-4BC1-68CA-DD5A-BDA4901ABDEE}"/>
              </a:ext>
            </a:extLst>
          </p:cNvPr>
          <p:cNvSpPr txBox="1"/>
          <p:nvPr/>
        </p:nvSpPr>
        <p:spPr>
          <a:xfrm>
            <a:off x="6775269" y="520854"/>
            <a:ext cx="4787337" cy="832104"/>
          </a:xfrm>
          <a:prstGeom prst="rect">
            <a:avLst/>
          </a:prstGeom>
          <a:solidFill>
            <a:srgbClr val="FFFF00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pt-BR" b="1" dirty="0"/>
              <a:t>Otimização Topográfica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9BEB3F9-D10C-9F28-12BC-D6C6E6C5B728}"/>
              </a:ext>
            </a:extLst>
          </p:cNvPr>
          <p:cNvSpPr/>
          <p:nvPr/>
        </p:nvSpPr>
        <p:spPr>
          <a:xfrm>
            <a:off x="7793001" y="69728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 pausa ”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44B044A-A29E-F773-8238-AC0D48AFB345}"/>
              </a:ext>
            </a:extLst>
          </p:cNvPr>
          <p:cNvGrpSpPr>
            <a:grpSpLocks noChangeAspect="1"/>
          </p:cNvGrpSpPr>
          <p:nvPr/>
        </p:nvGrpSpPr>
        <p:grpSpPr>
          <a:xfrm>
            <a:off x="2127053" y="4594452"/>
            <a:ext cx="1773751" cy="1707354"/>
            <a:chOff x="461511" y="5030643"/>
            <a:chExt cx="1701974" cy="157673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AB06798-563F-AFA8-EFD3-C13A2AE65F35}"/>
                </a:ext>
              </a:extLst>
            </p:cNvPr>
            <p:cNvSpPr/>
            <p:nvPr/>
          </p:nvSpPr>
          <p:spPr>
            <a:xfrm>
              <a:off x="461511" y="5030643"/>
              <a:ext cx="1652959" cy="152466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A0AC97D-FCFB-806D-79F7-7599DE32BA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444" t="15866" r="32092" b="10122"/>
            <a:stretch>
              <a:fillRect/>
            </a:stretch>
          </p:blipFill>
          <p:spPr>
            <a:xfrm>
              <a:off x="519638" y="5117885"/>
              <a:ext cx="1643847" cy="1489496"/>
            </a:xfrm>
            <a:prstGeom prst="rect">
              <a:avLst/>
            </a:prstGeom>
          </p:spPr>
        </p:pic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F1B22B69-B0C5-657E-89B4-B60DCEE64EC6}"/>
              </a:ext>
            </a:extLst>
          </p:cNvPr>
          <p:cNvSpPr/>
          <p:nvPr/>
        </p:nvSpPr>
        <p:spPr>
          <a:xfrm>
            <a:off x="412305" y="4588388"/>
            <a:ext cx="1593222" cy="11665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69A2A8-C529-191D-FCDB-CB07004A1F4F}"/>
              </a:ext>
            </a:extLst>
          </p:cNvPr>
          <p:cNvSpPr txBox="1"/>
          <p:nvPr/>
        </p:nvSpPr>
        <p:spPr>
          <a:xfrm>
            <a:off x="272599" y="523299"/>
            <a:ext cx="5367946" cy="5846573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766FB4D-46E8-3FCD-CC6A-3316AD4F9821}"/>
              </a:ext>
            </a:extLst>
          </p:cNvPr>
          <p:cNvGrpSpPr>
            <a:grpSpLocks noChangeAspect="1"/>
          </p:cNvGrpSpPr>
          <p:nvPr/>
        </p:nvGrpSpPr>
        <p:grpSpPr>
          <a:xfrm>
            <a:off x="688622" y="1995080"/>
            <a:ext cx="2534869" cy="1563582"/>
            <a:chOff x="734330" y="2491541"/>
            <a:chExt cx="1585748" cy="97814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8594AE2-6F0E-C089-5C9C-C0F987C6E5AD}"/>
                </a:ext>
              </a:extLst>
            </p:cNvPr>
            <p:cNvSpPr txBox="1"/>
            <p:nvPr/>
          </p:nvSpPr>
          <p:spPr>
            <a:xfrm>
              <a:off x="734330" y="2525578"/>
              <a:ext cx="1286335" cy="9441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/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2AEB3D1C-3E6A-4084-FCBB-ED57A0F18077}"/>
                    </a:ext>
                  </a:extLst>
                </p:cNvPr>
                <p:cNvSpPr txBox="1"/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t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just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eqArr>
                              <m:eqArrPr>
                                <m:ctrlPr>
                                  <a:rPr lang="en-US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borderBox>
                                  <m:borderBoxPr>
                                    <m:ctrlP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∗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</m:t>
                                </m:r>
                              </m:e>
                            </m:eqAr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pt-BR" sz="2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∗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1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2400" b="1" i="1" spc="150" dirty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𝝓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sz="2400" b="1" i="1" dirty="0" smtClean="0">
                            <a:solidFill>
                              <a:srgbClr val="A7E8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</m:t>
                        </m:r>
                        <m:r>
                          <a:rPr kumimoji="0" lang="pt-BR" sz="24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borderBox>
                                  <m:borderBoxPr>
                                    <m:ctrlP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kumimoji="0" lang="en-GB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448708D-9BC7-B47C-2C2E-F888909D89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blipFill>
                  <a:blip r:embed="rId4"/>
                  <a:stretch>
                    <a:fillRect r="-69779" b="-24000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B5E2EF58-026B-3EAD-3360-84E5D7F0C58B}"/>
                  </a:ext>
                </a:extLst>
              </p:cNvPr>
              <p:cNvSpPr txBox="1"/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pt-BR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sSup>
                        <m:sSup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3000" b="1" i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LID4096" sz="3000" b="1" spc="1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B5E2EF58-026B-3EAD-3360-84E5D7F0C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AF14C076-611B-25CB-D628-6AD610F1227D}"/>
              </a:ext>
            </a:extLst>
          </p:cNvPr>
          <p:cNvSpPr txBox="1"/>
          <p:nvPr/>
        </p:nvSpPr>
        <p:spPr>
          <a:xfrm>
            <a:off x="9034334" y="1496248"/>
            <a:ext cx="2528273" cy="33843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91440" rIns="182880" bIns="18288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Sparce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LMRoman12-Regular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Derivative</a:t>
            </a: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1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Asymmetric</a:t>
            </a:r>
            <a:r>
              <a:rPr kumimoji="0" lang="en-US" sz="1600" b="0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0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r">
              <a:lnSpc>
                <a:spcPts val="3300"/>
              </a:lnSpc>
            </a:pPr>
            <a:r>
              <a:rPr lang="en-US" sz="2400" b="1" i="1" u="sng" dirty="0">
                <a:solidFill>
                  <a:srgbClr val="0000FF"/>
                </a:solidFill>
                <a:latin typeface="LMRoman12-Regular"/>
              </a:rPr>
              <a:t>COV</a:t>
            </a:r>
            <a:r>
              <a:rPr lang="en-US" sz="2400" b="1" i="1" dirty="0">
                <a:solidFill>
                  <a:srgbClr val="0000FF"/>
                </a:solidFill>
                <a:latin typeface="LMRoman12-Regular"/>
              </a:rPr>
              <a:t>ariance </a:t>
            </a:r>
            <a:r>
              <a:rPr lang="en-US" b="1" i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1600" b="1" i="1" dirty="0">
              <a:solidFill>
                <a:srgbClr val="00B050"/>
              </a:solidFill>
              <a:latin typeface="LMRoman12-Regular"/>
            </a:endParaRP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Coefficient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LID4096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Regressor</a:t>
            </a:r>
            <a:r>
              <a:rPr kumimoji="0" lang="en-US" sz="1600" b="1" i="1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Design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sz="20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atrix</a:t>
            </a:r>
          </a:p>
          <a:p>
            <a:pPr marL="0" marR="0" lvl="0" indent="0" algn="r" defTabSz="914400" rtl="0" eaLnBrk="1" fontAlgn="auto" latinLnBrk="0" hangingPunct="1">
              <a:lnSpc>
                <a:spcPts val="3300"/>
              </a:lnSpc>
              <a:buClrTx/>
              <a:buSzTx/>
              <a:buFontTx/>
              <a:buNone/>
              <a:tabLst/>
              <a:defRPr/>
            </a:pPr>
            <a:r>
              <a:rPr lang="en-US" sz="2400" b="1" i="1" dirty="0">
                <a:solidFill>
                  <a:prstClr val="black"/>
                </a:solidFill>
                <a:latin typeface="LMRoman12-Regular"/>
              </a:rPr>
              <a:t>Jacobian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sz="20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4654195-D8CE-CB93-317E-7C88516BC2A8}"/>
              </a:ext>
            </a:extLst>
          </p:cNvPr>
          <p:cNvGrpSpPr/>
          <p:nvPr/>
        </p:nvGrpSpPr>
        <p:grpSpPr>
          <a:xfrm>
            <a:off x="5974566" y="5370937"/>
            <a:ext cx="2798749" cy="1026562"/>
            <a:chOff x="6071082" y="3206304"/>
            <a:chExt cx="2798749" cy="102656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5F27371-91FA-92D9-3F11-A867712EC23F}"/>
                </a:ext>
              </a:extLst>
            </p:cNvPr>
            <p:cNvSpPr txBox="1"/>
            <p:nvPr/>
          </p:nvSpPr>
          <p:spPr>
            <a:xfrm>
              <a:off x="6071082" y="3801979"/>
              <a:ext cx="2097292" cy="43088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pt-BR" sz="28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cs typeface="Times New Roman" panose="02020603050405020304" pitchFamily="18" charset="0"/>
                </a:rPr>
                <a:t>Inversão</a:t>
              </a:r>
              <a:endParaRPr lang="pt-BR" sz="2800" b="1" noProof="0" dirty="0">
                <a:solidFill>
                  <a:srgbClr val="00B050"/>
                </a:solidFill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28145C4-1FA6-A896-99F1-C777CD10BC09}"/>
                </a:ext>
              </a:extLst>
            </p:cNvPr>
            <p:cNvGrpSpPr/>
            <p:nvPr/>
          </p:nvGrpSpPr>
          <p:grpSpPr>
            <a:xfrm>
              <a:off x="6319049" y="3206304"/>
              <a:ext cx="2550782" cy="710951"/>
              <a:chOff x="5631843" y="4665380"/>
              <a:chExt cx="2550782" cy="71095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Object 4">
                    <a:extLst>
                      <a:ext uri="{63B3BB69-23CF-44E3-9099-C40C66FF867C}">
                        <a14:compatExt spid="_x0000_s1028"/>
                      </a:ext>
                      <a:ext uri="{FF2B5EF4-FFF2-40B4-BE49-F238E27FC236}">
                        <a16:creationId xmlns:a16="http://schemas.microsoft.com/office/drawing/2014/main" id="{E0C3D684-59B8-05FC-8833-9C74B23C0461}"/>
                      </a:ext>
                    </a:extLst>
                  </p:cNvPr>
                  <p:cNvSpPr txBox="1"/>
                  <p:nvPr/>
                </p:nvSpPr>
                <p:spPr>
                  <a:xfrm>
                    <a:off x="5631843" y="4693010"/>
                    <a:ext cx="2550782" cy="683321"/>
                  </a:xfrm>
                  <a:prstGeom prst="rect">
                    <a:avLst/>
                  </a:prstGeom>
                </p:spPr>
                <p:txBody>
                  <a:bodyPr wrap="square">
                    <a:noAutofit/>
                  </a:bodyPr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pt-BR" sz="3600" b="1" i="0" ker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𝛟</m:t>
                          </m:r>
                          <m:r>
                            <a:rPr kumimoji="0" lang="pt-BR" sz="3600" b="1" i="0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pt-BR" sz="3600" b="1" i="0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        </m:t>
                          </m:r>
                          <m:r>
                            <a:rPr kumimoji="0" lang="pt-BR" sz="3600" b="1" i="0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𝐛</m:t>
                          </m:r>
                        </m:oMath>
                      </m:oMathPara>
                    </a14:m>
                    <a:endParaRPr lang="pt-BR" sz="36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bject 4">
                    <a:extLst>
                      <a:ext uri="{63B3BB69-23CF-44E3-9099-C40C66FF867C}">
                        <a14:compatExt xmlns:a14="http://schemas.microsoft.com/office/drawing/2010/main" spid="_x0000_s1028"/>
                      </a:ext>
                      <a:ext uri="{FF2B5EF4-FFF2-40B4-BE49-F238E27FC236}">
                        <a16:creationId xmlns:a16="http://schemas.microsoft.com/office/drawing/2014/main" id="{F698D269-5693-6DA9-5D90-BF5E5DCCA1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1843" y="4693010"/>
                    <a:ext cx="2550782" cy="68332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Object 4">
                    <a:extLst>
                      <a:ext uri="{63B3BB69-23CF-44E3-9099-C40C66FF867C}">
                        <a14:compatExt spid="_x0000_s1028"/>
                      </a:ext>
                      <a:ext uri="{FF2B5EF4-FFF2-40B4-BE49-F238E27FC236}">
                        <a16:creationId xmlns:a16="http://schemas.microsoft.com/office/drawing/2014/main" id="{9C09D6D4-544C-EE3C-CE17-D142E4A97CA4}"/>
                      </a:ext>
                    </a:extLst>
                  </p:cNvPr>
                  <p:cNvSpPr txBox="1"/>
                  <p:nvPr/>
                </p:nvSpPr>
                <p:spPr>
                  <a:xfrm>
                    <a:off x="6440425" y="4665380"/>
                    <a:ext cx="1251715" cy="683321"/>
                  </a:xfrm>
                  <a:prstGeom prst="rect">
                    <a:avLst/>
                  </a:prstGeom>
                </p:spPr>
                <p:txBody>
                  <a:bodyPr wrap="square">
                    <a:noAutofit/>
                  </a:bodyPr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pt-BR" sz="3600" b="1" i="1" smtClean="0">
                              <a:solidFill>
                                <a:srgbClr val="00B05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t-BR" sz="3600" b="1" i="1" smtClean="0">
                                  <a:solidFill>
                                    <a:srgbClr val="00B05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600" b="1" i="0" smtClean="0">
                                  <a:solidFill>
                                    <a:srgbClr val="00B05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pt-BR" sz="3600" b="1" i="0" smtClean="0">
                                  <a:solidFill>
                                    <a:srgbClr val="00B05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3600" b="1" i="0" smtClean="0">
                                  <a:solidFill>
                                    <a:srgbClr val="00B05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p>
                        </m:oMath>
                      </m:oMathPara>
                    </a14:m>
                    <a:endParaRPr lang="pt-BR" sz="36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Object 4">
                    <a:extLst>
                      <a:ext uri="{63B3BB69-23CF-44E3-9099-C40C66FF867C}">
                        <a14:compatExt xmlns:a14="http://schemas.microsoft.com/office/drawing/2010/main" spid="_x0000_s1028"/>
                      </a:ext>
                      <a:ext uri="{FF2B5EF4-FFF2-40B4-BE49-F238E27FC236}">
                        <a16:creationId xmlns:a16="http://schemas.microsoft.com/office/drawing/2014/main" id="{7D2385E6-611D-7193-4C27-C7750CFEA7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0425" y="4665380"/>
                    <a:ext cx="1251715" cy="6833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D54634FE-8F9B-F0F3-3379-3BA928F27DCD}"/>
              </a:ext>
            </a:extLst>
          </p:cNvPr>
          <p:cNvSpPr txBox="1"/>
          <p:nvPr/>
        </p:nvSpPr>
        <p:spPr>
          <a:xfrm>
            <a:off x="2910063" y="4046795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3" name="Arrow: Left-Right 62">
            <a:extLst>
              <a:ext uri="{FF2B5EF4-FFF2-40B4-BE49-F238E27FC236}">
                <a16:creationId xmlns:a16="http://schemas.microsoft.com/office/drawing/2014/main" id="{E5F9DCAA-5264-E931-D286-2A90CD0DA42B}"/>
              </a:ext>
            </a:extLst>
          </p:cNvPr>
          <p:cNvSpPr/>
          <p:nvPr/>
        </p:nvSpPr>
        <p:spPr>
          <a:xfrm>
            <a:off x="3709114" y="4132793"/>
            <a:ext cx="554126" cy="302015"/>
          </a:xfrm>
          <a:prstGeom prst="leftRightArrow">
            <a:avLst>
              <a:gd name="adj1" fmla="val 35808"/>
              <a:gd name="adj2" fmla="val 40539"/>
            </a:avLst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48D5BC-960B-9C5B-9894-37FB494938D1}"/>
              </a:ext>
            </a:extLst>
          </p:cNvPr>
          <p:cNvSpPr txBox="1"/>
          <p:nvPr/>
        </p:nvSpPr>
        <p:spPr>
          <a:xfrm>
            <a:off x="4318064" y="4065846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28246D-2438-7AF7-FF5C-9A2247A7E514}"/>
              </a:ext>
            </a:extLst>
          </p:cNvPr>
          <p:cNvSpPr txBox="1"/>
          <p:nvPr/>
        </p:nvSpPr>
        <p:spPr>
          <a:xfrm>
            <a:off x="704765" y="4038429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8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4B9887-6424-E443-B9F8-6D3EA04E1A59}"/>
              </a:ext>
            </a:extLst>
          </p:cNvPr>
          <p:cNvSpPr txBox="1"/>
          <p:nvPr/>
        </p:nvSpPr>
        <p:spPr>
          <a:xfrm>
            <a:off x="1631298" y="561320"/>
            <a:ext cx="4231304" cy="4001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000" dirty="0">
                <a:solidFill>
                  <a:srgbClr val="0000FF"/>
                </a:solidFill>
              </a:rPr>
              <a:t>convecção         difusão            fontes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3B01287-5056-74FA-9304-3B6B1C921D29}"/>
              </a:ext>
            </a:extLst>
          </p:cNvPr>
          <p:cNvGrpSpPr/>
          <p:nvPr/>
        </p:nvGrpSpPr>
        <p:grpSpPr>
          <a:xfrm>
            <a:off x="884278" y="1429543"/>
            <a:ext cx="4230930" cy="574017"/>
            <a:chOff x="1012027" y="1716685"/>
            <a:chExt cx="4100791" cy="713340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607A4D3-B1C8-1B64-994D-44E8B94E1D8B}"/>
                </a:ext>
              </a:extLst>
            </p:cNvPr>
            <p:cNvSpPr/>
            <p:nvPr/>
          </p:nvSpPr>
          <p:spPr>
            <a:xfrm>
              <a:off x="1077913" y="1844061"/>
              <a:ext cx="3433583" cy="571601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  <a:gd name="connsiteX0" fmla="*/ 0 w 3682503"/>
                <a:gd name="connsiteY0" fmla="*/ 0 h 683404"/>
                <a:gd name="connsiteX1" fmla="*/ 448221 w 3682503"/>
                <a:gd name="connsiteY1" fmla="*/ 235241 h 683404"/>
                <a:gd name="connsiteX2" fmla="*/ 1960838 w 3682503"/>
                <a:gd name="connsiteY2" fmla="*/ 281538 h 683404"/>
                <a:gd name="connsiteX3" fmla="*/ 3456111 w 3682503"/>
                <a:gd name="connsiteY3" fmla="*/ 337927 h 683404"/>
                <a:gd name="connsiteX4" fmla="*/ 3682503 w 3682503"/>
                <a:gd name="connsiteY4" fmla="*/ 683404 h 683404"/>
                <a:gd name="connsiteX0" fmla="*/ 0 w 3682636"/>
                <a:gd name="connsiteY0" fmla="*/ 0 h 683404"/>
                <a:gd name="connsiteX1" fmla="*/ 448221 w 3682636"/>
                <a:gd name="connsiteY1" fmla="*/ 235241 h 683404"/>
                <a:gd name="connsiteX2" fmla="*/ 1960838 w 3682636"/>
                <a:gd name="connsiteY2" fmla="*/ 281538 h 683404"/>
                <a:gd name="connsiteX3" fmla="*/ 3456111 w 3682636"/>
                <a:gd name="connsiteY3" fmla="*/ 337927 h 683404"/>
                <a:gd name="connsiteX4" fmla="*/ 3682503 w 3682636"/>
                <a:gd name="connsiteY4" fmla="*/ 683404 h 683404"/>
                <a:gd name="connsiteX0" fmla="*/ 0 w 3683158"/>
                <a:gd name="connsiteY0" fmla="*/ 0 h 683404"/>
                <a:gd name="connsiteX1" fmla="*/ 448221 w 3683158"/>
                <a:gd name="connsiteY1" fmla="*/ 235241 h 683404"/>
                <a:gd name="connsiteX2" fmla="*/ 1960838 w 3683158"/>
                <a:gd name="connsiteY2" fmla="*/ 281538 h 683404"/>
                <a:gd name="connsiteX3" fmla="*/ 3456111 w 3683158"/>
                <a:gd name="connsiteY3" fmla="*/ 337927 h 683404"/>
                <a:gd name="connsiteX4" fmla="*/ 3682503 w 3683158"/>
                <a:gd name="connsiteY4" fmla="*/ 683404 h 683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3158" h="683404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86111" y="511276"/>
                    <a:pt x="3682503" y="68340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9BDB397-05EC-32C9-FD48-C75B622BCA01}"/>
                </a:ext>
              </a:extLst>
            </p:cNvPr>
            <p:cNvSpPr/>
            <p:nvPr/>
          </p:nvSpPr>
          <p:spPr>
            <a:xfrm>
              <a:off x="2029901" y="1730942"/>
              <a:ext cx="1886919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  <a:gd name="connsiteX0" fmla="*/ 1520176 w 1524150"/>
                <a:gd name="connsiteY0" fmla="*/ 0 h 806770"/>
                <a:gd name="connsiteX1" fmla="*/ 1405090 w 1524150"/>
                <a:gd name="connsiteY1" fmla="*/ 286685 h 806770"/>
                <a:gd name="connsiteX2" fmla="*/ 828787 w 1524150"/>
                <a:gd name="connsiteY2" fmla="*/ 389465 h 806770"/>
                <a:gd name="connsiteX3" fmla="*/ 314804 w 1524150"/>
                <a:gd name="connsiteY3" fmla="*/ 468738 h 806770"/>
                <a:gd name="connsiteX4" fmla="*/ 9470 w 1524150"/>
                <a:gd name="connsiteY4" fmla="*/ 806770 h 806770"/>
                <a:gd name="connsiteX0" fmla="*/ 1519734 w 1523708"/>
                <a:gd name="connsiteY0" fmla="*/ 0 h 806770"/>
                <a:gd name="connsiteX1" fmla="*/ 1404648 w 1523708"/>
                <a:gd name="connsiteY1" fmla="*/ 286685 h 806770"/>
                <a:gd name="connsiteX2" fmla="*/ 828345 w 1523708"/>
                <a:gd name="connsiteY2" fmla="*/ 389465 h 806770"/>
                <a:gd name="connsiteX3" fmla="*/ 314362 w 1523708"/>
                <a:gd name="connsiteY3" fmla="*/ 468738 h 806770"/>
                <a:gd name="connsiteX4" fmla="*/ 9028 w 1523708"/>
                <a:gd name="connsiteY4" fmla="*/ 806770 h 806770"/>
                <a:gd name="connsiteX0" fmla="*/ 1517886 w 1521860"/>
                <a:gd name="connsiteY0" fmla="*/ 0 h 806770"/>
                <a:gd name="connsiteX1" fmla="*/ 1402800 w 1521860"/>
                <a:gd name="connsiteY1" fmla="*/ 286685 h 806770"/>
                <a:gd name="connsiteX2" fmla="*/ 826497 w 1521860"/>
                <a:gd name="connsiteY2" fmla="*/ 389465 h 806770"/>
                <a:gd name="connsiteX3" fmla="*/ 312514 w 1521860"/>
                <a:gd name="connsiteY3" fmla="*/ 468738 h 806770"/>
                <a:gd name="connsiteX4" fmla="*/ 7180 w 1521860"/>
                <a:gd name="connsiteY4" fmla="*/ 806770 h 806770"/>
                <a:gd name="connsiteX0" fmla="*/ 1518184 w 1522158"/>
                <a:gd name="connsiteY0" fmla="*/ 0 h 806770"/>
                <a:gd name="connsiteX1" fmla="*/ 1403098 w 1522158"/>
                <a:gd name="connsiteY1" fmla="*/ 286685 h 806770"/>
                <a:gd name="connsiteX2" fmla="*/ 826795 w 1522158"/>
                <a:gd name="connsiteY2" fmla="*/ 389465 h 806770"/>
                <a:gd name="connsiteX3" fmla="*/ 312812 w 1522158"/>
                <a:gd name="connsiteY3" fmla="*/ 468738 h 806770"/>
                <a:gd name="connsiteX4" fmla="*/ 7478 w 1522158"/>
                <a:gd name="connsiteY4" fmla="*/ 806770 h 806770"/>
                <a:gd name="connsiteX0" fmla="*/ 1518763 w 1522737"/>
                <a:gd name="connsiteY0" fmla="*/ 0 h 806770"/>
                <a:gd name="connsiteX1" fmla="*/ 1403677 w 1522737"/>
                <a:gd name="connsiteY1" fmla="*/ 286685 h 806770"/>
                <a:gd name="connsiteX2" fmla="*/ 827374 w 1522737"/>
                <a:gd name="connsiteY2" fmla="*/ 389465 h 806770"/>
                <a:gd name="connsiteX3" fmla="*/ 313391 w 1522737"/>
                <a:gd name="connsiteY3" fmla="*/ 468738 h 806770"/>
                <a:gd name="connsiteX4" fmla="*/ 8057 w 152273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2737" h="806770">
                  <a:moveTo>
                    <a:pt x="1518763" y="0"/>
                  </a:moveTo>
                  <a:cubicBezTo>
                    <a:pt x="1531463" y="8965"/>
                    <a:pt x="1518909" y="221774"/>
                    <a:pt x="1403677" y="286685"/>
                  </a:cubicBezTo>
                  <a:cubicBezTo>
                    <a:pt x="1288445" y="351596"/>
                    <a:pt x="1009088" y="359123"/>
                    <a:pt x="827374" y="389465"/>
                  </a:cubicBezTo>
                  <a:cubicBezTo>
                    <a:pt x="645660" y="419807"/>
                    <a:pt x="528796" y="432135"/>
                    <a:pt x="313391" y="468738"/>
                  </a:cubicBezTo>
                  <a:cubicBezTo>
                    <a:pt x="73972" y="541494"/>
                    <a:pt x="-31294" y="681072"/>
                    <a:pt x="8057" y="806770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A4184C5-77C1-E885-8907-C72EAF15B153}"/>
                </a:ext>
              </a:extLst>
            </p:cNvPr>
            <p:cNvSpPr/>
            <p:nvPr/>
          </p:nvSpPr>
          <p:spPr>
            <a:xfrm>
              <a:off x="4824975" y="1716685"/>
              <a:ext cx="287843" cy="703114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77602EE-8B1D-4315-08A2-F499BE75689A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8AB7F49-E46B-23A8-CDFF-14E499C746DD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9B16D4B-4A95-8C68-8FD1-5128DED98C25}"/>
                </a:ext>
              </a:extLst>
            </p:cNvPr>
            <p:cNvSpPr/>
            <p:nvPr/>
          </p:nvSpPr>
          <p:spPr>
            <a:xfrm>
              <a:off x="3965124" y="1719407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D5285A3-5B3C-4F02-5466-4703BFD0A94C}"/>
              </a:ext>
            </a:extLst>
          </p:cNvPr>
          <p:cNvSpPr txBox="1"/>
          <p:nvPr/>
        </p:nvSpPr>
        <p:spPr>
          <a:xfrm>
            <a:off x="5754827" y="4963674"/>
            <a:ext cx="3713685" cy="43088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Probabilidade condicional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7A88708-9B8B-14A1-06CF-8099FD1E7AFE}"/>
                  </a:ext>
                </a:extLst>
              </p:cNvPr>
              <p:cNvSpPr txBox="1"/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3200" b="1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𝛟</m:t>
                      </m:r>
                      <m:r>
                        <a:rPr lang="en-GB" sz="3200" b="1" i="0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𝐛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7A88708-9B8B-14A1-06CF-8099FD1E7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64427DB-5C30-445D-709C-44949C865EF5}"/>
                  </a:ext>
                </a:extLst>
              </p:cNvPr>
              <p:cNvSpPr txBox="1"/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</a:rPr>
                        <m:t>𝐀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77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64427DB-5C30-445D-709C-44949C865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32F1F8F7-BF46-61A4-5D20-4932F1213FB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6652" y="4589339"/>
            <a:ext cx="1562100" cy="11620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6F9484AC-4D68-999A-AF37-B2B018D28EEA}"/>
              </a:ext>
            </a:extLst>
          </p:cNvPr>
          <p:cNvSpPr txBox="1"/>
          <p:nvPr/>
        </p:nvSpPr>
        <p:spPr>
          <a:xfrm>
            <a:off x="350505" y="5785895"/>
            <a:ext cx="1661448" cy="4510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6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COV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6FBD6A-F629-F51A-ACD5-BFAE2B17ACB8}"/>
              </a:ext>
            </a:extLst>
          </p:cNvPr>
          <p:cNvSpPr txBox="1"/>
          <p:nvPr/>
        </p:nvSpPr>
        <p:spPr>
          <a:xfrm>
            <a:off x="4862482" y="5738200"/>
            <a:ext cx="859526" cy="3077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400" dirty="0"/>
              <a:t>Zoom +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3CFC86A7-4D48-C016-684E-1FE8FDD646E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" b="2030"/>
          <a:stretch>
            <a:fillRect/>
          </a:stretch>
        </p:blipFill>
        <p:spPr>
          <a:xfrm>
            <a:off x="437099" y="4595160"/>
            <a:ext cx="1557100" cy="1170801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A11FDD5F-75A0-95BC-403F-0A187904B20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85659" y="4594237"/>
            <a:ext cx="1763517" cy="1611370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9E0068CD-E834-AA6C-5C15-C7E8328E2797}"/>
              </a:ext>
            </a:extLst>
          </p:cNvPr>
          <p:cNvSpPr/>
          <p:nvPr/>
        </p:nvSpPr>
        <p:spPr>
          <a:xfrm rot="21346693">
            <a:off x="3176971" y="5104571"/>
            <a:ext cx="633716" cy="406242"/>
          </a:xfrm>
          <a:custGeom>
            <a:avLst/>
            <a:gdLst>
              <a:gd name="connsiteX0" fmla="*/ 738188 w 1190625"/>
              <a:gd name="connsiteY0" fmla="*/ 242887 h 759619"/>
              <a:gd name="connsiteX1" fmla="*/ 723900 w 1190625"/>
              <a:gd name="connsiteY1" fmla="*/ 0 h 759619"/>
              <a:gd name="connsiteX2" fmla="*/ 1190625 w 1190625"/>
              <a:gd name="connsiteY2" fmla="*/ 390525 h 759619"/>
              <a:gd name="connsiteX3" fmla="*/ 745331 w 1190625"/>
              <a:gd name="connsiteY3" fmla="*/ 759619 h 759619"/>
              <a:gd name="connsiteX4" fmla="*/ 742950 w 1190625"/>
              <a:gd name="connsiteY4" fmla="*/ 545306 h 759619"/>
              <a:gd name="connsiteX5" fmla="*/ 635794 w 1190625"/>
              <a:gd name="connsiteY5" fmla="*/ 507206 h 759619"/>
              <a:gd name="connsiteX6" fmla="*/ 614363 w 1190625"/>
              <a:gd name="connsiteY6" fmla="*/ 492919 h 759619"/>
              <a:gd name="connsiteX7" fmla="*/ 471488 w 1190625"/>
              <a:gd name="connsiteY7" fmla="*/ 502444 h 759619"/>
              <a:gd name="connsiteX8" fmla="*/ 304800 w 1190625"/>
              <a:gd name="connsiteY8" fmla="*/ 521494 h 759619"/>
              <a:gd name="connsiteX9" fmla="*/ 192881 w 1190625"/>
              <a:gd name="connsiteY9" fmla="*/ 566737 h 759619"/>
              <a:gd name="connsiteX10" fmla="*/ 83344 w 1190625"/>
              <a:gd name="connsiteY10" fmla="*/ 628650 h 759619"/>
              <a:gd name="connsiteX11" fmla="*/ 0 w 1190625"/>
              <a:gd name="connsiteY11" fmla="*/ 683419 h 759619"/>
              <a:gd name="connsiteX12" fmla="*/ 42863 w 1190625"/>
              <a:gd name="connsiteY12" fmla="*/ 592931 h 759619"/>
              <a:gd name="connsiteX13" fmla="*/ 104775 w 1190625"/>
              <a:gd name="connsiteY13" fmla="*/ 485775 h 759619"/>
              <a:gd name="connsiteX14" fmla="*/ 200025 w 1190625"/>
              <a:gd name="connsiteY14" fmla="*/ 388144 h 759619"/>
              <a:gd name="connsiteX15" fmla="*/ 280988 w 1190625"/>
              <a:gd name="connsiteY15" fmla="*/ 335756 h 759619"/>
              <a:gd name="connsiteX16" fmla="*/ 392906 w 1190625"/>
              <a:gd name="connsiteY16" fmla="*/ 285750 h 759619"/>
              <a:gd name="connsiteX17" fmla="*/ 531019 w 1190625"/>
              <a:gd name="connsiteY17" fmla="*/ 252412 h 759619"/>
              <a:gd name="connsiteX18" fmla="*/ 661988 w 1190625"/>
              <a:gd name="connsiteY18" fmla="*/ 247650 h 759619"/>
              <a:gd name="connsiteX19" fmla="*/ 738188 w 1190625"/>
              <a:gd name="connsiteY19" fmla="*/ 242887 h 759619"/>
              <a:gd name="connsiteX0" fmla="*/ 738188 w 1190625"/>
              <a:gd name="connsiteY0" fmla="*/ 92868 h 609600"/>
              <a:gd name="connsiteX1" fmla="*/ 797718 w 1190625"/>
              <a:gd name="connsiteY1" fmla="*/ 0 h 609600"/>
              <a:gd name="connsiteX2" fmla="*/ 1190625 w 1190625"/>
              <a:gd name="connsiteY2" fmla="*/ 240506 h 609600"/>
              <a:gd name="connsiteX3" fmla="*/ 745331 w 1190625"/>
              <a:gd name="connsiteY3" fmla="*/ 609600 h 609600"/>
              <a:gd name="connsiteX4" fmla="*/ 742950 w 1190625"/>
              <a:gd name="connsiteY4" fmla="*/ 395287 h 609600"/>
              <a:gd name="connsiteX5" fmla="*/ 635794 w 1190625"/>
              <a:gd name="connsiteY5" fmla="*/ 357187 h 609600"/>
              <a:gd name="connsiteX6" fmla="*/ 614363 w 1190625"/>
              <a:gd name="connsiteY6" fmla="*/ 342900 h 609600"/>
              <a:gd name="connsiteX7" fmla="*/ 471488 w 1190625"/>
              <a:gd name="connsiteY7" fmla="*/ 352425 h 609600"/>
              <a:gd name="connsiteX8" fmla="*/ 304800 w 1190625"/>
              <a:gd name="connsiteY8" fmla="*/ 371475 h 609600"/>
              <a:gd name="connsiteX9" fmla="*/ 192881 w 1190625"/>
              <a:gd name="connsiteY9" fmla="*/ 416718 h 609600"/>
              <a:gd name="connsiteX10" fmla="*/ 83344 w 1190625"/>
              <a:gd name="connsiteY10" fmla="*/ 478631 h 609600"/>
              <a:gd name="connsiteX11" fmla="*/ 0 w 1190625"/>
              <a:gd name="connsiteY11" fmla="*/ 533400 h 609600"/>
              <a:gd name="connsiteX12" fmla="*/ 42863 w 1190625"/>
              <a:gd name="connsiteY12" fmla="*/ 442912 h 609600"/>
              <a:gd name="connsiteX13" fmla="*/ 104775 w 1190625"/>
              <a:gd name="connsiteY13" fmla="*/ 335756 h 609600"/>
              <a:gd name="connsiteX14" fmla="*/ 200025 w 1190625"/>
              <a:gd name="connsiteY14" fmla="*/ 238125 h 609600"/>
              <a:gd name="connsiteX15" fmla="*/ 280988 w 1190625"/>
              <a:gd name="connsiteY15" fmla="*/ 185737 h 609600"/>
              <a:gd name="connsiteX16" fmla="*/ 392906 w 1190625"/>
              <a:gd name="connsiteY16" fmla="*/ 135731 h 609600"/>
              <a:gd name="connsiteX17" fmla="*/ 531019 w 1190625"/>
              <a:gd name="connsiteY17" fmla="*/ 102393 h 609600"/>
              <a:gd name="connsiteX18" fmla="*/ 661988 w 1190625"/>
              <a:gd name="connsiteY18" fmla="*/ 97631 h 609600"/>
              <a:gd name="connsiteX19" fmla="*/ 738188 w 1190625"/>
              <a:gd name="connsiteY19" fmla="*/ 92868 h 609600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14363 w 1190625"/>
              <a:gd name="connsiteY6" fmla="*/ 46196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578300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190625" h="728663">
                <a:moveTo>
                  <a:pt x="738188" y="211931"/>
                </a:moveTo>
                <a:lnTo>
                  <a:pt x="745330" y="0"/>
                </a:lnTo>
                <a:lnTo>
                  <a:pt x="1190625" y="359569"/>
                </a:lnTo>
                <a:lnTo>
                  <a:pt x="745331" y="728663"/>
                </a:lnTo>
                <a:cubicBezTo>
                  <a:pt x="744537" y="657225"/>
                  <a:pt x="743744" y="585788"/>
                  <a:pt x="742950" y="514350"/>
                </a:cubicBezTo>
                <a:lnTo>
                  <a:pt x="644810" y="477457"/>
                </a:lnTo>
                <a:lnTo>
                  <a:pt x="578300" y="465583"/>
                </a:lnTo>
                <a:lnTo>
                  <a:pt x="471488" y="471488"/>
                </a:lnTo>
                <a:lnTo>
                  <a:pt x="304800" y="490538"/>
                </a:lnTo>
                <a:lnTo>
                  <a:pt x="192881" y="535781"/>
                </a:lnTo>
                <a:lnTo>
                  <a:pt x="83344" y="597694"/>
                </a:lnTo>
                <a:lnTo>
                  <a:pt x="0" y="652463"/>
                </a:lnTo>
                <a:lnTo>
                  <a:pt x="42863" y="561975"/>
                </a:lnTo>
                <a:lnTo>
                  <a:pt x="104775" y="454819"/>
                </a:lnTo>
                <a:lnTo>
                  <a:pt x="200025" y="357188"/>
                </a:lnTo>
                <a:lnTo>
                  <a:pt x="280988" y="304800"/>
                </a:lnTo>
                <a:lnTo>
                  <a:pt x="392906" y="254794"/>
                </a:lnTo>
                <a:lnTo>
                  <a:pt x="531019" y="221456"/>
                </a:lnTo>
                <a:lnTo>
                  <a:pt x="661988" y="216694"/>
                </a:lnTo>
                <a:lnTo>
                  <a:pt x="738188" y="21193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7B9C6C1-96E2-5960-96AF-FEC471EF7CEC}"/>
              </a:ext>
            </a:extLst>
          </p:cNvPr>
          <p:cNvSpPr txBox="1"/>
          <p:nvPr/>
        </p:nvSpPr>
        <p:spPr>
          <a:xfrm>
            <a:off x="9015567" y="4980231"/>
            <a:ext cx="2547041" cy="13721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Abordagem</a:t>
            </a:r>
          </a:p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Estocástica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B77C74-1D40-A5A0-0B19-B91B4CC76A52}"/>
              </a:ext>
            </a:extLst>
          </p:cNvPr>
          <p:cNvSpPr txBox="1"/>
          <p:nvPr/>
        </p:nvSpPr>
        <p:spPr>
          <a:xfrm>
            <a:off x="5814549" y="2659828"/>
            <a:ext cx="3108175" cy="221599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22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 hidráulica </a:t>
            </a:r>
            <a:r>
              <a:rPr lang="pt-BR" sz="2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x</a:t>
            </a:r>
            <a:endParaRPr lang="pt-BR" sz="20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  <a:p>
            <a:pPr algn="l"/>
            <a:r>
              <a:rPr lang="pt-BR" sz="2200" dirty="0"/>
              <a:t>- Densidade  (Massa)</a:t>
            </a:r>
          </a:p>
          <a:p>
            <a:pPr algn="l"/>
            <a:r>
              <a:rPr lang="pt-BR" sz="2200" dirty="0"/>
              <a:t>- Elasticidade</a:t>
            </a:r>
          </a:p>
          <a:p>
            <a:pPr algn="l"/>
            <a:r>
              <a:rPr lang="pt-BR" sz="2200" dirty="0"/>
              <a:t>- Rigidez </a:t>
            </a:r>
          </a:p>
          <a:p>
            <a:pPr algn="l"/>
            <a:r>
              <a:rPr lang="pt-BR" sz="2200" dirty="0"/>
              <a:t>- Limite de escoamento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162827-854D-7AAB-0709-C6415EFEE531}"/>
              </a:ext>
            </a:extLst>
          </p:cNvPr>
          <p:cNvSpPr txBox="1"/>
          <p:nvPr/>
        </p:nvSpPr>
        <p:spPr>
          <a:xfrm>
            <a:off x="7592173" y="3059062"/>
            <a:ext cx="1270567" cy="400110"/>
          </a:xfrm>
          <a:prstGeom prst="rect">
            <a:avLst/>
          </a:prstGeom>
          <a:solidFill>
            <a:srgbClr val="00F8F2"/>
          </a:solidFill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400" b="1" u="sng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LID4096" sz="2000" dirty="0"/>
              <a:t>load flow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A7AEAB-9A58-2DE4-9A60-1DFF2FDFA0FD}"/>
              </a:ext>
            </a:extLst>
          </p:cNvPr>
          <p:cNvSpPr txBox="1"/>
          <p:nvPr/>
        </p:nvSpPr>
        <p:spPr>
          <a:xfrm>
            <a:off x="5837012" y="1568017"/>
            <a:ext cx="3204600" cy="92333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Notações:</a:t>
            </a:r>
          </a:p>
          <a:p>
            <a:pPr algn="l"/>
            <a:endParaRPr lang="pt-BR" sz="5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Diferencial x Matricial</a:t>
            </a:r>
            <a:endParaRPr lang="pt-BR" sz="24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B78053-78C5-458E-F14C-E91A94B79581}"/>
              </a:ext>
            </a:extLst>
          </p:cNvPr>
          <p:cNvSpPr txBox="1"/>
          <p:nvPr/>
        </p:nvSpPr>
        <p:spPr>
          <a:xfrm>
            <a:off x="1657975" y="1306440"/>
            <a:ext cx="347382" cy="143873"/>
          </a:xfrm>
          <a:prstGeom prst="rect">
            <a:avLst/>
          </a:prstGeom>
          <a:solidFill>
            <a:srgbClr val="FFFF00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endParaRPr lang="pt-BR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87E07D-81AF-F0D6-4CB6-51DC5932772C}"/>
              </a:ext>
            </a:extLst>
          </p:cNvPr>
          <p:cNvSpPr txBox="1"/>
          <p:nvPr/>
        </p:nvSpPr>
        <p:spPr>
          <a:xfrm>
            <a:off x="3671816" y="1319209"/>
            <a:ext cx="347382" cy="143873"/>
          </a:xfrm>
          <a:prstGeom prst="rect">
            <a:avLst/>
          </a:prstGeom>
          <a:solidFill>
            <a:srgbClr val="FFFF00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633137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35695-EEDB-6E09-CE7A-FDB380490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BBEDAF9-143E-1135-3CC3-D160FED1A5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724E612E-656D-73B6-30CA-32FD9E7E971E}"/>
                  </a:ext>
                </a:extLst>
              </p:cNvPr>
              <p:cNvSpPr txBox="1"/>
              <p:nvPr/>
            </p:nvSpPr>
            <p:spPr>
              <a:xfrm>
                <a:off x="963989" y="674907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LID4096" sz="3200" b="1" spc="150" dirty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∂</m:t>
                        </m:r>
                        <m:r>
                          <m:rPr>
                            <m:nor/>
                          </m:rPr>
                          <a:rPr lang="pt-BR" sz="3200" b="1" i="0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𝛒</m:t>
                        </m:r>
                        <m:r>
                          <a:rPr lang="pt-BR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  <m:r>
                          <m:rPr>
                            <m:nor/>
                          </m:rPr>
                          <a:rPr lang="pt-BR" sz="3200" b="1" i="0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m:rPr>
                            <m:nor/>
                          </m:rPr>
                          <a:rPr lang="LID4096" sz="3200" b="1" spc="150" dirty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∂</m:t>
                        </m:r>
                        <m:r>
                          <m:rPr>
                            <m:nor/>
                          </m:rPr>
                          <a:rPr lang="LID4096" sz="3200" b="1" spc="150" dirty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den>
                    </m:f>
                    <m:r>
                      <m:rPr>
                        <m:nor/>
                      </m:rPr>
                      <a:rPr lang="pt-BR" sz="3200" b="1" i="0" spc="150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m:rPr>
                        <m:nor/>
                      </m:rPr>
                      <a:rPr lang="pt-BR" sz="3200" b="1" i="0" spc="150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pt-BR" sz="3200" b="1" i="0" spc="15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m:rPr>
                            <m:nor/>
                          </m:rPr>
                          <a:rPr lang="LID4096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m:rPr>
                            <m:nor/>
                          </m:rPr>
                          <a:rPr lang="pt-BR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nor/>
                          </m:rPr>
                          <a:rPr lang="LID4096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3200" b="1" i="1" spc="15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1" i="1" spc="15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  <m:sub>
                            <m:r>
                              <a:rPr lang="pt-BR" sz="3200" b="1" i="1" spc="15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LID4096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m:rPr>
                            <m:nor/>
                          </m:rPr>
                          <a:rPr lang="pt-BR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pt-BR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sz="3200" b="1" i="1" spc="150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pt-BR" sz="3200" b="1" spc="15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m:rPr>
                        <m:nor/>
                      </m:rPr>
                      <a:rPr lang="LID4096" sz="3200" b="1" spc="15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3200" b="1" i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3200" b="1" i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pt-BR" sz="3200" b="1" spc="15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sub>
                    </m:sSub>
                    <m:r>
                      <m:rPr>
                        <m:nor/>
                      </m:rPr>
                      <a:rPr lang="LID4096" sz="3200" b="1" spc="15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3200" b="1" spc="150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LID4096" sz="32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:endParaRPr lang="en-GB" sz="20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724E612E-656D-73B6-30CA-32FD9E7E9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989" y="674907"/>
                <a:ext cx="5208415" cy="943385"/>
              </a:xfrm>
              <a:prstGeom prst="rect">
                <a:avLst/>
              </a:prstGeom>
              <a:blipFill>
                <a:blip r:embed="rId3"/>
                <a:stretch>
                  <a:fillRect l="-11813" r="-16491" b="-3896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FBD3882-79C9-3AE9-D2DE-7DF6A0D8D096}"/>
              </a:ext>
            </a:extLst>
          </p:cNvPr>
          <p:cNvSpPr txBox="1"/>
          <p:nvPr/>
        </p:nvSpPr>
        <p:spPr>
          <a:xfrm>
            <a:off x="1748975" y="587223"/>
            <a:ext cx="5387417" cy="3693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dirty="0">
                <a:solidFill>
                  <a:srgbClr val="0000FF"/>
                </a:solidFill>
              </a:rPr>
              <a:t>convecção                 difusão                       fontes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E7A0B-F1BF-7883-5537-4DE621170141}"/>
              </a:ext>
            </a:extLst>
          </p:cNvPr>
          <p:cNvSpPr txBox="1"/>
          <p:nvPr/>
        </p:nvSpPr>
        <p:spPr>
          <a:xfrm>
            <a:off x="1692811" y="1440337"/>
            <a:ext cx="347382" cy="143873"/>
          </a:xfrm>
          <a:prstGeom prst="rect">
            <a:avLst/>
          </a:prstGeom>
          <a:solidFill>
            <a:srgbClr val="FFFF00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endParaRPr lang="pt-BR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F8B48-0662-8FC0-CBAE-93BF8C575076}"/>
              </a:ext>
            </a:extLst>
          </p:cNvPr>
          <p:cNvSpPr txBox="1"/>
          <p:nvPr/>
        </p:nvSpPr>
        <p:spPr>
          <a:xfrm>
            <a:off x="3462810" y="1453106"/>
            <a:ext cx="347382" cy="143873"/>
          </a:xfrm>
          <a:prstGeom prst="rect">
            <a:avLst/>
          </a:prstGeom>
          <a:solidFill>
            <a:srgbClr val="FFFF00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endParaRPr lang="pt-BR" b="1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FB2319-B75A-5856-A809-2C4D634155F0}"/>
              </a:ext>
            </a:extLst>
          </p:cNvPr>
          <p:cNvGrpSpPr>
            <a:grpSpLocks noChangeAspect="1"/>
          </p:cNvGrpSpPr>
          <p:nvPr/>
        </p:nvGrpSpPr>
        <p:grpSpPr>
          <a:xfrm>
            <a:off x="1692811" y="1601609"/>
            <a:ext cx="5586624" cy="1933958"/>
            <a:chOff x="367258" y="2403474"/>
            <a:chExt cx="4403817" cy="152449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D494488-E547-D0E7-97B7-835B1494086A}"/>
                    </a:ext>
                  </a:extLst>
                </p:cNvPr>
                <p:cNvSpPr txBox="1"/>
                <p:nvPr/>
              </p:nvSpPr>
              <p:spPr>
                <a:xfrm>
                  <a:off x="367258" y="3325650"/>
                  <a:ext cx="983405" cy="602322"/>
                </a:xfrm>
                <a:prstGeom prst="rect">
                  <a:avLst/>
                </a:prstGeom>
                <a:solidFill>
                  <a:srgbClr val="FFFF00"/>
                </a:solidFill>
                <a:ln w="3175">
                  <a:noFill/>
                </a:ln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none" lIns="0" tIns="4572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bar>
                          <m:barPr>
                            <m:ctrlPr>
                              <a:rPr lang="ar-AE" sz="30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sSup>
                              <m:sSupPr>
                                <m:ctrlPr>
                                  <a:rPr lang="ar-AE" sz="30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3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𝛁</m:t>
                                </m:r>
                              </m:e>
                              <m:sup>
                                <m:r>
                                  <a:rPr lang="pt-BR" sz="3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bar>
                        <m:r>
                          <a:rPr lang="pt-BR" sz="3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bar>
                          <m:barPr>
                            <m:ctrlPr>
                              <a:rPr lang="ar-AE" sz="3000" b="1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pt-BR" sz="3000" b="1" i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𝐡</m:t>
                            </m:r>
                          </m:e>
                        </m:bar>
                      </m:oMath>
                    </m:oMathPara>
                  </a14:m>
                  <a:endParaRPr lang="en-GB" sz="3000" b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5D494488-E547-D0E7-97B7-835B14940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258" y="3325650"/>
                  <a:ext cx="983405" cy="60232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175">
                  <a:noFill/>
                </a:ln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7E74C647-D726-5FBB-AB34-D384D2ED55D0}"/>
                    </a:ext>
                  </a:extLst>
                </p:cNvPr>
                <p:cNvSpPr txBox="1"/>
                <p:nvPr/>
              </p:nvSpPr>
              <p:spPr>
                <a:xfrm>
                  <a:off x="367258" y="2485081"/>
                  <a:ext cx="3403751" cy="731520"/>
                </a:xfrm>
                <a:prstGeom prst="rect">
                  <a:avLst/>
                </a:prstGeom>
                <a:solidFill>
                  <a:srgbClr val="FFFF00"/>
                </a:solidFill>
                <a:ln w="3175">
                  <a:noFill/>
                </a:ln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none" lIns="182880" tIns="45720" rIns="9144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ar-AE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pt-BR" sz="2400" b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num>
                          <m:den>
                            <m:r>
                              <a:rPr lang="ar-AE" sz="2400" b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den>
                        </m:f>
                        <m:r>
                          <a:rPr lang="pt-BR" sz="2400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ar-AE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pt-BR" sz="2400" b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num>
                          <m:den>
                            <m:r>
                              <a:rPr lang="ar-AE" sz="2400" b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den>
                        </m:f>
                        <m:r>
                          <a:rPr lang="pt-BR" sz="2400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ar-AE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pt-BR" sz="2400" b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num>
                          <m:den>
                            <m:r>
                              <a:rPr lang="ar-AE" sz="2400" b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sSup>
                              <m:sSupPr>
                                <m:ctrlPr>
                                  <a:rPr lang="ar-AE" sz="2400" b="1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𝐳</m:t>
                                </m:r>
                              </m:e>
                              <m:sup>
                                <m:r>
                                  <a:rPr lang="ar-AE" sz="2400" b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den>
                        </m:f>
                        <m:r>
                          <a:rPr lang="pt-BR" sz="2400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ar-AE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𝐐</m:t>
                        </m:r>
                        <m:r>
                          <a:rPr lang="pt-BR" sz="2400" b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pt-BR" sz="2400" b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𝐏𝐀</m:t>
                        </m:r>
                      </m:oMath>
                    </m:oMathPara>
                  </a14:m>
                  <a:endParaRPr lang="en-GB" sz="2400" b="1" dirty="0">
                    <a:solidFill>
                      <a:prstClr val="black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6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7E74C647-D726-5FBB-AB34-D384D2ED55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258" y="2485081"/>
                  <a:ext cx="3403751" cy="7315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175">
                  <a:noFill/>
                </a:ln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A22B64-B6F8-B690-5685-61A4475B8F15}"/>
                    </a:ext>
                  </a:extLst>
                </p:cNvPr>
                <p:cNvSpPr txBox="1"/>
                <p:nvPr/>
              </p:nvSpPr>
              <p:spPr>
                <a:xfrm>
                  <a:off x="4028071" y="2403474"/>
                  <a:ext cx="743004" cy="92217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l-GR" sz="24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400" b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</m:num>
                          <m:den>
                            <m:r>
                              <a:rPr lang="pt-BR" sz="24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4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  <m:d>
                          <m:dPr>
                            <m:ctrlPr>
                              <a:rPr lang="pt-BR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𝐤</m:t>
                            </m:r>
                            <m:f>
                              <m:fPr>
                                <m:ctrlPr>
                                  <a:rPr lang="el-GR" sz="24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2400" b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400" b="1" i="0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𝐡</m:t>
                                </m:r>
                              </m:num>
                              <m:den>
                                <m:r>
                                  <a:rPr lang="pt-BR" sz="2400" b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400" b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LID4096" sz="24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A22B64-B6F8-B690-5685-61A4475B8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8071" y="2403474"/>
                  <a:ext cx="743004" cy="922176"/>
                </a:xfrm>
                <a:prstGeom prst="rect">
                  <a:avLst/>
                </a:prstGeom>
                <a:blipFill>
                  <a:blip r:embed="rId6"/>
                  <a:stretch>
                    <a:fillRect r="-57143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DE8357A-4BAF-7F03-DF09-15D79A3D5E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285" y="3943433"/>
            <a:ext cx="6125481" cy="258650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BD637B8D-31B4-4E5A-0E10-42EC23B787DA}"/>
              </a:ext>
            </a:extLst>
          </p:cNvPr>
          <p:cNvGrpSpPr>
            <a:grpSpLocks noChangeAspect="1"/>
          </p:cNvGrpSpPr>
          <p:nvPr/>
        </p:nvGrpSpPr>
        <p:grpSpPr>
          <a:xfrm>
            <a:off x="6743700" y="4809153"/>
            <a:ext cx="4800600" cy="1718799"/>
            <a:chOff x="6125203" y="4244225"/>
            <a:chExt cx="5650512" cy="20285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BB82046-AA35-15F0-DC43-5C8B270C2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25203" y="5359302"/>
              <a:ext cx="5650512" cy="9134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AB34E4C-7FC9-61DC-2E27-6531FCE84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126275" y="4244225"/>
              <a:ext cx="5649440" cy="10282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9517233" y="195825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/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upo 10">
            <a:extLst>
              <a:ext uri="{FF2B5EF4-FFF2-40B4-BE49-F238E27FC236}">
                <a16:creationId xmlns:a16="http://schemas.microsoft.com/office/drawing/2014/main" id="{5F903ED8-DE08-CCC2-9652-E8C610414E30}"/>
              </a:ext>
            </a:extLst>
          </p:cNvPr>
          <p:cNvGrpSpPr>
            <a:grpSpLocks noChangeAspect="1"/>
          </p:cNvGrpSpPr>
          <p:nvPr/>
        </p:nvGrpSpPr>
        <p:grpSpPr>
          <a:xfrm>
            <a:off x="9407398" y="3372593"/>
            <a:ext cx="2034501" cy="1243506"/>
            <a:chOff x="7551799" y="3880749"/>
            <a:chExt cx="1792685" cy="1055366"/>
          </a:xfrm>
        </p:grpSpPr>
        <p:sp>
          <p:nvSpPr>
            <p:cNvPr id="22" name="Seta para a direita 12">
              <a:extLst>
                <a:ext uri="{FF2B5EF4-FFF2-40B4-BE49-F238E27FC236}">
                  <a16:creationId xmlns:a16="http://schemas.microsoft.com/office/drawing/2014/main" id="{76DD8210-D0D6-2D2B-2A93-9393F7812F37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23" name="Grupo 13">
              <a:extLst>
                <a:ext uri="{FF2B5EF4-FFF2-40B4-BE49-F238E27FC236}">
                  <a16:creationId xmlns:a16="http://schemas.microsoft.com/office/drawing/2014/main" id="{77DE158E-F01E-1C07-880A-4F32A5C0DAFC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25" name="Seta para a direita 15">
                <a:extLst>
                  <a:ext uri="{FF2B5EF4-FFF2-40B4-BE49-F238E27FC236}">
                    <a16:creationId xmlns:a16="http://schemas.microsoft.com/office/drawing/2014/main" id="{526CF069-54C3-F025-1A17-678CFFEEBF30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26" name="Grupo 16">
                <a:extLst>
                  <a:ext uri="{FF2B5EF4-FFF2-40B4-BE49-F238E27FC236}">
                    <a16:creationId xmlns:a16="http://schemas.microsoft.com/office/drawing/2014/main" id="{5B5F5DA5-02DD-D5A5-51C6-DC9F4C0BA591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28" name="Grupo 18">
                  <a:extLst>
                    <a:ext uri="{FF2B5EF4-FFF2-40B4-BE49-F238E27FC236}">
                      <a16:creationId xmlns:a16="http://schemas.microsoft.com/office/drawing/2014/main" id="{BEE8D5F0-580C-D252-3383-A5E7496BF97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32" name="Cubo 854">
                    <a:extLst>
                      <a:ext uri="{FF2B5EF4-FFF2-40B4-BE49-F238E27FC236}">
                        <a16:creationId xmlns:a16="http://schemas.microsoft.com/office/drawing/2014/main" id="{48C64F71-E1EB-AABA-609D-A693B3ED51D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Cubo 855">
                    <a:extLst>
                      <a:ext uri="{FF2B5EF4-FFF2-40B4-BE49-F238E27FC236}">
                        <a16:creationId xmlns:a16="http://schemas.microsoft.com/office/drawing/2014/main" id="{9102B15E-00DA-314E-EFC6-4897B1B1B5A8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4" name="Cubo 856">
                    <a:extLst>
                      <a:ext uri="{FF2B5EF4-FFF2-40B4-BE49-F238E27FC236}">
                        <a16:creationId xmlns:a16="http://schemas.microsoft.com/office/drawing/2014/main" id="{C778A486-E2A2-802E-ABB5-83B776293DC0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5" name="Cubo 857">
                    <a:extLst>
                      <a:ext uri="{FF2B5EF4-FFF2-40B4-BE49-F238E27FC236}">
                        <a16:creationId xmlns:a16="http://schemas.microsoft.com/office/drawing/2014/main" id="{83ADD491-2DE9-7A7F-EB84-22BAD64E80B9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6" name="Cubo 858">
                    <a:extLst>
                      <a:ext uri="{FF2B5EF4-FFF2-40B4-BE49-F238E27FC236}">
                        <a16:creationId xmlns:a16="http://schemas.microsoft.com/office/drawing/2014/main" id="{EBF42647-021A-2166-02B2-CD8311D650BF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7" name="Cubo 859">
                    <a:extLst>
                      <a:ext uri="{FF2B5EF4-FFF2-40B4-BE49-F238E27FC236}">
                        <a16:creationId xmlns:a16="http://schemas.microsoft.com/office/drawing/2014/main" id="{5BD3CCCC-E0D3-25CD-8354-31C542AB3D0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29" name="Seta para a direita 19">
                  <a:extLst>
                    <a:ext uri="{FF2B5EF4-FFF2-40B4-BE49-F238E27FC236}">
                      <a16:creationId xmlns:a16="http://schemas.microsoft.com/office/drawing/2014/main" id="{45670494-CEFC-8B1D-55E6-1101B55A6BB5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0" name="Cubo 852">
                  <a:extLst>
                    <a:ext uri="{FF2B5EF4-FFF2-40B4-BE49-F238E27FC236}">
                      <a16:creationId xmlns:a16="http://schemas.microsoft.com/office/drawing/2014/main" id="{7AABC20F-EA10-C8F8-3E1E-A7CF573D398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1" name="Seta para a direita 24">
                  <a:extLst>
                    <a:ext uri="{FF2B5EF4-FFF2-40B4-BE49-F238E27FC236}">
                      <a16:creationId xmlns:a16="http://schemas.microsoft.com/office/drawing/2014/main" id="{6E8482ED-D41A-EC89-4362-EAB8AAFD6B2F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27" name="Seta para a direita 17">
                <a:extLst>
                  <a:ext uri="{FF2B5EF4-FFF2-40B4-BE49-F238E27FC236}">
                    <a16:creationId xmlns:a16="http://schemas.microsoft.com/office/drawing/2014/main" id="{022ECC2F-83AB-9F63-7909-79E31EEFA207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24" name="Seta para a direita 14">
              <a:extLst>
                <a:ext uri="{FF2B5EF4-FFF2-40B4-BE49-F238E27FC236}">
                  <a16:creationId xmlns:a16="http://schemas.microsoft.com/office/drawing/2014/main" id="{70A0CBFA-013C-7F8D-0C48-2B091FE8B09D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2DF95AE5-09F4-EA64-7838-B4085216765E}"/>
              </a:ext>
            </a:extLst>
          </p:cNvPr>
          <p:cNvSpPr/>
          <p:nvPr/>
        </p:nvSpPr>
        <p:spPr>
          <a:xfrm>
            <a:off x="2447109" y="5116558"/>
            <a:ext cx="1746272" cy="836023"/>
          </a:xfrm>
          <a:prstGeom prst="rect">
            <a:avLst/>
          </a:prstGeom>
          <a:noFill/>
          <a:ln w="38100">
            <a:solidFill>
              <a:srgbClr val="0000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C0E81E-84C7-D343-3554-ACF685756635}"/>
              </a:ext>
            </a:extLst>
          </p:cNvPr>
          <p:cNvSpPr txBox="1"/>
          <p:nvPr/>
        </p:nvSpPr>
        <p:spPr>
          <a:xfrm>
            <a:off x="714799" y="4712329"/>
            <a:ext cx="299203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A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48823E-53CB-EC89-A794-067408B31F4A}"/>
              </a:ext>
            </a:extLst>
          </p:cNvPr>
          <p:cNvSpPr txBox="1"/>
          <p:nvPr/>
        </p:nvSpPr>
        <p:spPr>
          <a:xfrm>
            <a:off x="5687747" y="6016775"/>
            <a:ext cx="222514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1C0F00-1F56-0A36-80EA-275472279093}"/>
              </a:ext>
            </a:extLst>
          </p:cNvPr>
          <p:cNvSpPr txBox="1"/>
          <p:nvPr/>
        </p:nvSpPr>
        <p:spPr>
          <a:xfrm>
            <a:off x="3949435" y="4707566"/>
            <a:ext cx="222514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0880B-90AE-8127-B7F6-82EA0EBD70D6}"/>
              </a:ext>
            </a:extLst>
          </p:cNvPr>
          <p:cNvSpPr txBox="1"/>
          <p:nvPr/>
        </p:nvSpPr>
        <p:spPr>
          <a:xfrm>
            <a:off x="3994150" y="5191124"/>
            <a:ext cx="157160" cy="229649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F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677D9C-B7B8-93CA-9ABE-4E6C5E3FA1FE}"/>
              </a:ext>
            </a:extLst>
          </p:cNvPr>
          <p:cNvSpPr txBox="1"/>
          <p:nvPr/>
        </p:nvSpPr>
        <p:spPr>
          <a:xfrm>
            <a:off x="2523112" y="5191124"/>
            <a:ext cx="124838" cy="229649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818B63-71B0-811F-EDB7-182A03C8C630}"/>
              </a:ext>
            </a:extLst>
          </p:cNvPr>
          <p:cNvSpPr txBox="1"/>
          <p:nvPr/>
        </p:nvSpPr>
        <p:spPr>
          <a:xfrm>
            <a:off x="2476959" y="6005229"/>
            <a:ext cx="222514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solidFill>
                  <a:srgbClr val="0000FF"/>
                </a:solidFill>
              </a:rPr>
              <a:t>C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BAA0742-BFDB-AAFE-6076-7178BA46BEDF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</p:spTree>
    <p:extLst>
      <p:ext uri="{BB962C8B-B14F-4D97-AF65-F5344CB8AC3E}">
        <p14:creationId xmlns:p14="http://schemas.microsoft.com/office/powerpoint/2010/main" val="73317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89C50-2998-9D11-BF58-6DD35B359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845BA830-1FC1-215E-7D8A-B4A6C37642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8263582" y="2592598"/>
            <a:ext cx="16311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  <p:sp>
        <p:nvSpPr>
          <p:cNvPr id="2070" name="TextBox 2069">
            <a:extLst>
              <a:ext uri="{FF2B5EF4-FFF2-40B4-BE49-F238E27FC236}">
                <a16:creationId xmlns:a16="http://schemas.microsoft.com/office/drawing/2014/main" id="{E9C37245-646A-F654-D318-8F91BAD13750}"/>
              </a:ext>
            </a:extLst>
          </p:cNvPr>
          <p:cNvSpPr txBox="1"/>
          <p:nvPr/>
        </p:nvSpPr>
        <p:spPr>
          <a:xfrm>
            <a:off x="9517233" y="195825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71" name="TextBox 2070">
                <a:extLst>
                  <a:ext uri="{FF2B5EF4-FFF2-40B4-BE49-F238E27FC236}">
                    <a16:creationId xmlns:a16="http://schemas.microsoft.com/office/drawing/2014/main" id="{9FF692F4-E295-5C4C-8810-DF97B1678F63}"/>
                  </a:ext>
                </a:extLst>
              </p:cNvPr>
              <p:cNvSpPr txBox="1"/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2071" name="TextBox 2070">
                <a:extLst>
                  <a:ext uri="{FF2B5EF4-FFF2-40B4-BE49-F238E27FC236}">
                    <a16:creationId xmlns:a16="http://schemas.microsoft.com/office/drawing/2014/main" id="{9FF692F4-E295-5C4C-8810-DF97B1678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82" name="Group 2081">
            <a:extLst>
              <a:ext uri="{FF2B5EF4-FFF2-40B4-BE49-F238E27FC236}">
                <a16:creationId xmlns:a16="http://schemas.microsoft.com/office/drawing/2014/main" id="{95CDB7EB-6E62-B47E-547E-093328B1BBB7}"/>
              </a:ext>
            </a:extLst>
          </p:cNvPr>
          <p:cNvGrpSpPr/>
          <p:nvPr/>
        </p:nvGrpSpPr>
        <p:grpSpPr>
          <a:xfrm>
            <a:off x="6898720" y="4545992"/>
            <a:ext cx="3158529" cy="1045561"/>
            <a:chOff x="8336871" y="4570342"/>
            <a:chExt cx="3158529" cy="1045561"/>
          </a:xfrm>
        </p:grpSpPr>
        <p:grpSp>
          <p:nvGrpSpPr>
            <p:cNvPr id="2076" name="Group 2075">
              <a:extLst>
                <a:ext uri="{FF2B5EF4-FFF2-40B4-BE49-F238E27FC236}">
                  <a16:creationId xmlns:a16="http://schemas.microsoft.com/office/drawing/2014/main" id="{C31F39EF-A87B-52DF-0278-CEDD47B12384}"/>
                </a:ext>
              </a:extLst>
            </p:cNvPr>
            <p:cNvGrpSpPr/>
            <p:nvPr/>
          </p:nvGrpSpPr>
          <p:grpSpPr>
            <a:xfrm>
              <a:off x="9350503" y="4570342"/>
              <a:ext cx="2144897" cy="1045561"/>
              <a:chOff x="9255253" y="4570342"/>
              <a:chExt cx="2144897" cy="1045561"/>
            </a:xfrm>
          </p:grpSpPr>
          <p:pic>
            <p:nvPicPr>
              <p:cNvPr id="2078" name="Picture 8" descr="Project Jupyter - Wikipedia">
                <a:extLst>
                  <a:ext uri="{FF2B5EF4-FFF2-40B4-BE49-F238E27FC236}">
                    <a16:creationId xmlns:a16="http://schemas.microsoft.com/office/drawing/2014/main" id="{1114490E-F308-86A2-9545-F2FA48902A8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407574" y="4575543"/>
                <a:ext cx="992576" cy="104036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79" name="Picture 6" descr="Visual Studio Code - Baixar e instalar no Windows | Microsoft Store">
                <a:extLst>
                  <a:ext uri="{FF2B5EF4-FFF2-40B4-BE49-F238E27FC236}">
                    <a16:creationId xmlns:a16="http://schemas.microsoft.com/office/drawing/2014/main" id="{295B0B8F-7087-B9AC-2768-318BA72D32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55253" y="4570342"/>
                <a:ext cx="1040360" cy="104036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081" name="Rectangle: Rounded Corners 2080">
              <a:extLst>
                <a:ext uri="{FF2B5EF4-FFF2-40B4-BE49-F238E27FC236}">
                  <a16:creationId xmlns:a16="http://schemas.microsoft.com/office/drawing/2014/main" id="{0CAB0A03-134E-3D0E-C037-FFACB2EE2447}"/>
                </a:ext>
              </a:extLst>
            </p:cNvPr>
            <p:cNvSpPr/>
            <p:nvPr/>
          </p:nvSpPr>
          <p:spPr>
            <a:xfrm>
              <a:off x="8336871" y="4624312"/>
              <a:ext cx="840636" cy="505040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r"/>
              <a:r>
                <a:rPr lang="pt-BR" sz="1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Visual Studio</a:t>
              </a:r>
            </a:p>
            <a:p>
              <a:pPr algn="r"/>
              <a:endParaRPr lang="pt-BR" sz="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r"/>
              <a:r>
                <a:rPr lang="pt-BR" sz="1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Jupyter Notebook</a:t>
              </a:r>
            </a:p>
            <a:p>
              <a:pPr algn="r"/>
              <a:endPara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r"/>
              <a:endParaRPr lang="pt-BR" sz="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2090" name="Group 2089">
            <a:extLst>
              <a:ext uri="{FF2B5EF4-FFF2-40B4-BE49-F238E27FC236}">
                <a16:creationId xmlns:a16="http://schemas.microsoft.com/office/drawing/2014/main" id="{B2AB0B28-F8AA-C5E4-FAE8-94F520E0EAF9}"/>
              </a:ext>
            </a:extLst>
          </p:cNvPr>
          <p:cNvGrpSpPr/>
          <p:nvPr/>
        </p:nvGrpSpPr>
        <p:grpSpPr>
          <a:xfrm>
            <a:off x="9507708" y="2597742"/>
            <a:ext cx="1986992" cy="2814330"/>
            <a:chOff x="9517233" y="2597742"/>
            <a:chExt cx="1986992" cy="2814330"/>
          </a:xfrm>
        </p:grpSpPr>
        <p:pic>
          <p:nvPicPr>
            <p:cNvPr id="2083" name="Picture 2" descr="Python (programming language) - Wikipedia">
              <a:extLst>
                <a:ext uri="{FF2B5EF4-FFF2-40B4-BE49-F238E27FC236}">
                  <a16:creationId xmlns:a16="http://schemas.microsoft.com/office/drawing/2014/main" id="{CEB90D50-B677-E077-9483-76847AC3C6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14783" y="2597742"/>
              <a:ext cx="1280159" cy="128016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84" name="Rectangle: Rounded Corners 2083">
              <a:extLst>
                <a:ext uri="{FF2B5EF4-FFF2-40B4-BE49-F238E27FC236}">
                  <a16:creationId xmlns:a16="http://schemas.microsoft.com/office/drawing/2014/main" id="{61E62CB7-7148-0996-B4E9-529278111396}"/>
                </a:ext>
              </a:extLst>
            </p:cNvPr>
            <p:cNvSpPr/>
            <p:nvPr/>
          </p:nvSpPr>
          <p:spPr>
            <a:xfrm>
              <a:off x="10089026" y="3273649"/>
              <a:ext cx="1169630" cy="353305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r"/>
              <a:r>
                <a:rPr lang="pt-BR" sz="1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Python</a:t>
              </a:r>
            </a:p>
          </p:txBody>
        </p:sp>
        <p:pic>
          <p:nvPicPr>
            <p:cNvPr id="2085" name="Picture 2084">
              <a:hlinkClick r:id="rId6" action="ppaction://hlinkfile"/>
              <a:extLst>
                <a:ext uri="{FF2B5EF4-FFF2-40B4-BE49-F238E27FC236}">
                  <a16:creationId xmlns:a16="http://schemas.microsoft.com/office/drawing/2014/main" id="{63D4066D-72C7-199E-D5D1-94786EB59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224066" y="4004068"/>
              <a:ext cx="1280159" cy="128016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086" name="TextBox 2085">
              <a:extLst>
                <a:ext uri="{FF2B5EF4-FFF2-40B4-BE49-F238E27FC236}">
                  <a16:creationId xmlns:a16="http://schemas.microsoft.com/office/drawing/2014/main" id="{583F1E5D-25C1-3F92-C22A-37D75C7587A6}"/>
                </a:ext>
              </a:extLst>
            </p:cNvPr>
            <p:cNvSpPr txBox="1"/>
            <p:nvPr/>
          </p:nvSpPr>
          <p:spPr>
            <a:xfrm>
              <a:off x="10749872" y="4950820"/>
              <a:ext cx="754353" cy="4612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1400" b="1" dirty="0"/>
                <a:t>Fi</a:t>
              </a:r>
              <a:r>
                <a:rPr lang="pt-BR" sz="1400" b="1" dirty="0">
                  <a:solidFill>
                    <a:srgbClr val="FF0000"/>
                  </a:solidFill>
                </a:rPr>
                <a:t>Py</a:t>
              </a:r>
              <a:endParaRPr lang="pt-BR" sz="1100" dirty="0">
                <a:solidFill>
                  <a:srgbClr val="FF0000"/>
                </a:solidFill>
              </a:endParaRPr>
            </a:p>
          </p:txBody>
        </p:sp>
        <p:sp>
          <p:nvSpPr>
            <p:cNvPr id="2089" name="TextBox 2088">
              <a:extLst>
                <a:ext uri="{FF2B5EF4-FFF2-40B4-BE49-F238E27FC236}">
                  <a16:creationId xmlns:a16="http://schemas.microsoft.com/office/drawing/2014/main" id="{B7E025DD-4E5D-FCED-9BF9-86CC20784C8C}"/>
                </a:ext>
              </a:extLst>
            </p:cNvPr>
            <p:cNvSpPr txBox="1"/>
            <p:nvPr/>
          </p:nvSpPr>
          <p:spPr>
            <a:xfrm>
              <a:off x="9517233" y="4004068"/>
              <a:ext cx="549541" cy="4962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anchor="b" anchorCtr="0">
              <a:noAutofit/>
            </a:bodyPr>
            <a:lstStyle>
              <a:defPPr>
                <a:defRPr lang="LID4096"/>
              </a:defPPr>
              <a:lvl1pPr>
                <a:defRPr sz="400"/>
              </a:lvl1pPr>
            </a:lstStyle>
            <a:p>
              <a:r>
                <a:rPr lang="LID4096" dirty="0"/>
                <a:t>E:\15_REPOS\a___________________\09_CFD_ON\02_FiPy\01_mesh1D_Beta_Diffusion.ipynb</a:t>
              </a:r>
            </a:p>
          </p:txBody>
        </p:sp>
      </p:grpSp>
      <p:sp>
        <p:nvSpPr>
          <p:cNvPr id="2095" name="TextBox 2094">
            <a:extLst>
              <a:ext uri="{FF2B5EF4-FFF2-40B4-BE49-F238E27FC236}">
                <a16:creationId xmlns:a16="http://schemas.microsoft.com/office/drawing/2014/main" id="{3F4C7464-DE49-9EA1-78CB-13838CB6DE2D}"/>
              </a:ext>
            </a:extLst>
          </p:cNvPr>
          <p:cNvSpPr txBox="1"/>
          <p:nvPr/>
        </p:nvSpPr>
        <p:spPr>
          <a:xfrm>
            <a:off x="626320" y="1805797"/>
            <a:ext cx="7477050" cy="27133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			; 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Grid1D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plt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   ; 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plt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  ; 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lnSpc>
                <a:spcPts val="1650"/>
              </a:lnSpc>
              <a:buNone/>
            </a:pPr>
            <a:endParaRPr lang="en-US" sz="1600" b="0" dirty="0">
              <a:solidFill>
                <a:srgbClr val="005CC5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(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 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'green’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650"/>
              </a:lnSpc>
              <a:buNone/>
            </a:pPr>
            <a:endParaRPr lang="en-US" sz="1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096" name="TextBox 2095">
            <a:extLst>
              <a:ext uri="{FF2B5EF4-FFF2-40B4-BE49-F238E27FC236}">
                <a16:creationId xmlns:a16="http://schemas.microsoft.com/office/drawing/2014/main" id="{AD15A981-2D22-ED65-8F16-914F79081551}"/>
              </a:ext>
            </a:extLst>
          </p:cNvPr>
          <p:cNvSpPr txBox="1"/>
          <p:nvPr/>
        </p:nvSpPr>
        <p:spPr>
          <a:xfrm>
            <a:off x="626320" y="536068"/>
            <a:ext cx="4364780" cy="11872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import sys  </a:t>
            </a:r>
          </a:p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import </a:t>
            </a: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os</a:t>
            </a: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matplotlib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pyplot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plt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pPr>
              <a:lnSpc>
                <a:spcPts val="1650"/>
              </a:lnSpc>
            </a:pP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import </a:t>
            </a: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numpy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as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 np  </a:t>
            </a:r>
          </a:p>
          <a:p>
            <a:pPr>
              <a:lnSpc>
                <a:spcPts val="1650"/>
              </a:lnSpc>
            </a:pP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Grid1D</a:t>
            </a:r>
            <a:endParaRPr 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2097" name="Rectangle: Rounded Corners 2096">
            <a:extLst>
              <a:ext uri="{FF2B5EF4-FFF2-40B4-BE49-F238E27FC236}">
                <a16:creationId xmlns:a16="http://schemas.microsoft.com/office/drawing/2014/main" id="{15F68239-5CC1-E802-0206-312732D2AFD4}"/>
              </a:ext>
            </a:extLst>
          </p:cNvPr>
          <p:cNvSpPr/>
          <p:nvPr/>
        </p:nvSpPr>
        <p:spPr>
          <a:xfrm>
            <a:off x="152506" y="1784219"/>
            <a:ext cx="376812" cy="309963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C1</a:t>
            </a:r>
          </a:p>
          <a:p>
            <a:pPr algn="r"/>
            <a:endParaRPr lang="pt-BR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C2</a:t>
            </a:r>
          </a:p>
          <a:p>
            <a:pPr algn="r"/>
            <a:endParaRPr lang="pt-BR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C3</a:t>
            </a:r>
          </a:p>
          <a:p>
            <a:pPr algn="r"/>
            <a:endParaRPr lang="pt-BR" sz="1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C4</a:t>
            </a:r>
          </a:p>
          <a:p>
            <a:pPr algn="r"/>
            <a:endParaRPr lang="pt-B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C5</a:t>
            </a:r>
          </a:p>
          <a:p>
            <a:pPr algn="r"/>
            <a:endParaRPr lang="pt-B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C6</a:t>
            </a:r>
          </a:p>
          <a:p>
            <a:pPr algn="r"/>
            <a:endParaRPr lang="pt-B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/>
            <a:endParaRPr lang="pt-B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099" name="Picture 2098">
            <a:extLst>
              <a:ext uri="{FF2B5EF4-FFF2-40B4-BE49-F238E27FC236}">
                <a16:creationId xmlns:a16="http://schemas.microsoft.com/office/drawing/2014/main" id="{DBC91884-550B-541A-30AC-B491717796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912" y="5785839"/>
            <a:ext cx="11182350" cy="7610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00" name="Rectangle: Rounded Corners 2099">
            <a:extLst>
              <a:ext uri="{FF2B5EF4-FFF2-40B4-BE49-F238E27FC236}">
                <a16:creationId xmlns:a16="http://schemas.microsoft.com/office/drawing/2014/main" id="{9CC9E0FD-90B3-93BA-44C1-80ECACEF699B}"/>
              </a:ext>
            </a:extLst>
          </p:cNvPr>
          <p:cNvSpPr/>
          <p:nvPr/>
        </p:nvSpPr>
        <p:spPr>
          <a:xfrm>
            <a:off x="340912" y="502071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Resultado:</a:t>
            </a:r>
            <a:endParaRPr lang="pt-BR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101" name="Picture 2100">
            <a:extLst>
              <a:ext uri="{FF2B5EF4-FFF2-40B4-BE49-F238E27FC236}">
                <a16:creationId xmlns:a16="http://schemas.microsoft.com/office/drawing/2014/main" id="{5E3BF78A-39BB-5B0B-4435-9F85816A970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38467" b="70395"/>
          <a:stretch>
            <a:fillRect/>
          </a:stretch>
        </p:blipFill>
        <p:spPr>
          <a:xfrm>
            <a:off x="6131189" y="1237890"/>
            <a:ext cx="1972181" cy="457142"/>
          </a:xfrm>
          <a:prstGeom prst="rect">
            <a:avLst/>
          </a:prstGeom>
          <a:solidFill>
            <a:schemeClr val="bg1"/>
          </a:solidFill>
          <a:ln w="28575">
            <a:solidFill>
              <a:srgbClr val="0000FF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sp>
        <p:nvSpPr>
          <p:cNvPr id="2102" name="Rectangle: Rounded Corners 2101">
            <a:extLst>
              <a:ext uri="{FF2B5EF4-FFF2-40B4-BE49-F238E27FC236}">
                <a16:creationId xmlns:a16="http://schemas.microsoft.com/office/drawing/2014/main" id="{9155AD30-02C3-D4B1-2430-4DCED519102E}"/>
              </a:ext>
            </a:extLst>
          </p:cNvPr>
          <p:cNvSpPr/>
          <p:nvPr/>
        </p:nvSpPr>
        <p:spPr>
          <a:xfrm>
            <a:off x="6600826" y="317105"/>
            <a:ext cx="502511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en-GB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finite volume method (</a:t>
            </a:r>
            <a:r>
              <a:rPr lang="en-GB"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FVM)</a:t>
            </a:r>
            <a:endParaRPr lang="pt-BR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93890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B0EA3B-4202-A008-0427-963D759AB3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A9BF5-975C-BAB6-8AEC-624EB8DD03B5}"/>
              </a:ext>
            </a:extLst>
          </p:cNvPr>
          <p:cNvGrpSpPr/>
          <p:nvPr/>
        </p:nvGrpSpPr>
        <p:grpSpPr>
          <a:xfrm>
            <a:off x="8765907" y="3590752"/>
            <a:ext cx="2728794" cy="1821320"/>
            <a:chOff x="8775432" y="3590752"/>
            <a:chExt cx="2728794" cy="1821320"/>
          </a:xfrm>
        </p:grpSpPr>
        <p:pic>
          <p:nvPicPr>
            <p:cNvPr id="9" name="Picture 8">
              <a:hlinkClick r:id="rId2" action="ppaction://hlinkfile"/>
              <a:extLst>
                <a:ext uri="{FF2B5EF4-FFF2-40B4-BE49-F238E27FC236}">
                  <a16:creationId xmlns:a16="http://schemas.microsoft.com/office/drawing/2014/main" id="{BAD97350-326C-387F-D1BD-FAC2E9784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58326" y="3590752"/>
              <a:ext cx="2045900" cy="1693476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83762E-557E-8E40-9536-4DD146855EB0}"/>
                </a:ext>
              </a:extLst>
            </p:cNvPr>
            <p:cNvSpPr txBox="1"/>
            <p:nvPr/>
          </p:nvSpPr>
          <p:spPr>
            <a:xfrm>
              <a:off x="10749872" y="4950820"/>
              <a:ext cx="754353" cy="4612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1400" b="1" dirty="0"/>
                <a:t>Fi</a:t>
              </a:r>
              <a:r>
                <a:rPr lang="pt-BR" sz="1400" b="1" dirty="0">
                  <a:solidFill>
                    <a:srgbClr val="FF0000"/>
                  </a:solidFill>
                </a:rPr>
                <a:t>Py</a:t>
              </a:r>
              <a:endParaRPr lang="pt-BR" sz="1100" dirty="0">
                <a:solidFill>
                  <a:srgbClr val="FF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A9B70D4-9DED-0B6A-C1D1-F3D24A43950F}"/>
                </a:ext>
              </a:extLst>
            </p:cNvPr>
            <p:cNvSpPr txBox="1"/>
            <p:nvPr/>
          </p:nvSpPr>
          <p:spPr>
            <a:xfrm>
              <a:off x="8775432" y="3595648"/>
              <a:ext cx="549541" cy="4962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anchor="b" anchorCtr="0">
              <a:noAutofit/>
            </a:bodyPr>
            <a:lstStyle>
              <a:defPPr>
                <a:defRPr lang="LID4096"/>
              </a:defPPr>
              <a:lvl1pPr>
                <a:defRPr sz="400"/>
              </a:lvl1pPr>
            </a:lstStyle>
            <a:p>
              <a:r>
                <a:rPr lang="fr-FR" dirty="0"/>
                <a:t>E:\15_REPOS\a___________________\09_CFD_ON\02_FiPy\02_diffusion.mesh20x20.ipynb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36E8D7D-FB99-B5D5-D5BA-98B711C06B98}"/>
              </a:ext>
            </a:extLst>
          </p:cNvPr>
          <p:cNvSpPr txBox="1"/>
          <p:nvPr/>
        </p:nvSpPr>
        <p:spPr>
          <a:xfrm>
            <a:off x="9517233" y="195825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56CAE1-68B9-28CF-2A17-97FDD47ACC70}"/>
                  </a:ext>
                </a:extLst>
              </p:cNvPr>
              <p:cNvSpPr txBox="1"/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56CAE1-68B9-28CF-2A17-97FDD47AC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7233" y="1022004"/>
                <a:ext cx="1971630" cy="8889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3" name="TextBox 2102">
            <a:extLst>
              <a:ext uri="{FF2B5EF4-FFF2-40B4-BE49-F238E27FC236}">
                <a16:creationId xmlns:a16="http://schemas.microsoft.com/office/drawing/2014/main" id="{00ACE65F-8E7D-5B45-2F11-6C54C4AF1A1E}"/>
              </a:ext>
            </a:extLst>
          </p:cNvPr>
          <p:cNvSpPr txBox="1"/>
          <p:nvPr/>
        </p:nvSpPr>
        <p:spPr>
          <a:xfrm>
            <a:off x="626320" y="536069"/>
            <a:ext cx="8689130" cy="16247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name=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  <a:p>
            <a:pPr>
              <a:lnSpc>
                <a:spcPts val="1650"/>
              </a:lnSpc>
              <a:buNone/>
            </a:pPr>
            <a:endParaRPr lang="en-US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      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valueLeft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   ;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phi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constrain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(valueLeft 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facesLeft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valueRight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;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phi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constrain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(valueRight,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facesRight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 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9E49197-4394-27A0-AF37-33927907F7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590" y="3538300"/>
            <a:ext cx="2988321" cy="20551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42CF50-8B90-BFEF-BAB6-840C98B0415B}"/>
              </a:ext>
            </a:extLst>
          </p:cNvPr>
          <p:cNvSpPr txBox="1"/>
          <p:nvPr/>
        </p:nvSpPr>
        <p:spPr>
          <a:xfrm>
            <a:off x="626319" y="2261993"/>
            <a:ext cx="8689129" cy="11872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phi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(valueRight)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DiffusionTerm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coeff</a:t>
            </a: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D).solve(var</a:t>
            </a: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phi)</a:t>
            </a:r>
          </a:p>
          <a:p>
            <a:pPr>
              <a:lnSpc>
                <a:spcPts val="1650"/>
              </a:lnSpc>
              <a:buNone/>
            </a:pPr>
            <a:endParaRPr lang="en-US" dirty="0">
              <a:solidFill>
                <a:srgbClr val="24292E"/>
              </a:solidFill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dirty="0" err="1">
                <a:solidFill>
                  <a:srgbClr val="005CC5"/>
                </a:solidFill>
                <a:latin typeface="Consolas" panose="020B0609020204030204" pitchFamily="49" charset="0"/>
              </a:rPr>
              <a:t>viewer</a:t>
            </a:r>
            <a:r>
              <a:rPr lang="en-US" dirty="0" err="1">
                <a:solidFill>
                  <a:srgbClr val="24292E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005CC5"/>
                </a:solidFill>
                <a:latin typeface="Consolas" panose="020B0609020204030204" pitchFamily="49" charset="0"/>
              </a:rPr>
              <a:t>plot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()      </a:t>
            </a:r>
            <a:endParaRPr lang="en-US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1A08AED-B6B6-D2BF-8069-936AF122F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403" y="4543007"/>
            <a:ext cx="5399045" cy="10504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DBF22E5-8BC2-026B-5C8C-CD961FF3DA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12" y="5785839"/>
            <a:ext cx="11182350" cy="7610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95ED8EA-74BC-FE87-D34C-2FFBBFDD3B4B}"/>
              </a:ext>
            </a:extLst>
          </p:cNvPr>
          <p:cNvSpPr/>
          <p:nvPr/>
        </p:nvSpPr>
        <p:spPr>
          <a:xfrm>
            <a:off x="3914072" y="3468016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Resultado: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D26BBCB-FC9A-AF3C-AF7B-BABBC379C85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25523" r="75764" b="33132"/>
          <a:stretch>
            <a:fillRect/>
          </a:stretch>
        </p:blipFill>
        <p:spPr>
          <a:xfrm>
            <a:off x="9517233" y="536069"/>
            <a:ext cx="929514" cy="3784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06DFFF8-6724-D787-BF94-ED9F5CCB62B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4705" r="2964"/>
          <a:stretch>
            <a:fillRect/>
          </a:stretch>
        </p:blipFill>
        <p:spPr>
          <a:xfrm>
            <a:off x="9517234" y="2673783"/>
            <a:ext cx="1965154" cy="7524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4495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26" y="372069"/>
            <a:ext cx="1856259" cy="1856259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3" y="372069"/>
            <a:ext cx="1560091" cy="156009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531051" y="1861615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3943" y="353781"/>
            <a:ext cx="2092061" cy="28856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7654834" y="6587212"/>
            <a:ext cx="4547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b="1">
                <a:solidFill>
                  <a:schemeClr val="accent2"/>
                </a:solidFill>
              </a:defRPr>
            </a:lvl1pPr>
          </a:lstStyle>
          <a:p>
            <a:r>
              <a:rPr lang="LID4096" sz="1200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https://github.com/grossiRM/CFD_ON/tree/main/04_OpenFoam</a:t>
            </a:r>
            <a:endParaRPr lang="LID4096" sz="12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169F650-745C-3684-43AA-375A0872FA20}"/>
              </a:ext>
            </a:extLst>
          </p:cNvPr>
          <p:cNvGrpSpPr/>
          <p:nvPr/>
        </p:nvGrpSpPr>
        <p:grpSpPr>
          <a:xfrm>
            <a:off x="477994" y="2423089"/>
            <a:ext cx="5932123" cy="4368779"/>
            <a:chOff x="477994" y="2440507"/>
            <a:chExt cx="5932123" cy="43687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2F60EAB-C414-E9B6-8F84-DA483CB5A174}"/>
                </a:ext>
              </a:extLst>
            </p:cNvPr>
            <p:cNvGrpSpPr/>
            <p:nvPr/>
          </p:nvGrpSpPr>
          <p:grpSpPr>
            <a:xfrm>
              <a:off x="4759327" y="2621559"/>
              <a:ext cx="950514" cy="883294"/>
              <a:chOff x="9845949" y="5571569"/>
              <a:chExt cx="950514" cy="883294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30E9015-6308-2730-2E5B-2460429C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DE6537-FA2D-E505-7656-214443B9452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D85CDA5-FA95-6C1C-63F5-4216390686B0}"/>
                </a:ext>
              </a:extLst>
            </p:cNvPr>
            <p:cNvSpPr/>
            <p:nvPr/>
          </p:nvSpPr>
          <p:spPr>
            <a:xfrm>
              <a:off x="1511152" y="2731586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AA055A-30BC-C2FA-4078-581546984846}"/>
                </a:ext>
              </a:extLst>
            </p:cNvPr>
            <p:cNvSpPr txBox="1"/>
            <p:nvPr/>
          </p:nvSpPr>
          <p:spPr>
            <a:xfrm>
              <a:off x="1516360" y="24405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0A33C73-84AC-5683-A5C4-947ED10DF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58404" y="4102860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036BC6B-037C-E382-EA58-A095A4736E73}"/>
                </a:ext>
              </a:extLst>
            </p:cNvPr>
            <p:cNvGrpSpPr/>
            <p:nvPr/>
          </p:nvGrpSpPr>
          <p:grpSpPr>
            <a:xfrm>
              <a:off x="4759327" y="3857741"/>
              <a:ext cx="950514" cy="883294"/>
              <a:chOff x="9845949" y="5571569"/>
              <a:chExt cx="950514" cy="883294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42D383-B269-275E-70EE-6DBB8A09D8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863DE5-A794-62E4-83AC-7E8A481C4DCE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81484EC-5D3A-1183-56FB-1942CADF23EA}"/>
                </a:ext>
              </a:extLst>
            </p:cNvPr>
            <p:cNvSpPr/>
            <p:nvPr/>
          </p:nvSpPr>
          <p:spPr>
            <a:xfrm>
              <a:off x="3113710" y="3967768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25FB294-9D43-FE31-EF20-DC8D56250767}"/>
                </a:ext>
              </a:extLst>
            </p:cNvPr>
            <p:cNvSpPr txBox="1"/>
            <p:nvPr/>
          </p:nvSpPr>
          <p:spPr>
            <a:xfrm>
              <a:off x="3284383" y="3676689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33BF864-9904-C9AA-FD4B-C920A6E1F5F0}"/>
                </a:ext>
              </a:extLst>
            </p:cNvPr>
            <p:cNvCxnSpPr/>
            <p:nvPr/>
          </p:nvCxnSpPr>
          <p:spPr>
            <a:xfrm>
              <a:off x="3586038" y="4647562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6AE1F50-F04C-28A0-D8C4-531CCC3AD8E5}"/>
                </a:ext>
              </a:extLst>
            </p:cNvPr>
            <p:cNvGrpSpPr/>
            <p:nvPr/>
          </p:nvGrpSpPr>
          <p:grpSpPr>
            <a:xfrm>
              <a:off x="1831715" y="5201506"/>
              <a:ext cx="3773322" cy="1607780"/>
              <a:chOff x="2931952" y="995752"/>
              <a:chExt cx="3773322" cy="1607780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CB739BC1-00C7-322B-3624-17656FF034FE}"/>
                  </a:ext>
                </a:extLst>
              </p:cNvPr>
              <p:cNvGrpSpPr/>
              <p:nvPr/>
            </p:nvGrpSpPr>
            <p:grpSpPr>
              <a:xfrm>
                <a:off x="2931952" y="995752"/>
                <a:ext cx="3765147" cy="1295400"/>
                <a:chOff x="8101480" y="5268987"/>
                <a:chExt cx="3765147" cy="1295400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789D87EC-5BCA-F593-35A3-056762118245}"/>
                    </a:ext>
                  </a:extLst>
                </p:cNvPr>
                <p:cNvGrpSpPr/>
                <p:nvPr/>
              </p:nvGrpSpPr>
              <p:grpSpPr>
                <a:xfrm>
                  <a:off x="8101480" y="5268987"/>
                  <a:ext cx="3762375" cy="1295400"/>
                  <a:chOff x="7529768" y="4495989"/>
                  <a:chExt cx="3762375" cy="1295400"/>
                </a:xfrm>
              </p:grpSpPr>
              <p:pic>
                <p:nvPicPr>
                  <p:cNvPr id="37" name="Picture 36">
                    <a:extLst>
                      <a:ext uri="{FF2B5EF4-FFF2-40B4-BE49-F238E27FC236}">
                        <a16:creationId xmlns:a16="http://schemas.microsoft.com/office/drawing/2014/main" id="{9AF28A18-3B68-676F-A22F-AAF0F7F3D7C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529768" y="4495989"/>
                    <a:ext cx="3762375" cy="1295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</p:pic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35C06E5-B94A-D5F6-F52B-624451D872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419043" y="4929376"/>
                    <a:ext cx="645765" cy="773846"/>
                  </a:xfrm>
                  <a:prstGeom prst="straightConnector1">
                    <a:avLst/>
                  </a:prstGeom>
                  <a:ln>
                    <a:solidFill>
                      <a:srgbClr val="0000FF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C71AB1C-70AC-5F90-7D68-886997816384}"/>
                    </a:ext>
                  </a:extLst>
                </p:cNvPr>
                <p:cNvSpPr txBox="1"/>
                <p:nvPr/>
              </p:nvSpPr>
              <p:spPr>
                <a:xfrm>
                  <a:off x="11561878" y="5655077"/>
                  <a:ext cx="30474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LID4096"/>
                  </a:defPPr>
                  <a:lvl1pPr>
                    <a:defRPr sz="1050" b="1">
                      <a:solidFill>
                        <a:srgbClr val="0000FF"/>
                      </a:solidFill>
                    </a:defRPr>
                  </a:lvl1pPr>
                </a:lstStyle>
                <a:p>
                  <a:r>
                    <a:rPr lang="en-GB" sz="1100" noProof="0" dirty="0"/>
                    <a:t>0</a:t>
                  </a:r>
                  <a:endParaRPr lang="en-GB" sz="1400" noProof="0" dirty="0">
                    <a:solidFill>
                      <a:srgbClr val="FF0000"/>
                    </a:solidFill>
                  </a:endParaRP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33396D-28F7-B15E-37E4-7152F0FEA3FD}"/>
                  </a:ext>
                </a:extLst>
              </p:cNvPr>
              <p:cNvSpPr txBox="1"/>
              <p:nvPr/>
            </p:nvSpPr>
            <p:spPr>
              <a:xfrm>
                <a:off x="5662447" y="2295755"/>
                <a:ext cx="104282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GB" sz="1400" noProof="0" dirty="0"/>
                  <a:t>Diffusion</a:t>
                </a:r>
                <a:endParaRPr lang="en-GB" sz="20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3747334-5302-0FC6-BFF0-0672F09D5B85}"/>
                </a:ext>
              </a:extLst>
            </p:cNvPr>
            <p:cNvGrpSpPr/>
            <p:nvPr/>
          </p:nvGrpSpPr>
          <p:grpSpPr>
            <a:xfrm>
              <a:off x="558404" y="2489214"/>
              <a:ext cx="5851713" cy="1015639"/>
              <a:chOff x="558404" y="2489214"/>
              <a:chExt cx="5851713" cy="1015639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744FEA0-5E34-8E39-0C2E-60FDF6B56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8404" y="2866678"/>
                <a:ext cx="5048250" cy="63817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025958C-491D-87F4-4577-E9EC1BB39419}"/>
                  </a:ext>
                </a:extLst>
              </p:cNvPr>
              <p:cNvSpPr txBox="1"/>
              <p:nvPr/>
            </p:nvSpPr>
            <p:spPr>
              <a:xfrm>
                <a:off x="4638206" y="2489214"/>
                <a:ext cx="177191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source</a:t>
                </a:r>
                <a:endParaRPr lang="en-GB" sz="2400" noProof="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657EAA-5C3B-A5E5-3225-BE16ED66CE4E}"/>
                </a:ext>
              </a:extLst>
            </p:cNvPr>
            <p:cNvSpPr txBox="1"/>
            <p:nvPr/>
          </p:nvSpPr>
          <p:spPr>
            <a:xfrm>
              <a:off x="477994" y="4727096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>
                  <a:solidFill>
                    <a:schemeClr val="tx1"/>
                  </a:solidFill>
                </a:rPr>
                <a:t>transient</a:t>
              </a:r>
              <a:endParaRPr lang="en-GB" sz="2400" noProof="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7B4752-972B-B4CD-0668-F3C2454A64D4}"/>
              </a:ext>
            </a:extLst>
          </p:cNvPr>
          <p:cNvGrpSpPr/>
          <p:nvPr/>
        </p:nvGrpSpPr>
        <p:grpSpPr>
          <a:xfrm>
            <a:off x="8064331" y="1929115"/>
            <a:ext cx="1771911" cy="1185110"/>
            <a:chOff x="8203670" y="2011283"/>
            <a:chExt cx="1771911" cy="118511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2222AA1-7B88-F41A-D22D-374396CA3CB9}"/>
                </a:ext>
              </a:extLst>
            </p:cNvPr>
            <p:cNvSpPr txBox="1"/>
            <p:nvPr/>
          </p:nvSpPr>
          <p:spPr>
            <a:xfrm>
              <a:off x="8203670" y="2011283"/>
              <a:ext cx="177191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600" dirty="0"/>
                <a:t>Convection</a:t>
              </a:r>
            </a:p>
            <a:p>
              <a:pPr algn="ctr"/>
              <a:endParaRPr lang="en-GB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C23C4F5-EE04-8043-952A-FD01373D9A30}"/>
                </a:ext>
              </a:extLst>
            </p:cNvPr>
            <p:cNvSpPr/>
            <p:nvPr/>
          </p:nvSpPr>
          <p:spPr>
            <a:xfrm>
              <a:off x="8913669" y="2352521"/>
              <a:ext cx="419788" cy="273385"/>
            </a:xfrm>
            <a:prstGeom prst="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563142DB-D410-A5B8-FF3C-89B6F1EF943C}"/>
                </a:ext>
              </a:extLst>
            </p:cNvPr>
            <p:cNvSpPr/>
            <p:nvPr/>
          </p:nvSpPr>
          <p:spPr>
            <a:xfrm>
              <a:off x="8913668" y="2923008"/>
              <a:ext cx="419788" cy="273385"/>
            </a:xfrm>
            <a:prstGeom prst="left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FA6950B-6802-718E-A7C0-A49214533B51}"/>
              </a:ext>
            </a:extLst>
          </p:cNvPr>
          <p:cNvSpPr/>
          <p:nvPr/>
        </p:nvSpPr>
        <p:spPr>
          <a:xfrm>
            <a:off x="4641220" y="275808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D875D-67FD-9B24-B912-8EA09C7F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3BE21A-7AD4-B7FC-B779-AF6E28BF59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1A2E2A1-837C-F715-7DAC-4B78CC1F8F81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245F66A-9DEC-0169-8F9B-C4C55976D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308611-E753-48D1-031F-07563486DC53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62ADE90-CA40-E615-19E8-D932139D6419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21E43-DF4B-16CA-174D-BFAAA204C3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AE20E3A-A3B3-E7F6-CB63-5518A306DA40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9A32EFC-B4A4-BF9E-2776-8EE16FCB5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6DAC8DD-9485-EEB0-E59D-776CA2068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07A762-893C-DDE6-F894-E1C8EECFA567}"/>
              </a:ext>
            </a:extLst>
          </p:cNvPr>
          <p:cNvSpPr/>
          <p:nvPr/>
        </p:nvSpPr>
        <p:spPr>
          <a:xfrm>
            <a:off x="6120831" y="3817761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5AA4D-EC4A-1BC9-9C1F-C957015073F6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4BFBB-1CC9-3088-1AC9-25F5C31B01AE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C415E-363C-4860-8718-0E36D31E62C6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B002F90-A0B3-0035-4634-68B53EB6479F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4D8DA1-6611-11DD-379F-B2D7435B9B4B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04D87-4B50-C084-712B-3B43805AB039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7D1A05D-C64F-6499-0CA6-09CFCBAEFF65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5D19B56-30CF-C12D-83DE-A252FFCB9FA7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73C092D-4B0A-2458-2B3B-5C3466C9CE98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1652DF-135A-35F9-7448-374E521E7B74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8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E6AA54-0F5B-302D-5CF2-ED74A57BC7D6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0E13B1-A7E2-56E7-DC22-1684209FA68D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A876CA4-1D9D-EA73-0176-6BF234BF5D64}"/>
              </a:ext>
            </a:extLst>
          </p:cNvPr>
          <p:cNvSpPr txBox="1"/>
          <p:nvPr/>
        </p:nvSpPr>
        <p:spPr>
          <a:xfrm>
            <a:off x="5094195" y="6582883"/>
            <a:ext cx="70982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https://github.com/grossiRM/CFD_ON/blob/main/04_OpenFoam/03_NOTES-on-CFD_OpenFoam.pdf</a:t>
            </a:r>
          </a:p>
        </p:txBody>
      </p:sp>
    </p:spTree>
    <p:extLst>
      <p:ext uri="{BB962C8B-B14F-4D97-AF65-F5344CB8AC3E}">
        <p14:creationId xmlns:p14="http://schemas.microsoft.com/office/powerpoint/2010/main" val="4135939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A58A-6C46-866C-0D85-59A28878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B9457490-AF82-8A4F-4217-133C98BFD39C}"/>
              </a:ext>
            </a:extLst>
          </p:cNvPr>
          <p:cNvSpPr/>
          <p:nvPr/>
        </p:nvSpPr>
        <p:spPr>
          <a:xfrm>
            <a:off x="1946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D87D8A-63D3-DE88-AC58-65983C3CBD20}"/>
              </a:ext>
            </a:extLst>
          </p:cNvPr>
          <p:cNvSpPr txBox="1"/>
          <p:nvPr/>
        </p:nvSpPr>
        <p:spPr>
          <a:xfrm>
            <a:off x="3758601" y="6522885"/>
            <a:ext cx="84540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en-GB" sz="1600" dirty="0"/>
              <a:t>Introduction to Numerical Methods for Variational Problems - Langtangen &amp; Mardal</a:t>
            </a:r>
            <a:endParaRPr lang="LID4096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D57BD3-C764-19EA-F734-0FE64B33778E}"/>
              </a:ext>
            </a:extLst>
          </p:cNvPr>
          <p:cNvSpPr txBox="1"/>
          <p:nvPr/>
        </p:nvSpPr>
        <p:spPr>
          <a:xfrm>
            <a:off x="5723314" y="5526747"/>
            <a:ext cx="5449783" cy="523220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Método de Volumes finitos    (FVM)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F1433-02AA-1EDC-8570-831A44EEE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74" y="1259944"/>
            <a:ext cx="3413627" cy="33727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1F7F86-E502-BFD3-8743-2969849D7261}"/>
              </a:ext>
            </a:extLst>
          </p:cNvPr>
          <p:cNvSpPr txBox="1"/>
          <p:nvPr/>
        </p:nvSpPr>
        <p:spPr>
          <a:xfrm>
            <a:off x="385885" y="594907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Malha triangular - irregular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A51EF00-3CB9-63AE-145E-DE141466D7AF}"/>
              </a:ext>
            </a:extLst>
          </p:cNvPr>
          <p:cNvGrpSpPr/>
          <p:nvPr/>
        </p:nvGrpSpPr>
        <p:grpSpPr>
          <a:xfrm>
            <a:off x="4788721" y="369670"/>
            <a:ext cx="6848475" cy="3926818"/>
            <a:chOff x="5118870" y="351029"/>
            <a:chExt cx="6848475" cy="392681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8E7F1FA-FA45-4E27-9C92-44E6825D7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1864" y="351029"/>
              <a:ext cx="2609850" cy="12382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9DDA495-BA6E-A1F1-A64A-8C74B43EB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18870" y="1704265"/>
              <a:ext cx="3838575" cy="762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1BEE937-7FF7-51AC-CCBF-60D3F104E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18870" y="2573835"/>
              <a:ext cx="6848475" cy="8096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03EA25C-9777-90A3-5D8E-75F0603B0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14394" y="3496797"/>
              <a:ext cx="2257425" cy="7810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2DCA818B-6DA0-345C-BDBF-43642CF8F31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027" t="14307" r="35724" b="19738"/>
          <a:stretch>
            <a:fillRect/>
          </a:stretch>
        </p:blipFill>
        <p:spPr>
          <a:xfrm>
            <a:off x="3901441" y="3667204"/>
            <a:ext cx="1429472" cy="28203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8129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932749" y="49315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19770" y="1607436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11825" y="1022425"/>
            <a:ext cx="4989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 b="1" i="0" u="none" strike="noStrike" baseline="0">
                <a:solidFill>
                  <a:srgbClr val="0000FF"/>
                </a:solidFill>
                <a:latin typeface="Charis SIL"/>
              </a:defRPr>
            </a:lvl1pPr>
          </a:lstStyle>
          <a:p>
            <a:r>
              <a:rPr lang="LID4096" dirty="0"/>
              <a:t>multi-timestep</a:t>
            </a:r>
            <a:r>
              <a:rPr lang="pt-BR" dirty="0"/>
              <a:t> </a:t>
            </a:r>
            <a:r>
              <a:rPr lang="LID4096" dirty="0"/>
              <a:t>method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1919770" y="2925463"/>
            <a:ext cx="5551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0000FF"/>
                </a:solidFill>
                <a:latin typeface="Charis SIL"/>
              </a:rPr>
              <a:t>born-dead element technique</a:t>
            </a:r>
            <a:endParaRPr lang="LID4096" sz="3200" b="1" dirty="0">
              <a:solidFill>
                <a:srgbClr val="0000FF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F8370-15B6-DACC-BCFC-1469ED22D519}"/>
              </a:ext>
            </a:extLst>
          </p:cNvPr>
          <p:cNvSpPr txBox="1"/>
          <p:nvPr/>
        </p:nvSpPr>
        <p:spPr>
          <a:xfrm>
            <a:off x="5529943" y="10085"/>
            <a:ext cx="6653348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endParaRPr lang="pt-BR" sz="600" dirty="0"/>
          </a:p>
          <a:p>
            <a:pPr algn="r"/>
            <a:r>
              <a:rPr lang="LID4096" sz="1500" dirty="0"/>
              <a:t>A Chimera method for thermal part-scale metal Additive Manufacturing simulation</a:t>
            </a:r>
            <a:endParaRPr lang="pt-BR" sz="1500" dirty="0"/>
          </a:p>
          <a:p>
            <a:pPr algn="r"/>
            <a:endParaRPr lang="pt-BR" sz="700" dirty="0"/>
          </a:p>
          <a:p>
            <a:pPr algn="r"/>
            <a:r>
              <a:rPr lang="en-GB" sz="1500" dirty="0"/>
              <a:t> Substepped and advected subdomain methods for part-scale LPBF modeling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1D1FCE-5F00-2706-314B-BE896338B840}"/>
              </a:ext>
            </a:extLst>
          </p:cNvPr>
          <p:cNvSpPr txBox="1"/>
          <p:nvPr/>
        </p:nvSpPr>
        <p:spPr>
          <a:xfrm>
            <a:off x="9379131" y="5564404"/>
            <a:ext cx="2626768" cy="954107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LID4096"/>
            </a:defPPr>
            <a:lvl1pPr algn="r"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l"/>
            <a:r>
              <a:rPr lang="en-US" dirty="0"/>
              <a:t>https://github.com/ordinary-slim/moving_heat_source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https://github.com/ordinary-slim/mhs_fenicsx</a:t>
            </a:r>
            <a:endParaRPr lang="LID4096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B6F600-1C78-7F24-F815-C3A14DCAA551}"/>
              </a:ext>
            </a:extLst>
          </p:cNvPr>
          <p:cNvGrpSpPr/>
          <p:nvPr/>
        </p:nvGrpSpPr>
        <p:grpSpPr>
          <a:xfrm>
            <a:off x="7956326" y="5581694"/>
            <a:ext cx="1267040" cy="1169552"/>
            <a:chOff x="10297180" y="4379027"/>
            <a:chExt cx="1724445" cy="1724444"/>
          </a:xfrm>
        </p:grpSpPr>
        <p:pic>
          <p:nvPicPr>
            <p:cNvPr id="1026" name="Picture 2" descr="Docker Desktop - Baixar e instalar no Windows | Microsoft Store">
              <a:extLst>
                <a:ext uri="{FF2B5EF4-FFF2-40B4-BE49-F238E27FC236}">
                  <a16:creationId xmlns:a16="http://schemas.microsoft.com/office/drawing/2014/main" id="{E439F3FD-A5F5-4B3B-082E-52EA20AA71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97180" y="4379027"/>
              <a:ext cx="1724444" cy="172444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16DC95-9F13-6385-859E-7BB8ABB2FD32}"/>
                </a:ext>
              </a:extLst>
            </p:cNvPr>
            <p:cNvSpPr txBox="1"/>
            <p:nvPr/>
          </p:nvSpPr>
          <p:spPr>
            <a:xfrm>
              <a:off x="10297181" y="5545754"/>
              <a:ext cx="1724444" cy="4948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docker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393058E-FCBA-836A-7AD4-4E787CCCC394}"/>
              </a:ext>
            </a:extLst>
          </p:cNvPr>
          <p:cNvSpPr txBox="1"/>
          <p:nvPr/>
        </p:nvSpPr>
        <p:spPr>
          <a:xfrm>
            <a:off x="8037839" y="1780689"/>
            <a:ext cx="36109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moving mesh</a:t>
            </a:r>
          </a:p>
          <a:p>
            <a:r>
              <a:rPr lang="en-GB" sz="3200" noProof="0" dirty="0"/>
              <a:t>moving heat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656F5F-1576-55B7-719C-676633D10FD4}"/>
              </a:ext>
            </a:extLst>
          </p:cNvPr>
          <p:cNvSpPr txBox="1"/>
          <p:nvPr/>
        </p:nvSpPr>
        <p:spPr>
          <a:xfrm>
            <a:off x="7028749" y="812347"/>
            <a:ext cx="43197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Simulação do processo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C5EBAF-16D2-D819-2ED6-F51AC81BB241}"/>
              </a:ext>
            </a:extLst>
          </p:cNvPr>
          <p:cNvSpPr txBox="1"/>
          <p:nvPr/>
        </p:nvSpPr>
        <p:spPr>
          <a:xfrm>
            <a:off x="7198942" y="1293596"/>
            <a:ext cx="36109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Digital twin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FCAE55-6849-908E-1D20-7B0FA38E1293}"/>
              </a:ext>
            </a:extLst>
          </p:cNvPr>
          <p:cNvGrpSpPr/>
          <p:nvPr/>
        </p:nvGrpSpPr>
        <p:grpSpPr>
          <a:xfrm>
            <a:off x="374391" y="1135820"/>
            <a:ext cx="1568161" cy="2483850"/>
            <a:chOff x="374391" y="857146"/>
            <a:chExt cx="1568161" cy="248385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9D9C9-9B3A-C2E2-304D-58E8755D1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B66D9E-A07D-480A-7599-210FB52BF78C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9BE85373-BC3F-9B58-4980-C20D32520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326" y="3002465"/>
            <a:ext cx="4049573" cy="186940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BF5D71F-04B0-53C9-2924-E16E80EEB7B6}"/>
              </a:ext>
            </a:extLst>
          </p:cNvPr>
          <p:cNvSpPr txBox="1"/>
          <p:nvPr/>
        </p:nvSpPr>
        <p:spPr>
          <a:xfrm>
            <a:off x="3098074" y="3579505"/>
            <a:ext cx="62135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/>
            </a:lvl1pPr>
          </a:lstStyle>
          <a:p>
            <a:r>
              <a:rPr lang="en-US" dirty="0"/>
              <a:t>Adaptive Mesh Refinement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222A-9492-AA17-C0D6-DC7318DCE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740BF3-63E3-C8C6-CE42-9B97287FAA01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6CF508-4D21-04D6-D9BD-66C6D92A5576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0C1421-FE0A-BAB5-B8DE-94656253C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9F902-334A-E338-A45E-05726B904658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6E7166-E25A-B67F-7277-56A424F877FF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E0701-1BD0-FFB4-2EE1-C185DBB1C963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E7E11-2CEA-4B92-EDB7-1E99351A1467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C577E94-F351-03B0-DB03-63A2BCB17C8A}"/>
              </a:ext>
            </a:extLst>
          </p:cNvPr>
          <p:cNvGrpSpPr/>
          <p:nvPr/>
        </p:nvGrpSpPr>
        <p:grpSpPr>
          <a:xfrm>
            <a:off x="6551024" y="2060172"/>
            <a:ext cx="3734364" cy="1115006"/>
            <a:chOff x="344381" y="5178922"/>
            <a:chExt cx="3734364" cy="11150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7A7F3-B9B5-C057-0C5B-F1321AA523D0}"/>
                </a:ext>
              </a:extLst>
            </p:cNvPr>
            <p:cNvSpPr txBox="1"/>
            <p:nvPr/>
          </p:nvSpPr>
          <p:spPr>
            <a:xfrm>
              <a:off x="1665914" y="5832263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5359375-7DDF-8F00-2640-51EE4CCB5727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DDC43F-B28A-D2AC-982A-64DF7EB773D3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0FA30E-EF5B-3FB7-B5E3-8EB4C971DB7B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4A8D73-4DC1-4093-7867-46F2544A3B3E}"/>
              </a:ext>
            </a:extLst>
          </p:cNvPr>
          <p:cNvGrpSpPr/>
          <p:nvPr/>
        </p:nvGrpSpPr>
        <p:grpSpPr>
          <a:xfrm>
            <a:off x="6660264" y="1000714"/>
            <a:ext cx="5119014" cy="902698"/>
            <a:chOff x="497166" y="4398146"/>
            <a:chExt cx="5119014" cy="90269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CEF011-11CB-D121-5610-80FDFB269F3C}"/>
                </a:ext>
              </a:extLst>
            </p:cNvPr>
            <p:cNvSpPr txBox="1"/>
            <p:nvPr/>
          </p:nvSpPr>
          <p:spPr>
            <a:xfrm>
              <a:off x="1195700" y="4839179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/>
                <p:nvPr/>
              </p:nvSpPr>
              <p:spPr>
                <a:xfrm>
                  <a:off x="497166" y="4398146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98146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2F2C2D-8B9A-EAA9-5C65-2C212AC3B5A0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058F6-F450-1C0F-AD14-FF2F89E8D6A1}"/>
              </a:ext>
            </a:extLst>
          </p:cNvPr>
          <p:cNvCxnSpPr/>
          <p:nvPr/>
        </p:nvCxnSpPr>
        <p:spPr>
          <a:xfrm>
            <a:off x="6899229" y="1961843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arXiv:1810.00674v1 [cs.MS] 1 Oct 2018">
            <a:extLst>
              <a:ext uri="{FF2B5EF4-FFF2-40B4-BE49-F238E27FC236}">
                <a16:creationId xmlns:a16="http://schemas.microsoft.com/office/drawing/2014/main" id="{1E964518-229E-996F-896B-1D5B7193E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92" b="38661"/>
          <a:stretch>
            <a:fillRect/>
          </a:stretch>
        </p:blipFill>
        <p:spPr bwMode="auto">
          <a:xfrm>
            <a:off x="7872557" y="5197675"/>
            <a:ext cx="3840956" cy="13763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6196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-26401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BB93DFF-57B2-4C00-C034-D1DF222D2F65}"/>
              </a:ext>
            </a:extLst>
          </p:cNvPr>
          <p:cNvGrpSpPr/>
          <p:nvPr/>
        </p:nvGrpSpPr>
        <p:grpSpPr>
          <a:xfrm>
            <a:off x="397946" y="347773"/>
            <a:ext cx="3677665" cy="2580494"/>
            <a:chOff x="673623" y="317105"/>
            <a:chExt cx="6464796" cy="45361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BADB124-49C1-754F-FBE9-24B41864428F}"/>
                </a:ext>
              </a:extLst>
            </p:cNvPr>
            <p:cNvGrpSpPr/>
            <p:nvPr/>
          </p:nvGrpSpPr>
          <p:grpSpPr>
            <a:xfrm>
              <a:off x="673623" y="2161150"/>
              <a:ext cx="3829128" cy="1744809"/>
              <a:chOff x="408691" y="285954"/>
              <a:chExt cx="3829128" cy="1744809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CB785D-C5A4-33BC-3DF3-6F2B57A72606}"/>
                  </a:ext>
                </a:extLst>
              </p:cNvPr>
              <p:cNvSpPr txBox="1"/>
              <p:nvPr/>
            </p:nvSpPr>
            <p:spPr>
              <a:xfrm>
                <a:off x="408691" y="285954"/>
                <a:ext cx="3829128" cy="1744809"/>
              </a:xfrm>
              <a:prstGeom prst="rect">
                <a:avLst/>
              </a:prstGeom>
              <a:solidFill>
                <a:schemeClr val="tx1"/>
              </a:solidFill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1"/>
                    </a:solidFill>
                  </a:rPr>
                  <a:t>   ===========                 </a:t>
                </a:r>
              </a:p>
              <a:p>
                <a:r>
                  <a:rPr lang="en-US" sz="1050" dirty="0">
                    <a:solidFill>
                      <a:schemeClr val="bg1"/>
                    </a:solidFill>
                  </a:rPr>
                  <a:t>     \ \               /    </a:t>
                </a:r>
                <a:r>
                  <a:rPr lang="en-US" sz="1200" b="1" dirty="0">
                    <a:solidFill>
                      <a:srgbClr val="FFFF00"/>
                    </a:solidFill>
                  </a:rPr>
                  <a:t>F</a:t>
                </a:r>
                <a:r>
                  <a:rPr lang="en-US" sz="1100" dirty="0">
                    <a:solidFill>
                      <a:schemeClr val="bg1"/>
                    </a:solidFill>
                  </a:rPr>
                  <a:t>    ield             </a:t>
                </a:r>
              </a:p>
              <a:p>
                <a:r>
                  <a:rPr lang="en-US" sz="1100" dirty="0">
                    <a:solidFill>
                      <a:schemeClr val="bg1"/>
                    </a:solidFill>
                  </a:rPr>
                  <a:t>      \ \          /      </a:t>
                </a:r>
                <a:r>
                  <a:rPr lang="en-US" sz="1200" b="1" dirty="0">
                    <a:solidFill>
                      <a:srgbClr val="FFFF00"/>
                    </a:solidFill>
                  </a:rPr>
                  <a:t>O</a:t>
                </a:r>
                <a:r>
                  <a:rPr lang="en-US" sz="1100" dirty="0">
                    <a:solidFill>
                      <a:schemeClr val="bg1"/>
                    </a:solidFill>
                  </a:rPr>
                  <a:t>   peration    </a:t>
                </a:r>
              </a:p>
              <a:p>
                <a:r>
                  <a:rPr lang="en-US" sz="1100" dirty="0">
                    <a:solidFill>
                      <a:schemeClr val="bg1"/>
                    </a:solidFill>
                  </a:rPr>
                  <a:t>        \ \      /        </a:t>
                </a:r>
                <a:r>
                  <a:rPr lang="en-US" sz="1200" b="1" dirty="0">
                    <a:solidFill>
                      <a:srgbClr val="FFFF00"/>
                    </a:solidFill>
                  </a:rPr>
                  <a:t>A</a:t>
                </a:r>
                <a:r>
                  <a:rPr lang="en-US" sz="1100" dirty="0">
                    <a:solidFill>
                      <a:schemeClr val="bg1"/>
                    </a:solidFill>
                  </a:rPr>
                  <a:t>  </a:t>
                </a:r>
                <a:r>
                  <a:rPr lang="en-US" sz="1200" dirty="0">
                    <a:solidFill>
                      <a:schemeClr val="bg1"/>
                    </a:solidFill>
                  </a:rPr>
                  <a:t> </a:t>
                </a:r>
                <a:r>
                  <a:rPr lang="en-US" sz="1100" dirty="0">
                    <a:solidFill>
                      <a:schemeClr val="bg1"/>
                    </a:solidFill>
                  </a:rPr>
                  <a:t>nd          </a:t>
                </a:r>
              </a:p>
              <a:p>
                <a:r>
                  <a:rPr lang="en-US" sz="1100" dirty="0">
                    <a:solidFill>
                      <a:schemeClr val="bg1"/>
                    </a:solidFill>
                  </a:rPr>
                  <a:t>          \ \  /          </a:t>
                </a:r>
                <a:r>
                  <a:rPr lang="en-US" sz="1200" b="1" dirty="0">
                    <a:solidFill>
                      <a:srgbClr val="FFFF00"/>
                    </a:solidFill>
                  </a:rPr>
                  <a:t>M</a:t>
                </a:r>
                <a:r>
                  <a:rPr lang="en-US" sz="1100" dirty="0">
                    <a:solidFill>
                      <a:schemeClr val="bg1"/>
                    </a:solidFill>
                  </a:rPr>
                  <a:t> anipulation  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1EF483-E3F0-BCCF-0DA3-BE6CE9CB959B}"/>
                  </a:ext>
                </a:extLst>
              </p:cNvPr>
              <p:cNvSpPr txBox="1"/>
              <p:nvPr/>
            </p:nvSpPr>
            <p:spPr>
              <a:xfrm>
                <a:off x="2951556" y="285954"/>
                <a:ext cx="1212980" cy="595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16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LMRoman12-Regular"/>
                  </a:rPr>
                  <a:t>open</a:t>
                </a:r>
                <a:endParaRPr lang="LID4096" sz="1600" b="1" u="sng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pic>
          <p:nvPicPr>
            <p:cNvPr id="2052" name="Picture 4" descr="GitHub – Wikipédia, a enciclopédia livre">
              <a:extLst>
                <a:ext uri="{FF2B5EF4-FFF2-40B4-BE49-F238E27FC236}">
                  <a16:creationId xmlns:a16="http://schemas.microsoft.com/office/drawing/2014/main" id="{C9B531D7-215C-0597-69AC-FA6F9E96FD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59541" y="317105"/>
              <a:ext cx="1736459" cy="173645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63A9BA0-E7EC-EFB9-415B-761AEEB0BFE4}"/>
                </a:ext>
              </a:extLst>
            </p:cNvPr>
            <p:cNvGrpSpPr/>
            <p:nvPr/>
          </p:nvGrpSpPr>
          <p:grpSpPr>
            <a:xfrm>
              <a:off x="681011" y="317105"/>
              <a:ext cx="1584016" cy="1828109"/>
              <a:chOff x="566057" y="203450"/>
              <a:chExt cx="1584016" cy="1828109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D6BF0F9-B6E1-D861-5DFC-49FE4E001B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6057" y="203450"/>
                <a:ext cx="1537730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3B92E8E-E4AB-A105-2AC9-D5AEA2927C1B}"/>
                  </a:ext>
                </a:extLst>
              </p:cNvPr>
              <p:cNvSpPr txBox="1"/>
              <p:nvPr/>
            </p:nvSpPr>
            <p:spPr>
              <a:xfrm>
                <a:off x="1265252" y="1490531"/>
                <a:ext cx="884820" cy="5410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pt-BR" sz="1400" b="1" dirty="0"/>
                  <a:t>Fi</a:t>
                </a:r>
                <a:r>
                  <a:rPr lang="pt-BR" sz="1400" b="1" dirty="0">
                    <a:solidFill>
                      <a:srgbClr val="FF0000"/>
                    </a:solidFill>
                  </a:rPr>
                  <a:t>Py</a:t>
                </a:r>
                <a:endParaRPr lang="pt-BR" sz="1100" dirty="0">
                  <a:solidFill>
                    <a:srgbClr val="FF0000"/>
                  </a:solidFill>
                </a:endParaRPr>
              </a:p>
            </p:txBody>
          </p:sp>
        </p:grp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6AE8A39-7019-D45A-36B9-B6991751D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6027" t="14307" r="35724" b="19738"/>
            <a:stretch>
              <a:fillRect/>
            </a:stretch>
          </p:blipFill>
          <p:spPr>
            <a:xfrm>
              <a:off x="4596814" y="2161150"/>
              <a:ext cx="1499186" cy="269208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DB637263-302C-D6CC-F8B9-0BEE2DE8920F}"/>
                </a:ext>
              </a:extLst>
            </p:cNvPr>
            <p:cNvSpPr/>
            <p:nvPr/>
          </p:nvSpPr>
          <p:spPr>
            <a:xfrm>
              <a:off x="3309290" y="970008"/>
              <a:ext cx="3829129" cy="634862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ctr"/>
              <a:r>
                <a:rPr lang="pt-BR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Github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545C98D-1BBE-89E4-6C01-FD5436712F6D}"/>
              </a:ext>
            </a:extLst>
          </p:cNvPr>
          <p:cNvSpPr/>
          <p:nvPr/>
        </p:nvSpPr>
        <p:spPr>
          <a:xfrm>
            <a:off x="7863840" y="6615178"/>
            <a:ext cx="4278909" cy="21019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200" b="1" dirty="0">
                <a:solidFill>
                  <a:schemeClr val="accent2"/>
                </a:solidFill>
              </a:rPr>
              <a:t>https://github.com/grossiRM/CFD_ON/blob/main/02_FiPy</a:t>
            </a:r>
            <a:endParaRPr lang="pt-BR" sz="1600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solidFill>
                  <a:schemeClr val="accent2"/>
                </a:solidFill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3478903" y="2312853"/>
            <a:ext cx="388586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LID4096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530" y="3631486"/>
            <a:ext cx="6183461" cy="2797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097" y="1658372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713097" y="1212074"/>
            <a:ext cx="3191894" cy="3539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826" y="3631486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6202762" y="907037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691D91-8EA8-8308-91AA-D47C1F8CCB84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  <p:pic>
        <p:nvPicPr>
          <p:cNvPr id="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95BAACB8-8590-8E47-FE86-531747F82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070" y="5008844"/>
            <a:ext cx="367757" cy="41284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340387-6FD6-C84F-9629-2F2B526B4E40}"/>
              </a:ext>
            </a:extLst>
          </p:cNvPr>
          <p:cNvSpPr/>
          <p:nvPr/>
        </p:nvSpPr>
        <p:spPr>
          <a:xfrm>
            <a:off x="4188370" y="301934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6710" y="3439670"/>
            <a:ext cx="2120924" cy="31114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C7B3E8-E2EB-C244-949A-70E3E9035254}"/>
              </a:ext>
            </a:extLst>
          </p:cNvPr>
          <p:cNvGrpSpPr>
            <a:grpSpLocks noChangeAspect="1"/>
          </p:cNvGrpSpPr>
          <p:nvPr/>
        </p:nvGrpSpPr>
        <p:grpSpPr>
          <a:xfrm>
            <a:off x="2473249" y="3054745"/>
            <a:ext cx="3430153" cy="2989529"/>
            <a:chOff x="2006892" y="2868192"/>
            <a:chExt cx="3881630" cy="3383011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DE04BA7-0F71-CADB-E003-F4F2BA89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06892" y="2868192"/>
              <a:ext cx="3881630" cy="25040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C9EA845-39E6-4317-FFE8-CE4A5FB5D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91189" y="3551867"/>
              <a:ext cx="3597333" cy="2699336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793371"/>
            <a:chOff x="10535717" y="1030364"/>
            <a:chExt cx="1329047" cy="4793371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649945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4380533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09F7EA-632A-44BC-5F5B-042DDC535F29}"/>
              </a:ext>
            </a:extLst>
          </p:cNvPr>
          <p:cNvSpPr txBox="1"/>
          <p:nvPr/>
        </p:nvSpPr>
        <p:spPr>
          <a:xfrm>
            <a:off x="11226296" y="2203932"/>
            <a:ext cx="521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F2827-11B6-A67C-45C4-A3BC2E1110DF}"/>
              </a:ext>
            </a:extLst>
          </p:cNvPr>
          <p:cNvSpPr txBox="1"/>
          <p:nvPr/>
        </p:nvSpPr>
        <p:spPr>
          <a:xfrm>
            <a:off x="10547288" y="3886122"/>
            <a:ext cx="115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EF953-429C-180E-B1E9-DF2EE8305AFC}"/>
              </a:ext>
            </a:extLst>
          </p:cNvPr>
          <p:cNvSpPr txBox="1"/>
          <p:nvPr/>
        </p:nvSpPr>
        <p:spPr>
          <a:xfrm>
            <a:off x="10396377" y="5760147"/>
            <a:ext cx="130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Windows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FFAF26-5860-5E7B-5264-297B97B5C78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F5479-A3C0-D697-E708-00644E5E1832}"/>
              </a:ext>
            </a:extLst>
          </p:cNvPr>
          <p:cNvSpPr txBox="1"/>
          <p:nvPr/>
        </p:nvSpPr>
        <p:spPr>
          <a:xfrm>
            <a:off x="6093201" y="658469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200" b="1" dirty="0">
                <a:solidFill>
                  <a:schemeClr val="accent2"/>
                </a:solidFill>
              </a:rPr>
              <a:t>https://github.com/grossiRM/AM_FEG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17F490-912B-1FD9-DF56-26BCB23F9227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0" y="10692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8467" b="70395"/>
            <a:stretch>
              <a:fillRect/>
            </a:stretch>
          </p:blipFill>
          <p:spPr>
            <a:xfrm>
              <a:off x="8848644" y="3139733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92273"/>
            <a:ext cx="9516039" cy="52033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900" b="1" spc="-160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900" b="1" spc="-160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90961-BE53-995B-0145-22D5C130E146}"/>
              </a:ext>
            </a:extLst>
          </p:cNvPr>
          <p:cNvSpPr txBox="1"/>
          <p:nvPr/>
        </p:nvSpPr>
        <p:spPr>
          <a:xfrm>
            <a:off x="1322391" y="326498"/>
            <a:ext cx="732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FC7D-FA75-9960-6973-C3EED41D9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DBA63D7-85EB-8D7E-B053-D1443FD1FF04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783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Distorção, stress residual</a:t>
            </a:r>
          </a:p>
          <a:p>
            <a:endParaRPr lang="pt-BR" sz="1600" b="1" dirty="0"/>
          </a:p>
          <a:p>
            <a:r>
              <a:rPr lang="pt-BR" sz="1400" b="1" u="sng" dirty="0"/>
              <a:t>Métodos</a:t>
            </a:r>
            <a:r>
              <a:rPr lang="pt-BR" sz="1400" b="1" dirty="0"/>
              <a:t>:</a:t>
            </a:r>
            <a:r>
              <a:rPr lang="pt-BR" sz="2400" b="1" dirty="0"/>
              <a:t> FEM, FVM</a:t>
            </a:r>
            <a:endParaRPr lang="LID4096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Fluxo, </a:t>
            </a:r>
            <a:r>
              <a:rPr lang="pt-PT" sz="2400" b="1" dirty="0"/>
              <a:t>poça de fusão</a:t>
            </a:r>
          </a:p>
          <a:p>
            <a:endParaRPr lang="pt-BR" sz="14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 </a:t>
            </a:r>
            <a:r>
              <a:rPr lang="pt-BR" sz="2400" b="1" dirty="0"/>
              <a:t>CFD, SPH, LBM</a:t>
            </a:r>
            <a:endParaRPr lang="LID4096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Grãos, nucleação, vazios  </a:t>
            </a:r>
          </a:p>
          <a:p>
            <a:endParaRPr lang="pt-BR" sz="12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</a:t>
            </a:r>
            <a:r>
              <a:rPr lang="pt-BR" sz="2400" b="1" dirty="0"/>
              <a:t> CA, MC, PF</a:t>
            </a:r>
            <a:endParaRPr lang="LID4096" sz="2400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05BF1-A086-DBA7-1C0E-52B01E52FC86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335731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237295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331893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19404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650270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1962561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260688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A35248-ED5C-2F1C-D049-43AF15EF8757}"/>
              </a:ext>
            </a:extLst>
          </p:cNvPr>
          <p:cNvSpPr txBox="1"/>
          <p:nvPr/>
        </p:nvSpPr>
        <p:spPr>
          <a:xfrm>
            <a:off x="1" y="6611815"/>
            <a:ext cx="666631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sz="1000" dirty="0"/>
              <a:t>Hybridization of generative design and TPMS lattices: A statistical approach for lightweight aeronautical components</a:t>
            </a: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799481"/>
            <a:ext cx="3289422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 </a:t>
            </a:r>
          </a:p>
          <a:p>
            <a:pPr algn="ctr"/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stress e deformação</a:t>
            </a:r>
            <a:endParaRPr lang="pt-BR" sz="2400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</a:p>
          <a:p>
            <a:br>
              <a:rPr lang="pt-BR" sz="6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sz="2000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</a:p>
          <a:p>
            <a:br>
              <a:rPr lang="pt-BR" sz="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pt-BR" sz="200" b="1" noProof="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Combinação: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7540367" y="4577292"/>
            <a:ext cx="3818361" cy="2020728"/>
            <a:chOff x="-442821" y="4638065"/>
            <a:chExt cx="3818361" cy="2020728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529486" y="4800187"/>
              <a:ext cx="2846054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27432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-442821" y="4638065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-434110" y="5658637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5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A1EF7ECF-C30D-E333-D069-C30EF80C5E46}"/>
              </a:ext>
            </a:extLst>
          </p:cNvPr>
          <p:cNvSpPr txBox="1"/>
          <p:nvPr/>
        </p:nvSpPr>
        <p:spPr>
          <a:xfrm>
            <a:off x="501167" y="869149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50A98748-6229-F7E8-302B-574D864C98BC}"/>
              </a:ext>
            </a:extLst>
          </p:cNvPr>
          <p:cNvSpPr txBox="1"/>
          <p:nvPr/>
        </p:nvSpPr>
        <p:spPr>
          <a:xfrm>
            <a:off x="3858331" y="873504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DB3C6D52-327D-F57A-A3A1-A45EC551CBF1}"/>
              </a:ext>
            </a:extLst>
          </p:cNvPr>
          <p:cNvSpPr txBox="1"/>
          <p:nvPr/>
        </p:nvSpPr>
        <p:spPr>
          <a:xfrm>
            <a:off x="7468042" y="886566"/>
            <a:ext cx="91440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4758915-2B77-10F0-4246-FFAE7042588D}"/>
              </a:ext>
            </a:extLst>
          </p:cNvPr>
          <p:cNvGrpSpPr>
            <a:grpSpLocks noChangeAspect="1"/>
          </p:cNvGrpSpPr>
          <p:nvPr/>
        </p:nvGrpSpPr>
        <p:grpSpPr>
          <a:xfrm>
            <a:off x="484691" y="4263451"/>
            <a:ext cx="3406383" cy="2089381"/>
            <a:chOff x="4371703" y="4937760"/>
            <a:chExt cx="2995748" cy="1837509"/>
          </a:xfrm>
        </p:grpSpPr>
        <p:pic>
          <p:nvPicPr>
            <p:cNvPr id="7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BBAD27A5-9D7B-6DED-DBD5-72193CC6392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437" r="59286"/>
            <a:stretch>
              <a:fillRect/>
            </a:stretch>
          </p:blipFill>
          <p:spPr bwMode="auto">
            <a:xfrm>
              <a:off x="4600321" y="5225143"/>
              <a:ext cx="2357829" cy="145351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7FF3CC0-6B83-C8A9-35D8-52064A3C9EE6}"/>
                </a:ext>
              </a:extLst>
            </p:cNvPr>
            <p:cNvSpPr/>
            <p:nvPr/>
          </p:nvSpPr>
          <p:spPr>
            <a:xfrm>
              <a:off x="4371703" y="4937760"/>
              <a:ext cx="2995748" cy="1837509"/>
            </a:xfrm>
            <a:custGeom>
              <a:avLst/>
              <a:gdLst>
                <a:gd name="connsiteX0" fmla="*/ 0 w 2995748"/>
                <a:gd name="connsiteY0" fmla="*/ 269966 h 1837509"/>
                <a:gd name="connsiteX1" fmla="*/ 731520 w 2995748"/>
                <a:gd name="connsiteY1" fmla="*/ 304800 h 1837509"/>
                <a:gd name="connsiteX2" fmla="*/ 1166948 w 2995748"/>
                <a:gd name="connsiteY2" fmla="*/ 644434 h 1837509"/>
                <a:gd name="connsiteX3" fmla="*/ 1698171 w 2995748"/>
                <a:gd name="connsiteY3" fmla="*/ 896983 h 1837509"/>
                <a:gd name="connsiteX4" fmla="*/ 1828800 w 2995748"/>
                <a:gd name="connsiteY4" fmla="*/ 957943 h 1837509"/>
                <a:gd name="connsiteX5" fmla="*/ 2142308 w 2995748"/>
                <a:gd name="connsiteY5" fmla="*/ 1045029 h 1837509"/>
                <a:gd name="connsiteX6" fmla="*/ 2272937 w 2995748"/>
                <a:gd name="connsiteY6" fmla="*/ 1140823 h 1837509"/>
                <a:gd name="connsiteX7" fmla="*/ 2629988 w 2995748"/>
                <a:gd name="connsiteY7" fmla="*/ 1306286 h 1837509"/>
                <a:gd name="connsiteX8" fmla="*/ 2725783 w 2995748"/>
                <a:gd name="connsiteY8" fmla="*/ 1349829 h 1837509"/>
                <a:gd name="connsiteX9" fmla="*/ 2577737 w 2995748"/>
                <a:gd name="connsiteY9" fmla="*/ 1550126 h 1837509"/>
                <a:gd name="connsiteX10" fmla="*/ 2429691 w 2995748"/>
                <a:gd name="connsiteY10" fmla="*/ 1820091 h 1837509"/>
                <a:gd name="connsiteX11" fmla="*/ 2751908 w 2995748"/>
                <a:gd name="connsiteY11" fmla="*/ 1837509 h 1837509"/>
                <a:gd name="connsiteX12" fmla="*/ 2987040 w 2995748"/>
                <a:gd name="connsiteY12" fmla="*/ 1166949 h 1837509"/>
                <a:gd name="connsiteX13" fmla="*/ 2899954 w 2995748"/>
                <a:gd name="connsiteY13" fmla="*/ 1184366 h 1837509"/>
                <a:gd name="connsiteX14" fmla="*/ 2995748 w 2995748"/>
                <a:gd name="connsiteY14" fmla="*/ 0 h 1837509"/>
                <a:gd name="connsiteX15" fmla="*/ 0 w 2995748"/>
                <a:gd name="connsiteY15" fmla="*/ 43543 h 1837509"/>
                <a:gd name="connsiteX16" fmla="*/ 0 w 2995748"/>
                <a:gd name="connsiteY16" fmla="*/ 269966 h 1837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95748" h="1837509">
                  <a:moveTo>
                    <a:pt x="0" y="269966"/>
                  </a:moveTo>
                  <a:lnTo>
                    <a:pt x="731520" y="304800"/>
                  </a:lnTo>
                  <a:lnTo>
                    <a:pt x="1166948" y="644434"/>
                  </a:lnTo>
                  <a:lnTo>
                    <a:pt x="1698171" y="896983"/>
                  </a:lnTo>
                  <a:cubicBezTo>
                    <a:pt x="1796407" y="929729"/>
                    <a:pt x="1753634" y="907833"/>
                    <a:pt x="1828800" y="957943"/>
                  </a:cubicBezTo>
                  <a:lnTo>
                    <a:pt x="2142308" y="1045029"/>
                  </a:lnTo>
                  <a:lnTo>
                    <a:pt x="2272937" y="1140823"/>
                  </a:lnTo>
                  <a:lnTo>
                    <a:pt x="2629988" y="1306286"/>
                  </a:lnTo>
                  <a:lnTo>
                    <a:pt x="2725783" y="1349829"/>
                  </a:lnTo>
                  <a:lnTo>
                    <a:pt x="2577737" y="1550126"/>
                  </a:lnTo>
                  <a:lnTo>
                    <a:pt x="2429691" y="1820091"/>
                  </a:lnTo>
                  <a:lnTo>
                    <a:pt x="2751908" y="1837509"/>
                  </a:lnTo>
                  <a:lnTo>
                    <a:pt x="2987040" y="1166949"/>
                  </a:lnTo>
                  <a:lnTo>
                    <a:pt x="2899954" y="1184366"/>
                  </a:lnTo>
                  <a:lnTo>
                    <a:pt x="2995748" y="0"/>
                  </a:lnTo>
                  <a:lnTo>
                    <a:pt x="0" y="43543"/>
                  </a:lnTo>
                  <a:lnTo>
                    <a:pt x="0" y="269966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05F2F3C-BB55-2C53-EEE2-47627CB437F2}"/>
              </a:ext>
            </a:extLst>
          </p:cNvPr>
          <p:cNvGrpSpPr>
            <a:grpSpLocks noChangeAspect="1"/>
          </p:cNvGrpSpPr>
          <p:nvPr/>
        </p:nvGrpSpPr>
        <p:grpSpPr>
          <a:xfrm>
            <a:off x="3346537" y="3999782"/>
            <a:ext cx="3975155" cy="2743200"/>
            <a:chOff x="8012784" y="4694472"/>
            <a:chExt cx="2718515" cy="1876010"/>
          </a:xfrm>
        </p:grpSpPr>
        <p:pic>
          <p:nvPicPr>
            <p:cNvPr id="19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65216146-BBD5-5BDD-F2BD-D21B3BD3B8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173" t="61992"/>
            <a:stretch>
              <a:fillRect/>
            </a:stretch>
          </p:blipFill>
          <p:spPr bwMode="auto">
            <a:xfrm>
              <a:off x="8540684" y="5112653"/>
              <a:ext cx="2190615" cy="1329217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DC31478-3B19-1FBD-9845-CA5B221A367B}"/>
                </a:ext>
              </a:extLst>
            </p:cNvPr>
            <p:cNvSpPr/>
            <p:nvPr/>
          </p:nvSpPr>
          <p:spPr>
            <a:xfrm>
              <a:off x="8012784" y="4694472"/>
              <a:ext cx="2714919" cy="1876010"/>
            </a:xfrm>
            <a:custGeom>
              <a:avLst/>
              <a:gdLst>
                <a:gd name="connsiteX0" fmla="*/ 490193 w 2714919"/>
                <a:gd name="connsiteY0" fmla="*/ 1687474 h 1876010"/>
                <a:gd name="connsiteX1" fmla="*/ 509047 w 2714919"/>
                <a:gd name="connsiteY1" fmla="*/ 773074 h 1876010"/>
                <a:gd name="connsiteX2" fmla="*/ 1414020 w 2714919"/>
                <a:gd name="connsiteY2" fmla="*/ 678806 h 1876010"/>
                <a:gd name="connsiteX3" fmla="*/ 1791092 w 2714919"/>
                <a:gd name="connsiteY3" fmla="*/ 584538 h 1876010"/>
                <a:gd name="connsiteX4" fmla="*/ 2714919 w 2714919"/>
                <a:gd name="connsiteY4" fmla="*/ 348868 h 1876010"/>
                <a:gd name="connsiteX5" fmla="*/ 2639505 w 2714919"/>
                <a:gd name="connsiteY5" fmla="*/ 28357 h 1876010"/>
                <a:gd name="connsiteX6" fmla="*/ 2526383 w 2714919"/>
                <a:gd name="connsiteY6" fmla="*/ 76 h 1876010"/>
                <a:gd name="connsiteX7" fmla="*/ 28280 w 2714919"/>
                <a:gd name="connsiteY7" fmla="*/ 122625 h 1876010"/>
                <a:gd name="connsiteX8" fmla="*/ 0 w 2714919"/>
                <a:gd name="connsiteY8" fmla="*/ 1706328 h 1876010"/>
                <a:gd name="connsiteX9" fmla="*/ 461913 w 2714919"/>
                <a:gd name="connsiteY9" fmla="*/ 1876010 h 1876010"/>
                <a:gd name="connsiteX10" fmla="*/ 490193 w 2714919"/>
                <a:gd name="connsiteY10" fmla="*/ 1687474 h 1876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14919" h="1876010">
                  <a:moveTo>
                    <a:pt x="490193" y="1687474"/>
                  </a:moveTo>
                  <a:lnTo>
                    <a:pt x="509047" y="773074"/>
                  </a:lnTo>
                  <a:lnTo>
                    <a:pt x="1414020" y="678806"/>
                  </a:lnTo>
                  <a:lnTo>
                    <a:pt x="1791092" y="584538"/>
                  </a:lnTo>
                  <a:lnTo>
                    <a:pt x="2714919" y="348868"/>
                  </a:lnTo>
                  <a:lnTo>
                    <a:pt x="2639505" y="28357"/>
                  </a:lnTo>
                  <a:cubicBezTo>
                    <a:pt x="2545720" y="-2905"/>
                    <a:pt x="2584473" y="76"/>
                    <a:pt x="2526383" y="76"/>
                  </a:cubicBezTo>
                  <a:lnTo>
                    <a:pt x="28280" y="122625"/>
                  </a:lnTo>
                  <a:lnTo>
                    <a:pt x="0" y="1706328"/>
                  </a:lnTo>
                  <a:lnTo>
                    <a:pt x="461913" y="1876010"/>
                  </a:lnTo>
                  <a:lnTo>
                    <a:pt x="490193" y="1687474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2102874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A525A11-A703-66E5-4AF9-60AB3F156C64}"/>
              </a:ext>
            </a:extLst>
          </p:cNvPr>
          <p:cNvSpPr txBox="1"/>
          <p:nvPr/>
        </p:nvSpPr>
        <p:spPr>
          <a:xfrm>
            <a:off x="8382442" y="1177115"/>
            <a:ext cx="3308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u="sng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fraturas</a:t>
            </a:r>
            <a:endParaRPr lang="pt-BR" sz="2800" b="1" u="sng" noProof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FF0A1A-F0F9-7072-0AB3-560843CFD2D6}"/>
              </a:ext>
            </a:extLst>
          </p:cNvPr>
          <p:cNvSpPr txBox="1"/>
          <p:nvPr/>
        </p:nvSpPr>
        <p:spPr>
          <a:xfrm>
            <a:off x="7344584" y="1625575"/>
            <a:ext cx="40501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+ interação de blocos</a:t>
            </a:r>
            <a:endParaRPr lang="pt-BR" sz="2000" b="1" noProof="0" dirty="0"/>
          </a:p>
        </p:txBody>
      </p:sp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9EF21B-F05E-F693-E152-311013C7D9EE}"/>
              </a:ext>
            </a:extLst>
          </p:cNvPr>
          <p:cNvSpPr txBox="1"/>
          <p:nvPr/>
        </p:nvSpPr>
        <p:spPr>
          <a:xfrm>
            <a:off x="5575322" y="295930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 err="1">
                <a:solidFill>
                  <a:srgbClr val="0000FF"/>
                </a:solidFill>
                <a:latin typeface="Horley Old Style MT"/>
              </a:rPr>
              <a:t>openFOAM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2A58A2-38F2-43FA-1EED-8B82E6E12765}"/>
              </a:ext>
            </a:extLst>
          </p:cNvPr>
          <p:cNvSpPr txBox="1"/>
          <p:nvPr/>
        </p:nvSpPr>
        <p:spPr>
          <a:xfrm>
            <a:off x="5600974" y="236932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000FF"/>
                </a:solidFill>
                <a:latin typeface="Horley Old Style MT"/>
              </a:rPr>
              <a:t>MODFLOW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26">
            <a:extLst>
              <a:ext uri="{FF2B5EF4-FFF2-40B4-BE49-F238E27FC236}">
                <a16:creationId xmlns:a16="http://schemas.microsoft.com/office/drawing/2014/main" id="{18CE85FB-A242-D04F-AC29-7D249396747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0F914-8543-38E7-3BAF-80DD69235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042" b="2867"/>
          <a:stretch>
            <a:fillRect/>
          </a:stretch>
        </p:blipFill>
        <p:spPr>
          <a:xfrm>
            <a:off x="8530744" y="709776"/>
            <a:ext cx="3108650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70E2A7A-5EC8-5C3E-FC23-664973C83279}"/>
              </a:ext>
            </a:extLst>
          </p:cNvPr>
          <p:cNvGrpSpPr/>
          <p:nvPr/>
        </p:nvGrpSpPr>
        <p:grpSpPr>
          <a:xfrm>
            <a:off x="5450169" y="709776"/>
            <a:ext cx="2930034" cy="1585372"/>
            <a:chOff x="151039" y="766708"/>
            <a:chExt cx="2930034" cy="1585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48F848E-4CC5-DB14-6EA7-DC47870E8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039" y="766708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4929432-8D1B-4356-0E04-A757695F1E01}"/>
                </a:ext>
              </a:extLst>
            </p:cNvPr>
            <p:cNvSpPr txBox="1"/>
            <p:nvPr/>
          </p:nvSpPr>
          <p:spPr>
            <a:xfrm>
              <a:off x="211999" y="2077236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Finite 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BFFEAC2-4B1A-5E35-CBEE-88725ADFD890}"/>
              </a:ext>
            </a:extLst>
          </p:cNvPr>
          <p:cNvGrpSpPr/>
          <p:nvPr/>
        </p:nvGrpSpPr>
        <p:grpSpPr>
          <a:xfrm>
            <a:off x="311836" y="3565677"/>
            <a:ext cx="3126171" cy="2893632"/>
            <a:chOff x="5782638" y="3435325"/>
            <a:chExt cx="2424418" cy="2404173"/>
          </a:xfrm>
        </p:grpSpPr>
        <p:pic>
          <p:nvPicPr>
            <p:cNvPr id="49" name="Imagem 150">
              <a:extLst>
                <a:ext uri="{FF2B5EF4-FFF2-40B4-BE49-F238E27FC236}">
                  <a16:creationId xmlns:a16="http://schemas.microsoft.com/office/drawing/2014/main" id="{9136375A-A24B-C080-937A-F45AC82EB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784D8D7-4D49-DBA3-AF86-EA475574DF92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51" name="Agrupar 164">
                <a:extLst>
                  <a:ext uri="{FF2B5EF4-FFF2-40B4-BE49-F238E27FC236}">
                    <a16:creationId xmlns:a16="http://schemas.microsoft.com/office/drawing/2014/main" id="{FCC13C66-A1A3-6CEC-2F3A-624032F558A9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56" name="Forma Livre: Forma 158">
                  <a:extLst>
                    <a:ext uri="{FF2B5EF4-FFF2-40B4-BE49-F238E27FC236}">
                      <a16:creationId xmlns:a16="http://schemas.microsoft.com/office/drawing/2014/main" id="{66FC9AE8-78FF-684E-DDA3-288EB1EFDC7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7" name="Forma Livre: Forma 159">
                  <a:extLst>
                    <a:ext uri="{FF2B5EF4-FFF2-40B4-BE49-F238E27FC236}">
                      <a16:creationId xmlns:a16="http://schemas.microsoft.com/office/drawing/2014/main" id="{91C30E61-B4AA-C56E-C482-5171D302BA92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8" name="Forma Livre: Forma 160">
                  <a:extLst>
                    <a:ext uri="{FF2B5EF4-FFF2-40B4-BE49-F238E27FC236}">
                      <a16:creationId xmlns:a16="http://schemas.microsoft.com/office/drawing/2014/main" id="{DA6EA826-928D-72E0-1B32-394D4151E05F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9" name="Forma Livre: Forma 161">
                  <a:extLst>
                    <a:ext uri="{FF2B5EF4-FFF2-40B4-BE49-F238E27FC236}">
                      <a16:creationId xmlns:a16="http://schemas.microsoft.com/office/drawing/2014/main" id="{2AF1AC79-5655-45E8-7962-DB17565C2296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0" name="Forma Livre: Forma 162">
                  <a:extLst>
                    <a:ext uri="{FF2B5EF4-FFF2-40B4-BE49-F238E27FC236}">
                      <a16:creationId xmlns:a16="http://schemas.microsoft.com/office/drawing/2014/main" id="{D741632A-A725-B2B9-AAC6-240B4B5132D9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1" name="Forma Livre: Forma 163">
                  <a:extLst>
                    <a:ext uri="{FF2B5EF4-FFF2-40B4-BE49-F238E27FC236}">
                      <a16:creationId xmlns:a16="http://schemas.microsoft.com/office/drawing/2014/main" id="{74CE5B29-6694-9008-2C4D-18C7A65A567D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52" name="Conector de Seta Reta 166">
                <a:extLst>
                  <a:ext uri="{FF2B5EF4-FFF2-40B4-BE49-F238E27FC236}">
                    <a16:creationId xmlns:a16="http://schemas.microsoft.com/office/drawing/2014/main" id="{0C057D96-9E23-4882-2785-9590EBDE2A2D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de Seta Reta 167">
                <a:extLst>
                  <a:ext uri="{FF2B5EF4-FFF2-40B4-BE49-F238E27FC236}">
                    <a16:creationId xmlns:a16="http://schemas.microsoft.com/office/drawing/2014/main" id="{8076419C-BEA1-97EB-20A8-983DB0D3D417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 de Seta Reta 168">
                <a:extLst>
                  <a:ext uri="{FF2B5EF4-FFF2-40B4-BE49-F238E27FC236}">
                    <a16:creationId xmlns:a16="http://schemas.microsoft.com/office/drawing/2014/main" id="{6D79C43A-8243-27E3-A924-A83217AECF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de Seta Reta 170">
                <a:extLst>
                  <a:ext uri="{FF2B5EF4-FFF2-40B4-BE49-F238E27FC236}">
                    <a16:creationId xmlns:a16="http://schemas.microsoft.com/office/drawing/2014/main" id="{5E6113F4-CDB6-2AA2-E837-F6A25016BF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CCBE5EB5-E547-C889-6B3E-F103E2E307AD}"/>
              </a:ext>
            </a:extLst>
          </p:cNvPr>
          <p:cNvSpPr txBox="1"/>
          <p:nvPr/>
        </p:nvSpPr>
        <p:spPr>
          <a:xfrm>
            <a:off x="740567" y="200466"/>
            <a:ext cx="40429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1086DE-BCE1-F960-5A34-70C3A32FD987}"/>
              </a:ext>
            </a:extLst>
          </p:cNvPr>
          <p:cNvGrpSpPr/>
          <p:nvPr/>
        </p:nvGrpSpPr>
        <p:grpSpPr>
          <a:xfrm>
            <a:off x="6659681" y="2488157"/>
            <a:ext cx="5254261" cy="1024710"/>
            <a:chOff x="470263" y="210586"/>
            <a:chExt cx="5254261" cy="1024710"/>
          </a:xfrm>
          <a:noFill/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A7A76B2C-0A87-4CEA-B425-4C5239D88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193"/>
            <a:stretch>
              <a:fillRect/>
            </a:stretch>
          </p:blipFill>
          <p:spPr>
            <a:xfrm>
              <a:off x="470263" y="210586"/>
              <a:ext cx="5254261" cy="981075"/>
            </a:xfrm>
            <a:prstGeom prst="rect">
              <a:avLst/>
            </a:prstGeom>
            <a:grpFill/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D1B1C90-9B7C-6BB2-9F6D-13164E769A51}"/>
                </a:ext>
              </a:extLst>
            </p:cNvPr>
            <p:cNvSpPr txBox="1"/>
            <p:nvPr/>
          </p:nvSpPr>
          <p:spPr>
            <a:xfrm>
              <a:off x="5240693" y="927519"/>
              <a:ext cx="450053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2.3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D4950264-0E5E-E77B-3700-DBB028544F12}"/>
                </a:ext>
              </a:extLst>
            </p:cNvPr>
            <p:cNvCxnSpPr>
              <a:cxnSpLocks/>
            </p:cNvCxnSpPr>
            <p:nvPr/>
          </p:nvCxnSpPr>
          <p:spPr>
            <a:xfrm>
              <a:off x="1887085" y="1019532"/>
              <a:ext cx="1255638" cy="0"/>
            </a:xfrm>
            <a:prstGeom prst="line">
              <a:avLst/>
            </a:prstGeom>
            <a:grpFill/>
            <a:ln>
              <a:solidFill>
                <a:srgbClr val="0000FF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F6530-3361-DC33-2F11-129BC5E81E7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925" y="1018884"/>
              <a:ext cx="1185440" cy="648"/>
            </a:xfrm>
            <a:prstGeom prst="line">
              <a:avLst/>
            </a:prstGeom>
            <a:grpFill/>
            <a:ln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39ED101-9B75-90F6-5077-CA8FA336BF7C}"/>
              </a:ext>
            </a:extLst>
          </p:cNvPr>
          <p:cNvSpPr/>
          <p:nvPr/>
        </p:nvSpPr>
        <p:spPr>
          <a:xfrm>
            <a:off x="7913868" y="2473213"/>
            <a:ext cx="1418273" cy="996019"/>
          </a:xfrm>
          <a:prstGeom prst="rect">
            <a:avLst/>
          </a:prstGeom>
          <a:solidFill>
            <a:schemeClr val="accent2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971F67-2402-6093-50A2-A11C721E0257}"/>
              </a:ext>
            </a:extLst>
          </p:cNvPr>
          <p:cNvSpPr/>
          <p:nvPr/>
        </p:nvSpPr>
        <p:spPr>
          <a:xfrm>
            <a:off x="9546728" y="2479575"/>
            <a:ext cx="1255639" cy="985303"/>
          </a:xfrm>
          <a:prstGeom prst="rect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2003DB-5F44-C79E-497C-23BEE609ABDE}"/>
              </a:ext>
            </a:extLst>
          </p:cNvPr>
          <p:cNvSpPr txBox="1"/>
          <p:nvPr/>
        </p:nvSpPr>
        <p:spPr>
          <a:xfrm>
            <a:off x="4839199" y="6528029"/>
            <a:ext cx="7383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en-GB" dirty="0"/>
              <a:t>Notes on CFD: General Principles - 3.22 Bounded advection discretisation</a:t>
            </a:r>
            <a:endParaRPr lang="LID4096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8A8A50E-616D-0344-A761-40CC327164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88"/>
          <a:stretch>
            <a:fillRect/>
          </a:stretch>
        </p:blipFill>
        <p:spPr>
          <a:xfrm>
            <a:off x="3942205" y="3581525"/>
            <a:ext cx="3137848" cy="2562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72BF1B16-7E05-F956-D747-46B0C57F560F}"/>
              </a:ext>
            </a:extLst>
          </p:cNvPr>
          <p:cNvGrpSpPr/>
          <p:nvPr/>
        </p:nvGrpSpPr>
        <p:grpSpPr>
          <a:xfrm>
            <a:off x="7494135" y="3644803"/>
            <a:ext cx="4143285" cy="2418100"/>
            <a:chOff x="6995820" y="3729443"/>
            <a:chExt cx="4143285" cy="2418100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0F587A5-DBA8-5C67-E5DC-80FAC2A4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502" r="54516"/>
            <a:stretch>
              <a:fillRect/>
            </a:stretch>
          </p:blipFill>
          <p:spPr>
            <a:xfrm>
              <a:off x="6995820" y="3731937"/>
              <a:ext cx="3490970" cy="876300"/>
            </a:xfrm>
            <a:prstGeom prst="rect">
              <a:avLst/>
            </a:prstGeom>
          </p:spPr>
        </p:pic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9E7150-D64A-727C-E048-4CBCAF728FBF}"/>
                </a:ext>
              </a:extLst>
            </p:cNvPr>
            <p:cNvSpPr/>
            <p:nvPr/>
          </p:nvSpPr>
          <p:spPr>
            <a:xfrm>
              <a:off x="6995820" y="3729443"/>
              <a:ext cx="1835772" cy="8763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8B168AA-2F30-B2B2-A17C-DC33FFDF7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45152" r="27105"/>
            <a:stretch>
              <a:fillRect/>
            </a:stretch>
          </p:blipFill>
          <p:spPr>
            <a:xfrm>
              <a:off x="8832174" y="4482552"/>
              <a:ext cx="2306931" cy="8763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BC8388D-4AAF-4E59-484A-56A5897D6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2298" r="9365"/>
            <a:stretch>
              <a:fillRect/>
            </a:stretch>
          </p:blipFill>
          <p:spPr>
            <a:xfrm>
              <a:off x="8831592" y="5271243"/>
              <a:ext cx="1524791" cy="876300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07971AD-A62D-28BF-C953-C86AA7D01D0B}"/>
                </a:ext>
              </a:extLst>
            </p:cNvPr>
            <p:cNvSpPr txBox="1"/>
            <p:nvPr/>
          </p:nvSpPr>
          <p:spPr>
            <a:xfrm>
              <a:off x="9686704" y="5731001"/>
              <a:ext cx="70719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2.12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C560536F-0B6F-FFA2-8A75-BDCCA5CFD960}"/>
              </a:ext>
            </a:extLst>
          </p:cNvPr>
          <p:cNvSpPr txBox="1"/>
          <p:nvPr/>
        </p:nvSpPr>
        <p:spPr>
          <a:xfrm>
            <a:off x="6659681" y="205704"/>
            <a:ext cx="4463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latin typeface="Horley Old Style MT"/>
              </a:rPr>
              <a:t>Método de Volumes </a:t>
            </a:r>
            <a:r>
              <a:rPr lang="pt-BR" sz="2000" b="1" noProof="0" dirty="0">
                <a:latin typeface="Horley Old Style MT"/>
              </a:rPr>
              <a:t>finitos    (FVM)</a:t>
            </a:r>
          </a:p>
        </p:txBody>
      </p:sp>
      <p:grpSp>
        <p:nvGrpSpPr>
          <p:cNvPr id="87" name="Grupo 10">
            <a:extLst>
              <a:ext uri="{FF2B5EF4-FFF2-40B4-BE49-F238E27FC236}">
                <a16:creationId xmlns:a16="http://schemas.microsoft.com/office/drawing/2014/main" id="{DD8656C2-6880-892C-A528-D8D9D47095CF}"/>
              </a:ext>
            </a:extLst>
          </p:cNvPr>
          <p:cNvGrpSpPr>
            <a:grpSpLocks noChangeAspect="1"/>
          </p:cNvGrpSpPr>
          <p:nvPr/>
        </p:nvGrpSpPr>
        <p:grpSpPr>
          <a:xfrm>
            <a:off x="415562" y="691496"/>
            <a:ext cx="1697791" cy="1037706"/>
            <a:chOff x="7551799" y="3880749"/>
            <a:chExt cx="1792685" cy="1055366"/>
          </a:xfrm>
        </p:grpSpPr>
        <p:sp>
          <p:nvSpPr>
            <p:cNvPr id="88" name="Seta para a direita 12">
              <a:extLst>
                <a:ext uri="{FF2B5EF4-FFF2-40B4-BE49-F238E27FC236}">
                  <a16:creationId xmlns:a16="http://schemas.microsoft.com/office/drawing/2014/main" id="{2AC3DF96-BC3C-12EA-1765-A2BF3B5DAEEB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89" name="Grupo 13">
              <a:extLst>
                <a:ext uri="{FF2B5EF4-FFF2-40B4-BE49-F238E27FC236}">
                  <a16:creationId xmlns:a16="http://schemas.microsoft.com/office/drawing/2014/main" id="{D81DEE47-165C-1447-D2B0-B69647B68093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91" name="Seta para a direita 15">
                <a:extLst>
                  <a:ext uri="{FF2B5EF4-FFF2-40B4-BE49-F238E27FC236}">
                    <a16:creationId xmlns:a16="http://schemas.microsoft.com/office/drawing/2014/main" id="{74EA86B1-EB11-D28D-1DEA-95E4B4107271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92" name="Grupo 16">
                <a:extLst>
                  <a:ext uri="{FF2B5EF4-FFF2-40B4-BE49-F238E27FC236}">
                    <a16:creationId xmlns:a16="http://schemas.microsoft.com/office/drawing/2014/main" id="{7EE65652-AD52-203C-6F3A-9CDF93D15E1A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94" name="Grupo 18">
                  <a:extLst>
                    <a:ext uri="{FF2B5EF4-FFF2-40B4-BE49-F238E27FC236}">
                      <a16:creationId xmlns:a16="http://schemas.microsoft.com/office/drawing/2014/main" id="{2AD9506D-BBA2-EA11-EB21-E4BC4F2B093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98" name="Cubo 854">
                    <a:extLst>
                      <a:ext uri="{FF2B5EF4-FFF2-40B4-BE49-F238E27FC236}">
                        <a16:creationId xmlns:a16="http://schemas.microsoft.com/office/drawing/2014/main" id="{89EAC39C-A3DE-0D30-358A-B93722B53D6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99" name="Cubo 855">
                    <a:extLst>
                      <a:ext uri="{FF2B5EF4-FFF2-40B4-BE49-F238E27FC236}">
                        <a16:creationId xmlns:a16="http://schemas.microsoft.com/office/drawing/2014/main" id="{53E3672F-8B25-EEC5-6430-792FB42FE20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0" name="Cubo 856">
                    <a:extLst>
                      <a:ext uri="{FF2B5EF4-FFF2-40B4-BE49-F238E27FC236}">
                        <a16:creationId xmlns:a16="http://schemas.microsoft.com/office/drawing/2014/main" id="{7C9C0A81-DE56-9610-B984-A0CC7A24F4D0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1" name="Cubo 857">
                    <a:extLst>
                      <a:ext uri="{FF2B5EF4-FFF2-40B4-BE49-F238E27FC236}">
                        <a16:creationId xmlns:a16="http://schemas.microsoft.com/office/drawing/2014/main" id="{514671CE-AD65-1775-7EA8-5FB9026F22A1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2" name="Cubo 858">
                    <a:extLst>
                      <a:ext uri="{FF2B5EF4-FFF2-40B4-BE49-F238E27FC236}">
                        <a16:creationId xmlns:a16="http://schemas.microsoft.com/office/drawing/2014/main" id="{F970F86F-188D-5111-5CD5-FAD7052B0075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3" name="Cubo 859">
                    <a:extLst>
                      <a:ext uri="{FF2B5EF4-FFF2-40B4-BE49-F238E27FC236}">
                        <a16:creationId xmlns:a16="http://schemas.microsoft.com/office/drawing/2014/main" id="{363AF450-DE3F-7A87-4DFB-D6ECF9B068CF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95" name="Seta para a direita 19">
                  <a:extLst>
                    <a:ext uri="{FF2B5EF4-FFF2-40B4-BE49-F238E27FC236}">
                      <a16:creationId xmlns:a16="http://schemas.microsoft.com/office/drawing/2014/main" id="{BF664AB9-3517-1DC3-BD28-435151DF1750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6" name="Cubo 852">
                  <a:extLst>
                    <a:ext uri="{FF2B5EF4-FFF2-40B4-BE49-F238E27FC236}">
                      <a16:creationId xmlns:a16="http://schemas.microsoft.com/office/drawing/2014/main" id="{B0EC1108-ACB9-8F61-136C-A7DE5476D19E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7" name="Seta para a direita 24">
                  <a:extLst>
                    <a:ext uri="{FF2B5EF4-FFF2-40B4-BE49-F238E27FC236}">
                      <a16:creationId xmlns:a16="http://schemas.microsoft.com/office/drawing/2014/main" id="{D8D5BD3D-FF4C-3A2C-DC06-DE0889BC19F8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93" name="Seta para a direita 17">
                <a:extLst>
                  <a:ext uri="{FF2B5EF4-FFF2-40B4-BE49-F238E27FC236}">
                    <a16:creationId xmlns:a16="http://schemas.microsoft.com/office/drawing/2014/main" id="{3032DEA9-CE8B-3E44-5429-1362E103FDAE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0" name="Seta para a direita 14">
              <a:extLst>
                <a:ext uri="{FF2B5EF4-FFF2-40B4-BE49-F238E27FC236}">
                  <a16:creationId xmlns:a16="http://schemas.microsoft.com/office/drawing/2014/main" id="{A5C3EAE3-D921-94BA-4776-F89BA46136C6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04" name="Agrupar 221">
            <a:extLst>
              <a:ext uri="{FF2B5EF4-FFF2-40B4-BE49-F238E27FC236}">
                <a16:creationId xmlns:a16="http://schemas.microsoft.com/office/drawing/2014/main" id="{49736AF9-AA57-707A-CFE0-EAA387B7FD66}"/>
              </a:ext>
            </a:extLst>
          </p:cNvPr>
          <p:cNvGrpSpPr/>
          <p:nvPr/>
        </p:nvGrpSpPr>
        <p:grpSpPr>
          <a:xfrm>
            <a:off x="381470" y="2229319"/>
            <a:ext cx="3120386" cy="1197745"/>
            <a:chOff x="8805611" y="2854336"/>
            <a:chExt cx="2942277" cy="1017208"/>
          </a:xfrm>
        </p:grpSpPr>
        <p:cxnSp>
          <p:nvCxnSpPr>
            <p:cNvPr id="105" name="Conector de Seta Reta 98">
              <a:extLst>
                <a:ext uri="{FF2B5EF4-FFF2-40B4-BE49-F238E27FC236}">
                  <a16:creationId xmlns:a16="http://schemas.microsoft.com/office/drawing/2014/main" id="{A27248B7-E47E-F2D7-CAD3-5503B36925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3F48217-F1AF-EF0E-3987-AE36DF527AC2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Conector reto 191">
              <a:extLst>
                <a:ext uri="{FF2B5EF4-FFF2-40B4-BE49-F238E27FC236}">
                  <a16:creationId xmlns:a16="http://schemas.microsoft.com/office/drawing/2014/main" id="{0C45EA55-0990-720B-489C-D17D8D5DAB18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8" name="Conector reto 196">
              <a:extLst>
                <a:ext uri="{FF2B5EF4-FFF2-40B4-BE49-F238E27FC236}">
                  <a16:creationId xmlns:a16="http://schemas.microsoft.com/office/drawing/2014/main" id="{1D0895A7-A6F1-3533-2016-B9497AEC6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9" name="Agrupar 207">
              <a:extLst>
                <a:ext uri="{FF2B5EF4-FFF2-40B4-BE49-F238E27FC236}">
                  <a16:creationId xmlns:a16="http://schemas.microsoft.com/office/drawing/2014/main" id="{10CB4660-507A-F205-6310-AA780FA7C8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19" name="Agrupar 87">
                <a:extLst>
                  <a:ext uri="{FF2B5EF4-FFF2-40B4-BE49-F238E27FC236}">
                    <a16:creationId xmlns:a16="http://schemas.microsoft.com/office/drawing/2014/main" id="{0D5D8ABA-1548-656B-D436-2BF9DA3FDED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23" name="Cubo 79">
                  <a:extLst>
                    <a:ext uri="{FF2B5EF4-FFF2-40B4-BE49-F238E27FC236}">
                      <a16:creationId xmlns:a16="http://schemas.microsoft.com/office/drawing/2014/main" id="{5A45638A-572E-FED8-062B-86E4B5522F84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4" name="Cubo 85">
                  <a:extLst>
                    <a:ext uri="{FF2B5EF4-FFF2-40B4-BE49-F238E27FC236}">
                      <a16:creationId xmlns:a16="http://schemas.microsoft.com/office/drawing/2014/main" id="{052019AE-2DA9-5625-3FA0-16145902184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20" name="Agrupar 204">
                <a:extLst>
                  <a:ext uri="{FF2B5EF4-FFF2-40B4-BE49-F238E27FC236}">
                    <a16:creationId xmlns:a16="http://schemas.microsoft.com/office/drawing/2014/main" id="{1A460D1A-D6A3-886F-1070-8423C6A278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21" name="Cubo 205">
                  <a:extLst>
                    <a:ext uri="{FF2B5EF4-FFF2-40B4-BE49-F238E27FC236}">
                      <a16:creationId xmlns:a16="http://schemas.microsoft.com/office/drawing/2014/main" id="{B5DE31E3-8820-8635-CE7C-BA0B8AF86219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2" name="Cubo 206">
                  <a:extLst>
                    <a:ext uri="{FF2B5EF4-FFF2-40B4-BE49-F238E27FC236}">
                      <a16:creationId xmlns:a16="http://schemas.microsoft.com/office/drawing/2014/main" id="{C1ED98BB-D25F-7A2F-A039-8A4FD7112D03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10" name="Conector reto 210">
              <a:extLst>
                <a:ext uri="{FF2B5EF4-FFF2-40B4-BE49-F238E27FC236}">
                  <a16:creationId xmlns:a16="http://schemas.microsoft.com/office/drawing/2014/main" id="{AF9EA45E-6E95-B2D6-24CB-25D8339D15AA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Conector reto 211">
              <a:extLst>
                <a:ext uri="{FF2B5EF4-FFF2-40B4-BE49-F238E27FC236}">
                  <a16:creationId xmlns:a16="http://schemas.microsoft.com/office/drawing/2014/main" id="{5897E07D-5AFF-AB4E-28DA-777DD1591F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Conector reto 212">
              <a:extLst>
                <a:ext uri="{FF2B5EF4-FFF2-40B4-BE49-F238E27FC236}">
                  <a16:creationId xmlns:a16="http://schemas.microsoft.com/office/drawing/2014/main" id="{6C6D3458-5DCC-5DAC-58D7-8474652C9C6F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to 213">
              <a:extLst>
                <a:ext uri="{FF2B5EF4-FFF2-40B4-BE49-F238E27FC236}">
                  <a16:creationId xmlns:a16="http://schemas.microsoft.com/office/drawing/2014/main" id="{9390849F-6DA7-D426-866F-2D202B0B9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4" name="Conector reto 214">
              <a:extLst>
                <a:ext uri="{FF2B5EF4-FFF2-40B4-BE49-F238E27FC236}">
                  <a16:creationId xmlns:a16="http://schemas.microsoft.com/office/drawing/2014/main" id="{1D5DCCA3-32BD-ED3A-452B-92CA2BD4E6B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Conector reto 215">
              <a:extLst>
                <a:ext uri="{FF2B5EF4-FFF2-40B4-BE49-F238E27FC236}">
                  <a16:creationId xmlns:a16="http://schemas.microsoft.com/office/drawing/2014/main" id="{4FE25118-52BA-EFE3-B3B0-BFA6B4B93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Conector reto 216">
              <a:extLst>
                <a:ext uri="{FF2B5EF4-FFF2-40B4-BE49-F238E27FC236}">
                  <a16:creationId xmlns:a16="http://schemas.microsoft.com/office/drawing/2014/main" id="{E70EEEDF-605C-D726-342E-6AB72D3B2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Conector reto 217">
              <a:extLst>
                <a:ext uri="{FF2B5EF4-FFF2-40B4-BE49-F238E27FC236}">
                  <a16:creationId xmlns:a16="http://schemas.microsoft.com/office/drawing/2014/main" id="{DBAD32B6-D372-0630-3EC0-80FEA8980245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Conector reto 219">
              <a:extLst>
                <a:ext uri="{FF2B5EF4-FFF2-40B4-BE49-F238E27FC236}">
                  <a16:creationId xmlns:a16="http://schemas.microsoft.com/office/drawing/2014/main" id="{6754E2D2-8678-373D-834D-E2A3B3E2F4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A3F9722D-EC69-534C-AF62-6F9A547B9653}"/>
              </a:ext>
            </a:extLst>
          </p:cNvPr>
          <p:cNvSpPr txBox="1"/>
          <p:nvPr/>
        </p:nvSpPr>
        <p:spPr>
          <a:xfrm>
            <a:off x="2317811" y="1866370"/>
            <a:ext cx="194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000FF"/>
                </a:solidFill>
                <a:latin typeface="Horley Old Style MT"/>
              </a:rPr>
              <a:t>Séries de Taylor</a:t>
            </a:r>
            <a:endParaRPr lang="pt-BR" sz="2000" b="1" noProof="0" dirty="0">
              <a:solidFill>
                <a:srgbClr val="0000FF"/>
              </a:solidFill>
              <a:latin typeface="Horley Old Style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/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                 </m:t>
                      </m:r>
                    </m:oMath>
                  </m:oMathPara>
                </a14:m>
                <a:endParaRPr lang="pt-BR" sz="2000" b="1" i="1" dirty="0">
                  <a:solidFill>
                    <a:srgbClr val="0000FF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𝒏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pt-BR" sz="20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pt-BR" sz="2000" b="1" dirty="0">
                              <a:solidFill>
                                <a:srgbClr val="0000FF"/>
                              </a:solidFill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LID4096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blipFill>
                <a:blip r:embed="rId25"/>
                <a:stretch>
                  <a:fillRect l="-1548" t="-8219" r="-3529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091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417CE8-36E9-3720-C1B4-76DC5D032122}"/>
              </a:ext>
            </a:extLst>
          </p:cNvPr>
          <p:cNvGrpSpPr/>
          <p:nvPr/>
        </p:nvGrpSpPr>
        <p:grpSpPr>
          <a:xfrm>
            <a:off x="453787" y="5614812"/>
            <a:ext cx="4298491" cy="1003017"/>
            <a:chOff x="410242" y="5675772"/>
            <a:chExt cx="4298491" cy="1003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9ACD7C-41F1-5A32-5126-DC3A746A5BE9}"/>
                </a:ext>
              </a:extLst>
            </p:cNvPr>
            <p:cNvSpPr txBox="1"/>
            <p:nvPr/>
          </p:nvSpPr>
          <p:spPr>
            <a:xfrm>
              <a:off x="2295902" y="6217124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E2FDB2-7415-BFF2-FC3B-3C654EC03C58}"/>
              </a:ext>
            </a:extLst>
          </p:cNvPr>
          <p:cNvGrpSpPr/>
          <p:nvPr/>
        </p:nvGrpSpPr>
        <p:grpSpPr>
          <a:xfrm>
            <a:off x="497166" y="3605573"/>
            <a:ext cx="4384226" cy="461665"/>
            <a:chOff x="497166" y="3936503"/>
            <a:chExt cx="4384226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712775-DC6B-D77D-4604-068B196824F0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902CB6-7244-ED69-F7F8-385B19DBC413}"/>
              </a:ext>
            </a:extLst>
          </p:cNvPr>
          <p:cNvGrpSpPr/>
          <p:nvPr/>
        </p:nvGrpSpPr>
        <p:grpSpPr>
          <a:xfrm>
            <a:off x="453787" y="4363358"/>
            <a:ext cx="4420480" cy="995965"/>
            <a:chOff x="453787" y="4642037"/>
            <a:chExt cx="4420480" cy="9959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8EC9B11-0753-3A0B-C1F7-30438CA0A2D0}"/>
                </a:ext>
              </a:extLst>
            </p:cNvPr>
            <p:cNvSpPr txBox="1"/>
            <p:nvPr/>
          </p:nvSpPr>
          <p:spPr>
            <a:xfrm>
              <a:off x="453787" y="5176337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DAB984-B41E-FF65-877E-EA55802C5BE5}"/>
              </a:ext>
            </a:extLst>
          </p:cNvPr>
          <p:cNvCxnSpPr/>
          <p:nvPr/>
        </p:nvCxnSpPr>
        <p:spPr>
          <a:xfrm>
            <a:off x="757903" y="4310738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B13FFA-E6BD-B252-137B-57D3CCF8BE54}"/>
              </a:ext>
            </a:extLst>
          </p:cNvPr>
          <p:cNvCxnSpPr/>
          <p:nvPr/>
        </p:nvCxnSpPr>
        <p:spPr>
          <a:xfrm>
            <a:off x="736131" y="5490752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51ED484-E472-3C15-2E9C-355E8F3372A4}"/>
              </a:ext>
            </a:extLst>
          </p:cNvPr>
          <p:cNvSpPr txBox="1"/>
          <p:nvPr/>
        </p:nvSpPr>
        <p:spPr>
          <a:xfrm>
            <a:off x="5371967" y="6617829"/>
            <a:ext cx="682003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 review of multi-scale and multi-physics simulations of metal AM processes with focus on modeling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C748D-1483-DC28-F4CA-B168F1AE1E83}"/>
              </a:ext>
            </a:extLst>
          </p:cNvPr>
          <p:cNvSpPr txBox="1"/>
          <p:nvPr/>
        </p:nvSpPr>
        <p:spPr>
          <a:xfrm>
            <a:off x="0" y="0"/>
            <a:ext cx="12191999" cy="2635582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 dirty="0">
              <a:solidFill>
                <a:srgbClr val="00B05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923098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465460" y="250003"/>
            <a:ext cx="11318793" cy="5331932"/>
            <a:chOff x="765017" y="565429"/>
            <a:chExt cx="10573543" cy="5053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5017" y="565429"/>
              <a:ext cx="10573543" cy="5053001"/>
              <a:chOff x="765017" y="565429"/>
              <a:chExt cx="10573543" cy="505300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0325" y="763996"/>
            <a:ext cx="112776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55019"/>
            <a:ext cx="427765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5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5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2825" b="-1186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270961" y="2854601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521202"/>
            <a:ext cx="388874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66443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24299"/>
            <a:ext cx="11616517" cy="1707082"/>
            <a:chOff x="296363" y="2519645"/>
            <a:chExt cx="11616517" cy="1707082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64572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1964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C57D7A-52BC-3883-3AB1-1894146B1700}"/>
              </a:ext>
            </a:extLst>
          </p:cNvPr>
          <p:cNvGrpSpPr/>
          <p:nvPr/>
        </p:nvGrpSpPr>
        <p:grpSpPr>
          <a:xfrm>
            <a:off x="9224223" y="4967978"/>
            <a:ext cx="2141838" cy="187824"/>
            <a:chOff x="9224223" y="4686319"/>
            <a:chExt cx="2141838" cy="286597"/>
          </a:xfrm>
        </p:grpSpPr>
        <p:sp>
          <p:nvSpPr>
            <p:cNvPr id="3" name="Arrow: Down 2">
              <a:extLst>
                <a:ext uri="{FF2B5EF4-FFF2-40B4-BE49-F238E27FC236}">
                  <a16:creationId xmlns:a16="http://schemas.microsoft.com/office/drawing/2014/main" id="{FA345EE5-1FBC-C64A-AA9E-36628533B164}"/>
                </a:ext>
              </a:extLst>
            </p:cNvPr>
            <p:cNvSpPr/>
            <p:nvPr/>
          </p:nvSpPr>
          <p:spPr>
            <a:xfrm>
              <a:off x="9224223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8520981-5B4A-BFEB-72E1-C0718E35858C}"/>
                </a:ext>
              </a:extLst>
            </p:cNvPr>
            <p:cNvSpPr/>
            <p:nvPr/>
          </p:nvSpPr>
          <p:spPr>
            <a:xfrm>
              <a:off x="11026856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31F4CE9-F311-EE29-6519-1396E63DC8DB}"/>
              </a:ext>
            </a:extLst>
          </p:cNvPr>
          <p:cNvSpPr txBox="1"/>
          <p:nvPr/>
        </p:nvSpPr>
        <p:spPr>
          <a:xfrm>
            <a:off x="0" y="5872105"/>
            <a:ext cx="12202463" cy="97687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r>
              <a:rPr lang="en-GB" sz="1900" b="1" u="none" strike="noStrike" dirty="0">
                <a:solidFill>
                  <a:srgbClr val="0000FF"/>
                </a:solidFill>
                <a:effectLst/>
                <a:latin typeface="Google Sans"/>
              </a:rPr>
              <a:t>“… the basis of how the simulation solver is modelled and </a:t>
            </a:r>
          </a:p>
          <a:p>
            <a:pPr algn="r"/>
            <a:r>
              <a:rPr lang="en-GB" sz="1900" b="1" u="none" strike="noStrike" dirty="0">
                <a:solidFill>
                  <a:srgbClr val="FF0000"/>
                </a:solidFill>
                <a:effectLst/>
                <a:latin typeface="Google Sans"/>
              </a:rPr>
              <a:t>how we can rely on the data that has been predicted </a:t>
            </a:r>
            <a:r>
              <a:rPr lang="en-GB" sz="1900" b="1" u="none" strike="noStrike" dirty="0">
                <a:solidFill>
                  <a:srgbClr val="00B050"/>
                </a:solidFill>
                <a:effectLst/>
                <a:latin typeface="Google Sans"/>
              </a:rPr>
              <a:t>… based on this robust physic equations that are provided ” </a:t>
            </a:r>
          </a:p>
          <a:p>
            <a:pPr algn="r"/>
            <a:endParaRPr lang="LID4096" sz="14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7626" y="6504376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638392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589918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508182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–  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analytical solution</a:t>
            </a:r>
            <a:r>
              <a:rPr lang="en-GB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.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 </a:t>
            </a:r>
            <a:endParaRPr lang="LID4096" sz="24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/>
              </a:highligh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274457"/>
            <a:ext cx="6117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600" dirty="0"/>
              <a:t>An analytical solution for temperature distribution in fillet arc welding based on an adaptive function </a:t>
            </a:r>
            <a:r>
              <a:rPr lang="LID4096" sz="1600" u="sng" dirty="0"/>
              <a:t>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344" y="596707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749B1-5A5E-7128-529A-5C4C374D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E7D890-2D50-52C1-2F4B-C4C1E67D24A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82135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7591</TotalTime>
  <Words>2255</Words>
  <Application>Microsoft Office PowerPoint</Application>
  <PresentationFormat>Widescreen</PresentationFormat>
  <Paragraphs>480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54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NywgqrAdvTT3713a231</vt:lpstr>
      <vt:lpstr>Segoe UI</vt:lpstr>
      <vt:lpstr>Symbol</vt:lpstr>
      <vt:lpstr>Times New Roman</vt:lpstr>
      <vt:lpstr>Wingdings</vt:lpstr>
      <vt:lpstr>XvlwhpYpshnbMyriadPro-Cond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405</cp:revision>
  <dcterms:created xsi:type="dcterms:W3CDTF">2026-09-30T17:20:39Z</dcterms:created>
  <dcterms:modified xsi:type="dcterms:W3CDTF">2026-10-26T14:00:53Z</dcterms:modified>
</cp:coreProperties>
</file>