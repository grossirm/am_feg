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2" r:id="rId2"/>
    <p:sldId id="269" r:id="rId3"/>
    <p:sldId id="263" r:id="rId4"/>
    <p:sldId id="289" r:id="rId5"/>
    <p:sldId id="288" r:id="rId6"/>
    <p:sldId id="276" r:id="rId7"/>
    <p:sldId id="284" r:id="rId8"/>
    <p:sldId id="285" r:id="rId9"/>
    <p:sldId id="287" r:id="rId10"/>
    <p:sldId id="273" r:id="rId11"/>
    <p:sldId id="270" r:id="rId12"/>
    <p:sldId id="282" r:id="rId13"/>
    <p:sldId id="281" r:id="rId14"/>
    <p:sldId id="266" r:id="rId15"/>
    <p:sldId id="265" r:id="rId16"/>
    <p:sldId id="257" r:id="rId17"/>
    <p:sldId id="272" r:id="rId18"/>
    <p:sldId id="277" r:id="rId19"/>
    <p:sldId id="278" r:id="rId20"/>
    <p:sldId id="260" r:id="rId21"/>
    <p:sldId id="268" r:id="rId22"/>
    <p:sldId id="271" r:id="rId23"/>
  </p:sldIdLst>
  <p:sldSz cx="12192000" cy="6858000"/>
  <p:notesSz cx="6858000" cy="9144000"/>
  <p:defaultTextStyle>
    <a:defPPr>
      <a:defRPr lang="LID4096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FF"/>
    <a:srgbClr val="DAE3F3"/>
    <a:srgbClr val="E5FFF6"/>
    <a:srgbClr val="BDFFE9"/>
    <a:srgbClr val="C9FFE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353" autoAdjust="0"/>
    <p:restoredTop sz="94660"/>
  </p:normalViewPr>
  <p:slideViewPr>
    <p:cSldViewPr snapToGrid="0">
      <p:cViewPr varScale="1">
        <p:scale>
          <a:sx n="110" d="100"/>
          <a:sy n="110" d="100"/>
        </p:scale>
        <p:origin x="474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D28921-5049-2E32-25A4-86F65610AAA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BD8C54D-5AEE-839C-E6CE-1CBBACA454F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BF335BE-C74C-CB6A-2B3A-763F6D31C4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72F609-7128-42D8-8672-4D6F16D38DEE}" type="datetimeFigureOut">
              <a:rPr lang="LID4096" smtClean="0"/>
              <a:t>10/20/2026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3E9BB9B-E6B7-AB9D-291F-299AABC96A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2DC91E-CD3E-36EF-0845-6EAE8937D9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D5168A-5BCC-42BF-B9FA-DE211AE2E4AE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40358187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DB7D1C-F319-72E2-9ADA-D91D0A1EB5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7BCDC5-F031-8865-C1B3-15A3AAD6E9D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8B8A3C3-35B0-0245-783F-E1D2295E7E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72F609-7128-42D8-8672-4D6F16D38DEE}" type="datetimeFigureOut">
              <a:rPr lang="LID4096" smtClean="0"/>
              <a:t>10/20/2026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51B5C52-A3F0-8838-8AE5-DC29946D30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806FA7B-93B4-7B06-EB54-C87EECEE55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D5168A-5BCC-42BF-B9FA-DE211AE2E4AE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29512693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ADFD5D-8C2D-47C9-F784-D71D6C99DB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9DA3644-D5D7-639D-9D01-47ADEF79FB9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E7BC99-1286-48D3-90FB-10CC7DA1A6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72F609-7128-42D8-8672-4D6F16D38DEE}" type="datetimeFigureOut">
              <a:rPr lang="LID4096" smtClean="0"/>
              <a:t>10/20/2026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67B7651-21C8-1EE2-9B79-BB8017B8F8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6811145-94A9-10EB-063F-1B221B674F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D5168A-5BCC-42BF-B9FA-DE211AE2E4AE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99614354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0CDD21-43A1-10C1-3651-871BCCB03B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0A32DD-14B2-A15A-D2A1-AE2297F8257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4E3FE99-E72B-9244-7EFB-C60EE1AF8FC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754D93A-4972-F498-6313-8CD04CD810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72F609-7128-42D8-8672-4D6F16D38DEE}" type="datetimeFigureOut">
              <a:rPr lang="LID4096" smtClean="0"/>
              <a:t>10/20/2026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0CBF39C-ED62-2D11-0F4C-739C250991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8B26EF5-B03A-255C-2AA0-0E0F94A1F2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D5168A-5BCC-42BF-B9FA-DE211AE2E4AE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21803651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FDD20D-092D-A734-2227-98DBAC15C2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9DB66FA-ED88-86AB-4998-A266CC8DA19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AABCE67-A9D1-C824-1A0C-4D0B2EEF178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F5F5106-4821-0BA4-2A24-5ACDA981591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F1F419F-06FF-BE02-F0F5-5279F1BC020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450294E-7236-2751-0FBB-8408E34BA7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72F609-7128-42D8-8672-4D6F16D38DEE}" type="datetimeFigureOut">
              <a:rPr lang="LID4096" smtClean="0"/>
              <a:t>10/20/2026</a:t>
            </a:fld>
            <a:endParaRPr lang="LID4096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27FF2BE-B79E-CBEF-1F90-9BB0D58C73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3B957DA-9932-5F90-3C6B-110E650FA7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D5168A-5BCC-42BF-B9FA-DE211AE2E4AE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1429651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0EB9A1-A865-C17A-18A1-8D9423F207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752FA0B-0456-19AB-C82E-85FAE83145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72F609-7128-42D8-8672-4D6F16D38DEE}" type="datetimeFigureOut">
              <a:rPr lang="LID4096" smtClean="0"/>
              <a:t>10/20/2026</a:t>
            </a:fld>
            <a:endParaRPr lang="LID4096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8435560-35B7-033F-8002-88AE8FBCEA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9C48C5D-7CDC-90A0-B7BE-0B413E51D2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D5168A-5BCC-42BF-B9FA-DE211AE2E4AE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1559692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6CCFCFB-D5E3-1EBB-0813-5525914B87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72F609-7128-42D8-8672-4D6F16D38DEE}" type="datetimeFigureOut">
              <a:rPr lang="LID4096" smtClean="0"/>
              <a:t>10/20/2026</a:t>
            </a:fld>
            <a:endParaRPr lang="LID4096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C57FED4-FD0E-4038-C245-9C42D33BFA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7E2338A-5F42-05CD-688E-6235921A71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D5168A-5BCC-42BF-B9FA-DE211AE2E4AE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07730212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FA402A-1B0E-19F5-4F43-61DA5EF289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515FC5-D1B1-6B16-0C4A-D5B9C9DECE6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53356E4-A0AB-2182-EC2A-312898C84A0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48A5BF0-567A-36EE-9770-251B10980B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72F609-7128-42D8-8672-4D6F16D38DEE}" type="datetimeFigureOut">
              <a:rPr lang="LID4096" smtClean="0"/>
              <a:t>10/20/2026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5792492-1424-5EC0-7797-DCD14F9097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CB43C3-D0BE-17BE-258A-D2095F0343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D5168A-5BCC-42BF-B9FA-DE211AE2E4AE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1739832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36BD9E-3C35-7CE6-C397-02CAB9CE4B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DD81586-3DE7-1CED-A6FA-516F32DC9A0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9F83911-9CA4-91CC-A2D5-74E33EB36A7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9BB73AF-257F-4AB4-4438-B5F82E031C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72F609-7128-42D8-8672-4D6F16D38DEE}" type="datetimeFigureOut">
              <a:rPr lang="LID4096" smtClean="0"/>
              <a:t>10/20/2026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EAD3FD0-2C0F-2D84-53E7-202C71E32D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3582C7F-0CEB-AF03-1866-F3FAD42C2D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D5168A-5BCC-42BF-B9FA-DE211AE2E4AE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0772137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035A0D-E1E8-F181-8213-2B452845EA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09580F6-16D9-4C8A-4D3E-2C67E9F8AC9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61FA7D0-F549-C4AD-CA87-A769E21825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72F609-7128-42D8-8672-4D6F16D38DEE}" type="datetimeFigureOut">
              <a:rPr lang="LID4096" smtClean="0"/>
              <a:t>10/20/2026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509DD54-320A-040C-9CEB-DB00F45E51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90B8D1B-8549-922B-2420-31F98FD75B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D5168A-5BCC-42BF-B9FA-DE211AE2E4AE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7737908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0A5A027-C698-463D-495A-D7085AE74A9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7B5A546-1999-B8F8-7674-248D56D089F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10B8244-F6AE-3BFA-0CD4-70293E6F99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72F609-7128-42D8-8672-4D6F16D38DEE}" type="datetimeFigureOut">
              <a:rPr lang="LID4096" smtClean="0"/>
              <a:t>10/20/2026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0182EAB-7A87-22ED-E19C-E146064A9A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3F3936B-53D2-50CB-D565-BBC7F1033C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D5168A-5BCC-42BF-B9FA-DE211AE2E4AE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90975723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4A41BD9-EA3F-C372-285F-0E39B54A6A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199B9AB-C7EC-E7BA-13DB-1B474E0B066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306A62A-CFD7-80AA-9B44-CBD28EA4492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72F609-7128-42D8-8672-4D6F16D38DEE}" type="datetimeFigureOut">
              <a:rPr lang="LID4096" smtClean="0"/>
              <a:t>10/20/2026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1750B6-8239-FB0A-429F-C1C3D106C9B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9FF734-DC96-1ACA-B5C3-248A9D54B2E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9D5168A-5BCC-42BF-B9FA-DE211AE2E4AE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9447952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LID4096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49.png"/><Relationship Id="rId18" Type="http://schemas.openxmlformats.org/officeDocument/2006/relationships/image" Target="../media/image200.png"/><Relationship Id="rId26" Type="http://schemas.openxmlformats.org/officeDocument/2006/relationships/image" Target="../media/image8.png"/><Relationship Id="rId21" Type="http://schemas.openxmlformats.org/officeDocument/2006/relationships/image" Target="../media/image53.png"/><Relationship Id="rId17" Type="http://schemas.openxmlformats.org/officeDocument/2006/relationships/image" Target="../media/image190.png"/><Relationship Id="rId25" Type="http://schemas.openxmlformats.org/officeDocument/2006/relationships/image" Target="../media/image7.png"/><Relationship Id="rId2" Type="http://schemas.openxmlformats.org/officeDocument/2006/relationships/image" Target="../media/image4.PNG"/><Relationship Id="rId16" Type="http://schemas.openxmlformats.org/officeDocument/2006/relationships/image" Target="../media/image180.png"/><Relationship Id="rId20" Type="http://schemas.openxmlformats.org/officeDocument/2006/relationships/image" Target="../media/image220.png"/><Relationship Id="rId29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11" Type="http://schemas.openxmlformats.org/officeDocument/2006/relationships/image" Target="../media/image52.png"/><Relationship Id="rId24" Type="http://schemas.openxmlformats.org/officeDocument/2006/relationships/image" Target="../media/image6.png"/><Relationship Id="rId23" Type="http://schemas.openxmlformats.org/officeDocument/2006/relationships/image" Target="../media/image5.jpeg"/><Relationship Id="rId28" Type="http://schemas.openxmlformats.org/officeDocument/2006/relationships/image" Target="../media/image10.png"/><Relationship Id="rId10" Type="http://schemas.openxmlformats.org/officeDocument/2006/relationships/image" Target="../media/image51.png"/><Relationship Id="rId19" Type="http://schemas.openxmlformats.org/officeDocument/2006/relationships/image" Target="../media/image210.png"/><Relationship Id="rId9" Type="http://schemas.openxmlformats.org/officeDocument/2006/relationships/image" Target="../media/image50.png"/><Relationship Id="rId22" Type="http://schemas.openxmlformats.org/officeDocument/2006/relationships/image" Target="../media/image110.png"/><Relationship Id="rId27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image" Target="../media/image13.jpeg"/><Relationship Id="rId7" Type="http://schemas.openxmlformats.org/officeDocument/2006/relationships/image" Target="../media/image17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10" Type="http://schemas.openxmlformats.org/officeDocument/2006/relationships/hyperlink" Target="https://github.com/grossiRM/CFD_ON/tree/main/04_OpenFoam" TargetMode="External"/><Relationship Id="rId4" Type="http://schemas.openxmlformats.org/officeDocument/2006/relationships/image" Target="../media/image14.png"/><Relationship Id="rId9" Type="http://schemas.openxmlformats.org/officeDocument/2006/relationships/image" Target="../media/image19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3" Type="http://schemas.openxmlformats.org/officeDocument/2006/relationships/image" Target="../media/image21.png"/><Relationship Id="rId7" Type="http://schemas.openxmlformats.org/officeDocument/2006/relationships/image" Target="../media/image25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png"/><Relationship Id="rId11" Type="http://schemas.openxmlformats.org/officeDocument/2006/relationships/image" Target="../media/image29.gif"/><Relationship Id="rId5" Type="http://schemas.openxmlformats.org/officeDocument/2006/relationships/image" Target="../media/image23.png"/><Relationship Id="rId10" Type="http://schemas.openxmlformats.org/officeDocument/2006/relationships/image" Target="../media/image28.png"/><Relationship Id="rId4" Type="http://schemas.openxmlformats.org/officeDocument/2006/relationships/image" Target="../media/image22.png"/><Relationship Id="rId9" Type="http://schemas.openxmlformats.org/officeDocument/2006/relationships/image" Target="../media/image27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4.png"/><Relationship Id="rId3" Type="http://schemas.openxmlformats.org/officeDocument/2006/relationships/image" Target="../media/image31.png"/><Relationship Id="rId7" Type="http://schemas.openxmlformats.org/officeDocument/2006/relationships/image" Target="../media/image23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1.png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41.png"/><Relationship Id="rId3" Type="http://schemas.openxmlformats.org/officeDocument/2006/relationships/image" Target="../media/image36.png"/><Relationship Id="rId7" Type="http://schemas.openxmlformats.org/officeDocument/2006/relationships/image" Target="../media/image40.png"/><Relationship Id="rId12" Type="http://schemas.openxmlformats.org/officeDocument/2006/relationships/image" Target="../media/image34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9.png"/><Relationship Id="rId11" Type="http://schemas.openxmlformats.org/officeDocument/2006/relationships/image" Target="../media/image43.jpeg"/><Relationship Id="rId5" Type="http://schemas.openxmlformats.org/officeDocument/2006/relationships/image" Target="../media/image38.png"/><Relationship Id="rId10" Type="http://schemas.openxmlformats.org/officeDocument/2006/relationships/image" Target="../media/image42.jpeg"/><Relationship Id="rId4" Type="http://schemas.openxmlformats.org/officeDocument/2006/relationships/image" Target="../media/image37.png"/><Relationship Id="rId9" Type="http://schemas.openxmlformats.org/officeDocument/2006/relationships/image" Target="../media/image21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54.png"/><Relationship Id="rId3" Type="http://schemas.openxmlformats.org/officeDocument/2006/relationships/image" Target="../media/image45.png"/><Relationship Id="rId7" Type="http://schemas.openxmlformats.org/officeDocument/2006/relationships/image" Target="../media/image27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8.png"/><Relationship Id="rId11" Type="http://schemas.openxmlformats.org/officeDocument/2006/relationships/image" Target="../media/image340.png"/><Relationship Id="rId5" Type="http://schemas.openxmlformats.org/officeDocument/2006/relationships/image" Target="../media/image47.png"/><Relationship Id="rId10" Type="http://schemas.openxmlformats.org/officeDocument/2006/relationships/image" Target="../media/image22.png"/><Relationship Id="rId4" Type="http://schemas.openxmlformats.org/officeDocument/2006/relationships/image" Target="../media/image46.png"/><Relationship Id="rId9" Type="http://schemas.openxmlformats.org/officeDocument/2006/relationships/image" Target="../media/image55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formnext.mesago.com/frankfurt/en/industry-insights/am-field-guide/process_in_general.html" TargetMode="External"/><Relationship Id="rId2" Type="http://schemas.openxmlformats.org/officeDocument/2006/relationships/image" Target="../media/image56.jpe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8.jpeg"/><Relationship Id="rId4" Type="http://schemas.openxmlformats.org/officeDocument/2006/relationships/image" Target="../media/image57.jpe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image" Target="../media/image60.jpe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3.png"/><Relationship Id="rId4" Type="http://schemas.openxmlformats.org/officeDocument/2006/relationships/image" Target="../media/image6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png"/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0.png"/><Relationship Id="rId5" Type="http://schemas.openxmlformats.org/officeDocument/2006/relationships/image" Target="../media/image69.png"/><Relationship Id="rId4" Type="http://schemas.openxmlformats.org/officeDocument/2006/relationships/image" Target="../media/image68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DLR-RY/VoFLibrary" TargetMode="External"/><Relationship Id="rId7" Type="http://schemas.openxmlformats.org/officeDocument/2006/relationships/image" Target="../media/image75.png"/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4.png"/><Relationship Id="rId5" Type="http://schemas.openxmlformats.org/officeDocument/2006/relationships/image" Target="../media/image73.png"/><Relationship Id="rId4" Type="http://schemas.openxmlformats.org/officeDocument/2006/relationships/image" Target="../media/image72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6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jpeg"/><Relationship Id="rId3" Type="http://schemas.openxmlformats.org/officeDocument/2006/relationships/image" Target="../media/image78.png"/><Relationship Id="rId7" Type="http://schemas.openxmlformats.org/officeDocument/2006/relationships/image" Target="../media/image82.png"/><Relationship Id="rId2" Type="http://schemas.openxmlformats.org/officeDocument/2006/relationships/image" Target="../media/image7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1.png"/><Relationship Id="rId5" Type="http://schemas.openxmlformats.org/officeDocument/2006/relationships/image" Target="../media/image80.png"/><Relationship Id="rId4" Type="http://schemas.openxmlformats.org/officeDocument/2006/relationships/image" Target="../media/image79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4.png"/><Relationship Id="rId2" Type="http://schemas.openxmlformats.org/officeDocument/2006/relationships/image" Target="../media/image8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0.png"/><Relationship Id="rId4" Type="http://schemas.openxmlformats.org/officeDocument/2006/relationships/image" Target="../media/image85.png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91.png"/><Relationship Id="rId3" Type="http://schemas.openxmlformats.org/officeDocument/2006/relationships/image" Target="../media/image87.png"/><Relationship Id="rId7" Type="http://schemas.openxmlformats.org/officeDocument/2006/relationships/image" Target="../media/image90.png"/><Relationship Id="rId2" Type="http://schemas.openxmlformats.org/officeDocument/2006/relationships/image" Target="../media/image8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0.png"/><Relationship Id="rId11" Type="http://schemas.openxmlformats.org/officeDocument/2006/relationships/image" Target="../media/image83.png"/><Relationship Id="rId5" Type="http://schemas.openxmlformats.org/officeDocument/2006/relationships/image" Target="../media/image89.png"/><Relationship Id="rId10" Type="http://schemas.openxmlformats.org/officeDocument/2006/relationships/image" Target="../media/image85.png"/><Relationship Id="rId4" Type="http://schemas.openxmlformats.org/officeDocument/2006/relationships/image" Target="../media/image88.png"/><Relationship Id="rId9" Type="http://schemas.openxmlformats.org/officeDocument/2006/relationships/image" Target="../media/image92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4.png"/><Relationship Id="rId2" Type="http://schemas.openxmlformats.org/officeDocument/2006/relationships/image" Target="../media/image9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6.png"/><Relationship Id="rId4" Type="http://schemas.openxmlformats.org/officeDocument/2006/relationships/image" Target="../media/image95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8.png"/><Relationship Id="rId7" Type="http://schemas.openxmlformats.org/officeDocument/2006/relationships/image" Target="../media/image102.png"/><Relationship Id="rId2" Type="http://schemas.openxmlformats.org/officeDocument/2006/relationships/image" Target="../media/image9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1.png"/><Relationship Id="rId5" Type="http://schemas.openxmlformats.org/officeDocument/2006/relationships/image" Target="../media/image100.png"/><Relationship Id="rId4" Type="http://schemas.openxmlformats.org/officeDocument/2006/relationships/image" Target="../media/image9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AA2E74B6-3C6E-346D-648E-B4AB2B22A884}"/>
              </a:ext>
            </a:extLst>
          </p:cNvPr>
          <p:cNvSpPr/>
          <p:nvPr/>
        </p:nvSpPr>
        <p:spPr>
          <a:xfrm>
            <a:off x="0" y="1"/>
            <a:ext cx="12192000" cy="6858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5037BCBA-444F-A065-9520-D96B0388A2B9}"/>
              </a:ext>
            </a:extLst>
          </p:cNvPr>
          <p:cNvCxnSpPr/>
          <p:nvPr/>
        </p:nvCxnSpPr>
        <p:spPr>
          <a:xfrm>
            <a:off x="5676523" y="0"/>
            <a:ext cx="0" cy="6858000"/>
          </a:xfrm>
          <a:prstGeom prst="line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0E80FE23-DB89-9CAC-5DE4-80E598169ABA}"/>
              </a:ext>
            </a:extLst>
          </p:cNvPr>
          <p:cNvSpPr/>
          <p:nvPr/>
        </p:nvSpPr>
        <p:spPr>
          <a:xfrm>
            <a:off x="6421922" y="201481"/>
            <a:ext cx="5071603" cy="318411"/>
          </a:xfrm>
          <a:prstGeom prst="roundRect">
            <a:avLst/>
          </a:prstGeom>
          <a:noFill/>
        </p:spPr>
        <p:txBody>
          <a:bodyPr wrap="square" lIns="0" tIns="0" rIns="0" bIns="0" anchor="ctr" anchorCtr="0">
            <a:noAutofit/>
          </a:bodyPr>
          <a:lstStyle/>
          <a:p>
            <a:r>
              <a:rPr lang="en-US" sz="2400" b="1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Horley Old Style MT"/>
              </a:rPr>
              <a:t>Directed Energy Deposition (DED)</a:t>
            </a:r>
            <a:endParaRPr lang="LID4096" sz="2400" b="1" dirty="0">
              <a:solidFill>
                <a:srgbClr val="FF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Horley Old Style MT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E31717DC-E08A-F153-F093-47FAB12A3E9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2453" t="1979" r="3871" b="55847"/>
          <a:stretch>
            <a:fillRect/>
          </a:stretch>
        </p:blipFill>
        <p:spPr>
          <a:xfrm>
            <a:off x="6331768" y="697116"/>
            <a:ext cx="4705992" cy="3069125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1C64638C-E3C1-B05C-2A60-DC9970BE6FB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0044" t="52481"/>
          <a:stretch>
            <a:fillRect/>
          </a:stretch>
        </p:blipFill>
        <p:spPr>
          <a:xfrm>
            <a:off x="6578430" y="3953203"/>
            <a:ext cx="4332584" cy="2768633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CC5E4821-3A2C-49A0-D61A-EF6CBAC7767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450" t="1979" r="52120" b="55847"/>
          <a:stretch>
            <a:fillRect/>
          </a:stretch>
        </p:blipFill>
        <p:spPr>
          <a:xfrm>
            <a:off x="585177" y="697116"/>
            <a:ext cx="4704696" cy="3069125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281418AD-8511-5108-6887-B0645A1BEDB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52791" r="50044"/>
          <a:stretch>
            <a:fillRect/>
          </a:stretch>
        </p:blipFill>
        <p:spPr>
          <a:xfrm>
            <a:off x="707853" y="3969366"/>
            <a:ext cx="4332584" cy="2750526"/>
          </a:xfrm>
          <a:prstGeom prst="rect">
            <a:avLst/>
          </a:prstGeom>
        </p:spPr>
      </p:pic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6F794F47-B59C-8DC5-E51E-9257C60CD17A}"/>
              </a:ext>
            </a:extLst>
          </p:cNvPr>
          <p:cNvSpPr/>
          <p:nvPr/>
        </p:nvSpPr>
        <p:spPr>
          <a:xfrm>
            <a:off x="784340" y="201481"/>
            <a:ext cx="3380256" cy="318411"/>
          </a:xfrm>
          <a:prstGeom prst="roundRect">
            <a:avLst/>
          </a:prstGeom>
          <a:noFill/>
        </p:spPr>
        <p:txBody>
          <a:bodyPr wrap="square" lIns="0" tIns="0" rIns="0" bIns="0" anchor="ctr" anchorCtr="0">
            <a:noAutofit/>
          </a:bodyPr>
          <a:lstStyle/>
          <a:p>
            <a:r>
              <a:rPr lang="LID4096" sz="2400" b="1" u="sng" dirty="0">
                <a:solidFill>
                  <a:srgbClr val="0000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Horley Old Style MT"/>
              </a:rPr>
              <a:t>Powder</a:t>
            </a:r>
            <a:r>
              <a:rPr lang="pt-BR" sz="2400" b="1" dirty="0">
                <a:solidFill>
                  <a:srgbClr val="0000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Horley Old Style MT"/>
              </a:rPr>
              <a:t> </a:t>
            </a:r>
            <a:r>
              <a:rPr lang="LID4096" sz="2400" b="1" dirty="0">
                <a:solidFill>
                  <a:srgbClr val="0000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Horley Old Style MT"/>
              </a:rPr>
              <a:t>Bed Fusion (PBF)</a:t>
            </a:r>
          </a:p>
        </p:txBody>
      </p:sp>
    </p:spTree>
    <p:extLst>
      <p:ext uri="{BB962C8B-B14F-4D97-AF65-F5344CB8AC3E}">
        <p14:creationId xmlns:p14="http://schemas.microsoft.com/office/powerpoint/2010/main" val="204689612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9B47A7-35CA-C242-B76D-83DA96D6A3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DF45C74A-CC08-BD7F-61E8-7645E6DD463F}"/>
              </a:ext>
            </a:extLst>
          </p:cNvPr>
          <p:cNvSpPr/>
          <p:nvPr/>
        </p:nvSpPr>
        <p:spPr>
          <a:xfrm>
            <a:off x="0" y="1"/>
            <a:ext cx="12192000" cy="6858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0FE7A7C-03EC-0F16-903D-BFF5517595B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10330"/>
          <a:stretch>
            <a:fillRect/>
          </a:stretch>
        </p:blipFill>
        <p:spPr>
          <a:xfrm>
            <a:off x="8908610" y="4405154"/>
            <a:ext cx="2117835" cy="2150122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AAEBB0BD-7342-CEEC-C6FC-434A548652F7}"/>
              </a:ext>
            </a:extLst>
          </p:cNvPr>
          <p:cNvSpPr/>
          <p:nvPr/>
        </p:nvSpPr>
        <p:spPr>
          <a:xfrm>
            <a:off x="6421922" y="201481"/>
            <a:ext cx="5071603" cy="318411"/>
          </a:xfrm>
          <a:prstGeom prst="roundRect">
            <a:avLst/>
          </a:prstGeom>
          <a:noFill/>
        </p:spPr>
        <p:txBody>
          <a:bodyPr wrap="square" lIns="0" tIns="0" rIns="0" bIns="0" anchor="ctr" anchorCtr="0">
            <a:noAutofit/>
          </a:bodyPr>
          <a:lstStyle/>
          <a:p>
            <a:r>
              <a:rPr lang="en-US" sz="2400" b="1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Horley Old Style MT"/>
              </a:rPr>
              <a:t>Directed Energy Deposition (DED - </a:t>
            </a:r>
            <a:r>
              <a:rPr lang="en-US" sz="2400" b="1" u="sng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Horley Old Style MT"/>
              </a:rPr>
              <a:t>ARC</a:t>
            </a:r>
            <a:r>
              <a:rPr lang="en-US" sz="2400" b="1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Horley Old Style MT"/>
              </a:rPr>
              <a:t>)</a:t>
            </a:r>
            <a:endParaRPr lang="LID4096" sz="2400" b="1" dirty="0">
              <a:solidFill>
                <a:srgbClr val="FF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Horley Old Style MT"/>
            </a:endParaRPr>
          </a:p>
        </p:txBody>
      </p:sp>
      <p:pic>
        <p:nvPicPr>
          <p:cNvPr id="16" name="Picture 2">
            <a:extLst>
              <a:ext uri="{FF2B5EF4-FFF2-40B4-BE49-F238E27FC236}">
                <a16:creationId xmlns:a16="http://schemas.microsoft.com/office/drawing/2014/main" id="{B8D4F16C-1F71-CD67-F7B1-035A0F99662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18647" y="697120"/>
            <a:ext cx="4707798" cy="3530848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FC9DBE22-0C4C-95E4-AABC-C64DD76A297F}"/>
              </a:ext>
            </a:extLst>
          </p:cNvPr>
          <p:cNvSpPr txBox="1"/>
          <p:nvPr/>
        </p:nvSpPr>
        <p:spPr>
          <a:xfrm>
            <a:off x="6318647" y="4522849"/>
            <a:ext cx="2454161" cy="1631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sz="2800" dirty="0">
                <a:solidFill>
                  <a:srgbClr val="0000FF"/>
                </a:solidFill>
              </a:rPr>
              <a:t>Wire Arc  </a:t>
            </a:r>
          </a:p>
          <a:p>
            <a:pPr algn="ctr"/>
            <a:r>
              <a:rPr lang="en-GB" sz="3600" b="1" dirty="0">
                <a:solidFill>
                  <a:srgbClr val="0000FF"/>
                </a:solidFill>
              </a:rPr>
              <a:t>WAAM</a:t>
            </a:r>
          </a:p>
          <a:p>
            <a:pPr algn="ctr"/>
            <a:r>
              <a:rPr lang="en-GB" sz="3600" b="1" dirty="0">
                <a:solidFill>
                  <a:srgbClr val="0000FF"/>
                </a:solidFill>
              </a:rPr>
              <a:t>Wire DED</a:t>
            </a:r>
            <a:endParaRPr lang="en-GB" sz="3600" dirty="0">
              <a:solidFill>
                <a:srgbClr val="0000FF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B2C6E52-701D-9A04-C61F-B318F5709B32}"/>
              </a:ext>
            </a:extLst>
          </p:cNvPr>
          <p:cNvSpPr txBox="1"/>
          <p:nvPr/>
        </p:nvSpPr>
        <p:spPr>
          <a:xfrm>
            <a:off x="6183514" y="6057399"/>
            <a:ext cx="258409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2800" b="1" noProof="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Arco Voltaico</a:t>
            </a:r>
            <a:endParaRPr lang="pt-BR" sz="2800" noProof="0" dirty="0">
              <a:solidFill>
                <a:srgbClr val="FF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180FDF19-A33C-136F-1A28-B6A70AF3043D}"/>
              </a:ext>
            </a:extLst>
          </p:cNvPr>
          <p:cNvGrpSpPr/>
          <p:nvPr/>
        </p:nvGrpSpPr>
        <p:grpSpPr>
          <a:xfrm>
            <a:off x="469242" y="1316124"/>
            <a:ext cx="5131267" cy="1977507"/>
            <a:chOff x="469242" y="658584"/>
            <a:chExt cx="5131267" cy="1977507"/>
          </a:xfrm>
        </p:grpSpPr>
        <p:sp>
          <p:nvSpPr>
            <p:cNvPr id="10" name="Rectangle: Rounded Corners 9">
              <a:extLst>
                <a:ext uri="{FF2B5EF4-FFF2-40B4-BE49-F238E27FC236}">
                  <a16:creationId xmlns:a16="http://schemas.microsoft.com/office/drawing/2014/main" id="{951DC266-B0C6-7AD9-4BB8-8ADFB9064D9E}"/>
                </a:ext>
              </a:extLst>
            </p:cNvPr>
            <p:cNvSpPr/>
            <p:nvPr/>
          </p:nvSpPr>
          <p:spPr>
            <a:xfrm>
              <a:off x="3722009" y="769025"/>
              <a:ext cx="980423" cy="318411"/>
            </a:xfrm>
            <a:prstGeom prst="roundRect">
              <a:avLst/>
            </a:prstGeom>
            <a:noFill/>
          </p:spPr>
          <p:txBody>
            <a:bodyPr wrap="square" lIns="0" tIns="0" rIns="0" bIns="0" anchor="ctr" anchorCtr="0">
              <a:noAutofit/>
            </a:bodyPr>
            <a:lstStyle/>
            <a:p>
              <a:pPr algn="r"/>
              <a:r>
                <a:rPr lang="en-US" sz="2400" b="1" dirty="0">
                  <a:latin typeface="Horley Old Style MT"/>
                </a:rPr>
                <a:t>EBM </a:t>
              </a:r>
              <a:endParaRPr lang="LID4096" sz="24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Horley Old Style MT"/>
              </a:endParaRP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3AE35006-F1A4-F82E-9FA6-576C303FC24C}"/>
                </a:ext>
              </a:extLst>
            </p:cNvPr>
            <p:cNvSpPr txBox="1"/>
            <p:nvPr/>
          </p:nvSpPr>
          <p:spPr>
            <a:xfrm>
              <a:off x="469242" y="658584"/>
              <a:ext cx="3467032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2400" b="1" u="sng" dirty="0">
                  <a:latin typeface="Horley Old Style MT"/>
                </a:rPr>
                <a:t>Electron Beam</a:t>
              </a:r>
              <a:r>
                <a:rPr lang="en-US" sz="2400" b="1" dirty="0">
                  <a:latin typeface="Horley Old Style MT"/>
                </a:rPr>
                <a:t> Melting</a:t>
              </a:r>
              <a:endParaRPr lang="LID4096" sz="2400" b="1" dirty="0">
                <a:latin typeface="Horley Old Style MT"/>
              </a:endParaRP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E6E1CCE9-6D2A-0BD7-3430-CB907C3B0A37}"/>
                </a:ext>
              </a:extLst>
            </p:cNvPr>
            <p:cNvSpPr txBox="1"/>
            <p:nvPr/>
          </p:nvSpPr>
          <p:spPr>
            <a:xfrm>
              <a:off x="469242" y="1066431"/>
              <a:ext cx="5131267" cy="156966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sz="2400" b="1" u="none" strike="noStrike" dirty="0">
                  <a:effectLst/>
                  <a:latin typeface="Google Sans"/>
                </a:rPr>
                <a:t>Vat </a:t>
              </a:r>
              <a:r>
                <a:rPr lang="en-GB" sz="2400" b="1" u="sng" strike="noStrike" dirty="0">
                  <a:solidFill>
                    <a:srgbClr val="FF0000"/>
                  </a:solidFill>
                  <a:effectLst/>
                  <a:latin typeface="Google Sans"/>
                </a:rPr>
                <a:t>Photo</a:t>
              </a:r>
              <a:r>
                <a:rPr lang="en-GB" sz="2400" b="1" u="none" strike="noStrike" dirty="0">
                  <a:effectLst/>
                  <a:latin typeface="Google Sans"/>
                </a:rPr>
                <a:t>polymerization      VPP</a:t>
              </a:r>
              <a:r>
                <a:rPr lang="en-GB" sz="2400" b="1" dirty="0"/>
                <a:t> </a:t>
              </a:r>
            </a:p>
            <a:p>
              <a:r>
                <a:rPr lang="en-GB" sz="2400" b="1" u="sng" dirty="0">
                  <a:latin typeface="Google Sans"/>
                </a:rPr>
                <a:t>Binder</a:t>
              </a:r>
              <a:r>
                <a:rPr lang="en-GB" sz="2400" b="1" dirty="0">
                  <a:latin typeface="Google Sans"/>
                </a:rPr>
                <a:t> Jetting 	</a:t>
              </a:r>
              <a:r>
                <a:rPr lang="en-GB" sz="2400" b="1" dirty="0">
                  <a:solidFill>
                    <a:srgbClr val="FF0000"/>
                  </a:solidFill>
                  <a:latin typeface="Google Sans"/>
                </a:rPr>
                <a:t>(glue)</a:t>
              </a:r>
              <a:r>
                <a:rPr lang="en-GB" sz="2400" b="1" dirty="0">
                  <a:latin typeface="Google Sans"/>
                </a:rPr>
                <a:t>	            BJ</a:t>
              </a:r>
              <a:r>
                <a:rPr lang="en-GB" sz="2400" b="1" dirty="0"/>
                <a:t> </a:t>
              </a:r>
            </a:p>
            <a:p>
              <a:r>
                <a:rPr lang="en-GB" sz="2400" b="1" dirty="0"/>
                <a:t>Material Jetting 	            MJ</a:t>
              </a:r>
            </a:p>
            <a:p>
              <a:r>
                <a:rPr lang="en-US" sz="2400" b="1" dirty="0">
                  <a:latin typeface="Horley Old Style MT"/>
                </a:rPr>
                <a:t>Sheet Lamination </a:t>
              </a:r>
              <a:r>
                <a:rPr lang="en-US" sz="2400" b="1" dirty="0">
                  <a:solidFill>
                    <a:srgbClr val="FF0000"/>
                  </a:solidFill>
                  <a:latin typeface="Horley Old Style MT"/>
                </a:rPr>
                <a:t>(cut)</a:t>
              </a:r>
              <a:r>
                <a:rPr lang="en-US" sz="2400" b="1" dirty="0">
                  <a:latin typeface="Horley Old Style MT"/>
                </a:rPr>
                <a:t>          SHL</a:t>
              </a:r>
              <a:endParaRPr lang="LID4096" sz="2400" b="1" dirty="0"/>
            </a:p>
          </p:txBody>
        </p:sp>
      </p:grpSp>
      <p:sp>
        <p:nvSpPr>
          <p:cNvPr id="23" name="TextBox 22">
            <a:extLst>
              <a:ext uri="{FF2B5EF4-FFF2-40B4-BE49-F238E27FC236}">
                <a16:creationId xmlns:a16="http://schemas.microsoft.com/office/drawing/2014/main" id="{D415A883-323F-D825-8070-C7FA0739707D}"/>
              </a:ext>
            </a:extLst>
          </p:cNvPr>
          <p:cNvSpPr txBox="1"/>
          <p:nvPr/>
        </p:nvSpPr>
        <p:spPr>
          <a:xfrm>
            <a:off x="613818" y="3919717"/>
            <a:ext cx="3661238" cy="16466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2800" b="1" u="sng" noProof="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Classificações A.M.:</a:t>
            </a:r>
          </a:p>
          <a:p>
            <a:endParaRPr lang="pt-BR" sz="1600" b="1" u="sng" noProof="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pPr marL="342900" indent="-342900">
              <a:buFontTx/>
              <a:buChar char="-"/>
            </a:pPr>
            <a:r>
              <a:rPr lang="pt-BR" sz="2400" dirty="0"/>
              <a:t>Por </a:t>
            </a:r>
            <a:r>
              <a:rPr lang="pt-BR" sz="2400" u="sng" dirty="0"/>
              <a:t>fonte de energia</a:t>
            </a:r>
          </a:p>
          <a:p>
            <a:pPr marL="342900" indent="-342900">
              <a:buFontTx/>
              <a:buChar char="-"/>
            </a:pPr>
            <a:endParaRPr lang="pt-BR" sz="900" dirty="0"/>
          </a:p>
          <a:p>
            <a:pPr marL="342900" indent="-342900">
              <a:buFontTx/>
              <a:buChar char="-"/>
            </a:pPr>
            <a:r>
              <a:rPr lang="pt-BR" sz="2400" noProof="0" dirty="0"/>
              <a:t>Por </a:t>
            </a:r>
            <a:r>
              <a:rPr lang="pt-BR" sz="2400" u="sng" noProof="0" dirty="0"/>
              <a:t>tipo de material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647E3A2-4DD7-7204-6E35-8ACDC72ADD98}"/>
              </a:ext>
            </a:extLst>
          </p:cNvPr>
          <p:cNvSpPr txBox="1"/>
          <p:nvPr/>
        </p:nvSpPr>
        <p:spPr>
          <a:xfrm>
            <a:off x="-1" y="6306902"/>
            <a:ext cx="5524497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LID4096"/>
            </a:defPPr>
            <a:lvl1pPr>
              <a:defRPr sz="1000" b="1" i="0" u="none" strike="noStrike" baseline="0">
                <a:solidFill>
                  <a:schemeClr val="accent2"/>
                </a:solidFill>
                <a:latin typeface="AdvOTa2fa4214.B"/>
              </a:defRPr>
            </a:lvl1pPr>
          </a:lstStyle>
          <a:p>
            <a:r>
              <a:rPr lang="en-GB" sz="1400" dirty="0"/>
              <a:t>Modelling and simulation of metal additive manufacturing processes with particle methods: </a:t>
            </a:r>
            <a:r>
              <a:rPr lang="en-US" sz="1600" u="sng" dirty="0"/>
              <a:t>A review</a:t>
            </a:r>
            <a:r>
              <a:rPr lang="en-US" sz="1400" u="sng" dirty="0"/>
              <a:t> </a:t>
            </a:r>
            <a:r>
              <a:rPr lang="en-US" sz="1050" dirty="0"/>
              <a:t>https://doi.org/10.1080/17452759.2023.2274494</a:t>
            </a:r>
            <a:endParaRPr lang="LID4096" sz="1050" dirty="0"/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648CC822-50A7-BA08-8FEC-28D3FD8AAC40}"/>
              </a:ext>
            </a:extLst>
          </p:cNvPr>
          <p:cNvCxnSpPr/>
          <p:nvPr/>
        </p:nvCxnSpPr>
        <p:spPr>
          <a:xfrm>
            <a:off x="5676523" y="0"/>
            <a:ext cx="0" cy="6858000"/>
          </a:xfrm>
          <a:prstGeom prst="line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576B5466-651A-4813-52DC-98E73BD34022}"/>
              </a:ext>
            </a:extLst>
          </p:cNvPr>
          <p:cNvSpPr/>
          <p:nvPr/>
        </p:nvSpPr>
        <p:spPr>
          <a:xfrm>
            <a:off x="784340" y="201481"/>
            <a:ext cx="3380256" cy="318411"/>
          </a:xfrm>
          <a:prstGeom prst="roundRect">
            <a:avLst/>
          </a:prstGeom>
          <a:noFill/>
        </p:spPr>
        <p:txBody>
          <a:bodyPr wrap="square" lIns="0" tIns="0" rIns="0" bIns="0" anchor="ctr" anchorCtr="0">
            <a:noAutofit/>
          </a:bodyPr>
          <a:lstStyle/>
          <a:p>
            <a:r>
              <a:rPr lang="LID4096" sz="2400" b="1" dirty="0">
                <a:solidFill>
                  <a:srgbClr val="0000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Horley Old Style MT"/>
              </a:rPr>
              <a:t>Powder</a:t>
            </a:r>
            <a:r>
              <a:rPr lang="pt-BR" sz="2400" b="1" dirty="0">
                <a:solidFill>
                  <a:srgbClr val="0000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Horley Old Style MT"/>
              </a:rPr>
              <a:t> </a:t>
            </a:r>
            <a:r>
              <a:rPr lang="LID4096" sz="2400" b="1" dirty="0">
                <a:solidFill>
                  <a:srgbClr val="0000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Horley Old Style MT"/>
              </a:rPr>
              <a:t>Bed Fusion (PBF)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E34A3A7-1340-B08A-9291-F6EE6511837A}"/>
              </a:ext>
            </a:extLst>
          </p:cNvPr>
          <p:cNvSpPr txBox="1"/>
          <p:nvPr/>
        </p:nvSpPr>
        <p:spPr>
          <a:xfrm>
            <a:off x="5647372" y="4706281"/>
            <a:ext cx="1206748" cy="461665"/>
          </a:xfrm>
          <a:prstGeom prst="rect">
            <a:avLst/>
          </a:prstGeom>
          <a:noFill/>
        </p:spPr>
        <p:txBody>
          <a:bodyPr wrap="square" lIns="0" tIns="0" rIns="0" bIns="0" anchor="ctr" anchorCtr="0">
            <a:noAutofit/>
          </a:bodyPr>
          <a:lstStyle>
            <a:defPPr>
              <a:defRPr lang="LID4096"/>
            </a:defPPr>
            <a:lvl1pPr>
              <a:defRPr sz="2400" b="1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Horley Old Style MT"/>
              </a:defRPr>
            </a:lvl1pPr>
          </a:lstStyle>
          <a:p>
            <a:pPr algn="ctr"/>
            <a:r>
              <a:rPr lang="LID4096" dirty="0"/>
              <a:t>GTAW</a:t>
            </a:r>
          </a:p>
        </p:txBody>
      </p:sp>
    </p:spTree>
    <p:extLst>
      <p:ext uri="{BB962C8B-B14F-4D97-AF65-F5344CB8AC3E}">
        <p14:creationId xmlns:p14="http://schemas.microsoft.com/office/powerpoint/2010/main" val="42662519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D0A5E383-2B32-2865-3DDE-578942CA3C47}"/>
              </a:ext>
            </a:extLst>
          </p:cNvPr>
          <p:cNvSpPr/>
          <p:nvPr/>
        </p:nvSpPr>
        <p:spPr>
          <a:xfrm>
            <a:off x="0" y="1"/>
            <a:ext cx="12192000" cy="6858000"/>
          </a:xfrm>
          <a:prstGeom prst="rect">
            <a:avLst/>
          </a:prstGeom>
          <a:solidFill>
            <a:srgbClr val="E5FFF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2378646D-4E92-EA17-AB94-8E5ACEB2D355}"/>
              </a:ext>
            </a:extLst>
          </p:cNvPr>
          <p:cNvSpPr txBox="1"/>
          <p:nvPr/>
        </p:nvSpPr>
        <p:spPr>
          <a:xfrm>
            <a:off x="892488" y="874453"/>
            <a:ext cx="6448837" cy="54168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LID4096" sz="4400" b="1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PROBLEMAS</a:t>
            </a:r>
            <a:r>
              <a:rPr lang="pt-BR" sz="4400" b="1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A.M.</a:t>
            </a:r>
          </a:p>
          <a:p>
            <a:endParaRPr lang="LID4096" sz="1000" b="1" dirty="0"/>
          </a:p>
          <a:p>
            <a:pPr>
              <a:spcAft>
                <a:spcPts val="600"/>
              </a:spcAft>
            </a:pPr>
            <a:r>
              <a:rPr lang="pt-BR" sz="2800" dirty="0"/>
              <a:t>1- </a:t>
            </a:r>
            <a:r>
              <a:rPr lang="LID4096" sz="2800" dirty="0"/>
              <a:t>Orientação </a:t>
            </a:r>
            <a:r>
              <a:rPr lang="pt-BR" sz="2800" dirty="0"/>
              <a:t>– intensidade</a:t>
            </a:r>
            <a:endParaRPr lang="LID4096" sz="2800" dirty="0"/>
          </a:p>
          <a:p>
            <a:pPr>
              <a:spcAft>
                <a:spcPts val="600"/>
              </a:spcAft>
            </a:pPr>
            <a:r>
              <a:rPr lang="pt-BR" sz="2800" b="1" u="sng" dirty="0"/>
              <a:t>2- D</a:t>
            </a:r>
            <a:r>
              <a:rPr lang="LID4096" sz="2800" b="1" u="sng" dirty="0"/>
              <a:t>escontínuidades</a:t>
            </a:r>
            <a:r>
              <a:rPr lang="pt-BR" sz="2800" b="1" u="sng" dirty="0"/>
              <a:t> 	(</a:t>
            </a:r>
            <a:r>
              <a:rPr lang="LID4096" sz="2800" b="1" i="1" u="sng" dirty="0"/>
              <a:t>balling</a:t>
            </a:r>
            <a:r>
              <a:rPr lang="pt-BR" sz="2800" b="1" u="sng" dirty="0"/>
              <a:t>)</a:t>
            </a:r>
            <a:endParaRPr lang="LID4096" sz="2800" b="1" u="sng" dirty="0"/>
          </a:p>
          <a:p>
            <a:pPr>
              <a:spcAft>
                <a:spcPts val="600"/>
              </a:spcAft>
            </a:pPr>
            <a:r>
              <a:rPr lang="pt-BR" sz="2800" dirty="0"/>
              <a:t>3- </a:t>
            </a:r>
            <a:r>
              <a:rPr lang="LID4096" sz="2800" dirty="0"/>
              <a:t>Keyholes (espaços vazios - vapor)</a:t>
            </a:r>
          </a:p>
          <a:p>
            <a:pPr>
              <a:spcAft>
                <a:spcPts val="600"/>
              </a:spcAft>
            </a:pPr>
            <a:r>
              <a:rPr lang="pt-BR" sz="2800" dirty="0"/>
              <a:t>4- </a:t>
            </a:r>
            <a:r>
              <a:rPr lang="LID4096" sz="2800" dirty="0"/>
              <a:t>Degradação química e oxidação</a:t>
            </a:r>
            <a:endParaRPr lang="pt-BR" sz="2800" dirty="0"/>
          </a:p>
          <a:p>
            <a:pPr>
              <a:spcAft>
                <a:spcPts val="600"/>
              </a:spcAft>
            </a:pPr>
            <a:r>
              <a:rPr lang="pt-BR" sz="2800" b="1" u="sng" dirty="0"/>
              <a:t>5- </a:t>
            </a:r>
            <a:r>
              <a:rPr lang="LID4096" sz="2800" b="1" u="sng" dirty="0"/>
              <a:t>Partículas residuais</a:t>
            </a:r>
          </a:p>
          <a:p>
            <a:pPr>
              <a:spcAft>
                <a:spcPts val="600"/>
              </a:spcAft>
            </a:pPr>
            <a:r>
              <a:rPr lang="pt-BR" sz="2800" b="1" u="sng" dirty="0"/>
              <a:t>6- </a:t>
            </a:r>
            <a:r>
              <a:rPr lang="LID4096" sz="2800" b="1" u="sng" dirty="0"/>
              <a:t>Trincas</a:t>
            </a:r>
          </a:p>
          <a:p>
            <a:pPr>
              <a:spcAft>
                <a:spcPts val="600"/>
              </a:spcAft>
            </a:pPr>
            <a:r>
              <a:rPr lang="pt-BR" sz="2800" dirty="0"/>
              <a:t>7- </a:t>
            </a:r>
            <a:r>
              <a:rPr lang="LID4096" sz="2800" dirty="0"/>
              <a:t>Delaminação</a:t>
            </a:r>
            <a:r>
              <a:rPr lang="pt-BR" sz="2800" dirty="0"/>
              <a:t> / </a:t>
            </a:r>
            <a:r>
              <a:rPr lang="LID4096" sz="2800" dirty="0"/>
              <a:t>Distorção</a:t>
            </a:r>
          </a:p>
          <a:p>
            <a:pPr>
              <a:spcAft>
                <a:spcPts val="600"/>
              </a:spcAft>
            </a:pPr>
            <a:r>
              <a:rPr lang="pt-BR" sz="2800" dirty="0"/>
              <a:t>8- </a:t>
            </a:r>
            <a:r>
              <a:rPr lang="LID4096" sz="2800" dirty="0"/>
              <a:t>Acabamento superficial</a:t>
            </a:r>
          </a:p>
          <a:p>
            <a:pPr>
              <a:spcAft>
                <a:spcPts val="600"/>
              </a:spcAft>
            </a:pPr>
            <a:r>
              <a:rPr lang="pt-BR" sz="2800" b="1" u="sng" dirty="0"/>
              <a:t>9- </a:t>
            </a:r>
            <a:r>
              <a:rPr lang="LID4096" sz="2800" b="1" u="sng" dirty="0"/>
              <a:t>Porosidade</a:t>
            </a:r>
            <a:endParaRPr lang="LID4096" sz="2800" dirty="0"/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F4802523-39A9-93CD-3D5D-F72290DAC1F3}"/>
              </a:ext>
            </a:extLst>
          </p:cNvPr>
          <p:cNvSpPr/>
          <p:nvPr/>
        </p:nvSpPr>
        <p:spPr>
          <a:xfrm>
            <a:off x="6444343" y="1336012"/>
            <a:ext cx="5251268" cy="3626024"/>
          </a:xfrm>
          <a:prstGeom prst="roundRect">
            <a:avLst/>
          </a:prstGeom>
          <a:noFill/>
        </p:spPr>
        <p:txBody>
          <a:bodyPr wrap="square" lIns="0" tIns="0" rIns="0" bIns="0" anchor="t" anchorCtr="0">
            <a:noAutofit/>
          </a:bodyPr>
          <a:lstStyle/>
          <a:p>
            <a:r>
              <a:rPr lang="pt-BR" sz="1200" b="1" noProof="0" dirty="0">
                <a:latin typeface="Calibri (Body)"/>
              </a:rPr>
              <a:t> </a:t>
            </a:r>
          </a:p>
          <a:p>
            <a:pPr marL="457200" indent="-457200">
              <a:buFontTx/>
              <a:buChar char="-"/>
            </a:pPr>
            <a:r>
              <a:rPr lang="pt-BR" sz="3600" b="1" noProof="0" dirty="0">
                <a:solidFill>
                  <a:srgbClr val="0000FF"/>
                </a:solidFill>
                <a:latin typeface="Calibri (Body)"/>
              </a:rPr>
              <a:t>Racionalizar o problema</a:t>
            </a:r>
          </a:p>
          <a:p>
            <a:pPr marL="457200" indent="-457200">
              <a:buFontTx/>
              <a:buChar char="-"/>
            </a:pPr>
            <a:r>
              <a:rPr lang="pt-BR" sz="3600" b="1" dirty="0">
                <a:latin typeface="Calibri (Body)"/>
              </a:rPr>
              <a:t>Criar hipóteses </a:t>
            </a:r>
          </a:p>
          <a:p>
            <a:pPr marL="457200" indent="-457200">
              <a:buFontTx/>
              <a:buChar char="-"/>
            </a:pPr>
            <a:r>
              <a:rPr lang="pt-BR" sz="3600" b="1" dirty="0">
                <a:latin typeface="Calibri (Body)"/>
              </a:rPr>
              <a:t>... entender a base de dados</a:t>
            </a:r>
            <a:endParaRPr lang="pt-BR" sz="3600" b="1" noProof="0" dirty="0">
              <a:latin typeface="Calibri (Body)"/>
            </a:endParaRPr>
          </a:p>
          <a:p>
            <a:pPr marL="457200" indent="-457200">
              <a:buFontTx/>
              <a:buChar char="-"/>
            </a:pPr>
            <a:r>
              <a:rPr lang="pt-BR" sz="3600" b="1" dirty="0">
                <a:solidFill>
                  <a:srgbClr val="FF0000"/>
                </a:solidFill>
                <a:latin typeface="Calibri (Body)"/>
              </a:rPr>
              <a:t>Controlar o processo de fabricação</a:t>
            </a:r>
            <a:endParaRPr lang="pt-BR" sz="3600" b="1" noProof="0" dirty="0">
              <a:solidFill>
                <a:srgbClr val="FF0000"/>
              </a:solidFill>
              <a:latin typeface="Calibri (Body)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CAF34C84-B521-4465-5ABE-19053F4AEFEF}"/>
              </a:ext>
            </a:extLst>
          </p:cNvPr>
          <p:cNvSpPr txBox="1"/>
          <p:nvPr/>
        </p:nvSpPr>
        <p:spPr>
          <a:xfrm>
            <a:off x="9936481" y="6686377"/>
            <a:ext cx="2288758" cy="1692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LID4096" sz="500" dirty="0">
                <a:solidFill>
                  <a:srgbClr val="FF0000"/>
                </a:solidFill>
              </a:rPr>
              <a:t>Aula 3 - ED_Deposicao_por_energia_direcionada___e___p86__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CB126066-2354-2130-32C5-10AC28739FB2}"/>
              </a:ext>
            </a:extLst>
          </p:cNvPr>
          <p:cNvSpPr txBox="1"/>
          <p:nvPr/>
        </p:nvSpPr>
        <p:spPr>
          <a:xfrm>
            <a:off x="5722372" y="5864167"/>
            <a:ext cx="6268218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3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Grande quantidade de variáveis !</a:t>
            </a:r>
            <a:endParaRPr lang="LID4096" sz="32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6CDE9C45-8EE6-07C3-97F7-7DF495D5B300}"/>
              </a:ext>
            </a:extLst>
          </p:cNvPr>
          <p:cNvSpPr/>
          <p:nvPr/>
        </p:nvSpPr>
        <p:spPr>
          <a:xfrm>
            <a:off x="7796814" y="317105"/>
            <a:ext cx="3829129" cy="634862"/>
          </a:xfrm>
          <a:prstGeom prst="roundRect">
            <a:avLst/>
          </a:prstGeom>
          <a:noFill/>
        </p:spPr>
        <p:txBody>
          <a:bodyPr wrap="square" lIns="0" tIns="0" rIns="0" bIns="0" anchor="t" anchorCtr="0">
            <a:noAutofit/>
          </a:bodyPr>
          <a:lstStyle/>
          <a:p>
            <a:pPr algn="r"/>
            <a:r>
              <a:rPr lang="pt-BR" sz="3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Para que modelar?</a:t>
            </a:r>
          </a:p>
        </p:txBody>
      </p:sp>
    </p:spTree>
    <p:extLst>
      <p:ext uri="{BB962C8B-B14F-4D97-AF65-F5344CB8AC3E}">
        <p14:creationId xmlns:p14="http://schemas.microsoft.com/office/powerpoint/2010/main" val="290622604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34102D-CECA-980A-2AD6-9D7B51734C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E859B489-67D3-3532-7B30-DF76137F07F2}"/>
              </a:ext>
            </a:extLst>
          </p:cNvPr>
          <p:cNvSpPr/>
          <p:nvPr/>
        </p:nvSpPr>
        <p:spPr>
          <a:xfrm>
            <a:off x="40174" y="7255"/>
            <a:ext cx="12192000" cy="6858000"/>
          </a:xfrm>
          <a:prstGeom prst="rect">
            <a:avLst/>
          </a:prstGeom>
          <a:solidFill>
            <a:srgbClr val="E5FFF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0CAEC11-8F9A-034C-308C-AA33CA01BA86}"/>
              </a:ext>
            </a:extLst>
          </p:cNvPr>
          <p:cNvSpPr txBox="1"/>
          <p:nvPr/>
        </p:nvSpPr>
        <p:spPr>
          <a:xfrm>
            <a:off x="272599" y="525679"/>
            <a:ext cx="5367946" cy="5850635"/>
          </a:xfrm>
          <a:prstGeom prst="rect">
            <a:avLst/>
          </a:prstGeom>
          <a:solidFill>
            <a:srgbClr val="A7E8FF"/>
          </a:solidFill>
          <a:effectLst/>
        </p:spPr>
        <p:txBody>
          <a:bodyPr wrap="none" lIns="0" tIns="0" rIns="0" bIns="0" rtlCol="0" anchor="t" anchorCtr="0">
            <a:noAutofit/>
          </a:bodyPr>
          <a:lstStyle>
            <a:defPPr>
              <a:defRPr lang="LID4096"/>
            </a:defPPr>
            <a:lvl1pPr algn="ctr">
              <a:defRPr sz="3600" b="1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pPr algn="l"/>
            <a:r>
              <a:rPr lang="pt-BR" dirty="0"/>
              <a:t> </a:t>
            </a:r>
            <a:r>
              <a:rPr lang="pt-BR" sz="4000" u="sng" dirty="0"/>
              <a:t>Contexto</a:t>
            </a:r>
            <a:endParaRPr lang="pt-BR" u="sng" dirty="0"/>
          </a:p>
        </p:txBody>
      </p:sp>
      <p:sp>
        <p:nvSpPr>
          <p:cNvPr id="5" name="Retângulo 83">
            <a:extLst>
              <a:ext uri="{FF2B5EF4-FFF2-40B4-BE49-F238E27FC236}">
                <a16:creationId xmlns:a16="http://schemas.microsoft.com/office/drawing/2014/main" id="{E9DBDE52-75D3-B495-AE58-D2C816647D0C}"/>
              </a:ext>
            </a:extLst>
          </p:cNvPr>
          <p:cNvSpPr/>
          <p:nvPr/>
        </p:nvSpPr>
        <p:spPr>
          <a:xfrm>
            <a:off x="528640" y="1237518"/>
            <a:ext cx="4871383" cy="1663367"/>
          </a:xfrm>
          <a:prstGeom prst="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sz="1400" b="1" u="sng" dirty="0"/>
          </a:p>
        </p:txBody>
      </p:sp>
      <p:sp>
        <p:nvSpPr>
          <p:cNvPr id="6" name="Object 4">
            <a:extLst>
              <a:ext uri="{63B3BB69-23CF-44E3-9099-C40C66FF867C}">
                <a14:compatExt xmlns:a14="http://schemas.microsoft.com/office/drawing/2010/main" spid="_x0000_s1028"/>
              </a:ext>
              <a:ext uri="{FF2B5EF4-FFF2-40B4-BE49-F238E27FC236}">
                <a16:creationId xmlns:a16="http://schemas.microsoft.com/office/drawing/2014/main" id="{F885EEA9-577F-D3DE-6E26-7E41EB9CDE73}"/>
              </a:ext>
            </a:extLst>
          </p:cNvPr>
          <p:cNvSpPr txBox="1"/>
          <p:nvPr/>
        </p:nvSpPr>
        <p:spPr>
          <a:xfrm>
            <a:off x="2563262" y="646332"/>
            <a:ext cx="2847048" cy="461665"/>
          </a:xfrm>
          <a:prstGeom prst="rect">
            <a:avLst/>
          </a:prstGeom>
          <a:noFill/>
          <a:ln w="38100">
            <a:noFill/>
          </a:ln>
        </p:spPr>
        <p:txBody>
          <a:bodyPr wrap="square" anchor="ctr">
            <a:noAutofit/>
          </a:bodyPr>
          <a:lstStyle>
            <a:lvl1pPr marL="0" indent="0">
              <a:defRPr sz="1100"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latin typeface="+mn-lt"/>
                <a:ea typeface="+mn-ea"/>
                <a:cs typeface="+mn-cs"/>
              </a:defRPr>
            </a:lvl9pPr>
          </a:lstStyle>
          <a:p>
            <a:pPr algn="r">
              <a:defRPr/>
            </a:pPr>
            <a:r>
              <a:rPr lang="pt-BR" sz="2800" b="1" dirty="0">
                <a:solidFill>
                  <a:srgbClr val="0000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Darcy  </a:t>
            </a:r>
            <a:r>
              <a:rPr lang="pt-BR" sz="28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~  Fourier</a:t>
            </a:r>
            <a:endParaRPr lang="pt-BR" sz="28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7" name="Object 4">
            <a:extLst>
              <a:ext uri="{63B3BB69-23CF-44E3-9099-C40C66FF867C}">
                <a14:compatExt xmlns:a14="http://schemas.microsoft.com/office/drawing/2010/main" spid="_x0000_s1028"/>
              </a:ext>
              <a:ext uri="{FF2B5EF4-FFF2-40B4-BE49-F238E27FC236}">
                <a16:creationId xmlns:a16="http://schemas.microsoft.com/office/drawing/2014/main" id="{E8056E78-FDBB-F7C9-9DCC-263CE7ABB10B}"/>
              </a:ext>
            </a:extLst>
          </p:cNvPr>
          <p:cNvSpPr txBox="1"/>
          <p:nvPr/>
        </p:nvSpPr>
        <p:spPr>
          <a:xfrm>
            <a:off x="3847550" y="2342797"/>
            <a:ext cx="1650878" cy="487809"/>
          </a:xfrm>
          <a:prstGeom prst="rect">
            <a:avLst/>
          </a:prstGeom>
          <a:noFill/>
          <a:ln w="38100">
            <a:noFill/>
          </a:ln>
        </p:spPr>
        <p:txBody>
          <a:bodyPr wrap="square" anchor="ctr">
            <a:noAutofit/>
          </a:bodyPr>
          <a:lstStyle>
            <a:lvl1pPr marL="0" indent="0">
              <a:defRPr sz="1100"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latin typeface="+mn-lt"/>
                <a:ea typeface="+mn-ea"/>
                <a:cs typeface="+mn-cs"/>
              </a:defRPr>
            </a:lvl9pPr>
          </a:lstStyle>
          <a:p>
            <a:pPr lvl="0" algn="ctr">
              <a:defRPr/>
            </a:pPr>
            <a:endParaRPr lang="pt-BR" sz="24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882B6B4C-4418-8F7B-F7EC-35982B117C06}"/>
              </a:ext>
            </a:extLst>
          </p:cNvPr>
          <p:cNvGrpSpPr/>
          <p:nvPr/>
        </p:nvGrpSpPr>
        <p:grpSpPr>
          <a:xfrm>
            <a:off x="5841960" y="4453325"/>
            <a:ext cx="3407577" cy="1885969"/>
            <a:chOff x="6178952" y="4366766"/>
            <a:chExt cx="4811155" cy="2582433"/>
          </a:xfrm>
        </p:grpSpPr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784CA36E-0490-8358-8EA9-48538F80DA0E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6178952" y="4366766"/>
              <a:ext cx="4811155" cy="2582433"/>
              <a:chOff x="6612774" y="3332502"/>
              <a:chExt cx="4250457" cy="2281474"/>
            </a:xfrm>
          </p:grpSpPr>
          <p:pic>
            <p:nvPicPr>
              <p:cNvPr id="11" name="Picture 10">
                <a:extLst>
                  <a:ext uri="{FF2B5EF4-FFF2-40B4-BE49-F238E27FC236}">
                    <a16:creationId xmlns:a16="http://schemas.microsoft.com/office/drawing/2014/main" id="{0A628C42-5B11-A5DD-8276-4D2BBA4E36D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55807" b="54338"/>
              <a:stretch>
                <a:fillRect/>
              </a:stretch>
            </p:blipFill>
            <p:spPr>
              <a:xfrm>
                <a:off x="6612774" y="3332502"/>
                <a:ext cx="4250457" cy="2281474"/>
              </a:xfrm>
              <a:prstGeom prst="rect">
                <a:avLst/>
              </a:prstGeom>
              <a:ln w="19050">
                <a:noFill/>
              </a:ln>
            </p:spPr>
          </p:pic>
          <p:cxnSp>
            <p:nvCxnSpPr>
              <p:cNvPr id="12" name="Straight Connector 11">
                <a:extLst>
                  <a:ext uri="{FF2B5EF4-FFF2-40B4-BE49-F238E27FC236}">
                    <a16:creationId xmlns:a16="http://schemas.microsoft.com/office/drawing/2014/main" id="{0B0DAEB9-EF99-284C-43D1-7142445426C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721117" y="3502743"/>
                <a:ext cx="0" cy="1963112"/>
              </a:xfrm>
              <a:prstGeom prst="line">
                <a:avLst/>
              </a:prstGeom>
              <a:ln w="101600">
                <a:solidFill>
                  <a:srgbClr val="FF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386285E9-6BA4-8BC6-6454-5C1748830C14}"/>
                </a:ext>
              </a:extLst>
            </p:cNvPr>
            <p:cNvCxnSpPr>
              <a:cxnSpLocks/>
            </p:cNvCxnSpPr>
            <p:nvPr/>
          </p:nvCxnSpPr>
          <p:spPr>
            <a:xfrm>
              <a:off x="10459810" y="5766380"/>
              <a:ext cx="0" cy="1022879"/>
            </a:xfrm>
            <a:prstGeom prst="line">
              <a:avLst/>
            </a:prstGeom>
            <a:ln w="1016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63A574CF-E256-9CD0-1EE0-4F18C56B197A}"/>
              </a:ext>
            </a:extLst>
          </p:cNvPr>
          <p:cNvSpPr txBox="1"/>
          <p:nvPr/>
        </p:nvSpPr>
        <p:spPr>
          <a:xfrm>
            <a:off x="5816179" y="1830654"/>
            <a:ext cx="3108175" cy="461665"/>
          </a:xfrm>
          <a:prstGeom prst="rect">
            <a:avLst/>
          </a:prstGeom>
          <a:noFill/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txBody>
          <a:bodyPr wrap="square">
            <a:spAutoFit/>
          </a:bodyPr>
          <a:lstStyle>
            <a:defPPr>
              <a:defRPr lang="LID4096"/>
            </a:defPPr>
            <a:lvl1pPr algn="ctr">
              <a:defRPr b="1">
                <a:latin typeface="Calibri" panose="020F0502020204030204" pitchFamily="34" charset="0"/>
                <a:cs typeface="Times New Roman" panose="02020603050405020304" pitchFamily="18" charset="0"/>
              </a:defRPr>
            </a:lvl1pPr>
          </a:lstStyle>
          <a:p>
            <a:pPr algn="l"/>
            <a:r>
              <a:rPr lang="pt-BR" sz="24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Premissas</a:t>
            </a:r>
            <a:endParaRPr lang="pt-BR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BEAEE2E-AFC8-D5BD-1653-E5A40E928B16}"/>
              </a:ext>
            </a:extLst>
          </p:cNvPr>
          <p:cNvSpPr txBox="1"/>
          <p:nvPr/>
        </p:nvSpPr>
        <p:spPr>
          <a:xfrm>
            <a:off x="5798073" y="4058108"/>
            <a:ext cx="3128764" cy="461665"/>
          </a:xfrm>
          <a:prstGeom prst="rect">
            <a:avLst/>
          </a:prstGeom>
          <a:noFill/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txBody>
          <a:bodyPr wrap="square">
            <a:spAutoFit/>
          </a:bodyPr>
          <a:lstStyle>
            <a:defPPr>
              <a:defRPr lang="LID4096"/>
            </a:defPPr>
            <a:lvl1pPr>
              <a:defRPr sz="24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 panose="020F0502020204030204" pitchFamily="34" charset="0"/>
                <a:cs typeface="Times New Roman" panose="02020603050405020304" pitchFamily="18" charset="0"/>
              </a:defRPr>
            </a:lvl1pPr>
          </a:lstStyle>
          <a:p>
            <a:r>
              <a:rPr lang="pt-BR" dirty="0"/>
              <a:t>Resultados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9CDF1C7B-2318-7CB7-789D-BDC7BF99AAD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426" r="54968" b="54771"/>
          <a:stretch>
            <a:fillRect/>
          </a:stretch>
        </p:blipFill>
        <p:spPr>
          <a:xfrm>
            <a:off x="6003647" y="2264176"/>
            <a:ext cx="3212857" cy="1870863"/>
          </a:xfrm>
          <a:prstGeom prst="rect">
            <a:avLst/>
          </a:prstGeom>
          <a:ln w="19050">
            <a:noFill/>
          </a:ln>
        </p:spPr>
      </p:pic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14D96375-0F9B-7957-39D4-0FBB4DC089B0}"/>
              </a:ext>
            </a:extLst>
          </p:cNvPr>
          <p:cNvCxnSpPr>
            <a:cxnSpLocks/>
          </p:cNvCxnSpPr>
          <p:nvPr/>
        </p:nvCxnSpPr>
        <p:spPr>
          <a:xfrm>
            <a:off x="5932367" y="2408066"/>
            <a:ext cx="0" cy="1622797"/>
          </a:xfrm>
          <a:prstGeom prst="line">
            <a:avLst/>
          </a:prstGeom>
          <a:ln w="1016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534B77D4-EDEA-06DD-BB5A-E494B5B2A0DA}"/>
              </a:ext>
            </a:extLst>
          </p:cNvPr>
          <p:cNvCxnSpPr>
            <a:cxnSpLocks/>
          </p:cNvCxnSpPr>
          <p:nvPr/>
        </p:nvCxnSpPr>
        <p:spPr>
          <a:xfrm>
            <a:off x="8892951" y="3289485"/>
            <a:ext cx="0" cy="747016"/>
          </a:xfrm>
          <a:prstGeom prst="line">
            <a:avLst/>
          </a:prstGeom>
          <a:ln w="1016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Object 4">
            <a:extLst>
              <a:ext uri="{63B3BB69-23CF-44E3-9099-C40C66FF867C}">
                <a14:compatExt xmlns:a14="http://schemas.microsoft.com/office/drawing/2010/main" spid="_x0000_s1028"/>
              </a:ext>
              <a:ext uri="{FF2B5EF4-FFF2-40B4-BE49-F238E27FC236}">
                <a16:creationId xmlns:a16="http://schemas.microsoft.com/office/drawing/2014/main" id="{05F1084B-FC58-64A3-D366-B64BA7CE9F48}"/>
              </a:ext>
            </a:extLst>
          </p:cNvPr>
          <p:cNvSpPr txBox="1"/>
          <p:nvPr/>
        </p:nvSpPr>
        <p:spPr>
          <a:xfrm>
            <a:off x="6424618" y="5777245"/>
            <a:ext cx="2250031" cy="369332"/>
          </a:xfrm>
          <a:prstGeom prst="rect">
            <a:avLst/>
          </a:prstGeom>
          <a:solidFill>
            <a:schemeClr val="bg1"/>
          </a:solidFill>
          <a:ln w="3175"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lIns="0" tIns="0" rIns="0" bIns="0" anchor="ctr" anchorCtr="0">
            <a:spAutoFit/>
          </a:bodyPr>
          <a:lstStyle>
            <a:defPPr>
              <a:defRPr lang="LID4096"/>
            </a:defPPr>
            <a:lvl1pPr lvl="0" indent="0" algn="ctr">
              <a:defRPr sz="24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 (Body)"/>
                <a:ea typeface="Cambria Math" panose="02040503050406030204" pitchFamily="18" charset="0"/>
              </a:defRPr>
            </a:lvl1pPr>
            <a:lvl2pPr indent="0">
              <a:defRPr sz="1100"/>
            </a:lvl2pPr>
            <a:lvl3pPr indent="0">
              <a:defRPr sz="1100"/>
            </a:lvl3pPr>
            <a:lvl4pPr indent="0">
              <a:defRPr sz="1100"/>
            </a:lvl4pPr>
            <a:lvl5pPr indent="0">
              <a:defRPr sz="1100"/>
            </a:lvl5pPr>
            <a:lvl6pPr indent="0">
              <a:defRPr sz="1100"/>
            </a:lvl6pPr>
            <a:lvl7pPr indent="0">
              <a:defRPr sz="1100"/>
            </a:lvl7pPr>
            <a:lvl8pPr indent="0">
              <a:defRPr sz="1100"/>
            </a:lvl8pPr>
            <a:lvl9pPr indent="0">
              <a:defRPr sz="1100"/>
            </a:lvl9pPr>
          </a:lstStyle>
          <a:p>
            <a:r>
              <a:rPr lang="pt-BR" dirty="0"/>
              <a:t>Carga (hidráulica)</a:t>
            </a:r>
          </a:p>
        </p:txBody>
      </p:sp>
      <p:sp>
        <p:nvSpPr>
          <p:cNvPr id="20" name="Object 4">
            <a:extLst>
              <a:ext uri="{63B3BB69-23CF-44E3-9099-C40C66FF867C}">
                <a14:compatExt xmlns:a14="http://schemas.microsoft.com/office/drawing/2010/main" spid="_x0000_s1028"/>
              </a:ext>
              <a:ext uri="{FF2B5EF4-FFF2-40B4-BE49-F238E27FC236}">
                <a16:creationId xmlns:a16="http://schemas.microsoft.com/office/drawing/2014/main" id="{3FD5CF55-4D23-969F-FDF5-E64563D73725}"/>
              </a:ext>
            </a:extLst>
          </p:cNvPr>
          <p:cNvSpPr txBox="1"/>
          <p:nvPr/>
        </p:nvSpPr>
        <p:spPr>
          <a:xfrm>
            <a:off x="6641726" y="3555156"/>
            <a:ext cx="2074932" cy="369332"/>
          </a:xfrm>
          <a:prstGeom prst="rect">
            <a:avLst/>
          </a:prstGeom>
          <a:solidFill>
            <a:schemeClr val="bg1"/>
          </a:solidFill>
          <a:ln w="3175"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lIns="0" tIns="0" rIns="0" bIns="0" anchor="ctr" anchorCtr="0">
            <a:spAutoFit/>
          </a:bodyPr>
          <a:lstStyle>
            <a:lvl1pPr marL="0" indent="0">
              <a:defRPr sz="1100"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latin typeface="+mn-lt"/>
                <a:ea typeface="+mn-ea"/>
                <a:cs typeface="+mn-cs"/>
              </a:defRPr>
            </a:lvl9pPr>
          </a:lstStyle>
          <a:p>
            <a:pPr lvl="0" algn="ctr">
              <a:defRPr/>
            </a:pPr>
            <a:r>
              <a:rPr lang="pt-BR" sz="2400" b="1" noProof="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 (Body)"/>
                <a:ea typeface="Cambria Math" panose="02040503050406030204" pitchFamily="18" charset="0"/>
              </a:rPr>
              <a:t>Condutividade</a:t>
            </a:r>
            <a:endParaRPr lang="pt-BR" sz="200" b="1" noProof="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alibri (Body)"/>
              <a:ea typeface="Cambria Math" panose="02040503050406030204" pitchFamily="18" charset="0"/>
            </a:endParaRPr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80BA803D-944C-3E12-17CB-49C679F91A96}"/>
              </a:ext>
            </a:extLst>
          </p:cNvPr>
          <p:cNvGrpSpPr/>
          <p:nvPr/>
        </p:nvGrpSpPr>
        <p:grpSpPr>
          <a:xfrm>
            <a:off x="470357" y="3064494"/>
            <a:ext cx="1671753" cy="1415001"/>
            <a:chOff x="844800" y="843864"/>
            <a:chExt cx="2174642" cy="1956264"/>
          </a:xfrm>
        </p:grpSpPr>
        <p:grpSp>
          <p:nvGrpSpPr>
            <p:cNvPr id="22" name="Agrupar 1086">
              <a:extLst>
                <a:ext uri="{FF2B5EF4-FFF2-40B4-BE49-F238E27FC236}">
                  <a16:creationId xmlns:a16="http://schemas.microsoft.com/office/drawing/2014/main" id="{BE4FF1A4-7E16-1DF3-A1A3-3C6B9CA4B099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844800" y="843864"/>
              <a:ext cx="2174642" cy="1956264"/>
              <a:chOff x="262811" y="138888"/>
              <a:chExt cx="727401" cy="654585"/>
            </a:xfrm>
          </p:grpSpPr>
          <p:sp>
            <p:nvSpPr>
              <p:cNvPr id="25" name="Seta: para a Direita 1078">
                <a:extLst>
                  <a:ext uri="{FF2B5EF4-FFF2-40B4-BE49-F238E27FC236}">
                    <a16:creationId xmlns:a16="http://schemas.microsoft.com/office/drawing/2014/main" id="{75FB556E-AC71-B631-462B-CFA8055D1412}"/>
                  </a:ext>
                </a:extLst>
              </p:cNvPr>
              <p:cNvSpPr/>
              <p:nvPr/>
            </p:nvSpPr>
            <p:spPr>
              <a:xfrm>
                <a:off x="765383" y="334159"/>
                <a:ext cx="159385" cy="173990"/>
              </a:xfrm>
              <a:prstGeom prst="rightArrow">
                <a:avLst/>
              </a:prstGeom>
              <a:solidFill>
                <a:schemeClr val="accent1">
                  <a:alpha val="50196"/>
                </a:schemeClr>
              </a:solidFill>
              <a:ln w="31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LID4096" sz="4000" dirty="0"/>
              </a:p>
            </p:txBody>
          </p:sp>
          <p:sp>
            <p:nvSpPr>
              <p:cNvPr id="26" name="Seta: para a Direita 1079">
                <a:extLst>
                  <a:ext uri="{FF2B5EF4-FFF2-40B4-BE49-F238E27FC236}">
                    <a16:creationId xmlns:a16="http://schemas.microsoft.com/office/drawing/2014/main" id="{C42C1604-0D88-58AC-E7A6-28698ECE175C}"/>
                  </a:ext>
                </a:extLst>
              </p:cNvPr>
              <p:cNvSpPr/>
              <p:nvPr/>
            </p:nvSpPr>
            <p:spPr>
              <a:xfrm>
                <a:off x="382198" y="333381"/>
                <a:ext cx="159147" cy="173990"/>
              </a:xfrm>
              <a:prstGeom prst="rightArrow">
                <a:avLst/>
              </a:prstGeom>
              <a:solidFill>
                <a:schemeClr val="accent6">
                  <a:lumMod val="60000"/>
                  <a:lumOff val="40000"/>
                  <a:alpha val="50196"/>
                </a:schemeClr>
              </a:solidFill>
              <a:ln w="31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algn="ctr">
                  <a:lnSpc>
                    <a:spcPct val="107000"/>
                  </a:lnSpc>
                  <a:spcAft>
                    <a:spcPts val="800"/>
                  </a:spcAft>
                  <a:buNone/>
                </a:pPr>
                <a:endParaRPr sz="2400" dirty="0">
                  <a:effectLst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</p:txBody>
          </p:sp>
          <p:grpSp>
            <p:nvGrpSpPr>
              <p:cNvPr id="27" name="Agrupar 1085">
                <a:extLst>
                  <a:ext uri="{FF2B5EF4-FFF2-40B4-BE49-F238E27FC236}">
                    <a16:creationId xmlns:a16="http://schemas.microsoft.com/office/drawing/2014/main" id="{060A4ED5-3BC2-7F07-0A92-461F003F285C}"/>
                  </a:ext>
                </a:extLst>
              </p:cNvPr>
              <p:cNvGrpSpPr/>
              <p:nvPr/>
            </p:nvGrpSpPr>
            <p:grpSpPr>
              <a:xfrm>
                <a:off x="262811" y="138888"/>
                <a:ext cx="727401" cy="654585"/>
                <a:chOff x="103251" y="138888"/>
                <a:chExt cx="727401" cy="654585"/>
              </a:xfrm>
            </p:grpSpPr>
            <p:grpSp>
              <p:nvGrpSpPr>
                <p:cNvPr id="28" name="Agrupar 1067">
                  <a:extLst>
                    <a:ext uri="{FF2B5EF4-FFF2-40B4-BE49-F238E27FC236}">
                      <a16:creationId xmlns:a16="http://schemas.microsoft.com/office/drawing/2014/main" id="{3428EC0E-9FE3-5138-F212-FBF42F7ECF32}"/>
                    </a:ext>
                  </a:extLst>
                </p:cNvPr>
                <p:cNvGrpSpPr/>
                <p:nvPr/>
              </p:nvGrpSpPr>
              <p:grpSpPr>
                <a:xfrm>
                  <a:off x="103251" y="138888"/>
                  <a:ext cx="727401" cy="654585"/>
                  <a:chOff x="-1076" y="113072"/>
                  <a:chExt cx="727401" cy="654643"/>
                </a:xfrm>
              </p:grpSpPr>
              <p:grpSp>
                <p:nvGrpSpPr>
                  <p:cNvPr id="34" name="Agrupar 1063">
                    <a:extLst>
                      <a:ext uri="{FF2B5EF4-FFF2-40B4-BE49-F238E27FC236}">
                        <a16:creationId xmlns:a16="http://schemas.microsoft.com/office/drawing/2014/main" id="{BC3FE826-756F-6EF3-45F4-954221B01C1F}"/>
                      </a:ext>
                    </a:extLst>
                  </p:cNvPr>
                  <p:cNvGrpSpPr/>
                  <p:nvPr/>
                </p:nvGrpSpPr>
                <p:grpSpPr>
                  <a:xfrm>
                    <a:off x="-1076" y="116538"/>
                    <a:ext cx="727401" cy="651177"/>
                    <a:chOff x="-1076" y="116538"/>
                    <a:chExt cx="727401" cy="651177"/>
                  </a:xfrm>
                </p:grpSpPr>
                <p:grpSp>
                  <p:nvGrpSpPr>
                    <p:cNvPr id="38" name="Agrupar 1059">
                      <a:extLst>
                        <a:ext uri="{FF2B5EF4-FFF2-40B4-BE49-F238E27FC236}">
                          <a16:creationId xmlns:a16="http://schemas.microsoft.com/office/drawing/2014/main" id="{87B5D7CF-68D8-59B0-2549-B303A42CB606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-1076" y="116538"/>
                      <a:ext cx="725170" cy="650542"/>
                      <a:chOff x="-1076" y="-937"/>
                      <a:chExt cx="725170" cy="650542"/>
                    </a:xfrm>
                  </p:grpSpPr>
                  <p:cxnSp>
                    <p:nvCxnSpPr>
                      <p:cNvPr id="47" name="Conector reto 1046">
                        <a:extLst>
                          <a:ext uri="{FF2B5EF4-FFF2-40B4-BE49-F238E27FC236}">
                            <a16:creationId xmlns:a16="http://schemas.microsoft.com/office/drawing/2014/main" id="{9697004F-777C-627B-01EE-16641C41C4D2}"/>
                          </a:ext>
                        </a:extLst>
                      </p:cNvPr>
                      <p:cNvCxnSpPr/>
                      <p:nvPr/>
                    </p:nvCxnSpPr>
                    <p:spPr>
                      <a:xfrm flipV="1">
                        <a:off x="3175" y="479425"/>
                        <a:ext cx="166370" cy="170180"/>
                      </a:xfrm>
                      <a:prstGeom prst="line">
                        <a:avLst/>
                      </a:prstGeom>
                      <a:noFill/>
                      <a:ln w="9525">
                        <a:solidFill>
                          <a:schemeClr val="tx1"/>
                        </a:solidFill>
                        <a:prstDash val="dash"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</p:cxnSp>
                  <p:cxnSp>
                    <p:nvCxnSpPr>
                      <p:cNvPr id="48" name="Conector reto 1056">
                        <a:extLst>
                          <a:ext uri="{FF2B5EF4-FFF2-40B4-BE49-F238E27FC236}">
                            <a16:creationId xmlns:a16="http://schemas.microsoft.com/office/drawing/2014/main" id="{B0461492-C289-9D2F-6FEC-32B8F5C0CC98}"/>
                          </a:ext>
                        </a:extLst>
                      </p:cNvPr>
                      <p:cNvCxnSpPr/>
                      <p:nvPr/>
                    </p:nvCxnSpPr>
                    <p:spPr>
                      <a:xfrm flipV="1">
                        <a:off x="-1076" y="0"/>
                        <a:ext cx="166370" cy="170180"/>
                      </a:xfrm>
                      <a:prstGeom prst="line">
                        <a:avLst/>
                      </a:prstGeom>
                      <a:noFill/>
                      <a:ln w="9525">
                        <a:solidFill>
                          <a:schemeClr val="tx1"/>
                        </a:solidFill>
                        <a:prstDash val="solid"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</p:cxnSp>
                  <p:cxnSp>
                    <p:nvCxnSpPr>
                      <p:cNvPr id="49" name="Conector reto 1057">
                        <a:extLst>
                          <a:ext uri="{FF2B5EF4-FFF2-40B4-BE49-F238E27FC236}">
                            <a16:creationId xmlns:a16="http://schemas.microsoft.com/office/drawing/2014/main" id="{00B0DD77-5135-DA98-D3AE-E5DFF9705ECF}"/>
                          </a:ext>
                        </a:extLst>
                      </p:cNvPr>
                      <p:cNvCxnSpPr/>
                      <p:nvPr/>
                    </p:nvCxnSpPr>
                    <p:spPr>
                      <a:xfrm flipV="1">
                        <a:off x="556728" y="-937"/>
                        <a:ext cx="166370" cy="170180"/>
                      </a:xfrm>
                      <a:prstGeom prst="line">
                        <a:avLst/>
                      </a:prstGeom>
                      <a:noFill/>
                      <a:ln w="9525">
                        <a:solidFill>
                          <a:schemeClr val="tx1"/>
                        </a:solidFill>
                        <a:prstDash val="solid"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</p:cxnSp>
                  <p:cxnSp>
                    <p:nvCxnSpPr>
                      <p:cNvPr id="50" name="Conector reto 1058">
                        <a:extLst>
                          <a:ext uri="{FF2B5EF4-FFF2-40B4-BE49-F238E27FC236}">
                            <a16:creationId xmlns:a16="http://schemas.microsoft.com/office/drawing/2014/main" id="{41AA19D3-0582-3CEC-8982-94EF0C92617D}"/>
                          </a:ext>
                        </a:extLst>
                      </p:cNvPr>
                      <p:cNvCxnSpPr/>
                      <p:nvPr/>
                    </p:nvCxnSpPr>
                    <p:spPr>
                      <a:xfrm flipV="1">
                        <a:off x="557724" y="479334"/>
                        <a:ext cx="166370" cy="170180"/>
                      </a:xfrm>
                      <a:prstGeom prst="line">
                        <a:avLst/>
                      </a:prstGeom>
                      <a:noFill/>
                      <a:ln w="9525">
                        <a:solidFill>
                          <a:schemeClr val="tx1"/>
                        </a:solidFill>
                        <a:prstDash val="solid"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</p:cxnSp>
                </p:grpSp>
                <p:grpSp>
                  <p:nvGrpSpPr>
                    <p:cNvPr id="39" name="Agrupar 1054">
                      <a:extLst>
                        <a:ext uri="{FF2B5EF4-FFF2-40B4-BE49-F238E27FC236}">
                          <a16:creationId xmlns:a16="http://schemas.microsoft.com/office/drawing/2014/main" id="{0C336F62-6A43-3E12-5866-1F89D028E94E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0" y="117475"/>
                      <a:ext cx="726325" cy="650240"/>
                      <a:chOff x="0" y="111125"/>
                      <a:chExt cx="726325" cy="650240"/>
                    </a:xfrm>
                  </p:grpSpPr>
                  <p:sp>
                    <p:nvSpPr>
                      <p:cNvPr id="42" name="Retângulo 1044">
                        <a:extLst>
                          <a:ext uri="{FF2B5EF4-FFF2-40B4-BE49-F238E27FC236}">
                            <a16:creationId xmlns:a16="http://schemas.microsoft.com/office/drawing/2014/main" id="{FB5A4CAF-1456-A90B-8F28-5969D3CDB82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0" y="279400"/>
                        <a:ext cx="556651" cy="481965"/>
                      </a:xfrm>
                      <a:prstGeom prst="rect">
                        <a:avLst/>
                      </a:prstGeom>
                      <a:noFill/>
                      <a:ln w="9525"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ot="0" spcFirstLastPara="0" vert="horz" wrap="square" lIns="91440" tIns="45720" rIns="91440" bIns="45720" numCol="1" spcCol="0" rtlCol="0" fromWordArt="0" anchor="ctr" anchorCtr="0" forceAA="0" compatLnSpc="1">
                        <a:prstTxWarp prst="textNoShape">
                          <a:avLst/>
                        </a:prstTxWarp>
                        <a:noAutofit/>
                      </a:bodyPr>
                      <a:lstStyle/>
                      <a:p>
                        <a:endParaRPr lang="LID4096" sz="4000" dirty="0"/>
                      </a:p>
                    </p:txBody>
                  </p:sp>
                  <p:cxnSp>
                    <p:nvCxnSpPr>
                      <p:cNvPr id="43" name="Conector reto 1047">
                        <a:extLst>
                          <a:ext uri="{FF2B5EF4-FFF2-40B4-BE49-F238E27FC236}">
                            <a16:creationId xmlns:a16="http://schemas.microsoft.com/office/drawing/2014/main" id="{39CF2F30-403A-D901-49F2-15ACF80E5DF2}"/>
                          </a:ext>
                        </a:extLst>
                      </p:cNvPr>
                      <p:cNvCxnSpPr/>
                      <p:nvPr/>
                    </p:nvCxnSpPr>
                    <p:spPr>
                      <a:xfrm flipH="1" flipV="1">
                        <a:off x="168275" y="114300"/>
                        <a:ext cx="3175" cy="476250"/>
                      </a:xfrm>
                      <a:prstGeom prst="line">
                        <a:avLst/>
                      </a:prstGeom>
                      <a:noFill/>
                      <a:ln w="9525">
                        <a:solidFill>
                          <a:schemeClr val="tx1"/>
                        </a:solidFill>
                        <a:prstDash val="dash"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</p:cxnSp>
                  <p:cxnSp>
                    <p:nvCxnSpPr>
                      <p:cNvPr id="44" name="Conector reto 1048">
                        <a:extLst>
                          <a:ext uri="{FF2B5EF4-FFF2-40B4-BE49-F238E27FC236}">
                            <a16:creationId xmlns:a16="http://schemas.microsoft.com/office/drawing/2014/main" id="{3021BCCA-BA38-FFDF-547E-E92F3E33B9D2}"/>
                          </a:ext>
                        </a:extLst>
                      </p:cNvPr>
                      <p:cNvCxnSpPr/>
                      <p:nvPr/>
                    </p:nvCxnSpPr>
                    <p:spPr>
                      <a:xfrm flipH="1" flipV="1">
                        <a:off x="723900" y="111125"/>
                        <a:ext cx="635" cy="476250"/>
                      </a:xfrm>
                      <a:prstGeom prst="line">
                        <a:avLst/>
                      </a:prstGeom>
                      <a:noFill/>
                      <a:ln w="9525"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</p:cxnSp>
                  <p:cxnSp>
                    <p:nvCxnSpPr>
                      <p:cNvPr id="45" name="Conector reto 1050">
                        <a:extLst>
                          <a:ext uri="{FF2B5EF4-FFF2-40B4-BE49-F238E27FC236}">
                            <a16:creationId xmlns:a16="http://schemas.microsoft.com/office/drawing/2014/main" id="{A486A0F6-4B2E-1882-F224-A1BF3511C0EA}"/>
                          </a:ext>
                        </a:extLst>
                      </p:cNvPr>
                      <p:cNvCxnSpPr/>
                      <p:nvPr/>
                    </p:nvCxnSpPr>
                    <p:spPr>
                      <a:xfrm flipH="1" flipV="1">
                        <a:off x="169311" y="589708"/>
                        <a:ext cx="557014" cy="0"/>
                      </a:xfrm>
                      <a:prstGeom prst="line">
                        <a:avLst/>
                      </a:prstGeom>
                      <a:noFill/>
                      <a:ln w="9525">
                        <a:solidFill>
                          <a:schemeClr val="tx1"/>
                        </a:solidFill>
                        <a:prstDash val="dash"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</p:cxnSp>
                  <p:cxnSp>
                    <p:nvCxnSpPr>
                      <p:cNvPr id="46" name="Conector reto 1051">
                        <a:extLst>
                          <a:ext uri="{FF2B5EF4-FFF2-40B4-BE49-F238E27FC236}">
                            <a16:creationId xmlns:a16="http://schemas.microsoft.com/office/drawing/2014/main" id="{A90D1C27-D61D-7F54-5F69-807FF7C6DBF5}"/>
                          </a:ext>
                        </a:extLst>
                      </p:cNvPr>
                      <p:cNvCxnSpPr/>
                      <p:nvPr/>
                    </p:nvCxnSpPr>
                    <p:spPr>
                      <a:xfrm flipH="1" flipV="1">
                        <a:off x="165100" y="111125"/>
                        <a:ext cx="559435" cy="0"/>
                      </a:xfrm>
                      <a:prstGeom prst="line">
                        <a:avLst/>
                      </a:prstGeom>
                      <a:noFill/>
                      <a:ln w="9525"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</p:cxnSp>
                </p:grpSp>
              </p:grpSp>
              <p:sp>
                <p:nvSpPr>
                  <p:cNvPr id="36" name="Forma Livre: Forma 1064">
                    <a:extLst>
                      <a:ext uri="{FF2B5EF4-FFF2-40B4-BE49-F238E27FC236}">
                        <a16:creationId xmlns:a16="http://schemas.microsoft.com/office/drawing/2014/main" id="{62B7CA0D-FA4A-20B0-7236-3F878664BC36}"/>
                      </a:ext>
                    </a:extLst>
                  </p:cNvPr>
                  <p:cNvSpPr/>
                  <p:nvPr/>
                </p:nvSpPr>
                <p:spPr>
                  <a:xfrm>
                    <a:off x="1324" y="118377"/>
                    <a:ext cx="166016" cy="643255"/>
                  </a:xfrm>
                  <a:custGeom>
                    <a:avLst/>
                    <a:gdLst>
                      <a:gd name="connsiteX0" fmla="*/ 6350 w 155575"/>
                      <a:gd name="connsiteY0" fmla="*/ 609600 h 609600"/>
                      <a:gd name="connsiteX1" fmla="*/ 0 w 155575"/>
                      <a:gd name="connsiteY1" fmla="*/ 161925 h 609600"/>
                      <a:gd name="connsiteX2" fmla="*/ 152400 w 155575"/>
                      <a:gd name="connsiteY2" fmla="*/ 0 h 609600"/>
                      <a:gd name="connsiteX3" fmla="*/ 155575 w 155575"/>
                      <a:gd name="connsiteY3" fmla="*/ 444500 h 609600"/>
                      <a:gd name="connsiteX4" fmla="*/ 6350 w 155575"/>
                      <a:gd name="connsiteY4" fmla="*/ 609600 h 609600"/>
                      <a:gd name="connsiteX0" fmla="*/ 6350 w 165100"/>
                      <a:gd name="connsiteY0" fmla="*/ 609600 h 609600"/>
                      <a:gd name="connsiteX1" fmla="*/ 0 w 165100"/>
                      <a:gd name="connsiteY1" fmla="*/ 161925 h 609600"/>
                      <a:gd name="connsiteX2" fmla="*/ 152400 w 165100"/>
                      <a:gd name="connsiteY2" fmla="*/ 0 h 609600"/>
                      <a:gd name="connsiteX3" fmla="*/ 165100 w 165100"/>
                      <a:gd name="connsiteY3" fmla="*/ 463550 h 609600"/>
                      <a:gd name="connsiteX4" fmla="*/ 6350 w 165100"/>
                      <a:gd name="connsiteY4" fmla="*/ 609600 h 609600"/>
                      <a:gd name="connsiteX0" fmla="*/ 611 w 165711"/>
                      <a:gd name="connsiteY0" fmla="*/ 630555 h 630555"/>
                      <a:gd name="connsiteX1" fmla="*/ 611 w 165711"/>
                      <a:gd name="connsiteY1" fmla="*/ 161925 h 630555"/>
                      <a:gd name="connsiteX2" fmla="*/ 153011 w 165711"/>
                      <a:gd name="connsiteY2" fmla="*/ 0 h 630555"/>
                      <a:gd name="connsiteX3" fmla="*/ 165711 w 165711"/>
                      <a:gd name="connsiteY3" fmla="*/ 463550 h 630555"/>
                      <a:gd name="connsiteX4" fmla="*/ 611 w 165711"/>
                      <a:gd name="connsiteY4" fmla="*/ 630555 h 630555"/>
                      <a:gd name="connsiteX0" fmla="*/ 611 w 166016"/>
                      <a:gd name="connsiteY0" fmla="*/ 643255 h 643255"/>
                      <a:gd name="connsiteX1" fmla="*/ 611 w 166016"/>
                      <a:gd name="connsiteY1" fmla="*/ 174625 h 643255"/>
                      <a:gd name="connsiteX2" fmla="*/ 165711 w 166016"/>
                      <a:gd name="connsiteY2" fmla="*/ 0 h 643255"/>
                      <a:gd name="connsiteX3" fmla="*/ 165711 w 166016"/>
                      <a:gd name="connsiteY3" fmla="*/ 476250 h 643255"/>
                      <a:gd name="connsiteX4" fmla="*/ 611 w 166016"/>
                      <a:gd name="connsiteY4" fmla="*/ 643255 h 64325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66016" h="643255">
                        <a:moveTo>
                          <a:pt x="611" y="643255"/>
                        </a:moveTo>
                        <a:cubicBezTo>
                          <a:pt x="-1506" y="494030"/>
                          <a:pt x="2728" y="323850"/>
                          <a:pt x="611" y="174625"/>
                        </a:cubicBezTo>
                        <a:lnTo>
                          <a:pt x="165711" y="0"/>
                        </a:lnTo>
                        <a:cubicBezTo>
                          <a:pt x="166769" y="148167"/>
                          <a:pt x="164653" y="328083"/>
                          <a:pt x="165711" y="476250"/>
                        </a:cubicBezTo>
                        <a:lnTo>
                          <a:pt x="611" y="643255"/>
                        </a:lnTo>
                        <a:close/>
                      </a:path>
                    </a:pathLst>
                  </a:custGeom>
                  <a:solidFill>
                    <a:schemeClr val="accent6">
                      <a:lumMod val="60000"/>
                      <a:lumOff val="40000"/>
                      <a:alpha val="50196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="horz" wrap="square" lIns="91440" tIns="45720" rIns="91440" bIns="4572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endParaRPr lang="LID4096" sz="4000" dirty="0"/>
                  </a:p>
                </p:txBody>
              </p:sp>
              <p:sp>
                <p:nvSpPr>
                  <p:cNvPr id="37" name="Forma Livre: Forma 1065">
                    <a:extLst>
                      <a:ext uri="{FF2B5EF4-FFF2-40B4-BE49-F238E27FC236}">
                        <a16:creationId xmlns:a16="http://schemas.microsoft.com/office/drawing/2014/main" id="{4F789A60-68FB-2720-5CF1-AE81A5185715}"/>
                      </a:ext>
                    </a:extLst>
                  </p:cNvPr>
                  <p:cNvSpPr/>
                  <p:nvPr/>
                </p:nvSpPr>
                <p:spPr>
                  <a:xfrm>
                    <a:off x="556813" y="113072"/>
                    <a:ext cx="166016" cy="651805"/>
                  </a:xfrm>
                  <a:custGeom>
                    <a:avLst/>
                    <a:gdLst>
                      <a:gd name="connsiteX0" fmla="*/ 6350 w 155575"/>
                      <a:gd name="connsiteY0" fmla="*/ 609600 h 609600"/>
                      <a:gd name="connsiteX1" fmla="*/ 0 w 155575"/>
                      <a:gd name="connsiteY1" fmla="*/ 161925 h 609600"/>
                      <a:gd name="connsiteX2" fmla="*/ 152400 w 155575"/>
                      <a:gd name="connsiteY2" fmla="*/ 0 h 609600"/>
                      <a:gd name="connsiteX3" fmla="*/ 155575 w 155575"/>
                      <a:gd name="connsiteY3" fmla="*/ 444500 h 609600"/>
                      <a:gd name="connsiteX4" fmla="*/ 6350 w 155575"/>
                      <a:gd name="connsiteY4" fmla="*/ 609600 h 609600"/>
                      <a:gd name="connsiteX0" fmla="*/ 6350 w 165100"/>
                      <a:gd name="connsiteY0" fmla="*/ 609600 h 609600"/>
                      <a:gd name="connsiteX1" fmla="*/ 0 w 165100"/>
                      <a:gd name="connsiteY1" fmla="*/ 161925 h 609600"/>
                      <a:gd name="connsiteX2" fmla="*/ 152400 w 165100"/>
                      <a:gd name="connsiteY2" fmla="*/ 0 h 609600"/>
                      <a:gd name="connsiteX3" fmla="*/ 165100 w 165100"/>
                      <a:gd name="connsiteY3" fmla="*/ 463550 h 609600"/>
                      <a:gd name="connsiteX4" fmla="*/ 6350 w 165100"/>
                      <a:gd name="connsiteY4" fmla="*/ 609600 h 609600"/>
                      <a:gd name="connsiteX0" fmla="*/ 611 w 165711"/>
                      <a:gd name="connsiteY0" fmla="*/ 630555 h 630555"/>
                      <a:gd name="connsiteX1" fmla="*/ 611 w 165711"/>
                      <a:gd name="connsiteY1" fmla="*/ 161925 h 630555"/>
                      <a:gd name="connsiteX2" fmla="*/ 153011 w 165711"/>
                      <a:gd name="connsiteY2" fmla="*/ 0 h 630555"/>
                      <a:gd name="connsiteX3" fmla="*/ 165711 w 165711"/>
                      <a:gd name="connsiteY3" fmla="*/ 463550 h 630555"/>
                      <a:gd name="connsiteX4" fmla="*/ 611 w 165711"/>
                      <a:gd name="connsiteY4" fmla="*/ 630555 h 630555"/>
                      <a:gd name="connsiteX0" fmla="*/ 611 w 166016"/>
                      <a:gd name="connsiteY0" fmla="*/ 643255 h 643255"/>
                      <a:gd name="connsiteX1" fmla="*/ 611 w 166016"/>
                      <a:gd name="connsiteY1" fmla="*/ 174625 h 643255"/>
                      <a:gd name="connsiteX2" fmla="*/ 165711 w 166016"/>
                      <a:gd name="connsiteY2" fmla="*/ 0 h 643255"/>
                      <a:gd name="connsiteX3" fmla="*/ 165711 w 166016"/>
                      <a:gd name="connsiteY3" fmla="*/ 476250 h 643255"/>
                      <a:gd name="connsiteX4" fmla="*/ 611 w 166016"/>
                      <a:gd name="connsiteY4" fmla="*/ 643255 h 64325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66016" h="643255">
                        <a:moveTo>
                          <a:pt x="611" y="643255"/>
                        </a:moveTo>
                        <a:cubicBezTo>
                          <a:pt x="-1506" y="494030"/>
                          <a:pt x="2728" y="323850"/>
                          <a:pt x="611" y="174625"/>
                        </a:cubicBezTo>
                        <a:lnTo>
                          <a:pt x="165711" y="0"/>
                        </a:lnTo>
                        <a:cubicBezTo>
                          <a:pt x="166769" y="148167"/>
                          <a:pt x="164653" y="328083"/>
                          <a:pt x="165711" y="476250"/>
                        </a:cubicBezTo>
                        <a:lnTo>
                          <a:pt x="611" y="643255"/>
                        </a:lnTo>
                        <a:close/>
                      </a:path>
                    </a:pathLst>
                  </a:custGeom>
                  <a:solidFill>
                    <a:schemeClr val="accent1">
                      <a:alpha val="50196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="horz" wrap="square" lIns="91440" tIns="45720" rIns="91440" bIns="4572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endParaRPr lang="LID4096" sz="4000" dirty="0"/>
                  </a:p>
                </p:txBody>
              </p:sp>
            </p:grpSp>
            <p:grpSp>
              <p:nvGrpSpPr>
                <p:cNvPr id="29" name="Agrupar 1083">
                  <a:extLst>
                    <a:ext uri="{FF2B5EF4-FFF2-40B4-BE49-F238E27FC236}">
                      <a16:creationId xmlns:a16="http://schemas.microsoft.com/office/drawing/2014/main" id="{69A66BAA-17F2-68F0-134C-113DEA3607E3}"/>
                    </a:ext>
                  </a:extLst>
                </p:cNvPr>
                <p:cNvGrpSpPr/>
                <p:nvPr/>
              </p:nvGrpSpPr>
              <p:grpSpPr>
                <a:xfrm>
                  <a:off x="203133" y="150803"/>
                  <a:ext cx="539247" cy="628276"/>
                  <a:chOff x="203135" y="150872"/>
                  <a:chExt cx="539254" cy="628524"/>
                </a:xfrm>
              </p:grpSpPr>
              <p:sp>
                <p:nvSpPr>
                  <p:cNvPr id="30" name="Caixa de texto 109">
                    <a:extLst>
                      <a:ext uri="{FF2B5EF4-FFF2-40B4-BE49-F238E27FC236}">
                        <a16:creationId xmlns:a16="http://schemas.microsoft.com/office/drawing/2014/main" id="{5B39DE95-85A4-4C95-E90B-02E963C5A3DA}"/>
                      </a:ext>
                    </a:extLst>
                  </p:cNvPr>
                  <p:cNvSpPr txBox="1"/>
                  <p:nvPr/>
                </p:nvSpPr>
                <p:spPr>
                  <a:xfrm>
                    <a:off x="516065" y="616044"/>
                    <a:ext cx="226324" cy="107950"/>
                  </a:xfrm>
                  <a:prstGeom prst="rect">
                    <a:avLst/>
                  </a:prstGeom>
                  <a:noFill/>
                  <a:ln w="6350">
                    <a:noFill/>
                  </a:ln>
                  <a:effectLst/>
                </p:spPr>
                <p:style>
                  <a:lnRef idx="0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dk1"/>
                  </a:fontRef>
                </p:style>
                <p:txBody>
                  <a:bodyPr rot="0" spcFirstLastPara="0" vert="horz" wrap="square" lIns="0" tIns="0" rIns="0" bIns="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marL="0" marR="0">
                      <a:lnSpc>
                        <a:spcPct val="107000"/>
                      </a:lnSpc>
                      <a:spcAft>
                        <a:spcPts val="800"/>
                      </a:spcAft>
                      <a:buNone/>
                    </a:pPr>
                    <a:r>
                      <a:rPr lang="en-US" sz="2000" b="1" dirty="0">
                        <a:solidFill>
                          <a:schemeClr val="tx1"/>
                        </a:solidFill>
                        <a:effectLst/>
                        <a:ea typeface="Calibri" panose="020F0502020204030204" pitchFamily="34" charset="0"/>
                        <a:cs typeface="Calibri" panose="020F0502020204030204" pitchFamily="34" charset="0"/>
                      </a:rPr>
                      <a:t>Δ</a:t>
                    </a:r>
                    <a:r>
                      <a:rPr lang="en-US" sz="2000" b="1" dirty="0">
                        <a:solidFill>
                          <a:schemeClr val="tx1"/>
                        </a:solidFill>
                        <a:effectLst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a:t>x</a:t>
                    </a:r>
                    <a:endParaRPr sz="2000" b="1" dirty="0">
                      <a:solidFill>
                        <a:schemeClr val="tx1"/>
                      </a:solidFill>
                      <a:effectLst/>
                      <a:ea typeface="Calibri" panose="020F0502020204030204" pitchFamily="34" charset="0"/>
                      <a:cs typeface="Times New Roman" panose="02020603050405020304" pitchFamily="18" charset="0"/>
                    </a:endParaRPr>
                  </a:p>
                </p:txBody>
              </p:sp>
              <p:sp>
                <p:nvSpPr>
                  <p:cNvPr id="31" name="Caixa de texto 109">
                    <a:extLst>
                      <a:ext uri="{FF2B5EF4-FFF2-40B4-BE49-F238E27FC236}">
                        <a16:creationId xmlns:a16="http://schemas.microsoft.com/office/drawing/2014/main" id="{A563CFA2-73A8-B35E-0AED-7B4A87254DCD}"/>
                      </a:ext>
                    </a:extLst>
                  </p:cNvPr>
                  <p:cNvSpPr txBox="1"/>
                  <p:nvPr/>
                </p:nvSpPr>
                <p:spPr>
                  <a:xfrm>
                    <a:off x="288978" y="150872"/>
                    <a:ext cx="149860" cy="107950"/>
                  </a:xfrm>
                  <a:prstGeom prst="rect">
                    <a:avLst/>
                  </a:prstGeom>
                  <a:noFill/>
                  <a:ln w="6350">
                    <a:noFill/>
                  </a:ln>
                  <a:effectLst/>
                </p:spPr>
                <p:style>
                  <a:lnRef idx="0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dk1"/>
                  </a:fontRef>
                </p:style>
                <p:txBody>
                  <a:bodyPr rot="0" spcFirstLastPara="0" vert="horz" wrap="square" lIns="0" tIns="0" rIns="0" bIns="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marL="0" marR="0">
                      <a:lnSpc>
                        <a:spcPct val="107000"/>
                      </a:lnSpc>
                      <a:spcAft>
                        <a:spcPts val="800"/>
                      </a:spcAft>
                      <a:buNone/>
                    </a:pPr>
                    <a:r>
                      <a:rPr lang="en-US" sz="1600" b="1" dirty="0">
                        <a:solidFill>
                          <a:schemeClr val="accent2"/>
                        </a:solidFill>
                        <a:effectLst/>
                        <a:ea typeface="Calibri" panose="020F0502020204030204" pitchFamily="34" charset="0"/>
                        <a:cs typeface="Calibri" panose="020F0502020204030204" pitchFamily="34" charset="0"/>
                      </a:rPr>
                      <a:t>Δz</a:t>
                    </a:r>
                    <a:endParaRPr sz="1600" b="1" dirty="0">
                      <a:solidFill>
                        <a:schemeClr val="accent2"/>
                      </a:solidFill>
                      <a:effectLst/>
                      <a:ea typeface="Calibri" panose="020F0502020204030204" pitchFamily="34" charset="0"/>
                      <a:cs typeface="Times New Roman" panose="02020603050405020304" pitchFamily="18" charset="0"/>
                    </a:endParaRPr>
                  </a:p>
                </p:txBody>
              </p:sp>
              <p:sp>
                <p:nvSpPr>
                  <p:cNvPr id="32" name="Caixa de texto 109">
                    <a:extLst>
                      <a:ext uri="{FF2B5EF4-FFF2-40B4-BE49-F238E27FC236}">
                        <a16:creationId xmlns:a16="http://schemas.microsoft.com/office/drawing/2014/main" id="{3EFCBF55-B40E-CBC5-5543-4EBB05A8BF9B}"/>
                      </a:ext>
                    </a:extLst>
                  </p:cNvPr>
                  <p:cNvSpPr txBox="1"/>
                  <p:nvPr/>
                </p:nvSpPr>
                <p:spPr>
                  <a:xfrm>
                    <a:off x="203135" y="671446"/>
                    <a:ext cx="149860" cy="107950"/>
                  </a:xfrm>
                  <a:prstGeom prst="rect">
                    <a:avLst/>
                  </a:prstGeom>
                  <a:noFill/>
                  <a:ln w="6350">
                    <a:noFill/>
                  </a:ln>
                  <a:effectLst/>
                </p:spPr>
                <p:style>
                  <a:lnRef idx="0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dk1"/>
                  </a:fontRef>
                </p:style>
                <p:txBody>
                  <a:bodyPr rot="0" spcFirstLastPara="0" vert="horz" wrap="square" lIns="0" tIns="0" rIns="0" bIns="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marL="0" marR="0">
                      <a:lnSpc>
                        <a:spcPct val="107000"/>
                      </a:lnSpc>
                      <a:spcAft>
                        <a:spcPts val="800"/>
                      </a:spcAft>
                      <a:buNone/>
                    </a:pPr>
                    <a:r>
                      <a:rPr lang="en-US" sz="1600" b="1" dirty="0">
                        <a:solidFill>
                          <a:schemeClr val="accent2"/>
                        </a:solidFill>
                        <a:effectLst/>
                        <a:ea typeface="Calibri" panose="020F0502020204030204" pitchFamily="34" charset="0"/>
                        <a:cs typeface="Calibri" panose="020F0502020204030204" pitchFamily="34" charset="0"/>
                      </a:rPr>
                      <a:t>Δy</a:t>
                    </a:r>
                    <a:endParaRPr sz="1600" b="1" dirty="0">
                      <a:solidFill>
                        <a:schemeClr val="accent2"/>
                      </a:solidFill>
                      <a:effectLst/>
                      <a:ea typeface="Calibri" panose="020F0502020204030204" pitchFamily="34" charset="0"/>
                      <a:cs typeface="Times New Roman" panose="02020603050405020304" pitchFamily="18" charset="0"/>
                    </a:endParaRPr>
                  </a:p>
                </p:txBody>
              </p:sp>
            </p:grpSp>
          </p:grpSp>
        </p:grpSp>
        <p:sp>
          <p:nvSpPr>
            <p:cNvPr id="23" name="Caixa de texto 109">
              <a:extLst>
                <a:ext uri="{FF2B5EF4-FFF2-40B4-BE49-F238E27FC236}">
                  <a16:creationId xmlns:a16="http://schemas.microsoft.com/office/drawing/2014/main" id="{3FEA236C-5C85-2FDB-2351-5B721C7BC002}"/>
                </a:ext>
              </a:extLst>
            </p:cNvPr>
            <p:cNvSpPr txBox="1"/>
            <p:nvPr/>
          </p:nvSpPr>
          <p:spPr>
            <a:xfrm>
              <a:off x="1479186" y="1918575"/>
              <a:ext cx="448015" cy="322505"/>
            </a:xfrm>
            <a:prstGeom prst="rect">
              <a:avLst/>
            </a:prstGeom>
            <a:noFill/>
            <a:ln w="6350">
              <a:noFill/>
            </a:ln>
            <a:effectLst/>
          </p:spPr>
          <p:style>
            <a:lnRef idx="0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ot="0" spcFirstLastPara="0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>
                <a:lnSpc>
                  <a:spcPct val="107000"/>
                </a:lnSpc>
                <a:spcAft>
                  <a:spcPts val="800"/>
                </a:spcAft>
                <a:buNone/>
              </a:pPr>
              <a:r>
                <a:rPr lang="en-US" b="1" dirty="0">
                  <a:solidFill>
                    <a:schemeClr val="accent6">
                      <a:lumMod val="60000"/>
                      <a:lumOff val="40000"/>
                    </a:schemeClr>
                  </a:solidFill>
                  <a:ea typeface="Calibri" panose="020F0502020204030204" pitchFamily="34" charset="0"/>
                  <a:cs typeface="Calibri" panose="020F0502020204030204" pitchFamily="34" charset="0"/>
                </a:rPr>
                <a:t>in</a:t>
              </a:r>
              <a:endParaRPr b="1" dirty="0">
                <a:solidFill>
                  <a:schemeClr val="accent6">
                    <a:lumMod val="60000"/>
                    <a:lumOff val="40000"/>
                  </a:schemeClr>
                </a:solidFill>
                <a:effectLst/>
                <a:ea typeface="Calibri" panose="020F0502020204030204" pitchFamily="34" charset="0"/>
                <a:cs typeface="Times New Roman" panose="02020603050405020304" pitchFamily="18" charset="0"/>
              </a:endParaRPr>
            </a:p>
          </p:txBody>
        </p:sp>
        <p:sp>
          <p:nvSpPr>
            <p:cNvPr id="24" name="Caixa de texto 109">
              <a:extLst>
                <a:ext uri="{FF2B5EF4-FFF2-40B4-BE49-F238E27FC236}">
                  <a16:creationId xmlns:a16="http://schemas.microsoft.com/office/drawing/2014/main" id="{1C000600-D393-7395-5B5C-7CC6295C6B5B}"/>
                </a:ext>
              </a:extLst>
            </p:cNvPr>
            <p:cNvSpPr txBox="1"/>
            <p:nvPr/>
          </p:nvSpPr>
          <p:spPr>
            <a:xfrm>
              <a:off x="2026713" y="1915481"/>
              <a:ext cx="646032" cy="322505"/>
            </a:xfrm>
            <a:prstGeom prst="rect">
              <a:avLst/>
            </a:prstGeom>
            <a:noFill/>
            <a:ln w="6350">
              <a:noFill/>
            </a:ln>
            <a:effectLst/>
          </p:spPr>
          <p:style>
            <a:lnRef idx="0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ot="0" spcFirstLastPara="0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>
                <a:lnSpc>
                  <a:spcPct val="107000"/>
                </a:lnSpc>
                <a:spcAft>
                  <a:spcPts val="800"/>
                </a:spcAft>
                <a:buNone/>
              </a:pPr>
              <a:r>
                <a:rPr lang="en-US" b="1" dirty="0">
                  <a:solidFill>
                    <a:schemeClr val="accent1">
                      <a:lumMod val="60000"/>
                      <a:lumOff val="40000"/>
                    </a:schemeClr>
                  </a:solidFill>
                  <a:ea typeface="Calibri" panose="020F0502020204030204" pitchFamily="34" charset="0"/>
                  <a:cs typeface="Calibri" panose="020F0502020204030204" pitchFamily="34" charset="0"/>
                </a:rPr>
                <a:t>out</a:t>
              </a:r>
              <a:endParaRPr b="1" dirty="0"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ea typeface="Calibri" panose="020F0502020204030204" pitchFamily="34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51" name="Retângulo 83">
            <a:extLst>
              <a:ext uri="{FF2B5EF4-FFF2-40B4-BE49-F238E27FC236}">
                <a16:creationId xmlns:a16="http://schemas.microsoft.com/office/drawing/2014/main" id="{3A8604E3-6C86-A5D8-2EB7-A8B08A709C66}"/>
              </a:ext>
            </a:extLst>
          </p:cNvPr>
          <p:cNvSpPr/>
          <p:nvPr/>
        </p:nvSpPr>
        <p:spPr>
          <a:xfrm>
            <a:off x="2246468" y="3004863"/>
            <a:ext cx="3163842" cy="1304158"/>
          </a:xfrm>
          <a:prstGeom prst="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sz="1400" b="1" u="sng" dirty="0"/>
          </a:p>
        </p:txBody>
      </p:sp>
      <p:sp>
        <p:nvSpPr>
          <p:cNvPr id="52" name="Object 4">
            <a:extLst>
              <a:ext uri="{63B3BB69-23CF-44E3-9099-C40C66FF867C}">
                <a14:compatExt xmlns:a14="http://schemas.microsoft.com/office/drawing/2010/main" spid="_x0000_s1028"/>
              </a:ext>
              <a:ext uri="{FF2B5EF4-FFF2-40B4-BE49-F238E27FC236}">
                <a16:creationId xmlns:a16="http://schemas.microsoft.com/office/drawing/2014/main" id="{677F8FAB-891F-C923-27E0-2D73C79154E8}"/>
              </a:ext>
            </a:extLst>
          </p:cNvPr>
          <p:cNvSpPr txBox="1"/>
          <p:nvPr/>
        </p:nvSpPr>
        <p:spPr>
          <a:xfrm>
            <a:off x="2548126" y="5777245"/>
            <a:ext cx="157365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LID4096"/>
            </a:defPPr>
            <a:lvl1pPr algn="r">
              <a:defRPr sz="16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  <a:lvl2pPr marL="457200" indent="0">
              <a:defRPr sz="1100"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1400" dirty="0"/>
              <a:t>=   𝐟𝐨𝐧𝐭𝐞𝐬 </a:t>
            </a:r>
          </a:p>
          <a:p>
            <a:pPr algn="l"/>
            <a:r>
              <a:rPr lang="en-GB" sz="1400" dirty="0"/>
              <a:t>(-) 𝐬𝐮𝐦𝐢𝐝𝐨𝐮𝐫𝐨𝐬</a:t>
            </a:r>
          </a:p>
        </p:txBody>
      </p:sp>
      <p:sp>
        <p:nvSpPr>
          <p:cNvPr id="53" name="Object 4">
            <a:extLst>
              <a:ext uri="{63B3BB69-23CF-44E3-9099-C40C66FF867C}">
                <a14:compatExt xmlns:a14="http://schemas.microsoft.com/office/drawing/2010/main" spid="_x0000_s1028"/>
              </a:ext>
              <a:ext uri="{FF2B5EF4-FFF2-40B4-BE49-F238E27FC236}">
                <a16:creationId xmlns:a16="http://schemas.microsoft.com/office/drawing/2014/main" id="{04559EF1-A99A-7CCC-C78E-851EA7EC93C2}"/>
              </a:ext>
            </a:extLst>
          </p:cNvPr>
          <p:cNvSpPr txBox="1"/>
          <p:nvPr/>
        </p:nvSpPr>
        <p:spPr>
          <a:xfrm>
            <a:off x="437798" y="5378784"/>
            <a:ext cx="1346944" cy="417907"/>
          </a:xfrm>
          <a:prstGeom prst="rect">
            <a:avLst/>
          </a:prstGeom>
          <a:noFill/>
          <a:ln w="38100">
            <a:noFill/>
          </a:ln>
        </p:spPr>
        <p:txBody>
          <a:bodyPr wrap="square" anchor="ctr">
            <a:noAutofit/>
          </a:bodyPr>
          <a:lstStyle>
            <a:lvl1pPr marL="0" indent="0">
              <a:defRPr sz="1100"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pt-BR" sz="1800" b="1" dirty="0">
                <a:latin typeface="Horley Old Style MT"/>
              </a:rPr>
              <a:t>Laplace</a:t>
            </a:r>
            <a:endParaRPr lang="pt-BR" sz="1800" dirty="0">
              <a:latin typeface="Horley Old Style MT"/>
            </a:endParaRPr>
          </a:p>
        </p:txBody>
      </p:sp>
      <p:sp>
        <p:nvSpPr>
          <p:cNvPr id="58" name="CaixaDeTexto 141">
            <a:extLst>
              <a:ext uri="{FF2B5EF4-FFF2-40B4-BE49-F238E27FC236}">
                <a16:creationId xmlns:a16="http://schemas.microsoft.com/office/drawing/2014/main" id="{A533A617-5F98-B2B5-B6ED-CCC06B0B3975}"/>
              </a:ext>
            </a:extLst>
          </p:cNvPr>
          <p:cNvSpPr txBox="1"/>
          <p:nvPr/>
        </p:nvSpPr>
        <p:spPr>
          <a:xfrm>
            <a:off x="252833" y="2821370"/>
            <a:ext cx="42284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800" b="1" dirty="0"/>
              <a:t>Q</a:t>
            </a:r>
            <a:endParaRPr lang="LID4096" sz="1100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9" name="Object 4">
                <a:extLst>
                  <a:ext uri="{63B3BB69-23CF-44E3-9099-C40C66FF867C}">
                    <a14:compatExt spid="_x0000_s1028"/>
                  </a:ext>
                  <a:ext uri="{FF2B5EF4-FFF2-40B4-BE49-F238E27FC236}">
                    <a16:creationId xmlns:a16="http://schemas.microsoft.com/office/drawing/2014/main" id="{EE0CFE30-22A8-5FBF-E1B1-61D2827359C3}"/>
                  </a:ext>
                </a:extLst>
              </p:cNvPr>
              <p:cNvSpPr txBox="1"/>
              <p:nvPr/>
            </p:nvSpPr>
            <p:spPr>
              <a:xfrm>
                <a:off x="4045229" y="3495521"/>
                <a:ext cx="1289081" cy="582171"/>
              </a:xfrm>
              <a:prstGeom prst="rect">
                <a:avLst/>
              </a:prstGeom>
              <a:noFill/>
              <a:ln w="3175">
                <a:noFill/>
              </a:ln>
              <a:effectLst/>
            </p:spPr>
            <p:txBody>
              <a:bodyPr wrap="none" lIns="0" tIns="0" rIns="0" bIns="0" anchor="ctr" anchorCtr="0">
                <a:noAutofit/>
              </a:bodyPr>
              <a:lstStyle>
                <a:lvl1pPr marL="0" indent="0">
                  <a:defRPr sz="1100">
                    <a:latin typeface="+mn-lt"/>
                    <a:ea typeface="+mn-ea"/>
                    <a:cs typeface="+mn-cs"/>
                  </a:defRPr>
                </a:lvl1pPr>
                <a:lvl2pPr marL="457200" indent="0">
                  <a:defRPr sz="1100">
                    <a:latin typeface="+mn-lt"/>
                    <a:ea typeface="+mn-ea"/>
                    <a:cs typeface="+mn-cs"/>
                  </a:defRPr>
                </a:lvl2pPr>
                <a:lvl3pPr marL="914400" indent="0">
                  <a:defRPr sz="1100">
                    <a:latin typeface="+mn-lt"/>
                    <a:ea typeface="+mn-ea"/>
                    <a:cs typeface="+mn-cs"/>
                  </a:defRPr>
                </a:lvl3pPr>
                <a:lvl4pPr marL="1371600" indent="0">
                  <a:defRPr sz="1100">
                    <a:latin typeface="+mn-lt"/>
                    <a:ea typeface="+mn-ea"/>
                    <a:cs typeface="+mn-cs"/>
                  </a:defRPr>
                </a:lvl4pPr>
                <a:lvl5pPr marL="1828800" indent="0">
                  <a:defRPr sz="1100">
                    <a:latin typeface="+mn-lt"/>
                    <a:ea typeface="+mn-ea"/>
                    <a:cs typeface="+mn-cs"/>
                  </a:defRPr>
                </a:lvl5pPr>
                <a:lvl6pPr marL="2286000" indent="0">
                  <a:defRPr sz="1100">
                    <a:latin typeface="+mn-lt"/>
                    <a:ea typeface="+mn-ea"/>
                    <a:cs typeface="+mn-cs"/>
                  </a:defRPr>
                </a:lvl6pPr>
                <a:lvl7pPr marL="2743200" indent="0">
                  <a:defRPr sz="1100">
                    <a:latin typeface="+mn-lt"/>
                    <a:ea typeface="+mn-ea"/>
                    <a:cs typeface="+mn-cs"/>
                  </a:defRPr>
                </a:lvl7pPr>
                <a:lvl8pPr marL="3200400" indent="0">
                  <a:defRPr sz="1100">
                    <a:latin typeface="+mn-lt"/>
                    <a:ea typeface="+mn-ea"/>
                    <a:cs typeface="+mn-cs"/>
                  </a:defRPr>
                </a:lvl8pPr>
                <a:lvl9pPr marL="3657600" indent="0">
                  <a:defRPr sz="1100"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>
                  <a:defRPr/>
                </a:pPr>
                <a:r>
                  <a:rPr lang="pt-BR" sz="1800" b="1" i="0" dirty="0">
                    <a:solidFill>
                      <a:schemeClr val="accent2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. . .</a:t>
                </a:r>
              </a:p>
              <a:p>
                <a:pPr algn="ctr">
                  <a:defRPr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l-GR" sz="1800" b="1" i="0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𝚫</m:t>
                      </m:r>
                      <m:r>
                        <a:rPr lang="pt-BR" sz="1800" b="1" i="0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𝐱</m:t>
                      </m:r>
                      <m:r>
                        <a:rPr lang="en-GB" sz="1800" b="1" i="0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pt-BR" sz="1800" b="1" i="0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l-GR" sz="1800" b="1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𝚫</m:t>
                      </m:r>
                      <m:r>
                        <a:rPr lang="pt-BR" sz="1800" b="1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𝐲</m:t>
                      </m:r>
                      <m:r>
                        <a:rPr lang="pt-BR" sz="1800" b="1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 </m:t>
                      </m:r>
                      <m:r>
                        <a:rPr lang="el-GR" sz="1800" b="1" i="0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𝚫</m:t>
                      </m:r>
                      <m:r>
                        <a:rPr lang="pt-BR" sz="1800" b="1" i="0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𝐳</m:t>
                      </m:r>
                    </m:oMath>
                  </m:oMathPara>
                </a14:m>
                <a:endParaRPr lang="pt-BR" sz="1800" b="1" i="0" dirty="0">
                  <a:solidFill>
                    <a:schemeClr val="accent2"/>
                  </a:solidFill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algn="ctr">
                  <a:defRPr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l-GR" sz="1800" b="1" i="0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𝚫</m:t>
                      </m:r>
                      <m:r>
                        <a:rPr lang="pt-BR" sz="1800" b="1" i="0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𝐱</m:t>
                      </m:r>
                      <m:r>
                        <a:rPr lang="pt-BR" sz="1800" b="1" i="0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 </m:t>
                      </m:r>
                      <m:r>
                        <a:rPr lang="el-GR" sz="1800" b="1" i="0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𝚫</m:t>
                      </m:r>
                      <m:r>
                        <a:rPr lang="pt-BR" sz="1800" b="1" i="0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𝐲</m:t>
                      </m:r>
                      <m:r>
                        <a:rPr lang="en-GB" sz="1800" b="0" i="0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pt-BR" sz="1800" b="0" i="0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l-GR" sz="1800" b="1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𝚫</m:t>
                      </m:r>
                      <m:r>
                        <a:rPr lang="pt-BR" sz="1800" b="1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𝐳</m:t>
                      </m:r>
                    </m:oMath>
                  </m:oMathPara>
                </a14:m>
                <a:endParaRPr lang="pt-BR" sz="1800" b="1" dirty="0">
                  <a:solidFill>
                    <a:srgbClr val="0000FF"/>
                  </a:solidFill>
                  <a:latin typeface="Cambria Math" panose="02040503050406030204" pitchFamily="18" charset="0"/>
                  <a:ea typeface="Cambria Math" panose="020405030504060302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59" name="Object 4">
                <a:extLst>
                  <a:ext uri="{63B3BB69-23CF-44E3-9099-C40C66FF867C}">
                    <a14:compatExt xmlns:a14="http://schemas.microsoft.com/office/drawing/2010/main" spid="_x0000_s1028"/>
                  </a:ext>
                  <a:ext uri="{FF2B5EF4-FFF2-40B4-BE49-F238E27FC236}">
                    <a16:creationId xmlns:a16="http://schemas.microsoft.com/office/drawing/2014/main" id="{EE0CFE30-22A8-5FBF-E1B1-61D2827359C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45229" y="3495521"/>
                <a:ext cx="1289081" cy="582171"/>
              </a:xfrm>
              <a:prstGeom prst="rect">
                <a:avLst/>
              </a:prstGeom>
              <a:blipFill>
                <a:blip r:embed="rId8"/>
                <a:stretch>
                  <a:fillRect t="-34375" b="-34375"/>
                </a:stretch>
              </a:blipFill>
              <a:ln w="3175">
                <a:noFill/>
              </a:ln>
              <a:effectLst/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0" name="Object 4">
            <a:extLst>
              <a:ext uri="{63B3BB69-23CF-44E3-9099-C40C66FF867C}">
                <a14:compatExt xmlns:a14="http://schemas.microsoft.com/office/drawing/2010/main" spid="_x0000_s1028"/>
              </a:ext>
              <a:ext uri="{FF2B5EF4-FFF2-40B4-BE49-F238E27FC236}">
                <a16:creationId xmlns:a16="http://schemas.microsoft.com/office/drawing/2014/main" id="{73108FF7-AE35-1067-AE5B-1D8FB4DCE18E}"/>
              </a:ext>
            </a:extLst>
          </p:cNvPr>
          <p:cNvSpPr txBox="1"/>
          <p:nvPr/>
        </p:nvSpPr>
        <p:spPr>
          <a:xfrm>
            <a:off x="851002" y="6101371"/>
            <a:ext cx="670916" cy="286976"/>
          </a:xfrm>
          <a:prstGeom prst="rect">
            <a:avLst/>
          </a:prstGeom>
          <a:noFill/>
          <a:ln w="3175">
            <a:noFill/>
          </a:ln>
          <a:effectLst/>
        </p:spPr>
        <p:txBody>
          <a:bodyPr wrap="none" anchor="b" anchorCtr="0">
            <a:noAutofit/>
          </a:bodyPr>
          <a:lstStyle>
            <a:lvl1pPr marL="0" indent="0">
              <a:defRPr sz="1100"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latin typeface="+mn-lt"/>
                <a:ea typeface="+mn-ea"/>
                <a:cs typeface="+mn-cs"/>
              </a:defRPr>
            </a:lvl9pPr>
          </a:lstStyle>
          <a:p>
            <a:pPr algn="r">
              <a:defRPr/>
            </a:pPr>
            <a:r>
              <a:rPr lang="en-GB" sz="2400" b="1" dirty="0">
                <a:solidFill>
                  <a:schemeClr val="accent2"/>
                </a:solidFill>
                <a:latin typeface="+mj-lt"/>
                <a:ea typeface="Cambria Math" panose="02040503050406030204" pitchFamily="18" charset="0"/>
              </a:rPr>
              <a:t>nabla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1" name="Object 4">
                <a:extLst>
                  <a:ext uri="{63B3BB69-23CF-44E3-9099-C40C66FF867C}">
                    <a14:compatExt spid="_x0000_s1028"/>
                  </a:ext>
                  <a:ext uri="{FF2B5EF4-FFF2-40B4-BE49-F238E27FC236}">
                    <a16:creationId xmlns:a16="http://schemas.microsoft.com/office/drawing/2014/main" id="{94AF9AD3-69D2-E2F4-D227-7F772A6720B5}"/>
                  </a:ext>
                </a:extLst>
              </p:cNvPr>
              <p:cNvSpPr txBox="1"/>
              <p:nvPr/>
            </p:nvSpPr>
            <p:spPr>
              <a:xfrm>
                <a:off x="1546576" y="5530742"/>
                <a:ext cx="983405" cy="602322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 w="3175">
                <a:noFill/>
              </a:ln>
              <a:effectLst>
                <a:outerShdw blurRad="50800" dist="38100" dir="8100000" algn="tr" rotWithShape="0">
                  <a:prstClr val="black">
                    <a:alpha val="40000"/>
                  </a:prstClr>
                </a:outerShdw>
              </a:effectLst>
            </p:spPr>
            <p:txBody>
              <a:bodyPr wrap="none" lIns="0" tIns="45720" rIns="0" bIns="0" anchor="ctr" anchorCtr="0">
                <a:noAutofit/>
              </a:bodyPr>
              <a:lstStyle>
                <a:lvl1pPr marL="0" indent="0">
                  <a:defRPr sz="1100">
                    <a:latin typeface="+mn-lt"/>
                    <a:ea typeface="+mn-ea"/>
                    <a:cs typeface="+mn-cs"/>
                  </a:defRPr>
                </a:lvl1pPr>
                <a:lvl2pPr marL="457200" indent="0">
                  <a:defRPr sz="1100">
                    <a:latin typeface="+mn-lt"/>
                    <a:ea typeface="+mn-ea"/>
                    <a:cs typeface="+mn-cs"/>
                  </a:defRPr>
                </a:lvl2pPr>
                <a:lvl3pPr marL="914400" indent="0">
                  <a:defRPr sz="1100">
                    <a:latin typeface="+mn-lt"/>
                    <a:ea typeface="+mn-ea"/>
                    <a:cs typeface="+mn-cs"/>
                  </a:defRPr>
                </a:lvl3pPr>
                <a:lvl4pPr marL="1371600" indent="0">
                  <a:defRPr sz="1100">
                    <a:latin typeface="+mn-lt"/>
                    <a:ea typeface="+mn-ea"/>
                    <a:cs typeface="+mn-cs"/>
                  </a:defRPr>
                </a:lvl4pPr>
                <a:lvl5pPr marL="1828800" indent="0">
                  <a:defRPr sz="1100">
                    <a:latin typeface="+mn-lt"/>
                    <a:ea typeface="+mn-ea"/>
                    <a:cs typeface="+mn-cs"/>
                  </a:defRPr>
                </a:lvl5pPr>
                <a:lvl6pPr marL="2286000" indent="0">
                  <a:defRPr sz="1100">
                    <a:latin typeface="+mn-lt"/>
                    <a:ea typeface="+mn-ea"/>
                    <a:cs typeface="+mn-cs"/>
                  </a:defRPr>
                </a:lvl6pPr>
                <a:lvl7pPr marL="2743200" indent="0">
                  <a:defRPr sz="1100">
                    <a:latin typeface="+mn-lt"/>
                    <a:ea typeface="+mn-ea"/>
                    <a:cs typeface="+mn-cs"/>
                  </a:defRPr>
                </a:lvl7pPr>
                <a:lvl8pPr marL="3200400" indent="0">
                  <a:defRPr sz="1100">
                    <a:latin typeface="+mn-lt"/>
                    <a:ea typeface="+mn-ea"/>
                    <a:cs typeface="+mn-cs"/>
                  </a:defRPr>
                </a:lvl8pPr>
                <a:lvl9pPr marL="3657600" indent="0">
                  <a:defRPr sz="1100"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>
                  <a:defRPr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bar>
                        <m:barPr>
                          <m:ctrlPr>
                            <a:rPr lang="ar-AE" sz="30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barPr>
                        <m:e>
                          <m:sSup>
                            <m:sSupPr>
                              <m:ctrlPr>
                                <a:rPr lang="ar-AE" sz="3000" b="1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sz="30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𝛁</m:t>
                              </m:r>
                            </m:e>
                            <m:sup>
                              <m:r>
                                <a:rPr lang="pt-BR" sz="3000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𝟐</m:t>
                              </m:r>
                            </m:sup>
                          </m:sSup>
                        </m:e>
                      </m:bar>
                      <m:r>
                        <a:rPr lang="pt-BR" sz="30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bar>
                        <m:barPr>
                          <m:ctrlPr>
                            <a:rPr lang="ar-AE" sz="3000" b="1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barPr>
                        <m:e>
                          <m:r>
                            <a:rPr lang="pt-BR" sz="3000" b="1" i="0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𝐡</m:t>
                          </m:r>
                        </m:e>
                      </m:bar>
                    </m:oMath>
                  </m:oMathPara>
                </a14:m>
                <a:endParaRPr lang="en-GB" sz="3000" b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61" name="Object 4">
                <a:extLst>
                  <a:ext uri="{63B3BB69-23CF-44E3-9099-C40C66FF867C}">
                    <a14:compatExt xmlns:a14="http://schemas.microsoft.com/office/drawing/2010/main" spid="_x0000_s1028"/>
                  </a:ext>
                  <a:ext uri="{FF2B5EF4-FFF2-40B4-BE49-F238E27FC236}">
                    <a16:creationId xmlns:a16="http://schemas.microsoft.com/office/drawing/2014/main" id="{94AF9AD3-69D2-E2F4-D227-7F772A6720B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46576" y="5530742"/>
                <a:ext cx="983405" cy="602322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  <a:ln w="3175">
                <a:noFill/>
              </a:ln>
              <a:effectLst>
                <a:outerShdw blurRad="50800" dist="38100" dir="8100000" algn="tr" rotWithShape="0">
                  <a:prstClr val="black">
                    <a:alpha val="40000"/>
                  </a:prstClr>
                </a:outerShdw>
              </a:effectLst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2" name="Object 4">
                <a:extLst>
                  <a:ext uri="{63B3BB69-23CF-44E3-9099-C40C66FF867C}">
                    <a14:compatExt spid="_x0000_s1028"/>
                  </a:ext>
                  <a:ext uri="{FF2B5EF4-FFF2-40B4-BE49-F238E27FC236}">
                    <a16:creationId xmlns:a16="http://schemas.microsoft.com/office/drawing/2014/main" id="{5E19B602-AA52-35BB-23EE-F028810DBE65}"/>
                  </a:ext>
                </a:extLst>
              </p:cNvPr>
              <p:cNvSpPr txBox="1"/>
              <p:nvPr/>
            </p:nvSpPr>
            <p:spPr>
              <a:xfrm>
                <a:off x="402444" y="4660253"/>
                <a:ext cx="3255859" cy="731520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 w="3175">
                <a:noFill/>
              </a:ln>
              <a:effectLst>
                <a:outerShdw blurRad="50800" dist="38100" dir="8100000" algn="tr" rotWithShape="0">
                  <a:prstClr val="black">
                    <a:alpha val="40000"/>
                  </a:prstClr>
                </a:outerShdw>
              </a:effectLst>
            </p:spPr>
            <p:txBody>
              <a:bodyPr wrap="none" lIns="182880" tIns="45720" rIns="91440" bIns="0" anchor="ctr" anchorCtr="0">
                <a:noAutofit/>
              </a:bodyPr>
              <a:lstStyle>
                <a:lvl1pPr marL="0" indent="0">
                  <a:defRPr sz="1100">
                    <a:latin typeface="+mn-lt"/>
                    <a:ea typeface="+mn-ea"/>
                    <a:cs typeface="+mn-cs"/>
                  </a:defRPr>
                </a:lvl1pPr>
                <a:lvl2pPr marL="457200" indent="0">
                  <a:defRPr sz="1100">
                    <a:latin typeface="+mn-lt"/>
                    <a:ea typeface="+mn-ea"/>
                    <a:cs typeface="+mn-cs"/>
                  </a:defRPr>
                </a:lvl2pPr>
                <a:lvl3pPr marL="914400" indent="0">
                  <a:defRPr sz="1100">
                    <a:latin typeface="+mn-lt"/>
                    <a:ea typeface="+mn-ea"/>
                    <a:cs typeface="+mn-cs"/>
                  </a:defRPr>
                </a:lvl3pPr>
                <a:lvl4pPr marL="1371600" indent="0">
                  <a:defRPr sz="1100">
                    <a:latin typeface="+mn-lt"/>
                    <a:ea typeface="+mn-ea"/>
                    <a:cs typeface="+mn-cs"/>
                  </a:defRPr>
                </a:lvl4pPr>
                <a:lvl5pPr marL="1828800" indent="0">
                  <a:defRPr sz="1100">
                    <a:latin typeface="+mn-lt"/>
                    <a:ea typeface="+mn-ea"/>
                    <a:cs typeface="+mn-cs"/>
                  </a:defRPr>
                </a:lvl5pPr>
                <a:lvl6pPr marL="2286000" indent="0">
                  <a:defRPr sz="1100">
                    <a:latin typeface="+mn-lt"/>
                    <a:ea typeface="+mn-ea"/>
                    <a:cs typeface="+mn-cs"/>
                  </a:defRPr>
                </a:lvl6pPr>
                <a:lvl7pPr marL="2743200" indent="0">
                  <a:defRPr sz="1100">
                    <a:latin typeface="+mn-lt"/>
                    <a:ea typeface="+mn-ea"/>
                    <a:cs typeface="+mn-cs"/>
                  </a:defRPr>
                </a:lvl7pPr>
                <a:lvl8pPr marL="3200400" indent="0">
                  <a:defRPr sz="1100">
                    <a:latin typeface="+mn-lt"/>
                    <a:ea typeface="+mn-ea"/>
                    <a:cs typeface="+mn-cs"/>
                  </a:defRPr>
                </a:lvl8pPr>
                <a:lvl9pPr marL="3657600" indent="0">
                  <a:defRPr sz="1100">
                    <a:latin typeface="+mn-lt"/>
                    <a:ea typeface="+mn-ea"/>
                    <a:cs typeface="+mn-cs"/>
                  </a:defRPr>
                </a:lvl9pPr>
              </a:lstStyle>
              <a:p>
                <a:pPr lvl="0" algn="ctr">
                  <a:defRPr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f>
                        <m:fPr>
                          <m:ctrlPr>
                            <a:rPr lang="ar-AE" sz="18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ar-AE" sz="1800" b="1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ar-AE" sz="1800" b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𝛛</m:t>
                              </m:r>
                            </m:e>
                            <m:sup>
                              <m:r>
                                <a:rPr lang="ar-AE" sz="1800" b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𝟐</m:t>
                              </m:r>
                            </m:sup>
                          </m:sSup>
                          <m:r>
                            <m:rPr>
                              <m:nor/>
                            </m:rPr>
                            <a:rPr lang="pt-BR" sz="1800" b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h</m:t>
                          </m:r>
                        </m:num>
                        <m:den>
                          <m:r>
                            <a:rPr lang="ar-AE" sz="1800" b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𝛛</m:t>
                          </m:r>
                          <m:sSup>
                            <m:sSupPr>
                              <m:ctrlPr>
                                <a:rPr lang="ar-AE" sz="1800" b="1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sz="1800" b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𝐱</m:t>
                              </m:r>
                            </m:e>
                            <m:sup>
                              <m:r>
                                <a:rPr lang="ar-AE" sz="1800" b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𝟐</m:t>
                              </m:r>
                            </m:sup>
                          </m:sSup>
                        </m:den>
                      </m:f>
                      <m:r>
                        <a:rPr lang="pt-BR" sz="1800" b="1" i="1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 </m:t>
                      </m:r>
                      <m:r>
                        <a:rPr lang="ar-AE" sz="180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ar-AE" sz="18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ar-AE" sz="1800" b="1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ar-AE" sz="1800" b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𝛛</m:t>
                              </m:r>
                            </m:e>
                            <m:sup>
                              <m:r>
                                <a:rPr lang="ar-AE" sz="1800" b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𝟐</m:t>
                              </m:r>
                            </m:sup>
                          </m:sSup>
                          <m:r>
                            <m:rPr>
                              <m:nor/>
                            </m:rPr>
                            <a:rPr lang="pt-BR" sz="1800" b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h</m:t>
                          </m:r>
                        </m:num>
                        <m:den>
                          <m:r>
                            <a:rPr lang="ar-AE" sz="1800" b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𝛛</m:t>
                          </m:r>
                          <m:sSup>
                            <m:sSupPr>
                              <m:ctrlPr>
                                <a:rPr lang="ar-AE" sz="1800" b="1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sz="1800" b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𝐲</m:t>
                              </m:r>
                            </m:e>
                            <m:sup>
                              <m:r>
                                <a:rPr lang="ar-AE" sz="1800" b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𝟐</m:t>
                              </m:r>
                            </m:sup>
                          </m:sSup>
                        </m:den>
                      </m:f>
                      <m:r>
                        <a:rPr lang="pt-BR" sz="1800" b="1" i="1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ar-AE" sz="180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ar-AE" sz="18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ar-AE" sz="1800" b="1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ar-AE" sz="1800" b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𝛛</m:t>
                              </m:r>
                            </m:e>
                            <m:sup>
                              <m:r>
                                <a:rPr lang="ar-AE" sz="1800" b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𝟐</m:t>
                              </m:r>
                            </m:sup>
                          </m:sSup>
                          <m:r>
                            <m:rPr>
                              <m:nor/>
                            </m:rPr>
                            <a:rPr lang="pt-BR" sz="1800" b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h</m:t>
                          </m:r>
                        </m:num>
                        <m:den>
                          <m:r>
                            <a:rPr lang="ar-AE" sz="1800" b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𝛛</m:t>
                          </m:r>
                          <m:sSup>
                            <m:sSupPr>
                              <m:ctrlPr>
                                <a:rPr lang="ar-AE" sz="1800" b="1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sz="1800" b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𝐳</m:t>
                              </m:r>
                            </m:e>
                            <m:sup>
                              <m:r>
                                <a:rPr lang="ar-AE" sz="1800" b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𝟐</m:t>
                              </m:r>
                            </m:sup>
                          </m:sSup>
                        </m:den>
                      </m:f>
                      <m:r>
                        <a:rPr lang="pt-BR" sz="1800" b="1" i="1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GB" sz="180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ar-AE" sz="180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pt-BR" sz="1800" b="1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𝐐</m:t>
                      </m:r>
                      <m:r>
                        <a:rPr lang="pt-BR" sz="1800" b="1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a:rPr lang="pt-BR" sz="1800" b="1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𝐏𝐀</m:t>
                      </m:r>
                    </m:oMath>
                  </m:oMathPara>
                </a14:m>
                <a:endParaRPr lang="en-GB" sz="1800" b="1" dirty="0">
                  <a:solidFill>
                    <a:prstClr val="black"/>
                  </a:solidFill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62" name="Object 4">
                <a:extLst>
                  <a:ext uri="{63B3BB69-23CF-44E3-9099-C40C66FF867C}">
                    <a14:compatExt xmlns:a14="http://schemas.microsoft.com/office/drawing/2010/main" spid="_x0000_s1028"/>
                  </a:ext>
                  <a:ext uri="{FF2B5EF4-FFF2-40B4-BE49-F238E27FC236}">
                    <a16:creationId xmlns:a16="http://schemas.microsoft.com/office/drawing/2014/main" id="{5E19B602-AA52-35BB-23EE-F028810DBE6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2444" y="4660253"/>
                <a:ext cx="3255859" cy="731520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  <a:ln w="3175">
                <a:noFill/>
              </a:ln>
              <a:effectLst>
                <a:outerShdw blurRad="50800" dist="38100" dir="8100000" algn="tr" rotWithShape="0">
                  <a:prstClr val="black">
                    <a:alpha val="40000"/>
                  </a:prstClr>
                </a:outerShdw>
              </a:effectLst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3" name="TextBox 62">
            <a:extLst>
              <a:ext uri="{FF2B5EF4-FFF2-40B4-BE49-F238E27FC236}">
                <a16:creationId xmlns:a16="http://schemas.microsoft.com/office/drawing/2014/main" id="{7129078B-8E66-3D50-141D-35006F7044CD}"/>
              </a:ext>
            </a:extLst>
          </p:cNvPr>
          <p:cNvSpPr txBox="1"/>
          <p:nvPr/>
        </p:nvSpPr>
        <p:spPr>
          <a:xfrm>
            <a:off x="3940519" y="5822324"/>
            <a:ext cx="1650878" cy="461665"/>
          </a:xfrm>
          <a:prstGeom prst="rect">
            <a:avLst/>
          </a:prstGeom>
          <a:solidFill>
            <a:srgbClr val="FFFF00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>
            <a:spAutoFit/>
          </a:bodyPr>
          <a:lstStyle>
            <a:defPPr>
              <a:defRPr lang="LID4096"/>
            </a:defPPr>
            <a:lvl1pPr algn="ctr">
              <a:defRPr b="1">
                <a:latin typeface="Calibri" panose="020F0502020204030204" pitchFamily="34" charset="0"/>
                <a:cs typeface="Times New Roman" panose="02020603050405020304" pitchFamily="18" charset="0"/>
              </a:defRPr>
            </a:lvl1pPr>
          </a:lstStyle>
          <a:p>
            <a:pPr algn="r"/>
            <a:r>
              <a:rPr lang="pt-BR" sz="2400" dirty="0">
                <a:solidFill>
                  <a:srgbClr val="0000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MODFLOW</a:t>
            </a:r>
            <a:endParaRPr lang="pt-BR" dirty="0">
              <a:solidFill>
                <a:srgbClr val="0000FF"/>
              </a:solidFill>
            </a:endParaRPr>
          </a:p>
        </p:txBody>
      </p:sp>
      <p:sp>
        <p:nvSpPr>
          <p:cNvPr id="64" name="Retângulo 83">
            <a:extLst>
              <a:ext uri="{FF2B5EF4-FFF2-40B4-BE49-F238E27FC236}">
                <a16:creationId xmlns:a16="http://schemas.microsoft.com/office/drawing/2014/main" id="{31D73027-EA17-7900-9D82-2DF5F7D17CAD}"/>
              </a:ext>
            </a:extLst>
          </p:cNvPr>
          <p:cNvSpPr/>
          <p:nvPr/>
        </p:nvSpPr>
        <p:spPr>
          <a:xfrm>
            <a:off x="3845378" y="4489070"/>
            <a:ext cx="1573652" cy="1115102"/>
          </a:xfrm>
          <a:prstGeom prst="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sz="1400" b="1" u="sn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5" name="TextBox 64">
                <a:extLst>
                  <a:ext uri="{FF2B5EF4-FFF2-40B4-BE49-F238E27FC236}">
                    <a16:creationId xmlns:a16="http://schemas.microsoft.com/office/drawing/2014/main" id="{14F1262B-17D8-60B9-77B8-B4E99FC28BB0}"/>
                  </a:ext>
                </a:extLst>
              </p:cNvPr>
              <p:cNvSpPr txBox="1"/>
              <p:nvPr/>
            </p:nvSpPr>
            <p:spPr>
              <a:xfrm>
                <a:off x="3822989" y="4607545"/>
                <a:ext cx="743004" cy="92217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2400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f>
                        <m:fPr>
                          <m:ctrlPr>
                            <a:rPr lang="el-GR" sz="2400" b="1" i="1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400" b="1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𝛛</m:t>
                          </m:r>
                        </m:num>
                        <m:den>
                          <m:r>
                            <a:rPr lang="pt-BR" sz="2400" b="1" i="0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𝛛</m:t>
                          </m:r>
                          <m:r>
                            <a:rPr lang="pt-BR" sz="2400" b="1" i="0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𝐱</m:t>
                          </m:r>
                        </m:den>
                      </m:f>
                      <m:d>
                        <m:dPr>
                          <m:ctrlPr>
                            <a:rPr lang="pt-BR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400" b="1" i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𝐤</m:t>
                          </m:r>
                          <m:f>
                            <m:fPr>
                              <m:ctrlPr>
                                <a:rPr lang="el-GR" sz="2400" b="1" i="1" smtClean="0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pt-BR" sz="2400" b="1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𝛛</m:t>
                              </m:r>
                              <m:r>
                                <a:rPr lang="pt-BR" sz="2400" b="1" i="0" smtClean="0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𝐡</m:t>
                              </m:r>
                            </m:num>
                            <m:den>
                              <m:r>
                                <a:rPr lang="pt-BR" sz="2400" b="1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𝛛</m:t>
                              </m:r>
                              <m:r>
                                <a:rPr lang="pt-BR" sz="2400" b="1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𝐱</m:t>
                              </m:r>
                            </m:den>
                          </m:f>
                        </m:e>
                      </m:d>
                    </m:oMath>
                  </m:oMathPara>
                </a14:m>
                <a:endParaRPr lang="LID4096" sz="2400" dirty="0"/>
              </a:p>
            </p:txBody>
          </p:sp>
        </mc:Choice>
        <mc:Fallback xmlns="">
          <p:sp>
            <p:nvSpPr>
              <p:cNvPr id="65" name="TextBox 64">
                <a:extLst>
                  <a:ext uri="{FF2B5EF4-FFF2-40B4-BE49-F238E27FC236}">
                    <a16:creationId xmlns:a16="http://schemas.microsoft.com/office/drawing/2014/main" id="{14F1262B-17D8-60B9-77B8-B4E99FC28B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22989" y="4607545"/>
                <a:ext cx="743004" cy="922176"/>
              </a:xfrm>
              <a:prstGeom prst="rect">
                <a:avLst/>
              </a:prstGeom>
              <a:blipFill>
                <a:blip r:embed="rId11"/>
                <a:stretch>
                  <a:fillRect r="-98361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6" name="CaixaDeTexto 141">
            <a:extLst>
              <a:ext uri="{FF2B5EF4-FFF2-40B4-BE49-F238E27FC236}">
                <a16:creationId xmlns:a16="http://schemas.microsoft.com/office/drawing/2014/main" id="{E1191DA1-8FC4-0801-7C47-0F3E41536735}"/>
              </a:ext>
            </a:extLst>
          </p:cNvPr>
          <p:cNvSpPr txBox="1"/>
          <p:nvPr/>
        </p:nvSpPr>
        <p:spPr>
          <a:xfrm>
            <a:off x="3919424" y="2535789"/>
            <a:ext cx="1430903" cy="338554"/>
          </a:xfrm>
          <a:prstGeom prst="rect">
            <a:avLst/>
          </a:prstGeom>
          <a:noFill/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>
            <a:defPPr>
              <a:defRPr lang="LID4096"/>
            </a:defPPr>
            <a:lvl1pPr>
              <a:defRPr sz="16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pPr algn="r"/>
            <a:r>
              <a:rPr lang="pt-BR" dirty="0"/>
              <a:t>Calor</a:t>
            </a:r>
            <a:endParaRPr lang="LID4096" dirty="0"/>
          </a:p>
        </p:txBody>
      </p:sp>
      <p:sp>
        <p:nvSpPr>
          <p:cNvPr id="67" name="CaixaDeTexto 141">
            <a:extLst>
              <a:ext uri="{FF2B5EF4-FFF2-40B4-BE49-F238E27FC236}">
                <a16:creationId xmlns:a16="http://schemas.microsoft.com/office/drawing/2014/main" id="{B281D329-12FD-E093-D042-91C054EBF8AB}"/>
              </a:ext>
            </a:extLst>
          </p:cNvPr>
          <p:cNvSpPr txBox="1"/>
          <p:nvPr/>
        </p:nvSpPr>
        <p:spPr>
          <a:xfrm>
            <a:off x="2143274" y="4327380"/>
            <a:ext cx="143090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pt-BR" sz="16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infinitesimal</a:t>
            </a:r>
            <a:endParaRPr lang="LID4096" sz="14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grpSp>
        <p:nvGrpSpPr>
          <p:cNvPr id="68" name="Group 67">
            <a:extLst>
              <a:ext uri="{FF2B5EF4-FFF2-40B4-BE49-F238E27FC236}">
                <a16:creationId xmlns:a16="http://schemas.microsoft.com/office/drawing/2014/main" id="{7DD1D3A6-88D6-5474-2003-0320BE916DB5}"/>
              </a:ext>
            </a:extLst>
          </p:cNvPr>
          <p:cNvGrpSpPr/>
          <p:nvPr/>
        </p:nvGrpSpPr>
        <p:grpSpPr>
          <a:xfrm>
            <a:off x="583412" y="1240914"/>
            <a:ext cx="2144086" cy="1511767"/>
            <a:chOff x="250339" y="1299318"/>
            <a:chExt cx="2144086" cy="1511767"/>
          </a:xfrm>
        </p:grpSpPr>
        <p:grpSp>
          <p:nvGrpSpPr>
            <p:cNvPr id="69" name="Group 68">
              <a:extLst>
                <a:ext uri="{FF2B5EF4-FFF2-40B4-BE49-F238E27FC236}">
                  <a16:creationId xmlns:a16="http://schemas.microsoft.com/office/drawing/2014/main" id="{9DB00BD7-9369-0C94-D8AE-088DE9ED6EA9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250339" y="1299318"/>
              <a:ext cx="2144086" cy="1511767"/>
              <a:chOff x="1881494" y="1113381"/>
              <a:chExt cx="2301094" cy="1427179"/>
            </a:xfrm>
          </p:grpSpPr>
          <p:grpSp>
            <p:nvGrpSpPr>
              <p:cNvPr id="72" name="Agrupar 134">
                <a:extLst>
                  <a:ext uri="{FF2B5EF4-FFF2-40B4-BE49-F238E27FC236}">
                    <a16:creationId xmlns:a16="http://schemas.microsoft.com/office/drawing/2014/main" id="{70121B97-C4B5-2854-E989-3A30A0AF615E}"/>
                  </a:ext>
                </a:extLst>
              </p:cNvPr>
              <p:cNvGrpSpPr/>
              <p:nvPr/>
            </p:nvGrpSpPr>
            <p:grpSpPr>
              <a:xfrm>
                <a:off x="1881494" y="1113381"/>
                <a:ext cx="2301094" cy="1427179"/>
                <a:chOff x="1097433" y="1160227"/>
                <a:chExt cx="2736618" cy="1751228"/>
              </a:xfrm>
            </p:grpSpPr>
            <p:grpSp>
              <p:nvGrpSpPr>
                <p:cNvPr id="74" name="Agrupar 135">
                  <a:extLst>
                    <a:ext uri="{FF2B5EF4-FFF2-40B4-BE49-F238E27FC236}">
                      <a16:creationId xmlns:a16="http://schemas.microsoft.com/office/drawing/2014/main" id="{7F5976A9-7F52-0E86-DC36-36B1E6C23BB3}"/>
                    </a:ext>
                  </a:extLst>
                </p:cNvPr>
                <p:cNvGrpSpPr>
                  <a:grpSpLocks noChangeAspect="1"/>
                </p:cNvGrpSpPr>
                <p:nvPr/>
              </p:nvGrpSpPr>
              <p:grpSpPr>
                <a:xfrm>
                  <a:off x="1097433" y="1160227"/>
                  <a:ext cx="2736618" cy="1711930"/>
                  <a:chOff x="5866419" y="814051"/>
                  <a:chExt cx="2528587" cy="1571172"/>
                </a:xfrm>
              </p:grpSpPr>
              <p:sp>
                <p:nvSpPr>
                  <p:cNvPr id="78" name="Cilindro 140">
                    <a:extLst>
                      <a:ext uri="{FF2B5EF4-FFF2-40B4-BE49-F238E27FC236}">
                        <a16:creationId xmlns:a16="http://schemas.microsoft.com/office/drawing/2014/main" id="{DCDFE901-29FC-DC7F-F8F9-F88AB9812414}"/>
                      </a:ext>
                    </a:extLst>
                  </p:cNvPr>
                  <p:cNvSpPr/>
                  <p:nvPr/>
                </p:nvSpPr>
                <p:spPr>
                  <a:xfrm rot="17926501">
                    <a:off x="7227774" y="974828"/>
                    <a:ext cx="438142" cy="1434517"/>
                  </a:xfrm>
                  <a:prstGeom prst="can">
                    <a:avLst/>
                  </a:prstGeom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LID4096" sz="1400" b="1" u="sng"/>
                  </a:p>
                </p:txBody>
              </p:sp>
              <p:sp>
                <p:nvSpPr>
                  <p:cNvPr id="79" name="CaixaDeTexto 141">
                    <a:extLst>
                      <a:ext uri="{FF2B5EF4-FFF2-40B4-BE49-F238E27FC236}">
                        <a16:creationId xmlns:a16="http://schemas.microsoft.com/office/drawing/2014/main" id="{E1F218CC-678A-21F8-8A01-FA8AB50294A3}"/>
                      </a:ext>
                    </a:extLst>
                  </p:cNvPr>
                  <p:cNvSpPr txBox="1"/>
                  <p:nvPr/>
                </p:nvSpPr>
                <p:spPr>
                  <a:xfrm>
                    <a:off x="5866419" y="814051"/>
                    <a:ext cx="498667" cy="55626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pt-BR" sz="2800" b="1" dirty="0"/>
                      <a:t>Q</a:t>
                    </a:r>
                    <a:endParaRPr lang="LID4096" sz="1100" b="1" dirty="0"/>
                  </a:p>
                </p:txBody>
              </p:sp>
              <p:cxnSp>
                <p:nvCxnSpPr>
                  <p:cNvPr id="80" name="Conector de Seta Reta 142">
                    <a:extLst>
                      <a:ext uri="{FF2B5EF4-FFF2-40B4-BE49-F238E27FC236}">
                        <a16:creationId xmlns:a16="http://schemas.microsoft.com/office/drawing/2014/main" id="{C0929374-1C47-8B7D-CDB9-72C44247318A}"/>
                      </a:ext>
                    </a:extLst>
                  </p:cNvPr>
                  <p:cNvCxnSpPr>
                    <a:cxnSpLocks noChangeAspect="1"/>
                  </p:cNvCxnSpPr>
                  <p:nvPr/>
                </p:nvCxnSpPr>
                <p:spPr>
                  <a:xfrm>
                    <a:off x="6420377" y="1168911"/>
                    <a:ext cx="326127" cy="179853"/>
                  </a:xfrm>
                  <a:prstGeom prst="straightConnector1">
                    <a:avLst/>
                  </a:prstGeom>
                  <a:ln w="76200">
                    <a:solidFill>
                      <a:schemeClr val="tx1"/>
                    </a:solidFill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81" name="CaixaDeTexto 143">
                    <a:extLst>
                      <a:ext uri="{FF2B5EF4-FFF2-40B4-BE49-F238E27FC236}">
                        <a16:creationId xmlns:a16="http://schemas.microsoft.com/office/drawing/2014/main" id="{754EDD70-DA66-1993-9D15-80ADC9A51DDF}"/>
                      </a:ext>
                    </a:extLst>
                  </p:cNvPr>
                  <p:cNvSpPr txBox="1"/>
                  <p:nvPr/>
                </p:nvSpPr>
                <p:spPr>
                  <a:xfrm>
                    <a:off x="6878378" y="1969296"/>
                    <a:ext cx="1190873" cy="415927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pt-BR" sz="2000" b="1" dirty="0">
                        <a:solidFill>
                          <a:srgbClr val="00B050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sym typeface="Symbol" panose="05050102010706020507" pitchFamily="18" charset="2"/>
                      </a:rPr>
                      <a:t>L</a:t>
                    </a:r>
                    <a:endParaRPr lang="LID4096" sz="2000" b="1" dirty="0">
                      <a:solidFill>
                        <a:srgbClr val="00B050"/>
                      </a:solidFill>
                      <a:effectLst>
                        <a:outerShdw blurRad="38100" dist="38100" dir="2700000" algn="tl">
                          <a:srgbClr val="000000">
                            <a:alpha val="43137"/>
                          </a:srgbClr>
                        </a:outerShdw>
                      </a:effectLst>
                    </a:endParaRPr>
                  </a:p>
                </p:txBody>
              </p:sp>
              <p:cxnSp>
                <p:nvCxnSpPr>
                  <p:cNvPr id="82" name="Conector de Seta Reta 144">
                    <a:extLst>
                      <a:ext uri="{FF2B5EF4-FFF2-40B4-BE49-F238E27FC236}">
                        <a16:creationId xmlns:a16="http://schemas.microsoft.com/office/drawing/2014/main" id="{AB616D83-7F68-5DBC-6AA0-53C85C67E162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6506035" y="1467890"/>
                    <a:ext cx="431352" cy="0"/>
                  </a:xfrm>
                  <a:prstGeom prst="straightConnector1">
                    <a:avLst/>
                  </a:prstGeom>
                  <a:ln>
                    <a:solidFill>
                      <a:srgbClr val="00B050"/>
                    </a:solidFill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83" name="Conector de Seta Reta 145">
                    <a:extLst>
                      <a:ext uri="{FF2B5EF4-FFF2-40B4-BE49-F238E27FC236}">
                        <a16:creationId xmlns:a16="http://schemas.microsoft.com/office/drawing/2014/main" id="{2B5C37C7-E468-2F98-5272-1946D75F464B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6508775" y="2102363"/>
                    <a:ext cx="485271" cy="0"/>
                  </a:xfrm>
                  <a:prstGeom prst="straightConnector1">
                    <a:avLst/>
                  </a:prstGeom>
                  <a:ln>
                    <a:solidFill>
                      <a:srgbClr val="00B050"/>
                    </a:solidFill>
                    <a:headEnd type="non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84" name="Conector de Seta Reta 146">
                    <a:extLst>
                      <a:ext uri="{FF2B5EF4-FFF2-40B4-BE49-F238E27FC236}">
                        <a16:creationId xmlns:a16="http://schemas.microsoft.com/office/drawing/2014/main" id="{86360858-8055-A54B-6C78-8EFFF89A153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6488298" y="1600517"/>
                    <a:ext cx="0" cy="328570"/>
                  </a:xfrm>
                  <a:prstGeom prst="straightConnector1">
                    <a:avLst/>
                  </a:prstGeom>
                  <a:ln>
                    <a:solidFill>
                      <a:srgbClr val="00B050"/>
                    </a:solidFill>
                    <a:headEnd type="triangle" w="med" len="med"/>
                    <a:tailEnd type="triangl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85" name="Conector de Seta Reta 147">
                    <a:extLst>
                      <a:ext uri="{FF2B5EF4-FFF2-40B4-BE49-F238E27FC236}">
                        <a16:creationId xmlns:a16="http://schemas.microsoft.com/office/drawing/2014/main" id="{52B96891-06B6-B9A0-A7F3-8908E79A904D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7200631" y="2364490"/>
                    <a:ext cx="576485" cy="0"/>
                  </a:xfrm>
                  <a:prstGeom prst="straightConnector1">
                    <a:avLst/>
                  </a:prstGeom>
                  <a:ln>
                    <a:solidFill>
                      <a:srgbClr val="00B050"/>
                    </a:solidFill>
                    <a:headEnd type="triangle" w="med" len="med"/>
                    <a:tailEnd type="triangl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86" name="CaixaDeTexto 150">
                    <a:extLst>
                      <a:ext uri="{FF2B5EF4-FFF2-40B4-BE49-F238E27FC236}">
                        <a16:creationId xmlns:a16="http://schemas.microsoft.com/office/drawing/2014/main" id="{20DA643F-606A-A4AD-182D-BBCF18F57606}"/>
                      </a:ext>
                    </a:extLst>
                  </p:cNvPr>
                  <p:cNvSpPr txBox="1"/>
                  <p:nvPr/>
                </p:nvSpPr>
                <p:spPr>
                  <a:xfrm>
                    <a:off x="5989338" y="1602445"/>
                    <a:ext cx="392968" cy="327214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r>
                      <a:rPr lang="pt-BR" sz="2000" b="1" dirty="0">
                        <a:solidFill>
                          <a:srgbClr val="00B050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sym typeface="Symbol" panose="05050102010706020507" pitchFamily="18" charset="2"/>
                      </a:rPr>
                      <a:t>H</a:t>
                    </a:r>
                    <a:endParaRPr lang="LID4096" sz="2000" b="1" dirty="0">
                      <a:solidFill>
                        <a:srgbClr val="00B050"/>
                      </a:solidFill>
                      <a:effectLst>
                        <a:outerShdw blurRad="38100" dist="38100" dir="2700000" algn="tl">
                          <a:srgbClr val="000000">
                            <a:alpha val="43137"/>
                          </a:srgbClr>
                        </a:outerShdw>
                      </a:effectLst>
                    </a:endParaRPr>
                  </a:p>
                </p:txBody>
              </p:sp>
              <p:sp>
                <p:nvSpPr>
                  <p:cNvPr id="87" name="CaixaDeTexto 151">
                    <a:extLst>
                      <a:ext uri="{FF2B5EF4-FFF2-40B4-BE49-F238E27FC236}">
                        <a16:creationId xmlns:a16="http://schemas.microsoft.com/office/drawing/2014/main" id="{19B62460-FC2D-484E-2296-30DD4E7EB47F}"/>
                      </a:ext>
                    </a:extLst>
                  </p:cNvPr>
                  <p:cNvSpPr txBox="1"/>
                  <p:nvPr/>
                </p:nvSpPr>
                <p:spPr>
                  <a:xfrm>
                    <a:off x="7344975" y="1047969"/>
                    <a:ext cx="1050031" cy="490820"/>
                  </a:xfrm>
                  <a:prstGeom prst="rect">
                    <a:avLst/>
                  </a:prstGeom>
                  <a:noFill/>
                  <a:effectLst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pt-BR" sz="2400" b="1" dirty="0">
                        <a:solidFill>
                          <a:srgbClr val="FF0000"/>
                        </a:solidFill>
                        <a:sym typeface="Symbol" panose="05050102010706020507" pitchFamily="18" charset="2"/>
                      </a:rPr>
                      <a:t>k</a:t>
                    </a:r>
                    <a:r>
                      <a:rPr lang="pt-BR" b="1" dirty="0">
                        <a:solidFill>
                          <a:srgbClr val="FF0000"/>
                        </a:solidFill>
                        <a:sym typeface="Symbol" panose="05050102010706020507" pitchFamily="18" charset="2"/>
                      </a:rPr>
                      <a:t> </a:t>
                    </a:r>
                    <a:r>
                      <a:rPr lang="pt-BR" sz="1200" b="1" dirty="0">
                        <a:solidFill>
                          <a:srgbClr val="FF0000"/>
                        </a:solidFill>
                        <a:sym typeface="Symbol" panose="05050102010706020507" pitchFamily="18" charset="2"/>
                      </a:rPr>
                      <a:t>(m/d)</a:t>
                    </a:r>
                    <a:endParaRPr lang="LID4096" b="1" dirty="0">
                      <a:solidFill>
                        <a:srgbClr val="FF0000"/>
                      </a:solidFill>
                    </a:endParaRPr>
                  </a:p>
                </p:txBody>
              </p:sp>
            </p:grpSp>
            <p:cxnSp>
              <p:nvCxnSpPr>
                <p:cNvPr id="75" name="Conector reto 136">
                  <a:extLst>
                    <a:ext uri="{FF2B5EF4-FFF2-40B4-BE49-F238E27FC236}">
                      <a16:creationId xmlns:a16="http://schemas.microsoft.com/office/drawing/2014/main" id="{6E124EE9-C7BE-B473-F316-E86A73A055E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883988" y="2911455"/>
                  <a:ext cx="1867361" cy="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6" name="Conector reto 137">
                  <a:extLst>
                    <a:ext uri="{FF2B5EF4-FFF2-40B4-BE49-F238E27FC236}">
                      <a16:creationId xmlns:a16="http://schemas.microsoft.com/office/drawing/2014/main" id="{558536E7-BB3F-6755-375B-C1F2947B9A3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874794" y="1851780"/>
                  <a:ext cx="0" cy="1059239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7" name="Conector reto 138">
                  <a:extLst>
                    <a:ext uri="{FF2B5EF4-FFF2-40B4-BE49-F238E27FC236}">
                      <a16:creationId xmlns:a16="http://schemas.microsoft.com/office/drawing/2014/main" id="{B5514EA8-D63F-9968-1D5E-B8CFF8366FC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2171574" y="1784174"/>
                  <a:ext cx="1309376" cy="706412"/>
                </a:xfrm>
                <a:prstGeom prst="line">
                  <a:avLst/>
                </a:prstGeom>
                <a:ln>
                  <a:solidFill>
                    <a:schemeClr val="tx1"/>
                  </a:solidFill>
                  <a:prstDash val="dash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73" name="Cilindro 140">
                <a:extLst>
                  <a:ext uri="{FF2B5EF4-FFF2-40B4-BE49-F238E27FC236}">
                    <a16:creationId xmlns:a16="http://schemas.microsoft.com/office/drawing/2014/main" id="{94C28BEF-5EDF-FA4B-3FA4-22A1F2C30563}"/>
                  </a:ext>
                </a:extLst>
              </p:cNvPr>
              <p:cNvSpPr/>
              <p:nvPr/>
            </p:nvSpPr>
            <p:spPr>
              <a:xfrm rot="17926501">
                <a:off x="2631659" y="1560865"/>
                <a:ext cx="389057" cy="200226"/>
              </a:xfrm>
              <a:prstGeom prst="can">
                <a:avLst>
                  <a:gd name="adj" fmla="val 58875"/>
                </a:avLst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 sz="1400" b="1" u="sng"/>
              </a:p>
            </p:txBody>
          </p:sp>
        </p:grpSp>
        <p:cxnSp>
          <p:nvCxnSpPr>
            <p:cNvPr id="70" name="Conector reto 138">
              <a:extLst>
                <a:ext uri="{FF2B5EF4-FFF2-40B4-BE49-F238E27FC236}">
                  <a16:creationId xmlns:a16="http://schemas.microsoft.com/office/drawing/2014/main" id="{7934B41F-C815-B9CD-EFB0-2823C14F38E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215245" y="1914309"/>
              <a:ext cx="239" cy="868680"/>
            </a:xfrm>
            <a:prstGeom prst="line">
              <a:avLst/>
            </a:prstGeom>
            <a:ln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Conector reto 138">
              <a:extLst>
                <a:ext uri="{FF2B5EF4-FFF2-40B4-BE49-F238E27FC236}">
                  <a16:creationId xmlns:a16="http://schemas.microsoft.com/office/drawing/2014/main" id="{1ACC1AA6-1D2F-4356-2F7C-5BA58616AC1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111321" y="2433796"/>
              <a:ext cx="239" cy="365760"/>
            </a:xfrm>
            <a:prstGeom prst="line">
              <a:avLst/>
            </a:prstGeom>
            <a:ln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8" name="CaixaDeTexto 141">
            <a:extLst>
              <a:ext uri="{FF2B5EF4-FFF2-40B4-BE49-F238E27FC236}">
                <a16:creationId xmlns:a16="http://schemas.microsoft.com/office/drawing/2014/main" id="{CDF764A2-5F68-9DEA-C94A-6E9208B00E7C}"/>
              </a:ext>
            </a:extLst>
          </p:cNvPr>
          <p:cNvSpPr txBox="1"/>
          <p:nvPr/>
        </p:nvSpPr>
        <p:spPr>
          <a:xfrm>
            <a:off x="4742771" y="1696351"/>
            <a:ext cx="682126" cy="338554"/>
          </a:xfrm>
          <a:prstGeom prst="rect">
            <a:avLst/>
          </a:prstGeom>
          <a:noFill/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r>
              <a:rPr lang="pt-BR" sz="16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H</a:t>
            </a:r>
            <a:r>
              <a:rPr lang="pt-BR" sz="1600" b="1" baseline="-25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2</a:t>
            </a:r>
            <a:r>
              <a:rPr lang="pt-BR" sz="16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O</a:t>
            </a:r>
            <a:endParaRPr lang="LID4096" sz="14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grpSp>
        <p:nvGrpSpPr>
          <p:cNvPr id="90" name="Group 89">
            <a:extLst>
              <a:ext uri="{FF2B5EF4-FFF2-40B4-BE49-F238E27FC236}">
                <a16:creationId xmlns:a16="http://schemas.microsoft.com/office/drawing/2014/main" id="{8EE7198C-297F-CE51-6CE0-4A22BCFB924C}"/>
              </a:ext>
            </a:extLst>
          </p:cNvPr>
          <p:cNvGrpSpPr/>
          <p:nvPr/>
        </p:nvGrpSpPr>
        <p:grpSpPr>
          <a:xfrm>
            <a:off x="2854364" y="1316717"/>
            <a:ext cx="2119290" cy="649211"/>
            <a:chOff x="2931273" y="1376538"/>
            <a:chExt cx="2119290" cy="649211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1" name="Object 4">
                  <a:extLst>
                    <a:ext uri="{63B3BB69-23CF-44E3-9099-C40C66FF867C}">
                      <a14:compatExt spid="_x0000_s1028"/>
                    </a:ext>
                    <a:ext uri="{FF2B5EF4-FFF2-40B4-BE49-F238E27FC236}">
                      <a16:creationId xmlns:a16="http://schemas.microsoft.com/office/drawing/2014/main" id="{CB80A087-B853-C16F-E7A0-DE9A6345AEF8}"/>
                    </a:ext>
                  </a:extLst>
                </p:cNvPr>
                <p:cNvSpPr txBox="1"/>
                <p:nvPr/>
              </p:nvSpPr>
              <p:spPr>
                <a:xfrm>
                  <a:off x="2931273" y="1376538"/>
                  <a:ext cx="2119290" cy="649211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txBody>
                <a:bodyPr wrap="none" anchor="ctr">
                  <a:noAutofit/>
                </a:bodyPr>
                <a:lstStyle>
                  <a:lvl1pPr marL="0" indent="0">
                    <a:defRPr sz="1100">
                      <a:latin typeface="+mn-lt"/>
                      <a:ea typeface="+mn-ea"/>
                      <a:cs typeface="+mn-cs"/>
                    </a:defRPr>
                  </a:lvl1pPr>
                  <a:lvl2pPr marL="457200" indent="0">
                    <a:defRPr sz="1100">
                      <a:latin typeface="+mn-lt"/>
                      <a:ea typeface="+mn-ea"/>
                      <a:cs typeface="+mn-cs"/>
                    </a:defRPr>
                  </a:lvl2pPr>
                  <a:lvl3pPr marL="914400" indent="0">
                    <a:defRPr sz="1100">
                      <a:latin typeface="+mn-lt"/>
                      <a:ea typeface="+mn-ea"/>
                      <a:cs typeface="+mn-cs"/>
                    </a:defRPr>
                  </a:lvl3pPr>
                  <a:lvl4pPr marL="1371600" indent="0">
                    <a:defRPr sz="1100">
                      <a:latin typeface="+mn-lt"/>
                      <a:ea typeface="+mn-ea"/>
                      <a:cs typeface="+mn-cs"/>
                    </a:defRPr>
                  </a:lvl4pPr>
                  <a:lvl5pPr marL="1828800" indent="0">
                    <a:defRPr sz="1100">
                      <a:latin typeface="+mn-lt"/>
                      <a:ea typeface="+mn-ea"/>
                      <a:cs typeface="+mn-cs"/>
                    </a:defRPr>
                  </a:lvl5pPr>
                  <a:lvl6pPr marL="2286000" indent="0">
                    <a:defRPr sz="1100">
                      <a:latin typeface="+mn-lt"/>
                      <a:ea typeface="+mn-ea"/>
                      <a:cs typeface="+mn-cs"/>
                    </a:defRPr>
                  </a:lvl6pPr>
                  <a:lvl7pPr marL="2743200" indent="0">
                    <a:defRPr sz="1100">
                      <a:latin typeface="+mn-lt"/>
                      <a:ea typeface="+mn-ea"/>
                      <a:cs typeface="+mn-cs"/>
                    </a:defRPr>
                  </a:lvl7pPr>
                  <a:lvl8pPr marL="3200400" indent="0">
                    <a:defRPr sz="1100">
                      <a:latin typeface="+mn-lt"/>
                      <a:ea typeface="+mn-ea"/>
                      <a:cs typeface="+mn-cs"/>
                    </a:defRPr>
                  </a:lvl8pPr>
                  <a:lvl9pPr marL="3657600" indent="0">
                    <a:defRPr sz="1100"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>
                    <a:defRPr/>
                  </a:pPr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f>
                          <m:fPr>
                            <m:ctrlPr>
                              <a:rPr lang="pt-BR" sz="1800" b="1" i="1" smtClean="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pt-BR" sz="1800" b="1" i="0" smtClean="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𝐐</m:t>
                            </m:r>
                          </m:num>
                          <m:den>
                            <m:sSub>
                              <m:sSubPr>
                                <m:ctrlPr>
                                  <a:rPr lang="pt-BR" sz="1800" b="1" i="1" smtClean="0">
                                    <a:solidFill>
                                      <a:schemeClr val="accent2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sz="1800" b="1" i="0" smtClean="0">
                                    <a:solidFill>
                                      <a:schemeClr val="accent2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𝐀</m:t>
                                </m:r>
                              </m:e>
                              <m:sub>
                                <m:r>
                                  <m:rPr>
                                    <m:nor/>
                                  </m:rPr>
                                  <a:rPr lang="pt-BR" sz="1800" b="1" dirty="0" smtClean="0">
                                    <a:solidFill>
                                      <a:schemeClr val="accent2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sym typeface="Symbol" panose="05050102010706020507" pitchFamily="18" charset="2"/>
                                  </a:rPr>
                                  <m:t></m:t>
                                </m:r>
                              </m:sub>
                            </m:sSub>
                          </m:den>
                        </m:f>
                        <m:r>
                          <a:rPr lang="pt-BR" sz="1800" b="1" i="0" smtClean="0">
                            <a:solidFill>
                              <a:srgbClr val="0000FF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r>
                          <a:rPr lang="pt-BR" sz="1800" b="1" i="0" smtClean="0">
                            <a:solidFill>
                              <a:srgbClr val="0000FF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𝐪</m:t>
                        </m:r>
                        <m:r>
                          <a:rPr lang="pt-BR" sz="1800" b="1" i="0" smtClean="0">
                            <a:solidFill>
                              <a:srgbClr val="FF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r>
                          <a:rPr lang="pt-BR" sz="1800" b="1" i="0" smtClean="0">
                            <a:solidFill>
                              <a:srgbClr val="FF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𝐤</m:t>
                        </m:r>
                        <m:f>
                          <m:fPr>
                            <m:ctrlPr>
                              <a:rPr lang="pt-BR" sz="1800" b="1" i="1" smtClean="0">
                                <a:solidFill>
                                  <a:srgbClr val="00B05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pt-BR" sz="1800" b="1" i="0" smtClean="0">
                                <a:solidFill>
                                  <a:srgbClr val="00B05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∆</m:t>
                            </m:r>
                            <m:r>
                              <a:rPr lang="pt-BR" sz="1800" b="1" i="0" smtClean="0">
                                <a:solidFill>
                                  <a:srgbClr val="00B05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𝐇</m:t>
                            </m:r>
                          </m:num>
                          <m:den>
                            <m:r>
                              <a:rPr lang="pt-BR" sz="1800" b="1" i="0" smtClean="0">
                                <a:solidFill>
                                  <a:srgbClr val="00B05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∆</m:t>
                            </m:r>
                            <m:r>
                              <a:rPr lang="pt-BR" sz="1800" b="1" i="0" smtClean="0">
                                <a:solidFill>
                                  <a:srgbClr val="00B05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𝐋</m:t>
                            </m:r>
                          </m:den>
                        </m:f>
                      </m:oMath>
                    </m:oMathPara>
                  </a14:m>
                  <a:endParaRPr lang="en-GB" sz="1800" b="1" dirty="0"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17" name="Object 4">
                  <a:extLst>
                    <a:ext uri="{63B3BB69-23CF-44E3-9099-C40C66FF867C}">
                      <a14:compatExt xmlns:a14="http://schemas.microsoft.com/office/drawing/2010/main" spid="_x0000_s1028"/>
                    </a:ext>
                    <a:ext uri="{FF2B5EF4-FFF2-40B4-BE49-F238E27FC236}">
                      <a16:creationId xmlns:a16="http://schemas.microsoft.com/office/drawing/2014/main" id="{0B88DAE8-A55B-3D68-2885-4CF1CA46948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931273" y="1376538"/>
                  <a:ext cx="2119290" cy="649211"/>
                </a:xfrm>
                <a:prstGeom prst="rect">
                  <a:avLst/>
                </a:prstGeom>
                <a:blipFill>
                  <a:blip r:embed="rId16"/>
                  <a:stretch>
                    <a:fillRect/>
                  </a:stretch>
                </a:blipFill>
                <a:ln w="3175">
                  <a:noFill/>
                </a:ln>
                <a:effectLst/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2" name="Object 4">
                  <a:extLst>
                    <a:ext uri="{63B3BB69-23CF-44E3-9099-C40C66FF867C}">
                      <a14:compatExt spid="_x0000_s1028"/>
                    </a:ext>
                    <a:ext uri="{FF2B5EF4-FFF2-40B4-BE49-F238E27FC236}">
                      <a16:creationId xmlns:a16="http://schemas.microsoft.com/office/drawing/2014/main" id="{D2C7FE55-A371-B339-E315-06351A0FB35B}"/>
                    </a:ext>
                  </a:extLst>
                </p:cNvPr>
                <p:cNvSpPr txBox="1"/>
                <p:nvPr/>
              </p:nvSpPr>
              <p:spPr>
                <a:xfrm>
                  <a:off x="3131379" y="1704340"/>
                  <a:ext cx="421230" cy="290051"/>
                </a:xfrm>
                <a:prstGeom prst="rect">
                  <a:avLst/>
                </a:prstGeom>
                <a:solidFill>
                  <a:schemeClr val="bg1"/>
                </a:solidFill>
                <a:ln w="3175">
                  <a:noFill/>
                </a:ln>
                <a:effectLst/>
              </p:spPr>
              <p:txBody>
                <a:bodyPr wrap="none" lIns="0" tIns="0" rIns="0" bIns="0" anchor="ctr">
                  <a:noAutofit/>
                </a:bodyPr>
                <a:lstStyle>
                  <a:lvl1pPr marL="0" indent="0">
                    <a:defRPr sz="1100">
                      <a:latin typeface="+mn-lt"/>
                      <a:ea typeface="+mn-ea"/>
                      <a:cs typeface="+mn-cs"/>
                    </a:defRPr>
                  </a:lvl1pPr>
                  <a:lvl2pPr marL="457200" indent="0">
                    <a:defRPr sz="1100">
                      <a:latin typeface="+mn-lt"/>
                      <a:ea typeface="+mn-ea"/>
                      <a:cs typeface="+mn-cs"/>
                    </a:defRPr>
                  </a:lvl2pPr>
                  <a:lvl3pPr marL="914400" indent="0">
                    <a:defRPr sz="1100">
                      <a:latin typeface="+mn-lt"/>
                      <a:ea typeface="+mn-ea"/>
                      <a:cs typeface="+mn-cs"/>
                    </a:defRPr>
                  </a:lvl3pPr>
                  <a:lvl4pPr marL="1371600" indent="0">
                    <a:defRPr sz="1100">
                      <a:latin typeface="+mn-lt"/>
                      <a:ea typeface="+mn-ea"/>
                      <a:cs typeface="+mn-cs"/>
                    </a:defRPr>
                  </a:lvl4pPr>
                  <a:lvl5pPr marL="1828800" indent="0">
                    <a:defRPr sz="1100">
                      <a:latin typeface="+mn-lt"/>
                      <a:ea typeface="+mn-ea"/>
                      <a:cs typeface="+mn-cs"/>
                    </a:defRPr>
                  </a:lvl5pPr>
                  <a:lvl6pPr marL="2286000" indent="0">
                    <a:defRPr sz="1100">
                      <a:latin typeface="+mn-lt"/>
                      <a:ea typeface="+mn-ea"/>
                      <a:cs typeface="+mn-cs"/>
                    </a:defRPr>
                  </a:lvl6pPr>
                  <a:lvl7pPr marL="2743200" indent="0">
                    <a:defRPr sz="1100">
                      <a:latin typeface="+mn-lt"/>
                      <a:ea typeface="+mn-ea"/>
                      <a:cs typeface="+mn-cs"/>
                    </a:defRPr>
                  </a:lvl7pPr>
                  <a:lvl8pPr marL="3200400" indent="0">
                    <a:defRPr sz="1100">
                      <a:latin typeface="+mn-lt"/>
                      <a:ea typeface="+mn-ea"/>
                      <a:cs typeface="+mn-cs"/>
                    </a:defRPr>
                  </a:lvl8pPr>
                  <a:lvl9pPr marL="3657600" indent="0">
                    <a:defRPr sz="1100"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>
                    <a:defRPr/>
                  </a:pPr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2000" b="1" i="1" smtClean="0">
                                <a:solidFill>
                                  <a:schemeClr val="accent2"/>
                                </a:solidFill>
                                <a:effectLst>
                                  <a:outerShdw blurRad="38100" dist="38100" dir="2700000" algn="tl">
                                    <a:srgbClr val="000000">
                                      <a:alpha val="43137"/>
                                    </a:srgbClr>
                                  </a:outerShdw>
                                </a:effectLst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2000" b="1" i="0">
                                <a:solidFill>
                                  <a:schemeClr val="accent2"/>
                                </a:solidFill>
                                <a:effectLst>
                                  <a:outerShdw blurRad="38100" dist="38100" dir="2700000" algn="tl">
                                    <a:srgbClr val="000000">
                                      <a:alpha val="43137"/>
                                    </a:srgbClr>
                                  </a:outerShdw>
                                </a:effectLst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𝐀</m:t>
                            </m:r>
                          </m:e>
                          <m:sub>
                            <m:r>
                              <m:rPr>
                                <m:nor/>
                              </m:rPr>
                              <a:rPr lang="pt-BR" sz="2000" b="1" dirty="0">
                                <a:solidFill>
                                  <a:schemeClr val="accent2"/>
                                </a:solidFill>
                                <a:effectLst>
                                  <a:outerShdw blurRad="38100" dist="38100" dir="2700000" algn="tl">
                                    <a:srgbClr val="000000">
                                      <a:alpha val="43137"/>
                                    </a:srgbClr>
                                  </a:outerShdw>
                                </a:effectLst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sym typeface="Symbol" panose="05050102010706020507" pitchFamily="18" charset="2"/>
                              </a:rPr>
                              <m:t></m:t>
                            </m:r>
                          </m:sub>
                        </m:sSub>
                      </m:oMath>
                    </m:oMathPara>
                  </a14:m>
                  <a:endParaRPr lang="en-GB" sz="2000" b="1" dirty="0"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18" name="Object 4">
                  <a:extLst>
                    <a:ext uri="{63B3BB69-23CF-44E3-9099-C40C66FF867C}">
                      <a14:compatExt xmlns:a14="http://schemas.microsoft.com/office/drawing/2010/main" spid="_x0000_s1028"/>
                    </a:ext>
                    <a:ext uri="{FF2B5EF4-FFF2-40B4-BE49-F238E27FC236}">
                      <a16:creationId xmlns:a16="http://schemas.microsoft.com/office/drawing/2014/main" id="{1D87B5CF-5F01-F491-23C7-1EF3AEB200D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31379" y="1704340"/>
                  <a:ext cx="421230" cy="290051"/>
                </a:xfrm>
                <a:prstGeom prst="rect">
                  <a:avLst/>
                </a:prstGeom>
                <a:blipFill>
                  <a:blip r:embed="rId17"/>
                  <a:stretch>
                    <a:fillRect l="-26087" r="-18841" b="-48936"/>
                  </a:stretch>
                </a:blipFill>
                <a:ln w="3175">
                  <a:noFill/>
                </a:ln>
                <a:effectLst/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3" name="Object 4">
                  <a:extLst>
                    <a:ext uri="{63B3BB69-23CF-44E3-9099-C40C66FF867C}">
                      <a14:compatExt spid="_x0000_s1028"/>
                    </a:ext>
                    <a:ext uri="{FF2B5EF4-FFF2-40B4-BE49-F238E27FC236}">
                      <a16:creationId xmlns:a16="http://schemas.microsoft.com/office/drawing/2014/main" id="{B0FD8CC1-940E-1539-B380-AB874A3A5FAF}"/>
                    </a:ext>
                  </a:extLst>
                </p:cNvPr>
                <p:cNvSpPr txBox="1"/>
                <p:nvPr/>
              </p:nvSpPr>
              <p:spPr>
                <a:xfrm>
                  <a:off x="3770892" y="1523452"/>
                  <a:ext cx="274320" cy="375997"/>
                </a:xfrm>
                <a:prstGeom prst="rect">
                  <a:avLst/>
                </a:prstGeom>
                <a:solidFill>
                  <a:schemeClr val="bg1"/>
                </a:solidFill>
                <a:ln w="3175">
                  <a:noFill/>
                </a:ln>
                <a:effectLst/>
              </p:spPr>
              <p:txBody>
                <a:bodyPr wrap="none" lIns="0" tIns="0" rIns="0" bIns="0" anchor="ctr">
                  <a:noAutofit/>
                </a:bodyPr>
                <a:lstStyle>
                  <a:lvl1pPr marL="0" indent="0">
                    <a:defRPr sz="1100">
                      <a:latin typeface="+mn-lt"/>
                      <a:ea typeface="+mn-ea"/>
                      <a:cs typeface="+mn-cs"/>
                    </a:defRPr>
                  </a:lvl1pPr>
                  <a:lvl2pPr marL="457200" indent="0">
                    <a:defRPr sz="1100">
                      <a:latin typeface="+mn-lt"/>
                      <a:ea typeface="+mn-ea"/>
                      <a:cs typeface="+mn-cs"/>
                    </a:defRPr>
                  </a:lvl2pPr>
                  <a:lvl3pPr marL="914400" indent="0">
                    <a:defRPr sz="1100">
                      <a:latin typeface="+mn-lt"/>
                      <a:ea typeface="+mn-ea"/>
                      <a:cs typeface="+mn-cs"/>
                    </a:defRPr>
                  </a:lvl3pPr>
                  <a:lvl4pPr marL="1371600" indent="0">
                    <a:defRPr sz="1100">
                      <a:latin typeface="+mn-lt"/>
                      <a:ea typeface="+mn-ea"/>
                      <a:cs typeface="+mn-cs"/>
                    </a:defRPr>
                  </a:lvl4pPr>
                  <a:lvl5pPr marL="1828800" indent="0">
                    <a:defRPr sz="1100">
                      <a:latin typeface="+mn-lt"/>
                      <a:ea typeface="+mn-ea"/>
                      <a:cs typeface="+mn-cs"/>
                    </a:defRPr>
                  </a:lvl5pPr>
                  <a:lvl6pPr marL="2286000" indent="0">
                    <a:defRPr sz="1100">
                      <a:latin typeface="+mn-lt"/>
                      <a:ea typeface="+mn-ea"/>
                      <a:cs typeface="+mn-cs"/>
                    </a:defRPr>
                  </a:lvl6pPr>
                  <a:lvl7pPr marL="2743200" indent="0">
                    <a:defRPr sz="1100">
                      <a:latin typeface="+mn-lt"/>
                      <a:ea typeface="+mn-ea"/>
                      <a:cs typeface="+mn-cs"/>
                    </a:defRPr>
                  </a:lvl7pPr>
                  <a:lvl8pPr marL="3200400" indent="0">
                    <a:defRPr sz="1100">
                      <a:latin typeface="+mn-lt"/>
                      <a:ea typeface="+mn-ea"/>
                      <a:cs typeface="+mn-cs"/>
                    </a:defRPr>
                  </a:lvl8pPr>
                  <a:lvl9pPr marL="3657600" indent="0">
                    <a:defRPr sz="1100"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>
                    <a:defRPr/>
                  </a:pPr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2200" b="1" i="0" smtClean="0">
                            <a:solidFill>
                              <a:srgbClr val="0000FF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𝐪</m:t>
                        </m:r>
                      </m:oMath>
                    </m:oMathPara>
                  </a14:m>
                  <a:endParaRPr lang="en-GB" sz="2200" b="1" dirty="0">
                    <a:solidFill>
                      <a:srgbClr val="0000FF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21" name="Object 4">
                  <a:extLst>
                    <a:ext uri="{63B3BB69-23CF-44E3-9099-C40C66FF867C}">
                      <a14:compatExt xmlns:a14="http://schemas.microsoft.com/office/drawing/2010/main" spid="_x0000_s1028"/>
                    </a:ext>
                    <a:ext uri="{FF2B5EF4-FFF2-40B4-BE49-F238E27FC236}">
                      <a16:creationId xmlns:a16="http://schemas.microsoft.com/office/drawing/2014/main" id="{8C2C0F1A-F9F4-EB81-9734-7C4CB72877E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70892" y="1523452"/>
                  <a:ext cx="274320" cy="375997"/>
                </a:xfrm>
                <a:prstGeom prst="rect">
                  <a:avLst/>
                </a:prstGeom>
                <a:blipFill>
                  <a:blip r:embed="rId18"/>
                  <a:stretch>
                    <a:fillRect l="-31111" r="-6667" b="-20968"/>
                  </a:stretch>
                </a:blipFill>
                <a:ln w="3175">
                  <a:noFill/>
                </a:ln>
                <a:effectLst/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94" name="Object 4">
            <a:extLst>
              <a:ext uri="{63B3BB69-23CF-44E3-9099-C40C66FF867C}">
                <a14:compatExt xmlns:a14="http://schemas.microsoft.com/office/drawing/2010/main" spid="_x0000_s1028"/>
              </a:ext>
              <a:ext uri="{FF2B5EF4-FFF2-40B4-BE49-F238E27FC236}">
                <a16:creationId xmlns:a16="http://schemas.microsoft.com/office/drawing/2014/main" id="{9B38E7BE-C41D-09BF-CD92-AE1AF4CBF417}"/>
              </a:ext>
            </a:extLst>
          </p:cNvPr>
          <p:cNvSpPr txBox="1"/>
          <p:nvPr/>
        </p:nvSpPr>
        <p:spPr>
          <a:xfrm>
            <a:off x="2813373" y="2102180"/>
            <a:ext cx="2259685" cy="433218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3175">
            <a:noFill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txBody>
          <a:bodyPr wrap="none" lIns="182880" tIns="45720" rIns="91440" bIns="0" anchor="ctr" anchorCtr="0">
            <a:noAutofit/>
          </a:bodyPr>
          <a:lstStyle>
            <a:lvl1pPr marL="0" indent="0">
              <a:defRPr sz="1100"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latin typeface="+mn-lt"/>
                <a:ea typeface="+mn-ea"/>
                <a:cs typeface="+mn-cs"/>
              </a:defRPr>
            </a:lvl9pPr>
          </a:lstStyle>
          <a:p>
            <a:pPr lvl="0" algn="ctr">
              <a:defRPr/>
            </a:pPr>
            <a:endParaRPr lang="en-GB" sz="1800" b="1" dirty="0">
              <a:solidFill>
                <a:prstClr val="black"/>
              </a:solidFill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p:grpSp>
        <p:nvGrpSpPr>
          <p:cNvPr id="95" name="Group 94">
            <a:extLst>
              <a:ext uri="{FF2B5EF4-FFF2-40B4-BE49-F238E27FC236}">
                <a16:creationId xmlns:a16="http://schemas.microsoft.com/office/drawing/2014/main" id="{40100653-E2BC-64D7-1C8C-86D5D743221D}"/>
              </a:ext>
            </a:extLst>
          </p:cNvPr>
          <p:cNvGrpSpPr/>
          <p:nvPr/>
        </p:nvGrpSpPr>
        <p:grpSpPr>
          <a:xfrm>
            <a:off x="2942447" y="2078608"/>
            <a:ext cx="1992664" cy="490068"/>
            <a:chOff x="3124483" y="2239011"/>
            <a:chExt cx="1992664" cy="529462"/>
          </a:xfrm>
          <a:solidFill>
            <a:schemeClr val="accent2">
              <a:lumMod val="20000"/>
              <a:lumOff val="80000"/>
            </a:schemeClr>
          </a:solidFill>
          <a:effectLst/>
        </p:grpSpPr>
        <p:sp>
          <p:nvSpPr>
            <p:cNvPr id="96" name="Object 4">
              <a:extLst>
                <a:ext uri="{63B3BB69-23CF-44E3-9099-C40C66FF867C}">
                  <a14:compatExt xmlns:a14="http://schemas.microsoft.com/office/drawing/2010/main" spid="_x0000_s1028"/>
                </a:ext>
                <a:ext uri="{FF2B5EF4-FFF2-40B4-BE49-F238E27FC236}">
                  <a16:creationId xmlns:a16="http://schemas.microsoft.com/office/drawing/2014/main" id="{BB058801-DB9A-A3D2-2FF1-7628CC726295}"/>
                </a:ext>
              </a:extLst>
            </p:cNvPr>
            <p:cNvSpPr txBox="1"/>
            <p:nvPr/>
          </p:nvSpPr>
          <p:spPr>
            <a:xfrm>
              <a:off x="3434964" y="2280664"/>
              <a:ext cx="675042" cy="487809"/>
            </a:xfrm>
            <a:prstGeom prst="rect">
              <a:avLst/>
            </a:prstGeom>
            <a:noFill/>
            <a:ln w="3175">
              <a:noFill/>
            </a:ln>
            <a:effectLst/>
          </p:spPr>
          <p:txBody>
            <a:bodyPr wrap="none" anchor="ctr">
              <a:noAutofit/>
            </a:bodyPr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>
                <a:defRPr/>
              </a:pPr>
              <a:r>
                <a:rPr lang="pt-BR" sz="2400" b="1" dirty="0">
                  <a:ea typeface="Cambria Math" panose="02040503050406030204" pitchFamily="18" charset="0"/>
                </a:rPr>
                <a:t>=</a:t>
              </a:r>
              <a:r>
                <a:rPr lang="pt-BR" sz="2400" b="1" dirty="0">
                  <a:solidFill>
                    <a:srgbClr val="00B050"/>
                  </a:solidFill>
                  <a:ea typeface="Cambria Math" panose="02040503050406030204" pitchFamily="18" charset="0"/>
                </a:rPr>
                <a:t>  </a:t>
              </a:r>
              <a:r>
                <a:rPr lang="pt-BR" sz="2400" b="1" dirty="0">
                  <a:solidFill>
                    <a:srgbClr val="FF0000"/>
                  </a:solidFill>
                  <a:ea typeface="Cambria Math" panose="02040503050406030204" pitchFamily="18" charset="0"/>
                </a:rPr>
                <a:t>-</a:t>
              </a:r>
              <a:endParaRPr lang="en-GB" sz="2400" b="1" dirty="0">
                <a:solidFill>
                  <a:srgbClr val="FF0000"/>
                </a:solidFill>
                <a:effectLst/>
                <a:latin typeface="Cambria Math" panose="02040503050406030204" pitchFamily="18" charset="0"/>
                <a:ea typeface="Cambria Math" panose="02040503050406030204" pitchFamily="18" charset="0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7" name="Object 4">
                  <a:extLst>
                    <a:ext uri="{63B3BB69-23CF-44E3-9099-C40C66FF867C}">
                      <a14:compatExt spid="_x0000_s1028"/>
                    </a:ext>
                    <a:ext uri="{FF2B5EF4-FFF2-40B4-BE49-F238E27FC236}">
                      <a16:creationId xmlns:a16="http://schemas.microsoft.com/office/drawing/2014/main" id="{B0CE60EA-0CF4-03DA-9309-3C03205F4D5B}"/>
                    </a:ext>
                  </a:extLst>
                </p:cNvPr>
                <p:cNvSpPr txBox="1"/>
                <p:nvPr/>
              </p:nvSpPr>
              <p:spPr>
                <a:xfrm>
                  <a:off x="3612481" y="2257738"/>
                  <a:ext cx="1504666" cy="487809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txBody>
                <a:bodyPr wrap="none" anchor="ctr">
                  <a:noAutofit/>
                </a:bodyPr>
                <a:lstStyle>
                  <a:lvl1pPr marL="0" indent="0">
                    <a:defRPr sz="1100">
                      <a:latin typeface="+mn-lt"/>
                      <a:ea typeface="+mn-ea"/>
                      <a:cs typeface="+mn-cs"/>
                    </a:defRPr>
                  </a:lvl1pPr>
                  <a:lvl2pPr marL="457200" indent="0">
                    <a:defRPr sz="1100">
                      <a:latin typeface="+mn-lt"/>
                      <a:ea typeface="+mn-ea"/>
                      <a:cs typeface="+mn-cs"/>
                    </a:defRPr>
                  </a:lvl2pPr>
                  <a:lvl3pPr marL="914400" indent="0">
                    <a:defRPr sz="1100">
                      <a:latin typeface="+mn-lt"/>
                      <a:ea typeface="+mn-ea"/>
                      <a:cs typeface="+mn-cs"/>
                    </a:defRPr>
                  </a:lvl3pPr>
                  <a:lvl4pPr marL="1371600" indent="0">
                    <a:defRPr sz="1100">
                      <a:latin typeface="+mn-lt"/>
                      <a:ea typeface="+mn-ea"/>
                      <a:cs typeface="+mn-cs"/>
                    </a:defRPr>
                  </a:lvl4pPr>
                  <a:lvl5pPr marL="1828800" indent="0">
                    <a:defRPr sz="1100">
                      <a:latin typeface="+mn-lt"/>
                      <a:ea typeface="+mn-ea"/>
                      <a:cs typeface="+mn-cs"/>
                    </a:defRPr>
                  </a:lvl5pPr>
                  <a:lvl6pPr marL="2286000" indent="0">
                    <a:defRPr sz="1100">
                      <a:latin typeface="+mn-lt"/>
                      <a:ea typeface="+mn-ea"/>
                      <a:cs typeface="+mn-cs"/>
                    </a:defRPr>
                  </a:lvl6pPr>
                  <a:lvl7pPr marL="2743200" indent="0">
                    <a:defRPr sz="1100">
                      <a:latin typeface="+mn-lt"/>
                      <a:ea typeface="+mn-ea"/>
                      <a:cs typeface="+mn-cs"/>
                    </a:defRPr>
                  </a:lvl7pPr>
                  <a:lvl8pPr marL="3200400" indent="0">
                    <a:defRPr sz="1100">
                      <a:latin typeface="+mn-lt"/>
                      <a:ea typeface="+mn-ea"/>
                      <a:cs typeface="+mn-cs"/>
                    </a:defRPr>
                  </a:lvl8pPr>
                  <a:lvl9pPr marL="3657600" indent="0">
                    <a:defRPr sz="1100"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>
                    <a:defRPr/>
                  </a:pPr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r>
                          <a:rPr lang="pt-BR" sz="1800" b="1" i="0" smtClean="0">
                            <a:solidFill>
                              <a:srgbClr val="00B05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            ∆</m:t>
                        </m:r>
                        <m:r>
                          <a:rPr lang="pt-BR" sz="1800" b="1" i="0" smtClean="0">
                            <a:solidFill>
                              <a:srgbClr val="00B05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𝐓</m:t>
                        </m:r>
                        <m:r>
                          <a:rPr lang="pt-BR" sz="1800" b="1" i="0" smtClean="0">
                            <a:solidFill>
                              <a:srgbClr val="00B05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)/</m:t>
                        </m:r>
                        <m:r>
                          <a:rPr lang="pt-BR" sz="1800" b="1" i="0" smtClean="0">
                            <a:solidFill>
                              <a:srgbClr val="00B05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𝐋</m:t>
                        </m:r>
                      </m:oMath>
                    </m:oMathPara>
                  </a14:m>
                  <a:endParaRPr lang="en-GB" sz="1800" b="1" dirty="0"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30" name="Object 4">
                  <a:extLst>
                    <a:ext uri="{63B3BB69-23CF-44E3-9099-C40C66FF867C}">
                      <a14:compatExt xmlns:a14="http://schemas.microsoft.com/office/drawing/2010/main" spid="_x0000_s1028"/>
                    </a:ext>
                    <a:ext uri="{FF2B5EF4-FFF2-40B4-BE49-F238E27FC236}">
                      <a16:creationId xmlns:a16="http://schemas.microsoft.com/office/drawing/2014/main" id="{2F2464A1-3A0E-A58D-F9ED-90527F9DE3D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12481" y="2257738"/>
                  <a:ext cx="1504666" cy="487809"/>
                </a:xfrm>
                <a:prstGeom prst="rect">
                  <a:avLst/>
                </a:prstGeom>
                <a:blipFill>
                  <a:blip r:embed="rId19"/>
                  <a:stretch>
                    <a:fillRect l="-1215" b="-2703"/>
                  </a:stretch>
                </a:blipFill>
                <a:ln w="3175">
                  <a:noFill/>
                </a:ln>
                <a:effectLst/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8" name="Object 4">
                  <a:extLst>
                    <a:ext uri="{63B3BB69-23CF-44E3-9099-C40C66FF867C}">
                      <a14:compatExt spid="_x0000_s1028"/>
                    </a:ext>
                    <a:ext uri="{FF2B5EF4-FFF2-40B4-BE49-F238E27FC236}">
                      <a16:creationId xmlns:a16="http://schemas.microsoft.com/office/drawing/2014/main" id="{3BD05542-3D57-F04F-A78A-5EAE93177F4A}"/>
                    </a:ext>
                  </a:extLst>
                </p:cNvPr>
                <p:cNvSpPr txBox="1"/>
                <p:nvPr/>
              </p:nvSpPr>
              <p:spPr>
                <a:xfrm>
                  <a:off x="3124483" y="2239011"/>
                  <a:ext cx="1122226" cy="487809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txBody>
                <a:bodyPr wrap="none" anchor="ctr">
                  <a:noAutofit/>
                </a:bodyPr>
                <a:lstStyle>
                  <a:lvl1pPr marL="0" indent="0">
                    <a:defRPr sz="1100">
                      <a:latin typeface="+mn-lt"/>
                      <a:ea typeface="+mn-ea"/>
                      <a:cs typeface="+mn-cs"/>
                    </a:defRPr>
                  </a:lvl1pPr>
                  <a:lvl2pPr marL="457200" indent="0">
                    <a:defRPr sz="1100">
                      <a:latin typeface="+mn-lt"/>
                      <a:ea typeface="+mn-ea"/>
                      <a:cs typeface="+mn-cs"/>
                    </a:defRPr>
                  </a:lvl2pPr>
                  <a:lvl3pPr marL="914400" indent="0">
                    <a:defRPr sz="1100">
                      <a:latin typeface="+mn-lt"/>
                      <a:ea typeface="+mn-ea"/>
                      <a:cs typeface="+mn-cs"/>
                    </a:defRPr>
                  </a:lvl3pPr>
                  <a:lvl4pPr marL="1371600" indent="0">
                    <a:defRPr sz="1100">
                      <a:latin typeface="+mn-lt"/>
                      <a:ea typeface="+mn-ea"/>
                      <a:cs typeface="+mn-cs"/>
                    </a:defRPr>
                  </a:lvl4pPr>
                  <a:lvl5pPr marL="1828800" indent="0">
                    <a:defRPr sz="1100">
                      <a:latin typeface="+mn-lt"/>
                      <a:ea typeface="+mn-ea"/>
                      <a:cs typeface="+mn-cs"/>
                    </a:defRPr>
                  </a:lvl5pPr>
                  <a:lvl6pPr marL="2286000" indent="0">
                    <a:defRPr sz="1100">
                      <a:latin typeface="+mn-lt"/>
                      <a:ea typeface="+mn-ea"/>
                      <a:cs typeface="+mn-cs"/>
                    </a:defRPr>
                  </a:lvl6pPr>
                  <a:lvl7pPr marL="2743200" indent="0">
                    <a:defRPr sz="1100">
                      <a:latin typeface="+mn-lt"/>
                      <a:ea typeface="+mn-ea"/>
                      <a:cs typeface="+mn-cs"/>
                    </a:defRPr>
                  </a:lvl7pPr>
                  <a:lvl8pPr marL="3200400" indent="0">
                    <a:defRPr sz="1100">
                      <a:latin typeface="+mn-lt"/>
                      <a:ea typeface="+mn-ea"/>
                      <a:cs typeface="+mn-cs"/>
                    </a:defRPr>
                  </a:lvl8pPr>
                  <a:lvl9pPr marL="3657600" indent="0">
                    <a:defRPr sz="1100"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>
                    <a:defRPr/>
                  </a:pPr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acc>
                          <m:accPr>
                            <m:chr m:val="̇"/>
                            <m:ctrlPr>
                              <a:rPr lang="pt-BR" sz="2400" b="1" i="1" smtClean="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2400" b="1" i="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𝐐</m:t>
                            </m:r>
                          </m:e>
                        </m:acc>
                        <m:r>
                          <a:rPr lang="pt-BR" sz="2400" b="1" i="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       </m:t>
                        </m:r>
                        <m:r>
                          <a:rPr lang="pt-BR" sz="2400" b="1" i="0" smtClean="0">
                            <a:solidFill>
                              <a:srgbClr val="FF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𝐤</m:t>
                        </m:r>
                        <m:r>
                          <a:rPr lang="pt-BR" sz="2400" b="1" i="0" smtClean="0">
                            <a:solidFill>
                              <a:schemeClr val="accent2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𝐀</m:t>
                        </m:r>
                      </m:oMath>
                    </m:oMathPara>
                  </a14:m>
                  <a:endParaRPr lang="en-GB" sz="2400" b="1" dirty="0"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31" name="Object 4">
                  <a:extLst>
                    <a:ext uri="{63B3BB69-23CF-44E3-9099-C40C66FF867C}">
                      <a14:compatExt xmlns:a14="http://schemas.microsoft.com/office/drawing/2010/main" spid="_x0000_s1028"/>
                    </a:ext>
                    <a:ext uri="{FF2B5EF4-FFF2-40B4-BE49-F238E27FC236}">
                      <a16:creationId xmlns:a16="http://schemas.microsoft.com/office/drawing/2014/main" id="{DB95894E-294F-BCF5-27C1-29A520AB4D8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24483" y="2239011"/>
                  <a:ext cx="1122226" cy="487809"/>
                </a:xfrm>
                <a:prstGeom prst="rect">
                  <a:avLst/>
                </a:prstGeom>
                <a:blipFill>
                  <a:blip r:embed="rId20"/>
                  <a:stretch>
                    <a:fillRect r="-9783"/>
                  </a:stretch>
                </a:blipFill>
                <a:ln w="3175">
                  <a:noFill/>
                </a:ln>
                <a:effectLst/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99" name="Rectangle 98">
            <a:extLst>
              <a:ext uri="{FF2B5EF4-FFF2-40B4-BE49-F238E27FC236}">
                <a16:creationId xmlns:a16="http://schemas.microsoft.com/office/drawing/2014/main" id="{44975F62-CA97-C008-1E0F-EB7671ECCD23}"/>
              </a:ext>
            </a:extLst>
          </p:cNvPr>
          <p:cNvSpPr/>
          <p:nvPr/>
        </p:nvSpPr>
        <p:spPr>
          <a:xfrm>
            <a:off x="4017356" y="3366241"/>
            <a:ext cx="1281286" cy="879959"/>
          </a:xfrm>
          <a:prstGeom prst="rect">
            <a:avLst/>
          </a:prstGeom>
          <a:solidFill>
            <a:schemeClr val="bg1">
              <a:alpha val="89804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300"/>
              </a:spcAft>
            </a:pPr>
            <a:endParaRPr lang="LID4096" dirty="0"/>
          </a:p>
        </p:txBody>
      </p:sp>
      <p:grpSp>
        <p:nvGrpSpPr>
          <p:cNvPr id="100" name="Group 99">
            <a:extLst>
              <a:ext uri="{FF2B5EF4-FFF2-40B4-BE49-F238E27FC236}">
                <a16:creationId xmlns:a16="http://schemas.microsoft.com/office/drawing/2014/main" id="{1BBF24E9-96E5-C50D-0576-49358198EC65}"/>
              </a:ext>
            </a:extLst>
          </p:cNvPr>
          <p:cNvGrpSpPr/>
          <p:nvPr/>
        </p:nvGrpSpPr>
        <p:grpSpPr>
          <a:xfrm>
            <a:off x="2516985" y="3182781"/>
            <a:ext cx="1826016" cy="802240"/>
            <a:chOff x="2439338" y="3000792"/>
            <a:chExt cx="1826016" cy="802240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1" name="Object 4">
                  <a:extLst>
                    <a:ext uri="{63B3BB69-23CF-44E3-9099-C40C66FF867C}">
                      <a14:compatExt spid="_x0000_s1028"/>
                    </a:ext>
                    <a:ext uri="{FF2B5EF4-FFF2-40B4-BE49-F238E27FC236}">
                      <a16:creationId xmlns:a16="http://schemas.microsoft.com/office/drawing/2014/main" id="{8FFCF345-DB94-FF7B-7FFE-A535C9305DAF}"/>
                    </a:ext>
                  </a:extLst>
                </p:cNvPr>
                <p:cNvSpPr txBox="1"/>
                <p:nvPr/>
              </p:nvSpPr>
              <p:spPr>
                <a:xfrm>
                  <a:off x="2439338" y="3096136"/>
                  <a:ext cx="785274" cy="706896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txBody>
                <a:bodyPr wrap="none" lIns="0" tIns="0" rIns="0" bIns="0" anchor="ctr" anchorCtr="0">
                  <a:noAutofit/>
                </a:bodyPr>
                <a:lstStyle>
                  <a:lvl1pPr marL="0" indent="0">
                    <a:defRPr sz="1100">
                      <a:latin typeface="+mn-lt"/>
                      <a:ea typeface="+mn-ea"/>
                      <a:cs typeface="+mn-cs"/>
                    </a:defRPr>
                  </a:lvl1pPr>
                  <a:lvl2pPr marL="457200" indent="0">
                    <a:defRPr sz="1100">
                      <a:latin typeface="+mn-lt"/>
                      <a:ea typeface="+mn-ea"/>
                      <a:cs typeface="+mn-cs"/>
                    </a:defRPr>
                  </a:lvl2pPr>
                  <a:lvl3pPr marL="914400" indent="0">
                    <a:defRPr sz="1100">
                      <a:latin typeface="+mn-lt"/>
                      <a:ea typeface="+mn-ea"/>
                      <a:cs typeface="+mn-cs"/>
                    </a:defRPr>
                  </a:lvl3pPr>
                  <a:lvl4pPr marL="1371600" indent="0">
                    <a:defRPr sz="1100">
                      <a:latin typeface="+mn-lt"/>
                      <a:ea typeface="+mn-ea"/>
                      <a:cs typeface="+mn-cs"/>
                    </a:defRPr>
                  </a:lvl4pPr>
                  <a:lvl5pPr marL="1828800" indent="0">
                    <a:defRPr sz="1100">
                      <a:latin typeface="+mn-lt"/>
                      <a:ea typeface="+mn-ea"/>
                      <a:cs typeface="+mn-cs"/>
                    </a:defRPr>
                  </a:lvl5pPr>
                  <a:lvl6pPr marL="2286000" indent="0">
                    <a:defRPr sz="1100">
                      <a:latin typeface="+mn-lt"/>
                      <a:ea typeface="+mn-ea"/>
                      <a:cs typeface="+mn-cs"/>
                    </a:defRPr>
                  </a:lvl6pPr>
                  <a:lvl7pPr marL="2743200" indent="0">
                    <a:defRPr sz="1100">
                      <a:latin typeface="+mn-lt"/>
                      <a:ea typeface="+mn-ea"/>
                      <a:cs typeface="+mn-cs"/>
                    </a:defRPr>
                  </a:lvl7pPr>
                  <a:lvl8pPr marL="3200400" indent="0">
                    <a:defRPr sz="1100">
                      <a:latin typeface="+mn-lt"/>
                      <a:ea typeface="+mn-ea"/>
                      <a:cs typeface="+mn-cs"/>
                    </a:defRPr>
                  </a:lvl8pPr>
                  <a:lvl9pPr marL="3657600" indent="0">
                    <a:defRPr sz="1100"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>
                    <a:defRPr/>
                  </a:pPr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f>
                          <m:fPr>
                            <m:ctrlPr>
                              <a:rPr lang="el-GR" sz="2800" b="1" i="1" smtClean="0">
                                <a:solidFill>
                                  <a:srgbClr val="0000FF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pt-BR" sz="2800" b="1" i="1" smtClean="0">
                                    <a:solidFill>
                                      <a:srgbClr val="0000FF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sz="2800" b="1" i="0" smtClean="0">
                                    <a:solidFill>
                                      <a:srgbClr val="0000FF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𝛛</m:t>
                                </m:r>
                                <m:r>
                                  <a:rPr lang="pt-BR" sz="2800" b="1" i="0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𝐪</m:t>
                                </m:r>
                              </m:e>
                              <m:sub>
                                <m:r>
                                  <a:rPr lang="pt-BR" sz="2800" b="1" i="0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𝐱</m:t>
                                </m:r>
                              </m:sub>
                            </m:sSub>
                          </m:num>
                          <m:den>
                            <m:r>
                              <a:rPr lang="pt-BR" sz="2800" b="1" i="0" smtClean="0">
                                <a:solidFill>
                                  <a:srgbClr val="0000FF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𝛛</m:t>
                            </m:r>
                            <m:r>
                              <a:rPr lang="pt-BR" sz="2800" b="1" i="0" smtClean="0">
                                <a:solidFill>
                                  <a:srgbClr val="0000FF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𝐱</m:t>
                            </m:r>
                          </m:den>
                        </m:f>
                      </m:oMath>
                    </m:oMathPara>
                  </a14:m>
                  <a:endParaRPr lang="pt-BR" sz="2800" dirty="0">
                    <a:solidFill>
                      <a:srgbClr val="0000FF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101" name="Object 4">
                  <a:extLst>
                    <a:ext uri="{63B3BB69-23CF-44E3-9099-C40C66FF867C}">
                      <a14:compatExt xmlns:a14="http://schemas.microsoft.com/office/drawing/2010/main" spid="_x0000_s1028"/>
                    </a:ext>
                    <a:ext uri="{FF2B5EF4-FFF2-40B4-BE49-F238E27FC236}">
                      <a16:creationId xmlns:a16="http://schemas.microsoft.com/office/drawing/2014/main" id="{8FFCF345-DB94-FF7B-7FFE-A535C9305DA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39338" y="3096136"/>
                  <a:ext cx="785274" cy="706896"/>
                </a:xfrm>
                <a:prstGeom prst="rect">
                  <a:avLst/>
                </a:prstGeom>
                <a:blipFill>
                  <a:blip r:embed="rId21"/>
                  <a:stretch>
                    <a:fillRect l="-775" b="-7759"/>
                  </a:stretch>
                </a:blipFill>
                <a:ln w="3175">
                  <a:noFill/>
                </a:ln>
                <a:effectLst/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2" name="Object 4">
                  <a:extLst>
                    <a:ext uri="{63B3BB69-23CF-44E3-9099-C40C66FF867C}">
                      <a14:compatExt spid="_x0000_s1028"/>
                    </a:ext>
                    <a:ext uri="{FF2B5EF4-FFF2-40B4-BE49-F238E27FC236}">
                      <a16:creationId xmlns:a16="http://schemas.microsoft.com/office/drawing/2014/main" id="{51864E1F-34D4-A099-2217-848BB8B27774}"/>
                    </a:ext>
                  </a:extLst>
                </p:cNvPr>
                <p:cNvSpPr txBox="1"/>
                <p:nvPr/>
              </p:nvSpPr>
              <p:spPr>
                <a:xfrm>
                  <a:off x="2976273" y="3000792"/>
                  <a:ext cx="1289081" cy="582171"/>
                </a:xfrm>
                <a:prstGeom prst="rect">
                  <a:avLst/>
                </a:prstGeom>
                <a:noFill/>
                <a:ln w="3175">
                  <a:noFill/>
                </a:ln>
                <a:effectLst/>
              </p:spPr>
              <p:txBody>
                <a:bodyPr wrap="none" lIns="0" tIns="0" rIns="0" bIns="0" anchor="ctr" anchorCtr="0">
                  <a:noAutofit/>
                </a:bodyPr>
                <a:lstStyle>
                  <a:lvl1pPr marL="0" indent="0">
                    <a:defRPr sz="1100">
                      <a:latin typeface="+mn-lt"/>
                      <a:ea typeface="+mn-ea"/>
                      <a:cs typeface="+mn-cs"/>
                    </a:defRPr>
                  </a:lvl1pPr>
                  <a:lvl2pPr marL="457200" indent="0">
                    <a:defRPr sz="1100">
                      <a:latin typeface="+mn-lt"/>
                      <a:ea typeface="+mn-ea"/>
                      <a:cs typeface="+mn-cs"/>
                    </a:defRPr>
                  </a:lvl2pPr>
                  <a:lvl3pPr marL="914400" indent="0">
                    <a:defRPr sz="1100">
                      <a:latin typeface="+mn-lt"/>
                      <a:ea typeface="+mn-ea"/>
                      <a:cs typeface="+mn-cs"/>
                    </a:defRPr>
                  </a:lvl3pPr>
                  <a:lvl4pPr marL="1371600" indent="0">
                    <a:defRPr sz="1100">
                      <a:latin typeface="+mn-lt"/>
                      <a:ea typeface="+mn-ea"/>
                      <a:cs typeface="+mn-cs"/>
                    </a:defRPr>
                  </a:lvl4pPr>
                  <a:lvl5pPr marL="1828800" indent="0">
                    <a:defRPr sz="1100">
                      <a:latin typeface="+mn-lt"/>
                      <a:ea typeface="+mn-ea"/>
                      <a:cs typeface="+mn-cs"/>
                    </a:defRPr>
                  </a:lvl5pPr>
                  <a:lvl6pPr marL="2286000" indent="0">
                    <a:defRPr sz="1100">
                      <a:latin typeface="+mn-lt"/>
                      <a:ea typeface="+mn-ea"/>
                      <a:cs typeface="+mn-cs"/>
                    </a:defRPr>
                  </a:lvl6pPr>
                  <a:lvl7pPr marL="2743200" indent="0">
                    <a:defRPr sz="1100">
                      <a:latin typeface="+mn-lt"/>
                      <a:ea typeface="+mn-ea"/>
                      <a:cs typeface="+mn-cs"/>
                    </a:defRPr>
                  </a:lvl7pPr>
                  <a:lvl8pPr marL="3200400" indent="0">
                    <a:defRPr sz="1100">
                      <a:latin typeface="+mn-lt"/>
                      <a:ea typeface="+mn-ea"/>
                      <a:cs typeface="+mn-cs"/>
                    </a:defRPr>
                  </a:lvl8pPr>
                  <a:lvl9pPr marL="3657600" indent="0">
                    <a:defRPr sz="1100"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>
                    <a:defRPr/>
                  </a:pPr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l-GR" sz="2000" b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𝚫</m:t>
                        </m:r>
                        <m:r>
                          <a:rPr lang="pt-BR" sz="2000" b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𝐱</m:t>
                        </m:r>
                        <m:r>
                          <a:rPr lang="en-GB" sz="2000" b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a:rPr lang="el-GR" sz="2000" b="1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𝚫</m:t>
                        </m:r>
                        <m:r>
                          <a:rPr lang="pt-BR" sz="2000" b="1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𝐲</m:t>
                        </m:r>
                        <m:r>
                          <a:rPr lang="el-GR" sz="2000" b="1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𝚫</m:t>
                        </m:r>
                        <m:r>
                          <a:rPr lang="pt-BR" sz="2000" b="1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𝐳</m:t>
                        </m:r>
                      </m:oMath>
                    </m:oMathPara>
                  </a14:m>
                  <a:endParaRPr lang="pt-BR" sz="1600" b="1" dirty="0">
                    <a:solidFill>
                      <a:srgbClr val="0000FF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1091" name="Object 4">
                  <a:extLst>
                    <a:ext uri="{63B3BB69-23CF-44E3-9099-C40C66FF867C}">
                      <a14:compatExt xmlns:a14="http://schemas.microsoft.com/office/drawing/2010/main" spid="_x0000_s1028"/>
                    </a:ext>
                    <a:ext uri="{FF2B5EF4-FFF2-40B4-BE49-F238E27FC236}">
                      <a16:creationId xmlns:a16="http://schemas.microsoft.com/office/drawing/2014/main" id="{D970DF81-89D2-9568-D849-32DAAC3B069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976273" y="3000792"/>
                  <a:ext cx="1289081" cy="582171"/>
                </a:xfrm>
                <a:prstGeom prst="rect">
                  <a:avLst/>
                </a:prstGeom>
                <a:blipFill>
                  <a:blip r:embed="rId22"/>
                  <a:stretch>
                    <a:fillRect/>
                  </a:stretch>
                </a:blipFill>
                <a:ln w="3175">
                  <a:noFill/>
                </a:ln>
                <a:effectLst/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991DBC90-5334-2E5C-115B-29F013B07E75}"/>
              </a:ext>
            </a:extLst>
          </p:cNvPr>
          <p:cNvSpPr/>
          <p:nvPr/>
        </p:nvSpPr>
        <p:spPr>
          <a:xfrm>
            <a:off x="7796814" y="317105"/>
            <a:ext cx="3829129" cy="634862"/>
          </a:xfrm>
          <a:prstGeom prst="roundRect">
            <a:avLst/>
          </a:prstGeom>
          <a:noFill/>
        </p:spPr>
        <p:txBody>
          <a:bodyPr wrap="square" lIns="0" tIns="0" rIns="0" bIns="0" anchor="t" anchorCtr="0">
            <a:noAutofit/>
          </a:bodyPr>
          <a:lstStyle/>
          <a:p>
            <a:pPr algn="r"/>
            <a:r>
              <a:rPr lang="pt-BR" sz="3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O que é um modelo?</a:t>
            </a: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599C002D-3ECF-D9D4-4CB7-9C3F6749A855}"/>
              </a:ext>
            </a:extLst>
          </p:cNvPr>
          <p:cNvSpPr txBox="1"/>
          <p:nvPr/>
        </p:nvSpPr>
        <p:spPr>
          <a:xfrm>
            <a:off x="4493623" y="6575136"/>
            <a:ext cx="7753858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LID4096"/>
            </a:defPPr>
            <a:lvl1pPr algn="r">
              <a:defRPr sz="1200" b="1">
                <a:solidFill>
                  <a:schemeClr val="accent2"/>
                </a:solidFill>
              </a:defRPr>
            </a:lvl1pPr>
          </a:lstStyle>
          <a:p>
            <a:r>
              <a:rPr lang="LID4096" sz="1300" dirty="0"/>
              <a:t>https://betami2022.wixsite.com/betami/home-2/t01-spatial-variances/02-inversion/03-iteractive-solution</a:t>
            </a:r>
          </a:p>
        </p:txBody>
      </p:sp>
      <p:pic>
        <p:nvPicPr>
          <p:cNvPr id="104" name="Picture 2" descr="Excel - GET – Engenharia de Produção">
            <a:extLst>
              <a:ext uri="{FF2B5EF4-FFF2-40B4-BE49-F238E27FC236}">
                <a16:creationId xmlns:a16="http://schemas.microsoft.com/office/drawing/2014/main" id="{5486B8BA-5E94-5BC3-83AF-F8AB3466A9A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19456" y="6421393"/>
            <a:ext cx="670916" cy="376477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05" name="Grupo 10">
            <a:extLst>
              <a:ext uri="{FF2B5EF4-FFF2-40B4-BE49-F238E27FC236}">
                <a16:creationId xmlns:a16="http://schemas.microsoft.com/office/drawing/2014/main" id="{3DD2E4AE-1B16-A075-DF2D-8D2A29B80D7B}"/>
              </a:ext>
            </a:extLst>
          </p:cNvPr>
          <p:cNvGrpSpPr>
            <a:grpSpLocks noChangeAspect="1"/>
          </p:cNvGrpSpPr>
          <p:nvPr/>
        </p:nvGrpSpPr>
        <p:grpSpPr>
          <a:xfrm>
            <a:off x="5916557" y="568855"/>
            <a:ext cx="2034501" cy="1243506"/>
            <a:chOff x="7551799" y="3880749"/>
            <a:chExt cx="1792685" cy="1055366"/>
          </a:xfrm>
        </p:grpSpPr>
        <p:sp>
          <p:nvSpPr>
            <p:cNvPr id="106" name="Seta para a direita 12">
              <a:extLst>
                <a:ext uri="{FF2B5EF4-FFF2-40B4-BE49-F238E27FC236}">
                  <a16:creationId xmlns:a16="http://schemas.microsoft.com/office/drawing/2014/main" id="{7E82F3A3-8D7E-B508-D76D-C2189ABDF1C2}"/>
                </a:ext>
              </a:extLst>
            </p:cNvPr>
            <p:cNvSpPr/>
            <p:nvPr/>
          </p:nvSpPr>
          <p:spPr>
            <a:xfrm rot="2573740">
              <a:off x="7603764" y="4134921"/>
              <a:ext cx="288000" cy="108000"/>
            </a:xfrm>
            <a:prstGeom prst="rightArrow">
              <a:avLst/>
            </a:prstGeom>
            <a:solidFill>
              <a:schemeClr val="accent2"/>
            </a:solidFill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grpSp>
          <p:nvGrpSpPr>
            <p:cNvPr id="107" name="Grupo 13">
              <a:extLst>
                <a:ext uri="{FF2B5EF4-FFF2-40B4-BE49-F238E27FC236}">
                  <a16:creationId xmlns:a16="http://schemas.microsoft.com/office/drawing/2014/main" id="{E0C8D19E-DA8A-C0F7-0285-CF2B16EDDAE5}"/>
                </a:ext>
              </a:extLst>
            </p:cNvPr>
            <p:cNvGrpSpPr/>
            <p:nvPr/>
          </p:nvGrpSpPr>
          <p:grpSpPr>
            <a:xfrm>
              <a:off x="7551799" y="3880749"/>
              <a:ext cx="1792685" cy="1055366"/>
              <a:chOff x="6308874" y="4003609"/>
              <a:chExt cx="1792685" cy="1055366"/>
            </a:xfrm>
          </p:grpSpPr>
          <p:sp>
            <p:nvSpPr>
              <p:cNvPr id="109" name="Seta para a direita 15">
                <a:extLst>
                  <a:ext uri="{FF2B5EF4-FFF2-40B4-BE49-F238E27FC236}">
                    <a16:creationId xmlns:a16="http://schemas.microsoft.com/office/drawing/2014/main" id="{DEA541A1-E3BF-824B-C208-125A597255F3}"/>
                  </a:ext>
                </a:extLst>
              </p:cNvPr>
              <p:cNvSpPr/>
              <p:nvPr/>
            </p:nvSpPr>
            <p:spPr>
              <a:xfrm rot="16166615">
                <a:off x="6618727" y="4743355"/>
                <a:ext cx="288000" cy="108000"/>
              </a:xfrm>
              <a:prstGeom prst="rightArrow">
                <a:avLst/>
              </a:prstGeom>
              <a:solidFill>
                <a:schemeClr val="accent2"/>
              </a:solidFill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 dirty="0"/>
              </a:p>
            </p:txBody>
          </p:sp>
          <p:grpSp>
            <p:nvGrpSpPr>
              <p:cNvPr id="110" name="Grupo 16">
                <a:extLst>
                  <a:ext uri="{FF2B5EF4-FFF2-40B4-BE49-F238E27FC236}">
                    <a16:creationId xmlns:a16="http://schemas.microsoft.com/office/drawing/2014/main" id="{503D2665-72C5-5500-141F-4385446FDBA0}"/>
                  </a:ext>
                </a:extLst>
              </p:cNvPr>
              <p:cNvGrpSpPr/>
              <p:nvPr/>
            </p:nvGrpSpPr>
            <p:grpSpPr>
              <a:xfrm>
                <a:off x="6308874" y="4003609"/>
                <a:ext cx="1792685" cy="1055366"/>
                <a:chOff x="5618130" y="5251772"/>
                <a:chExt cx="1792685" cy="1055366"/>
              </a:xfrm>
            </p:grpSpPr>
            <p:grpSp>
              <p:nvGrpSpPr>
                <p:cNvPr id="112" name="Grupo 18">
                  <a:extLst>
                    <a:ext uri="{FF2B5EF4-FFF2-40B4-BE49-F238E27FC236}">
                      <a16:creationId xmlns:a16="http://schemas.microsoft.com/office/drawing/2014/main" id="{E51BEB84-E48B-06A6-0495-5DF118B593F2}"/>
                    </a:ext>
                  </a:extLst>
                </p:cNvPr>
                <p:cNvGrpSpPr>
                  <a:grpSpLocks noChangeAspect="1"/>
                </p:cNvGrpSpPr>
                <p:nvPr/>
              </p:nvGrpSpPr>
              <p:grpSpPr>
                <a:xfrm>
                  <a:off x="6416287" y="5251772"/>
                  <a:ext cx="994528" cy="1055366"/>
                  <a:chOff x="7015665" y="3769107"/>
                  <a:chExt cx="2095099" cy="2554882"/>
                </a:xfrm>
                <a:effectLst>
                  <a:outerShdw blurRad="50800" dist="38100" dir="8100000" algn="tr" rotWithShape="0">
                    <a:prstClr val="black">
                      <a:alpha val="40000"/>
                    </a:prstClr>
                  </a:outerShdw>
                </a:effectLst>
              </p:grpSpPr>
              <p:sp>
                <p:nvSpPr>
                  <p:cNvPr id="116" name="Cubo 854">
                    <a:extLst>
                      <a:ext uri="{FF2B5EF4-FFF2-40B4-BE49-F238E27FC236}">
                        <a16:creationId xmlns:a16="http://schemas.microsoft.com/office/drawing/2014/main" id="{AAF86330-BF18-E421-4121-A0DBA6C50BF2}"/>
                      </a:ext>
                    </a:extLst>
                  </p:cNvPr>
                  <p:cNvSpPr/>
                  <p:nvPr/>
                </p:nvSpPr>
                <p:spPr>
                  <a:xfrm flipH="1">
                    <a:off x="7285076" y="5243990"/>
                    <a:ext cx="1079999" cy="1079999"/>
                  </a:xfrm>
                  <a:prstGeom prst="cube">
                    <a:avLst>
                      <a:gd name="adj" fmla="val 32078"/>
                    </a:avLst>
                  </a:prstGeom>
                  <a:solidFill>
                    <a:schemeClr val="accent2">
                      <a:lumMod val="20000"/>
                      <a:lumOff val="80000"/>
                    </a:schemeClr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 dirty="0"/>
                  </a:p>
                </p:txBody>
              </p:sp>
              <p:sp>
                <p:nvSpPr>
                  <p:cNvPr id="117" name="Cubo 855">
                    <a:extLst>
                      <a:ext uri="{FF2B5EF4-FFF2-40B4-BE49-F238E27FC236}">
                        <a16:creationId xmlns:a16="http://schemas.microsoft.com/office/drawing/2014/main" id="{37D37679-A82B-9203-540A-595488AFA056}"/>
                      </a:ext>
                    </a:extLst>
                  </p:cNvPr>
                  <p:cNvSpPr/>
                  <p:nvPr/>
                </p:nvSpPr>
                <p:spPr>
                  <a:xfrm flipH="1">
                    <a:off x="7015665" y="4123701"/>
                    <a:ext cx="1080000" cy="1080000"/>
                  </a:xfrm>
                  <a:prstGeom prst="cube">
                    <a:avLst>
                      <a:gd name="adj" fmla="val 32078"/>
                    </a:avLst>
                  </a:prstGeom>
                  <a:solidFill>
                    <a:schemeClr val="accent2">
                      <a:lumMod val="20000"/>
                      <a:lumOff val="80000"/>
                    </a:schemeClr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 dirty="0"/>
                  </a:p>
                </p:txBody>
              </p:sp>
              <p:sp>
                <p:nvSpPr>
                  <p:cNvPr id="118" name="Cubo 856">
                    <a:extLst>
                      <a:ext uri="{FF2B5EF4-FFF2-40B4-BE49-F238E27FC236}">
                        <a16:creationId xmlns:a16="http://schemas.microsoft.com/office/drawing/2014/main" id="{7081C526-DB86-B762-6F34-EB69700DE98B}"/>
                      </a:ext>
                    </a:extLst>
                  </p:cNvPr>
                  <p:cNvSpPr/>
                  <p:nvPr/>
                </p:nvSpPr>
                <p:spPr>
                  <a:xfrm flipH="1">
                    <a:off x="8030765" y="4498395"/>
                    <a:ext cx="1079999" cy="1079999"/>
                  </a:xfrm>
                  <a:prstGeom prst="cube">
                    <a:avLst>
                      <a:gd name="adj" fmla="val 32078"/>
                    </a:avLst>
                  </a:prstGeom>
                  <a:solidFill>
                    <a:schemeClr val="accent2">
                      <a:lumMod val="20000"/>
                      <a:lumOff val="80000"/>
                    </a:schemeClr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 dirty="0"/>
                  </a:p>
                </p:txBody>
              </p:sp>
              <p:sp>
                <p:nvSpPr>
                  <p:cNvPr id="119" name="Cubo 857">
                    <a:extLst>
                      <a:ext uri="{FF2B5EF4-FFF2-40B4-BE49-F238E27FC236}">
                        <a16:creationId xmlns:a16="http://schemas.microsoft.com/office/drawing/2014/main" id="{A6806F81-C5DB-4B76-431F-DFD89DDB7DAE}"/>
                      </a:ext>
                    </a:extLst>
                  </p:cNvPr>
                  <p:cNvSpPr/>
                  <p:nvPr/>
                </p:nvSpPr>
                <p:spPr>
                  <a:xfrm flipH="1">
                    <a:off x="7285461" y="4504733"/>
                    <a:ext cx="1079999" cy="1079999"/>
                  </a:xfrm>
                  <a:prstGeom prst="cube">
                    <a:avLst>
                      <a:gd name="adj" fmla="val 32078"/>
                    </a:avLst>
                  </a:prstGeom>
                  <a:solidFill>
                    <a:schemeClr val="accent1">
                      <a:lumMod val="40000"/>
                      <a:lumOff val="60000"/>
                    </a:schemeClr>
                  </a:solidFill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 dirty="0"/>
                  </a:p>
                </p:txBody>
              </p:sp>
              <p:sp>
                <p:nvSpPr>
                  <p:cNvPr id="120" name="Cubo 858">
                    <a:extLst>
                      <a:ext uri="{FF2B5EF4-FFF2-40B4-BE49-F238E27FC236}">
                        <a16:creationId xmlns:a16="http://schemas.microsoft.com/office/drawing/2014/main" id="{9FE485CF-B23F-A9BE-1646-57B7CFC7735E}"/>
                      </a:ext>
                    </a:extLst>
                  </p:cNvPr>
                  <p:cNvSpPr/>
                  <p:nvPr/>
                </p:nvSpPr>
                <p:spPr>
                  <a:xfrm flipH="1">
                    <a:off x="7288823" y="3769107"/>
                    <a:ext cx="1079999" cy="1079999"/>
                  </a:xfrm>
                  <a:prstGeom prst="cube">
                    <a:avLst>
                      <a:gd name="adj" fmla="val 32078"/>
                    </a:avLst>
                  </a:prstGeom>
                  <a:solidFill>
                    <a:schemeClr val="accent2">
                      <a:lumMod val="20000"/>
                      <a:lumOff val="80000"/>
                    </a:schemeClr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 dirty="0"/>
                  </a:p>
                </p:txBody>
              </p:sp>
              <p:sp>
                <p:nvSpPr>
                  <p:cNvPr id="121" name="Cubo 859">
                    <a:extLst>
                      <a:ext uri="{FF2B5EF4-FFF2-40B4-BE49-F238E27FC236}">
                        <a16:creationId xmlns:a16="http://schemas.microsoft.com/office/drawing/2014/main" id="{D7EC0AE3-309E-3607-180E-283730B4A6CD}"/>
                      </a:ext>
                    </a:extLst>
                  </p:cNvPr>
                  <p:cNvSpPr/>
                  <p:nvPr/>
                </p:nvSpPr>
                <p:spPr>
                  <a:xfrm flipH="1">
                    <a:off x="7609327" y="4854685"/>
                    <a:ext cx="1080000" cy="1080002"/>
                  </a:xfrm>
                  <a:prstGeom prst="cube">
                    <a:avLst>
                      <a:gd name="adj" fmla="val 32078"/>
                    </a:avLst>
                  </a:prstGeom>
                  <a:noFill/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 dirty="0"/>
                  </a:p>
                </p:txBody>
              </p:sp>
            </p:grpSp>
            <p:sp>
              <p:nvSpPr>
                <p:cNvPr id="113" name="Seta para a direita 19">
                  <a:extLst>
                    <a:ext uri="{FF2B5EF4-FFF2-40B4-BE49-F238E27FC236}">
                      <a16:creationId xmlns:a16="http://schemas.microsoft.com/office/drawing/2014/main" id="{892332CE-F3FB-0453-C14C-E22BF5128D36}"/>
                    </a:ext>
                  </a:extLst>
                </p:cNvPr>
                <p:cNvSpPr/>
                <p:nvPr/>
              </p:nvSpPr>
              <p:spPr>
                <a:xfrm>
                  <a:off x="6062205" y="5705476"/>
                  <a:ext cx="576000" cy="180000"/>
                </a:xfrm>
                <a:prstGeom prst="rightArrow">
                  <a:avLst/>
                </a:prstGeom>
                <a:solidFill>
                  <a:schemeClr val="accent2"/>
                </a:solidFill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 dirty="0"/>
                </a:p>
              </p:txBody>
            </p:sp>
            <p:sp>
              <p:nvSpPr>
                <p:cNvPr id="114" name="Cubo 852">
                  <a:extLst>
                    <a:ext uri="{FF2B5EF4-FFF2-40B4-BE49-F238E27FC236}">
                      <a16:creationId xmlns:a16="http://schemas.microsoft.com/office/drawing/2014/main" id="{4051E8B0-95D4-A0C2-6CE9-0BE4F8CE0011}"/>
                    </a:ext>
                  </a:extLst>
                </p:cNvPr>
                <p:cNvSpPr/>
                <p:nvPr/>
              </p:nvSpPr>
              <p:spPr>
                <a:xfrm flipH="1">
                  <a:off x="5811644" y="5563045"/>
                  <a:ext cx="512668" cy="446124"/>
                </a:xfrm>
                <a:prstGeom prst="cube">
                  <a:avLst>
                    <a:gd name="adj" fmla="val 32078"/>
                  </a:avLst>
                </a:prstGeom>
                <a:solidFill>
                  <a:schemeClr val="accent2">
                    <a:lumMod val="20000"/>
                    <a:lumOff val="80000"/>
                  </a:scheme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 dirty="0"/>
                </a:p>
              </p:txBody>
            </p:sp>
            <p:sp>
              <p:nvSpPr>
                <p:cNvPr id="115" name="Seta para a direita 24">
                  <a:extLst>
                    <a:ext uri="{FF2B5EF4-FFF2-40B4-BE49-F238E27FC236}">
                      <a16:creationId xmlns:a16="http://schemas.microsoft.com/office/drawing/2014/main" id="{B8F46508-041C-4BA8-9178-5CBA3B130279}"/>
                    </a:ext>
                  </a:extLst>
                </p:cNvPr>
                <p:cNvSpPr/>
                <p:nvPr/>
              </p:nvSpPr>
              <p:spPr>
                <a:xfrm>
                  <a:off x="5618130" y="5734051"/>
                  <a:ext cx="288000" cy="108000"/>
                </a:xfrm>
                <a:prstGeom prst="rightArrow">
                  <a:avLst/>
                </a:prstGeom>
                <a:solidFill>
                  <a:schemeClr val="accent2"/>
                </a:solidFill>
                <a:effectLst>
                  <a:outerShdw blurRad="50800" dist="139700" dir="8100000" algn="tr" rotWithShape="0">
                    <a:prstClr val="black">
                      <a:alpha val="40000"/>
                    </a:prstClr>
                  </a:outerShdw>
                </a:effectLst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 dirty="0"/>
                </a:p>
              </p:txBody>
            </p:sp>
          </p:grpSp>
          <p:sp>
            <p:nvSpPr>
              <p:cNvPr id="111" name="Seta para a direita 17">
                <a:extLst>
                  <a:ext uri="{FF2B5EF4-FFF2-40B4-BE49-F238E27FC236}">
                    <a16:creationId xmlns:a16="http://schemas.microsoft.com/office/drawing/2014/main" id="{5C1C4696-F299-9047-4FC6-C431E93C126F}"/>
                  </a:ext>
                </a:extLst>
              </p:cNvPr>
              <p:cNvSpPr/>
              <p:nvPr/>
            </p:nvSpPr>
            <p:spPr>
              <a:xfrm rot="5400000">
                <a:off x="6612548" y="4194806"/>
                <a:ext cx="288000" cy="108000"/>
              </a:xfrm>
              <a:prstGeom prst="rightArrow">
                <a:avLst/>
              </a:prstGeom>
              <a:solidFill>
                <a:schemeClr val="accent2"/>
              </a:solidFill>
              <a:effectLst>
                <a:outerShdw blurRad="50800" dist="139700" dir="8100000" algn="tr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 dirty="0"/>
              </a:p>
            </p:txBody>
          </p:sp>
        </p:grpSp>
        <p:sp>
          <p:nvSpPr>
            <p:cNvPr id="108" name="Seta para a direita 14">
              <a:extLst>
                <a:ext uri="{FF2B5EF4-FFF2-40B4-BE49-F238E27FC236}">
                  <a16:creationId xmlns:a16="http://schemas.microsoft.com/office/drawing/2014/main" id="{5D47EDBE-78BC-BFC7-290F-5C7E6D4A271E}"/>
                </a:ext>
              </a:extLst>
            </p:cNvPr>
            <p:cNvSpPr/>
            <p:nvPr/>
          </p:nvSpPr>
          <p:spPr>
            <a:xfrm rot="13276495">
              <a:off x="8046776" y="4538294"/>
              <a:ext cx="288000" cy="108000"/>
            </a:xfrm>
            <a:prstGeom prst="rightArrow">
              <a:avLst/>
            </a:prstGeom>
            <a:solidFill>
              <a:schemeClr val="accent2"/>
            </a:solidFill>
            <a:effectLst>
              <a:outerShdw blurRad="50800" dist="1397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</p:grpSp>
      <p:grpSp>
        <p:nvGrpSpPr>
          <p:cNvPr id="122" name="Agrupar 221">
            <a:extLst>
              <a:ext uri="{FF2B5EF4-FFF2-40B4-BE49-F238E27FC236}">
                <a16:creationId xmlns:a16="http://schemas.microsoft.com/office/drawing/2014/main" id="{798D4ED3-E339-5746-6398-48D42649F979}"/>
              </a:ext>
            </a:extLst>
          </p:cNvPr>
          <p:cNvGrpSpPr/>
          <p:nvPr/>
        </p:nvGrpSpPr>
        <p:grpSpPr>
          <a:xfrm>
            <a:off x="8303408" y="973098"/>
            <a:ext cx="3120386" cy="1197745"/>
            <a:chOff x="8805611" y="2854336"/>
            <a:chExt cx="2942277" cy="1017208"/>
          </a:xfrm>
        </p:grpSpPr>
        <p:cxnSp>
          <p:nvCxnSpPr>
            <p:cNvPr id="123" name="Conector de Seta Reta 98">
              <a:extLst>
                <a:ext uri="{FF2B5EF4-FFF2-40B4-BE49-F238E27FC236}">
                  <a16:creationId xmlns:a16="http://schemas.microsoft.com/office/drawing/2014/main" id="{9960C934-7385-0C67-E765-D42E7299A4C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0912400" y="3533610"/>
              <a:ext cx="4759" cy="275267"/>
            </a:xfrm>
            <a:prstGeom prst="straightConnector1">
              <a:avLst/>
            </a:prstGeom>
            <a:ln w="28575">
              <a:solidFill>
                <a:srgbClr val="0000FF"/>
              </a:solidFill>
              <a:headEnd type="arrow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24" name="Object 4">
                  <a:extLst>
                    <a:ext uri="{63B3BB69-23CF-44E3-9099-C40C66FF867C}">
                      <a14:compatExt spid="_x0000_s1028"/>
                    </a:ext>
                    <a:ext uri="{FF2B5EF4-FFF2-40B4-BE49-F238E27FC236}">
                      <a16:creationId xmlns:a16="http://schemas.microsoft.com/office/drawing/2014/main" id="{3F9C59A4-257B-D9F2-5DD4-058337E238C7}"/>
                    </a:ext>
                  </a:extLst>
                </p:cNvPr>
                <p:cNvSpPr txBox="1"/>
                <p:nvPr/>
              </p:nvSpPr>
              <p:spPr>
                <a:xfrm>
                  <a:off x="11119645" y="3359970"/>
                  <a:ext cx="628243" cy="511574"/>
                </a:xfrm>
                <a:prstGeom prst="rect">
                  <a:avLst/>
                </a:prstGeom>
                <a:noFill/>
                <a:ln w="38100">
                  <a:noFill/>
                </a:ln>
              </p:spPr>
              <p:txBody>
                <a:bodyPr wrap="square" anchor="ctr">
                  <a:noAutofit/>
                </a:bodyPr>
                <a:lstStyle>
                  <a:lvl1pPr marL="0" indent="0">
                    <a:defRPr sz="1100">
                      <a:latin typeface="+mn-lt"/>
                      <a:ea typeface="+mn-ea"/>
                      <a:cs typeface="+mn-cs"/>
                    </a:defRPr>
                  </a:lvl1pPr>
                  <a:lvl2pPr marL="457200" indent="0">
                    <a:defRPr sz="1100">
                      <a:latin typeface="+mn-lt"/>
                      <a:ea typeface="+mn-ea"/>
                      <a:cs typeface="+mn-cs"/>
                    </a:defRPr>
                  </a:lvl2pPr>
                  <a:lvl3pPr marL="914400" indent="0">
                    <a:defRPr sz="1100">
                      <a:latin typeface="+mn-lt"/>
                      <a:ea typeface="+mn-ea"/>
                      <a:cs typeface="+mn-cs"/>
                    </a:defRPr>
                  </a:lvl3pPr>
                  <a:lvl4pPr marL="1371600" indent="0">
                    <a:defRPr sz="1100">
                      <a:latin typeface="+mn-lt"/>
                      <a:ea typeface="+mn-ea"/>
                      <a:cs typeface="+mn-cs"/>
                    </a:defRPr>
                  </a:lvl4pPr>
                  <a:lvl5pPr marL="1828800" indent="0">
                    <a:defRPr sz="1100">
                      <a:latin typeface="+mn-lt"/>
                      <a:ea typeface="+mn-ea"/>
                      <a:cs typeface="+mn-cs"/>
                    </a:defRPr>
                  </a:lvl5pPr>
                  <a:lvl6pPr marL="2286000" indent="0">
                    <a:defRPr sz="1100">
                      <a:latin typeface="+mn-lt"/>
                      <a:ea typeface="+mn-ea"/>
                      <a:cs typeface="+mn-cs"/>
                    </a:defRPr>
                  </a:lvl6pPr>
                  <a:lvl7pPr marL="2743200" indent="0">
                    <a:defRPr sz="1100">
                      <a:latin typeface="+mn-lt"/>
                      <a:ea typeface="+mn-ea"/>
                      <a:cs typeface="+mn-cs"/>
                    </a:defRPr>
                  </a:lvl7pPr>
                  <a:lvl8pPr marL="3200400" indent="0">
                    <a:defRPr sz="1100">
                      <a:latin typeface="+mn-lt"/>
                      <a:ea typeface="+mn-ea"/>
                      <a:cs typeface="+mn-cs"/>
                    </a:defRPr>
                  </a:lvl8pPr>
                  <a:lvl9pPr marL="3657600" indent="0">
                    <a:defRPr sz="1100"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lvl="0" algn="ctr"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3200" b="1" i="1" smtClean="0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</a:rPr>
                          <m:t>𝑯</m:t>
                        </m:r>
                        <m:r>
                          <a:rPr lang="pt-BR" sz="3200" b="1" i="1" baseline="-25000" smtClean="0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</a:rPr>
                          <m:t>𝒏</m:t>
                        </m:r>
                        <m:r>
                          <a:rPr lang="pt-BR" sz="3200" b="1" i="1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</m:oMath>
                    </m:oMathPara>
                  </a14:m>
                  <a:endParaRPr lang="en-GB" sz="3200" b="1" dirty="0">
                    <a:solidFill>
                      <a:srgbClr val="0000FF"/>
                    </a:solidFill>
                  </a:endParaRPr>
                </a:p>
              </p:txBody>
            </p:sp>
          </mc:Choice>
          <mc:Fallback>
            <p:sp>
              <p:nvSpPr>
                <p:cNvPr id="124" name="Object 4">
                  <a:extLst>
                    <a:ext uri="{63B3BB69-23CF-44E3-9099-C40C66FF867C}">
                      <a14:compatExt xmlns:a14="http://schemas.microsoft.com/office/drawing/2010/main" spid="_x0000_s1028"/>
                    </a:ext>
                    <a:ext uri="{FF2B5EF4-FFF2-40B4-BE49-F238E27FC236}">
                      <a16:creationId xmlns:a16="http://schemas.microsoft.com/office/drawing/2014/main" id="{3F9C59A4-257B-D9F2-5DD4-058337E238C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119645" y="3359970"/>
                  <a:ext cx="628243" cy="511574"/>
                </a:xfrm>
                <a:prstGeom prst="rect">
                  <a:avLst/>
                </a:prstGeom>
                <a:blipFill>
                  <a:blip r:embed="rId24"/>
                  <a:stretch>
                    <a:fillRect/>
                  </a:stretch>
                </a:blipFill>
                <a:ln w="38100">
                  <a:noFill/>
                </a:ln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25" name="Conector reto 191">
              <a:extLst>
                <a:ext uri="{FF2B5EF4-FFF2-40B4-BE49-F238E27FC236}">
                  <a16:creationId xmlns:a16="http://schemas.microsoft.com/office/drawing/2014/main" id="{7D011BA3-2965-B5A8-CDC2-18D648D14392}"/>
                </a:ext>
              </a:extLst>
            </p:cNvPr>
            <p:cNvCxnSpPr>
              <a:cxnSpLocks/>
            </p:cNvCxnSpPr>
            <p:nvPr/>
          </p:nvCxnSpPr>
          <p:spPr>
            <a:xfrm>
              <a:off x="8805611" y="3231347"/>
              <a:ext cx="229436" cy="227965"/>
            </a:xfrm>
            <a:prstGeom prst="line">
              <a:avLst/>
            </a:prstGeom>
            <a:noFill/>
            <a:ln w="28575">
              <a:solidFill>
                <a:srgbClr val="0000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26" name="Conector reto 196">
              <a:extLst>
                <a:ext uri="{FF2B5EF4-FFF2-40B4-BE49-F238E27FC236}">
                  <a16:creationId xmlns:a16="http://schemas.microsoft.com/office/drawing/2014/main" id="{A93F4503-0BF0-4B26-5852-69ED53366DE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251032" y="3391830"/>
              <a:ext cx="738000" cy="0"/>
            </a:xfrm>
            <a:prstGeom prst="line">
              <a:avLst/>
            </a:prstGeom>
            <a:noFill/>
            <a:ln w="28575">
              <a:solidFill>
                <a:srgbClr val="0000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grpSp>
          <p:nvGrpSpPr>
            <p:cNvPr id="127" name="Agrupar 207">
              <a:extLst>
                <a:ext uri="{FF2B5EF4-FFF2-40B4-BE49-F238E27FC236}">
                  <a16:creationId xmlns:a16="http://schemas.microsoft.com/office/drawing/2014/main" id="{3C87EAD9-8601-3E65-362F-44CF4E90263D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8809159" y="2854336"/>
              <a:ext cx="1941029" cy="948588"/>
              <a:chOff x="8673239" y="3288564"/>
              <a:chExt cx="1261022" cy="616267"/>
            </a:xfrm>
          </p:grpSpPr>
          <p:grpSp>
            <p:nvGrpSpPr>
              <p:cNvPr id="137" name="Agrupar 87">
                <a:extLst>
                  <a:ext uri="{FF2B5EF4-FFF2-40B4-BE49-F238E27FC236}">
                    <a16:creationId xmlns:a16="http://schemas.microsoft.com/office/drawing/2014/main" id="{0FC39CC3-E475-2663-D6B5-49DE0EBF2089}"/>
                  </a:ext>
                </a:extLst>
              </p:cNvPr>
              <p:cNvGrpSpPr>
                <a:grpSpLocks noChangeAspect="1"/>
              </p:cNvGrpSpPr>
              <p:nvPr/>
            </p:nvGrpSpPr>
            <p:grpSpPr>
              <a:xfrm>
                <a:off x="8673239" y="3288564"/>
                <a:ext cx="798508" cy="616267"/>
                <a:chOff x="8741399" y="2617366"/>
                <a:chExt cx="1364715" cy="1053253"/>
              </a:xfrm>
            </p:grpSpPr>
            <p:sp>
              <p:nvSpPr>
                <p:cNvPr id="141" name="Cubo 79">
                  <a:extLst>
                    <a:ext uri="{FF2B5EF4-FFF2-40B4-BE49-F238E27FC236}">
                      <a16:creationId xmlns:a16="http://schemas.microsoft.com/office/drawing/2014/main" id="{FCD22416-67E3-3C51-5136-5B3CC3073E22}"/>
                    </a:ext>
                  </a:extLst>
                </p:cNvPr>
                <p:cNvSpPr/>
                <p:nvPr/>
              </p:nvSpPr>
              <p:spPr>
                <a:xfrm flipH="1">
                  <a:off x="8741399" y="2617366"/>
                  <a:ext cx="1073719" cy="791634"/>
                </a:xfrm>
                <a:prstGeom prst="cube">
                  <a:avLst>
                    <a:gd name="adj" fmla="val 32078"/>
                  </a:avLst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 dirty="0"/>
                </a:p>
              </p:txBody>
            </p:sp>
            <p:sp>
              <p:nvSpPr>
                <p:cNvPr id="142" name="Cubo 85">
                  <a:extLst>
                    <a:ext uri="{FF2B5EF4-FFF2-40B4-BE49-F238E27FC236}">
                      <a16:creationId xmlns:a16="http://schemas.microsoft.com/office/drawing/2014/main" id="{B5CEE7F3-7D89-9770-29FD-65E31F95B303}"/>
                    </a:ext>
                  </a:extLst>
                </p:cNvPr>
                <p:cNvSpPr/>
                <p:nvPr/>
              </p:nvSpPr>
              <p:spPr>
                <a:xfrm flipH="1">
                  <a:off x="9032395" y="2878985"/>
                  <a:ext cx="1073719" cy="791634"/>
                </a:xfrm>
                <a:prstGeom prst="cube">
                  <a:avLst>
                    <a:gd name="adj" fmla="val 32078"/>
                  </a:avLst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 dirty="0"/>
                </a:p>
              </p:txBody>
            </p:sp>
          </p:grpSp>
          <p:grpSp>
            <p:nvGrpSpPr>
              <p:cNvPr id="138" name="Agrupar 204">
                <a:extLst>
                  <a:ext uri="{FF2B5EF4-FFF2-40B4-BE49-F238E27FC236}">
                    <a16:creationId xmlns:a16="http://schemas.microsoft.com/office/drawing/2014/main" id="{AD109542-6D9C-4514-19F4-7A442301DBE2}"/>
                  </a:ext>
                </a:extLst>
              </p:cNvPr>
              <p:cNvGrpSpPr>
                <a:grpSpLocks noChangeAspect="1"/>
              </p:cNvGrpSpPr>
              <p:nvPr/>
            </p:nvGrpSpPr>
            <p:grpSpPr>
              <a:xfrm>
                <a:off x="9135756" y="3290794"/>
                <a:ext cx="798505" cy="611266"/>
                <a:chOff x="8712967" y="2617366"/>
                <a:chExt cx="1364711" cy="1044702"/>
              </a:xfrm>
            </p:grpSpPr>
            <p:sp>
              <p:nvSpPr>
                <p:cNvPr id="139" name="Cubo 205">
                  <a:extLst>
                    <a:ext uri="{FF2B5EF4-FFF2-40B4-BE49-F238E27FC236}">
                      <a16:creationId xmlns:a16="http://schemas.microsoft.com/office/drawing/2014/main" id="{9706DE44-5687-0FD6-2E9B-A593EE90DF63}"/>
                    </a:ext>
                  </a:extLst>
                </p:cNvPr>
                <p:cNvSpPr/>
                <p:nvPr/>
              </p:nvSpPr>
              <p:spPr>
                <a:xfrm flipH="1">
                  <a:off x="8712967" y="2617366"/>
                  <a:ext cx="1073719" cy="791634"/>
                </a:xfrm>
                <a:prstGeom prst="cube">
                  <a:avLst>
                    <a:gd name="adj" fmla="val 32078"/>
                  </a:avLst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 dirty="0"/>
                </a:p>
              </p:txBody>
            </p:sp>
            <p:sp>
              <p:nvSpPr>
                <p:cNvPr id="140" name="Cubo 206">
                  <a:extLst>
                    <a:ext uri="{FF2B5EF4-FFF2-40B4-BE49-F238E27FC236}">
                      <a16:creationId xmlns:a16="http://schemas.microsoft.com/office/drawing/2014/main" id="{F39D64E7-4108-D4B0-8029-F6E231C5CDC8}"/>
                    </a:ext>
                  </a:extLst>
                </p:cNvPr>
                <p:cNvSpPr/>
                <p:nvPr/>
              </p:nvSpPr>
              <p:spPr>
                <a:xfrm flipH="1">
                  <a:off x="9003959" y="2870434"/>
                  <a:ext cx="1073719" cy="791634"/>
                </a:xfrm>
                <a:prstGeom prst="cube">
                  <a:avLst>
                    <a:gd name="adj" fmla="val 32078"/>
                  </a:avLst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 dirty="0"/>
                </a:p>
              </p:txBody>
            </p:sp>
          </p:grpSp>
        </p:grpSp>
        <p:cxnSp>
          <p:nvCxnSpPr>
            <p:cNvPr id="128" name="Conector reto 210">
              <a:extLst>
                <a:ext uri="{FF2B5EF4-FFF2-40B4-BE49-F238E27FC236}">
                  <a16:creationId xmlns:a16="http://schemas.microsoft.com/office/drawing/2014/main" id="{62FFB071-EDD1-FEB2-93D6-CBD46638E2E5}"/>
                </a:ext>
              </a:extLst>
            </p:cNvPr>
            <p:cNvCxnSpPr>
              <a:cxnSpLocks/>
            </p:cNvCxnSpPr>
            <p:nvPr/>
          </p:nvCxnSpPr>
          <p:spPr>
            <a:xfrm>
              <a:off x="9033852" y="3172458"/>
              <a:ext cx="229436" cy="227965"/>
            </a:xfrm>
            <a:prstGeom prst="line">
              <a:avLst/>
            </a:prstGeom>
            <a:noFill/>
            <a:ln w="28575">
              <a:solidFill>
                <a:srgbClr val="0000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29" name="Conector reto 211">
              <a:extLst>
                <a:ext uri="{FF2B5EF4-FFF2-40B4-BE49-F238E27FC236}">
                  <a16:creationId xmlns:a16="http://schemas.microsoft.com/office/drawing/2014/main" id="{01CE75FE-F54A-E18B-7B85-6D7934BCB2A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004097" y="3691515"/>
              <a:ext cx="738000" cy="0"/>
            </a:xfrm>
            <a:prstGeom prst="line">
              <a:avLst/>
            </a:prstGeom>
            <a:noFill/>
            <a:ln w="28575">
              <a:solidFill>
                <a:srgbClr val="0000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0" name="Conector reto 212">
              <a:extLst>
                <a:ext uri="{FF2B5EF4-FFF2-40B4-BE49-F238E27FC236}">
                  <a16:creationId xmlns:a16="http://schemas.microsoft.com/office/drawing/2014/main" id="{C3A26A0B-82B4-CAC7-F757-54982F8DC9B9}"/>
                </a:ext>
              </a:extLst>
            </p:cNvPr>
            <p:cNvCxnSpPr>
              <a:cxnSpLocks/>
            </p:cNvCxnSpPr>
            <p:nvPr/>
          </p:nvCxnSpPr>
          <p:spPr>
            <a:xfrm>
              <a:off x="9777961" y="3466898"/>
              <a:ext cx="229436" cy="227965"/>
            </a:xfrm>
            <a:prstGeom prst="line">
              <a:avLst/>
            </a:prstGeom>
            <a:noFill/>
            <a:ln w="28575">
              <a:solidFill>
                <a:srgbClr val="0000FF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1" name="Conector reto 213">
              <a:extLst>
                <a:ext uri="{FF2B5EF4-FFF2-40B4-BE49-F238E27FC236}">
                  <a16:creationId xmlns:a16="http://schemas.microsoft.com/office/drawing/2014/main" id="{1865F7E6-9036-B28E-69F4-7B333C7A3846}"/>
                </a:ext>
              </a:extLst>
            </p:cNvPr>
            <p:cNvCxnSpPr>
              <a:cxnSpLocks/>
            </p:cNvCxnSpPr>
            <p:nvPr/>
          </p:nvCxnSpPr>
          <p:spPr>
            <a:xfrm>
              <a:off x="10505504" y="3466898"/>
              <a:ext cx="229436" cy="227965"/>
            </a:xfrm>
            <a:prstGeom prst="line">
              <a:avLst/>
            </a:prstGeom>
            <a:noFill/>
            <a:ln w="28575">
              <a:solidFill>
                <a:srgbClr val="0000FF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2" name="Conector reto 214">
              <a:extLst>
                <a:ext uri="{FF2B5EF4-FFF2-40B4-BE49-F238E27FC236}">
                  <a16:creationId xmlns:a16="http://schemas.microsoft.com/office/drawing/2014/main" id="{746ECE35-2842-FD9F-E07F-088C025F5235}"/>
                </a:ext>
              </a:extLst>
            </p:cNvPr>
            <p:cNvCxnSpPr>
              <a:cxnSpLocks/>
            </p:cNvCxnSpPr>
            <p:nvPr/>
          </p:nvCxnSpPr>
          <p:spPr>
            <a:xfrm>
              <a:off x="10506614" y="3565845"/>
              <a:ext cx="236576" cy="237581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3" name="Conector reto 215">
              <a:extLst>
                <a:ext uri="{FF2B5EF4-FFF2-40B4-BE49-F238E27FC236}">
                  <a16:creationId xmlns:a16="http://schemas.microsoft.com/office/drawing/2014/main" id="{97ECE51C-378F-CD8E-80DA-6A0B31A2A5A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767504" y="3459538"/>
              <a:ext cx="738000" cy="0"/>
            </a:xfrm>
            <a:prstGeom prst="line">
              <a:avLst/>
            </a:prstGeom>
            <a:noFill/>
            <a:ln w="28575">
              <a:solidFill>
                <a:srgbClr val="0000FF"/>
              </a:solidFill>
              <a:prstDash val="dash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4" name="Conector reto 216">
              <a:extLst>
                <a:ext uri="{FF2B5EF4-FFF2-40B4-BE49-F238E27FC236}">
                  <a16:creationId xmlns:a16="http://schemas.microsoft.com/office/drawing/2014/main" id="{A2158EEA-2022-3743-3A7F-816BB514F5D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046552" y="3171246"/>
              <a:ext cx="738000" cy="0"/>
            </a:xfrm>
            <a:prstGeom prst="line">
              <a:avLst/>
            </a:prstGeom>
            <a:noFill/>
            <a:ln w="28575">
              <a:solidFill>
                <a:srgbClr val="0000FF"/>
              </a:solidFill>
              <a:prstDash val="dash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5" name="Conector reto 217">
              <a:extLst>
                <a:ext uri="{FF2B5EF4-FFF2-40B4-BE49-F238E27FC236}">
                  <a16:creationId xmlns:a16="http://schemas.microsoft.com/office/drawing/2014/main" id="{E758FD02-097E-F804-4338-A77C736BF574}"/>
                </a:ext>
              </a:extLst>
            </p:cNvPr>
            <p:cNvCxnSpPr>
              <a:cxnSpLocks/>
            </p:cNvCxnSpPr>
            <p:nvPr/>
          </p:nvCxnSpPr>
          <p:spPr>
            <a:xfrm>
              <a:off x="9774708" y="3165277"/>
              <a:ext cx="229436" cy="227965"/>
            </a:xfrm>
            <a:prstGeom prst="line">
              <a:avLst/>
            </a:prstGeom>
            <a:noFill/>
            <a:ln w="28575">
              <a:solidFill>
                <a:srgbClr val="0000FF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6" name="Conector reto 219">
              <a:extLst>
                <a:ext uri="{FF2B5EF4-FFF2-40B4-BE49-F238E27FC236}">
                  <a16:creationId xmlns:a16="http://schemas.microsoft.com/office/drawing/2014/main" id="{6E870AD9-60AD-4F53-B032-203D740F8CC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813267" y="3231347"/>
              <a:ext cx="216000" cy="0"/>
            </a:xfrm>
            <a:prstGeom prst="line">
              <a:avLst/>
            </a:prstGeom>
            <a:noFill/>
            <a:ln w="28575">
              <a:solidFill>
                <a:srgbClr val="0000FF"/>
              </a:solidFill>
              <a:prstDash val="dash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pic>
        <p:nvPicPr>
          <p:cNvPr id="143" name="Imagem 4">
            <a:extLst>
              <a:ext uri="{FF2B5EF4-FFF2-40B4-BE49-F238E27FC236}">
                <a16:creationId xmlns:a16="http://schemas.microsoft.com/office/drawing/2014/main" id="{5FDC551C-AA9F-98BF-6121-89EA29F2E043}"/>
              </a:ext>
            </a:extLst>
      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9840980" y="4819988"/>
            <a:ext cx="2009882" cy="1524815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grpSp>
        <p:nvGrpSpPr>
          <p:cNvPr id="144" name="Group 143">
            <a:extLst>
              <a:ext uri="{FF2B5EF4-FFF2-40B4-BE49-F238E27FC236}">
                <a16:creationId xmlns:a16="http://schemas.microsoft.com/office/drawing/2014/main" id="{3120F3C6-34A5-E2B7-44C1-0AA19D98BD5E}"/>
              </a:ext>
            </a:extLst>
          </p:cNvPr>
          <p:cNvGrpSpPr/>
          <p:nvPr/>
        </p:nvGrpSpPr>
        <p:grpSpPr>
          <a:xfrm>
            <a:off x="9450952" y="2256080"/>
            <a:ext cx="2424418" cy="2404173"/>
            <a:chOff x="5782638" y="3435325"/>
            <a:chExt cx="2424418" cy="2404173"/>
          </a:xfrm>
        </p:grpSpPr>
        <p:pic>
          <p:nvPicPr>
            <p:cNvPr id="145" name="Imagem 150">
              <a:extLst>
                <a:ext uri="{FF2B5EF4-FFF2-40B4-BE49-F238E27FC236}">
                  <a16:creationId xmlns:a16="http://schemas.microsoft.com/office/drawing/2014/main" id="{18C92F61-C007-F3D1-8CD4-577BB9D34DB3}"/>
                </a:ext>
              </a:extLst>
            </p:cNvPr>
            <p:cNvPicPr>
              <a:picLocks noChangeAspect="1"/>
            </p:cNvPicPr>
            <p:nvPr/>
          </p:nvPicPr>
          <p:blipFill>
            <a:blip r:embed="rId26"/>
            <a:stretch>
              <a:fillRect/>
            </a:stretch>
          </p:blipFill>
          <p:spPr>
            <a:xfrm>
              <a:off x="5789892" y="3435325"/>
              <a:ext cx="2409911" cy="2404173"/>
            </a:xfrm>
            <a:prstGeom prst="rect">
              <a:avLst/>
            </a:prstGeom>
          </p:spPr>
        </p:pic>
        <p:grpSp>
          <p:nvGrpSpPr>
            <p:cNvPr id="146" name="Group 145">
              <a:extLst>
                <a:ext uri="{FF2B5EF4-FFF2-40B4-BE49-F238E27FC236}">
                  <a16:creationId xmlns:a16="http://schemas.microsoft.com/office/drawing/2014/main" id="{11B22BEA-DA1C-410A-6021-0F73AF841CD9}"/>
                </a:ext>
              </a:extLst>
            </p:cNvPr>
            <p:cNvGrpSpPr/>
            <p:nvPr/>
          </p:nvGrpSpPr>
          <p:grpSpPr>
            <a:xfrm>
              <a:off x="5782638" y="3441535"/>
              <a:ext cx="2424418" cy="2365695"/>
              <a:chOff x="5908166" y="1237410"/>
              <a:chExt cx="2424418" cy="2365695"/>
            </a:xfrm>
          </p:grpSpPr>
          <p:grpSp>
            <p:nvGrpSpPr>
              <p:cNvPr id="147" name="Agrupar 164">
                <a:extLst>
                  <a:ext uri="{FF2B5EF4-FFF2-40B4-BE49-F238E27FC236}">
                    <a16:creationId xmlns:a16="http://schemas.microsoft.com/office/drawing/2014/main" id="{748FEC9C-59F0-E4D2-32E7-09C868BF6A46}"/>
                  </a:ext>
                </a:extLst>
              </p:cNvPr>
              <p:cNvGrpSpPr/>
              <p:nvPr/>
            </p:nvGrpSpPr>
            <p:grpSpPr>
              <a:xfrm>
                <a:off x="5908166" y="1237410"/>
                <a:ext cx="2424418" cy="2365695"/>
                <a:chOff x="5469622" y="1107347"/>
                <a:chExt cx="2424418" cy="2365695"/>
              </a:xfrm>
            </p:grpSpPr>
            <p:sp>
              <p:nvSpPr>
                <p:cNvPr id="152" name="Forma Livre: Forma 158">
                  <a:extLst>
                    <a:ext uri="{FF2B5EF4-FFF2-40B4-BE49-F238E27FC236}">
                      <a16:creationId xmlns:a16="http://schemas.microsoft.com/office/drawing/2014/main" id="{3477F66B-7F0A-99A0-BD76-E1A172BC561E}"/>
                    </a:ext>
                  </a:extLst>
                </p:cNvPr>
                <p:cNvSpPr/>
                <p:nvPr/>
              </p:nvSpPr>
              <p:spPr>
                <a:xfrm>
                  <a:off x="5494789" y="2474752"/>
                  <a:ext cx="1275127" cy="998290"/>
                </a:xfrm>
                <a:custGeom>
                  <a:avLst/>
                  <a:gdLst>
                    <a:gd name="connsiteX0" fmla="*/ 0 w 1275127"/>
                    <a:gd name="connsiteY0" fmla="*/ 0 h 998290"/>
                    <a:gd name="connsiteX1" fmla="*/ 234892 w 1275127"/>
                    <a:gd name="connsiteY1" fmla="*/ 134224 h 998290"/>
                    <a:gd name="connsiteX2" fmla="*/ 444617 w 1275127"/>
                    <a:gd name="connsiteY2" fmla="*/ 268448 h 998290"/>
                    <a:gd name="connsiteX3" fmla="*/ 679508 w 1275127"/>
                    <a:gd name="connsiteY3" fmla="*/ 453006 h 998290"/>
                    <a:gd name="connsiteX4" fmla="*/ 729842 w 1275127"/>
                    <a:gd name="connsiteY4" fmla="*/ 536896 h 998290"/>
                    <a:gd name="connsiteX5" fmla="*/ 880844 w 1275127"/>
                    <a:gd name="connsiteY5" fmla="*/ 729842 h 998290"/>
                    <a:gd name="connsiteX6" fmla="*/ 1082180 w 1275127"/>
                    <a:gd name="connsiteY6" fmla="*/ 864066 h 998290"/>
                    <a:gd name="connsiteX7" fmla="*/ 1275127 w 1275127"/>
                    <a:gd name="connsiteY7" fmla="*/ 998290 h 998290"/>
                    <a:gd name="connsiteX8" fmla="*/ 1275127 w 1275127"/>
                    <a:gd name="connsiteY8" fmla="*/ 998290 h 9982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1275127" h="998290">
                      <a:moveTo>
                        <a:pt x="0" y="0"/>
                      </a:moveTo>
                      <a:lnTo>
                        <a:pt x="234892" y="134224"/>
                      </a:lnTo>
                      <a:lnTo>
                        <a:pt x="444617" y="268448"/>
                      </a:lnTo>
                      <a:lnTo>
                        <a:pt x="679508" y="453006"/>
                      </a:lnTo>
                      <a:lnTo>
                        <a:pt x="729842" y="536896"/>
                      </a:lnTo>
                      <a:lnTo>
                        <a:pt x="880844" y="729842"/>
                      </a:lnTo>
                      <a:lnTo>
                        <a:pt x="1082180" y="864066"/>
                      </a:lnTo>
                      <a:lnTo>
                        <a:pt x="1275127" y="998290"/>
                      </a:lnTo>
                      <a:lnTo>
                        <a:pt x="1275127" y="998290"/>
                      </a:lnTo>
                    </a:path>
                  </a:pathLst>
                </a:custGeom>
                <a:noFill/>
                <a:ln>
                  <a:solidFill>
                    <a:srgbClr val="0000FF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/>
                </a:p>
              </p:txBody>
            </p:sp>
            <p:sp>
              <p:nvSpPr>
                <p:cNvPr id="153" name="Forma Livre: Forma 159">
                  <a:extLst>
                    <a:ext uri="{FF2B5EF4-FFF2-40B4-BE49-F238E27FC236}">
                      <a16:creationId xmlns:a16="http://schemas.microsoft.com/office/drawing/2014/main" id="{C3D644F2-06A9-3B7A-409E-EDE7117954E1}"/>
                    </a:ext>
                  </a:extLst>
                </p:cNvPr>
                <p:cNvSpPr/>
                <p:nvPr/>
              </p:nvSpPr>
              <p:spPr>
                <a:xfrm>
                  <a:off x="5511567" y="2189527"/>
                  <a:ext cx="1820411" cy="1283515"/>
                </a:xfrm>
                <a:custGeom>
                  <a:avLst/>
                  <a:gdLst>
                    <a:gd name="connsiteX0" fmla="*/ 0 w 1820411"/>
                    <a:gd name="connsiteY0" fmla="*/ 0 h 1283515"/>
                    <a:gd name="connsiteX1" fmla="*/ 0 w 1820411"/>
                    <a:gd name="connsiteY1" fmla="*/ 0 h 1283515"/>
                    <a:gd name="connsiteX2" fmla="*/ 67112 w 1820411"/>
                    <a:gd name="connsiteY2" fmla="*/ 41945 h 1283515"/>
                    <a:gd name="connsiteX3" fmla="*/ 427839 w 1820411"/>
                    <a:gd name="connsiteY3" fmla="*/ 226502 h 1283515"/>
                    <a:gd name="connsiteX4" fmla="*/ 713064 w 1820411"/>
                    <a:gd name="connsiteY4" fmla="*/ 394282 h 1283515"/>
                    <a:gd name="connsiteX5" fmla="*/ 771787 w 1820411"/>
                    <a:gd name="connsiteY5" fmla="*/ 503339 h 1283515"/>
                    <a:gd name="connsiteX6" fmla="*/ 939567 w 1820411"/>
                    <a:gd name="connsiteY6" fmla="*/ 687897 h 1283515"/>
                    <a:gd name="connsiteX7" fmla="*/ 1048624 w 1820411"/>
                    <a:gd name="connsiteY7" fmla="*/ 771787 h 1283515"/>
                    <a:gd name="connsiteX8" fmla="*/ 1233182 w 1820411"/>
                    <a:gd name="connsiteY8" fmla="*/ 880844 h 1283515"/>
                    <a:gd name="connsiteX9" fmla="*/ 1308683 w 1820411"/>
                    <a:gd name="connsiteY9" fmla="*/ 931178 h 1283515"/>
                    <a:gd name="connsiteX10" fmla="*/ 1409350 w 1820411"/>
                    <a:gd name="connsiteY10" fmla="*/ 998290 h 1283515"/>
                    <a:gd name="connsiteX11" fmla="*/ 1459684 w 1820411"/>
                    <a:gd name="connsiteY11" fmla="*/ 1057012 h 1283515"/>
                    <a:gd name="connsiteX12" fmla="*/ 1820411 w 1820411"/>
                    <a:gd name="connsiteY12" fmla="*/ 1283515 h 128351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</a:cxnLst>
                  <a:rect l="l" t="t" r="r" b="b"/>
                  <a:pathLst>
                    <a:path w="1820411" h="1283515">
                      <a:moveTo>
                        <a:pt x="0" y="0"/>
                      </a:moveTo>
                      <a:lnTo>
                        <a:pt x="0" y="0"/>
                      </a:lnTo>
                      <a:lnTo>
                        <a:pt x="67112" y="41945"/>
                      </a:lnTo>
                      <a:lnTo>
                        <a:pt x="427839" y="226502"/>
                      </a:lnTo>
                      <a:lnTo>
                        <a:pt x="713064" y="394282"/>
                      </a:lnTo>
                      <a:cubicBezTo>
                        <a:pt x="773196" y="497365"/>
                        <a:pt x="771787" y="456102"/>
                        <a:pt x="771787" y="503339"/>
                      </a:cubicBezTo>
                      <a:lnTo>
                        <a:pt x="939567" y="687897"/>
                      </a:lnTo>
                      <a:lnTo>
                        <a:pt x="1048624" y="771787"/>
                      </a:lnTo>
                      <a:lnTo>
                        <a:pt x="1233182" y="880844"/>
                      </a:lnTo>
                      <a:cubicBezTo>
                        <a:pt x="1296993" y="926423"/>
                        <a:pt x="1270390" y="912031"/>
                        <a:pt x="1308683" y="931178"/>
                      </a:cubicBezTo>
                      <a:lnTo>
                        <a:pt x="1409350" y="998290"/>
                      </a:lnTo>
                      <a:lnTo>
                        <a:pt x="1459684" y="1057012"/>
                      </a:lnTo>
                      <a:lnTo>
                        <a:pt x="1820411" y="1283515"/>
                      </a:lnTo>
                    </a:path>
                  </a:pathLst>
                </a:custGeom>
                <a:noFill/>
                <a:ln>
                  <a:solidFill>
                    <a:srgbClr val="0000FF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/>
                </a:p>
              </p:txBody>
            </p:sp>
            <p:sp>
              <p:nvSpPr>
                <p:cNvPr id="154" name="Forma Livre: Forma 160">
                  <a:extLst>
                    <a:ext uri="{FF2B5EF4-FFF2-40B4-BE49-F238E27FC236}">
                      <a16:creationId xmlns:a16="http://schemas.microsoft.com/office/drawing/2014/main" id="{11BACE2C-1532-83EC-B788-4E80BD59D914}"/>
                    </a:ext>
                  </a:extLst>
                </p:cNvPr>
                <p:cNvSpPr/>
                <p:nvPr/>
              </p:nvSpPr>
              <p:spPr>
                <a:xfrm>
                  <a:off x="5511567" y="1887523"/>
                  <a:ext cx="2248250" cy="1577130"/>
                </a:xfrm>
                <a:custGeom>
                  <a:avLst/>
                  <a:gdLst>
                    <a:gd name="connsiteX0" fmla="*/ 0 w 2248250"/>
                    <a:gd name="connsiteY0" fmla="*/ 0 h 1577130"/>
                    <a:gd name="connsiteX1" fmla="*/ 0 w 2248250"/>
                    <a:gd name="connsiteY1" fmla="*/ 0 h 1577130"/>
                    <a:gd name="connsiteX2" fmla="*/ 234892 w 2248250"/>
                    <a:gd name="connsiteY2" fmla="*/ 167780 h 1577130"/>
                    <a:gd name="connsiteX3" fmla="*/ 528506 w 2248250"/>
                    <a:gd name="connsiteY3" fmla="*/ 335560 h 1577130"/>
                    <a:gd name="connsiteX4" fmla="*/ 922789 w 2248250"/>
                    <a:gd name="connsiteY4" fmla="*/ 553673 h 1577130"/>
                    <a:gd name="connsiteX5" fmla="*/ 981512 w 2248250"/>
                    <a:gd name="connsiteY5" fmla="*/ 629174 h 1577130"/>
                    <a:gd name="connsiteX6" fmla="*/ 1140903 w 2248250"/>
                    <a:gd name="connsiteY6" fmla="*/ 763398 h 1577130"/>
                    <a:gd name="connsiteX7" fmla="*/ 1434517 w 2248250"/>
                    <a:gd name="connsiteY7" fmla="*/ 956345 h 1577130"/>
                    <a:gd name="connsiteX8" fmla="*/ 1803633 w 2248250"/>
                    <a:gd name="connsiteY8" fmla="*/ 1208015 h 1577130"/>
                    <a:gd name="connsiteX9" fmla="*/ 2248250 w 2248250"/>
                    <a:gd name="connsiteY9" fmla="*/ 1577130 h 157713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2248250" h="1577130">
                      <a:moveTo>
                        <a:pt x="0" y="0"/>
                      </a:moveTo>
                      <a:lnTo>
                        <a:pt x="0" y="0"/>
                      </a:lnTo>
                      <a:lnTo>
                        <a:pt x="234892" y="167780"/>
                      </a:lnTo>
                      <a:lnTo>
                        <a:pt x="528506" y="335560"/>
                      </a:lnTo>
                      <a:lnTo>
                        <a:pt x="922789" y="553673"/>
                      </a:lnTo>
                      <a:lnTo>
                        <a:pt x="981512" y="629174"/>
                      </a:lnTo>
                      <a:lnTo>
                        <a:pt x="1140903" y="763398"/>
                      </a:lnTo>
                      <a:lnTo>
                        <a:pt x="1434517" y="956345"/>
                      </a:lnTo>
                      <a:lnTo>
                        <a:pt x="1803633" y="1208015"/>
                      </a:lnTo>
                      <a:lnTo>
                        <a:pt x="2248250" y="1577130"/>
                      </a:lnTo>
                    </a:path>
                  </a:pathLst>
                </a:custGeom>
                <a:noFill/>
                <a:ln>
                  <a:solidFill>
                    <a:srgbClr val="0000FF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/>
                </a:p>
              </p:txBody>
            </p:sp>
            <p:sp>
              <p:nvSpPr>
                <p:cNvPr id="155" name="Forma Livre: Forma 161">
                  <a:extLst>
                    <a:ext uri="{FF2B5EF4-FFF2-40B4-BE49-F238E27FC236}">
                      <a16:creationId xmlns:a16="http://schemas.microsoft.com/office/drawing/2014/main" id="{F750C8AD-B07C-D1EA-B2F7-856CC6DDB682}"/>
                    </a:ext>
                  </a:extLst>
                </p:cNvPr>
                <p:cNvSpPr/>
                <p:nvPr/>
              </p:nvSpPr>
              <p:spPr>
                <a:xfrm>
                  <a:off x="5503178" y="1602297"/>
                  <a:ext cx="2365695" cy="1342239"/>
                </a:xfrm>
                <a:custGeom>
                  <a:avLst/>
                  <a:gdLst>
                    <a:gd name="connsiteX0" fmla="*/ 0 w 2365695"/>
                    <a:gd name="connsiteY0" fmla="*/ 25167 h 1342239"/>
                    <a:gd name="connsiteX1" fmla="*/ 0 w 2365695"/>
                    <a:gd name="connsiteY1" fmla="*/ 25167 h 1342239"/>
                    <a:gd name="connsiteX2" fmla="*/ 134224 w 2365695"/>
                    <a:gd name="connsiteY2" fmla="*/ 0 h 1342239"/>
                    <a:gd name="connsiteX3" fmla="*/ 746620 w 2365695"/>
                    <a:gd name="connsiteY3" fmla="*/ 176169 h 1342239"/>
                    <a:gd name="connsiteX4" fmla="*/ 813732 w 2365695"/>
                    <a:gd name="connsiteY4" fmla="*/ 218114 h 1342239"/>
                    <a:gd name="connsiteX5" fmla="*/ 1283516 w 2365695"/>
                    <a:gd name="connsiteY5" fmla="*/ 578841 h 1342239"/>
                    <a:gd name="connsiteX6" fmla="*/ 1367405 w 2365695"/>
                    <a:gd name="connsiteY6" fmla="*/ 645953 h 1342239"/>
                    <a:gd name="connsiteX7" fmla="*/ 1577130 w 2365695"/>
                    <a:gd name="connsiteY7" fmla="*/ 931178 h 1342239"/>
                    <a:gd name="connsiteX8" fmla="*/ 1652631 w 2365695"/>
                    <a:gd name="connsiteY8" fmla="*/ 989901 h 1342239"/>
                    <a:gd name="connsiteX9" fmla="*/ 1904301 w 2365695"/>
                    <a:gd name="connsiteY9" fmla="*/ 1140903 h 1342239"/>
                    <a:gd name="connsiteX10" fmla="*/ 2181138 w 2365695"/>
                    <a:gd name="connsiteY10" fmla="*/ 1266738 h 1342239"/>
                    <a:gd name="connsiteX11" fmla="*/ 2365695 w 2365695"/>
                    <a:gd name="connsiteY11" fmla="*/ 1342239 h 134223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</a:cxnLst>
                  <a:rect l="l" t="t" r="r" b="b"/>
                  <a:pathLst>
                    <a:path w="2365695" h="1342239">
                      <a:moveTo>
                        <a:pt x="0" y="25167"/>
                      </a:moveTo>
                      <a:lnTo>
                        <a:pt x="0" y="25167"/>
                      </a:lnTo>
                      <a:lnTo>
                        <a:pt x="134224" y="0"/>
                      </a:lnTo>
                      <a:lnTo>
                        <a:pt x="746620" y="176169"/>
                      </a:lnTo>
                      <a:lnTo>
                        <a:pt x="813732" y="218114"/>
                      </a:lnTo>
                      <a:lnTo>
                        <a:pt x="1283516" y="578841"/>
                      </a:lnTo>
                      <a:lnTo>
                        <a:pt x="1367405" y="645953"/>
                      </a:lnTo>
                      <a:lnTo>
                        <a:pt x="1577130" y="931178"/>
                      </a:lnTo>
                      <a:cubicBezTo>
                        <a:pt x="1642289" y="977720"/>
                        <a:pt x="1618844" y="956114"/>
                        <a:pt x="1652631" y="989901"/>
                      </a:cubicBezTo>
                      <a:lnTo>
                        <a:pt x="1904301" y="1140903"/>
                      </a:lnTo>
                      <a:lnTo>
                        <a:pt x="2181138" y="1266738"/>
                      </a:lnTo>
                      <a:lnTo>
                        <a:pt x="2365695" y="1342239"/>
                      </a:lnTo>
                    </a:path>
                  </a:pathLst>
                </a:custGeom>
                <a:noFill/>
                <a:ln>
                  <a:solidFill>
                    <a:srgbClr val="0000FF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/>
                </a:p>
              </p:txBody>
            </p:sp>
            <p:sp>
              <p:nvSpPr>
                <p:cNvPr id="156" name="Forma Livre: Forma 162">
                  <a:extLst>
                    <a:ext uri="{FF2B5EF4-FFF2-40B4-BE49-F238E27FC236}">
                      <a16:creationId xmlns:a16="http://schemas.microsoft.com/office/drawing/2014/main" id="{F72C4048-FFB3-3DDF-7589-8AC6E21F1984}"/>
                    </a:ext>
                  </a:extLst>
                </p:cNvPr>
                <p:cNvSpPr/>
                <p:nvPr/>
              </p:nvSpPr>
              <p:spPr>
                <a:xfrm>
                  <a:off x="5469622" y="1283516"/>
                  <a:ext cx="2399251" cy="1199625"/>
                </a:xfrm>
                <a:custGeom>
                  <a:avLst/>
                  <a:gdLst>
                    <a:gd name="connsiteX0" fmla="*/ 0 w 2399251"/>
                    <a:gd name="connsiteY0" fmla="*/ 0 h 1199625"/>
                    <a:gd name="connsiteX1" fmla="*/ 411061 w 2399251"/>
                    <a:gd name="connsiteY1" fmla="*/ 125834 h 1199625"/>
                    <a:gd name="connsiteX2" fmla="*/ 486561 w 2399251"/>
                    <a:gd name="connsiteY2" fmla="*/ 125834 h 1199625"/>
                    <a:gd name="connsiteX3" fmla="*/ 738231 w 2399251"/>
                    <a:gd name="connsiteY3" fmla="*/ 109056 h 1199625"/>
                    <a:gd name="connsiteX4" fmla="*/ 1065402 w 2399251"/>
                    <a:gd name="connsiteY4" fmla="*/ 50334 h 1199625"/>
                    <a:gd name="connsiteX5" fmla="*/ 1182848 w 2399251"/>
                    <a:gd name="connsiteY5" fmla="*/ 58723 h 1199625"/>
                    <a:gd name="connsiteX6" fmla="*/ 1501629 w 2399251"/>
                    <a:gd name="connsiteY6" fmla="*/ 310392 h 1199625"/>
                    <a:gd name="connsiteX7" fmla="*/ 1543574 w 2399251"/>
                    <a:gd name="connsiteY7" fmla="*/ 394282 h 1199625"/>
                    <a:gd name="connsiteX8" fmla="*/ 1644242 w 2399251"/>
                    <a:gd name="connsiteY8" fmla="*/ 696286 h 1199625"/>
                    <a:gd name="connsiteX9" fmla="*/ 1770077 w 2399251"/>
                    <a:gd name="connsiteY9" fmla="*/ 864066 h 1199625"/>
                    <a:gd name="connsiteX10" fmla="*/ 1845578 w 2399251"/>
                    <a:gd name="connsiteY10" fmla="*/ 889233 h 1199625"/>
                    <a:gd name="connsiteX11" fmla="*/ 2013358 w 2399251"/>
                    <a:gd name="connsiteY11" fmla="*/ 981512 h 1199625"/>
                    <a:gd name="connsiteX12" fmla="*/ 2399251 w 2399251"/>
                    <a:gd name="connsiteY12" fmla="*/ 1199625 h 11996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</a:cxnLst>
                  <a:rect l="l" t="t" r="r" b="b"/>
                  <a:pathLst>
                    <a:path w="2399251" h="1199625">
                      <a:moveTo>
                        <a:pt x="0" y="0"/>
                      </a:moveTo>
                      <a:lnTo>
                        <a:pt x="411061" y="125834"/>
                      </a:lnTo>
                      <a:lnTo>
                        <a:pt x="486561" y="125834"/>
                      </a:lnTo>
                      <a:lnTo>
                        <a:pt x="738231" y="109056"/>
                      </a:lnTo>
                      <a:lnTo>
                        <a:pt x="1065402" y="50334"/>
                      </a:lnTo>
                      <a:lnTo>
                        <a:pt x="1182848" y="58723"/>
                      </a:lnTo>
                      <a:lnTo>
                        <a:pt x="1501629" y="310392"/>
                      </a:lnTo>
                      <a:lnTo>
                        <a:pt x="1543574" y="394282"/>
                      </a:lnTo>
                      <a:lnTo>
                        <a:pt x="1644242" y="696286"/>
                      </a:lnTo>
                      <a:lnTo>
                        <a:pt x="1770077" y="864066"/>
                      </a:lnTo>
                      <a:lnTo>
                        <a:pt x="1845578" y="889233"/>
                      </a:lnTo>
                      <a:lnTo>
                        <a:pt x="2013358" y="981512"/>
                      </a:lnTo>
                      <a:lnTo>
                        <a:pt x="2399251" y="1199625"/>
                      </a:lnTo>
                    </a:path>
                  </a:pathLst>
                </a:custGeom>
                <a:noFill/>
                <a:ln>
                  <a:solidFill>
                    <a:srgbClr val="0000FF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/>
                </a:p>
              </p:txBody>
            </p:sp>
            <p:sp>
              <p:nvSpPr>
                <p:cNvPr id="157" name="Forma Livre: Forma 163">
                  <a:extLst>
                    <a:ext uri="{FF2B5EF4-FFF2-40B4-BE49-F238E27FC236}">
                      <a16:creationId xmlns:a16="http://schemas.microsoft.com/office/drawing/2014/main" id="{78514355-1963-A9AC-96B4-044207506601}"/>
                    </a:ext>
                  </a:extLst>
                </p:cNvPr>
                <p:cNvSpPr/>
                <p:nvPr/>
              </p:nvSpPr>
              <p:spPr>
                <a:xfrm>
                  <a:off x="6878972" y="1107347"/>
                  <a:ext cx="1015068" cy="1006679"/>
                </a:xfrm>
                <a:custGeom>
                  <a:avLst/>
                  <a:gdLst>
                    <a:gd name="connsiteX0" fmla="*/ 0 w 1015068"/>
                    <a:gd name="connsiteY0" fmla="*/ 0 h 1006679"/>
                    <a:gd name="connsiteX1" fmla="*/ 201336 w 1015068"/>
                    <a:gd name="connsiteY1" fmla="*/ 142613 h 1006679"/>
                    <a:gd name="connsiteX2" fmla="*/ 335560 w 1015068"/>
                    <a:gd name="connsiteY2" fmla="*/ 209725 h 1006679"/>
                    <a:gd name="connsiteX3" fmla="*/ 520118 w 1015068"/>
                    <a:gd name="connsiteY3" fmla="*/ 444616 h 1006679"/>
                    <a:gd name="connsiteX4" fmla="*/ 595619 w 1015068"/>
                    <a:gd name="connsiteY4" fmla="*/ 578840 h 1006679"/>
                    <a:gd name="connsiteX5" fmla="*/ 696287 w 1015068"/>
                    <a:gd name="connsiteY5" fmla="*/ 780176 h 1006679"/>
                    <a:gd name="connsiteX6" fmla="*/ 1015068 w 1015068"/>
                    <a:gd name="connsiteY6" fmla="*/ 1006679 h 100667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015068" h="1006679">
                      <a:moveTo>
                        <a:pt x="0" y="0"/>
                      </a:moveTo>
                      <a:lnTo>
                        <a:pt x="201336" y="142613"/>
                      </a:lnTo>
                      <a:cubicBezTo>
                        <a:pt x="300391" y="202046"/>
                        <a:pt x="254289" y="182635"/>
                        <a:pt x="335560" y="209725"/>
                      </a:cubicBezTo>
                      <a:lnTo>
                        <a:pt x="520118" y="444616"/>
                      </a:lnTo>
                      <a:cubicBezTo>
                        <a:pt x="575424" y="564445"/>
                        <a:pt x="542141" y="525362"/>
                        <a:pt x="595619" y="578840"/>
                      </a:cubicBezTo>
                      <a:lnTo>
                        <a:pt x="696287" y="780176"/>
                      </a:lnTo>
                      <a:lnTo>
                        <a:pt x="1015068" y="1006679"/>
                      </a:lnTo>
                    </a:path>
                  </a:pathLst>
                </a:custGeom>
                <a:noFill/>
                <a:ln>
                  <a:solidFill>
                    <a:srgbClr val="0000FF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/>
                </a:p>
              </p:txBody>
            </p:sp>
          </p:grpSp>
          <p:cxnSp>
            <p:nvCxnSpPr>
              <p:cNvPr id="148" name="Conector de Seta Reta 166">
                <a:extLst>
                  <a:ext uri="{FF2B5EF4-FFF2-40B4-BE49-F238E27FC236}">
                    <a16:creationId xmlns:a16="http://schemas.microsoft.com/office/drawing/2014/main" id="{75F1CC01-F2F1-C71C-25B7-5964BCD00E89}"/>
                  </a:ext>
                </a:extLst>
              </p:cNvPr>
              <p:cNvCxnSpPr/>
              <p:nvPr/>
            </p:nvCxnSpPr>
            <p:spPr>
              <a:xfrm flipV="1">
                <a:off x="6534544" y="3071658"/>
                <a:ext cx="378202" cy="487405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9" name="Conector de Seta Reta 167">
                <a:extLst>
                  <a:ext uri="{FF2B5EF4-FFF2-40B4-BE49-F238E27FC236}">
                    <a16:creationId xmlns:a16="http://schemas.microsoft.com/office/drawing/2014/main" id="{3DBF22AE-C462-9301-1FEF-C42CBA8A40CA}"/>
                  </a:ext>
                </a:extLst>
              </p:cNvPr>
              <p:cNvCxnSpPr/>
              <p:nvPr/>
            </p:nvCxnSpPr>
            <p:spPr>
              <a:xfrm flipV="1">
                <a:off x="7315417" y="2821982"/>
                <a:ext cx="378202" cy="487405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0" name="Conector de Seta Reta 168">
                <a:extLst>
                  <a:ext uri="{FF2B5EF4-FFF2-40B4-BE49-F238E27FC236}">
                    <a16:creationId xmlns:a16="http://schemas.microsoft.com/office/drawing/2014/main" id="{F4E8655E-3973-ABED-5C93-D814CD3AEDBE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889162" y="1823007"/>
                <a:ext cx="503889" cy="92133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1" name="Conector de Seta Reta 170">
                <a:extLst>
                  <a:ext uri="{FF2B5EF4-FFF2-40B4-BE49-F238E27FC236}">
                    <a16:creationId xmlns:a16="http://schemas.microsoft.com/office/drawing/2014/main" id="{EF3B2D5C-6204-40C7-CF64-381408C25AC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887165" y="2544134"/>
                <a:ext cx="513322" cy="236916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158" name="Object 4">
                <a:extLst>
                  <a:ext uri="{63B3BB69-23CF-44E3-9099-C40C66FF867C}">
                    <a14:compatExt spid="_x0000_s1028"/>
                  </a:ext>
                  <a:ext uri="{FF2B5EF4-FFF2-40B4-BE49-F238E27FC236}">
                    <a16:creationId xmlns:a16="http://schemas.microsoft.com/office/drawing/2014/main" id="{D11EBF9B-EFC3-C3FB-61AD-C583454EC737}"/>
                  </a:ext>
                </a:extLst>
              </p:cNvPr>
              <p:cNvSpPr txBox="1"/>
              <p:nvPr/>
            </p:nvSpPr>
            <p:spPr>
              <a:xfrm>
                <a:off x="10718120" y="644112"/>
                <a:ext cx="666273" cy="602370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anchor="ctr">
                <a:noAutofit/>
              </a:bodyPr>
              <a:lstStyle>
                <a:lvl1pPr marL="0" indent="0">
                  <a:defRPr sz="1100">
                    <a:latin typeface="+mn-lt"/>
                    <a:ea typeface="+mn-ea"/>
                    <a:cs typeface="+mn-cs"/>
                  </a:defRPr>
                </a:lvl1pPr>
                <a:lvl2pPr marL="457200" indent="0">
                  <a:defRPr sz="1100">
                    <a:latin typeface="+mn-lt"/>
                    <a:ea typeface="+mn-ea"/>
                    <a:cs typeface="+mn-cs"/>
                  </a:defRPr>
                </a:lvl2pPr>
                <a:lvl3pPr marL="914400" indent="0">
                  <a:defRPr sz="1100">
                    <a:latin typeface="+mn-lt"/>
                    <a:ea typeface="+mn-ea"/>
                    <a:cs typeface="+mn-cs"/>
                  </a:defRPr>
                </a:lvl3pPr>
                <a:lvl4pPr marL="1371600" indent="0">
                  <a:defRPr sz="1100">
                    <a:latin typeface="+mn-lt"/>
                    <a:ea typeface="+mn-ea"/>
                    <a:cs typeface="+mn-cs"/>
                  </a:defRPr>
                </a:lvl4pPr>
                <a:lvl5pPr marL="1828800" indent="0">
                  <a:defRPr sz="1100">
                    <a:latin typeface="+mn-lt"/>
                    <a:ea typeface="+mn-ea"/>
                    <a:cs typeface="+mn-cs"/>
                  </a:defRPr>
                </a:lvl5pPr>
                <a:lvl6pPr marL="2286000" indent="0">
                  <a:defRPr sz="1100">
                    <a:latin typeface="+mn-lt"/>
                    <a:ea typeface="+mn-ea"/>
                    <a:cs typeface="+mn-cs"/>
                  </a:defRPr>
                </a:lvl6pPr>
                <a:lvl7pPr marL="2743200" indent="0">
                  <a:defRPr sz="1100">
                    <a:latin typeface="+mn-lt"/>
                    <a:ea typeface="+mn-ea"/>
                    <a:cs typeface="+mn-cs"/>
                  </a:defRPr>
                </a:lvl7pPr>
                <a:lvl8pPr marL="3200400" indent="0">
                  <a:defRPr sz="1100">
                    <a:latin typeface="+mn-lt"/>
                    <a:ea typeface="+mn-ea"/>
                    <a:cs typeface="+mn-cs"/>
                  </a:defRPr>
                </a:lvl8pPr>
                <a:lvl9pPr marL="3657600" indent="0">
                  <a:defRPr sz="1100">
                    <a:latin typeface="+mn-lt"/>
                    <a:ea typeface="+mn-ea"/>
                    <a:cs typeface="+mn-cs"/>
                  </a:defRPr>
                </a:lvl9pPr>
              </a:lstStyle>
              <a:p>
                <a:pPr lvl="0" algn="ctr"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2000" b="1" i="0" smtClean="0">
                          <a:solidFill>
                            <a:srgbClr val="0000FF"/>
                          </a:solidFill>
                          <a:latin typeface="Cambria Math" panose="02040503050406030204" pitchFamily="18" charset="0"/>
                        </a:rPr>
                        <m:t>𝐧𝐮𝐦</m:t>
                      </m:r>
                      <m:r>
                        <a:rPr lang="pt-BR" sz="2000" b="1" i="0" smtClean="0">
                          <a:solidFill>
                            <a:srgbClr val="0000FF"/>
                          </a:solidFill>
                          <a:latin typeface="Cambria Math" panose="02040503050406030204" pitchFamily="18" charset="0"/>
                        </a:rPr>
                        <m:t>é</m:t>
                      </m:r>
                      <m:r>
                        <a:rPr lang="pt-BR" sz="2000" b="1" i="0" smtClean="0">
                          <a:solidFill>
                            <a:srgbClr val="0000FF"/>
                          </a:solidFill>
                          <a:latin typeface="Cambria Math" panose="02040503050406030204" pitchFamily="18" charset="0"/>
                        </a:rPr>
                        <m:t>𝐫𝐢𝐜𝐨</m:t>
                      </m:r>
                    </m:oMath>
                  </m:oMathPara>
                </a14:m>
                <a:endParaRPr lang="en-GB" sz="2000" b="1" dirty="0">
                  <a:solidFill>
                    <a:srgbClr val="0000FF"/>
                  </a:solidFill>
                </a:endParaRPr>
              </a:p>
            </p:txBody>
          </p:sp>
        </mc:Choice>
        <mc:Fallback>
          <p:sp>
            <p:nvSpPr>
              <p:cNvPr id="158" name="Object 4">
                <a:extLst>
                  <a:ext uri="{63B3BB69-23CF-44E3-9099-C40C66FF867C}">
                    <a14:compatExt xmlns:a14="http://schemas.microsoft.com/office/drawing/2010/main" spid="_x0000_s1028"/>
                  </a:ext>
                  <a:ext uri="{FF2B5EF4-FFF2-40B4-BE49-F238E27FC236}">
                    <a16:creationId xmlns:a16="http://schemas.microsoft.com/office/drawing/2014/main" id="{D11EBF9B-EFC3-C3FB-61AD-C583454EC7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18120" y="644112"/>
                <a:ext cx="666273" cy="602370"/>
              </a:xfrm>
              <a:prstGeom prst="rect">
                <a:avLst/>
              </a:prstGeom>
              <a:blipFill>
                <a:blip r:embed="rId27"/>
                <a:stretch>
                  <a:fillRect l="-53636" r="-45455"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59" name="Object 4">
                <a:extLst>
                  <a:ext uri="{63B3BB69-23CF-44E3-9099-C40C66FF867C}">
                    <a14:compatExt spid="_x0000_s1028"/>
                  </a:ext>
                  <a:ext uri="{FF2B5EF4-FFF2-40B4-BE49-F238E27FC236}">
                    <a16:creationId xmlns:a16="http://schemas.microsoft.com/office/drawing/2014/main" id="{FE8E4903-B8B4-3B33-50F8-DD4CCA92C8DF}"/>
                  </a:ext>
                </a:extLst>
              </p:cNvPr>
              <p:cNvSpPr txBox="1"/>
              <p:nvPr/>
            </p:nvSpPr>
            <p:spPr>
              <a:xfrm>
                <a:off x="11226186" y="4168312"/>
                <a:ext cx="562178" cy="369332"/>
              </a:xfrm>
              <a:prstGeom prst="rect">
                <a:avLst/>
              </a:prstGeom>
              <a:solidFill>
                <a:schemeClr val="bg1"/>
              </a:solidFill>
              <a:ln w="3175">
                <a:noFill/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txBody>
              <a:bodyPr wrap="square" lIns="0" tIns="0" rIns="0" bIns="0" anchor="ctr" anchorCtr="0">
                <a:spAutoFit/>
              </a:bodyPr>
              <a:lstStyle>
                <a:defPPr>
                  <a:defRPr lang="LID4096"/>
                </a:defPPr>
                <a:lvl1pPr lvl="0" indent="0" algn="ctr">
                  <a:defRPr sz="2400" b="1"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latin typeface="Calibri (Body)"/>
                    <a:ea typeface="Cambria Math" panose="02040503050406030204" pitchFamily="18" charset="0"/>
                  </a:defRPr>
                </a:lvl1pPr>
                <a:lvl2pPr indent="0">
                  <a:defRPr sz="1100"/>
                </a:lvl2pPr>
                <a:lvl3pPr indent="0">
                  <a:defRPr sz="1100"/>
                </a:lvl3pPr>
                <a:lvl4pPr indent="0">
                  <a:defRPr sz="1100"/>
                </a:lvl4pPr>
                <a:lvl5pPr indent="0">
                  <a:defRPr sz="1100"/>
                </a:lvl5pPr>
                <a:lvl6pPr indent="0">
                  <a:defRPr sz="1100"/>
                </a:lvl6pPr>
                <a:lvl7pPr indent="0">
                  <a:defRPr sz="1100"/>
                </a:lvl7pPr>
                <a:lvl8pPr indent="0">
                  <a:defRPr sz="1100"/>
                </a:lvl8pPr>
                <a:lvl9pPr indent="0">
                  <a:defRPr sz="1100"/>
                </a:lvl9pPr>
              </a:lstStyle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/>
                        <m:t>𝟐𝐃</m:t>
                      </m:r>
                    </m:oMath>
                  </m:oMathPara>
                </a14:m>
                <a:endParaRPr lang="en-GB" dirty="0"/>
              </a:p>
            </p:txBody>
          </p:sp>
        </mc:Choice>
        <mc:Fallback>
          <p:sp>
            <p:nvSpPr>
              <p:cNvPr id="159" name="Object 4">
                <a:extLst>
                  <a:ext uri="{63B3BB69-23CF-44E3-9099-C40C66FF867C}">
                    <a14:compatExt xmlns:a14="http://schemas.microsoft.com/office/drawing/2010/main" spid="_x0000_s1028"/>
                  </a:ext>
                  <a:ext uri="{FF2B5EF4-FFF2-40B4-BE49-F238E27FC236}">
                    <a16:creationId xmlns:a16="http://schemas.microsoft.com/office/drawing/2014/main" id="{FE8E4903-B8B4-3B33-50F8-DD4CCA92C8D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226186" y="4168312"/>
                <a:ext cx="562178" cy="369332"/>
              </a:xfrm>
              <a:prstGeom prst="rect">
                <a:avLst/>
              </a:prstGeom>
              <a:blipFill>
                <a:blip r:embed="rId28"/>
                <a:stretch>
                  <a:fillRect/>
                </a:stretch>
              </a:blipFill>
              <a:ln w="3175">
                <a:noFill/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60" name="Object 4">
                <a:extLst>
                  <a:ext uri="{63B3BB69-23CF-44E3-9099-C40C66FF867C}">
                    <a14:compatExt spid="_x0000_s1028"/>
                  </a:ext>
                  <a:ext uri="{FF2B5EF4-FFF2-40B4-BE49-F238E27FC236}">
                    <a16:creationId xmlns:a16="http://schemas.microsoft.com/office/drawing/2014/main" id="{99A5E381-024C-E7EE-E761-56E0A3CCF425}"/>
                  </a:ext>
                </a:extLst>
              </p:cNvPr>
              <p:cNvSpPr txBox="1"/>
              <p:nvPr/>
            </p:nvSpPr>
            <p:spPr>
              <a:xfrm>
                <a:off x="11240561" y="5805989"/>
                <a:ext cx="562178" cy="369332"/>
              </a:xfrm>
              <a:prstGeom prst="rect">
                <a:avLst/>
              </a:prstGeom>
              <a:solidFill>
                <a:schemeClr val="bg1"/>
              </a:solidFill>
              <a:ln w="3175">
                <a:noFill/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txBody>
              <a:bodyPr wrap="square" lIns="0" tIns="0" rIns="0" bIns="0" anchor="ctr" anchorCtr="0">
                <a:spAutoFit/>
              </a:bodyPr>
              <a:lstStyle>
                <a:defPPr>
                  <a:defRPr lang="LID4096"/>
                </a:defPPr>
                <a:lvl1pPr lvl="0" indent="0" algn="ctr">
                  <a:defRPr sz="2400" b="1"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latin typeface="Calibri (Body)"/>
                    <a:ea typeface="Cambria Math" panose="02040503050406030204" pitchFamily="18" charset="0"/>
                  </a:defRPr>
                </a:lvl1pPr>
                <a:lvl2pPr indent="0">
                  <a:defRPr sz="1100"/>
                </a:lvl2pPr>
                <a:lvl3pPr indent="0">
                  <a:defRPr sz="1100"/>
                </a:lvl3pPr>
                <a:lvl4pPr indent="0">
                  <a:defRPr sz="1100"/>
                </a:lvl4pPr>
                <a:lvl5pPr indent="0">
                  <a:defRPr sz="1100"/>
                </a:lvl5pPr>
                <a:lvl6pPr indent="0">
                  <a:defRPr sz="1100"/>
                </a:lvl6pPr>
                <a:lvl7pPr indent="0">
                  <a:defRPr sz="1100"/>
                </a:lvl7pPr>
                <a:lvl8pPr indent="0">
                  <a:defRPr sz="1100"/>
                </a:lvl8pPr>
                <a:lvl9pPr indent="0">
                  <a:defRPr sz="1100"/>
                </a:lvl9pPr>
              </a:lstStyle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1" i="0" smtClean="0">
                          <a:latin typeface="Cambria Math" panose="02040503050406030204" pitchFamily="18" charset="0"/>
                        </a:rPr>
                        <m:t>𝟑</m:t>
                      </m:r>
                      <m:r>
                        <a:rPr lang="pt-BR"/>
                        <m:t>𝐃</m:t>
                      </m:r>
                    </m:oMath>
                  </m:oMathPara>
                </a14:m>
                <a:endParaRPr lang="en-GB" dirty="0"/>
              </a:p>
            </p:txBody>
          </p:sp>
        </mc:Choice>
        <mc:Fallback>
          <p:sp>
            <p:nvSpPr>
              <p:cNvPr id="160" name="Object 4">
                <a:extLst>
                  <a:ext uri="{63B3BB69-23CF-44E3-9099-C40C66FF867C}">
                    <a14:compatExt xmlns:a14="http://schemas.microsoft.com/office/drawing/2010/main" spid="_x0000_s1028"/>
                  </a:ext>
                  <a:ext uri="{FF2B5EF4-FFF2-40B4-BE49-F238E27FC236}">
                    <a16:creationId xmlns:a16="http://schemas.microsoft.com/office/drawing/2014/main" id="{99A5E381-024C-E7EE-E761-56E0A3CCF42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240561" y="5805989"/>
                <a:ext cx="562178" cy="369332"/>
              </a:xfrm>
              <a:prstGeom prst="rect">
                <a:avLst/>
              </a:prstGeom>
              <a:blipFill>
                <a:blip r:embed="rId29"/>
                <a:stretch>
                  <a:fillRect/>
                </a:stretch>
              </a:blipFill>
              <a:ln w="3175">
                <a:noFill/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5191226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AC7EA140-2D21-5139-71CB-2D372176683C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5FFF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8C28403-C001-2645-3F4C-56AE906210A5}"/>
              </a:ext>
            </a:extLst>
          </p:cNvPr>
          <p:cNvSpPr txBox="1"/>
          <p:nvPr/>
        </p:nvSpPr>
        <p:spPr>
          <a:xfrm>
            <a:off x="572120" y="363016"/>
            <a:ext cx="3829128" cy="1908215"/>
          </a:xfrm>
          <a:prstGeom prst="rect">
            <a:avLst/>
          </a:prstGeom>
          <a:solidFill>
            <a:schemeClr val="tx1"/>
          </a:solidFill>
          <a:effectLst>
            <a:outerShdw blurRad="76200" dir="13500000" sy="23000" kx="1200000" algn="br" rotWithShape="0">
              <a:prstClr val="black">
                <a:alpha val="20000"/>
              </a:prstClr>
            </a:outerShdw>
          </a:effectLst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   ===========                 </a:t>
            </a:r>
          </a:p>
          <a:p>
            <a:r>
              <a:rPr lang="en-US" dirty="0">
                <a:solidFill>
                  <a:schemeClr val="bg1"/>
                </a:solidFill>
              </a:rPr>
              <a:t>     \ \               /     </a:t>
            </a:r>
            <a:r>
              <a:rPr lang="en-US" sz="2400" b="1" dirty="0">
                <a:solidFill>
                  <a:srgbClr val="FFFF00"/>
                </a:solidFill>
              </a:rPr>
              <a:t>F</a:t>
            </a:r>
            <a:r>
              <a:rPr lang="en-US" sz="2000" dirty="0">
                <a:solidFill>
                  <a:schemeClr val="bg1"/>
                </a:solidFill>
              </a:rPr>
              <a:t>   ield             </a:t>
            </a:r>
          </a:p>
          <a:p>
            <a:r>
              <a:rPr lang="en-US" sz="2000" dirty="0">
                <a:solidFill>
                  <a:schemeClr val="bg1"/>
                </a:solidFill>
              </a:rPr>
              <a:t>      \ \          /      </a:t>
            </a:r>
            <a:r>
              <a:rPr lang="en-US" sz="2400" b="1" dirty="0">
                <a:solidFill>
                  <a:srgbClr val="FFFF00"/>
                </a:solidFill>
              </a:rPr>
              <a:t>O</a:t>
            </a:r>
            <a:r>
              <a:rPr lang="en-US" sz="2000" dirty="0">
                <a:solidFill>
                  <a:schemeClr val="bg1"/>
                </a:solidFill>
              </a:rPr>
              <a:t>  peration    </a:t>
            </a:r>
          </a:p>
          <a:p>
            <a:r>
              <a:rPr lang="en-US" sz="2000" dirty="0">
                <a:solidFill>
                  <a:schemeClr val="bg1"/>
                </a:solidFill>
              </a:rPr>
              <a:t>        \ \      /        </a:t>
            </a:r>
            <a:r>
              <a:rPr lang="en-US" sz="2400" b="1" dirty="0">
                <a:solidFill>
                  <a:srgbClr val="FFFF00"/>
                </a:solidFill>
              </a:rPr>
              <a:t>A</a:t>
            </a:r>
            <a:r>
              <a:rPr lang="en-US" sz="2000" dirty="0">
                <a:solidFill>
                  <a:schemeClr val="bg1"/>
                </a:solidFill>
              </a:rPr>
              <a:t> </a:t>
            </a:r>
            <a:r>
              <a:rPr lang="en-US" sz="2400" dirty="0">
                <a:solidFill>
                  <a:schemeClr val="bg1"/>
                </a:solidFill>
              </a:rPr>
              <a:t> </a:t>
            </a:r>
            <a:r>
              <a:rPr lang="en-US" sz="2000" dirty="0">
                <a:solidFill>
                  <a:schemeClr val="bg1"/>
                </a:solidFill>
              </a:rPr>
              <a:t>nd          </a:t>
            </a:r>
          </a:p>
          <a:p>
            <a:r>
              <a:rPr lang="en-US" sz="2000" dirty="0">
                <a:solidFill>
                  <a:schemeClr val="bg1"/>
                </a:solidFill>
              </a:rPr>
              <a:t>          \ \  /          </a:t>
            </a:r>
            <a:r>
              <a:rPr lang="en-US" sz="2400" b="1" dirty="0">
                <a:solidFill>
                  <a:srgbClr val="FFFF00"/>
                </a:solidFill>
              </a:rPr>
              <a:t>M</a:t>
            </a:r>
            <a:r>
              <a:rPr lang="en-US" sz="2000" dirty="0">
                <a:solidFill>
                  <a:schemeClr val="bg1"/>
                </a:solidFill>
              </a:rPr>
              <a:t> anipulation  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4987D2C-3F5F-BA81-3762-CB101C9FF7B9}"/>
              </a:ext>
            </a:extLst>
          </p:cNvPr>
          <p:cNvSpPr txBox="1"/>
          <p:nvPr/>
        </p:nvSpPr>
        <p:spPr>
          <a:xfrm>
            <a:off x="3176221" y="363016"/>
            <a:ext cx="121298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2800" b="1" u="sng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LMRoman12-Regular"/>
              </a:rPr>
              <a:t>Open</a:t>
            </a:r>
            <a:endParaRPr lang="LID4096" sz="2800" b="1" u="sng" dirty="0">
              <a:solidFill>
                <a:srgbClr val="FFFF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pic>
        <p:nvPicPr>
          <p:cNvPr id="7" name="Picture 2" descr="Ícone de Ubuntu simples a marca logo">
            <a:extLst>
              <a:ext uri="{FF2B5EF4-FFF2-40B4-BE49-F238E27FC236}">
                <a16:creationId xmlns:a16="http://schemas.microsoft.com/office/drawing/2014/main" id="{46B51EE5-8F08-5C01-8191-542971D6E7E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05626" y="372069"/>
            <a:ext cx="1856259" cy="1856259"/>
          </a:xfrm>
          <a:prstGeom prst="rect">
            <a:avLst/>
          </a:prstGeom>
          <a:noFill/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 descr="Linux SVG and transparent PNG icons | TechIcons">
            <a:extLst>
              <a:ext uri="{FF2B5EF4-FFF2-40B4-BE49-F238E27FC236}">
                <a16:creationId xmlns:a16="http://schemas.microsoft.com/office/drawing/2014/main" id="{18EF3775-C478-6507-4F0D-52AC7A0FDA9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90873" y="372069"/>
            <a:ext cx="1560091" cy="1560091"/>
          </a:xfrm>
          <a:prstGeom prst="rect">
            <a:avLst/>
          </a:prstGeom>
          <a:noFill/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59C63E12-8E2E-6263-15C2-2AAA6B5223B1}"/>
              </a:ext>
            </a:extLst>
          </p:cNvPr>
          <p:cNvSpPr txBox="1"/>
          <p:nvPr/>
        </p:nvSpPr>
        <p:spPr>
          <a:xfrm>
            <a:off x="4531051" y="1861615"/>
            <a:ext cx="121298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8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LMRoman12-Regular"/>
              </a:rPr>
              <a:t>Linux</a:t>
            </a:r>
            <a:endParaRPr lang="LID4096" sz="28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A5BE7CD0-9D7D-8FAF-2CE8-45B7CD73D9B3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5792" t="1090" b="20744"/>
          <a:stretch>
            <a:fillRect/>
          </a:stretch>
        </p:blipFill>
        <p:spPr>
          <a:xfrm>
            <a:off x="6195835" y="3379884"/>
            <a:ext cx="5510170" cy="3121823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grpSp>
        <p:nvGrpSpPr>
          <p:cNvPr id="11" name="Group 10">
            <a:extLst>
              <a:ext uri="{FF2B5EF4-FFF2-40B4-BE49-F238E27FC236}">
                <a16:creationId xmlns:a16="http://schemas.microsoft.com/office/drawing/2014/main" id="{E2DCD753-2CF3-0B38-F1D3-A5F39939F30E}"/>
              </a:ext>
            </a:extLst>
          </p:cNvPr>
          <p:cNvGrpSpPr>
            <a:grpSpLocks noChangeAspect="1"/>
          </p:cNvGrpSpPr>
          <p:nvPr/>
        </p:nvGrpSpPr>
        <p:grpSpPr>
          <a:xfrm>
            <a:off x="9613943" y="3817761"/>
            <a:ext cx="1885554" cy="1959790"/>
            <a:chOff x="6630437" y="2359743"/>
            <a:chExt cx="1294361" cy="1345321"/>
          </a:xfrm>
        </p:grpSpPr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ABD2520C-C2EF-AFFC-BEF3-C31E96B4542E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6630437" y="2359743"/>
              <a:ext cx="1294361" cy="1345321"/>
            </a:xfrm>
            <a:prstGeom prst="rect">
              <a:avLst/>
            </a:prstGeom>
            <a:effectLst>
              <a:outerShdw blurRad="50800" dist="38100" dir="8100000" algn="tr" rotWithShape="0">
                <a:schemeClr val="bg1">
                  <a:alpha val="40000"/>
                </a:schemeClr>
              </a:outerShdw>
            </a:effectLst>
          </p:spPr>
        </p:pic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DE21DE0B-F6EF-09A6-7C9E-FC10ADE01278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rcRect t="17569" r="22774" b="29231"/>
            <a:stretch>
              <a:fillRect/>
            </a:stretch>
          </p:blipFill>
          <p:spPr>
            <a:xfrm>
              <a:off x="6691982" y="2409489"/>
              <a:ext cx="1196534" cy="1159835"/>
            </a:xfrm>
            <a:prstGeom prst="rect">
              <a:avLst/>
            </a:prstGeom>
          </p:spPr>
        </p:pic>
      </p:grpSp>
      <p:pic>
        <p:nvPicPr>
          <p:cNvPr id="18" name="Picture 17">
            <a:extLst>
              <a:ext uri="{FF2B5EF4-FFF2-40B4-BE49-F238E27FC236}">
                <a16:creationId xmlns:a16="http://schemas.microsoft.com/office/drawing/2014/main" id="{9744FEA0-5E34-8E39-0C2E-60FDF6B5653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58404" y="2901514"/>
            <a:ext cx="5048250" cy="638175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grpSp>
        <p:nvGrpSpPr>
          <p:cNvPr id="19" name="Group 18">
            <a:extLst>
              <a:ext uri="{FF2B5EF4-FFF2-40B4-BE49-F238E27FC236}">
                <a16:creationId xmlns:a16="http://schemas.microsoft.com/office/drawing/2014/main" id="{52F60EAB-C414-E9B6-8F84-DA483CB5A174}"/>
              </a:ext>
            </a:extLst>
          </p:cNvPr>
          <p:cNvGrpSpPr/>
          <p:nvPr/>
        </p:nvGrpSpPr>
        <p:grpSpPr>
          <a:xfrm>
            <a:off x="4759327" y="2656395"/>
            <a:ext cx="950514" cy="883294"/>
            <a:chOff x="9845949" y="5571569"/>
            <a:chExt cx="950514" cy="883294"/>
          </a:xfrm>
        </p:grpSpPr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830E9015-6308-2730-2E5B-2460429CC19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845949" y="5681017"/>
              <a:ext cx="645765" cy="773846"/>
            </a:xfrm>
            <a:prstGeom prst="straightConnector1">
              <a:avLst/>
            </a:prstGeom>
            <a:ln>
              <a:solidFill>
                <a:srgbClr val="0000FF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7ADE6537-FA2D-E505-7656-214443B94520}"/>
                </a:ext>
              </a:extLst>
            </p:cNvPr>
            <p:cNvSpPr txBox="1"/>
            <p:nvPr/>
          </p:nvSpPr>
          <p:spPr>
            <a:xfrm>
              <a:off x="10491714" y="5571569"/>
              <a:ext cx="304749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LID4096"/>
              </a:defPPr>
              <a:lvl1pPr>
                <a:defRPr sz="1050" b="1">
                  <a:solidFill>
                    <a:srgbClr val="0000FF"/>
                  </a:solidFill>
                </a:defRPr>
              </a:lvl1pPr>
            </a:lstStyle>
            <a:p>
              <a:r>
                <a:rPr lang="en-GB" sz="1100" noProof="0" dirty="0"/>
                <a:t>0</a:t>
              </a:r>
              <a:endParaRPr lang="en-GB" sz="1400" noProof="0" dirty="0">
                <a:solidFill>
                  <a:srgbClr val="FF0000"/>
                </a:solidFill>
              </a:endParaRPr>
            </a:p>
          </p:txBody>
        </p:sp>
      </p:grpSp>
      <p:sp>
        <p:nvSpPr>
          <p:cNvPr id="22" name="Rectangle 21">
            <a:extLst>
              <a:ext uri="{FF2B5EF4-FFF2-40B4-BE49-F238E27FC236}">
                <a16:creationId xmlns:a16="http://schemas.microsoft.com/office/drawing/2014/main" id="{7D85CDA5-FA95-6C1C-63F5-4216390686B0}"/>
              </a:ext>
            </a:extLst>
          </p:cNvPr>
          <p:cNvSpPr/>
          <p:nvPr/>
        </p:nvSpPr>
        <p:spPr>
          <a:xfrm>
            <a:off x="1511152" y="2766422"/>
            <a:ext cx="1283035" cy="874287"/>
          </a:xfrm>
          <a:prstGeom prst="rect">
            <a:avLst/>
          </a:prstGeom>
          <a:noFill/>
          <a:ln>
            <a:solidFill>
              <a:srgbClr val="0000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CAA055A-30BC-C2FA-4078-581546984846}"/>
              </a:ext>
            </a:extLst>
          </p:cNvPr>
          <p:cNvSpPr txBox="1"/>
          <p:nvPr/>
        </p:nvSpPr>
        <p:spPr>
          <a:xfrm>
            <a:off x="1516360" y="2475343"/>
            <a:ext cx="177191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LID4096"/>
            </a:defPPr>
            <a:lvl1pPr>
              <a:defRPr sz="1050" b="1">
                <a:solidFill>
                  <a:srgbClr val="0000FF"/>
                </a:solidFill>
              </a:defRPr>
            </a:lvl1pPr>
          </a:lstStyle>
          <a:p>
            <a:r>
              <a:rPr lang="en-GB" sz="1600" noProof="0" dirty="0"/>
              <a:t>Convection</a:t>
            </a:r>
            <a:endParaRPr lang="en-GB" sz="2400" noProof="0" dirty="0">
              <a:solidFill>
                <a:srgbClr val="FF0000"/>
              </a:solidFill>
            </a:endParaRPr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40A33C73-84AC-5683-A5C4-947ED10DF2C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58404" y="4137696"/>
            <a:ext cx="5048250" cy="638175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grpSp>
        <p:nvGrpSpPr>
          <p:cNvPr id="26" name="Group 25">
            <a:extLst>
              <a:ext uri="{FF2B5EF4-FFF2-40B4-BE49-F238E27FC236}">
                <a16:creationId xmlns:a16="http://schemas.microsoft.com/office/drawing/2014/main" id="{9036BC6B-037C-E382-EA58-A095A4736E73}"/>
              </a:ext>
            </a:extLst>
          </p:cNvPr>
          <p:cNvGrpSpPr/>
          <p:nvPr/>
        </p:nvGrpSpPr>
        <p:grpSpPr>
          <a:xfrm>
            <a:off x="4759327" y="3892577"/>
            <a:ext cx="950514" cy="883294"/>
            <a:chOff x="9845949" y="5571569"/>
            <a:chExt cx="950514" cy="883294"/>
          </a:xfrm>
        </p:grpSpPr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1F42D383-B269-275E-70EE-6DBB8A09D83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845949" y="5681017"/>
              <a:ext cx="645765" cy="773846"/>
            </a:xfrm>
            <a:prstGeom prst="straightConnector1">
              <a:avLst/>
            </a:prstGeom>
            <a:ln>
              <a:solidFill>
                <a:srgbClr val="0000FF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58863DE5-A794-62E4-83AC-7E8A481C4DCE}"/>
                </a:ext>
              </a:extLst>
            </p:cNvPr>
            <p:cNvSpPr txBox="1"/>
            <p:nvPr/>
          </p:nvSpPr>
          <p:spPr>
            <a:xfrm>
              <a:off x="10491714" y="5571569"/>
              <a:ext cx="304749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LID4096"/>
              </a:defPPr>
              <a:lvl1pPr>
                <a:defRPr sz="1050" b="1">
                  <a:solidFill>
                    <a:srgbClr val="0000FF"/>
                  </a:solidFill>
                </a:defRPr>
              </a:lvl1pPr>
            </a:lstStyle>
            <a:p>
              <a:r>
                <a:rPr lang="en-GB" sz="1100" noProof="0" dirty="0"/>
                <a:t>0</a:t>
              </a:r>
              <a:endParaRPr lang="en-GB" sz="1400" noProof="0" dirty="0">
                <a:solidFill>
                  <a:srgbClr val="FF0000"/>
                </a:solidFill>
              </a:endParaRPr>
            </a:p>
          </p:txBody>
        </p:sp>
      </p:grpSp>
      <p:sp>
        <p:nvSpPr>
          <p:cNvPr id="29" name="Rectangle 28">
            <a:extLst>
              <a:ext uri="{FF2B5EF4-FFF2-40B4-BE49-F238E27FC236}">
                <a16:creationId xmlns:a16="http://schemas.microsoft.com/office/drawing/2014/main" id="{381484EC-5D3A-1183-56FB-1942CADF23EA}"/>
              </a:ext>
            </a:extLst>
          </p:cNvPr>
          <p:cNvSpPr/>
          <p:nvPr/>
        </p:nvSpPr>
        <p:spPr>
          <a:xfrm>
            <a:off x="3113710" y="4002604"/>
            <a:ext cx="1283035" cy="874287"/>
          </a:xfrm>
          <a:prstGeom prst="rect">
            <a:avLst/>
          </a:prstGeom>
          <a:noFill/>
          <a:ln>
            <a:solidFill>
              <a:srgbClr val="0000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25FB294-9D43-FE31-EF20-DC8D56250767}"/>
              </a:ext>
            </a:extLst>
          </p:cNvPr>
          <p:cNvSpPr txBox="1"/>
          <p:nvPr/>
        </p:nvSpPr>
        <p:spPr>
          <a:xfrm>
            <a:off x="3284383" y="3711525"/>
            <a:ext cx="177191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LID4096"/>
            </a:defPPr>
            <a:lvl1pPr>
              <a:defRPr sz="1050" b="1">
                <a:solidFill>
                  <a:srgbClr val="0000FF"/>
                </a:solidFill>
              </a:defRPr>
            </a:lvl1pPr>
          </a:lstStyle>
          <a:p>
            <a:r>
              <a:rPr lang="en-GB" sz="1600" noProof="0" dirty="0"/>
              <a:t>Diffusion</a:t>
            </a:r>
            <a:endParaRPr lang="en-GB" sz="2400" noProof="0" dirty="0">
              <a:solidFill>
                <a:srgbClr val="FF0000"/>
              </a:solidFill>
            </a:endParaRPr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633BF864-9904-C9AA-FD4B-C920A6E1F5F0}"/>
              </a:ext>
            </a:extLst>
          </p:cNvPr>
          <p:cNvCxnSpPr/>
          <p:nvPr/>
        </p:nvCxnSpPr>
        <p:spPr>
          <a:xfrm>
            <a:off x="3586038" y="4682398"/>
            <a:ext cx="707010" cy="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2" name="Group 31">
            <a:extLst>
              <a:ext uri="{FF2B5EF4-FFF2-40B4-BE49-F238E27FC236}">
                <a16:creationId xmlns:a16="http://schemas.microsoft.com/office/drawing/2014/main" id="{B6AE1F50-F04C-28A0-D8C4-531CCC3AD8E5}"/>
              </a:ext>
            </a:extLst>
          </p:cNvPr>
          <p:cNvGrpSpPr/>
          <p:nvPr/>
        </p:nvGrpSpPr>
        <p:grpSpPr>
          <a:xfrm>
            <a:off x="1831715" y="5201506"/>
            <a:ext cx="3773322" cy="1607780"/>
            <a:chOff x="2931952" y="995752"/>
            <a:chExt cx="3773322" cy="1607780"/>
          </a:xfrm>
        </p:grpSpPr>
        <p:grpSp>
          <p:nvGrpSpPr>
            <p:cNvPr id="33" name="Group 32">
              <a:extLst>
                <a:ext uri="{FF2B5EF4-FFF2-40B4-BE49-F238E27FC236}">
                  <a16:creationId xmlns:a16="http://schemas.microsoft.com/office/drawing/2014/main" id="{CB739BC1-00C7-322B-3624-17656FF034FE}"/>
                </a:ext>
              </a:extLst>
            </p:cNvPr>
            <p:cNvGrpSpPr/>
            <p:nvPr/>
          </p:nvGrpSpPr>
          <p:grpSpPr>
            <a:xfrm>
              <a:off x="2931952" y="995752"/>
              <a:ext cx="3765147" cy="1295400"/>
              <a:chOff x="8101480" y="5268987"/>
              <a:chExt cx="3765147" cy="1295400"/>
            </a:xfrm>
          </p:grpSpPr>
          <p:grpSp>
            <p:nvGrpSpPr>
              <p:cNvPr id="35" name="Group 34">
                <a:extLst>
                  <a:ext uri="{FF2B5EF4-FFF2-40B4-BE49-F238E27FC236}">
                    <a16:creationId xmlns:a16="http://schemas.microsoft.com/office/drawing/2014/main" id="{789D87EC-5BCA-F593-35A3-056762118245}"/>
                  </a:ext>
                </a:extLst>
              </p:cNvPr>
              <p:cNvGrpSpPr/>
              <p:nvPr/>
            </p:nvGrpSpPr>
            <p:grpSpPr>
              <a:xfrm>
                <a:off x="8101480" y="5268987"/>
                <a:ext cx="3762375" cy="1295400"/>
                <a:chOff x="7529768" y="4495989"/>
                <a:chExt cx="3762375" cy="1295400"/>
              </a:xfrm>
            </p:grpSpPr>
            <p:pic>
              <p:nvPicPr>
                <p:cNvPr id="37" name="Picture 36">
                  <a:extLst>
                    <a:ext uri="{FF2B5EF4-FFF2-40B4-BE49-F238E27FC236}">
                      <a16:creationId xmlns:a16="http://schemas.microsoft.com/office/drawing/2014/main" id="{9AF28A18-3B68-676F-A22F-AAF0F7F3D7CC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7529768" y="4495989"/>
                  <a:ext cx="3762375" cy="1295400"/>
                </a:xfrm>
                <a:prstGeom prst="rect">
                  <a:avLst/>
                </a:prstGeom>
                <a:ln>
                  <a:solidFill>
                    <a:schemeClr val="tx1"/>
                  </a:solidFill>
                </a:ln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p:spPr>
            </p:pic>
            <p:cxnSp>
              <p:nvCxnSpPr>
                <p:cNvPr id="38" name="Straight Arrow Connector 37">
                  <a:extLst>
                    <a:ext uri="{FF2B5EF4-FFF2-40B4-BE49-F238E27FC236}">
                      <a16:creationId xmlns:a16="http://schemas.microsoft.com/office/drawing/2014/main" id="{835C06E5-B94A-D5F6-F52B-624451D872B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0419043" y="4929376"/>
                  <a:ext cx="645765" cy="773846"/>
                </a:xfrm>
                <a:prstGeom prst="straightConnector1">
                  <a:avLst/>
                </a:prstGeom>
                <a:ln>
                  <a:solidFill>
                    <a:srgbClr val="0000FF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CC71AB1C-70AC-5F90-7D68-886997816384}"/>
                  </a:ext>
                </a:extLst>
              </p:cNvPr>
              <p:cNvSpPr txBox="1"/>
              <p:nvPr/>
            </p:nvSpPr>
            <p:spPr>
              <a:xfrm>
                <a:off x="11561878" y="5655077"/>
                <a:ext cx="304749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LID4096"/>
                </a:defPPr>
                <a:lvl1pPr>
                  <a:defRPr sz="1050" b="1">
                    <a:solidFill>
                      <a:srgbClr val="0000FF"/>
                    </a:solidFill>
                  </a:defRPr>
                </a:lvl1pPr>
              </a:lstStyle>
              <a:p>
                <a:r>
                  <a:rPr lang="en-GB" sz="1100" noProof="0" dirty="0"/>
                  <a:t>0</a:t>
                </a:r>
                <a:endParaRPr lang="en-GB" sz="1400" noProof="0" dirty="0">
                  <a:solidFill>
                    <a:srgbClr val="FF0000"/>
                  </a:solidFill>
                </a:endParaRPr>
              </a:p>
            </p:txBody>
          </p:sp>
        </p:grp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9833396D-28F7-B15E-37E4-7152F0FEA3FD}"/>
                </a:ext>
              </a:extLst>
            </p:cNvPr>
            <p:cNvSpPr txBox="1"/>
            <p:nvPr/>
          </p:nvSpPr>
          <p:spPr>
            <a:xfrm>
              <a:off x="5662447" y="2295755"/>
              <a:ext cx="104282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LID4096"/>
              </a:defPPr>
              <a:lvl1pPr>
                <a:defRPr sz="1050" b="1">
                  <a:solidFill>
                    <a:srgbClr val="0000FF"/>
                  </a:solidFill>
                </a:defRPr>
              </a:lvl1pPr>
            </a:lstStyle>
            <a:p>
              <a:pPr algn="ctr"/>
              <a:r>
                <a:rPr lang="en-GB" sz="1400" noProof="0" dirty="0"/>
                <a:t>Diffusion</a:t>
              </a:r>
              <a:endParaRPr lang="en-GB" sz="2000" noProof="0" dirty="0">
                <a:solidFill>
                  <a:srgbClr val="FF0000"/>
                </a:solidFill>
              </a:endParaRPr>
            </a:p>
          </p:txBody>
        </p:sp>
      </p:grpSp>
      <p:pic>
        <p:nvPicPr>
          <p:cNvPr id="39" name="Picture 38">
            <a:extLst>
              <a:ext uri="{FF2B5EF4-FFF2-40B4-BE49-F238E27FC236}">
                <a16:creationId xmlns:a16="http://schemas.microsoft.com/office/drawing/2014/main" id="{1C1044D4-C7AB-6C93-7976-C69B58D41837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613943" y="353781"/>
            <a:ext cx="2092061" cy="2885601"/>
          </a:xfrm>
          <a:prstGeom prst="rect">
            <a:avLst/>
          </a:prstGeom>
          <a:noFill/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41" name="TextBox 40">
            <a:extLst>
              <a:ext uri="{FF2B5EF4-FFF2-40B4-BE49-F238E27FC236}">
                <a16:creationId xmlns:a16="http://schemas.microsoft.com/office/drawing/2014/main" id="{E896EC11-0D71-17AC-4B3A-DEF10CE2FCA2}"/>
              </a:ext>
            </a:extLst>
          </p:cNvPr>
          <p:cNvSpPr txBox="1"/>
          <p:nvPr/>
        </p:nvSpPr>
        <p:spPr>
          <a:xfrm>
            <a:off x="5477692" y="6587212"/>
            <a:ext cx="6724703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LID4096"/>
            </a:defPPr>
            <a:lvl1pPr algn="r">
              <a:defRPr b="1">
                <a:solidFill>
                  <a:schemeClr val="accent2"/>
                </a:solidFill>
              </a:defRPr>
            </a:lvl1pPr>
          </a:lstStyle>
          <a:p>
            <a:r>
              <a:rPr lang="LID4096" sz="1200" dirty="0">
                <a:hlinkClick r:id="rId1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https://github.com/grossiRM/CFD_ON/tree/main/04_OpenFoam</a:t>
            </a:r>
            <a:endParaRPr lang="LID4096" sz="12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025958C-491D-87F4-4577-E9EC1BB39419}"/>
              </a:ext>
            </a:extLst>
          </p:cNvPr>
          <p:cNvSpPr txBox="1"/>
          <p:nvPr/>
        </p:nvSpPr>
        <p:spPr>
          <a:xfrm>
            <a:off x="4638206" y="2489214"/>
            <a:ext cx="177191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LID4096"/>
            </a:defPPr>
            <a:lvl1pPr>
              <a:defRPr sz="1050" b="1">
                <a:solidFill>
                  <a:srgbClr val="0000FF"/>
                </a:solidFill>
              </a:defRPr>
            </a:lvl1pPr>
          </a:lstStyle>
          <a:p>
            <a:r>
              <a:rPr lang="en-GB" sz="1600" noProof="0" dirty="0">
                <a:solidFill>
                  <a:schemeClr val="tx1"/>
                </a:solidFill>
              </a:rPr>
              <a:t>source</a:t>
            </a:r>
            <a:endParaRPr lang="en-GB" sz="2400" noProof="0" dirty="0">
              <a:solidFill>
                <a:schemeClr val="tx1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C657EAA-5C3B-A5E5-3225-BE16ED66CE4E}"/>
              </a:ext>
            </a:extLst>
          </p:cNvPr>
          <p:cNvSpPr txBox="1"/>
          <p:nvPr/>
        </p:nvSpPr>
        <p:spPr>
          <a:xfrm>
            <a:off x="477994" y="4761932"/>
            <a:ext cx="177191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LID4096"/>
            </a:defPPr>
            <a:lvl1pPr>
              <a:defRPr sz="1050" b="1">
                <a:solidFill>
                  <a:srgbClr val="0000FF"/>
                </a:solidFill>
              </a:defRPr>
            </a:lvl1pPr>
          </a:lstStyle>
          <a:p>
            <a:r>
              <a:rPr lang="en-GB" sz="1600" noProof="0" dirty="0">
                <a:solidFill>
                  <a:schemeClr val="tx1"/>
                </a:solidFill>
              </a:rPr>
              <a:t>transient</a:t>
            </a:r>
            <a:endParaRPr lang="en-GB" sz="2400" noProof="0" dirty="0">
              <a:solidFill>
                <a:schemeClr val="tx1"/>
              </a:solidFill>
            </a:endParaRP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0C7B4752-972B-B4CD-0668-F3C2454A64D4}"/>
              </a:ext>
            </a:extLst>
          </p:cNvPr>
          <p:cNvGrpSpPr/>
          <p:nvPr/>
        </p:nvGrpSpPr>
        <p:grpSpPr>
          <a:xfrm>
            <a:off x="8064331" y="1929115"/>
            <a:ext cx="1771911" cy="1185110"/>
            <a:chOff x="8203670" y="2011283"/>
            <a:chExt cx="1771911" cy="1185110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D2222AA1-7B88-F41A-D22D-374396CA3CB9}"/>
                </a:ext>
              </a:extLst>
            </p:cNvPr>
            <p:cNvSpPr txBox="1"/>
            <p:nvPr/>
          </p:nvSpPr>
          <p:spPr>
            <a:xfrm>
              <a:off x="8203670" y="2011283"/>
              <a:ext cx="1771911" cy="95410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LID4096"/>
              </a:defPPr>
              <a:lvl1pPr>
                <a:defRPr sz="1050" b="1">
                  <a:solidFill>
                    <a:srgbClr val="0000FF"/>
                  </a:solidFill>
                </a:defRPr>
              </a:lvl1pPr>
            </a:lstStyle>
            <a:p>
              <a:pPr algn="ctr"/>
              <a:r>
                <a:rPr lang="en-GB" sz="1600" dirty="0"/>
                <a:t>Convection</a:t>
              </a:r>
            </a:p>
            <a:p>
              <a:pPr algn="ctr"/>
              <a:endParaRPr lang="en-GB" sz="2400" dirty="0">
                <a:solidFill>
                  <a:srgbClr val="FF0000"/>
                </a:solidFill>
              </a:endParaRPr>
            </a:p>
            <a:p>
              <a:pPr algn="ctr"/>
              <a:r>
                <a:rPr lang="en-GB" sz="1600" noProof="0" dirty="0"/>
                <a:t>Diffusion</a:t>
              </a:r>
              <a:endParaRPr lang="en-GB" sz="2400" noProof="0" dirty="0">
                <a:solidFill>
                  <a:srgbClr val="FF0000"/>
                </a:solidFill>
              </a:endParaRPr>
            </a:p>
          </p:txBody>
        </p:sp>
        <p:sp>
          <p:nvSpPr>
            <p:cNvPr id="15" name="Arrow: Right 14">
              <a:extLst>
                <a:ext uri="{FF2B5EF4-FFF2-40B4-BE49-F238E27FC236}">
                  <a16:creationId xmlns:a16="http://schemas.microsoft.com/office/drawing/2014/main" id="{7C23C4F5-EE04-8043-952A-FD01373D9A30}"/>
                </a:ext>
              </a:extLst>
            </p:cNvPr>
            <p:cNvSpPr/>
            <p:nvPr/>
          </p:nvSpPr>
          <p:spPr>
            <a:xfrm>
              <a:off x="8913669" y="2352521"/>
              <a:ext cx="419788" cy="273385"/>
            </a:xfrm>
            <a:prstGeom prst="rightArrow">
              <a:avLst/>
            </a:prstGeom>
            <a:solidFill>
              <a:srgbClr val="0000FF"/>
            </a:solidFill>
            <a:ln>
              <a:solidFill>
                <a:srgbClr val="FFFF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6" name="Arrow: Left-Right 15">
              <a:extLst>
                <a:ext uri="{FF2B5EF4-FFF2-40B4-BE49-F238E27FC236}">
                  <a16:creationId xmlns:a16="http://schemas.microsoft.com/office/drawing/2014/main" id="{563142DB-D410-A5B8-FF3C-89B6F1EF943C}"/>
                </a:ext>
              </a:extLst>
            </p:cNvPr>
            <p:cNvSpPr/>
            <p:nvPr/>
          </p:nvSpPr>
          <p:spPr>
            <a:xfrm>
              <a:off x="8913668" y="2923008"/>
              <a:ext cx="419788" cy="273385"/>
            </a:xfrm>
            <a:prstGeom prst="leftRightArrow">
              <a:avLst/>
            </a:prstGeom>
            <a:solidFill>
              <a:srgbClr val="0000FF"/>
            </a:solidFill>
            <a:ln>
              <a:solidFill>
                <a:srgbClr val="FFFF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</p:spTree>
    <p:extLst>
      <p:ext uri="{BB962C8B-B14F-4D97-AF65-F5344CB8AC3E}">
        <p14:creationId xmlns:p14="http://schemas.microsoft.com/office/powerpoint/2010/main" val="232725289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BDF4E0-5D6C-B8C8-041A-DE6633FC36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E15FF410-E3BF-58D3-73A2-5083553DA828}"/>
              </a:ext>
            </a:extLst>
          </p:cNvPr>
          <p:cNvSpPr/>
          <p:nvPr/>
        </p:nvSpPr>
        <p:spPr>
          <a:xfrm>
            <a:off x="0" y="1"/>
            <a:ext cx="12192000" cy="6858000"/>
          </a:xfrm>
          <a:prstGeom prst="rect">
            <a:avLst/>
          </a:prstGeom>
          <a:solidFill>
            <a:srgbClr val="E5FFF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6EE064A5-8F7C-19C4-3433-7FA8C1048AA1}"/>
              </a:ext>
            </a:extLst>
          </p:cNvPr>
          <p:cNvSpPr/>
          <p:nvPr/>
        </p:nvSpPr>
        <p:spPr>
          <a:xfrm>
            <a:off x="7796814" y="317105"/>
            <a:ext cx="3829129" cy="634862"/>
          </a:xfrm>
          <a:prstGeom prst="roundRect">
            <a:avLst/>
          </a:prstGeom>
          <a:noFill/>
        </p:spPr>
        <p:txBody>
          <a:bodyPr wrap="square" lIns="0" tIns="0" rIns="0" bIns="0" anchor="t" anchorCtr="0">
            <a:noAutofit/>
          </a:bodyPr>
          <a:lstStyle/>
          <a:p>
            <a:pPr algn="r"/>
            <a:r>
              <a:rPr lang="pt-BR" sz="3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O que é um modelo?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62092BC9-E253-837A-6F34-9AC90E7C3685}"/>
              </a:ext>
            </a:extLst>
          </p:cNvPr>
          <p:cNvGrpSpPr>
            <a:grpSpLocks noChangeAspect="1"/>
          </p:cNvGrpSpPr>
          <p:nvPr/>
        </p:nvGrpSpPr>
        <p:grpSpPr>
          <a:xfrm rot="885919">
            <a:off x="9387761" y="905464"/>
            <a:ext cx="203936" cy="417936"/>
            <a:chOff x="6545656" y="3721680"/>
            <a:chExt cx="295643" cy="605875"/>
          </a:xfr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grpSpPr>
        <p:sp>
          <p:nvSpPr>
            <p:cNvPr id="2" name="Rectangle: Rounded Corners 1">
              <a:extLst>
                <a:ext uri="{FF2B5EF4-FFF2-40B4-BE49-F238E27FC236}">
                  <a16:creationId xmlns:a16="http://schemas.microsoft.com/office/drawing/2014/main" id="{C90785A8-BC39-9859-EB81-346EAAD7E929}"/>
                </a:ext>
              </a:extLst>
            </p:cNvPr>
            <p:cNvSpPr/>
            <p:nvPr/>
          </p:nvSpPr>
          <p:spPr>
            <a:xfrm rot="19486941">
              <a:off x="6545656" y="3947310"/>
              <a:ext cx="72427" cy="380245"/>
            </a:xfrm>
            <a:prstGeom prst="roundRect">
              <a:avLst>
                <a:gd name="adj" fmla="val 50000"/>
              </a:avLst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F14DDDE7-130C-F0ED-7562-72891D2D279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 rot="4714378">
              <a:off x="6434178" y="3888393"/>
              <a:ext cx="573834" cy="240408"/>
            </a:xfrm>
            <a:prstGeom prst="rect">
              <a:avLst/>
            </a:prstGeom>
          </p:spPr>
        </p:pic>
      </p:grp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088D1910-FAE6-8AC2-8978-309CE632CD14}"/>
              </a:ext>
            </a:extLst>
          </p:cNvPr>
          <p:cNvSpPr/>
          <p:nvPr/>
        </p:nvSpPr>
        <p:spPr>
          <a:xfrm>
            <a:off x="9711378" y="809174"/>
            <a:ext cx="1999716" cy="1542127"/>
          </a:xfrm>
          <a:prstGeom prst="roundRect">
            <a:avLst/>
          </a:prstGeom>
          <a:noFill/>
        </p:spPr>
        <p:txBody>
          <a:bodyPr wrap="square" lIns="0" tIns="0" rIns="0" bIns="0" anchor="t" anchorCtr="0">
            <a:noAutofit/>
          </a:bodyPr>
          <a:lstStyle/>
          <a:p>
            <a:r>
              <a:rPr lang="pt-BR" sz="3200" b="1" noProof="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</a:rPr>
              <a:t>Analítico</a:t>
            </a:r>
          </a:p>
          <a:p>
            <a:r>
              <a:rPr lang="pt-BR" sz="3200" b="1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</a:rPr>
              <a:t>Numérico</a:t>
            </a:r>
            <a:endParaRPr lang="pt-BR" sz="3200" noProof="0" dirty="0">
              <a:solidFill>
                <a:srgbClr val="FF0000"/>
              </a:solidFill>
              <a:latin typeface="Times New Roman" panose="02020603050405020304" pitchFamily="18" charset="0"/>
            </a:endParaRP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5A488418-BA03-ABF3-9F8B-D2F1CBB80AE4}"/>
              </a:ext>
            </a:extLst>
          </p:cNvPr>
          <p:cNvGrpSpPr/>
          <p:nvPr/>
        </p:nvGrpSpPr>
        <p:grpSpPr>
          <a:xfrm>
            <a:off x="458909" y="260685"/>
            <a:ext cx="5464360" cy="6336630"/>
            <a:chOff x="775068" y="311509"/>
            <a:chExt cx="5464360" cy="6336630"/>
          </a:xfrm>
        </p:grpSpPr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EBB93DFF-57B2-4C00-C034-D1DF222D2F65}"/>
                </a:ext>
              </a:extLst>
            </p:cNvPr>
            <p:cNvGrpSpPr/>
            <p:nvPr/>
          </p:nvGrpSpPr>
          <p:grpSpPr>
            <a:xfrm>
              <a:off x="775068" y="311509"/>
              <a:ext cx="5422377" cy="4536130"/>
              <a:chOff x="673623" y="317105"/>
              <a:chExt cx="5422377" cy="4536130"/>
            </a:xfrm>
          </p:grpSpPr>
          <p:grpSp>
            <p:nvGrpSpPr>
              <p:cNvPr id="16" name="Group 15">
                <a:extLst>
                  <a:ext uri="{FF2B5EF4-FFF2-40B4-BE49-F238E27FC236}">
                    <a16:creationId xmlns:a16="http://schemas.microsoft.com/office/drawing/2014/main" id="{4BADB124-49C1-754F-FBE9-24B41864428F}"/>
                  </a:ext>
                </a:extLst>
              </p:cNvPr>
              <p:cNvGrpSpPr/>
              <p:nvPr/>
            </p:nvGrpSpPr>
            <p:grpSpPr>
              <a:xfrm>
                <a:off x="673623" y="2161150"/>
                <a:ext cx="3829128" cy="1908215"/>
                <a:chOff x="408691" y="285954"/>
                <a:chExt cx="3829128" cy="1908215"/>
              </a:xfrm>
            </p:grpSpPr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21CB785D-C5A4-33BC-3DF3-6F2B57A72606}"/>
                    </a:ext>
                  </a:extLst>
                </p:cNvPr>
                <p:cNvSpPr txBox="1"/>
                <p:nvPr/>
              </p:nvSpPr>
              <p:spPr>
                <a:xfrm>
                  <a:off x="408691" y="285954"/>
                  <a:ext cx="3829128" cy="1908215"/>
                </a:xfrm>
                <a:prstGeom prst="rect">
                  <a:avLst/>
                </a:prstGeom>
                <a:solidFill>
                  <a:schemeClr val="tx1"/>
                </a:solidFill>
                <a:effectLst>
                  <a:outerShdw blurRad="76200" dir="13500000" sy="23000" kx="1200000" algn="br" rotWithShape="0">
                    <a:prstClr val="black">
                      <a:alpha val="20000"/>
                    </a:prstClr>
                  </a:outerShdw>
                </a:effectLst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dirty="0">
                      <a:solidFill>
                        <a:schemeClr val="bg1"/>
                      </a:solidFill>
                    </a:rPr>
                    <a:t>   ===========                 </a:t>
                  </a:r>
                </a:p>
                <a:p>
                  <a:r>
                    <a:rPr lang="en-US" dirty="0">
                      <a:solidFill>
                        <a:schemeClr val="bg1"/>
                      </a:solidFill>
                    </a:rPr>
                    <a:t>     \ \               /     </a:t>
                  </a:r>
                  <a:r>
                    <a:rPr lang="en-US" sz="2400" b="1" dirty="0">
                      <a:solidFill>
                        <a:srgbClr val="FFFF00"/>
                      </a:solidFill>
                    </a:rPr>
                    <a:t>F</a:t>
                  </a:r>
                  <a:r>
                    <a:rPr lang="en-US" sz="2000" dirty="0">
                      <a:solidFill>
                        <a:schemeClr val="bg1"/>
                      </a:solidFill>
                    </a:rPr>
                    <a:t>   ield             </a:t>
                  </a:r>
                </a:p>
                <a:p>
                  <a:r>
                    <a:rPr lang="en-US" sz="2000" dirty="0">
                      <a:solidFill>
                        <a:schemeClr val="bg1"/>
                      </a:solidFill>
                    </a:rPr>
                    <a:t>      \ \          /      </a:t>
                  </a:r>
                  <a:r>
                    <a:rPr lang="en-US" sz="2400" b="1" dirty="0">
                      <a:solidFill>
                        <a:srgbClr val="FFFF00"/>
                      </a:solidFill>
                    </a:rPr>
                    <a:t>O</a:t>
                  </a:r>
                  <a:r>
                    <a:rPr lang="en-US" sz="2000" dirty="0">
                      <a:solidFill>
                        <a:schemeClr val="bg1"/>
                      </a:solidFill>
                    </a:rPr>
                    <a:t>  peration    </a:t>
                  </a:r>
                </a:p>
                <a:p>
                  <a:r>
                    <a:rPr lang="en-US" sz="2000" dirty="0">
                      <a:solidFill>
                        <a:schemeClr val="bg1"/>
                      </a:solidFill>
                    </a:rPr>
                    <a:t>        \ \      /        </a:t>
                  </a:r>
                  <a:r>
                    <a:rPr lang="en-US" sz="2400" b="1" dirty="0">
                      <a:solidFill>
                        <a:srgbClr val="FFFF00"/>
                      </a:solidFill>
                    </a:rPr>
                    <a:t>A</a:t>
                  </a:r>
                  <a:r>
                    <a:rPr lang="en-US" sz="2000" dirty="0">
                      <a:solidFill>
                        <a:schemeClr val="bg1"/>
                      </a:solidFill>
                    </a:rPr>
                    <a:t> </a:t>
                  </a:r>
                  <a:r>
                    <a:rPr lang="en-US" sz="2400" dirty="0">
                      <a:solidFill>
                        <a:schemeClr val="bg1"/>
                      </a:solidFill>
                    </a:rPr>
                    <a:t> </a:t>
                  </a:r>
                  <a:r>
                    <a:rPr lang="en-US" sz="2000" dirty="0">
                      <a:solidFill>
                        <a:schemeClr val="bg1"/>
                      </a:solidFill>
                    </a:rPr>
                    <a:t>nd          </a:t>
                  </a:r>
                </a:p>
                <a:p>
                  <a:r>
                    <a:rPr lang="en-US" sz="2000" dirty="0">
                      <a:solidFill>
                        <a:schemeClr val="bg1"/>
                      </a:solidFill>
                    </a:rPr>
                    <a:t>          \ \  /          </a:t>
                  </a:r>
                  <a:r>
                    <a:rPr lang="en-US" sz="2400" b="1" dirty="0">
                      <a:solidFill>
                        <a:srgbClr val="FFFF00"/>
                      </a:solidFill>
                    </a:rPr>
                    <a:t>M</a:t>
                  </a:r>
                  <a:r>
                    <a:rPr lang="en-US" sz="2000" dirty="0">
                      <a:solidFill>
                        <a:schemeClr val="bg1"/>
                      </a:solidFill>
                    </a:rPr>
                    <a:t> anipulation  </a:t>
                  </a:r>
                </a:p>
              </p:txBody>
            </p:sp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1C1EF483-E3F0-BCCF-0DA3-BE6CE9CB959B}"/>
                    </a:ext>
                  </a:extLst>
                </p:cNvPr>
                <p:cNvSpPr txBox="1"/>
                <p:nvPr/>
              </p:nvSpPr>
              <p:spPr>
                <a:xfrm>
                  <a:off x="3012792" y="285954"/>
                  <a:ext cx="1212981" cy="52322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r"/>
                  <a:r>
                    <a:rPr lang="en-GB" sz="2800" b="1" u="sng" dirty="0">
                      <a:solidFill>
                        <a:srgbClr val="FFFF00"/>
                      </a:solidFill>
                      <a:effectLst>
                        <a:outerShdw blurRad="38100" dist="38100" dir="2700000" algn="tl">
                          <a:srgbClr val="000000">
                            <a:alpha val="43137"/>
                          </a:srgbClr>
                        </a:outerShdw>
                      </a:effectLst>
                      <a:latin typeface="LMRoman12-Regular"/>
                    </a:rPr>
                    <a:t>Open</a:t>
                  </a:r>
                  <a:endParaRPr lang="LID4096" sz="2800" b="1" u="sng" dirty="0">
                    <a:solidFill>
                      <a:srgbClr val="FFFF00"/>
                    </a:solidFill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</a:endParaRPr>
                </a:p>
              </p:txBody>
            </p:sp>
          </p:grpSp>
          <p:pic>
            <p:nvPicPr>
              <p:cNvPr id="2052" name="Picture 4" descr="GitHub – Wikipédia, a enciclopédia livre">
                <a:extLst>
                  <a:ext uri="{FF2B5EF4-FFF2-40B4-BE49-F238E27FC236}">
                    <a16:creationId xmlns:a16="http://schemas.microsoft.com/office/drawing/2014/main" id="{C9B531D7-215C-0597-69AC-FA6F9E96FD23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359541" y="317105"/>
                <a:ext cx="1736459" cy="1736459"/>
              </a:xfrm>
              <a:prstGeom prst="rect">
                <a:avLst/>
              </a:prstGeom>
              <a:ln>
                <a:solidFill>
                  <a:schemeClr val="tx1"/>
                </a:solidFill>
              </a:ln>
              <a:effectLst>
                <a:outerShdw blurRad="76200" dir="13500000" sy="23000" kx="1200000" algn="br" rotWithShape="0">
                  <a:prstClr val="black">
                    <a:alpha val="20000"/>
                  </a:prstClr>
                </a:outerShdw>
              </a:effectLst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20" name="Picture 2" descr="Python (programming language) - Wikipedia">
                <a:extLst>
                  <a:ext uri="{FF2B5EF4-FFF2-40B4-BE49-F238E27FC236}">
                    <a16:creationId xmlns:a16="http://schemas.microsoft.com/office/drawing/2014/main" id="{CEB90D50-B677-E077-9483-76847AC3C694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443131" y="317105"/>
                <a:ext cx="1738305" cy="1738305"/>
              </a:xfrm>
              <a:prstGeom prst="rect">
                <a:avLst/>
              </a:prstGeom>
              <a:ln>
                <a:solidFill>
                  <a:schemeClr val="tx1"/>
                </a:solidFill>
              </a:ln>
              <a:effectLst>
                <a:outerShdw blurRad="76200" dir="13500000" sy="23000" kx="1200000" algn="br" rotWithShape="0">
                  <a:prstClr val="black">
                    <a:alpha val="20000"/>
                  </a:prstClr>
                </a:outerShdw>
              </a:effectLst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grpSp>
            <p:nvGrpSpPr>
              <p:cNvPr id="24" name="Group 23">
                <a:extLst>
                  <a:ext uri="{FF2B5EF4-FFF2-40B4-BE49-F238E27FC236}">
                    <a16:creationId xmlns:a16="http://schemas.microsoft.com/office/drawing/2014/main" id="{B63A9BA0-E7EC-EFB9-415B-761AEEB0BFE4}"/>
                  </a:ext>
                </a:extLst>
              </p:cNvPr>
              <p:cNvGrpSpPr/>
              <p:nvPr/>
            </p:nvGrpSpPr>
            <p:grpSpPr>
              <a:xfrm>
                <a:off x="681011" y="317105"/>
                <a:ext cx="1584015" cy="1810301"/>
                <a:chOff x="566057" y="203450"/>
                <a:chExt cx="1584015" cy="1810301"/>
              </a:xfrm>
            </p:grpSpPr>
            <p:pic>
              <p:nvPicPr>
                <p:cNvPr id="22" name="Picture 21">
                  <a:extLst>
                    <a:ext uri="{FF2B5EF4-FFF2-40B4-BE49-F238E27FC236}">
                      <a16:creationId xmlns:a16="http://schemas.microsoft.com/office/drawing/2014/main" id="{ED6BF0F9-B6E1-D861-5DFC-49FE4E001BA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566057" y="203450"/>
                  <a:ext cx="1537730" cy="1738305"/>
                </a:xfrm>
                <a:prstGeom prst="rect">
                  <a:avLst/>
                </a:prstGeom>
                <a:ln>
                  <a:solidFill>
                    <a:schemeClr val="tx1"/>
                  </a:solidFill>
                </a:ln>
                <a:effectLst>
                  <a:outerShdw blurRad="76200" dir="13500000" sy="23000" kx="1200000" algn="br" rotWithShape="0">
                    <a:prstClr val="black">
                      <a:alpha val="20000"/>
                    </a:prstClr>
                  </a:outerShdw>
                </a:effectLst>
              </p:spPr>
            </p:pic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43B92E8E-E4AB-A105-2AC9-D5AEA2927C1B}"/>
                    </a:ext>
                  </a:extLst>
                </p:cNvPr>
                <p:cNvSpPr txBox="1"/>
                <p:nvPr/>
              </p:nvSpPr>
              <p:spPr>
                <a:xfrm>
                  <a:off x="1265252" y="1490531"/>
                  <a:ext cx="884820" cy="52322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r"/>
                  <a:r>
                    <a:rPr lang="pt-BR" sz="2800" b="1" dirty="0"/>
                    <a:t>Fi</a:t>
                  </a:r>
                  <a:r>
                    <a:rPr lang="pt-BR" sz="2800" b="1" dirty="0">
                      <a:solidFill>
                        <a:srgbClr val="FF0000"/>
                      </a:solidFill>
                    </a:rPr>
                    <a:t>Py</a:t>
                  </a:r>
                  <a:endParaRPr lang="pt-BR" sz="2000" dirty="0">
                    <a:solidFill>
                      <a:srgbClr val="FF0000"/>
                    </a:solidFill>
                  </a:endParaRPr>
                </a:p>
              </p:txBody>
            </p:sp>
          </p:grpSp>
          <p:pic>
            <p:nvPicPr>
              <p:cNvPr id="25" name="Picture 24">
                <a:extLst>
                  <a:ext uri="{FF2B5EF4-FFF2-40B4-BE49-F238E27FC236}">
                    <a16:creationId xmlns:a16="http://schemas.microsoft.com/office/drawing/2014/main" id="{B6AE8A39-7019-D45A-36B9-B6991751D17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rcRect l="36027" t="14307" r="35724" b="19738"/>
              <a:stretch>
                <a:fillRect/>
              </a:stretch>
            </p:blipFill>
            <p:spPr>
              <a:xfrm>
                <a:off x="4596814" y="2161150"/>
                <a:ext cx="1499186" cy="2692085"/>
              </a:xfrm>
              <a:prstGeom prst="rect">
                <a:avLst/>
              </a:prstGeom>
              <a:ln>
                <a:solidFill>
                  <a:schemeClr val="tx1"/>
                </a:solidFill>
              </a:ln>
              <a:effectLst>
                <a:outerShdw blurRad="76200" dir="13500000" sy="23000" kx="1200000" algn="br" rotWithShape="0">
                  <a:prstClr val="black">
                    <a:alpha val="20000"/>
                  </a:prstClr>
                </a:outerShdw>
              </a:effectLst>
            </p:spPr>
          </p:pic>
          <p:sp>
            <p:nvSpPr>
              <p:cNvPr id="27" name="Rectangle: Rounded Corners 26">
                <a:extLst>
                  <a:ext uri="{FF2B5EF4-FFF2-40B4-BE49-F238E27FC236}">
                    <a16:creationId xmlns:a16="http://schemas.microsoft.com/office/drawing/2014/main" id="{DB637263-302C-D6CC-F8B9-0BEE2DE8920F}"/>
                  </a:ext>
                </a:extLst>
              </p:cNvPr>
              <p:cNvSpPr/>
              <p:nvPr/>
            </p:nvSpPr>
            <p:spPr>
              <a:xfrm>
                <a:off x="697352" y="4175344"/>
                <a:ext cx="3829129" cy="634862"/>
              </a:xfrm>
              <a:prstGeom prst="roundRect">
                <a:avLst/>
              </a:prstGeom>
              <a:noFill/>
            </p:spPr>
            <p:txBody>
              <a:bodyPr wrap="square" lIns="0" tIns="0" rIns="0" bIns="0" anchor="t" anchorCtr="0">
                <a:noAutofit/>
              </a:bodyPr>
              <a:lstStyle/>
              <a:p>
                <a:pPr algn="ctr"/>
                <a:r>
                  <a:rPr lang="pt-BR" sz="2800" b="1" dirty="0"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</a:rPr>
                  <a:t>Python, Github</a:t>
                </a:r>
              </a:p>
            </p:txBody>
          </p:sp>
        </p:grpSp>
        <p:pic>
          <p:nvPicPr>
            <p:cNvPr id="2056" name="Picture 8" descr="Project Jupyter - Wikipedia">
              <a:extLst>
                <a:ext uri="{FF2B5EF4-FFF2-40B4-BE49-F238E27FC236}">
                  <a16:creationId xmlns:a16="http://schemas.microsoft.com/office/drawing/2014/main" id="{1114490E-F308-86A2-9545-F2FA48902A8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883123" y="4770122"/>
              <a:ext cx="1577863" cy="1828800"/>
            </a:xfrm>
            <a:prstGeom prst="rect">
              <a:avLst/>
            </a:prstGeom>
            <a:ln>
              <a:solidFill>
                <a:schemeClr val="tx1"/>
              </a:solidFill>
            </a:ln>
            <a:effectLst>
              <a:outerShdw blurRad="76200" dir="13500000" sy="23000" kx="1200000" algn="br" rotWithShape="0">
                <a:prstClr val="black">
                  <a:alpha val="20000"/>
                </a:prstClr>
              </a:outerShdw>
            </a:effectLst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9" name="Rectangle: Rounded Corners 28">
              <a:extLst>
                <a:ext uri="{FF2B5EF4-FFF2-40B4-BE49-F238E27FC236}">
                  <a16:creationId xmlns:a16="http://schemas.microsoft.com/office/drawing/2014/main" id="{0CAB0A03-134E-3D0E-C037-FFACB2EE2447}"/>
                </a:ext>
              </a:extLst>
            </p:cNvPr>
            <p:cNvSpPr/>
            <p:nvPr/>
          </p:nvSpPr>
          <p:spPr>
            <a:xfrm>
              <a:off x="4740241" y="4911680"/>
              <a:ext cx="1499187" cy="1736459"/>
            </a:xfrm>
            <a:prstGeom prst="roundRect">
              <a:avLst/>
            </a:prstGeom>
            <a:noFill/>
          </p:spPr>
          <p:txBody>
            <a:bodyPr wrap="square" lIns="0" tIns="0" rIns="0" bIns="0" anchor="t" anchorCtr="0">
              <a:noAutofit/>
            </a:bodyPr>
            <a:lstStyle/>
            <a:p>
              <a:pPr algn="ctr"/>
              <a:r>
                <a:rPr lang="pt-BR" sz="2400" b="1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rPr>
                <a:t>Visual Studio</a:t>
              </a:r>
            </a:p>
            <a:p>
              <a:pPr algn="ctr"/>
              <a:endParaRPr lang="pt-BR" sz="8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endParaRPr>
            </a:p>
            <a:p>
              <a:pPr algn="ctr"/>
              <a:r>
                <a:rPr lang="pt-BR" sz="2400" b="1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rPr>
                <a:t>Jupyter Notebook</a:t>
              </a:r>
            </a:p>
          </p:txBody>
        </p:sp>
        <p:pic>
          <p:nvPicPr>
            <p:cNvPr id="2054" name="Picture 6" descr="Visual Studio Code - Baixar e instalar no Windows | Microsoft Store">
              <a:extLst>
                <a:ext uri="{FF2B5EF4-FFF2-40B4-BE49-F238E27FC236}">
                  <a16:creationId xmlns:a16="http://schemas.microsoft.com/office/drawing/2014/main" id="{295B0B8F-7087-B9AC-2768-318BA72D329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75068" y="4770122"/>
              <a:ext cx="1828800" cy="1828800"/>
            </a:xfrm>
            <a:prstGeom prst="rect">
              <a:avLst/>
            </a:prstGeom>
            <a:ln>
              <a:solidFill>
                <a:schemeClr val="tx1"/>
              </a:solidFill>
            </a:ln>
            <a:effectLst>
              <a:outerShdw blurRad="76200" dir="13500000" sy="23000" kx="1200000" algn="br" rotWithShape="0">
                <a:prstClr val="black">
                  <a:alpha val="20000"/>
                </a:prstClr>
              </a:outerShdw>
            </a:effectLst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32" name="TextBox 31">
            <a:extLst>
              <a:ext uri="{FF2B5EF4-FFF2-40B4-BE49-F238E27FC236}">
                <a16:creationId xmlns:a16="http://schemas.microsoft.com/office/drawing/2014/main" id="{CD41B619-95AB-3A56-A5BA-271CC205E316}"/>
              </a:ext>
            </a:extLst>
          </p:cNvPr>
          <p:cNvSpPr txBox="1"/>
          <p:nvPr/>
        </p:nvSpPr>
        <p:spPr>
          <a:xfrm>
            <a:off x="6424410" y="2508983"/>
            <a:ext cx="5560029" cy="848802"/>
          </a:xfrm>
          <a:prstGeom prst="rect">
            <a:avLst/>
          </a:prstGeom>
          <a:solidFill>
            <a:schemeClr val="bg1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anchor="ctr" anchorCtr="0">
            <a:noAutofit/>
          </a:bodyPr>
          <a:lstStyle/>
          <a:p>
            <a:pPr>
              <a:lnSpc>
                <a:spcPts val="1650"/>
              </a:lnSpc>
              <a:buNone/>
            </a:pPr>
            <a:r>
              <a:rPr lang="en-US" sz="1400" b="0" dirty="0">
                <a:solidFill>
                  <a:srgbClr val="D73A49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en-US" sz="1400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numpy</a:t>
            </a:r>
            <a:r>
              <a:rPr lang="en-US" sz="1400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D73A49"/>
                </a:solidFill>
                <a:effectLst/>
                <a:latin typeface="Consolas" panose="020B0609020204030204" pitchFamily="49" charset="0"/>
              </a:rPr>
              <a:t>as</a:t>
            </a:r>
            <a:r>
              <a:rPr lang="en-US" sz="1400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 np  ; </a:t>
            </a:r>
            <a:r>
              <a:rPr lang="en-US" sz="1400" b="0" dirty="0">
                <a:solidFill>
                  <a:srgbClr val="D73A49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en-US" sz="1400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matplotlib.pyplot</a:t>
            </a:r>
            <a:r>
              <a:rPr lang="en-US" sz="1400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D73A49"/>
                </a:solidFill>
                <a:effectLst/>
                <a:latin typeface="Consolas" panose="020B0609020204030204" pitchFamily="49" charset="0"/>
              </a:rPr>
              <a:t>as</a:t>
            </a:r>
            <a:r>
              <a:rPr lang="en-US" sz="1400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1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plt</a:t>
            </a:r>
            <a:endParaRPr lang="en-US" sz="1400" b="1" dirty="0">
              <a:solidFill>
                <a:srgbClr val="0000F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650"/>
              </a:lnSpc>
              <a:buNone/>
            </a:pPr>
            <a:r>
              <a:rPr lang="en-US" sz="1400" b="0" dirty="0">
                <a:solidFill>
                  <a:srgbClr val="D73A49"/>
                </a:solidFill>
                <a:effectLst/>
                <a:latin typeface="Consolas" panose="020B0609020204030204" pitchFamily="49" charset="0"/>
              </a:rPr>
              <a:t>from</a:t>
            </a:r>
            <a:r>
              <a:rPr lang="en-US" sz="1400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fipy</a:t>
            </a:r>
            <a:r>
              <a:rPr lang="en-US" sz="1400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D73A49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en-US" sz="1400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1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CellVariable, Grid2D, Viewer</a:t>
            </a:r>
            <a:r>
              <a:rPr lang="en-US" sz="1400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, </a:t>
            </a:r>
          </a:p>
          <a:p>
            <a:pPr>
              <a:lnSpc>
                <a:spcPts val="1650"/>
              </a:lnSpc>
              <a:buNone/>
            </a:pPr>
            <a:r>
              <a:rPr lang="en-US" sz="1400" dirty="0">
                <a:solidFill>
                  <a:srgbClr val="D73A49"/>
                </a:solidFill>
                <a:latin typeface="Consolas" panose="020B0609020204030204" pitchFamily="49" charset="0"/>
              </a:rPr>
              <a:t>from</a:t>
            </a:r>
            <a:r>
              <a:rPr lang="en-US" sz="1400" dirty="0">
                <a:solidFill>
                  <a:srgbClr val="24292E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 err="1">
                <a:solidFill>
                  <a:srgbClr val="24292E"/>
                </a:solidFill>
                <a:latin typeface="Consolas" panose="020B0609020204030204" pitchFamily="49" charset="0"/>
              </a:rPr>
              <a:t>fipy</a:t>
            </a:r>
            <a:r>
              <a:rPr lang="en-US" sz="1400" dirty="0">
                <a:solidFill>
                  <a:srgbClr val="24292E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D73A49"/>
                </a:solidFill>
                <a:latin typeface="Consolas" panose="020B0609020204030204" pitchFamily="49" charset="0"/>
              </a:rPr>
              <a:t>import </a:t>
            </a:r>
            <a:r>
              <a:rPr lang="en-US" sz="1400" b="1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TransientTerm</a:t>
            </a:r>
            <a:r>
              <a:rPr lang="en-US" sz="1400" b="1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1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DiffusionTerm</a:t>
            </a:r>
            <a:endParaRPr lang="en-US" sz="1400" b="1" dirty="0">
              <a:solidFill>
                <a:srgbClr val="0000FF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C984CD4-2865-E38D-207C-4B41988A1C34}"/>
              </a:ext>
            </a:extLst>
          </p:cNvPr>
          <p:cNvSpPr txBox="1"/>
          <p:nvPr/>
        </p:nvSpPr>
        <p:spPr>
          <a:xfrm>
            <a:off x="6436878" y="3437238"/>
            <a:ext cx="5547562" cy="1110798"/>
          </a:xfrm>
          <a:prstGeom prst="rect">
            <a:avLst/>
          </a:prstGeom>
          <a:solidFill>
            <a:schemeClr val="bg1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anchor="ctr" anchorCtr="0">
            <a:noAutofit/>
          </a:bodyPr>
          <a:lstStyle/>
          <a:p>
            <a:pPr>
              <a:lnSpc>
                <a:spcPts val="1650"/>
              </a:lnSpc>
              <a:buNone/>
            </a:pPr>
            <a:r>
              <a:rPr lang="en-US" b="0" dirty="0" err="1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nx</a:t>
            </a:r>
            <a:r>
              <a:rPr lang="en-US" b="0" dirty="0">
                <a:solidFill>
                  <a:srgbClr val="D73A49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005CC5"/>
                </a:solidFill>
                <a:effectLst/>
                <a:latin typeface="Consolas" panose="020B0609020204030204" pitchFamily="49" charset="0"/>
              </a:rPr>
              <a:t>20</a:t>
            </a:r>
            <a:r>
              <a:rPr lang="en-US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  ;</a:t>
            </a:r>
            <a:r>
              <a:rPr lang="en-US" b="0" dirty="0" err="1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ny</a:t>
            </a:r>
            <a:r>
              <a:rPr lang="en-US" b="0" dirty="0">
                <a:solidFill>
                  <a:srgbClr val="D73A49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005CC5"/>
                </a:solidFill>
                <a:effectLst/>
                <a:latin typeface="Consolas" panose="020B0609020204030204" pitchFamily="49" charset="0"/>
              </a:rPr>
              <a:t>20</a:t>
            </a:r>
            <a:r>
              <a:rPr lang="en-US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   ;dx</a:t>
            </a:r>
            <a:r>
              <a:rPr lang="en-US" b="0" dirty="0">
                <a:solidFill>
                  <a:srgbClr val="D73A49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005CC5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.;dy</a:t>
            </a:r>
            <a:r>
              <a:rPr lang="en-US" b="0" dirty="0">
                <a:solidFill>
                  <a:srgbClr val="D73A49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005CC5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.  ;L</a:t>
            </a:r>
            <a:r>
              <a:rPr lang="en-US" b="0" dirty="0">
                <a:solidFill>
                  <a:srgbClr val="D73A49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dx</a:t>
            </a:r>
            <a:r>
              <a:rPr lang="en-US" b="0" dirty="0">
                <a:solidFill>
                  <a:srgbClr val="D73A49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b="0" dirty="0" err="1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nx</a:t>
            </a:r>
            <a:r>
              <a:rPr lang="en-US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     </a:t>
            </a:r>
          </a:p>
          <a:p>
            <a:pPr>
              <a:lnSpc>
                <a:spcPts val="1650"/>
              </a:lnSpc>
              <a:buNone/>
            </a:pPr>
            <a:r>
              <a:rPr lang="en-US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mesh </a:t>
            </a:r>
            <a:r>
              <a:rPr lang="en-US" b="0" dirty="0">
                <a:solidFill>
                  <a:srgbClr val="D73A49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1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Grid2D</a:t>
            </a:r>
            <a:r>
              <a:rPr lang="en-US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E36209"/>
                </a:solidFill>
                <a:effectLst/>
                <a:latin typeface="Consolas" panose="020B0609020204030204" pitchFamily="49" charset="0"/>
              </a:rPr>
              <a:t>dx</a:t>
            </a:r>
            <a:r>
              <a:rPr lang="en-US" b="0" dirty="0">
                <a:solidFill>
                  <a:srgbClr val="D73A49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dx, </a:t>
            </a:r>
            <a:r>
              <a:rPr lang="en-US" b="0" dirty="0" err="1">
                <a:solidFill>
                  <a:srgbClr val="E36209"/>
                </a:solidFill>
                <a:effectLst/>
                <a:latin typeface="Consolas" panose="020B0609020204030204" pitchFamily="49" charset="0"/>
              </a:rPr>
              <a:t>dy</a:t>
            </a:r>
            <a:r>
              <a:rPr lang="en-US" b="0" dirty="0">
                <a:solidFill>
                  <a:srgbClr val="D73A49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 err="1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dy</a:t>
            </a:r>
            <a:r>
              <a:rPr lang="en-US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 err="1">
                <a:solidFill>
                  <a:srgbClr val="E36209"/>
                </a:solidFill>
                <a:effectLst/>
                <a:latin typeface="Consolas" panose="020B0609020204030204" pitchFamily="49" charset="0"/>
              </a:rPr>
              <a:t>nx</a:t>
            </a:r>
            <a:r>
              <a:rPr lang="en-US" b="0" dirty="0">
                <a:solidFill>
                  <a:srgbClr val="D73A49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 err="1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nx</a:t>
            </a:r>
            <a:r>
              <a:rPr lang="en-US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 err="1">
                <a:solidFill>
                  <a:srgbClr val="E36209"/>
                </a:solidFill>
                <a:effectLst/>
                <a:latin typeface="Consolas" panose="020B0609020204030204" pitchFamily="49" charset="0"/>
              </a:rPr>
              <a:t>ny</a:t>
            </a:r>
            <a:r>
              <a:rPr lang="en-US" b="0" dirty="0">
                <a:solidFill>
                  <a:srgbClr val="D73A49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 err="1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ny</a:t>
            </a:r>
            <a:r>
              <a:rPr lang="en-US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) </a:t>
            </a:r>
          </a:p>
          <a:p>
            <a:pPr>
              <a:lnSpc>
                <a:spcPts val="1650"/>
              </a:lnSpc>
              <a:buNone/>
            </a:pPr>
            <a:r>
              <a:rPr lang="en-US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phi  </a:t>
            </a:r>
            <a:r>
              <a:rPr lang="en-US" b="0" dirty="0">
                <a:solidFill>
                  <a:srgbClr val="D73A49"/>
                </a:solidFill>
                <a:effectLst/>
                <a:latin typeface="Consolas" panose="020B0609020204030204" pitchFamily="49" charset="0"/>
              </a:rPr>
              <a:t>= </a:t>
            </a:r>
            <a:r>
              <a:rPr lang="en-US" b="1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CellVariable</a:t>
            </a:r>
            <a:r>
              <a:rPr lang="en-US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E36209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b="0" dirty="0">
                <a:solidFill>
                  <a:srgbClr val="D73A49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032F62"/>
                </a:solidFill>
                <a:effectLst/>
                <a:latin typeface="Consolas" panose="020B0609020204030204" pitchFamily="49" charset="0"/>
              </a:rPr>
              <a:t>"solution </a:t>
            </a:r>
            <a:r>
              <a:rPr lang="en-US" b="0" dirty="0" err="1">
                <a:solidFill>
                  <a:srgbClr val="032F62"/>
                </a:solidFill>
                <a:effectLst/>
                <a:latin typeface="Consolas" panose="020B0609020204030204" pitchFamily="49" charset="0"/>
              </a:rPr>
              <a:t>variable"</a:t>
            </a:r>
            <a:r>
              <a:rPr lang="en-US" b="0" dirty="0" err="1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b="0" dirty="0" err="1">
                <a:solidFill>
                  <a:srgbClr val="E36209"/>
                </a:solidFill>
                <a:effectLst/>
                <a:latin typeface="Consolas" panose="020B0609020204030204" pitchFamily="49" charset="0"/>
              </a:rPr>
              <a:t>mesh</a:t>
            </a:r>
            <a:r>
              <a:rPr lang="en-US" b="0" dirty="0">
                <a:solidFill>
                  <a:srgbClr val="D73A49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 err="1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mesh,</a:t>
            </a:r>
            <a:r>
              <a:rPr lang="en-US" b="0" dirty="0" err="1">
                <a:solidFill>
                  <a:srgbClr val="E36209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b="0" dirty="0">
                <a:solidFill>
                  <a:srgbClr val="D73A49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005CC5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.)  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ACA6F485-2BBA-FD58-1E15-931769C72033}"/>
              </a:ext>
            </a:extLst>
          </p:cNvPr>
          <p:cNvSpPr txBox="1"/>
          <p:nvPr/>
        </p:nvSpPr>
        <p:spPr>
          <a:xfrm>
            <a:off x="6438617" y="4650252"/>
            <a:ext cx="2550624" cy="830350"/>
          </a:xfrm>
          <a:prstGeom prst="rect">
            <a:avLst/>
          </a:prstGeom>
          <a:solidFill>
            <a:schemeClr val="bg1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anchor="ctr" anchorCtr="0">
            <a:noAutofit/>
          </a:bodyPr>
          <a:lstStyle/>
          <a:p>
            <a:pPr>
              <a:buNone/>
            </a:pPr>
            <a:r>
              <a:rPr lang="en-US" sz="2400" b="1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Grid2D </a:t>
            </a:r>
          </a:p>
          <a:p>
            <a:pPr>
              <a:buNone/>
            </a:pPr>
            <a:r>
              <a:rPr lang="en-US" sz="2400" b="1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CellVariable</a:t>
            </a:r>
          </a:p>
        </p:txBody>
      </p:sp>
      <p:grpSp>
        <p:nvGrpSpPr>
          <p:cNvPr id="40" name="Group 39">
            <a:extLst>
              <a:ext uri="{FF2B5EF4-FFF2-40B4-BE49-F238E27FC236}">
                <a16:creationId xmlns:a16="http://schemas.microsoft.com/office/drawing/2014/main" id="{B8164D62-DA21-F813-8181-5BC34F2080D0}"/>
              </a:ext>
            </a:extLst>
          </p:cNvPr>
          <p:cNvGrpSpPr>
            <a:grpSpLocks noChangeAspect="1"/>
          </p:cNvGrpSpPr>
          <p:nvPr/>
        </p:nvGrpSpPr>
        <p:grpSpPr>
          <a:xfrm>
            <a:off x="9620358" y="4650253"/>
            <a:ext cx="2364079" cy="1667197"/>
            <a:chOff x="10030241" y="4561557"/>
            <a:chExt cx="1805372" cy="1273185"/>
          </a:xfrm>
        </p:grpSpPr>
        <p:pic>
          <p:nvPicPr>
            <p:cNvPr id="37" name="Picture 36">
              <a:extLst>
                <a:ext uri="{FF2B5EF4-FFF2-40B4-BE49-F238E27FC236}">
                  <a16:creationId xmlns:a16="http://schemas.microsoft.com/office/drawing/2014/main" id="{238386CD-EDD8-3CD5-2615-C9F5CC2B5A61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10038322" y="4561557"/>
              <a:ext cx="1790440" cy="830349"/>
            </a:xfrm>
            <a:prstGeom prst="rect">
              <a:avLst/>
            </a:prstGeom>
            <a:solidFill>
              <a:schemeClr val="bg1"/>
            </a:solidFill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  <p:pic>
          <p:nvPicPr>
            <p:cNvPr id="39" name="Picture 38">
              <a:extLst>
                <a:ext uri="{FF2B5EF4-FFF2-40B4-BE49-F238E27FC236}">
                  <a16:creationId xmlns:a16="http://schemas.microsoft.com/office/drawing/2014/main" id="{2FB71C50-856C-4AC0-439F-4865B175E037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10030241" y="5443133"/>
              <a:ext cx="1805372" cy="391609"/>
            </a:xfrm>
            <a:prstGeom prst="rect">
              <a:avLst/>
            </a:prstGeom>
            <a:solidFill>
              <a:schemeClr val="bg1"/>
            </a:solidFill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</p:grpSp>
      <p:sp>
        <p:nvSpPr>
          <p:cNvPr id="43" name="TextBox 42">
            <a:extLst>
              <a:ext uri="{FF2B5EF4-FFF2-40B4-BE49-F238E27FC236}">
                <a16:creationId xmlns:a16="http://schemas.microsoft.com/office/drawing/2014/main" id="{13108E80-1069-048E-EDB9-1344559F3D02}"/>
              </a:ext>
            </a:extLst>
          </p:cNvPr>
          <p:cNvSpPr txBox="1"/>
          <p:nvPr/>
        </p:nvSpPr>
        <p:spPr>
          <a:xfrm>
            <a:off x="6573231" y="5539403"/>
            <a:ext cx="2812869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24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Linguagem orientada a objetos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F545C98D-1BBE-89E4-6C01-FD5436712F6D}"/>
              </a:ext>
            </a:extLst>
          </p:cNvPr>
          <p:cNvSpPr/>
          <p:nvPr/>
        </p:nvSpPr>
        <p:spPr>
          <a:xfrm>
            <a:off x="7863840" y="6615178"/>
            <a:ext cx="4278909" cy="210190"/>
          </a:xfrm>
          <a:prstGeom prst="roundRect">
            <a:avLst/>
          </a:prstGeom>
          <a:noFill/>
        </p:spPr>
        <p:txBody>
          <a:bodyPr wrap="square" lIns="0" tIns="0" rIns="0" bIns="0" anchor="t" anchorCtr="0">
            <a:noAutofit/>
          </a:bodyPr>
          <a:lstStyle/>
          <a:p>
            <a:pPr algn="r"/>
            <a:r>
              <a:rPr lang="pt-BR" sz="1200" b="1" dirty="0">
                <a:solidFill>
                  <a:schemeClr val="accent2"/>
                </a:solidFill>
              </a:rPr>
              <a:t>https://github.com/grossiRM/CFD_ON/blob/main/02_FiPy</a:t>
            </a:r>
            <a:endParaRPr lang="pt-BR" sz="1600" b="1" dirty="0">
              <a:solidFill>
                <a:srgbClr val="0000FF"/>
              </a:solidFill>
            </a:endParaRPr>
          </a:p>
        </p:txBody>
      </p:sp>
      <p:pic>
        <p:nvPicPr>
          <p:cNvPr id="161" name="Picture 160" descr="Slide #1 image">
            <a:extLst>
              <a:ext uri="{FF2B5EF4-FFF2-40B4-BE49-F238E27FC236}">
                <a16:creationId xmlns:a16="http://schemas.microsoft.com/office/drawing/2014/main" id="{299DED96-7F04-C42B-DF81-8E80096AD70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2925" t="39613" r="23086" b="48741"/>
          <a:stretch/>
        </p:blipFill>
        <p:spPr bwMode="auto">
          <a:xfrm>
            <a:off x="6435359" y="951967"/>
            <a:ext cx="2760896" cy="1477563"/>
          </a:xfrm>
          <a:prstGeom prst="rect">
            <a:avLst/>
          </a:prstGeom>
          <a:noFill/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2937006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8D4E42-99DA-B8B5-69FA-9D786FFC5E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C7DE534B-5949-FB9B-E933-F00174A09EB5}"/>
              </a:ext>
            </a:extLst>
          </p:cNvPr>
          <p:cNvSpPr/>
          <p:nvPr/>
        </p:nvSpPr>
        <p:spPr>
          <a:xfrm>
            <a:off x="0" y="1"/>
            <a:ext cx="12192000" cy="6858000"/>
          </a:xfrm>
          <a:prstGeom prst="rect">
            <a:avLst/>
          </a:prstGeom>
          <a:solidFill>
            <a:srgbClr val="E5FFF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2B33A6C5-3ACB-E41E-B133-E6E6DA188638}"/>
              </a:ext>
            </a:extLst>
          </p:cNvPr>
          <p:cNvSpPr/>
          <p:nvPr/>
        </p:nvSpPr>
        <p:spPr>
          <a:xfrm>
            <a:off x="7796814" y="317105"/>
            <a:ext cx="3829129" cy="634862"/>
          </a:xfrm>
          <a:prstGeom prst="roundRect">
            <a:avLst/>
          </a:prstGeom>
          <a:noFill/>
        </p:spPr>
        <p:txBody>
          <a:bodyPr wrap="square" lIns="0" tIns="0" rIns="0" bIns="0" anchor="t" anchorCtr="0">
            <a:noAutofit/>
          </a:bodyPr>
          <a:lstStyle/>
          <a:p>
            <a:pPr algn="r"/>
            <a:r>
              <a:rPr lang="pt-BR" sz="3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Ecossistema</a:t>
            </a:r>
          </a:p>
        </p:txBody>
      </p:sp>
      <p:sp>
        <p:nvSpPr>
          <p:cNvPr id="41" name="Rectangle: Rounded Corners 40">
            <a:extLst>
              <a:ext uri="{FF2B5EF4-FFF2-40B4-BE49-F238E27FC236}">
                <a16:creationId xmlns:a16="http://schemas.microsoft.com/office/drawing/2014/main" id="{AA761F99-2476-9F45-A4CC-CEBE0DECE788}"/>
              </a:ext>
            </a:extLst>
          </p:cNvPr>
          <p:cNvSpPr/>
          <p:nvPr/>
        </p:nvSpPr>
        <p:spPr>
          <a:xfrm>
            <a:off x="3329543" y="6500940"/>
            <a:ext cx="8691871" cy="306565"/>
          </a:xfrm>
          <a:prstGeom prst="roundRect">
            <a:avLst/>
          </a:prstGeom>
          <a:noFill/>
        </p:spPr>
        <p:txBody>
          <a:bodyPr wrap="square" lIns="0" tIns="0" rIns="0" bIns="0" anchor="t" anchorCtr="0">
            <a:noAutofit/>
          </a:bodyPr>
          <a:lstStyle/>
          <a:p>
            <a:pPr algn="r"/>
            <a:r>
              <a:rPr lang="pt-BR" sz="1600" b="1" dirty="0">
                <a:solidFill>
                  <a:schemeClr val="accent2"/>
                </a:solidFill>
              </a:rPr>
              <a:t>https://github.com/grossiRM/CFD_ON/blob/main/02_FiPy/</a:t>
            </a:r>
            <a:r>
              <a:rPr lang="pt-BR" sz="2000" b="1" dirty="0">
                <a:solidFill>
                  <a:srgbClr val="0000FF"/>
                </a:solidFill>
              </a:rPr>
              <a:t>02_diffusion.mesh20x20.ipynb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BF74E5E0-D854-BCCE-58C9-5075E40DA4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0586" y="2316898"/>
            <a:ext cx="3121253" cy="4337325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DFEAF43-EB15-D0F3-200F-39BF7CF51F2F}"/>
              </a:ext>
            </a:extLst>
          </p:cNvPr>
          <p:cNvSpPr txBox="1"/>
          <p:nvPr/>
        </p:nvSpPr>
        <p:spPr>
          <a:xfrm>
            <a:off x="1577934" y="2349289"/>
            <a:ext cx="3604010" cy="461665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anchor="ctr" anchorCtr="0">
            <a:noAutofit/>
          </a:bodyPr>
          <a:lstStyle>
            <a:defPPr>
              <a:defRPr lang="LID4096"/>
            </a:defPPr>
            <a:lvl1pPr algn="ctr">
              <a:defRPr sz="24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pPr algn="l"/>
            <a:r>
              <a:rPr lang="LID4096" sz="1700" dirty="0"/>
              <a:t>https://github.com/grossiRM/CFD_ON</a:t>
            </a: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2F63F6F3-8038-D153-5BFD-A9316E3E5E98}"/>
              </a:ext>
            </a:extLst>
          </p:cNvPr>
          <p:cNvGrpSpPr>
            <a:grpSpLocks noChangeAspect="1"/>
          </p:cNvGrpSpPr>
          <p:nvPr/>
        </p:nvGrpSpPr>
        <p:grpSpPr>
          <a:xfrm>
            <a:off x="170587" y="203777"/>
            <a:ext cx="5887933" cy="2016837"/>
            <a:chOff x="170587" y="203777"/>
            <a:chExt cx="4687854" cy="1605765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683B6BCC-AF6B-F46B-6FEC-2E1C6050844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r="33602" b="63439"/>
            <a:stretch>
              <a:fillRect/>
            </a:stretch>
          </p:blipFill>
          <p:spPr>
            <a:xfrm>
              <a:off x="170587" y="203777"/>
              <a:ext cx="4687854" cy="634863"/>
            </a:xfrm>
            <a:prstGeom prst="rect">
              <a:avLst/>
            </a:prstGeom>
            <a:ln>
              <a:solidFill>
                <a:schemeClr val="tx1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42B97477-9DA2-41D5-9AC9-D881CD43008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31443" t="44209" r="2159"/>
            <a:stretch>
              <a:fillRect/>
            </a:stretch>
          </p:blipFill>
          <p:spPr>
            <a:xfrm>
              <a:off x="170587" y="840758"/>
              <a:ext cx="4687854" cy="968784"/>
            </a:xfrm>
            <a:prstGeom prst="rect">
              <a:avLst/>
            </a:prstGeom>
            <a:ln>
              <a:solidFill>
                <a:schemeClr val="tx1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</p:grpSp>
      <p:sp>
        <p:nvSpPr>
          <p:cNvPr id="31" name="Arrow: Down 30">
            <a:extLst>
              <a:ext uri="{FF2B5EF4-FFF2-40B4-BE49-F238E27FC236}">
                <a16:creationId xmlns:a16="http://schemas.microsoft.com/office/drawing/2014/main" id="{16E2746B-586D-0388-3F09-17C8DAC5E878}"/>
              </a:ext>
            </a:extLst>
          </p:cNvPr>
          <p:cNvSpPr/>
          <p:nvPr/>
        </p:nvSpPr>
        <p:spPr>
          <a:xfrm rot="16200000" flipV="1">
            <a:off x="1208386" y="3744814"/>
            <a:ext cx="312186" cy="426906"/>
          </a:xfrm>
          <a:prstGeom prst="downArrow">
            <a:avLst/>
          </a:prstGeom>
          <a:solidFill>
            <a:srgbClr val="0000FF"/>
          </a:solidFill>
          <a:ln w="3810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dirty="0"/>
          </a:p>
        </p:txBody>
      </p:sp>
      <p:pic>
        <p:nvPicPr>
          <p:cNvPr id="36" name="Picture 35">
            <a:extLst>
              <a:ext uri="{FF2B5EF4-FFF2-40B4-BE49-F238E27FC236}">
                <a16:creationId xmlns:a16="http://schemas.microsoft.com/office/drawing/2014/main" id="{A63878D7-FBC5-D95F-B982-8A29D26996D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72279" y="2907238"/>
            <a:ext cx="7768046" cy="3514903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42" name="TextBox 41">
            <a:extLst>
              <a:ext uri="{FF2B5EF4-FFF2-40B4-BE49-F238E27FC236}">
                <a16:creationId xmlns:a16="http://schemas.microsoft.com/office/drawing/2014/main" id="{B569316A-6FA2-8628-4449-D948D7698896}"/>
              </a:ext>
            </a:extLst>
          </p:cNvPr>
          <p:cNvSpPr txBox="1"/>
          <p:nvPr/>
        </p:nvSpPr>
        <p:spPr>
          <a:xfrm>
            <a:off x="2917509" y="296685"/>
            <a:ext cx="2993833" cy="353943"/>
          </a:xfrm>
          <a:prstGeom prst="rect">
            <a:avLst/>
          </a:prstGeom>
          <a:noFill/>
        </p:spPr>
        <p:txBody>
          <a:bodyPr wrap="square" lIns="0" tIns="0" rIns="0" bIns="0" anchor="ctr" anchorCtr="0">
            <a:noAutofit/>
          </a:bodyPr>
          <a:lstStyle>
            <a:defPPr>
              <a:defRPr lang="LID4096"/>
            </a:defPPr>
            <a:lvl1pPr>
              <a:defRPr sz="17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pPr algn="ctr"/>
            <a:r>
              <a:rPr lang="LID4096" dirty="0"/>
              <a:t>https://github.com/usnistgov</a:t>
            </a:r>
          </a:p>
        </p:txBody>
      </p:sp>
      <p:sp>
        <p:nvSpPr>
          <p:cNvPr id="43" name="Arrow: Down 42">
            <a:extLst>
              <a:ext uri="{FF2B5EF4-FFF2-40B4-BE49-F238E27FC236}">
                <a16:creationId xmlns:a16="http://schemas.microsoft.com/office/drawing/2014/main" id="{D6E7B2E2-319B-2363-473C-F7B7A036D3E9}"/>
              </a:ext>
            </a:extLst>
          </p:cNvPr>
          <p:cNvSpPr/>
          <p:nvPr/>
        </p:nvSpPr>
        <p:spPr>
          <a:xfrm rot="16200000">
            <a:off x="4886504" y="1451602"/>
            <a:ext cx="312186" cy="472369"/>
          </a:xfrm>
          <a:prstGeom prst="downArrow">
            <a:avLst/>
          </a:prstGeom>
          <a:solidFill>
            <a:srgbClr val="0000FF"/>
          </a:solidFill>
          <a:ln w="3810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dirty="0"/>
          </a:p>
        </p:txBody>
      </p:sp>
      <p:pic>
        <p:nvPicPr>
          <p:cNvPr id="45" name="Picture 44">
            <a:extLst>
              <a:ext uri="{FF2B5EF4-FFF2-40B4-BE49-F238E27FC236}">
                <a16:creationId xmlns:a16="http://schemas.microsoft.com/office/drawing/2014/main" id="{050E6FF3-DA78-01AE-0D91-A4836A9878F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52748" y="1001164"/>
            <a:ext cx="3191894" cy="1770628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49" name="TextBox 48">
            <a:extLst>
              <a:ext uri="{FF2B5EF4-FFF2-40B4-BE49-F238E27FC236}">
                <a16:creationId xmlns:a16="http://schemas.microsoft.com/office/drawing/2014/main" id="{A0FD3AA5-83C5-EF4A-B940-110383E1BE53}"/>
              </a:ext>
            </a:extLst>
          </p:cNvPr>
          <p:cNvSpPr txBox="1"/>
          <p:nvPr/>
        </p:nvSpPr>
        <p:spPr>
          <a:xfrm>
            <a:off x="8377838" y="1687786"/>
            <a:ext cx="3191894" cy="353943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anchor="ctr" anchorCtr="0">
            <a:noAutofit/>
          </a:bodyPr>
          <a:lstStyle>
            <a:defPPr>
              <a:defRPr lang="LID4096"/>
            </a:defPPr>
            <a:lvl1pPr>
              <a:defRPr sz="17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pPr algn="ctr"/>
            <a:r>
              <a:rPr lang="LID4096" dirty="0"/>
              <a:t>https://github.com/new</a:t>
            </a:r>
          </a:p>
        </p:txBody>
      </p:sp>
      <p:pic>
        <p:nvPicPr>
          <p:cNvPr id="51" name="Picture 4" descr="GitHub – Wikipédia, a enciclopédia livre">
            <a:extLst>
              <a:ext uri="{FF2B5EF4-FFF2-40B4-BE49-F238E27FC236}">
                <a16:creationId xmlns:a16="http://schemas.microsoft.com/office/drawing/2014/main" id="{EFE2FBE7-935E-19F5-BC76-FF193AA17C9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40558" y="1460909"/>
            <a:ext cx="1310883" cy="1310883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76200" dir="13500000" sy="23000" kx="1200000" algn="br" rotWithShape="0">
              <a:prstClr val="black">
                <a:alpha val="2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52" name="Group 51">
            <a:extLst>
              <a:ext uri="{FF2B5EF4-FFF2-40B4-BE49-F238E27FC236}">
                <a16:creationId xmlns:a16="http://schemas.microsoft.com/office/drawing/2014/main" id="{F59C7B0A-CEC6-E3AD-CAEC-6FB4ED77DBB9}"/>
              </a:ext>
            </a:extLst>
          </p:cNvPr>
          <p:cNvGrpSpPr>
            <a:grpSpLocks noChangeAspect="1"/>
          </p:cNvGrpSpPr>
          <p:nvPr/>
        </p:nvGrpSpPr>
        <p:grpSpPr>
          <a:xfrm>
            <a:off x="10742983" y="2138013"/>
            <a:ext cx="1196985" cy="1313577"/>
            <a:chOff x="5217406" y="1618699"/>
            <a:chExt cx="1584015" cy="1738305"/>
          </a:xfrm>
        </p:grpSpPr>
        <p:pic>
          <p:nvPicPr>
            <p:cNvPr id="53" name="Picture 52">
              <a:extLst>
                <a:ext uri="{FF2B5EF4-FFF2-40B4-BE49-F238E27FC236}">
                  <a16:creationId xmlns:a16="http://schemas.microsoft.com/office/drawing/2014/main" id="{3DCDB11C-71DE-44F0-4B2B-18B23508DDE8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5217406" y="1618699"/>
              <a:ext cx="1537730" cy="1738305"/>
            </a:xfrm>
            <a:prstGeom prst="rect">
              <a:avLst/>
            </a:prstGeom>
            <a:ln>
              <a:solidFill>
                <a:schemeClr val="tx1"/>
              </a:solidFill>
            </a:ln>
            <a:effectLst>
              <a:outerShdw blurRad="76200" dir="13500000" sy="23000" kx="1200000" algn="br" rotWithShape="0">
                <a:prstClr val="black">
                  <a:alpha val="20000"/>
                </a:prstClr>
              </a:outerShdw>
            </a:effectLst>
          </p:spPr>
        </p:pic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79050939-4D12-E988-E1BD-950102B9F9D3}"/>
                </a:ext>
              </a:extLst>
            </p:cNvPr>
            <p:cNvSpPr txBox="1"/>
            <p:nvPr/>
          </p:nvSpPr>
          <p:spPr>
            <a:xfrm>
              <a:off x="5916601" y="2905780"/>
              <a:ext cx="884820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/>
              <a:r>
                <a:rPr lang="pt-BR" sz="2000" b="1" dirty="0"/>
                <a:t>Fi</a:t>
              </a:r>
              <a:r>
                <a:rPr lang="pt-BR" sz="2000" b="1" dirty="0">
                  <a:solidFill>
                    <a:srgbClr val="FF0000"/>
                  </a:solidFill>
                </a:rPr>
                <a:t>Py</a:t>
              </a:r>
              <a:endParaRPr lang="pt-BR" sz="1600" dirty="0">
                <a:solidFill>
                  <a:srgbClr val="FF0000"/>
                </a:solidFill>
              </a:endParaRPr>
            </a:p>
          </p:txBody>
        </p:sp>
      </p:grp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30691D91-8EA8-8308-91AA-D47C1F8CCB84}"/>
              </a:ext>
            </a:extLst>
          </p:cNvPr>
          <p:cNvSpPr/>
          <p:nvPr/>
        </p:nvSpPr>
        <p:spPr>
          <a:xfrm>
            <a:off x="7949214" y="129872"/>
            <a:ext cx="3829129" cy="634862"/>
          </a:xfrm>
          <a:prstGeom prst="roundRect">
            <a:avLst/>
          </a:prstGeom>
          <a:noFill/>
        </p:spPr>
        <p:txBody>
          <a:bodyPr wrap="square" lIns="0" tIns="0" rIns="0" bIns="0" anchor="t" anchorCtr="0">
            <a:noAutofit/>
          </a:bodyPr>
          <a:lstStyle/>
          <a:p>
            <a:pPr algn="r"/>
            <a:r>
              <a:rPr lang="pt-B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“pausa”</a:t>
            </a:r>
          </a:p>
        </p:txBody>
      </p:sp>
      <p:pic>
        <p:nvPicPr>
          <p:cNvPr id="6" name="Picture 2" descr="Mouse Click Icon SVG Vector &amp; PNG Free Download | UXWing">
            <a:extLst>
              <a:ext uri="{FF2B5EF4-FFF2-40B4-BE49-F238E27FC236}">
                <a16:creationId xmlns:a16="http://schemas.microsoft.com/office/drawing/2014/main" id="{95BAACB8-8590-8E47-FE86-531747F8207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98180" y="6088095"/>
            <a:ext cx="367757" cy="412845"/>
          </a:xfrm>
          <a:prstGeom prst="rect">
            <a:avLst/>
          </a:prstGeom>
          <a:noFill/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3941026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25">
            <a:extLst>
              <a:ext uri="{FF2B5EF4-FFF2-40B4-BE49-F238E27FC236}">
                <a16:creationId xmlns:a16="http://schemas.microsoft.com/office/drawing/2014/main" id="{D31F26F8-8FCE-76BB-4542-D64980A62662}"/>
              </a:ext>
            </a:extLst>
          </p:cNvPr>
          <p:cNvSpPr/>
          <p:nvPr/>
        </p:nvSpPr>
        <p:spPr>
          <a:xfrm>
            <a:off x="-11508" y="0"/>
            <a:ext cx="12192000" cy="6858000"/>
          </a:xfrm>
          <a:prstGeom prst="rect">
            <a:avLst/>
          </a:prstGeom>
          <a:solidFill>
            <a:srgbClr val="E5FFF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pic>
        <p:nvPicPr>
          <p:cNvPr id="47" name="Picture 46">
            <a:extLst>
              <a:ext uri="{FF2B5EF4-FFF2-40B4-BE49-F238E27FC236}">
                <a16:creationId xmlns:a16="http://schemas.microsoft.com/office/drawing/2014/main" id="{BD77871E-59EB-7DAB-24E4-D3B000F9243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7272" t="68014" r="59655" b="12008"/>
          <a:stretch>
            <a:fillRect/>
          </a:stretch>
        </p:blipFill>
        <p:spPr>
          <a:xfrm>
            <a:off x="4726210" y="572879"/>
            <a:ext cx="3425013" cy="1668140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14897F0-BAE4-9635-542C-378FDF07959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72922" t="72641" r="13927" b="21396"/>
          <a:stretch>
            <a:fillRect/>
          </a:stretch>
        </p:blipFill>
        <p:spPr>
          <a:xfrm>
            <a:off x="7471728" y="925017"/>
            <a:ext cx="2582720" cy="658738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0689B3F4-F951-0E17-26C6-7AC72F12F78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2407" y="306840"/>
            <a:ext cx="3200061" cy="2057182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C2F4AF90-0B66-0A6E-6035-0197047C8417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79329"/>
          <a:stretch>
            <a:fillRect/>
          </a:stretch>
        </p:blipFill>
        <p:spPr>
          <a:xfrm>
            <a:off x="222407" y="2428615"/>
            <a:ext cx="3844496" cy="439576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02100CC4-2015-590B-C69C-49AF00D7C31F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r="7510"/>
          <a:stretch>
            <a:fillRect/>
          </a:stretch>
        </p:blipFill>
        <p:spPr>
          <a:xfrm>
            <a:off x="6084492" y="4367939"/>
            <a:ext cx="4100616" cy="1213401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FD7F6F25-AEBD-1A8F-FA4A-1E40BF251DDF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19357" t="34471" r="66643" b="29016"/>
          <a:stretch>
            <a:fillRect/>
          </a:stretch>
        </p:blipFill>
        <p:spPr>
          <a:xfrm>
            <a:off x="222407" y="2932784"/>
            <a:ext cx="1706880" cy="2504069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DDE04BA7-0F71-CADB-E003-F4F2BA89CD5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006892" y="2868192"/>
            <a:ext cx="3881630" cy="2504070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A1802FCB-FF63-F555-8DDF-05094CFB69F4}"/>
              </a:ext>
            </a:extLst>
          </p:cNvPr>
          <p:cNvSpPr txBox="1"/>
          <p:nvPr/>
        </p:nvSpPr>
        <p:spPr>
          <a:xfrm>
            <a:off x="4726209" y="122243"/>
            <a:ext cx="2664069" cy="353943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anchor="ctr" anchorCtr="0">
            <a:noAutofit/>
          </a:bodyPr>
          <a:lstStyle>
            <a:defPPr>
              <a:defRPr lang="LID4096"/>
            </a:defPPr>
            <a:lvl1pPr>
              <a:defRPr sz="17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pPr algn="ctr"/>
            <a:r>
              <a:rPr lang="LID4096" dirty="0"/>
              <a:t>https://github.com/new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B8C02BF-9837-4DC3-7A43-13B5D00BFF5A}"/>
              </a:ext>
            </a:extLst>
          </p:cNvPr>
          <p:cNvSpPr txBox="1"/>
          <p:nvPr/>
        </p:nvSpPr>
        <p:spPr>
          <a:xfrm>
            <a:off x="6084492" y="2371534"/>
            <a:ext cx="4100616" cy="1384995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>
            <a:spAutoFit/>
          </a:bodyPr>
          <a:lstStyle/>
          <a:p>
            <a:r>
              <a:rPr lang="LID4096" sz="1400" dirty="0">
                <a:solidFill>
                  <a:schemeClr val="bg1"/>
                </a:solidFill>
              </a:rPr>
              <a:t>echo "# </a:t>
            </a:r>
            <a:r>
              <a:rPr lang="pt-BR" sz="1400" dirty="0">
                <a:solidFill>
                  <a:schemeClr val="bg1"/>
                </a:solidFill>
              </a:rPr>
              <a:t>new</a:t>
            </a:r>
            <a:r>
              <a:rPr lang="LID4096" sz="1400" dirty="0">
                <a:solidFill>
                  <a:schemeClr val="bg1"/>
                </a:solidFill>
              </a:rPr>
              <a:t>" &gt;&gt; README.md</a:t>
            </a:r>
            <a:endParaRPr lang="pt-BR" sz="1400" dirty="0">
              <a:solidFill>
                <a:schemeClr val="bg1"/>
              </a:solidFill>
            </a:endParaRPr>
          </a:p>
          <a:p>
            <a:r>
              <a:rPr lang="LID4096" sz="1400" dirty="0">
                <a:solidFill>
                  <a:schemeClr val="bg1"/>
                </a:solidFill>
              </a:rPr>
              <a:t>git initgit add README.md</a:t>
            </a:r>
            <a:endParaRPr lang="pt-BR" sz="1400" dirty="0">
              <a:solidFill>
                <a:schemeClr val="bg1"/>
              </a:solidFill>
            </a:endParaRPr>
          </a:p>
          <a:p>
            <a:r>
              <a:rPr lang="LID4096" sz="1400" dirty="0">
                <a:solidFill>
                  <a:schemeClr val="bg1"/>
                </a:solidFill>
              </a:rPr>
              <a:t>git commit -m "first commit“</a:t>
            </a:r>
            <a:endParaRPr lang="pt-BR" sz="1400" dirty="0">
              <a:solidFill>
                <a:schemeClr val="bg1"/>
              </a:solidFill>
            </a:endParaRPr>
          </a:p>
          <a:p>
            <a:r>
              <a:rPr lang="LID4096" sz="1400" dirty="0">
                <a:solidFill>
                  <a:schemeClr val="bg1"/>
                </a:solidFill>
              </a:rPr>
              <a:t>git branch -M main</a:t>
            </a:r>
            <a:endParaRPr lang="pt-BR" sz="1400" dirty="0">
              <a:solidFill>
                <a:schemeClr val="bg1"/>
              </a:solidFill>
            </a:endParaRPr>
          </a:p>
          <a:p>
            <a:r>
              <a:rPr lang="LID4096" sz="1400" dirty="0">
                <a:solidFill>
                  <a:schemeClr val="bg1"/>
                </a:solidFill>
              </a:rPr>
              <a:t>git remote add origin </a:t>
            </a:r>
            <a:r>
              <a:rPr lang="LID4096" sz="900" dirty="0">
                <a:solidFill>
                  <a:srgbClr val="FFFF00"/>
                </a:solidFill>
              </a:rPr>
              <a:t>https://github.com/</a:t>
            </a:r>
            <a:r>
              <a:rPr lang="LID4096" sz="1400" b="1" dirty="0">
                <a:solidFill>
                  <a:srgbClr val="FFFF00"/>
                </a:solidFill>
              </a:rPr>
              <a:t>grossiRM/</a:t>
            </a:r>
            <a:r>
              <a:rPr lang="pt-BR" sz="1400" b="1" dirty="0">
                <a:solidFill>
                  <a:srgbClr val="FFFF00"/>
                </a:solidFill>
              </a:rPr>
              <a:t>new</a:t>
            </a:r>
            <a:r>
              <a:rPr lang="LID4096" sz="1400" b="1" dirty="0">
                <a:solidFill>
                  <a:srgbClr val="FFFF00"/>
                </a:solidFill>
              </a:rPr>
              <a:t>.git</a:t>
            </a:r>
            <a:endParaRPr lang="pt-BR" sz="1200" b="1" dirty="0">
              <a:solidFill>
                <a:srgbClr val="FFFF00"/>
              </a:solidFill>
            </a:endParaRPr>
          </a:p>
          <a:p>
            <a:r>
              <a:rPr lang="LID4096" sz="1400" dirty="0">
                <a:solidFill>
                  <a:schemeClr val="bg1"/>
                </a:solidFill>
              </a:rPr>
              <a:t>git push -u origin main</a:t>
            </a:r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BC9EA845-39E6-4317-FFE8-CE4A5FB5DFC1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291189" y="3551867"/>
            <a:ext cx="3597333" cy="2699336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FAA19C45-5B13-4E05-E14D-7B36F9B17615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79329"/>
          <a:stretch>
            <a:fillRect/>
          </a:stretch>
        </p:blipFill>
        <p:spPr>
          <a:xfrm>
            <a:off x="6084492" y="3855063"/>
            <a:ext cx="4100616" cy="439576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28" name="TextBox 27">
            <a:extLst>
              <a:ext uri="{FF2B5EF4-FFF2-40B4-BE49-F238E27FC236}">
                <a16:creationId xmlns:a16="http://schemas.microsoft.com/office/drawing/2014/main" id="{A5D98028-1AD7-5823-BE62-9B5DF7F9553C}"/>
              </a:ext>
            </a:extLst>
          </p:cNvPr>
          <p:cNvSpPr txBox="1"/>
          <p:nvPr/>
        </p:nvSpPr>
        <p:spPr>
          <a:xfrm>
            <a:off x="6084493" y="5675741"/>
            <a:ext cx="4100615" cy="861774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>
            <a:spAutoFit/>
          </a:bodyPr>
          <a:lstStyle/>
          <a:p>
            <a:r>
              <a:rPr lang="en-US" sz="1600" dirty="0">
                <a:solidFill>
                  <a:schemeClr val="bg1"/>
                </a:solidFill>
              </a:rPr>
              <a:t>$ git add .</a:t>
            </a:r>
          </a:p>
          <a:p>
            <a:r>
              <a:rPr lang="en-US" sz="1600" dirty="0">
                <a:solidFill>
                  <a:schemeClr val="bg1"/>
                </a:solidFill>
              </a:rPr>
              <a:t>$ git commit -m “001"</a:t>
            </a:r>
          </a:p>
          <a:p>
            <a:r>
              <a:rPr lang="en-US" sz="1600" dirty="0">
                <a:solidFill>
                  <a:schemeClr val="bg1"/>
                </a:solidFill>
              </a:rPr>
              <a:t>$ git push origin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6725841A-4D36-6884-6979-403402FA0352}"/>
              </a:ext>
            </a:extLst>
          </p:cNvPr>
          <p:cNvGrpSpPr/>
          <p:nvPr/>
        </p:nvGrpSpPr>
        <p:grpSpPr>
          <a:xfrm>
            <a:off x="10396377" y="934567"/>
            <a:ext cx="1329047" cy="4793371"/>
            <a:chOff x="10535717" y="1030364"/>
            <a:chExt cx="1329047" cy="4793371"/>
          </a:xfrm>
        </p:grpSpPr>
        <p:pic>
          <p:nvPicPr>
            <p:cNvPr id="31" name="Picture 4" descr="GitHub – Wikipédia, a enciclopédia livre">
              <a:extLst>
                <a:ext uri="{FF2B5EF4-FFF2-40B4-BE49-F238E27FC236}">
                  <a16:creationId xmlns:a16="http://schemas.microsoft.com/office/drawing/2014/main" id="{6D37DA40-E63B-CF2C-8A19-697C71E0ADF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535717" y="1030364"/>
              <a:ext cx="1310883" cy="1310883"/>
            </a:xfrm>
            <a:prstGeom prst="rect">
              <a:avLst/>
            </a:prstGeom>
            <a:ln>
              <a:solidFill>
                <a:schemeClr val="tx1"/>
              </a:solidFill>
            </a:ln>
            <a:effectLst>
              <a:outerShdw blurRad="76200" dir="13500000" sy="23000" kx="1200000" algn="br" rotWithShape="0">
                <a:prstClr val="black">
                  <a:alpha val="20000"/>
                </a:prstClr>
              </a:outerShdw>
            </a:effectLst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098" name="Picture 2">
              <a:extLst>
                <a:ext uri="{FF2B5EF4-FFF2-40B4-BE49-F238E27FC236}">
                  <a16:creationId xmlns:a16="http://schemas.microsoft.com/office/drawing/2014/main" id="{A3A57A76-C800-3053-8C53-2C16DB51960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535717" y="2649945"/>
              <a:ext cx="1329047" cy="1329047"/>
            </a:xfrm>
            <a:prstGeom prst="rect">
              <a:avLst/>
            </a:prstGeom>
            <a:ln>
              <a:solidFill>
                <a:schemeClr val="tx1"/>
              </a:solidFill>
            </a:ln>
            <a:effectLst>
              <a:outerShdw blurRad="76200" dir="13500000" sy="23000" kx="1200000" algn="br" rotWithShape="0">
                <a:prstClr val="black">
                  <a:alpha val="20000"/>
                </a:prstClr>
              </a:outerShdw>
            </a:effectLst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100" name="Picture 4">
              <a:extLst>
                <a:ext uri="{FF2B5EF4-FFF2-40B4-BE49-F238E27FC236}">
                  <a16:creationId xmlns:a16="http://schemas.microsoft.com/office/drawing/2014/main" id="{59BB9B62-FD6A-8F40-B538-805404AB7BB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535717" y="4380533"/>
              <a:ext cx="1310883" cy="1443202"/>
            </a:xfrm>
            <a:prstGeom prst="rect">
              <a:avLst/>
            </a:prstGeom>
            <a:ln>
              <a:solidFill>
                <a:schemeClr val="tx1"/>
              </a:solidFill>
            </a:ln>
            <a:effectLst>
              <a:outerShdw blurRad="76200" dir="13500000" sy="23000" kx="1200000" algn="br" rotWithShape="0">
                <a:prstClr val="black">
                  <a:alpha val="20000"/>
                </a:prstClr>
              </a:outerShdw>
            </a:effectLst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1026" name="Picture 2" descr="Mouse Click Icon SVG Vector &amp; PNG Free Download | UXWing">
            <a:extLst>
              <a:ext uri="{FF2B5EF4-FFF2-40B4-BE49-F238E27FC236}">
                <a16:creationId xmlns:a16="http://schemas.microsoft.com/office/drawing/2014/main" id="{7BCA19F1-50FE-8225-2047-46B5718781F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098735" y="1474290"/>
            <a:ext cx="690265" cy="774894"/>
          </a:xfrm>
          <a:prstGeom prst="rect">
            <a:avLst/>
          </a:prstGeom>
          <a:noFill/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A909F7EA-632A-44BC-5F5B-042DDC535F29}"/>
              </a:ext>
            </a:extLst>
          </p:cNvPr>
          <p:cNvSpPr txBox="1"/>
          <p:nvPr/>
        </p:nvSpPr>
        <p:spPr>
          <a:xfrm>
            <a:off x="11226296" y="2203932"/>
            <a:ext cx="52184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pt-B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Git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CEF2827-11B6-A67C-45C4-A3BC2E1110DF}"/>
              </a:ext>
            </a:extLst>
          </p:cNvPr>
          <p:cNvSpPr txBox="1"/>
          <p:nvPr/>
        </p:nvSpPr>
        <p:spPr>
          <a:xfrm>
            <a:off x="10547288" y="3886122"/>
            <a:ext cx="115671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pt-B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Explorer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79EF953-429C-180E-B1E9-DF2EE8305AFC}"/>
              </a:ext>
            </a:extLst>
          </p:cNvPr>
          <p:cNvSpPr txBox="1"/>
          <p:nvPr/>
        </p:nvSpPr>
        <p:spPr>
          <a:xfrm>
            <a:off x="10396377" y="5760147"/>
            <a:ext cx="130762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pt-B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Windows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99FFAF26-5860-5E7B-5264-297B97B5C780}"/>
              </a:ext>
            </a:extLst>
          </p:cNvPr>
          <p:cNvSpPr/>
          <p:nvPr/>
        </p:nvSpPr>
        <p:spPr>
          <a:xfrm>
            <a:off x="7796814" y="317105"/>
            <a:ext cx="3829129" cy="634862"/>
          </a:xfrm>
          <a:prstGeom prst="roundRect">
            <a:avLst/>
          </a:prstGeom>
          <a:noFill/>
        </p:spPr>
        <p:txBody>
          <a:bodyPr wrap="square" lIns="0" tIns="0" rIns="0" bIns="0" anchor="t" anchorCtr="0">
            <a:noAutofit/>
          </a:bodyPr>
          <a:lstStyle/>
          <a:p>
            <a:pPr algn="r"/>
            <a:r>
              <a:rPr lang="pt-BR" sz="3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Ecossistema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5EF5479-A3C0-D697-E708-00644E5E1832}"/>
              </a:ext>
            </a:extLst>
          </p:cNvPr>
          <p:cNvSpPr txBox="1"/>
          <p:nvPr/>
        </p:nvSpPr>
        <p:spPr>
          <a:xfrm>
            <a:off x="6093201" y="6584697"/>
            <a:ext cx="6096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LID4096" sz="1200" b="1" dirty="0">
                <a:solidFill>
                  <a:schemeClr val="accent2"/>
                </a:solidFill>
              </a:rPr>
              <a:t>https://github.com/grossiRM/AM_FEG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9717F490-912B-1FD9-DF56-26BCB23F9227}"/>
              </a:ext>
            </a:extLst>
          </p:cNvPr>
          <p:cNvSpPr/>
          <p:nvPr/>
        </p:nvSpPr>
        <p:spPr>
          <a:xfrm>
            <a:off x="7949214" y="129872"/>
            <a:ext cx="3829129" cy="634862"/>
          </a:xfrm>
          <a:prstGeom prst="roundRect">
            <a:avLst/>
          </a:prstGeom>
          <a:noFill/>
        </p:spPr>
        <p:txBody>
          <a:bodyPr wrap="square" lIns="0" tIns="0" rIns="0" bIns="0" anchor="t" anchorCtr="0">
            <a:noAutofit/>
          </a:bodyPr>
          <a:lstStyle/>
          <a:p>
            <a:pPr algn="r"/>
            <a:r>
              <a:rPr lang="pt-B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“pausa”</a:t>
            </a:r>
          </a:p>
        </p:txBody>
      </p:sp>
    </p:spTree>
    <p:extLst>
      <p:ext uri="{BB962C8B-B14F-4D97-AF65-F5344CB8AC3E}">
        <p14:creationId xmlns:p14="http://schemas.microsoft.com/office/powerpoint/2010/main" val="352007582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50CDA6-7D37-41F4-BB9D-3E7EEBE226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C0F9D288-4C91-332E-25FC-FDB91EDFCF9D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5FFF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3041F38F-CFEB-2928-DB99-D6D5340652E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3068"/>
          <a:stretch>
            <a:fillRect/>
          </a:stretch>
        </p:blipFill>
        <p:spPr>
          <a:xfrm>
            <a:off x="151670" y="106922"/>
            <a:ext cx="2102647" cy="6647595"/>
          </a:xfrm>
          <a:prstGeom prst="rect">
            <a:avLst/>
          </a:prstGeom>
          <a:solidFill>
            <a:schemeClr val="bg1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88BF48F5-C1B2-72B7-5785-7820AB451F55}"/>
              </a:ext>
            </a:extLst>
          </p:cNvPr>
          <p:cNvSpPr txBox="1"/>
          <p:nvPr/>
        </p:nvSpPr>
        <p:spPr>
          <a:xfrm>
            <a:off x="2405994" y="152845"/>
            <a:ext cx="9516039" cy="47705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>
            <a:spAutoFit/>
          </a:bodyPr>
          <a:lstStyle/>
          <a:p>
            <a:r>
              <a:rPr lang="en-GB" sz="1600" dirty="0">
                <a:solidFill>
                  <a:srgbClr val="D73A49"/>
                </a:solidFill>
                <a:latin typeface="Consolas" panose="020B0609020204030204" pitchFamily="49" charset="0"/>
              </a:rPr>
              <a:t>from</a:t>
            </a:r>
            <a:r>
              <a:rPr lang="en-GB" sz="1600" dirty="0">
                <a:solidFill>
                  <a:srgbClr val="24292E"/>
                </a:solidFill>
                <a:latin typeface="Consolas" panose="020B0609020204030204" pitchFamily="49" charset="0"/>
              </a:rPr>
              <a:t> </a:t>
            </a:r>
            <a:r>
              <a:rPr lang="en-GB" sz="1600" b="1" dirty="0" err="1">
                <a:solidFill>
                  <a:srgbClr val="24292E"/>
                </a:solidFill>
                <a:latin typeface="Consolas" panose="020B0609020204030204" pitchFamily="49" charset="0"/>
              </a:rPr>
              <a:t>fipy</a:t>
            </a:r>
            <a:r>
              <a:rPr lang="en-GB" sz="1600" dirty="0">
                <a:solidFill>
                  <a:srgbClr val="24292E"/>
                </a:solidFill>
                <a:latin typeface="Consolas" panose="020B0609020204030204" pitchFamily="49" charset="0"/>
              </a:rPr>
              <a:t> import </a:t>
            </a:r>
            <a:r>
              <a:rPr lang="en-GB" b="1" dirty="0">
                <a:solidFill>
                  <a:srgbClr val="0000FF"/>
                </a:solidFill>
                <a:latin typeface="Consolas" panose="020B0609020204030204" pitchFamily="49" charset="0"/>
              </a:rPr>
              <a:t>Grid1D     </a:t>
            </a:r>
            <a:r>
              <a:rPr lang="en-GB" sz="1600" dirty="0">
                <a:solidFill>
                  <a:srgbClr val="24292E"/>
                </a:solidFill>
                <a:latin typeface="Consolas" panose="020B0609020204030204" pitchFamily="49" charset="0"/>
              </a:rPr>
              <a:t> ;</a:t>
            </a:r>
            <a:r>
              <a:rPr lang="en-US" sz="1600" b="0" dirty="0" err="1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nx</a:t>
            </a:r>
            <a:r>
              <a:rPr lang="en-US" sz="1600" b="0" dirty="0">
                <a:solidFill>
                  <a:srgbClr val="D73A49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600" b="0" dirty="0">
                <a:solidFill>
                  <a:srgbClr val="005CC5"/>
                </a:solidFill>
                <a:effectLst/>
                <a:latin typeface="Consolas" panose="020B0609020204030204" pitchFamily="49" charset="0"/>
              </a:rPr>
              <a:t>50</a:t>
            </a:r>
            <a:r>
              <a:rPr lang="en-US" sz="1600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 ;dx</a:t>
            </a:r>
            <a:r>
              <a:rPr lang="en-US" sz="1600" b="0" dirty="0">
                <a:solidFill>
                  <a:srgbClr val="D73A49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600" b="0" dirty="0">
                <a:solidFill>
                  <a:srgbClr val="005CC5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1600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.        </a:t>
            </a:r>
            <a:r>
              <a:rPr lang="en-US" sz="1600" b="0" dirty="0">
                <a:solidFill>
                  <a:srgbClr val="FF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sz="2000" b="1" dirty="0">
                <a:solidFill>
                  <a:srgbClr val="FF0000"/>
                </a:solidFill>
                <a:effectLst/>
                <a:latin typeface="Consolas" panose="020B0609020204030204" pitchFamily="49" charset="0"/>
              </a:rPr>
              <a:t>mesh </a:t>
            </a:r>
            <a:r>
              <a:rPr lang="en-US" sz="2000" b="1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 =Grid1D</a:t>
            </a:r>
            <a:r>
              <a:rPr lang="en-US" sz="1600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 err="1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nx</a:t>
            </a:r>
            <a:r>
              <a:rPr lang="en-US" sz="1600" b="0" dirty="0">
                <a:solidFill>
                  <a:srgbClr val="D73A49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600" b="0" dirty="0" err="1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nx,dx</a:t>
            </a:r>
            <a:r>
              <a:rPr lang="en-US" sz="1600" b="0" dirty="0">
                <a:solidFill>
                  <a:srgbClr val="D73A49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600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dx)</a:t>
            </a:r>
          </a:p>
          <a:p>
            <a:pPr>
              <a:buNone/>
            </a:pPr>
            <a:endParaRPr lang="en-US" sz="500" dirty="0">
              <a:solidFill>
                <a:srgbClr val="24292E"/>
              </a:solidFill>
              <a:latin typeface="Consolas" panose="020B0609020204030204" pitchFamily="49" charset="0"/>
            </a:endParaRP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03B78DF6-8243-1DFB-28E0-8456BBC201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05991" y="4605660"/>
            <a:ext cx="9516039" cy="63852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grpSp>
        <p:nvGrpSpPr>
          <p:cNvPr id="35" name="Group 34">
            <a:extLst>
              <a:ext uri="{FF2B5EF4-FFF2-40B4-BE49-F238E27FC236}">
                <a16:creationId xmlns:a16="http://schemas.microsoft.com/office/drawing/2014/main" id="{8147AF6F-CC5D-FEBB-C71B-0E26D393D54A}"/>
              </a:ext>
            </a:extLst>
          </p:cNvPr>
          <p:cNvGrpSpPr/>
          <p:nvPr/>
        </p:nvGrpSpPr>
        <p:grpSpPr>
          <a:xfrm>
            <a:off x="5712823" y="688752"/>
            <a:ext cx="6209209" cy="2474665"/>
            <a:chOff x="4843521" y="2968927"/>
            <a:chExt cx="7078512" cy="2715705"/>
          </a:xfrm>
        </p:grpSpPr>
        <p:grpSp>
          <p:nvGrpSpPr>
            <p:cNvPr id="33" name="Group 32">
              <a:extLst>
                <a:ext uri="{FF2B5EF4-FFF2-40B4-BE49-F238E27FC236}">
                  <a16:creationId xmlns:a16="http://schemas.microsoft.com/office/drawing/2014/main" id="{71CA0449-76FF-43C0-68F0-02B6311D6466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4843521" y="2968927"/>
              <a:ext cx="7078512" cy="2715705"/>
              <a:chOff x="4495335" y="3075495"/>
              <a:chExt cx="7078512" cy="2715705"/>
            </a:xfrm>
          </p:grpSpPr>
          <p:pic>
            <p:nvPicPr>
              <p:cNvPr id="27" name="Picture 26">
                <a:extLst>
                  <a:ext uri="{FF2B5EF4-FFF2-40B4-BE49-F238E27FC236}">
                    <a16:creationId xmlns:a16="http://schemas.microsoft.com/office/drawing/2014/main" id="{A7DA92F0-2129-99C7-27C9-30F85BAC860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4495335" y="3075495"/>
                <a:ext cx="2475607" cy="2715705"/>
              </a:xfrm>
              <a:prstGeom prst="rect">
                <a:avLst/>
              </a:prstGeom>
              <a:ln>
                <a:solidFill>
                  <a:schemeClr val="tx1"/>
                </a:solidFill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</p:pic>
          <p:pic>
            <p:nvPicPr>
              <p:cNvPr id="29" name="Picture 28">
                <a:extLst>
                  <a:ext uri="{FF2B5EF4-FFF2-40B4-BE49-F238E27FC236}">
                    <a16:creationId xmlns:a16="http://schemas.microsoft.com/office/drawing/2014/main" id="{50E41F62-EE8E-4FDE-0A36-ADE72CEC24B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7011535" y="3075495"/>
                <a:ext cx="2746067" cy="2715705"/>
              </a:xfrm>
              <a:prstGeom prst="rect">
                <a:avLst/>
              </a:prstGeom>
              <a:ln>
                <a:solidFill>
                  <a:schemeClr val="tx1"/>
                </a:solidFill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</p:pic>
          <p:pic>
            <p:nvPicPr>
              <p:cNvPr id="32" name="Picture 31">
                <a:extLst>
                  <a:ext uri="{FF2B5EF4-FFF2-40B4-BE49-F238E27FC236}">
                    <a16:creationId xmlns:a16="http://schemas.microsoft.com/office/drawing/2014/main" id="{B80E3EC3-54F8-21AA-6457-6C0B678DC91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9031207" y="3075495"/>
                <a:ext cx="2542640" cy="2215231"/>
              </a:xfrm>
              <a:prstGeom prst="rect">
                <a:avLst/>
              </a:prstGeom>
              <a:ln>
                <a:solidFill>
                  <a:schemeClr val="tx1"/>
                </a:solidFill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</p:pic>
        </p:grpSp>
        <p:pic>
          <p:nvPicPr>
            <p:cNvPr id="34" name="Picture 33">
              <a:extLst>
                <a:ext uri="{FF2B5EF4-FFF2-40B4-BE49-F238E27FC236}">
                  <a16:creationId xmlns:a16="http://schemas.microsoft.com/office/drawing/2014/main" id="{E085AAAC-5764-520B-5D08-8465B62488A9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rcRect r="38467" b="70395"/>
            <a:stretch>
              <a:fillRect/>
            </a:stretch>
          </p:blipFill>
          <p:spPr>
            <a:xfrm>
              <a:off x="8848644" y="3139733"/>
              <a:ext cx="1870671" cy="417409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rgbClr val="0000FF"/>
              </a:solidFill>
            </a:ln>
            <a:effectLst>
              <a:outerShdw blurRad="76200" dir="13500000" sy="23000" kx="1200000" algn="br" rotWithShape="0">
                <a:prstClr val="black">
                  <a:alpha val="20000"/>
                </a:prstClr>
              </a:outerShdw>
            </a:effectLst>
          </p:spPr>
        </p:pic>
      </p:grpSp>
      <p:sp>
        <p:nvSpPr>
          <p:cNvPr id="37" name="TextBox 36">
            <a:extLst>
              <a:ext uri="{FF2B5EF4-FFF2-40B4-BE49-F238E27FC236}">
                <a16:creationId xmlns:a16="http://schemas.microsoft.com/office/drawing/2014/main" id="{1107F1A2-C964-A529-BCBD-F74C955D1D36}"/>
              </a:ext>
            </a:extLst>
          </p:cNvPr>
          <p:cNvSpPr txBox="1"/>
          <p:nvPr/>
        </p:nvSpPr>
        <p:spPr>
          <a:xfrm>
            <a:off x="2405992" y="3273974"/>
            <a:ext cx="9516039" cy="132343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2000" b="0" u="sng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plt.figure</a:t>
            </a:r>
            <a:r>
              <a:rPr lang="en-US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figsize</a:t>
            </a:r>
            <a:r>
              <a:rPr lang="en-US" b="0" dirty="0">
                <a:solidFill>
                  <a:srgbClr val="D73A49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5CC5"/>
                </a:solidFill>
                <a:effectLst/>
                <a:latin typeface="Consolas" panose="020B0609020204030204" pitchFamily="49" charset="0"/>
              </a:rPr>
              <a:t>20</a:t>
            </a:r>
            <a:r>
              <a:rPr lang="en-US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05CC5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005CC5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))           ;FF </a:t>
            </a:r>
            <a:r>
              <a:rPr lang="en-US" b="0" dirty="0">
                <a:solidFill>
                  <a:srgbClr val="D73A49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1" dirty="0" err="1">
                <a:solidFill>
                  <a:srgbClr val="FF0000"/>
                </a:solidFill>
                <a:effectLst/>
                <a:latin typeface="Consolas" panose="020B0609020204030204" pitchFamily="49" charset="0"/>
              </a:rPr>
              <a:t>mesh</a:t>
            </a:r>
            <a:r>
              <a:rPr lang="en-US" sz="2000" b="0" dirty="0" err="1">
                <a:solidFill>
                  <a:srgbClr val="FF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005CC5"/>
                </a:solidFill>
                <a:effectLst/>
                <a:latin typeface="Consolas" panose="020B0609020204030204" pitchFamily="49" charset="0"/>
              </a:rPr>
              <a:t>faceCenters</a:t>
            </a:r>
            <a:r>
              <a:rPr lang="en-US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()     		       ;X</a:t>
            </a:r>
            <a:r>
              <a:rPr lang="en-US" b="0" dirty="0">
                <a:solidFill>
                  <a:srgbClr val="D73A49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2000" b="1" dirty="0" err="1">
                <a:solidFill>
                  <a:srgbClr val="FF0000"/>
                </a:solidFill>
                <a:effectLst/>
                <a:latin typeface="Consolas" panose="020B0609020204030204" pitchFamily="49" charset="0"/>
              </a:rPr>
              <a:t>mesh.</a:t>
            </a:r>
            <a:r>
              <a:rPr lang="en-US" b="0" dirty="0" err="1">
                <a:solidFill>
                  <a:srgbClr val="005CC5"/>
                </a:solidFill>
                <a:effectLst/>
                <a:latin typeface="Consolas" panose="020B0609020204030204" pitchFamily="49" charset="0"/>
              </a:rPr>
              <a:t>faceCenters</a:t>
            </a:r>
            <a:r>
              <a:rPr lang="en-US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[0]   </a:t>
            </a:r>
            <a:r>
              <a:rPr lang="en-US" sz="2400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sz="1400" b="0" dirty="0" err="1">
                <a:solidFill>
                  <a:srgbClr val="005CC5"/>
                </a:solidFill>
                <a:effectLst/>
                <a:latin typeface="Consolas" panose="020B0609020204030204" pitchFamily="49" charset="0"/>
              </a:rPr>
              <a:t>plt</a:t>
            </a:r>
            <a:r>
              <a:rPr lang="en-US" sz="1400" b="0" dirty="0" err="1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dirty="0" err="1">
                <a:solidFill>
                  <a:srgbClr val="005CC5"/>
                </a:solidFill>
                <a:effectLst/>
                <a:latin typeface="Consolas" panose="020B0609020204030204" pitchFamily="49" charset="0"/>
              </a:rPr>
              <a:t>xlim</a:t>
            </a:r>
            <a:r>
              <a:rPr lang="en-US" sz="1400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 err="1">
                <a:solidFill>
                  <a:srgbClr val="005CC5"/>
                </a:solidFill>
                <a:effectLst/>
                <a:latin typeface="Consolas" panose="020B0609020204030204" pitchFamily="49" charset="0"/>
              </a:rPr>
              <a:t>FF</a:t>
            </a:r>
            <a:r>
              <a:rPr lang="en-US" sz="1400" b="0" dirty="0" err="1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dirty="0" err="1">
                <a:solidFill>
                  <a:srgbClr val="005CC5"/>
                </a:solidFill>
                <a:effectLst/>
                <a:latin typeface="Consolas" panose="020B0609020204030204" pitchFamily="49" charset="0"/>
              </a:rPr>
              <a:t>min</a:t>
            </a:r>
            <a:r>
              <a:rPr lang="en-US" sz="1400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(),</a:t>
            </a:r>
            <a:r>
              <a:rPr lang="en-US" sz="1400" b="0" dirty="0" err="1">
                <a:solidFill>
                  <a:srgbClr val="005CC5"/>
                </a:solidFill>
                <a:effectLst/>
                <a:latin typeface="Consolas" panose="020B0609020204030204" pitchFamily="49" charset="0"/>
              </a:rPr>
              <a:t>FF</a:t>
            </a:r>
            <a:r>
              <a:rPr lang="en-US" sz="1400" b="0" dirty="0" err="1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dirty="0" err="1">
                <a:solidFill>
                  <a:srgbClr val="005CC5"/>
                </a:solidFill>
                <a:effectLst/>
                <a:latin typeface="Consolas" panose="020B0609020204030204" pitchFamily="49" charset="0"/>
              </a:rPr>
              <a:t>max</a:t>
            </a:r>
            <a:r>
              <a:rPr lang="en-US" sz="1400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());</a:t>
            </a:r>
            <a:r>
              <a:rPr lang="en-US" sz="1400" b="0" dirty="0" err="1">
                <a:solidFill>
                  <a:srgbClr val="005CC5"/>
                </a:solidFill>
                <a:effectLst/>
                <a:latin typeface="Consolas" panose="020B0609020204030204" pitchFamily="49" charset="0"/>
              </a:rPr>
              <a:t>plt</a:t>
            </a:r>
            <a:r>
              <a:rPr lang="en-US" sz="1400" b="0" dirty="0" err="1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dirty="0" err="1">
                <a:solidFill>
                  <a:srgbClr val="005CC5"/>
                </a:solidFill>
                <a:effectLst/>
                <a:latin typeface="Consolas" panose="020B0609020204030204" pitchFamily="49" charset="0"/>
              </a:rPr>
              <a:t>xticks</a:t>
            </a:r>
            <a:r>
              <a:rPr lang="en-US" sz="1400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(X)</a:t>
            </a:r>
          </a:p>
          <a:p>
            <a:pPr>
              <a:buNone/>
            </a:pPr>
            <a:endParaRPr lang="en-US" sz="600" b="0" dirty="0">
              <a:solidFill>
                <a:srgbClr val="24292E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 err="1">
                <a:solidFill>
                  <a:srgbClr val="005CC5"/>
                </a:solidFill>
                <a:effectLst/>
                <a:latin typeface="Consolas" panose="020B0609020204030204" pitchFamily="49" charset="0"/>
              </a:rPr>
              <a:t>plt</a:t>
            </a:r>
            <a:r>
              <a:rPr lang="en-US" sz="1400" b="0" dirty="0" err="1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dirty="0" err="1">
                <a:solidFill>
                  <a:srgbClr val="005CC5"/>
                </a:solidFill>
                <a:effectLst/>
                <a:latin typeface="Consolas" panose="020B0609020204030204" pitchFamily="49" charset="0"/>
              </a:rPr>
              <a:t>plot</a:t>
            </a:r>
            <a:r>
              <a:rPr lang="en-US" sz="1400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   (</a:t>
            </a:r>
            <a:r>
              <a:rPr lang="en-US" sz="1400" b="0" dirty="0" err="1">
                <a:solidFill>
                  <a:srgbClr val="005CC5"/>
                </a:solidFill>
                <a:effectLst/>
                <a:latin typeface="Consolas" panose="020B0609020204030204" pitchFamily="49" charset="0"/>
              </a:rPr>
              <a:t>mesh</a:t>
            </a:r>
            <a:r>
              <a:rPr lang="en-US" sz="1400" b="0" dirty="0" err="1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dirty="0" err="1">
                <a:solidFill>
                  <a:srgbClr val="005CC5"/>
                </a:solidFill>
                <a:effectLst/>
                <a:latin typeface="Consolas" panose="020B0609020204030204" pitchFamily="49" charset="0"/>
              </a:rPr>
              <a:t>cellCenters</a:t>
            </a:r>
            <a:r>
              <a:rPr lang="en-US" sz="1400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(),</a:t>
            </a:r>
            <a:r>
              <a:rPr lang="en-US" sz="1400" b="0" dirty="0" err="1">
                <a:solidFill>
                  <a:srgbClr val="005CC5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en-US" sz="1400" b="0" dirty="0" err="1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dirty="0" err="1">
                <a:solidFill>
                  <a:srgbClr val="005CC5"/>
                </a:solidFill>
                <a:effectLst/>
                <a:latin typeface="Consolas" panose="020B0609020204030204" pitchFamily="49" charset="0"/>
              </a:rPr>
              <a:t>zeros_like</a:t>
            </a:r>
            <a:r>
              <a:rPr lang="en-US" sz="1400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 err="1">
                <a:solidFill>
                  <a:srgbClr val="005CC5"/>
                </a:solidFill>
                <a:effectLst/>
                <a:latin typeface="Consolas" panose="020B0609020204030204" pitchFamily="49" charset="0"/>
              </a:rPr>
              <a:t>mesh</a:t>
            </a:r>
            <a:r>
              <a:rPr lang="en-US" sz="1400" b="0" dirty="0" err="1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dirty="0" err="1">
                <a:solidFill>
                  <a:srgbClr val="005CC5"/>
                </a:solidFill>
                <a:effectLst/>
                <a:latin typeface="Consolas" panose="020B0609020204030204" pitchFamily="49" charset="0"/>
              </a:rPr>
              <a:t>cellCenters</a:t>
            </a:r>
            <a:r>
              <a:rPr lang="en-US" sz="1400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()),</a:t>
            </a:r>
            <a:r>
              <a:rPr lang="en-US" sz="1400" b="0" dirty="0">
                <a:solidFill>
                  <a:srgbClr val="032F62"/>
                </a:solidFill>
                <a:effectLst/>
                <a:latin typeface="Consolas" panose="020B0609020204030204" pitchFamily="49" charset="0"/>
              </a:rPr>
              <a:t>'o-'</a:t>
            </a:r>
            <a:r>
              <a:rPr lang="en-US" sz="1400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sz="1100" b="0" dirty="0" err="1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markersize</a:t>
            </a:r>
            <a:r>
              <a:rPr lang="en-US" sz="1100" b="0" dirty="0">
                <a:solidFill>
                  <a:srgbClr val="D73A49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100" b="0" dirty="0">
                <a:solidFill>
                  <a:srgbClr val="005CC5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sz="1100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,color</a:t>
            </a:r>
            <a:r>
              <a:rPr lang="en-US" sz="1100" b="0" dirty="0">
                <a:solidFill>
                  <a:srgbClr val="D73A49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100" b="0" dirty="0">
                <a:solidFill>
                  <a:srgbClr val="032F62"/>
                </a:solidFill>
                <a:effectLst/>
                <a:latin typeface="Consolas" panose="020B0609020204030204" pitchFamily="49" charset="0"/>
              </a:rPr>
              <a:t>'green'</a:t>
            </a:r>
            <a:r>
              <a:rPr lang="en-US" sz="1100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sz="1600" b="0" dirty="0" err="1">
                <a:solidFill>
                  <a:srgbClr val="005CC5"/>
                </a:solidFill>
                <a:effectLst/>
                <a:latin typeface="Consolas" panose="020B0609020204030204" pitchFamily="49" charset="0"/>
              </a:rPr>
              <a:t>plt</a:t>
            </a:r>
            <a:r>
              <a:rPr lang="en-US" sz="1600" b="0" dirty="0" err="1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600" b="0" dirty="0" err="1">
                <a:solidFill>
                  <a:srgbClr val="005CC5"/>
                </a:solidFill>
                <a:effectLst/>
                <a:latin typeface="Consolas" panose="020B0609020204030204" pitchFamily="49" charset="0"/>
              </a:rPr>
              <a:t>grid</a:t>
            </a:r>
            <a:r>
              <a:rPr lang="en-US" sz="1600" b="0" dirty="0">
                <a:solidFill>
                  <a:srgbClr val="005CC5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600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(True, axis</a:t>
            </a:r>
            <a:r>
              <a:rPr lang="en-US" sz="1600" b="0" dirty="0">
                <a:solidFill>
                  <a:srgbClr val="D73A49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600" b="0" dirty="0">
                <a:solidFill>
                  <a:srgbClr val="032F62"/>
                </a:solidFill>
                <a:effectLst/>
                <a:latin typeface="Consolas" panose="020B0609020204030204" pitchFamily="49" charset="0"/>
              </a:rPr>
              <a:t>'x'</a:t>
            </a:r>
            <a:r>
              <a:rPr lang="en-US" sz="1600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 err="1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linestyle</a:t>
            </a:r>
            <a:r>
              <a:rPr lang="en-US" sz="1600" b="0" dirty="0">
                <a:solidFill>
                  <a:srgbClr val="D73A49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600" b="0" dirty="0">
                <a:solidFill>
                  <a:srgbClr val="032F62"/>
                </a:solidFill>
                <a:effectLst/>
                <a:latin typeface="Consolas" panose="020B0609020204030204" pitchFamily="49" charset="0"/>
              </a:rPr>
              <a:t>'--'</a:t>
            </a:r>
            <a:r>
              <a:rPr lang="en-US" sz="1600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, color</a:t>
            </a:r>
            <a:r>
              <a:rPr lang="en-US" sz="1600" b="0" dirty="0">
                <a:solidFill>
                  <a:srgbClr val="D73A49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600" b="0" dirty="0">
                <a:solidFill>
                  <a:srgbClr val="032F62"/>
                </a:solidFill>
                <a:effectLst/>
                <a:latin typeface="Consolas" panose="020B0609020204030204" pitchFamily="49" charset="0"/>
              </a:rPr>
              <a:t>'red'</a:t>
            </a:r>
            <a:r>
              <a:rPr lang="en-US" sz="1600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) 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F5A03476-F5D9-A85E-8365-6F57F65A2D42}"/>
              </a:ext>
            </a:extLst>
          </p:cNvPr>
          <p:cNvSpPr txBox="1"/>
          <p:nvPr/>
        </p:nvSpPr>
        <p:spPr>
          <a:xfrm>
            <a:off x="2405991" y="714681"/>
            <a:ext cx="1965154" cy="52033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anchor="ctr" anchorCtr="0">
            <a:noAutofit/>
          </a:bodyPr>
          <a:lstStyle/>
          <a:p>
            <a:pPr algn="ctr">
              <a:buNone/>
            </a:pPr>
            <a:r>
              <a:rPr lang="en-US" sz="2400" b="1" dirty="0">
                <a:solidFill>
                  <a:srgbClr val="0000FF"/>
                </a:solidFill>
                <a:latin typeface="Consolas" panose="020B0609020204030204" pitchFamily="49" charset="0"/>
              </a:rPr>
              <a:t>DIFUSÃO</a:t>
            </a:r>
            <a:endParaRPr lang="en-US" sz="2400" b="1" dirty="0">
              <a:solidFill>
                <a:srgbClr val="0000FF"/>
              </a:solidFill>
              <a:effectLst/>
              <a:latin typeface="Consolas" panose="020B0609020204030204" pitchFamily="49" charset="0"/>
            </a:endParaRPr>
          </a:p>
        </p:txBody>
      </p:sp>
      <p:pic>
        <p:nvPicPr>
          <p:cNvPr id="46" name="Picture 45">
            <a:extLst>
              <a:ext uri="{FF2B5EF4-FFF2-40B4-BE49-F238E27FC236}">
                <a16:creationId xmlns:a16="http://schemas.microsoft.com/office/drawing/2014/main" id="{23A842DB-3735-DEB5-7A02-5CD32D7119E1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405992" y="5691783"/>
            <a:ext cx="5405598" cy="108870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48" name="Picture 47">
            <a:extLst>
              <a:ext uri="{FF2B5EF4-FFF2-40B4-BE49-F238E27FC236}">
                <a16:creationId xmlns:a16="http://schemas.microsoft.com/office/drawing/2014/main" id="{F3D1AC20-FBE9-2AE7-EA52-0EE322050FEC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016612" y="5691783"/>
            <a:ext cx="3905418" cy="106273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50" name="TextBox 49">
            <a:extLst>
              <a:ext uri="{FF2B5EF4-FFF2-40B4-BE49-F238E27FC236}">
                <a16:creationId xmlns:a16="http://schemas.microsoft.com/office/drawing/2014/main" id="{7AE89330-4CB7-8DBA-0313-9940F9B7FC86}"/>
              </a:ext>
            </a:extLst>
          </p:cNvPr>
          <p:cNvSpPr txBox="1"/>
          <p:nvPr/>
        </p:nvSpPr>
        <p:spPr>
          <a:xfrm>
            <a:off x="2405990" y="5192273"/>
            <a:ext cx="9516039" cy="520339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anchor="ctr" anchorCtr="0">
            <a:noAutofit/>
          </a:bodyPr>
          <a:lstStyle/>
          <a:p>
            <a:pPr>
              <a:buNone/>
            </a:pPr>
            <a:r>
              <a:rPr lang="pt-BR" sz="1900" b="1" spc="-160" noProof="0" dirty="0">
                <a:solidFill>
                  <a:srgbClr val="0000FF"/>
                </a:solidFill>
                <a:latin typeface="Consolas" panose="020B0609020204030204" pitchFamily="49" charset="0"/>
              </a:rPr>
              <a:t>... Condições iniciais e de contorno, solvers, equação de referência, visualização </a:t>
            </a:r>
            <a:endParaRPr lang="pt-BR" sz="1900" b="1" spc="-160" noProof="0" dirty="0">
              <a:solidFill>
                <a:srgbClr val="0000FF"/>
              </a:solidFill>
              <a:effectLst/>
              <a:latin typeface="Consolas" panose="020B0609020204030204" pitchFamily="49" charset="0"/>
            </a:endParaRPr>
          </a:p>
        </p:txBody>
      </p:sp>
      <p:pic>
        <p:nvPicPr>
          <p:cNvPr id="51" name="Picture 2" descr="Python (programming language) - Wikipedia">
            <a:extLst>
              <a:ext uri="{FF2B5EF4-FFF2-40B4-BE49-F238E27FC236}">
                <a16:creationId xmlns:a16="http://schemas.microsoft.com/office/drawing/2014/main" id="{5966E435-BAED-6F21-E475-8D6EAB0BA70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75320" y="2013008"/>
            <a:ext cx="1161838" cy="1161838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76200" dir="13500000" sy="23000" kx="1200000" algn="br" rotWithShape="0">
              <a:prstClr val="black">
                <a:alpha val="2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2" name="TextBox 51">
            <a:extLst>
              <a:ext uri="{FF2B5EF4-FFF2-40B4-BE49-F238E27FC236}">
                <a16:creationId xmlns:a16="http://schemas.microsoft.com/office/drawing/2014/main" id="{94B57542-C920-7F0D-EE8C-DD08CB3D1EA6}"/>
              </a:ext>
            </a:extLst>
          </p:cNvPr>
          <p:cNvSpPr txBox="1"/>
          <p:nvPr/>
        </p:nvSpPr>
        <p:spPr>
          <a:xfrm>
            <a:off x="10406741" y="2719697"/>
            <a:ext cx="151528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24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Objeto.py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EECA791F-D4C8-BBB7-E0DF-D62348056030}"/>
                  </a:ext>
                </a:extLst>
              </p:cNvPr>
              <p:cNvSpPr txBox="1"/>
              <p:nvPr/>
            </p:nvSpPr>
            <p:spPr>
              <a:xfrm>
                <a:off x="2399515" y="1290690"/>
                <a:ext cx="1971630" cy="8889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txBody>
              <a:bodyPr wrap="none" lIns="91440" tIns="0" rIns="91440" bIns="91440" rtlCol="0" anchor="ctr" anchorCtr="0">
                <a:noAutofit/>
              </a:bodyPr>
              <a:lstStyle/>
              <a:p>
                <a:pPr algn="ctr"/>
                <a14:m>
                  <m:oMath xmlns:m="http://schemas.openxmlformats.org/officeDocument/2006/math">
                    <m:f>
                      <m:fPr>
                        <m:ctrlPr>
                          <a:rPr lang="pt-BR" sz="2800" b="1" i="1" smtClean="0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sz="2800" b="1" i="0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</a:rPr>
                          <m:t>𝛛</m:t>
                        </m:r>
                        <m:r>
                          <a:rPr lang="pt-BR" sz="2800" b="1" i="1" smtClean="0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∅</m:t>
                        </m:r>
                      </m:num>
                      <m:den>
                        <m:r>
                          <a:rPr lang="pt-BR" sz="2800" b="1" i="0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</a:rPr>
                          <m:t>𝛛</m:t>
                        </m:r>
                        <m:r>
                          <a:rPr lang="pt-BR" sz="2800" b="1" i="0" smtClean="0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</a:rPr>
                          <m:t>𝐭</m:t>
                        </m:r>
                      </m:den>
                    </m:f>
                  </m:oMath>
                </a14:m>
                <a:r>
                  <a:rPr lang="pt-BR" sz="2800" b="1" dirty="0">
                    <a:solidFill>
                      <a:srgbClr val="0000FF"/>
                    </a:solidFill>
                    <a:ea typeface="Cambria Math" panose="02040503050406030204" pitchFamily="18" charset="0"/>
                  </a:rPr>
                  <a:t> = </a:t>
                </a:r>
                <a14:m>
                  <m:oMath xmlns:m="http://schemas.openxmlformats.org/officeDocument/2006/math">
                    <m:r>
                      <a:rPr lang="pt-BR" sz="2800" b="1" i="0" smtClean="0">
                        <a:solidFill>
                          <a:srgbClr val="0000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𝐃</m:t>
                    </m:r>
                    <m:sSup>
                      <m:sSupPr>
                        <m:ctrlPr>
                          <a:rPr lang="pt-BR" sz="2800" b="1" i="1" smtClean="0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sz="2800" b="1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𝛁</m:t>
                        </m:r>
                      </m:e>
                      <m:sup>
                        <m:r>
                          <a:rPr lang="pt-BR" sz="2800" b="1" i="1" smtClean="0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𝟐</m:t>
                        </m:r>
                      </m:sup>
                    </m:sSup>
                    <m:r>
                      <a:rPr lang="pt-BR" sz="2800" b="1" i="1">
                        <a:solidFill>
                          <a:srgbClr val="0000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∅</m:t>
                    </m:r>
                  </m:oMath>
                </a14:m>
                <a:endParaRPr lang="LID4096" sz="2800" b="1" dirty="0">
                  <a:solidFill>
                    <a:srgbClr val="0000FF"/>
                  </a:solidFill>
                </a:endParaRPr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EECA791F-D4C8-BBB7-E0DF-D6234805603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99515" y="1290690"/>
                <a:ext cx="1971630" cy="888914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  <a:ln>
                <a:solidFill>
                  <a:schemeClr val="tx1"/>
                </a:solidFill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92A7847F-08DE-65D5-C75C-1B37C54842C2}"/>
              </a:ext>
            </a:extLst>
          </p:cNvPr>
          <p:cNvSpPr txBox="1"/>
          <p:nvPr/>
        </p:nvSpPr>
        <p:spPr>
          <a:xfrm>
            <a:off x="4480703" y="1658710"/>
            <a:ext cx="15152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Python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9F90961-BE53-995B-0145-22D5C130E146}"/>
              </a:ext>
            </a:extLst>
          </p:cNvPr>
          <p:cNvSpPr txBox="1"/>
          <p:nvPr/>
        </p:nvSpPr>
        <p:spPr>
          <a:xfrm>
            <a:off x="1322391" y="326498"/>
            <a:ext cx="73274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b="1" dirty="0" err="1">
                <a:solidFill>
                  <a:srgbClr val="24292E"/>
                </a:solidFill>
                <a:latin typeface="Consolas" panose="020B0609020204030204" pitchFamily="49" charset="0"/>
              </a:rPr>
              <a:t>fipy</a:t>
            </a:r>
            <a:endParaRPr lang="LID4096" dirty="0"/>
          </a:p>
        </p:txBody>
      </p:sp>
    </p:spTree>
    <p:extLst>
      <p:ext uri="{BB962C8B-B14F-4D97-AF65-F5344CB8AC3E}">
        <p14:creationId xmlns:p14="http://schemas.microsoft.com/office/powerpoint/2010/main" val="311004427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701A74-F5A5-16F0-F1BF-66E3721993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493766BC-03E2-9BD8-569C-E6C042905C32}"/>
              </a:ext>
            </a:extLst>
          </p:cNvPr>
          <p:cNvSpPr/>
          <p:nvPr/>
        </p:nvSpPr>
        <p:spPr>
          <a:xfrm>
            <a:off x="0" y="1"/>
            <a:ext cx="12192000" cy="68580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pic>
        <p:nvPicPr>
          <p:cNvPr id="16" name="Picture 2" descr="Development phase">
            <a:extLst>
              <a:ext uri="{FF2B5EF4-FFF2-40B4-BE49-F238E27FC236}">
                <a16:creationId xmlns:a16="http://schemas.microsoft.com/office/drawing/2014/main" id="{14D74540-E379-CFE4-7D31-130239E683E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7944" r="37082" b="29005"/>
          <a:stretch>
            <a:fillRect/>
          </a:stretch>
        </p:blipFill>
        <p:spPr bwMode="auto">
          <a:xfrm>
            <a:off x="393544" y="315915"/>
            <a:ext cx="5851492" cy="2775982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EAF2CD72-C7D1-A28B-A201-E4BC34BF78B4}"/>
              </a:ext>
            </a:extLst>
          </p:cNvPr>
          <p:cNvSpPr txBox="1"/>
          <p:nvPr/>
        </p:nvSpPr>
        <p:spPr>
          <a:xfrm>
            <a:off x="2612571" y="6586841"/>
            <a:ext cx="957942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LID4096"/>
            </a:defPPr>
            <a:lvl1pPr algn="r">
              <a:defRPr sz="1200" b="1">
                <a:solidFill>
                  <a:schemeClr val="accent2"/>
                </a:solidFill>
              </a:defRPr>
            </a:lvl1pPr>
          </a:lstStyle>
          <a:p>
            <a:r>
              <a:rPr lang="LID4096" dirty="0"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https://formnext.mesago.com/frankfurt/en/industry-insights/am-field-guide/process_in_general.html</a:t>
            </a:r>
            <a:endParaRPr lang="LID4096" dirty="0"/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893643FC-C13D-2DCF-C53B-CE201BB988FF}"/>
              </a:ext>
            </a:extLst>
          </p:cNvPr>
          <p:cNvGrpSpPr/>
          <p:nvPr/>
        </p:nvGrpSpPr>
        <p:grpSpPr>
          <a:xfrm>
            <a:off x="333332" y="3644329"/>
            <a:ext cx="4367732" cy="2705302"/>
            <a:chOff x="434246" y="3370024"/>
            <a:chExt cx="4367732" cy="2705302"/>
          </a:xfrm>
        </p:grpSpPr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F7226F45-96C5-5790-AA40-656947B1114D}"/>
                </a:ext>
              </a:extLst>
            </p:cNvPr>
            <p:cNvSpPr txBox="1"/>
            <p:nvPr/>
          </p:nvSpPr>
          <p:spPr>
            <a:xfrm>
              <a:off x="434246" y="4907442"/>
              <a:ext cx="2180776" cy="116788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07000"/>
                </a:lnSpc>
                <a:spcAft>
                  <a:spcPts val="800"/>
                </a:spcAft>
              </a:pPr>
              <a:r>
                <a:rPr lang="en-GB" sz="2400" b="1" u="sng" kern="1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Arial" panose="020B0604020202020204" pitchFamily="34" charset="0"/>
                  <a:ea typeface="Calibri" panose="020F0502020204030204" pitchFamily="34" charset="0"/>
                  <a:cs typeface="Arial" panose="020B0604020202020204" pitchFamily="34" charset="0"/>
                </a:rPr>
                <a:t>CAM</a:t>
              </a:r>
              <a:r>
                <a:rPr lang="en-GB" b="1" kern="100" dirty="0">
                  <a:effectLst/>
                  <a:latin typeface="Arial" panose="020B0604020202020204" pitchFamily="34" charset="0"/>
                  <a:ea typeface="Calibri" panose="020F0502020204030204" pitchFamily="34" charset="0"/>
                  <a:cs typeface="Arial" panose="020B0604020202020204" pitchFamily="34" charset="0"/>
                </a:rPr>
                <a:t> </a:t>
              </a:r>
            </a:p>
            <a:p>
              <a:pPr algn="r">
                <a:lnSpc>
                  <a:spcPct val="107000"/>
                </a:lnSpc>
                <a:spcAft>
                  <a:spcPts val="800"/>
                </a:spcAft>
              </a:pPr>
              <a:r>
                <a:rPr lang="en-GB" b="1" kern="100" dirty="0">
                  <a:effectLst/>
                  <a:latin typeface="Arial" panose="020B0604020202020204" pitchFamily="34" charset="0"/>
                  <a:ea typeface="Calibri" panose="020F0502020204030204" pitchFamily="34" charset="0"/>
                  <a:cs typeface="Arial" panose="020B0604020202020204" pitchFamily="34" charset="0"/>
                </a:rPr>
                <a:t>Computer-Aided Manufacturing</a:t>
              </a:r>
              <a:endParaRPr lang="en-GB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endParaRPr>
            </a:p>
          </p:txBody>
        </p:sp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22C074CF-8F7A-5F3A-6BF1-C90ED073E49C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748438" y="3370024"/>
              <a:ext cx="4053540" cy="2559167"/>
              <a:chOff x="182831" y="3131184"/>
              <a:chExt cx="3789317" cy="2392353"/>
            </a:xfrm>
          </p:grpSpPr>
          <p:pic>
            <p:nvPicPr>
              <p:cNvPr id="21" name="Picture 2" descr="Development phase">
                <a:extLst>
                  <a:ext uri="{FF2B5EF4-FFF2-40B4-BE49-F238E27FC236}">
                    <a16:creationId xmlns:a16="http://schemas.microsoft.com/office/drawing/2014/main" id="{086B03E6-F34E-1145-3D09-B0CE1E95E3FC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60797" t="23507" r="7142" b="28567"/>
              <a:stretch>
                <a:fillRect/>
              </a:stretch>
            </p:blipFill>
            <p:spPr bwMode="auto">
              <a:xfrm>
                <a:off x="182831" y="3131184"/>
                <a:ext cx="1451202" cy="1220565"/>
              </a:xfrm>
              <a:prstGeom prst="rect">
                <a:avLst/>
              </a:prstGeom>
              <a:ln>
                <a:solidFill>
                  <a:schemeClr val="tx1"/>
                </a:solidFill>
              </a:ln>
              <a:effectLst>
                <a:outerShdw blurRad="50800" dist="38100" dir="8100000" algn="tr" rotWithShape="0">
                  <a:prstClr val="black">
                    <a:alpha val="40000"/>
                  </a:prstClr>
                </a:outerShdw>
              </a:effectLst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23" name="Picture 4" descr="AM production phase">
                <a:extLst>
                  <a:ext uri="{FF2B5EF4-FFF2-40B4-BE49-F238E27FC236}">
                    <a16:creationId xmlns:a16="http://schemas.microsoft.com/office/drawing/2014/main" id="{7B2EC496-F5F2-A9D6-BCB3-5E9621F219C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33819" t="18312" r="40994" b="24811"/>
              <a:stretch>
                <a:fillRect/>
              </a:stretch>
            </p:blipFill>
            <p:spPr bwMode="auto">
              <a:xfrm>
                <a:off x="2089196" y="3131184"/>
                <a:ext cx="1882952" cy="2392353"/>
              </a:xfrm>
              <a:prstGeom prst="rect">
                <a:avLst/>
              </a:prstGeom>
              <a:ln>
                <a:solidFill>
                  <a:schemeClr val="tx1"/>
                </a:solidFill>
              </a:ln>
              <a:effectLst>
                <a:outerShdw blurRad="50800" dist="38100" dir="8100000" algn="tr" rotWithShape="0">
                  <a:prstClr val="black">
                    <a:alpha val="40000"/>
                  </a:prstClr>
                </a:outerShdw>
              </a:effectLst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773CA16F-7AC3-758D-A398-DE541F6AAC38}"/>
              </a:ext>
            </a:extLst>
          </p:cNvPr>
          <p:cNvGrpSpPr/>
          <p:nvPr/>
        </p:nvGrpSpPr>
        <p:grpSpPr>
          <a:xfrm>
            <a:off x="6574343" y="963500"/>
            <a:ext cx="5304147" cy="2143912"/>
            <a:chOff x="6763177" y="796305"/>
            <a:chExt cx="5304147" cy="2143912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F8EBFE5E-1B50-4B85-6981-545C9D574D42}"/>
                </a:ext>
              </a:extLst>
            </p:cNvPr>
            <p:cNvSpPr txBox="1"/>
            <p:nvPr/>
          </p:nvSpPr>
          <p:spPr>
            <a:xfrm>
              <a:off x="6763177" y="796305"/>
              <a:ext cx="4005035" cy="106708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>
                <a:lnSpc>
                  <a:spcPct val="107000"/>
                </a:lnSpc>
                <a:spcAft>
                  <a:spcPts val="800"/>
                </a:spcAft>
                <a:buNone/>
              </a:pPr>
              <a:r>
                <a:rPr lang="en-GB" sz="2400" b="1" u="sng" kern="1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Arial" panose="020B0604020202020204" pitchFamily="34" charset="0"/>
                  <a:ea typeface="Calibri" panose="020F0502020204030204" pitchFamily="34" charset="0"/>
                  <a:cs typeface="Arial" panose="020B0604020202020204" pitchFamily="34" charset="0"/>
                </a:rPr>
                <a:t>CAD</a:t>
              </a:r>
              <a:r>
                <a:rPr lang="en-GB" b="1" kern="100" dirty="0">
                  <a:effectLst/>
                  <a:latin typeface="Arial" panose="020B0604020202020204" pitchFamily="34" charset="0"/>
                  <a:ea typeface="Calibri" panose="020F0502020204030204" pitchFamily="34" charset="0"/>
                  <a:cs typeface="Arial" panose="020B0604020202020204" pitchFamily="34" charset="0"/>
                </a:rPr>
                <a:t> (Computer-Aided Design)</a:t>
              </a:r>
              <a:r>
                <a:rPr lang="en-GB" kern="100" dirty="0"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Arial" panose="020B0604020202020204" pitchFamily="34" charset="0"/>
                </a:rPr>
                <a:t> shapes </a:t>
              </a:r>
              <a:r>
                <a:rPr lang="en-GB" kern="100" dirty="0">
                  <a:solidFill>
                    <a:srgbClr val="EE0000"/>
                  </a:solidFill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Arial" panose="020B0604020202020204" pitchFamily="34" charset="0"/>
                </a:rPr>
                <a:t>- parametric 3D models (length, width, angles + Rules + History Tree)</a:t>
              </a:r>
              <a:endParaRPr lang="en-GB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A577DA59-FD78-1502-E621-7079958E1B61}"/>
                </a:ext>
              </a:extLst>
            </p:cNvPr>
            <p:cNvSpPr txBox="1"/>
            <p:nvPr/>
          </p:nvSpPr>
          <p:spPr>
            <a:xfrm>
              <a:off x="6763177" y="1874925"/>
              <a:ext cx="5304147" cy="106529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07000"/>
                </a:lnSpc>
                <a:spcAft>
                  <a:spcPts val="800"/>
                </a:spcAft>
              </a:pPr>
              <a:r>
                <a:rPr lang="en-GB" sz="2400" b="1" u="sng" kern="1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Arial" panose="020B0604020202020204" pitchFamily="34" charset="0"/>
                  <a:ea typeface="Calibri" panose="020F0502020204030204" pitchFamily="34" charset="0"/>
                  <a:cs typeface="Arial" panose="020B0604020202020204" pitchFamily="34" charset="0"/>
                </a:rPr>
                <a:t>CAE</a:t>
              </a:r>
              <a:r>
                <a:rPr lang="en-GB" b="1" kern="100" dirty="0">
                  <a:effectLst/>
                  <a:latin typeface="Arial" panose="020B0604020202020204" pitchFamily="34" charset="0"/>
                  <a:ea typeface="Calibri" panose="020F0502020204030204" pitchFamily="34" charset="0"/>
                  <a:cs typeface="Arial" panose="020B0604020202020204" pitchFamily="34" charset="0"/>
                </a:rPr>
                <a:t> (Computer-Aided Engineering)</a:t>
              </a:r>
              <a:r>
                <a:rPr lang="en-GB" kern="100" dirty="0"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Arial" panose="020B0604020202020204" pitchFamily="34" charset="0"/>
                </a:rPr>
                <a:t> </a:t>
              </a:r>
              <a:r>
                <a:rPr lang="en-GB" kern="100" dirty="0">
                  <a:latin typeface="Calibri" panose="020F0502020204030204" pitchFamily="34" charset="0"/>
                  <a:ea typeface="Calibri" panose="020F0502020204030204" pitchFamily="34" charset="0"/>
                  <a:cs typeface="Arial" panose="020B0604020202020204" pitchFamily="34" charset="0"/>
                </a:rPr>
                <a:t>– </a:t>
              </a:r>
              <a:r>
                <a:rPr lang="en-GB" kern="100" dirty="0">
                  <a:latin typeface="Calibri" panose="020F0502020204030204" pitchFamily="34" charset="0"/>
                  <a:cs typeface="Arial" panose="020B0604020202020204" pitchFamily="34" charset="0"/>
                </a:rPr>
                <a:t>data harvesting </a:t>
              </a:r>
              <a:r>
                <a:rPr lang="en-GB" kern="100" dirty="0">
                  <a:solidFill>
                    <a:srgbClr val="0000FF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Arial" panose="020B0604020202020204" pitchFamily="34" charset="0"/>
                </a:rPr>
                <a:t>- structural stresses, deformations, </a:t>
              </a:r>
              <a:r>
                <a:rPr lang="en-GB" kern="100" dirty="0">
                  <a:solidFill>
                    <a:srgbClr val="0000FF"/>
                  </a:solidFill>
                  <a:latin typeface="Calibri" panose="020F0502020204030204" pitchFamily="34" charset="0"/>
                  <a:cs typeface="Arial" panose="020B0604020202020204" pitchFamily="34" charset="0"/>
                </a:rPr>
                <a:t>displacement, </a:t>
              </a:r>
              <a:r>
                <a:rPr lang="en-GB" kern="100" dirty="0">
                  <a:solidFill>
                    <a:srgbClr val="0000FF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Arial" panose="020B0604020202020204" pitchFamily="34" charset="0"/>
                </a:rPr>
                <a:t>and failures – </a:t>
              </a:r>
              <a:r>
                <a:rPr lang="en-GB" b="1" kern="100" dirty="0">
                  <a:solidFill>
                    <a:srgbClr val="0000FF"/>
                  </a:solidFill>
                  <a:effectLst/>
                  <a:latin typeface="Arial" panose="020B0604020202020204" pitchFamily="34" charset="0"/>
                  <a:ea typeface="Calibri" panose="020F0502020204030204" pitchFamily="34" charset="0"/>
                  <a:cs typeface="Arial" panose="020B0604020202020204" pitchFamily="34" charset="0"/>
                </a:rPr>
                <a:t>FEA - CFD</a:t>
              </a:r>
              <a:endParaRPr lang="en-GB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endParaRPr>
            </a:p>
          </p:txBody>
        </p:sp>
        <p:pic>
          <p:nvPicPr>
            <p:cNvPr id="25" name="Picture 2" descr="Development phase">
              <a:extLst>
                <a:ext uri="{FF2B5EF4-FFF2-40B4-BE49-F238E27FC236}">
                  <a16:creationId xmlns:a16="http://schemas.microsoft.com/office/drawing/2014/main" id="{1F419332-9E0B-3D4F-FD43-722D617EAB6E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7481" t="38669" r="65218" b="48355"/>
            <a:stretch>
              <a:fillRect/>
            </a:stretch>
          </p:blipFill>
          <p:spPr bwMode="auto">
            <a:xfrm>
              <a:off x="10768212" y="1114044"/>
              <a:ext cx="962796" cy="96279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9545CA32-B555-00D8-C431-C7D7060516EB}"/>
              </a:ext>
            </a:extLst>
          </p:cNvPr>
          <p:cNvGrpSpPr/>
          <p:nvPr/>
        </p:nvGrpSpPr>
        <p:grpSpPr>
          <a:xfrm>
            <a:off x="5735426" y="5706256"/>
            <a:ext cx="5682866" cy="656087"/>
            <a:chOff x="5591803" y="5690247"/>
            <a:chExt cx="5682866" cy="656087"/>
          </a:xfrm>
        </p:grpSpPr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E5E8F990-D7E2-4864-AC68-D0069658B8A4}"/>
                </a:ext>
              </a:extLst>
            </p:cNvPr>
            <p:cNvSpPr txBox="1"/>
            <p:nvPr/>
          </p:nvSpPr>
          <p:spPr>
            <a:xfrm>
              <a:off x="5591803" y="5690247"/>
              <a:ext cx="1853862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pt-BR" b="1" noProof="0" dirty="0"/>
                <a:t>Pós Processamento</a:t>
              </a:r>
              <a:endParaRPr lang="pt-BR" noProof="0" dirty="0"/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82FE72C2-4D8E-82EB-10F4-F6EEF285DD8E}"/>
                </a:ext>
              </a:extLst>
            </p:cNvPr>
            <p:cNvSpPr txBox="1"/>
            <p:nvPr/>
          </p:nvSpPr>
          <p:spPr>
            <a:xfrm>
              <a:off x="8390919" y="5700003"/>
              <a:ext cx="2883750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pt-BR" b="1" noProof="0" dirty="0"/>
                <a:t>Testes, Medições </a:t>
              </a:r>
            </a:p>
            <a:p>
              <a:r>
                <a:rPr lang="pt-BR" b="1" noProof="0" dirty="0"/>
                <a:t>&amp; controle de qualidade</a:t>
              </a:r>
              <a:endParaRPr lang="pt-BR" noProof="0" dirty="0"/>
            </a:p>
          </p:txBody>
        </p:sp>
      </p:grp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E452C720-64B6-BF56-5FCE-1E9507F4538D}"/>
              </a:ext>
            </a:extLst>
          </p:cNvPr>
          <p:cNvCxnSpPr>
            <a:cxnSpLocks/>
          </p:cNvCxnSpPr>
          <p:nvPr/>
        </p:nvCxnSpPr>
        <p:spPr>
          <a:xfrm>
            <a:off x="5110467" y="3553097"/>
            <a:ext cx="0" cy="2781029"/>
          </a:xfrm>
          <a:prstGeom prst="line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8EC38D7A-B395-A54D-499A-69264F12F803}"/>
              </a:ext>
            </a:extLst>
          </p:cNvPr>
          <p:cNvCxnSpPr>
            <a:cxnSpLocks/>
          </p:cNvCxnSpPr>
          <p:nvPr/>
        </p:nvCxnSpPr>
        <p:spPr>
          <a:xfrm flipH="1">
            <a:off x="513806" y="3429000"/>
            <a:ext cx="10934876" cy="0"/>
          </a:xfrm>
          <a:prstGeom prst="line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" name="Picture 6" descr="Post-processing phase">
            <a:extLst>
              <a:ext uri="{FF2B5EF4-FFF2-40B4-BE49-F238E27FC236}">
                <a16:creationId xmlns:a16="http://schemas.microsoft.com/office/drawing/2014/main" id="{61DC19E1-F7C6-0430-4B2C-A59B1C8B116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7243" r="8917" b="31349"/>
          <a:stretch>
            <a:fillRect/>
          </a:stretch>
        </p:blipFill>
        <p:spPr bwMode="auto">
          <a:xfrm>
            <a:off x="5536053" y="3644329"/>
            <a:ext cx="6081613" cy="1931297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939894B7-E229-5711-B9E9-38F156B4385C}"/>
              </a:ext>
            </a:extLst>
          </p:cNvPr>
          <p:cNvSpPr/>
          <p:nvPr/>
        </p:nvSpPr>
        <p:spPr>
          <a:xfrm>
            <a:off x="7796814" y="317105"/>
            <a:ext cx="3829129" cy="634862"/>
          </a:xfrm>
          <a:prstGeom prst="roundRect">
            <a:avLst/>
          </a:prstGeom>
          <a:noFill/>
        </p:spPr>
        <p:txBody>
          <a:bodyPr wrap="square" lIns="0" tIns="0" rIns="0" bIns="0" anchor="t" anchorCtr="0">
            <a:noAutofit/>
          </a:bodyPr>
          <a:lstStyle/>
          <a:p>
            <a:pPr algn="r"/>
            <a:r>
              <a:rPr lang="pt-BR" sz="3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O que modelar?</a:t>
            </a:r>
            <a:endParaRPr lang="pt-BR" sz="3200" noProof="0" dirty="0">
              <a:solidFill>
                <a:srgbClr val="FF0000"/>
              </a:solidFill>
              <a:latin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1991127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B4FED2-8C2D-CBC5-EC1D-3E56747434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C1D18262-79C3-97F3-7608-04C239CF9BEE}"/>
              </a:ext>
            </a:extLst>
          </p:cNvPr>
          <p:cNvSpPr/>
          <p:nvPr/>
        </p:nvSpPr>
        <p:spPr>
          <a:xfrm>
            <a:off x="0" y="1"/>
            <a:ext cx="12192000" cy="68580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1931FF7F-D890-000A-DBE8-01F406BEC642}"/>
              </a:ext>
            </a:extLst>
          </p:cNvPr>
          <p:cNvGrpSpPr>
            <a:grpSpLocks noChangeAspect="1"/>
          </p:cNvGrpSpPr>
          <p:nvPr/>
        </p:nvGrpSpPr>
        <p:grpSpPr>
          <a:xfrm>
            <a:off x="699788" y="2562897"/>
            <a:ext cx="10792424" cy="2244475"/>
            <a:chOff x="1022745" y="1409461"/>
            <a:chExt cx="10669753" cy="2285845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C5A93156-15E9-6FCC-08A2-D16608D8EBE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t="17529" b="51086"/>
            <a:stretch>
              <a:fillRect/>
            </a:stretch>
          </p:blipFill>
          <p:spPr>
            <a:xfrm>
              <a:off x="1022745" y="1409461"/>
              <a:ext cx="10669753" cy="2210431"/>
            </a:xfrm>
            <a:prstGeom prst="rect">
              <a:avLst/>
            </a:prstGeom>
          </p:spPr>
        </p:pic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7700BA0A-1C05-83BB-E2E6-874CF37D9164}"/>
                </a:ext>
              </a:extLst>
            </p:cNvPr>
            <p:cNvSpPr/>
            <p:nvPr/>
          </p:nvSpPr>
          <p:spPr>
            <a:xfrm>
              <a:off x="4694548" y="3381865"/>
              <a:ext cx="3073139" cy="31344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 dirty="0"/>
            </a:p>
          </p:txBody>
        </p:sp>
      </p:grpSp>
      <p:sp>
        <p:nvSpPr>
          <p:cNvPr id="21" name="TextBox 20">
            <a:extLst>
              <a:ext uri="{FF2B5EF4-FFF2-40B4-BE49-F238E27FC236}">
                <a16:creationId xmlns:a16="http://schemas.microsoft.com/office/drawing/2014/main" id="{1579ACB3-1D08-3FBB-935E-915DB5103E55}"/>
              </a:ext>
            </a:extLst>
          </p:cNvPr>
          <p:cNvSpPr txBox="1"/>
          <p:nvPr/>
        </p:nvSpPr>
        <p:spPr>
          <a:xfrm>
            <a:off x="532889" y="1335393"/>
            <a:ext cx="3409386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GB" sz="2400" b="1" i="0" u="sng" strike="noStrike" baseline="0" dirty="0">
                <a:solidFill>
                  <a:srgbClr val="FF0000"/>
                </a:solidFill>
                <a:latin typeface="Times New Roman" panose="02020603050405020304" pitchFamily="18" charset="0"/>
              </a:rPr>
              <a:t>Macro-scale</a:t>
            </a:r>
            <a:r>
              <a:rPr lang="en-GB" sz="1800" b="1" i="0" u="sng" strike="noStrike" baseline="0" dirty="0">
                <a:solidFill>
                  <a:srgbClr val="000000"/>
                </a:solidFill>
                <a:latin typeface="Times New Roman" panose="02020603050405020304" pitchFamily="18" charset="0"/>
              </a:rPr>
              <a:t> models</a:t>
            </a:r>
            <a:r>
              <a:rPr lang="en-GB" sz="1800" b="0" i="0" u="none" strike="noStrike" baseline="0" dirty="0">
                <a:solidFill>
                  <a:srgbClr val="000000"/>
                </a:solidFill>
                <a:latin typeface="Times New Roman" panose="02020603050405020304" pitchFamily="18" charset="0"/>
              </a:rPr>
              <a:t> </a:t>
            </a:r>
          </a:p>
          <a:p>
            <a:r>
              <a:rPr lang="en-GB" sz="1800" b="0" i="0" u="none" strike="noStrike" baseline="0" dirty="0">
                <a:solidFill>
                  <a:srgbClr val="000000"/>
                </a:solidFill>
                <a:latin typeface="Times New Roman" panose="02020603050405020304" pitchFamily="18" charset="0"/>
              </a:rPr>
              <a:t>heat flow and structural (stress) deformation &amp; </a:t>
            </a:r>
            <a:r>
              <a:rPr lang="en-GB" dirty="0">
                <a:solidFill>
                  <a:srgbClr val="000000"/>
                </a:solidFill>
                <a:latin typeface="Times New Roman" panose="02020603050405020304" pitchFamily="18" charset="0"/>
              </a:rPr>
              <a:t>interlayer bonding,</a:t>
            </a:r>
            <a:endParaRPr lang="LID4096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A9585BF-3078-B5E5-DCD6-6FC3D4B4C024}"/>
              </a:ext>
            </a:extLst>
          </p:cNvPr>
          <p:cNvSpPr txBox="1"/>
          <p:nvPr/>
        </p:nvSpPr>
        <p:spPr>
          <a:xfrm>
            <a:off x="508200" y="4942141"/>
            <a:ext cx="3520870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2000" b="1" u="sng" dirty="0"/>
              <a:t>Foco</a:t>
            </a:r>
            <a:r>
              <a:rPr lang="pt-BR" sz="2000" b="1" dirty="0"/>
              <a:t>: </a:t>
            </a:r>
            <a:r>
              <a:rPr lang="pt-BR" sz="2000" dirty="0"/>
              <a:t>Distorção, stress residual</a:t>
            </a:r>
          </a:p>
          <a:p>
            <a:endParaRPr lang="pt-BR" sz="2000" dirty="0"/>
          </a:p>
          <a:p>
            <a:r>
              <a:rPr lang="pt-BR" sz="2000" b="1" u="sng" dirty="0"/>
              <a:t>Métodos</a:t>
            </a:r>
            <a:r>
              <a:rPr lang="pt-BR" sz="2000" b="1" dirty="0"/>
              <a:t>:</a:t>
            </a:r>
            <a:r>
              <a:rPr lang="pt-BR" sz="2000" dirty="0"/>
              <a:t> FEM, FVM</a:t>
            </a:r>
            <a:endParaRPr lang="LID4096" sz="20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AF793E5-19E5-D29C-D284-048AAFC498D3}"/>
              </a:ext>
            </a:extLst>
          </p:cNvPr>
          <p:cNvSpPr txBox="1"/>
          <p:nvPr/>
        </p:nvSpPr>
        <p:spPr>
          <a:xfrm>
            <a:off x="4532480" y="4942142"/>
            <a:ext cx="3343155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2000" b="1" u="sng" dirty="0"/>
              <a:t>Foco</a:t>
            </a:r>
            <a:r>
              <a:rPr lang="pt-BR" sz="2000" b="1" dirty="0"/>
              <a:t>: </a:t>
            </a:r>
            <a:r>
              <a:rPr lang="pt-BR" sz="2000" dirty="0"/>
              <a:t>Fluxo, </a:t>
            </a:r>
            <a:r>
              <a:rPr lang="pt-PT" sz="2000" dirty="0"/>
              <a:t>poça de fusão</a:t>
            </a:r>
          </a:p>
          <a:p>
            <a:endParaRPr lang="pt-BR" sz="2000" dirty="0"/>
          </a:p>
          <a:p>
            <a:r>
              <a:rPr lang="pt-BR" sz="2000" b="1" u="sng" dirty="0"/>
              <a:t>Métodos</a:t>
            </a:r>
            <a:r>
              <a:rPr lang="pt-BR" sz="2000" b="1" dirty="0"/>
              <a:t>:</a:t>
            </a:r>
            <a:r>
              <a:rPr lang="pt-BR" sz="2000" dirty="0"/>
              <a:t> CFD, SPH, LBM</a:t>
            </a:r>
            <a:endParaRPr lang="LID4096" sz="20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921A13F-E240-B758-DA48-9CB20B91F2D0}"/>
              </a:ext>
            </a:extLst>
          </p:cNvPr>
          <p:cNvSpPr txBox="1"/>
          <p:nvPr/>
        </p:nvSpPr>
        <p:spPr>
          <a:xfrm>
            <a:off x="8070678" y="4942142"/>
            <a:ext cx="3343155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2000" b="1" u="sng" dirty="0"/>
              <a:t>Foco</a:t>
            </a:r>
            <a:r>
              <a:rPr lang="pt-BR" sz="2000" b="1" dirty="0"/>
              <a:t>: </a:t>
            </a:r>
            <a:r>
              <a:rPr lang="pt-BR" sz="2000" dirty="0"/>
              <a:t>Grãos, nucleação, vazios  </a:t>
            </a:r>
          </a:p>
          <a:p>
            <a:endParaRPr lang="pt-BR" sz="2000" dirty="0"/>
          </a:p>
          <a:p>
            <a:r>
              <a:rPr lang="pt-BR" sz="2000" b="1" u="sng" dirty="0"/>
              <a:t>Métodos</a:t>
            </a:r>
            <a:r>
              <a:rPr lang="pt-BR" sz="2000" b="1" dirty="0"/>
              <a:t>:</a:t>
            </a:r>
            <a:r>
              <a:rPr lang="pt-BR" sz="2000" dirty="0"/>
              <a:t> CA, MC, PF</a:t>
            </a:r>
            <a:endParaRPr lang="LID4096" sz="2000" dirty="0"/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30D92701-2C39-7EB4-A46C-F1AD49A526C1}"/>
              </a:ext>
            </a:extLst>
          </p:cNvPr>
          <p:cNvGrpSpPr/>
          <p:nvPr/>
        </p:nvGrpSpPr>
        <p:grpSpPr>
          <a:xfrm>
            <a:off x="8128401" y="1274828"/>
            <a:ext cx="3363811" cy="1107996"/>
            <a:chOff x="6653058" y="732502"/>
            <a:chExt cx="3363811" cy="1107996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9B12F553-9E88-0BC5-7CE8-BADD93E0B0F8}"/>
                </a:ext>
              </a:extLst>
            </p:cNvPr>
            <p:cNvSpPr txBox="1"/>
            <p:nvPr/>
          </p:nvSpPr>
          <p:spPr>
            <a:xfrm>
              <a:off x="6673714" y="1194167"/>
              <a:ext cx="3343155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LID4096" dirty="0"/>
                <a:t>grain growth, microstructural transitions, solidification kinetics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4C812636-A4FB-E46F-694E-EE55083C9D34}"/>
                </a:ext>
              </a:extLst>
            </p:cNvPr>
            <p:cNvSpPr txBox="1"/>
            <p:nvPr/>
          </p:nvSpPr>
          <p:spPr>
            <a:xfrm>
              <a:off x="6653058" y="732502"/>
              <a:ext cx="3069410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just"/>
              <a:r>
                <a:rPr lang="en-GB" sz="2400" b="1" i="0" u="sng" strike="noStrike" baseline="0" dirty="0">
                  <a:solidFill>
                    <a:srgbClr val="FF0000"/>
                  </a:solidFill>
                  <a:latin typeface="Times New Roman" panose="02020603050405020304" pitchFamily="18" charset="0"/>
                </a:rPr>
                <a:t>Micro-scale</a:t>
              </a:r>
              <a:r>
                <a:rPr lang="en-GB" sz="1800" b="1" i="0" u="sng" strike="noStrike" baseline="0" dirty="0">
                  <a:solidFill>
                    <a:srgbClr val="000000"/>
                  </a:solidFill>
                  <a:latin typeface="Times New Roman" panose="02020603050405020304" pitchFamily="18" charset="0"/>
                </a:rPr>
                <a:t> phase-field</a:t>
              </a:r>
              <a:endParaRPr lang="LID4096" dirty="0"/>
            </a:p>
          </p:txBody>
        </p:sp>
      </p:grpSp>
      <p:sp>
        <p:nvSpPr>
          <p:cNvPr id="17" name="Arrow: Right 16">
            <a:extLst>
              <a:ext uri="{FF2B5EF4-FFF2-40B4-BE49-F238E27FC236}">
                <a16:creationId xmlns:a16="http://schemas.microsoft.com/office/drawing/2014/main" id="{0D99E177-98AB-1609-405B-9D306F0BC69F}"/>
              </a:ext>
            </a:extLst>
          </p:cNvPr>
          <p:cNvSpPr/>
          <p:nvPr/>
        </p:nvSpPr>
        <p:spPr>
          <a:xfrm rot="19318681">
            <a:off x="5533143" y="5999928"/>
            <a:ext cx="426720" cy="338895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24EBBB04-CED1-CA15-A508-9EEC5791E0AF}"/>
              </a:ext>
            </a:extLst>
          </p:cNvPr>
          <p:cNvSpPr txBox="1"/>
          <p:nvPr/>
        </p:nvSpPr>
        <p:spPr>
          <a:xfrm>
            <a:off x="4578282" y="1320995"/>
            <a:ext cx="2943995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400" b="1" i="0" u="sng" strike="noStrike" baseline="0" dirty="0">
                <a:solidFill>
                  <a:srgbClr val="FF0000"/>
                </a:solidFill>
                <a:latin typeface="Times New Roman" panose="02020603050405020304" pitchFamily="18" charset="0"/>
              </a:rPr>
              <a:t>Meso-scale</a:t>
            </a:r>
            <a:r>
              <a:rPr lang="en-GB" sz="1800" b="1" i="0" u="sng" strike="noStrike" baseline="0" dirty="0">
                <a:solidFill>
                  <a:srgbClr val="000000"/>
                </a:solidFill>
                <a:latin typeface="Times New Roman" panose="02020603050405020304" pitchFamily="18" charset="0"/>
              </a:rPr>
              <a:t> models</a:t>
            </a:r>
            <a:r>
              <a:rPr lang="en-GB" sz="1800" b="0" i="0" u="none" strike="noStrike" baseline="0" dirty="0">
                <a:solidFill>
                  <a:srgbClr val="000000"/>
                </a:solidFill>
                <a:latin typeface="Times New Roman" panose="02020603050405020304" pitchFamily="18" charset="0"/>
              </a:rPr>
              <a:t> </a:t>
            </a:r>
          </a:p>
          <a:p>
            <a:r>
              <a:rPr lang="en-GB" sz="1800" b="0" i="0" u="none" strike="noStrike" baseline="0" dirty="0">
                <a:solidFill>
                  <a:srgbClr val="000000"/>
                </a:solidFill>
                <a:latin typeface="Times New Roman" panose="02020603050405020304" pitchFamily="18" charset="0"/>
              </a:rPr>
              <a:t>pool geometry, bead formation, and dilution. </a:t>
            </a:r>
            <a:endParaRPr lang="LID4096" dirty="0"/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CA6E7739-B156-5FE7-31E7-3EC340D9E0CF}"/>
              </a:ext>
            </a:extLst>
          </p:cNvPr>
          <p:cNvCxnSpPr>
            <a:cxnSpLocks/>
          </p:cNvCxnSpPr>
          <p:nvPr/>
        </p:nvCxnSpPr>
        <p:spPr>
          <a:xfrm>
            <a:off x="4154277" y="973999"/>
            <a:ext cx="0" cy="1371600"/>
          </a:xfrm>
          <a:prstGeom prst="line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62973B47-50DE-DA68-A410-F1ABE21EDF32}"/>
              </a:ext>
            </a:extLst>
          </p:cNvPr>
          <p:cNvCxnSpPr>
            <a:cxnSpLocks/>
          </p:cNvCxnSpPr>
          <p:nvPr/>
        </p:nvCxnSpPr>
        <p:spPr>
          <a:xfrm>
            <a:off x="7692476" y="973998"/>
            <a:ext cx="0" cy="1371600"/>
          </a:xfrm>
          <a:prstGeom prst="line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4C115BA8-7EB1-9D87-ECF4-114E0CA95B6D}"/>
              </a:ext>
            </a:extLst>
          </p:cNvPr>
          <p:cNvCxnSpPr>
            <a:cxnSpLocks/>
          </p:cNvCxnSpPr>
          <p:nvPr/>
        </p:nvCxnSpPr>
        <p:spPr>
          <a:xfrm>
            <a:off x="4154277" y="4818833"/>
            <a:ext cx="0" cy="1371600"/>
          </a:xfrm>
          <a:prstGeom prst="line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C632C9D7-49BC-51C2-3E0C-82CDC84270CC}"/>
              </a:ext>
            </a:extLst>
          </p:cNvPr>
          <p:cNvCxnSpPr>
            <a:cxnSpLocks/>
          </p:cNvCxnSpPr>
          <p:nvPr/>
        </p:nvCxnSpPr>
        <p:spPr>
          <a:xfrm>
            <a:off x="7692476" y="4818832"/>
            <a:ext cx="0" cy="1371600"/>
          </a:xfrm>
          <a:prstGeom prst="line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AE83482A-51B4-C9C8-5B2B-9A3F5760AC2E}"/>
              </a:ext>
            </a:extLst>
          </p:cNvPr>
          <p:cNvSpPr/>
          <p:nvPr/>
        </p:nvSpPr>
        <p:spPr>
          <a:xfrm>
            <a:off x="3176725" y="317105"/>
            <a:ext cx="4667794" cy="634862"/>
          </a:xfrm>
          <a:prstGeom prst="roundRect">
            <a:avLst/>
          </a:prstGeom>
          <a:noFill/>
        </p:spPr>
        <p:txBody>
          <a:bodyPr wrap="square" lIns="0" tIns="0" rIns="0" bIns="0" anchor="t" anchorCtr="0">
            <a:noAutofit/>
          </a:bodyPr>
          <a:lstStyle/>
          <a:p>
            <a:pPr algn="r"/>
            <a:r>
              <a:rPr lang="pt-BR" sz="3600" b="1" dirty="0">
                <a:solidFill>
                  <a:srgbClr val="0000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Escalas de modelagem</a:t>
            </a:r>
            <a:endParaRPr lang="pt-BR" sz="3600" noProof="0" dirty="0">
              <a:solidFill>
                <a:srgbClr val="0000FF"/>
              </a:solidFill>
              <a:latin typeface="Times New Roman" panose="02020603050405020304" pitchFamily="18" charset="0"/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F689CD8D-4B1D-099E-72FE-E4A9D8A4FE3D}"/>
              </a:ext>
            </a:extLst>
          </p:cNvPr>
          <p:cNvSpPr/>
          <p:nvPr/>
        </p:nvSpPr>
        <p:spPr>
          <a:xfrm>
            <a:off x="8372475" y="317105"/>
            <a:ext cx="3253468" cy="634862"/>
          </a:xfrm>
          <a:prstGeom prst="roundRect">
            <a:avLst/>
          </a:prstGeom>
          <a:noFill/>
        </p:spPr>
        <p:txBody>
          <a:bodyPr wrap="square" lIns="0" tIns="0" rIns="0" bIns="0" anchor="t" anchorCtr="0">
            <a:noAutofit/>
          </a:bodyPr>
          <a:lstStyle/>
          <a:p>
            <a:pPr algn="r"/>
            <a:r>
              <a:rPr lang="pt-BR" sz="3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O que modelar?</a:t>
            </a:r>
            <a:endParaRPr lang="pt-BR" sz="3200" noProof="0" dirty="0">
              <a:solidFill>
                <a:srgbClr val="FF0000"/>
              </a:solidFill>
              <a:latin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6132362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DBC27728-C905-B009-3AA3-FD5D0FA2B162}"/>
              </a:ext>
            </a:extLst>
          </p:cNvPr>
          <p:cNvSpPr/>
          <p:nvPr/>
        </p:nvSpPr>
        <p:spPr>
          <a:xfrm>
            <a:off x="0" y="1"/>
            <a:ext cx="12192000" cy="68580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A16FEA9-7EF3-C277-8E36-C7669F63E59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791"/>
          <a:stretch>
            <a:fillRect/>
          </a:stretch>
        </p:blipFill>
        <p:spPr>
          <a:xfrm>
            <a:off x="276720" y="2335731"/>
            <a:ext cx="4085603" cy="2732561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1A6D91F9-C9A0-ABDD-E36F-6420C1DADA46}"/>
              </a:ext>
            </a:extLst>
          </p:cNvPr>
          <p:cNvSpPr txBox="1"/>
          <p:nvPr/>
        </p:nvSpPr>
        <p:spPr>
          <a:xfrm>
            <a:off x="212135" y="185056"/>
            <a:ext cx="8862196" cy="130805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>
            <a:spAutoFit/>
          </a:bodyPr>
          <a:lstStyle>
            <a:defPPr>
              <a:defRPr lang="LID4096"/>
            </a:defPPr>
            <a:lvl1pPr algn="ctr">
              <a:defRPr b="1">
                <a:latin typeface="Calibri" panose="020F0502020204030204" pitchFamily="34" charset="0"/>
                <a:cs typeface="Times New Roman" panose="02020603050405020304" pitchFamily="18" charset="0"/>
              </a:defRPr>
            </a:lvl1pPr>
          </a:lstStyle>
          <a:p>
            <a:pPr lvl="0" algn="l">
              <a:defRPr/>
            </a:pPr>
            <a:r>
              <a:rPr lang="pt-BR" sz="3200" dirty="0">
                <a:solidFill>
                  <a:srgbClr val="0000FF"/>
                </a:solidFill>
                <a:latin typeface="Segoe UI" panose="020B0502040204020203" pitchFamily="34" charset="0"/>
                <a:ea typeface="Cambria Math" panose="02040503050406030204" pitchFamily="18" charset="0"/>
                <a:cs typeface="Segoe UI" panose="020B0502040204020203" pitchFamily="34" charset="0"/>
              </a:rPr>
              <a:t>FEA – Análise de Elementos Finitos  </a:t>
            </a:r>
          </a:p>
          <a:p>
            <a:pPr lvl="0" algn="l">
              <a:defRPr/>
            </a:pPr>
            <a:endParaRPr lang="pt-BR" sz="1100" dirty="0">
              <a:solidFill>
                <a:srgbClr val="0000FF"/>
              </a:solidFill>
              <a:latin typeface="Segoe UI" panose="020B0502040204020203" pitchFamily="34" charset="0"/>
              <a:ea typeface="Cambria Math" panose="02040503050406030204" pitchFamily="18" charset="0"/>
              <a:cs typeface="Segoe UI" panose="020B0502040204020203" pitchFamily="34" charset="0"/>
            </a:endParaRPr>
          </a:p>
          <a:p>
            <a:pPr lvl="0" algn="l">
              <a:defRPr/>
            </a:pPr>
            <a:r>
              <a:rPr lang="pt-BR" dirty="0">
                <a:latin typeface="Segoe UI" panose="020B0502040204020203" pitchFamily="34" charset="0"/>
                <a:ea typeface="Cambria Math" panose="02040503050406030204" pitchFamily="18" charset="0"/>
                <a:cs typeface="Segoe UI" panose="020B0502040204020203" pitchFamily="34" charset="0"/>
              </a:rPr>
              <a:t>- Decompõe um objeto 3D complexo em milhares de pequenas partes gerenciáveis ​​("elementos"); - Calcula tensões estruturais, falhas e deformações.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7F40DB6-C404-19BC-9D0F-ECB805C01817}"/>
              </a:ext>
            </a:extLst>
          </p:cNvPr>
          <p:cNvSpPr txBox="1"/>
          <p:nvPr/>
        </p:nvSpPr>
        <p:spPr>
          <a:xfrm>
            <a:off x="4814543" y="4237295"/>
            <a:ext cx="1568770" cy="830997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algn="ctr"/>
            <a:r>
              <a:rPr lang="pt-BR" sz="2400" b="1" i="0" u="none" strike="noStrike" baseline="0" noProof="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" panose="020B0502040204020203" pitchFamily="34" charset="0"/>
                <a:cs typeface="Segoe UI" panose="020B0502040204020203" pitchFamily="34" charset="0"/>
              </a:rPr>
              <a:t>Peça de Suporte</a:t>
            </a:r>
            <a:endParaRPr lang="pt-BR" sz="2400" noProof="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CD7B3F9-F49D-8161-28CC-53F9CF4C1625}"/>
              </a:ext>
            </a:extLst>
          </p:cNvPr>
          <p:cNvSpPr/>
          <p:nvPr/>
        </p:nvSpPr>
        <p:spPr>
          <a:xfrm>
            <a:off x="6513187" y="1524000"/>
            <a:ext cx="5466680" cy="524945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201319E9-D6B9-8AE1-F641-877AEAD80FDB}"/>
              </a:ext>
            </a:extLst>
          </p:cNvPr>
          <p:cNvGrpSpPr>
            <a:grpSpLocks noChangeAspect="1"/>
          </p:cNvGrpSpPr>
          <p:nvPr/>
        </p:nvGrpSpPr>
        <p:grpSpPr>
          <a:xfrm>
            <a:off x="6665587" y="1609725"/>
            <a:ext cx="5249693" cy="5112462"/>
            <a:chOff x="4964461" y="288938"/>
            <a:chExt cx="6855569" cy="6676360"/>
          </a:xfrm>
        </p:grpSpPr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B1D5FCEF-AF2B-7018-FF25-444431D1822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>
            <a:xfrm>
              <a:off x="5284872" y="288938"/>
              <a:ext cx="4558587" cy="5974983"/>
            </a:xfrm>
            <a:prstGeom prst="rect">
              <a:avLst/>
            </a:prstGeom>
          </p:spPr>
        </p:pic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D40453F9-7876-B5D9-A9E4-12F46EA5BE2E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10378909" y="878366"/>
              <a:ext cx="1441121" cy="5943659"/>
              <a:chOff x="11076678" y="3429000"/>
              <a:chExt cx="822685" cy="3393024"/>
            </a:xfrm>
          </p:grpSpPr>
          <p:pic>
            <p:nvPicPr>
              <p:cNvPr id="20" name="Picture 19">
                <a:extLst>
                  <a:ext uri="{FF2B5EF4-FFF2-40B4-BE49-F238E27FC236}">
                    <a16:creationId xmlns:a16="http://schemas.microsoft.com/office/drawing/2014/main" id="{7A4CDDEC-3E2D-61DF-2E45-44983BE668E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>
              <a:xfrm>
                <a:off x="11076678" y="3429000"/>
                <a:ext cx="822685" cy="3393024"/>
              </a:xfrm>
              <a:prstGeom prst="rect">
                <a:avLst/>
              </a:prstGeom>
            </p:spPr>
          </p:pic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2348DBEB-5B21-9AB1-912B-82C28516B5B0}"/>
                  </a:ext>
                </a:extLst>
              </p:cNvPr>
              <p:cNvSpPr/>
              <p:nvPr/>
            </p:nvSpPr>
            <p:spPr>
              <a:xfrm>
                <a:off x="11582492" y="3429000"/>
                <a:ext cx="316871" cy="65185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 sz="1600"/>
              </a:p>
            </p:txBody>
          </p:sp>
        </p:grp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143AE0F8-07E5-A686-8BD7-FE8564A80116}"/>
                </a:ext>
              </a:extLst>
            </p:cNvPr>
            <p:cNvSpPr txBox="1"/>
            <p:nvPr/>
          </p:nvSpPr>
          <p:spPr>
            <a:xfrm>
              <a:off x="4964461" y="6347118"/>
              <a:ext cx="6659546" cy="618180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txBody>
            <a:bodyPr wrap="square" lIns="182880" tIns="91440" rIns="182880" bIns="91440" anchor="ctr" anchorCtr="0">
              <a:noAutofit/>
            </a:bodyPr>
            <a:lstStyle>
              <a:defPPr>
                <a:defRPr lang="LID4096"/>
              </a:defPPr>
              <a:lvl1pPr indent="0" algn="ctr">
                <a:spcAft>
                  <a:spcPts val="600"/>
                </a:spcAft>
                <a:defRPr sz="2000" b="1" i="1">
                  <a:latin typeface="Arial" panose="020B0604020202020204" pitchFamily="34" charset="0"/>
                  <a:cs typeface="Arial" panose="020B0604020202020204" pitchFamily="34" charset="0"/>
                </a:defRPr>
              </a:lvl1pPr>
              <a:lvl2pPr indent="0">
                <a:defRPr sz="1100"/>
              </a:lvl2pPr>
              <a:lvl3pPr indent="0">
                <a:defRPr sz="1100"/>
              </a:lvl3pPr>
              <a:lvl4pPr indent="0">
                <a:defRPr sz="1100"/>
              </a:lvl4pPr>
              <a:lvl5pPr indent="0">
                <a:defRPr sz="1100"/>
              </a:lvl5pPr>
              <a:lvl6pPr indent="0">
                <a:defRPr sz="1100"/>
              </a:lvl6pPr>
              <a:lvl7pPr indent="0">
                <a:defRPr sz="1100"/>
              </a:lvl7pPr>
              <a:lvl8pPr indent="0">
                <a:defRPr sz="1100"/>
              </a:lvl8pPr>
              <a:lvl9pPr indent="0">
                <a:defRPr sz="1100"/>
              </a:lvl9pPr>
            </a:lstStyle>
            <a:p>
              <a:r>
                <a:rPr lang="en-US" sz="2400" i="0" dirty="0">
                  <a:solidFill>
                    <a:srgbClr val="0000FF"/>
                  </a:solidFill>
                </a:rPr>
                <a:t>FSI –</a:t>
              </a:r>
              <a:r>
                <a:rPr lang="en-US" sz="2400" dirty="0">
                  <a:solidFill>
                    <a:srgbClr val="0000FF"/>
                  </a:solidFill>
                </a:rPr>
                <a:t> Fluid</a:t>
              </a:r>
              <a:r>
                <a:rPr lang="en-US" sz="1100" dirty="0">
                  <a:solidFill>
                    <a:srgbClr val="0000FF"/>
                  </a:solidFill>
                </a:rPr>
                <a:t> </a:t>
              </a:r>
              <a:r>
                <a:rPr lang="en-US" sz="2400" dirty="0">
                  <a:solidFill>
                    <a:srgbClr val="0000FF"/>
                  </a:solidFill>
                </a:rPr>
                <a:t>-</a:t>
              </a:r>
              <a:r>
                <a:rPr lang="en-US" sz="1100" dirty="0">
                  <a:solidFill>
                    <a:srgbClr val="0000FF"/>
                  </a:solidFill>
                </a:rPr>
                <a:t> </a:t>
              </a:r>
              <a:r>
                <a:rPr lang="en-US" sz="2400" dirty="0">
                  <a:solidFill>
                    <a:srgbClr val="0000FF"/>
                  </a:solidFill>
                </a:rPr>
                <a:t>Structure Interaction</a:t>
              </a:r>
              <a:endParaRPr lang="LID4096" sz="2800" dirty="0">
                <a:solidFill>
                  <a:srgbClr val="0000FF"/>
                </a:solidFill>
              </a:endParaRPr>
            </a:p>
          </p:txBody>
        </p:sp>
      </p:grpSp>
      <p:pic>
        <p:nvPicPr>
          <p:cNvPr id="22" name="Picture 4">
            <a:extLst>
              <a:ext uri="{FF2B5EF4-FFF2-40B4-BE49-F238E27FC236}">
                <a16:creationId xmlns:a16="http://schemas.microsoft.com/office/drawing/2014/main" id="{3187604D-67DE-972C-8C65-C7C1994884B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17889" y="2331893"/>
            <a:ext cx="1865424" cy="1561533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08072DCC-E31C-2B39-5872-F434A53FDAD9}"/>
              </a:ext>
            </a:extLst>
          </p:cNvPr>
          <p:cNvSpPr txBox="1"/>
          <p:nvPr/>
        </p:nvSpPr>
        <p:spPr>
          <a:xfrm>
            <a:off x="2726458" y="5194043"/>
            <a:ext cx="3535368" cy="1261884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>
            <a:spAutoFit/>
          </a:bodyPr>
          <a:lstStyle>
            <a:defPPr>
              <a:defRPr lang="LID4096"/>
            </a:defPPr>
            <a:lvl1pPr algn="ctr">
              <a:defRPr b="1">
                <a:latin typeface="Calibri" panose="020F0502020204030204" pitchFamily="34" charset="0"/>
                <a:cs typeface="Times New Roman" panose="02020603050405020304" pitchFamily="18" charset="0"/>
              </a:defRPr>
            </a:lvl1pPr>
          </a:lstStyle>
          <a:p>
            <a:pPr lvl="0" algn="r">
              <a:defRPr/>
            </a:pPr>
            <a:r>
              <a:rPr lang="pt-BR" sz="2800" noProof="0" dirty="0">
                <a:solidFill>
                  <a:srgbClr val="0000FF"/>
                </a:solidFill>
                <a:latin typeface="Segoe UI" panose="020B0502040204020203" pitchFamily="34" charset="0"/>
                <a:ea typeface="Cambria Math" panose="02040503050406030204" pitchFamily="18" charset="0"/>
                <a:cs typeface="Segoe UI" panose="020B0502040204020203" pitchFamily="34" charset="0"/>
              </a:rPr>
              <a:t>CFD  </a:t>
            </a:r>
          </a:p>
          <a:p>
            <a:pPr lvl="0" algn="r">
              <a:defRPr/>
            </a:pPr>
            <a:r>
              <a:rPr lang="pt-BR" sz="2400" noProof="0" dirty="0">
                <a:solidFill>
                  <a:srgbClr val="0000FF"/>
                </a:solidFill>
                <a:latin typeface="Segoe UI" panose="020B0502040204020203" pitchFamily="34" charset="0"/>
                <a:ea typeface="Cambria Math" panose="02040503050406030204" pitchFamily="18" charset="0"/>
                <a:cs typeface="Segoe UI" panose="020B0502040204020203" pitchFamily="34" charset="0"/>
              </a:rPr>
              <a:t>- Fluidodinâmica Computacional</a:t>
            </a:r>
            <a:endParaRPr lang="pt-BR" sz="2400" dirty="0">
              <a:solidFill>
                <a:srgbClr val="0000FF"/>
              </a:solidFill>
              <a:latin typeface="Segoe UI" panose="020B0502040204020203" pitchFamily="34" charset="0"/>
              <a:ea typeface="Cambria Math" panose="02040503050406030204" pitchFamily="18" charset="0"/>
              <a:cs typeface="Segoe UI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F59D2E8-8EE9-1D79-6CA1-CB86AE4CE007}"/>
              </a:ext>
            </a:extLst>
          </p:cNvPr>
          <p:cNvSpPr txBox="1"/>
          <p:nvPr/>
        </p:nvSpPr>
        <p:spPr>
          <a:xfrm>
            <a:off x="92649" y="1650270"/>
            <a:ext cx="4043382" cy="3847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pt-BR" sz="1900" noProof="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  <a:r>
              <a:rPr lang="pt-BR" sz="1900" b="1" noProof="0" dirty="0"/>
              <a:t> </a:t>
            </a:r>
            <a:r>
              <a:rPr lang="pt-BR" sz="1900" b="1" noProof="0" dirty="0">
                <a:solidFill>
                  <a:srgbClr val="0000FF"/>
                </a:solidFill>
              </a:rPr>
              <a:t>Stress, Deformação, Vibração, Fadiga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75AACB8-6577-8ADD-6ECA-ACC088CBEB3F}"/>
              </a:ext>
            </a:extLst>
          </p:cNvPr>
          <p:cNvSpPr txBox="1"/>
          <p:nvPr/>
        </p:nvSpPr>
        <p:spPr>
          <a:xfrm>
            <a:off x="264386" y="1962561"/>
            <a:ext cx="416126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b="1" noProof="0" dirty="0">
                <a:solidFill>
                  <a:srgbClr val="FF0000"/>
                </a:solidFill>
              </a:rPr>
              <a:t>Análise Estrutural 	</a:t>
            </a:r>
            <a:endParaRPr lang="pt-BR" sz="1400" b="1" i="1" noProof="0" dirty="0">
              <a:solidFill>
                <a:srgbClr val="FF000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75B1CBB-EEA5-8A49-7ABE-340A99B5BA07}"/>
              </a:ext>
            </a:extLst>
          </p:cNvPr>
          <p:cNvSpPr txBox="1"/>
          <p:nvPr/>
        </p:nvSpPr>
        <p:spPr>
          <a:xfrm>
            <a:off x="562643" y="5260688"/>
            <a:ext cx="2911803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2400" b="1" noProof="0" dirty="0">
                <a:solidFill>
                  <a:srgbClr val="0000FF"/>
                </a:solidFill>
              </a:rPr>
              <a:t>Fluxo, pressão, </a:t>
            </a:r>
            <a:r>
              <a:rPr lang="pt-BR" sz="2400" b="1" noProof="0" dirty="0">
                <a:solidFill>
                  <a:srgbClr val="FF0000"/>
                </a:solidFill>
              </a:rPr>
              <a:t>temperatura, momento, energia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53495001-3623-55B3-48B9-EB838E208526}"/>
              </a:ext>
            </a:extLst>
          </p:cNvPr>
          <p:cNvSpPr/>
          <p:nvPr/>
        </p:nvSpPr>
        <p:spPr>
          <a:xfrm>
            <a:off x="6958150" y="317105"/>
            <a:ext cx="4667794" cy="634862"/>
          </a:xfrm>
          <a:prstGeom prst="roundRect">
            <a:avLst/>
          </a:prstGeom>
          <a:noFill/>
        </p:spPr>
        <p:txBody>
          <a:bodyPr wrap="square" lIns="0" tIns="0" rIns="0" bIns="0" anchor="t" anchorCtr="0">
            <a:noAutofit/>
          </a:bodyPr>
          <a:lstStyle/>
          <a:p>
            <a:pPr algn="r"/>
            <a:r>
              <a:rPr lang="pt-BR" sz="3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Como modelar?</a:t>
            </a:r>
            <a:endParaRPr lang="pt-BR" sz="3200" noProof="0" dirty="0">
              <a:solidFill>
                <a:srgbClr val="FF0000"/>
              </a:solidFill>
              <a:latin typeface="Times New Roman" panose="02020603050405020304" pitchFamily="18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9A35248-ED5C-2F1C-D049-43AF15EF8757}"/>
              </a:ext>
            </a:extLst>
          </p:cNvPr>
          <p:cNvSpPr txBox="1"/>
          <p:nvPr/>
        </p:nvSpPr>
        <p:spPr>
          <a:xfrm>
            <a:off x="1" y="6611815"/>
            <a:ext cx="666631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LID4096"/>
            </a:defPPr>
            <a:lvl1pPr algn="r">
              <a:defRPr sz="1200" b="1">
                <a:solidFill>
                  <a:schemeClr val="accent2"/>
                </a:solidFill>
              </a:defRPr>
            </a:lvl1pPr>
          </a:lstStyle>
          <a:p>
            <a:pPr algn="l"/>
            <a:r>
              <a:rPr lang="LID4096" sz="1000" dirty="0"/>
              <a:t>Hybridization of generative design and TPMS lattices: A statistical approach for lightweight aeronautical components</a:t>
            </a:r>
          </a:p>
        </p:txBody>
      </p:sp>
    </p:spTree>
    <p:extLst>
      <p:ext uri="{BB962C8B-B14F-4D97-AF65-F5344CB8AC3E}">
        <p14:creationId xmlns:p14="http://schemas.microsoft.com/office/powerpoint/2010/main" val="381732989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470ECFE3-2D41-9A4D-2CA6-79E475C15769}"/>
              </a:ext>
            </a:extLst>
          </p:cNvPr>
          <p:cNvSpPr/>
          <p:nvPr/>
        </p:nvSpPr>
        <p:spPr>
          <a:xfrm>
            <a:off x="0" y="1"/>
            <a:ext cx="12192000" cy="68580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CA5D1E5-5971-C9EF-56F5-6D0A4BEE46C2}"/>
              </a:ext>
            </a:extLst>
          </p:cNvPr>
          <p:cNvSpPr txBox="1"/>
          <p:nvPr/>
        </p:nvSpPr>
        <p:spPr>
          <a:xfrm>
            <a:off x="375220" y="903985"/>
            <a:ext cx="3289422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1800" b="1" noProof="0" dirty="0">
                <a:solidFill>
                  <a:srgbClr val="0000FF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FEM | Finite Element Method</a:t>
            </a:r>
            <a:br>
              <a:rPr lang="pt-BR" sz="1800" b="1" noProof="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</a:br>
            <a:r>
              <a:rPr lang="pt-BR" sz="1800" b="1" noProof="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Material contínuo – stress e deformação</a:t>
            </a:r>
            <a:endParaRPr lang="pt-BR" b="1" noProof="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B6BA448-BEA9-CB97-9C7B-3E7B90052A24}"/>
              </a:ext>
            </a:extLst>
          </p:cNvPr>
          <p:cNvSpPr txBox="1"/>
          <p:nvPr/>
        </p:nvSpPr>
        <p:spPr>
          <a:xfrm>
            <a:off x="3927287" y="903985"/>
            <a:ext cx="3375300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1800" b="1" noProof="0" dirty="0">
                <a:solidFill>
                  <a:srgbClr val="0000FF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DEM | Discrete Element Method</a:t>
            </a:r>
            <a:br>
              <a:rPr lang="pt-BR" sz="1800" b="1" noProof="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</a:br>
            <a:r>
              <a:rPr lang="pt-BR" sz="2400" b="1" noProof="0" dirty="0">
                <a:solidFill>
                  <a:srgbClr val="FF000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Interação de partículas</a:t>
            </a:r>
          </a:p>
          <a:p>
            <a:pPr algn="ctr"/>
            <a:r>
              <a:rPr lang="pt-BR" sz="1800" b="1" noProof="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Escorregamento, aberturas</a:t>
            </a:r>
            <a:endParaRPr lang="pt-BR" b="1" noProof="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43C8C27-44E0-0546-F931-E45EBA93BD19}"/>
              </a:ext>
            </a:extLst>
          </p:cNvPr>
          <p:cNvSpPr txBox="1"/>
          <p:nvPr/>
        </p:nvSpPr>
        <p:spPr>
          <a:xfrm>
            <a:off x="7271818" y="912694"/>
            <a:ext cx="4513109" cy="1046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1800" b="1" noProof="0" dirty="0">
                <a:solidFill>
                  <a:srgbClr val="0000FF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FDEM | Finite-Discrete Element Method</a:t>
            </a:r>
            <a:br>
              <a:rPr lang="pt-BR" sz="1800" b="1" noProof="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</a:br>
            <a:r>
              <a:rPr lang="pt-BR" sz="2400" b="1" noProof="0" dirty="0">
                <a:solidFill>
                  <a:srgbClr val="FF000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Combinação: </a:t>
            </a:r>
            <a:r>
              <a:rPr lang="pt-BR" sz="2000" b="1" noProof="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deformação </a:t>
            </a:r>
          </a:p>
          <a:p>
            <a:pPr algn="ctr"/>
            <a:r>
              <a:rPr lang="pt-BR" sz="2000" b="1" noProof="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+ interação de blocos = fraturas</a:t>
            </a:r>
            <a:endParaRPr lang="pt-BR" sz="2000" b="1" noProof="0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8F1ADC83-C321-1E01-AEA0-82953A101F7A}"/>
              </a:ext>
            </a:extLst>
          </p:cNvPr>
          <p:cNvSpPr/>
          <p:nvPr/>
        </p:nvSpPr>
        <p:spPr>
          <a:xfrm>
            <a:off x="6958150" y="317105"/>
            <a:ext cx="4667794" cy="634862"/>
          </a:xfrm>
          <a:prstGeom prst="roundRect">
            <a:avLst/>
          </a:prstGeom>
          <a:noFill/>
        </p:spPr>
        <p:txBody>
          <a:bodyPr wrap="square" lIns="0" tIns="0" rIns="0" bIns="0" anchor="t" anchorCtr="0">
            <a:noAutofit/>
          </a:bodyPr>
          <a:lstStyle/>
          <a:p>
            <a:pPr algn="r"/>
            <a:r>
              <a:rPr lang="pt-BR" sz="3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Como modelar?</a:t>
            </a:r>
            <a:endParaRPr lang="pt-BR" sz="3200" noProof="0" dirty="0">
              <a:solidFill>
                <a:srgbClr val="FF0000"/>
              </a:solidFill>
              <a:latin typeface="Times New Roman" panose="02020603050405020304" pitchFamily="18" charset="0"/>
            </a:endParaRP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6A7C8487-1AFC-2168-812A-03A580DB6F7F}"/>
              </a:ext>
            </a:extLst>
          </p:cNvPr>
          <p:cNvGrpSpPr>
            <a:grpSpLocks noChangeAspect="1"/>
          </p:cNvGrpSpPr>
          <p:nvPr/>
        </p:nvGrpSpPr>
        <p:grpSpPr>
          <a:xfrm>
            <a:off x="1247775" y="1998370"/>
            <a:ext cx="9143746" cy="2391566"/>
            <a:chOff x="779140" y="1831005"/>
            <a:chExt cx="9926706" cy="2970242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grpSpPr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C75D0D32-EAAA-3652-EBC3-78978633F3F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0181" t="16117" b="48462"/>
            <a:stretch>
              <a:fillRect/>
            </a:stretch>
          </p:blipFill>
          <p:spPr>
            <a:xfrm>
              <a:off x="8369951" y="1831005"/>
              <a:ext cx="2335895" cy="2960691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45C040F1-2E46-8BAC-ABB0-2B5C1C32C8E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5775" t="16117" r="33465" b="48462"/>
            <a:stretch>
              <a:fillRect/>
            </a:stretch>
          </p:blipFill>
          <p:spPr>
            <a:xfrm>
              <a:off x="4410092" y="1840555"/>
              <a:ext cx="2409690" cy="2960690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1092686D-5195-F561-F218-0FCD3B83C44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257" t="16117" r="67064" b="48462"/>
            <a:stretch>
              <a:fillRect/>
            </a:stretch>
          </p:blipFill>
          <p:spPr>
            <a:xfrm>
              <a:off x="779140" y="1840556"/>
              <a:ext cx="2481582" cy="2960691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D1BF80DB-5FB3-F14F-9A5F-2C1AD5896DD2}"/>
              </a:ext>
            </a:extLst>
          </p:cNvPr>
          <p:cNvGrpSpPr/>
          <p:nvPr/>
        </p:nvGrpSpPr>
        <p:grpSpPr>
          <a:xfrm>
            <a:off x="602306" y="4668171"/>
            <a:ext cx="3033610" cy="1858606"/>
            <a:chOff x="481116" y="4743855"/>
            <a:chExt cx="3033610" cy="1858606"/>
          </a:xfrm>
        </p:grpSpPr>
        <p:sp>
          <p:nvSpPr>
            <p:cNvPr id="24" name="Object 4">
              <a:extLst>
                <a:ext uri="{63B3BB69-23CF-44E3-9099-C40C66FF867C}">
                  <a14:compatExt xmlns:a14="http://schemas.microsoft.com/office/drawing/2010/main" spid="_x0000_s1028"/>
                </a:ext>
                <a:ext uri="{FF2B5EF4-FFF2-40B4-BE49-F238E27FC236}">
                  <a16:creationId xmlns:a16="http://schemas.microsoft.com/office/drawing/2014/main" id="{2386D903-222E-8DAB-32FC-FECE345707C8}"/>
                </a:ext>
              </a:extLst>
            </p:cNvPr>
            <p:cNvSpPr txBox="1"/>
            <p:nvPr/>
          </p:nvSpPr>
          <p:spPr>
            <a:xfrm>
              <a:off x="481116" y="4743855"/>
              <a:ext cx="3033610" cy="1858606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3175">
              <a:noFill/>
            </a:ln>
            <a:effectLst>
              <a:outerShdw blurRad="50800" dist="38100" dir="8100000" sx="101000" sy="101000" algn="tr" rotWithShape="0">
                <a:prstClr val="black">
                  <a:alpha val="40000"/>
                </a:prstClr>
              </a:outerShdw>
            </a:effectLst>
          </p:spPr>
          <p:txBody>
            <a:bodyPr wrap="none" lIns="182880" tIns="137160" rIns="182880" bIns="91440" anchor="t" anchorCtr="0">
              <a:noAutofit/>
            </a:bodyPr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GB" sz="2400" b="1" u="sng" dirty="0">
                  <a:solidFill>
                    <a:srgbClr val="0000FF"/>
                  </a:solidFill>
                  <a:latin typeface="Calibri (Body)"/>
                </a:rPr>
                <a:t>Finite-difference</a:t>
              </a:r>
            </a:p>
            <a:p>
              <a:r>
                <a:rPr lang="en-GB" sz="2400" b="1" dirty="0">
                  <a:solidFill>
                    <a:srgbClr val="0000FF"/>
                  </a:solidFill>
                  <a:latin typeface="Calibri (Body)"/>
                </a:rPr>
                <a:t>  </a:t>
              </a:r>
              <a:r>
                <a:rPr lang="en-GB" sz="2800" b="1" dirty="0">
                  <a:solidFill>
                    <a:srgbClr val="0000FF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libri (Body)"/>
                </a:rPr>
                <a:t>MODFLOW</a:t>
              </a:r>
            </a:p>
            <a:p>
              <a:endParaRPr lang="en-GB" sz="100" b="1" dirty="0">
                <a:solidFill>
                  <a:srgbClr val="0000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 (Body)"/>
              </a:endParaRPr>
            </a:p>
            <a:p>
              <a:r>
                <a:rPr lang="en-GB" sz="2400" b="1" u="sng" dirty="0">
                  <a:solidFill>
                    <a:srgbClr val="FF0000"/>
                  </a:solidFill>
                  <a:latin typeface="Calibri (Body)"/>
                </a:rPr>
                <a:t>Finite-volume</a:t>
              </a:r>
            </a:p>
            <a:p>
              <a:r>
                <a:rPr lang="en-US" sz="2400" dirty="0">
                  <a:solidFill>
                    <a:srgbClr val="FF0000"/>
                  </a:solidFill>
                  <a:latin typeface="Calibri (Body)"/>
                </a:rPr>
                <a:t>   </a:t>
              </a:r>
              <a:r>
                <a:rPr lang="en-US" sz="2400" b="1" dirty="0">
                  <a:solidFill>
                    <a:srgbClr val="FF00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libri (Body)"/>
                </a:rPr>
                <a:t>OpenFOAM, </a:t>
              </a:r>
              <a:r>
                <a:rPr lang="pt-BR" sz="2400" b="1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libri (Body)"/>
                </a:rPr>
                <a:t>Fi</a:t>
              </a:r>
              <a:r>
                <a:rPr lang="pt-BR" sz="2400" b="1" dirty="0">
                  <a:solidFill>
                    <a:srgbClr val="FF00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libri (Body)"/>
                </a:rPr>
                <a:t>Py</a:t>
              </a:r>
            </a:p>
          </p:txBody>
        </p:sp>
        <p:sp>
          <p:nvSpPr>
            <p:cNvPr id="2" name="Object 4">
              <a:extLst>
                <a:ext uri="{63B3BB69-23CF-44E3-9099-C40C66FF867C}">
                  <a14:compatExt xmlns:a14="http://schemas.microsoft.com/office/drawing/2010/main" spid="_x0000_s1028"/>
                </a:ext>
                <a:ext uri="{FF2B5EF4-FFF2-40B4-BE49-F238E27FC236}">
                  <a16:creationId xmlns:a16="http://schemas.microsoft.com/office/drawing/2014/main" id="{F88326D3-A093-B7BE-2E82-E620740886C1}"/>
                </a:ext>
              </a:extLst>
            </p:cNvPr>
            <p:cNvSpPr txBox="1"/>
            <p:nvPr/>
          </p:nvSpPr>
          <p:spPr>
            <a:xfrm>
              <a:off x="2846730" y="4822577"/>
              <a:ext cx="533164" cy="347472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3175">
              <a:noFill/>
            </a:ln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txBody>
            <a:bodyPr wrap="none" lIns="0" tIns="0" rIns="0" bIns="0" anchor="ctr" anchorCtr="0">
              <a:noAutofit/>
            </a:bodyPr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spcAft>
                  <a:spcPts val="600"/>
                </a:spcAft>
              </a:pPr>
              <a:r>
                <a:rPr lang="pt-BR" sz="2000" b="1" dirty="0">
                  <a:solidFill>
                    <a:srgbClr val="0000FF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libri (Body)"/>
                </a:rPr>
                <a:t>FDM</a:t>
              </a:r>
              <a:endParaRPr lang="en-GB" sz="2000" b="1" dirty="0">
                <a:solidFill>
                  <a:srgbClr val="0000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 Math" panose="02040503050406030204" pitchFamily="18" charset="0"/>
                <a:ea typeface="Cambria Math" panose="02040503050406030204" pitchFamily="18" charset="0"/>
              </a:endParaRPr>
            </a:p>
          </p:txBody>
        </p:sp>
        <p:sp>
          <p:nvSpPr>
            <p:cNvPr id="4" name="Object 4">
              <a:extLst>
                <a:ext uri="{63B3BB69-23CF-44E3-9099-C40C66FF867C}">
                  <a14:compatExt xmlns:a14="http://schemas.microsoft.com/office/drawing/2010/main" spid="_x0000_s1028"/>
                </a:ext>
                <a:ext uri="{FF2B5EF4-FFF2-40B4-BE49-F238E27FC236}">
                  <a16:creationId xmlns:a16="http://schemas.microsoft.com/office/drawing/2014/main" id="{DCE87608-81A5-9AD5-9DFE-0B3859404E17}"/>
                </a:ext>
              </a:extLst>
            </p:cNvPr>
            <p:cNvSpPr txBox="1"/>
            <p:nvPr/>
          </p:nvSpPr>
          <p:spPr>
            <a:xfrm>
              <a:off x="2846730" y="5712519"/>
              <a:ext cx="533164" cy="347472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3175">
              <a:noFill/>
            </a:ln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txBody>
            <a:bodyPr wrap="none" lIns="0" tIns="0" rIns="0" bIns="0" anchor="ctr" anchorCtr="0">
              <a:noAutofit/>
            </a:bodyPr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spcAft>
                  <a:spcPts val="600"/>
                </a:spcAft>
              </a:pPr>
              <a:r>
                <a:rPr lang="pt-BR" sz="2000" b="1" dirty="0">
                  <a:solidFill>
                    <a:srgbClr val="FF00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libri (Body)"/>
                </a:rPr>
                <a:t>FVM</a:t>
              </a:r>
              <a:endParaRPr lang="en-GB" sz="20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 Math" panose="02040503050406030204" pitchFamily="18" charset="0"/>
                <a:ea typeface="Cambria Math" panose="02040503050406030204" pitchFamily="18" charset="0"/>
              </a:endParaRPr>
            </a:p>
          </p:txBody>
        </p:sp>
      </p:grpSp>
      <p:pic>
        <p:nvPicPr>
          <p:cNvPr id="7" name="Picture 2" descr="Coupling of FEM and DEM simulations to consider dynamic deformations under  particle load | Granular Matter | Springer Nature Link">
            <a:extLst>
              <a:ext uri="{FF2B5EF4-FFF2-40B4-BE49-F238E27FC236}">
                <a16:creationId xmlns:a16="http://schemas.microsoft.com/office/drawing/2014/main" id="{BBAD27A5-9D7B-6DED-DBD5-72193CC6392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8168"/>
          <a:stretch>
            <a:fillRect/>
          </a:stretch>
        </p:blipFill>
        <p:spPr bwMode="auto">
          <a:xfrm>
            <a:off x="4600321" y="4516288"/>
            <a:ext cx="5791200" cy="2162373"/>
          </a:xfrm>
          <a:prstGeom prst="rect">
            <a:avLst/>
          </a:prstGeom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6480735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55224F62-85DE-5919-A7A4-4EC5D1F01FE7}"/>
              </a:ext>
            </a:extLst>
          </p:cNvPr>
          <p:cNvSpPr/>
          <p:nvPr/>
        </p:nvSpPr>
        <p:spPr>
          <a:xfrm>
            <a:off x="0" y="1"/>
            <a:ext cx="12192000" cy="68580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C7E4FBC-3E05-436A-43A3-0267366B00A8}"/>
              </a:ext>
            </a:extLst>
          </p:cNvPr>
          <p:cNvSpPr txBox="1"/>
          <p:nvPr/>
        </p:nvSpPr>
        <p:spPr>
          <a:xfrm>
            <a:off x="-1" y="6491538"/>
            <a:ext cx="93630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LID4096"/>
            </a:defPPr>
            <a:lvl1pPr>
              <a:defRPr sz="1000" b="1" i="0" u="none" strike="noStrike" baseline="0">
                <a:solidFill>
                  <a:schemeClr val="accent2"/>
                </a:solidFill>
                <a:latin typeface="AdvOTa2fa4214.B"/>
              </a:defRPr>
            </a:lvl1pPr>
          </a:lstStyle>
          <a:p>
            <a:r>
              <a:rPr lang="en-GB" sz="1600" dirty="0"/>
              <a:t>  Modelling and simulation of metal additive manufacturing processes </a:t>
            </a:r>
            <a:r>
              <a:rPr lang="en-GB" sz="1800" u="sng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with particle methods</a:t>
            </a:r>
            <a:r>
              <a:rPr lang="en-GB" sz="1600" u="sng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.</a:t>
            </a:r>
            <a:endParaRPr lang="LID4096" sz="1600" dirty="0"/>
          </a:p>
        </p:txBody>
      </p:sp>
      <p:grpSp>
        <p:nvGrpSpPr>
          <p:cNvPr id="44" name="Group 43">
            <a:extLst>
              <a:ext uri="{FF2B5EF4-FFF2-40B4-BE49-F238E27FC236}">
                <a16:creationId xmlns:a16="http://schemas.microsoft.com/office/drawing/2014/main" id="{914472BB-24B5-FFD0-70FD-00E7E49A772B}"/>
              </a:ext>
            </a:extLst>
          </p:cNvPr>
          <p:cNvGrpSpPr/>
          <p:nvPr/>
        </p:nvGrpSpPr>
        <p:grpSpPr>
          <a:xfrm>
            <a:off x="7267080" y="3488585"/>
            <a:ext cx="4777212" cy="1118298"/>
            <a:chOff x="7276605" y="3717185"/>
            <a:chExt cx="4777212" cy="1118298"/>
          </a:xfrm>
        </p:grpSpPr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F3FBDAC9-8C53-45F9-5A4A-32D1EEBC4BCA}"/>
                </a:ext>
              </a:extLst>
            </p:cNvPr>
            <p:cNvSpPr/>
            <p:nvPr/>
          </p:nvSpPr>
          <p:spPr>
            <a:xfrm>
              <a:off x="7276605" y="3738145"/>
              <a:ext cx="4777212" cy="1097338"/>
            </a:xfrm>
            <a:prstGeom prst="rect">
              <a:avLst/>
            </a:prstGeom>
            <a:solidFill>
              <a:srgbClr val="E5FFF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F3B4C5E1-8721-4AAF-60A1-3B843C65F5A1}"/>
                </a:ext>
              </a:extLst>
            </p:cNvPr>
            <p:cNvGrpSpPr/>
            <p:nvPr/>
          </p:nvGrpSpPr>
          <p:grpSpPr>
            <a:xfrm>
              <a:off x="7383388" y="3717185"/>
              <a:ext cx="4584703" cy="1087315"/>
              <a:chOff x="7312398" y="3950366"/>
              <a:chExt cx="4584703" cy="1087315"/>
            </a:xfrm>
          </p:grpSpPr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8735A3EF-D08A-12CC-3C13-206EE46C92C4}"/>
                  </a:ext>
                </a:extLst>
              </p:cNvPr>
              <p:cNvSpPr txBox="1"/>
              <p:nvPr/>
            </p:nvSpPr>
            <p:spPr>
              <a:xfrm>
                <a:off x="7459308" y="3950366"/>
                <a:ext cx="2531415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LID4096" sz="3200" b="1" u="sng" dirty="0"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</a:rPr>
                  <a:t>ML</a:t>
                </a:r>
                <a:r>
                  <a:rPr lang="LID4096" sz="2800" b="1" u="sng" dirty="0"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</a:rPr>
                  <a:t> algorithms</a:t>
                </a:r>
              </a:p>
            </p:txBody>
          </p:sp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8213B0C6-69EB-AA10-8CF9-B16BCBEFDD77}"/>
                  </a:ext>
                </a:extLst>
              </p:cNvPr>
              <p:cNvSpPr txBox="1"/>
              <p:nvPr/>
            </p:nvSpPr>
            <p:spPr>
              <a:xfrm>
                <a:off x="7312398" y="4576016"/>
                <a:ext cx="4584703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LID4096" sz="2400" b="1" dirty="0"/>
                  <a:t>physics-based </a:t>
                </a:r>
                <a:r>
                  <a:rPr lang="pt-BR" sz="2400" b="1" dirty="0">
                    <a:solidFill>
                      <a:srgbClr val="FFFF00"/>
                    </a:solidFill>
                    <a:highlight>
                      <a:srgbClr val="FFFF00"/>
                    </a:highlight>
                  </a:rPr>
                  <a:t>. </a:t>
                </a:r>
                <a:r>
                  <a:rPr lang="LID4096" sz="2400" b="1" dirty="0">
                    <a:highlight>
                      <a:srgbClr val="FFFF00"/>
                    </a:highlight>
                  </a:rPr>
                  <a:t>surrogate </a:t>
                </a:r>
                <a:r>
                  <a:rPr lang="pt-BR" sz="2400" b="1" dirty="0">
                    <a:highlight>
                      <a:srgbClr val="FFFF00"/>
                    </a:highlight>
                  </a:rPr>
                  <a:t>models</a:t>
                </a:r>
                <a:r>
                  <a:rPr lang="pt-BR" sz="2400" b="1" dirty="0">
                    <a:solidFill>
                      <a:srgbClr val="FFFF00"/>
                    </a:solidFill>
                    <a:highlight>
                      <a:srgbClr val="FFFF00"/>
                    </a:highlight>
                  </a:rPr>
                  <a:t>.</a:t>
                </a:r>
                <a:endParaRPr lang="LID4096" sz="2400" b="1" dirty="0">
                  <a:highlight>
                    <a:srgbClr val="FFFF00"/>
                  </a:highlight>
                </a:endParaRPr>
              </a:p>
            </p:txBody>
          </p:sp>
        </p:grp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625D0F46-1BE3-348C-2B9F-5D969114A4EB}"/>
              </a:ext>
            </a:extLst>
          </p:cNvPr>
          <p:cNvGrpSpPr/>
          <p:nvPr/>
        </p:nvGrpSpPr>
        <p:grpSpPr>
          <a:xfrm>
            <a:off x="291509" y="1378598"/>
            <a:ext cx="11762308" cy="3226958"/>
            <a:chOff x="291509" y="1386415"/>
            <a:chExt cx="11762308" cy="3226958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42BA07D8-C7C9-80CC-0A01-BE98DDA9DEB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t="24576" r="43519"/>
            <a:stretch>
              <a:fillRect/>
            </a:stretch>
          </p:blipFill>
          <p:spPr>
            <a:xfrm>
              <a:off x="291509" y="1386415"/>
              <a:ext cx="6730766" cy="3226958"/>
            </a:xfrm>
            <a:prstGeom prst="rect">
              <a:avLst/>
            </a:prstGeom>
          </p:spPr>
        </p:pic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68F8D699-4DF7-7CFB-7149-7E681B67440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60405" t="24662" b="28137"/>
            <a:stretch>
              <a:fillRect/>
            </a:stretch>
          </p:blipFill>
          <p:spPr>
            <a:xfrm>
              <a:off x="7276605" y="1403275"/>
              <a:ext cx="4777212" cy="2044568"/>
            </a:xfrm>
            <a:prstGeom prst="rect">
              <a:avLst/>
            </a:prstGeom>
          </p:spPr>
        </p:pic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068293B0-7326-CC9E-F851-418B49E9161C}"/>
                </a:ext>
              </a:extLst>
            </p:cNvPr>
            <p:cNvSpPr txBox="1"/>
            <p:nvPr/>
          </p:nvSpPr>
          <p:spPr>
            <a:xfrm>
              <a:off x="5697447" y="3556749"/>
              <a:ext cx="775116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b="1" dirty="0">
                  <a:solidFill>
                    <a:srgbClr val="0000FF"/>
                  </a:solidFill>
                  <a:latin typeface="Horley Old Style MT"/>
                </a:rPr>
                <a:t>PFEM</a:t>
              </a:r>
              <a:endParaRPr lang="LID4096" b="1" dirty="0">
                <a:solidFill>
                  <a:srgbClr val="0000FF"/>
                </a:solidFill>
                <a:latin typeface="Horley Old Style MT"/>
              </a:endParaRP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0E334FD4-B42D-E93C-250F-A58DC83CFC26}"/>
                </a:ext>
              </a:extLst>
            </p:cNvPr>
            <p:cNvSpPr txBox="1"/>
            <p:nvPr/>
          </p:nvSpPr>
          <p:spPr>
            <a:xfrm>
              <a:off x="403897" y="1394652"/>
              <a:ext cx="236850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LID4096" b="1" dirty="0">
                  <a:solidFill>
                    <a:srgbClr val="FF0000"/>
                  </a:solidFill>
                </a:rPr>
                <a:t>Massive parallelisation</a:t>
              </a:r>
            </a:p>
          </p:txBody>
        </p:sp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A1C09256-4C1E-62D9-E0A7-A0C3AC614B27}"/>
                </a:ext>
              </a:extLst>
            </p:cNvPr>
            <p:cNvSpPr/>
            <p:nvPr/>
          </p:nvSpPr>
          <p:spPr>
            <a:xfrm>
              <a:off x="407405" y="1852989"/>
              <a:ext cx="2034833" cy="289713"/>
            </a:xfrm>
            <a:prstGeom prst="roundRect">
              <a:avLst/>
            </a:prstGeom>
            <a:solidFill>
              <a:schemeClr val="bg1"/>
            </a:solidFill>
          </p:spPr>
          <p:txBody>
            <a:bodyPr wrap="square" lIns="0" tIns="0" rIns="0" bIns="0" anchor="ctr" anchorCtr="0">
              <a:noAutofit/>
            </a:bodyPr>
            <a:lstStyle/>
            <a:p>
              <a:pPr algn="ctr"/>
              <a:r>
                <a:rPr lang="pt-BR" sz="2000" b="1" dirty="0">
                  <a:solidFill>
                    <a:srgbClr val="FF00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Horley Old Style MT"/>
                </a:rPr>
                <a:t>Particle based</a:t>
              </a:r>
              <a:endParaRPr lang="LID4096" sz="2000" b="1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Horley Old Style MT"/>
              </a:endParaRPr>
            </a:p>
          </p:txBody>
        </p:sp>
      </p:grp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DCE38427-47BD-60F9-EFE1-816AAC792B33}"/>
              </a:ext>
            </a:extLst>
          </p:cNvPr>
          <p:cNvSpPr/>
          <p:nvPr/>
        </p:nvSpPr>
        <p:spPr>
          <a:xfrm>
            <a:off x="6958150" y="317105"/>
            <a:ext cx="4667794" cy="634862"/>
          </a:xfrm>
          <a:prstGeom prst="roundRect">
            <a:avLst/>
          </a:prstGeom>
          <a:noFill/>
        </p:spPr>
        <p:txBody>
          <a:bodyPr wrap="square" lIns="0" tIns="0" rIns="0" bIns="0" anchor="t" anchorCtr="0">
            <a:noAutofit/>
          </a:bodyPr>
          <a:lstStyle/>
          <a:p>
            <a:pPr algn="r"/>
            <a:r>
              <a:rPr lang="pt-BR" sz="3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Como modelar?</a:t>
            </a:r>
            <a:endParaRPr lang="pt-BR" sz="3200" noProof="0" dirty="0">
              <a:solidFill>
                <a:srgbClr val="FF0000"/>
              </a:solidFill>
              <a:latin typeface="Times New Roman" panose="02020603050405020304" pitchFamily="18" charset="0"/>
            </a:endParaRPr>
          </a:p>
        </p:txBody>
      </p:sp>
      <p:sp>
        <p:nvSpPr>
          <p:cNvPr id="22" name="Isosceles Triangle 21">
            <a:extLst>
              <a:ext uri="{FF2B5EF4-FFF2-40B4-BE49-F238E27FC236}">
                <a16:creationId xmlns:a16="http://schemas.microsoft.com/office/drawing/2014/main" id="{A2E1C13F-BF03-2A7B-DB0D-D1A9AD5EDE8B}"/>
              </a:ext>
            </a:extLst>
          </p:cNvPr>
          <p:cNvSpPr/>
          <p:nvPr/>
        </p:nvSpPr>
        <p:spPr>
          <a:xfrm>
            <a:off x="4586200" y="2100204"/>
            <a:ext cx="501157" cy="365760"/>
          </a:xfrm>
          <a:prstGeom prst="triangle">
            <a:avLst>
              <a:gd name="adj" fmla="val 48501"/>
            </a:avLst>
          </a:prstGeom>
          <a:solidFill>
            <a:srgbClr val="0000FF"/>
          </a:solidFill>
          <a:ln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91440" rtlCol="0" anchor="ctr"/>
          <a:lstStyle/>
          <a:p>
            <a:pPr algn="ctr"/>
            <a:r>
              <a:rPr lang="pt-B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1</a:t>
            </a:r>
            <a:endParaRPr lang="LID4096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B4A3FA29-3C4D-906A-3C33-FB0E63523A03}"/>
              </a:ext>
            </a:extLst>
          </p:cNvPr>
          <p:cNvSpPr/>
          <p:nvPr/>
        </p:nvSpPr>
        <p:spPr>
          <a:xfrm>
            <a:off x="2557757" y="1836822"/>
            <a:ext cx="2034833" cy="289713"/>
          </a:xfrm>
          <a:prstGeom prst="roundRect">
            <a:avLst/>
          </a:prstGeom>
          <a:solidFill>
            <a:schemeClr val="bg1"/>
          </a:solidFill>
        </p:spPr>
        <p:txBody>
          <a:bodyPr wrap="square" lIns="0" tIns="0" rIns="0" bIns="0" anchor="ctr" anchorCtr="0">
            <a:noAutofit/>
          </a:bodyPr>
          <a:lstStyle/>
          <a:p>
            <a:pPr algn="ctr"/>
            <a:r>
              <a:rPr lang="pt-BR" sz="2000" b="1" dirty="0">
                <a:solidFill>
                  <a:srgbClr val="0000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Horley Old Style MT"/>
              </a:rPr>
              <a:t>Grid based</a:t>
            </a:r>
            <a:endParaRPr lang="LID4096" sz="2000" b="1" dirty="0">
              <a:solidFill>
                <a:srgbClr val="0000FF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Horley Old Style MT"/>
            </a:endParaRPr>
          </a:p>
        </p:txBody>
      </p:sp>
      <p:sp>
        <p:nvSpPr>
          <p:cNvPr id="4" name="Isosceles Triangle 3">
            <a:extLst>
              <a:ext uri="{FF2B5EF4-FFF2-40B4-BE49-F238E27FC236}">
                <a16:creationId xmlns:a16="http://schemas.microsoft.com/office/drawing/2014/main" id="{140BBDA6-9A25-E367-8650-1FC54D6F0E2D}"/>
              </a:ext>
            </a:extLst>
          </p:cNvPr>
          <p:cNvSpPr/>
          <p:nvPr/>
        </p:nvSpPr>
        <p:spPr>
          <a:xfrm>
            <a:off x="4575667" y="2684112"/>
            <a:ext cx="501157" cy="365760"/>
          </a:xfrm>
          <a:prstGeom prst="triangle">
            <a:avLst>
              <a:gd name="adj" fmla="val 48501"/>
            </a:avLst>
          </a:prstGeom>
          <a:solidFill>
            <a:srgbClr val="0000FF"/>
          </a:solidFill>
          <a:ln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91440" rtlCol="0" anchor="ctr"/>
          <a:lstStyle/>
          <a:p>
            <a:pPr algn="ctr"/>
            <a:r>
              <a:rPr lang="pt-B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2</a:t>
            </a:r>
            <a:endParaRPr lang="LID4096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9" name="Isosceles Triangle 8">
            <a:extLst>
              <a:ext uri="{FF2B5EF4-FFF2-40B4-BE49-F238E27FC236}">
                <a16:creationId xmlns:a16="http://schemas.microsoft.com/office/drawing/2014/main" id="{797BDB67-1204-ADD4-BB75-EAF0FA40D622}"/>
              </a:ext>
            </a:extLst>
          </p:cNvPr>
          <p:cNvSpPr/>
          <p:nvPr/>
        </p:nvSpPr>
        <p:spPr>
          <a:xfrm>
            <a:off x="4575667" y="3228921"/>
            <a:ext cx="501157" cy="365760"/>
          </a:xfrm>
          <a:prstGeom prst="triangle">
            <a:avLst>
              <a:gd name="adj" fmla="val 48501"/>
            </a:avLst>
          </a:prstGeom>
          <a:solidFill>
            <a:srgbClr val="0000FF"/>
          </a:solidFill>
          <a:ln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91440" rtlCol="0" anchor="ctr"/>
          <a:lstStyle/>
          <a:p>
            <a:pPr algn="ctr"/>
            <a:r>
              <a:rPr lang="pt-B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3</a:t>
            </a:r>
            <a:endParaRPr lang="LID4096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18" name="Isosceles Triangle 17">
            <a:extLst>
              <a:ext uri="{FF2B5EF4-FFF2-40B4-BE49-F238E27FC236}">
                <a16:creationId xmlns:a16="http://schemas.microsoft.com/office/drawing/2014/main" id="{B3A00913-5101-9C13-56E5-BE037B499771}"/>
              </a:ext>
            </a:extLst>
          </p:cNvPr>
          <p:cNvSpPr/>
          <p:nvPr/>
        </p:nvSpPr>
        <p:spPr>
          <a:xfrm>
            <a:off x="7221850" y="2097327"/>
            <a:ext cx="457200" cy="365760"/>
          </a:xfrm>
          <a:prstGeom prst="triangle">
            <a:avLst>
              <a:gd name="adj" fmla="val 48501"/>
            </a:avLst>
          </a:prstGeom>
          <a:solidFill>
            <a:srgbClr val="0000FF"/>
          </a:solidFill>
          <a:ln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91440" rtlCol="0" anchor="ctr"/>
          <a:lstStyle/>
          <a:p>
            <a:pPr algn="ctr"/>
            <a:r>
              <a:rPr lang="pt-B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4</a:t>
            </a:r>
            <a:endParaRPr lang="LID4096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grpSp>
        <p:nvGrpSpPr>
          <p:cNvPr id="43" name="Group 42">
            <a:extLst>
              <a:ext uri="{FF2B5EF4-FFF2-40B4-BE49-F238E27FC236}">
                <a16:creationId xmlns:a16="http://schemas.microsoft.com/office/drawing/2014/main" id="{082ED7DD-8A99-8411-C77E-318D2B85AB8E}"/>
              </a:ext>
            </a:extLst>
          </p:cNvPr>
          <p:cNvGrpSpPr>
            <a:grpSpLocks noChangeAspect="1"/>
          </p:cNvGrpSpPr>
          <p:nvPr/>
        </p:nvGrpSpPr>
        <p:grpSpPr>
          <a:xfrm>
            <a:off x="1538445" y="915782"/>
            <a:ext cx="10313066" cy="420727"/>
            <a:chOff x="1538445" y="998464"/>
            <a:chExt cx="10313066" cy="299945"/>
          </a:xfrm>
        </p:grpSpPr>
        <p:sp>
          <p:nvSpPr>
            <p:cNvPr id="27" name="Rectangle: Rounded Corners 26">
              <a:extLst>
                <a:ext uri="{FF2B5EF4-FFF2-40B4-BE49-F238E27FC236}">
                  <a16:creationId xmlns:a16="http://schemas.microsoft.com/office/drawing/2014/main" id="{A9A5AB33-B365-06CE-7250-B8D2207B27E2}"/>
                </a:ext>
              </a:extLst>
            </p:cNvPr>
            <p:cNvSpPr/>
            <p:nvPr/>
          </p:nvSpPr>
          <p:spPr>
            <a:xfrm>
              <a:off x="4807965" y="1008696"/>
              <a:ext cx="2034833" cy="289713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lIns="0" tIns="0" rIns="0" bIns="0" anchor="ctr" anchorCtr="0">
              <a:noAutofit/>
            </a:bodyPr>
            <a:lstStyle/>
            <a:p>
              <a:pPr algn="ctr"/>
              <a:r>
                <a:rPr lang="en-US" sz="2400" b="1" noProof="0" dirty="0">
                  <a:solidFill>
                    <a:srgbClr val="0000FF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Horley Old Style MT"/>
                </a:rPr>
                <a:t>Mesh based</a:t>
              </a:r>
            </a:p>
          </p:txBody>
        </p:sp>
        <p:sp>
          <p:nvSpPr>
            <p:cNvPr id="36" name="Rectangle: Rounded Corners 35">
              <a:extLst>
                <a:ext uri="{FF2B5EF4-FFF2-40B4-BE49-F238E27FC236}">
                  <a16:creationId xmlns:a16="http://schemas.microsoft.com/office/drawing/2014/main" id="{F84CEBBE-8D0D-63C1-55BF-D225E705E803}"/>
                </a:ext>
              </a:extLst>
            </p:cNvPr>
            <p:cNvSpPr/>
            <p:nvPr/>
          </p:nvSpPr>
          <p:spPr>
            <a:xfrm>
              <a:off x="1538445" y="1008696"/>
              <a:ext cx="2034833" cy="289713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lIns="0" tIns="0" rIns="0" bIns="0" anchor="ctr" anchorCtr="0">
              <a:noAutofit/>
            </a:bodyPr>
            <a:lstStyle/>
            <a:p>
              <a:pPr algn="ctr"/>
              <a:r>
                <a:rPr lang="en-US" sz="2400" b="1" noProof="0" dirty="0">
                  <a:solidFill>
                    <a:srgbClr val="0000FF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Horley Old Style MT"/>
                </a:rPr>
                <a:t>Mesh-free</a:t>
              </a:r>
            </a:p>
          </p:txBody>
        </p:sp>
        <p:sp>
          <p:nvSpPr>
            <p:cNvPr id="37" name="Rectangle: Rounded Corners 36">
              <a:extLst>
                <a:ext uri="{FF2B5EF4-FFF2-40B4-BE49-F238E27FC236}">
                  <a16:creationId xmlns:a16="http://schemas.microsoft.com/office/drawing/2014/main" id="{9A68D285-DE6B-1E43-C3D9-6A6151C672D7}"/>
                </a:ext>
              </a:extLst>
            </p:cNvPr>
            <p:cNvSpPr/>
            <p:nvPr/>
          </p:nvSpPr>
          <p:spPr>
            <a:xfrm>
              <a:off x="7469113" y="998464"/>
              <a:ext cx="2034833" cy="289713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lIns="0" tIns="0" rIns="0" bIns="0" anchor="ctr" anchorCtr="0">
              <a:noAutofit/>
            </a:bodyPr>
            <a:lstStyle/>
            <a:p>
              <a:pPr algn="ctr"/>
              <a:r>
                <a:rPr lang="en-US" sz="2400" b="1" noProof="0">
                  <a:solidFill>
                    <a:srgbClr val="0000FF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Horley Old Style MT"/>
                </a:rPr>
                <a:t>Deterministic</a:t>
              </a:r>
              <a:endParaRPr lang="en-US" sz="2400" b="1" noProof="0" dirty="0">
                <a:solidFill>
                  <a:srgbClr val="0000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Horley Old Style MT"/>
              </a:endParaRPr>
            </a:p>
          </p:txBody>
        </p:sp>
        <p:sp>
          <p:nvSpPr>
            <p:cNvPr id="38" name="Rectangle: Rounded Corners 37">
              <a:extLst>
                <a:ext uri="{FF2B5EF4-FFF2-40B4-BE49-F238E27FC236}">
                  <a16:creationId xmlns:a16="http://schemas.microsoft.com/office/drawing/2014/main" id="{247005E6-D948-34E4-6290-F72D65977635}"/>
                </a:ext>
              </a:extLst>
            </p:cNvPr>
            <p:cNvSpPr/>
            <p:nvPr/>
          </p:nvSpPr>
          <p:spPr>
            <a:xfrm>
              <a:off x="9816678" y="998464"/>
              <a:ext cx="2034833" cy="289713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lIns="0" tIns="0" rIns="0" bIns="0" anchor="ctr" anchorCtr="0">
              <a:noAutofit/>
            </a:bodyPr>
            <a:lstStyle/>
            <a:p>
              <a:pPr algn="ctr"/>
              <a:r>
                <a:rPr lang="en-US" sz="2400" b="1" noProof="0" dirty="0">
                  <a:solidFill>
                    <a:srgbClr val="0000FF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Horley Old Style MT"/>
                </a:rPr>
                <a:t>Stochastic</a:t>
              </a:r>
            </a:p>
          </p:txBody>
        </p:sp>
      </p:grpSp>
      <p:sp>
        <p:nvSpPr>
          <p:cNvPr id="39" name="TextBox 38">
            <a:extLst>
              <a:ext uri="{FF2B5EF4-FFF2-40B4-BE49-F238E27FC236}">
                <a16:creationId xmlns:a16="http://schemas.microsoft.com/office/drawing/2014/main" id="{91C58329-7D7D-9D56-4419-07ABFDC624CF}"/>
              </a:ext>
            </a:extLst>
          </p:cNvPr>
          <p:cNvSpPr txBox="1"/>
          <p:nvPr/>
        </p:nvSpPr>
        <p:spPr>
          <a:xfrm>
            <a:off x="252520" y="4745337"/>
            <a:ext cx="4734543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b="1" i="0" u="none" strike="noStrike" baseline="0" dirty="0">
                <a:solidFill>
                  <a:srgbClr val="FF0000"/>
                </a:solidFill>
                <a:latin typeface="AdvOT46dcae81"/>
              </a:rPr>
              <a:t>simulation-informed </a:t>
            </a:r>
          </a:p>
          <a:p>
            <a:r>
              <a:rPr lang="en-US" sz="2800" b="1" i="0" u="none" strike="noStrike" baseline="0" dirty="0">
                <a:solidFill>
                  <a:srgbClr val="FF0000"/>
                </a:solidFill>
                <a:latin typeface="AdvOT46dcae81"/>
              </a:rPr>
              <a:t>closed-loop control feedback </a:t>
            </a:r>
            <a:r>
              <a:rPr lang="en-GB" sz="2800" b="1" i="0" u="none" strike="noStrike" baseline="0" dirty="0">
                <a:solidFill>
                  <a:srgbClr val="FF0000"/>
                </a:solidFill>
                <a:latin typeface="AdvOT46dcae81"/>
              </a:rPr>
              <a:t>real-time monitoring systems</a:t>
            </a:r>
            <a:endParaRPr lang="LID4096" sz="2800" b="1" dirty="0">
              <a:solidFill>
                <a:srgbClr val="FF0000"/>
              </a:solidFill>
            </a:endParaRPr>
          </a:p>
        </p:txBody>
      </p:sp>
      <p:sp>
        <p:nvSpPr>
          <p:cNvPr id="40" name="Isosceles Triangle 39">
            <a:extLst>
              <a:ext uri="{FF2B5EF4-FFF2-40B4-BE49-F238E27FC236}">
                <a16:creationId xmlns:a16="http://schemas.microsoft.com/office/drawing/2014/main" id="{CD19762E-1D12-FE12-D6A0-3E4046329B3E}"/>
              </a:ext>
            </a:extLst>
          </p:cNvPr>
          <p:cNvSpPr/>
          <p:nvPr/>
        </p:nvSpPr>
        <p:spPr>
          <a:xfrm>
            <a:off x="252520" y="3926918"/>
            <a:ext cx="457200" cy="365760"/>
          </a:xfrm>
          <a:prstGeom prst="triangle">
            <a:avLst>
              <a:gd name="adj" fmla="val 48501"/>
            </a:avLst>
          </a:prstGeom>
          <a:solidFill>
            <a:srgbClr val="FF0000"/>
          </a:solidFill>
          <a:ln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91440" rtlCol="0" anchor="ctr"/>
          <a:lstStyle/>
          <a:p>
            <a:pPr algn="ctr"/>
            <a:r>
              <a:rPr lang="pt-B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-</a:t>
            </a:r>
            <a:endParaRPr lang="LID4096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41" name="Isosceles Triangle 40">
            <a:extLst>
              <a:ext uri="{FF2B5EF4-FFF2-40B4-BE49-F238E27FC236}">
                <a16:creationId xmlns:a16="http://schemas.microsoft.com/office/drawing/2014/main" id="{2CD8C851-703D-BC14-E36E-33D56EEBCB80}"/>
              </a:ext>
            </a:extLst>
          </p:cNvPr>
          <p:cNvSpPr/>
          <p:nvPr/>
        </p:nvSpPr>
        <p:spPr>
          <a:xfrm>
            <a:off x="221461" y="2108444"/>
            <a:ext cx="457200" cy="365760"/>
          </a:xfrm>
          <a:prstGeom prst="triangle">
            <a:avLst>
              <a:gd name="adj" fmla="val 48501"/>
            </a:avLst>
          </a:prstGeom>
          <a:solidFill>
            <a:srgbClr val="FF0000"/>
          </a:solidFill>
          <a:ln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91440" rtlCol="0" anchor="ctr"/>
          <a:lstStyle/>
          <a:p>
            <a:pPr algn="ctr"/>
            <a:r>
              <a:rPr lang="pt-B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-</a:t>
            </a:r>
            <a:endParaRPr lang="LID4096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42" name="Isosceles Triangle 41">
            <a:extLst>
              <a:ext uri="{FF2B5EF4-FFF2-40B4-BE49-F238E27FC236}">
                <a16:creationId xmlns:a16="http://schemas.microsoft.com/office/drawing/2014/main" id="{C99EC9EE-22F1-364E-BF5D-932FF000DA59}"/>
              </a:ext>
            </a:extLst>
          </p:cNvPr>
          <p:cNvSpPr/>
          <p:nvPr/>
        </p:nvSpPr>
        <p:spPr>
          <a:xfrm>
            <a:off x="2364640" y="2097327"/>
            <a:ext cx="457200" cy="365760"/>
          </a:xfrm>
          <a:prstGeom prst="triangle">
            <a:avLst>
              <a:gd name="adj" fmla="val 48501"/>
            </a:avLst>
          </a:prstGeom>
          <a:solidFill>
            <a:srgbClr val="00B050"/>
          </a:solidFill>
          <a:ln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91440" rtlCol="0" anchor="ctr"/>
          <a:lstStyle/>
          <a:p>
            <a:pPr algn="ctr"/>
            <a:r>
              <a:rPr lang="pt-B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-</a:t>
            </a:r>
            <a:endParaRPr lang="LID4096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grpSp>
        <p:nvGrpSpPr>
          <p:cNvPr id="47" name="Group 46">
            <a:extLst>
              <a:ext uri="{FF2B5EF4-FFF2-40B4-BE49-F238E27FC236}">
                <a16:creationId xmlns:a16="http://schemas.microsoft.com/office/drawing/2014/main" id="{8F295761-EECA-B3D1-EDA7-E11A7AAEE1C7}"/>
              </a:ext>
            </a:extLst>
          </p:cNvPr>
          <p:cNvGrpSpPr/>
          <p:nvPr/>
        </p:nvGrpSpPr>
        <p:grpSpPr>
          <a:xfrm>
            <a:off x="4962525" y="4738626"/>
            <a:ext cx="7091293" cy="1723255"/>
            <a:chOff x="-108132" y="4740421"/>
            <a:chExt cx="7091293" cy="1723255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FEADCAF4-653D-AAB8-F5D7-F15732EEDAA3}"/>
                </a:ext>
              </a:extLst>
            </p:cNvPr>
            <p:cNvSpPr/>
            <p:nvPr/>
          </p:nvSpPr>
          <p:spPr>
            <a:xfrm>
              <a:off x="-108132" y="4740421"/>
              <a:ext cx="7086516" cy="1723255"/>
            </a:xfrm>
            <a:prstGeom prst="rect">
              <a:avLst/>
            </a:prstGeom>
            <a:solidFill>
              <a:srgbClr val="E5FFF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grpSp>
          <p:nvGrpSpPr>
            <p:cNvPr id="49" name="Group 48">
              <a:extLst>
                <a:ext uri="{FF2B5EF4-FFF2-40B4-BE49-F238E27FC236}">
                  <a16:creationId xmlns:a16="http://schemas.microsoft.com/office/drawing/2014/main" id="{1FF4B0D7-6BB9-1323-2A86-D6C9CA2D9D06}"/>
                </a:ext>
              </a:extLst>
            </p:cNvPr>
            <p:cNvGrpSpPr/>
            <p:nvPr/>
          </p:nvGrpSpPr>
          <p:grpSpPr>
            <a:xfrm>
              <a:off x="281984" y="4755936"/>
              <a:ext cx="6701177" cy="1647114"/>
              <a:chOff x="3960177" y="3941471"/>
              <a:chExt cx="6701177" cy="1647114"/>
            </a:xfrm>
          </p:grpSpPr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CA030490-DB93-F4DC-BB3A-9280CD14D85B}"/>
                  </a:ext>
                </a:extLst>
              </p:cNvPr>
              <p:cNvSpPr txBox="1"/>
              <p:nvPr/>
            </p:nvSpPr>
            <p:spPr>
              <a:xfrm>
                <a:off x="5629811" y="3941471"/>
                <a:ext cx="5031543" cy="89255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pt-BR" sz="2400" b="1" dirty="0"/>
                  <a:t>01 - </a:t>
                </a:r>
                <a:r>
                  <a:rPr lang="LID4096" sz="2400" b="1" dirty="0"/>
                  <a:t>finite element analysis </a:t>
                </a:r>
                <a:r>
                  <a:rPr lang="LID4096" sz="2800" b="1" u="sng" dirty="0"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</a:rPr>
                  <a:t>(FEA)</a:t>
                </a:r>
                <a:endParaRPr lang="pt-BR" sz="3200" b="1" dirty="0"/>
              </a:p>
              <a:p>
                <a:r>
                  <a:rPr lang="pt-BR" sz="2400" b="1" dirty="0"/>
                  <a:t>02 - </a:t>
                </a:r>
                <a:r>
                  <a:rPr lang="LID4096" sz="2400" b="1" u="sng" dirty="0">
                    <a:solidFill>
                      <a:srgbClr val="FF0000"/>
                    </a:solidFill>
                  </a:rPr>
                  <a:t>phase-field modeling</a:t>
                </a:r>
                <a:r>
                  <a:rPr lang="LID4096" sz="2400" b="1" dirty="0"/>
                  <a:t> techniques</a:t>
                </a:r>
              </a:p>
            </p:txBody>
          </p:sp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2CD4E9B6-2A00-FB75-CE18-635A77908225}"/>
                  </a:ext>
                </a:extLst>
              </p:cNvPr>
              <p:cNvSpPr txBox="1"/>
              <p:nvPr/>
            </p:nvSpPr>
            <p:spPr>
              <a:xfrm>
                <a:off x="3960177" y="5203864"/>
                <a:ext cx="6498870" cy="38472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LID4096" sz="1900" b="1" dirty="0">
                    <a:solidFill>
                      <a:srgbClr val="0000FF"/>
                    </a:solidFill>
                  </a:rPr>
                  <a:t>heat flow, temperature,</a:t>
                </a:r>
                <a:r>
                  <a:rPr lang="pt-BR" sz="1900" b="1" dirty="0">
                    <a:solidFill>
                      <a:srgbClr val="0000FF"/>
                    </a:solidFill>
                  </a:rPr>
                  <a:t> </a:t>
                </a:r>
                <a:r>
                  <a:rPr lang="LID4096" sz="1900" b="1" dirty="0">
                    <a:solidFill>
                      <a:srgbClr val="0000FF"/>
                    </a:solidFill>
                  </a:rPr>
                  <a:t>and stress evolution during deposition</a:t>
                </a:r>
              </a:p>
            </p:txBody>
          </p:sp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402E9AB0-1B66-2B81-8AA7-7E094D7F3C7E}"/>
                  </a:ext>
                </a:extLst>
              </p:cNvPr>
              <p:cNvSpPr txBox="1"/>
              <p:nvPr/>
            </p:nvSpPr>
            <p:spPr>
              <a:xfrm>
                <a:off x="4481246" y="3945738"/>
                <a:ext cx="1110185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GB" sz="2400" b="1" i="0" strike="noStrike" baseline="0" dirty="0">
                    <a:solidFill>
                      <a:srgbClr val="FF0000"/>
                    </a:solidFill>
                    <a:latin typeface="Calibri (Body)"/>
                  </a:rPr>
                  <a:t>Macro</a:t>
                </a:r>
                <a:endParaRPr lang="LID4096" dirty="0">
                  <a:latin typeface="Calibri (Body)"/>
                </a:endParaRPr>
              </a:p>
            </p:txBody>
          </p:sp>
        </p:grpSp>
      </p:grpSp>
      <p:sp>
        <p:nvSpPr>
          <p:cNvPr id="53" name="Rectangle: Rounded Corners 52">
            <a:extLst>
              <a:ext uri="{FF2B5EF4-FFF2-40B4-BE49-F238E27FC236}">
                <a16:creationId xmlns:a16="http://schemas.microsoft.com/office/drawing/2014/main" id="{DD3F4970-4AFF-7764-2D24-7C73ECF0502E}"/>
              </a:ext>
            </a:extLst>
          </p:cNvPr>
          <p:cNvSpPr/>
          <p:nvPr/>
        </p:nvSpPr>
        <p:spPr>
          <a:xfrm>
            <a:off x="5125245" y="5234440"/>
            <a:ext cx="1036163" cy="515491"/>
          </a:xfrm>
          <a:prstGeom prst="roundRect">
            <a:avLst/>
          </a:prstGeom>
          <a:noFill/>
        </p:spPr>
        <p:txBody>
          <a:bodyPr wrap="square" lIns="0" tIns="0" rIns="0" bIns="0" anchor="t" anchorCtr="0">
            <a:noAutofit/>
          </a:bodyPr>
          <a:lstStyle/>
          <a:p>
            <a:r>
              <a:rPr lang="pt-BR" sz="3200" b="1" dirty="0">
                <a:solidFill>
                  <a:srgbClr val="0000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CFD</a:t>
            </a:r>
            <a:endParaRPr lang="pt-BR" sz="3200" noProof="0" dirty="0">
              <a:solidFill>
                <a:srgbClr val="0000FF"/>
              </a:solidFill>
              <a:latin typeface="Times New Roman" panose="02020603050405020304" pitchFamily="18" charset="0"/>
            </a:endParaRPr>
          </a:p>
        </p:txBody>
      </p:sp>
      <p:sp>
        <p:nvSpPr>
          <p:cNvPr id="54" name="Rectangle: Rounded Corners 53">
            <a:extLst>
              <a:ext uri="{FF2B5EF4-FFF2-40B4-BE49-F238E27FC236}">
                <a16:creationId xmlns:a16="http://schemas.microsoft.com/office/drawing/2014/main" id="{B6B12A4C-502A-255B-CB45-FCB1C7AB3335}"/>
              </a:ext>
            </a:extLst>
          </p:cNvPr>
          <p:cNvSpPr/>
          <p:nvPr/>
        </p:nvSpPr>
        <p:spPr>
          <a:xfrm>
            <a:off x="5404423" y="5675031"/>
            <a:ext cx="2666540" cy="515491"/>
          </a:xfrm>
          <a:prstGeom prst="roundRect">
            <a:avLst/>
          </a:prstGeom>
          <a:noFill/>
        </p:spPr>
        <p:txBody>
          <a:bodyPr wrap="square" lIns="0" tIns="0" rIns="0" bIns="0" anchor="t" anchorCtr="0">
            <a:noAutofit/>
          </a:bodyPr>
          <a:lstStyle/>
          <a:p>
            <a:r>
              <a:rPr lang="pt-BR" sz="2400" b="1" dirty="0">
                <a:solidFill>
                  <a:srgbClr val="0000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Design optimization</a:t>
            </a:r>
            <a:endParaRPr lang="pt-BR" sz="2400" noProof="0" dirty="0">
              <a:solidFill>
                <a:srgbClr val="0000FF"/>
              </a:solidFill>
              <a:latin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4743742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29400A28-C32A-D2D7-ACF9-31E3343BACE8}"/>
              </a:ext>
            </a:extLst>
          </p:cNvPr>
          <p:cNvSpPr/>
          <p:nvPr/>
        </p:nvSpPr>
        <p:spPr>
          <a:xfrm>
            <a:off x="0" y="1"/>
            <a:ext cx="12192000" cy="68580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89B5CFE-A429-A8E9-E961-AA1723B8FA8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6866" t="51938" r="20133" b="2447"/>
          <a:stretch>
            <a:fillRect/>
          </a:stretch>
        </p:blipFill>
        <p:spPr>
          <a:xfrm>
            <a:off x="235390" y="199176"/>
            <a:ext cx="6498785" cy="3105879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4CB06E78-E635-0AE0-00E0-BED4328EBC3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695" t="5552" r="1319" b="14870"/>
          <a:stretch>
            <a:fillRect/>
          </a:stretch>
        </p:blipFill>
        <p:spPr>
          <a:xfrm>
            <a:off x="5229225" y="3167451"/>
            <a:ext cx="6727386" cy="3430263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9F3CF2BD-C67F-5ACC-D491-17626E9EAB52}"/>
              </a:ext>
            </a:extLst>
          </p:cNvPr>
          <p:cNvSpPr txBox="1"/>
          <p:nvPr/>
        </p:nvSpPr>
        <p:spPr>
          <a:xfrm>
            <a:off x="6734175" y="199176"/>
            <a:ext cx="224245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LID4096"/>
            </a:defPPr>
            <a:lvl1pPr algn="ctr">
              <a:defRPr sz="2000">
                <a:solidFill>
                  <a:srgbClr val="0000FF"/>
                </a:solidFill>
              </a:defRPr>
            </a:lvl1pPr>
          </a:lstStyle>
          <a:p>
            <a:r>
              <a:rPr lang="en-GB" sz="2800" b="1" noProof="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Meso-scale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E30EE05-7867-89D0-799C-C63BC7F1966C}"/>
              </a:ext>
            </a:extLst>
          </p:cNvPr>
          <p:cNvSpPr txBox="1"/>
          <p:nvPr/>
        </p:nvSpPr>
        <p:spPr>
          <a:xfrm>
            <a:off x="7123362" y="1126485"/>
            <a:ext cx="3888746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800" b="1" u="none" strike="noStrike" dirty="0">
                <a:latin typeface="Google Sans"/>
              </a:rPr>
              <a:t>Mult—physics </a:t>
            </a:r>
          </a:p>
          <a:p>
            <a:r>
              <a:rPr lang="en-GB" sz="2800" b="1" dirty="0">
                <a:latin typeface="Google Sans"/>
              </a:rPr>
              <a:t>Mult—Dimensional</a:t>
            </a:r>
            <a:endParaRPr lang="LID4096" sz="2800" b="1" dirty="0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44417CE8-36E9-3720-C1B4-76DC5D032122}"/>
              </a:ext>
            </a:extLst>
          </p:cNvPr>
          <p:cNvGrpSpPr/>
          <p:nvPr/>
        </p:nvGrpSpPr>
        <p:grpSpPr>
          <a:xfrm>
            <a:off x="453787" y="5614812"/>
            <a:ext cx="4298491" cy="1003017"/>
            <a:chOff x="410242" y="5675772"/>
            <a:chExt cx="4298491" cy="1003017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D10F4C06-3CA2-A363-7A2C-191C0AF7A05F}"/>
                    </a:ext>
                  </a:extLst>
                </p:cNvPr>
                <p:cNvSpPr txBox="1"/>
                <p:nvPr/>
              </p:nvSpPr>
              <p:spPr>
                <a:xfrm>
                  <a:off x="410242" y="5675772"/>
                  <a:ext cx="3351861" cy="819263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28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𝝆</m:t>
                        </m:r>
                        <m:sSub>
                          <m:sSubPr>
                            <m:ctrlPr>
                              <a:rPr lang="pt-BR" sz="2800" b="1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2800" b="1" i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𝐂</m:t>
                            </m:r>
                          </m:e>
                          <m:sub>
                            <m:r>
                              <a:rPr lang="pt-BR" sz="2800" b="1" i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𝐕</m:t>
                            </m:r>
                          </m:sub>
                        </m:sSub>
                        <m:f>
                          <m:fPr>
                            <m:ctrlPr>
                              <a:rPr lang="pt-BR" sz="2800" b="1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pt-BR" sz="2800" b="1" i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𝛛</m:t>
                            </m:r>
                            <m:r>
                              <a:rPr lang="pt-BR" sz="2800" b="1" i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𝐓</m:t>
                            </m:r>
                          </m:num>
                          <m:den>
                            <m:r>
                              <a:rPr lang="pt-BR" sz="2800" b="1" i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𝛛</m:t>
                            </m:r>
                            <m:r>
                              <a:rPr lang="pt-BR" sz="2800" b="1" i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𝐭</m:t>
                            </m:r>
                          </m:den>
                        </m:f>
                        <m:r>
                          <a:rPr lang="pt-BR" sz="2800" b="1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pt-BR" sz="2800" b="1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𝐊</m:t>
                        </m:r>
                        <m:sSup>
                          <m:sSupPr>
                            <m:ctrlPr>
                              <a:rPr lang="el-GR" sz="2800" b="1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sz="2800" b="1" i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pt-BR" sz="2800" b="1" i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𝛁</m:t>
                            </m:r>
                          </m:e>
                          <m:sup>
                            <m:r>
                              <a:rPr lang="pt-BR" sz="2800" b="1" i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𝟐</m:t>
                            </m:r>
                          </m:sup>
                        </m:sSup>
                        <m:r>
                          <a:rPr lang="pt-BR" sz="2800" b="1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𝐓</m:t>
                        </m:r>
                        <m:r>
                          <a:rPr lang="pt-BR" sz="2800" b="1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r>
                          <a:rPr lang="el-GR" sz="2800" b="1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𝚽</m:t>
                        </m:r>
                      </m:oMath>
                    </m:oMathPara>
                  </a14:m>
                  <a:endParaRPr lang="LID4096" sz="2800" b="1" dirty="0">
                    <a:solidFill>
                      <a:schemeClr val="tx1"/>
                    </a:solidFill>
                  </a:endParaRPr>
                </a:p>
              </p:txBody>
            </p:sp>
          </mc:Choice>
          <mc:Fallback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D10F4C06-3CA2-A363-7A2C-191C0AF7A05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0242" y="5675772"/>
                  <a:ext cx="3351861" cy="819263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FC9ACD7C-41F1-5A32-5126-DC3A746A5BE9}"/>
                </a:ext>
              </a:extLst>
            </p:cNvPr>
            <p:cNvSpPr txBox="1"/>
            <p:nvPr/>
          </p:nvSpPr>
          <p:spPr>
            <a:xfrm>
              <a:off x="2295902" y="6217124"/>
              <a:ext cx="241283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LID4096"/>
              </a:defPPr>
              <a:lvl1pPr>
                <a:defRPr sz="1050" b="1">
                  <a:solidFill>
                    <a:srgbClr val="0000FF"/>
                  </a:solidFill>
                </a:defRPr>
              </a:lvl1pPr>
            </a:lstStyle>
            <a:p>
              <a:pPr algn="r"/>
              <a:r>
                <a:rPr lang="pt-BR" sz="2400" dirty="0"/>
                <a:t>Energia</a:t>
              </a:r>
              <a:endParaRPr lang="pt-BR" sz="3600" noProof="0" dirty="0"/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88E2FDB2-7415-BFF2-FC3B-3C654EC03C58}"/>
              </a:ext>
            </a:extLst>
          </p:cNvPr>
          <p:cNvGrpSpPr/>
          <p:nvPr/>
        </p:nvGrpSpPr>
        <p:grpSpPr>
          <a:xfrm>
            <a:off x="497166" y="3605573"/>
            <a:ext cx="4384226" cy="461665"/>
            <a:chOff x="497166" y="3936503"/>
            <a:chExt cx="4384226" cy="461665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A1712775-DC6B-D77D-4604-068B196824F0}"/>
                </a:ext>
              </a:extLst>
            </p:cNvPr>
            <p:cNvSpPr txBox="1"/>
            <p:nvPr/>
          </p:nvSpPr>
          <p:spPr>
            <a:xfrm>
              <a:off x="2446624" y="3936503"/>
              <a:ext cx="243476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LID4096"/>
              </a:defPPr>
              <a:lvl1pPr>
                <a:defRPr sz="1050" b="1">
                  <a:solidFill>
                    <a:srgbClr val="0000FF"/>
                  </a:solidFill>
                </a:defRPr>
              </a:lvl1pPr>
            </a:lstStyle>
            <a:p>
              <a:pPr algn="r"/>
              <a:r>
                <a:rPr lang="pt-BR" sz="2400" dirty="0"/>
                <a:t>Continuidade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071830DD-1380-76F1-6796-D0B84CB9A3F5}"/>
                    </a:ext>
                  </a:extLst>
                </p:cNvPr>
                <p:cNvSpPr txBox="1"/>
                <p:nvPr/>
              </p:nvSpPr>
              <p:spPr>
                <a:xfrm>
                  <a:off x="497166" y="3960801"/>
                  <a:ext cx="1362232" cy="43088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2800" b="1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𝛁</m:t>
                        </m:r>
                        <m:r>
                          <a:rPr lang="pt-BR" sz="2800" b="1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.</m:t>
                        </m:r>
                        <m:r>
                          <a:rPr lang="pt-BR" sz="28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𝐕</m:t>
                        </m:r>
                        <m:r>
                          <a:rPr lang="pt-BR" sz="2800" b="1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r>
                          <a:rPr lang="pt-BR" sz="2800" b="1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𝟎</m:t>
                        </m:r>
                      </m:oMath>
                    </m:oMathPara>
                  </a14:m>
                  <a:endParaRPr lang="LID4096" sz="2800" b="1" dirty="0"/>
                </a:p>
              </p:txBody>
            </p:sp>
          </mc:Choice>
          <mc:Fallback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071830DD-1380-76F1-6796-D0B84CB9A3F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97166" y="3960801"/>
                  <a:ext cx="1362232" cy="430887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7D902CB6-7244-ED69-F7F8-385B19DBC413}"/>
              </a:ext>
            </a:extLst>
          </p:cNvPr>
          <p:cNvGrpSpPr/>
          <p:nvPr/>
        </p:nvGrpSpPr>
        <p:grpSpPr>
          <a:xfrm>
            <a:off x="453787" y="4363358"/>
            <a:ext cx="4420480" cy="995965"/>
            <a:chOff x="453787" y="4642037"/>
            <a:chExt cx="4420480" cy="995965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28EC9B11-0753-3A0B-C1F7-30438CA0A2D0}"/>
                </a:ext>
              </a:extLst>
            </p:cNvPr>
            <p:cNvSpPr txBox="1"/>
            <p:nvPr/>
          </p:nvSpPr>
          <p:spPr>
            <a:xfrm>
              <a:off x="453787" y="5176337"/>
              <a:ext cx="442048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LID4096"/>
              </a:defPPr>
              <a:lvl1pPr>
                <a:defRPr sz="1050" b="1">
                  <a:solidFill>
                    <a:srgbClr val="0000FF"/>
                  </a:solidFill>
                </a:defRPr>
              </a:lvl1pPr>
            </a:lstStyle>
            <a:p>
              <a:pPr algn="r"/>
              <a:r>
                <a:rPr lang="pt-BR" sz="2400" noProof="0" dirty="0"/>
                <a:t>Qde de movimento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400310D1-2DFF-0C5E-A5EC-38D986885A99}"/>
                    </a:ext>
                  </a:extLst>
                </p:cNvPr>
                <p:cNvSpPr txBox="1"/>
                <p:nvPr/>
              </p:nvSpPr>
              <p:spPr>
                <a:xfrm>
                  <a:off x="497166" y="4642037"/>
                  <a:ext cx="3728585" cy="629468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 xmlns:m="http://schemas.openxmlformats.org/officeDocument/2006/math">
                      <m:r>
                        <a:rPr lang="pt-BR" sz="2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𝝆</m:t>
                      </m:r>
                      <m:f>
                        <m:fPr>
                          <m:ctrlPr>
                            <a:rPr lang="pt-BR" sz="28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800" b="1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𝛛</m:t>
                          </m:r>
                          <m:r>
                            <a:rPr lang="pt-BR" sz="2800" b="1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𝐕</m:t>
                          </m:r>
                        </m:num>
                        <m:den>
                          <m:r>
                            <a:rPr lang="pt-BR" sz="2800" b="1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𝛛</m:t>
                          </m:r>
                          <m:r>
                            <a:rPr lang="pt-BR" sz="2800" b="1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𝐭</m:t>
                          </m:r>
                        </m:den>
                      </m:f>
                      <m:r>
                        <a:rPr lang="pt-BR" sz="2800" b="1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</m:oMath>
                  </a14:m>
                  <a:r>
                    <a:rPr lang="pt-BR" sz="2800" b="1" dirty="0">
                      <a:solidFill>
                        <a:schemeClr val="tx1"/>
                      </a:solidFill>
                      <a:ea typeface="Cambria Math" panose="02040503050406030204" pitchFamily="18" charset="0"/>
                    </a:rPr>
                    <a:t> </a:t>
                  </a:r>
                  <a14:m>
                    <m:oMath xmlns:m="http://schemas.openxmlformats.org/officeDocument/2006/math">
                      <m:r>
                        <a:rPr lang="pt-BR" sz="2800" b="1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𝝆</m:t>
                      </m:r>
                      <m:r>
                        <a:rPr lang="pt-BR" sz="2800" b="1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𝐠</m:t>
                      </m:r>
                      <m:r>
                        <a:rPr lang="pt-BR" sz="2800" b="1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r>
                        <a:rPr lang="pt-BR" sz="2800" b="1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𝛁</m:t>
                      </m:r>
                      <m:r>
                        <a:rPr lang="pt-BR" sz="2800" b="1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𝐩</m:t>
                      </m:r>
                      <m:r>
                        <a:rPr lang="pt-BR" sz="2800" b="1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a:rPr lang="el-GR" sz="2800" b="1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𝛍</m:t>
                      </m:r>
                      <m:sSup>
                        <m:sSupPr>
                          <m:ctrlPr>
                            <a:rPr lang="el-GR" sz="2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sz="2800" b="1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pt-BR" sz="2800" b="1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𝛁</m:t>
                          </m:r>
                        </m:e>
                        <m:sup>
                          <m:r>
                            <a:rPr lang="pt-BR" sz="2800" b="1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𝟐</m:t>
                          </m:r>
                        </m:sup>
                      </m:sSup>
                      <m:r>
                        <a:rPr lang="pt-BR" sz="2800" b="1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𝐕</m:t>
                      </m:r>
                    </m:oMath>
                  </a14:m>
                  <a:endParaRPr lang="LID4096" sz="2800" b="1" dirty="0">
                    <a:solidFill>
                      <a:schemeClr val="tx1"/>
                    </a:solidFill>
                  </a:endParaRPr>
                </a:p>
              </p:txBody>
            </p:sp>
          </mc:Choice>
          <mc:Fallback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400310D1-2DFF-0C5E-A5EC-38D986885A9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97166" y="4642037"/>
                  <a:ext cx="3728585" cy="629468"/>
                </a:xfrm>
                <a:prstGeom prst="rect">
                  <a:avLst/>
                </a:prstGeom>
                <a:blipFill>
                  <a:blip r:embed="rId6"/>
                  <a:stretch>
                    <a:fillRect l="-164"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</p:grp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92DAB984-B41E-FF65-877E-EA55802C5BE5}"/>
              </a:ext>
            </a:extLst>
          </p:cNvPr>
          <p:cNvCxnSpPr/>
          <p:nvPr/>
        </p:nvCxnSpPr>
        <p:spPr>
          <a:xfrm>
            <a:off x="757903" y="4310738"/>
            <a:ext cx="3657600" cy="0"/>
          </a:xfrm>
          <a:prstGeom prst="line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22B13FFA-E6BD-B252-137B-57D3CCF8BE54}"/>
              </a:ext>
            </a:extLst>
          </p:cNvPr>
          <p:cNvCxnSpPr/>
          <p:nvPr/>
        </p:nvCxnSpPr>
        <p:spPr>
          <a:xfrm>
            <a:off x="736131" y="5490752"/>
            <a:ext cx="3657600" cy="0"/>
          </a:xfrm>
          <a:prstGeom prst="line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051ED484-E472-3C15-2E9C-355E8F3372A4}"/>
              </a:ext>
            </a:extLst>
          </p:cNvPr>
          <p:cNvSpPr txBox="1"/>
          <p:nvPr/>
        </p:nvSpPr>
        <p:spPr>
          <a:xfrm>
            <a:off x="5371967" y="6617829"/>
            <a:ext cx="6820033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LID4096"/>
            </a:defPPr>
            <a:lvl1pPr>
              <a:defRPr sz="1600" b="1" i="0" u="none" strike="noStrike" baseline="0">
                <a:solidFill>
                  <a:schemeClr val="accent2"/>
                </a:solidFill>
                <a:latin typeface="AdvOTa2fa4214.B"/>
              </a:defRPr>
            </a:lvl1pPr>
          </a:lstStyle>
          <a:p>
            <a:pPr algn="r"/>
            <a:r>
              <a:rPr lang="LID4096" sz="1050" dirty="0"/>
              <a:t>A review of multi-scale and multi-physics simulations of metal AM processes with focus on modeling strategies</a:t>
            </a:r>
          </a:p>
        </p:txBody>
      </p:sp>
    </p:spTree>
    <p:extLst>
      <p:ext uri="{BB962C8B-B14F-4D97-AF65-F5344CB8AC3E}">
        <p14:creationId xmlns:p14="http://schemas.microsoft.com/office/powerpoint/2010/main" val="175468715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CBC748D-1483-DC28-F4CA-B168F1AE1E83}"/>
              </a:ext>
            </a:extLst>
          </p:cNvPr>
          <p:cNvSpPr txBox="1"/>
          <p:nvPr/>
        </p:nvSpPr>
        <p:spPr>
          <a:xfrm>
            <a:off x="0" y="0"/>
            <a:ext cx="12191999" cy="2635582"/>
          </a:xfrm>
          <a:prstGeom prst="rect">
            <a:avLst/>
          </a:prstGeom>
          <a:solidFill>
            <a:srgbClr val="E5FFF6"/>
          </a:solidFill>
          <a:ln>
            <a:noFill/>
          </a:ln>
        </p:spPr>
        <p:txBody>
          <a:bodyPr wrap="square" lIns="0" tIns="0" rIns="182880" bIns="0" anchor="ctr" anchorCtr="0">
            <a:noAutofit/>
          </a:bodyPr>
          <a:lstStyle/>
          <a:p>
            <a:pPr algn="r"/>
            <a:endParaRPr lang="LID4096" sz="1900" b="1" dirty="0">
              <a:solidFill>
                <a:srgbClr val="00B050"/>
              </a:solidFill>
            </a:endParaRPr>
          </a:p>
        </p:txBody>
      </p:sp>
      <p:pic>
        <p:nvPicPr>
          <p:cNvPr id="42" name="Picture 41">
            <a:extLst>
              <a:ext uri="{FF2B5EF4-FFF2-40B4-BE49-F238E27FC236}">
                <a16:creationId xmlns:a16="http://schemas.microsoft.com/office/drawing/2014/main" id="{3875C080-361E-0623-F0F2-42B93ECE40B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79708" b="3135"/>
          <a:stretch>
            <a:fillRect/>
          </a:stretch>
        </p:blipFill>
        <p:spPr>
          <a:xfrm>
            <a:off x="296363" y="4923098"/>
            <a:ext cx="11616517" cy="976879"/>
          </a:xfrm>
          <a:prstGeom prst="rect">
            <a:avLst/>
          </a:prstGeom>
          <a:noFill/>
          <a:ln>
            <a:noFill/>
          </a:ln>
          <a:effectLst/>
        </p:spPr>
      </p:pic>
      <p:grpSp>
        <p:nvGrpSpPr>
          <p:cNvPr id="19" name="Group 18">
            <a:extLst>
              <a:ext uri="{FF2B5EF4-FFF2-40B4-BE49-F238E27FC236}">
                <a16:creationId xmlns:a16="http://schemas.microsoft.com/office/drawing/2014/main" id="{D5A4F41C-7B9C-8F0B-ED94-16CEA8C41DB9}"/>
              </a:ext>
            </a:extLst>
          </p:cNvPr>
          <p:cNvGrpSpPr/>
          <p:nvPr/>
        </p:nvGrpSpPr>
        <p:grpSpPr>
          <a:xfrm>
            <a:off x="465460" y="250003"/>
            <a:ext cx="11318793" cy="5331932"/>
            <a:chOff x="765017" y="565429"/>
            <a:chExt cx="10573543" cy="5053001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BDC42CEF-AD24-C393-6ED0-35BE5728F938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765017" y="565429"/>
              <a:ext cx="10573543" cy="5053001"/>
              <a:chOff x="765017" y="565429"/>
              <a:chExt cx="10573543" cy="5053001"/>
            </a:xfrm>
          </p:grpSpPr>
          <p:cxnSp>
            <p:nvCxnSpPr>
              <p:cNvPr id="9" name="Straight Connector 8">
                <a:extLst>
                  <a:ext uri="{FF2B5EF4-FFF2-40B4-BE49-F238E27FC236}">
                    <a16:creationId xmlns:a16="http://schemas.microsoft.com/office/drawing/2014/main" id="{4601D0C4-AB71-192A-6BAE-2D32411C5691}"/>
                  </a:ext>
                </a:extLst>
              </p:cNvPr>
              <p:cNvCxnSpPr/>
              <p:nvPr/>
            </p:nvCxnSpPr>
            <p:spPr>
              <a:xfrm>
                <a:off x="878186" y="2598345"/>
                <a:ext cx="2770361" cy="0"/>
              </a:xfrm>
              <a:prstGeom prst="line">
                <a:avLst/>
              </a:prstGeom>
              <a:ln w="38100">
                <a:noFill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" name="Straight Connector 11">
                <a:extLst>
                  <a:ext uri="{FF2B5EF4-FFF2-40B4-BE49-F238E27FC236}">
                    <a16:creationId xmlns:a16="http://schemas.microsoft.com/office/drawing/2014/main" id="{5EAF8CEC-4854-3856-02CD-A95D3AB85367}"/>
                  </a:ext>
                </a:extLst>
              </p:cNvPr>
              <p:cNvCxnSpPr/>
              <p:nvPr/>
            </p:nvCxnSpPr>
            <p:spPr>
              <a:xfrm>
                <a:off x="765017" y="5472065"/>
                <a:ext cx="2194560" cy="0"/>
              </a:xfrm>
              <a:prstGeom prst="line">
                <a:avLst/>
              </a:prstGeom>
              <a:ln w="38100">
                <a:noFill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Straight Connector 16">
                <a:extLst>
                  <a:ext uri="{FF2B5EF4-FFF2-40B4-BE49-F238E27FC236}">
                    <a16:creationId xmlns:a16="http://schemas.microsoft.com/office/drawing/2014/main" id="{1AA139EA-9305-9CAD-BBCE-A72932AD9499}"/>
                  </a:ext>
                </a:extLst>
              </p:cNvPr>
              <p:cNvCxnSpPr/>
              <p:nvPr/>
            </p:nvCxnSpPr>
            <p:spPr>
              <a:xfrm>
                <a:off x="3238122" y="5618430"/>
                <a:ext cx="2194560" cy="0"/>
              </a:xfrm>
              <a:prstGeom prst="line">
                <a:avLst/>
              </a:prstGeom>
              <a:ln w="38100">
                <a:noFill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62EAE0F0-62B5-17B4-5D8A-18633E1A3D31}"/>
                  </a:ext>
                </a:extLst>
              </p:cNvPr>
              <p:cNvSpPr txBox="1"/>
              <p:nvPr/>
            </p:nvSpPr>
            <p:spPr>
              <a:xfrm>
                <a:off x="10702141" y="565429"/>
                <a:ext cx="636419" cy="400110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GB" sz="2000" b="1" u="none" strike="noStrike" dirty="0">
                    <a:solidFill>
                      <a:schemeClr val="bg1"/>
                    </a:solidFill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latin typeface="Google Sans"/>
                  </a:rPr>
                  <a:t>CFD</a:t>
                </a:r>
                <a:endParaRPr lang="LID4096" sz="2000" b="1" dirty="0">
                  <a:solidFill>
                    <a:schemeClr val="bg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endParaRPr>
              </a:p>
            </p:txBody>
          </p:sp>
        </p:grp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F7AF0705-8CE9-94F0-E953-8CD5B4245D40}"/>
                </a:ext>
              </a:extLst>
            </p:cNvPr>
            <p:cNvSpPr txBox="1"/>
            <p:nvPr/>
          </p:nvSpPr>
          <p:spPr>
            <a:xfrm>
              <a:off x="7624961" y="582488"/>
              <a:ext cx="3072746" cy="40011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>
              <a:spAutoFit/>
            </a:bodyPr>
            <a:lstStyle/>
            <a:p>
              <a:r>
                <a:rPr lang="LID4096" sz="1200" dirty="0">
                  <a:hlinkClick r:id="rId3"/>
                </a:rPr>
                <a:t>https://github.com/DLR-RY/</a:t>
              </a:r>
              <a:r>
                <a:rPr lang="LID4096" sz="2000" b="1" dirty="0">
                  <a:hlinkClick r:id="rId3"/>
                </a:rPr>
                <a:t>VoFLibrary</a:t>
              </a:r>
              <a:endParaRPr lang="LID4096" sz="1600" b="1" dirty="0"/>
            </a:p>
          </p:txBody>
        </p:sp>
      </p:grpSp>
      <p:sp>
        <p:nvSpPr>
          <p:cNvPr id="21" name="TextBox 20">
            <a:extLst>
              <a:ext uri="{FF2B5EF4-FFF2-40B4-BE49-F238E27FC236}">
                <a16:creationId xmlns:a16="http://schemas.microsoft.com/office/drawing/2014/main" id="{0CEE5D95-2C59-C92D-77B7-C154AE597321}"/>
              </a:ext>
            </a:extLst>
          </p:cNvPr>
          <p:cNvSpPr txBox="1"/>
          <p:nvPr/>
        </p:nvSpPr>
        <p:spPr>
          <a:xfrm>
            <a:off x="410325" y="763996"/>
            <a:ext cx="11277666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600" b="1" u="sng" strike="noStrike" dirty="0">
                <a:latin typeface="Calibri (Body)"/>
              </a:rPr>
              <a:t>Incompressible</a:t>
            </a:r>
            <a:r>
              <a:rPr lang="en-GB" sz="2600" b="1" u="sng" dirty="0">
                <a:latin typeface="Calibri (Body)"/>
              </a:rPr>
              <a:t>, multiphase flow with surface tension and phase change</a:t>
            </a:r>
            <a:endParaRPr lang="LID4096" sz="2600" b="1" u="sng" dirty="0">
              <a:latin typeface="Calibri (Body)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FCD14E93-E4BC-DA6E-3AE7-A2F89653A9C9}"/>
                  </a:ext>
                </a:extLst>
              </p:cNvPr>
              <p:cNvSpPr txBox="1"/>
              <p:nvPr/>
            </p:nvSpPr>
            <p:spPr>
              <a:xfrm>
                <a:off x="5068502" y="1667255"/>
                <a:ext cx="2471382" cy="62946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f>
                      <m:fPr>
                        <m:ctrlPr>
                          <a:rPr lang="pt-BR" sz="28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sz="2800" b="1" i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𝛛</m:t>
                        </m:r>
                        <m:r>
                          <a:rPr lang="pt-BR" sz="28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𝛂</m:t>
                        </m:r>
                      </m:num>
                      <m:den>
                        <m:r>
                          <a:rPr lang="pt-BR" sz="2800" b="1" i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𝛛</m:t>
                        </m:r>
                        <m:r>
                          <a:rPr lang="pt-BR" sz="2800" b="1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𝐭</m:t>
                        </m:r>
                      </m:den>
                    </m:f>
                  </m:oMath>
                </a14:m>
                <a:r>
                  <a:rPr lang="pt-BR" sz="2800" b="1" dirty="0">
                    <a:solidFill>
                      <a:schemeClr val="tx1"/>
                    </a:solidFill>
                    <a:ea typeface="Cambria Math" panose="02040503050406030204" pitchFamily="18" charset="0"/>
                  </a:rPr>
                  <a:t> + </a:t>
                </a:r>
                <a14:m>
                  <m:oMath xmlns:m="http://schemas.openxmlformats.org/officeDocument/2006/math">
                    <m:r>
                      <a:rPr lang="pt-BR" sz="2800" b="1" i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𝛁</m:t>
                    </m:r>
                    <m:r>
                      <a:rPr lang="pt-BR" sz="2800" b="1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.</m:t>
                    </m:r>
                    <m:d>
                      <m:dPr>
                        <m:ctrlPr>
                          <a:rPr lang="pt-BR" sz="28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8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𝛂</m:t>
                        </m:r>
                        <m:r>
                          <a:rPr lang="pt-BR" sz="2800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𝒖</m:t>
                        </m:r>
                      </m:e>
                    </m:d>
                    <m:r>
                      <a:rPr lang="pt-BR" sz="2800" b="1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pt-BR" sz="2800" b="1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𝟎</m:t>
                    </m:r>
                  </m:oMath>
                </a14:m>
                <a:endParaRPr lang="LID4096" sz="2800" b="1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FCD14E93-E4BC-DA6E-3AE7-A2F89653A9C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68502" y="1667255"/>
                <a:ext cx="2471382" cy="629468"/>
              </a:xfrm>
              <a:prstGeom prst="rect">
                <a:avLst/>
              </a:prstGeom>
              <a:blipFill>
                <a:blip r:embed="rId4"/>
                <a:stretch>
                  <a:fillRect b="-20192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1" name="TextBox 30">
            <a:extLst>
              <a:ext uri="{FF2B5EF4-FFF2-40B4-BE49-F238E27FC236}">
                <a16:creationId xmlns:a16="http://schemas.microsoft.com/office/drawing/2014/main" id="{AC9FB577-F992-4E60-14EB-5332DB8C4422}"/>
              </a:ext>
            </a:extLst>
          </p:cNvPr>
          <p:cNvSpPr txBox="1"/>
          <p:nvPr/>
        </p:nvSpPr>
        <p:spPr>
          <a:xfrm>
            <a:off x="296363" y="1755019"/>
            <a:ext cx="4277654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500" b="1" u="none" strike="noStrike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Google Sans"/>
              </a:rPr>
              <a:t>Volum</a:t>
            </a:r>
            <a:r>
              <a:rPr lang="en-GB" sz="2500" b="1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Google Sans"/>
              </a:rPr>
              <a:t>e of fluid method (VOF)</a:t>
            </a:r>
            <a:endParaRPr lang="LID4096" sz="2500" b="1" dirty="0">
              <a:solidFill>
                <a:srgbClr val="FF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502AB36E-013F-5602-1199-4DB686E5A4CE}"/>
                  </a:ext>
                </a:extLst>
              </p:cNvPr>
              <p:cNvSpPr txBox="1"/>
              <p:nvPr/>
            </p:nvSpPr>
            <p:spPr>
              <a:xfrm>
                <a:off x="7583384" y="1532237"/>
                <a:ext cx="1675243" cy="1077218"/>
              </a:xfrm>
              <a:prstGeom prst="rect">
                <a:avLst/>
              </a:prstGeom>
              <a:noFill/>
              <a:effectLst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GB" sz="2000" dirty="0">
                    <a:solidFill>
                      <a:srgbClr val="FF0000"/>
                    </a:solidFill>
                    <a:latin typeface="Google Sans"/>
                  </a:rPr>
                  <a:t>Volume of</a:t>
                </a:r>
              </a:p>
              <a:p>
                <a:pPr algn="ctr"/>
                <a:r>
                  <a:rPr lang="en-GB" sz="2000" dirty="0">
                    <a:solidFill>
                      <a:srgbClr val="FF0000"/>
                    </a:solidFill>
                    <a:latin typeface="Google Sans"/>
                  </a:rPr>
                  <a:t>fraction </a:t>
                </a:r>
              </a:p>
              <a:p>
                <a:pPr algn="ctr"/>
                <a14:m>
                  <m:oMath xmlns:m="http://schemas.openxmlformats.org/officeDocument/2006/math">
                    <m:r>
                      <a:rPr lang="pt-BR" sz="24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𝜶</m:t>
                    </m:r>
                  </m:oMath>
                </a14:m>
                <a:r>
                  <a:rPr lang="en-GB" sz="2400" b="1" dirty="0">
                    <a:solidFill>
                      <a:srgbClr val="FF0000"/>
                    </a:solidFill>
                    <a:latin typeface="Google Sans"/>
                  </a:rPr>
                  <a:t> = V</a:t>
                </a:r>
                <a:r>
                  <a:rPr lang="en-GB" sz="2400" b="1" baseline="-25000" dirty="0">
                    <a:solidFill>
                      <a:srgbClr val="FF0000"/>
                    </a:solidFill>
                    <a:latin typeface="Google Sans"/>
                  </a:rPr>
                  <a:t>i </a:t>
                </a:r>
                <a:r>
                  <a:rPr lang="en-GB" sz="2400" b="1" dirty="0">
                    <a:solidFill>
                      <a:srgbClr val="FF0000"/>
                    </a:solidFill>
                    <a:latin typeface="Google Sans"/>
                  </a:rPr>
                  <a:t>/ V</a:t>
                </a:r>
                <a:endParaRPr lang="LID4096" sz="2400" b="1" dirty="0">
                  <a:solidFill>
                    <a:srgbClr val="FF0000"/>
                  </a:solidFill>
                </a:endParaRPr>
              </a:p>
            </p:txBody>
          </p:sp>
        </mc:Choice>
        <mc:Fallback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502AB36E-013F-5602-1199-4DB686E5A4C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83384" y="1532237"/>
                <a:ext cx="1675243" cy="1077218"/>
              </a:xfrm>
              <a:prstGeom prst="rect">
                <a:avLst/>
              </a:prstGeom>
              <a:blipFill>
                <a:blip r:embed="rId5"/>
                <a:stretch>
                  <a:fillRect t="-2825" b="-11864"/>
                </a:stretch>
              </a:blipFill>
              <a:effectLst/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5" name="TextBox 34">
            <a:extLst>
              <a:ext uri="{FF2B5EF4-FFF2-40B4-BE49-F238E27FC236}">
                <a16:creationId xmlns:a16="http://schemas.microsoft.com/office/drawing/2014/main" id="{E66D263D-FFFF-06AA-141B-E74D0F87AFD0}"/>
              </a:ext>
            </a:extLst>
          </p:cNvPr>
          <p:cNvSpPr txBox="1"/>
          <p:nvPr/>
        </p:nvSpPr>
        <p:spPr>
          <a:xfrm>
            <a:off x="270961" y="2854601"/>
            <a:ext cx="5800529" cy="400110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lang="en-GB" sz="2000" b="1" u="none" strike="noStrike" dirty="0">
                <a:solidFill>
                  <a:srgbClr val="0000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Google Sans"/>
              </a:rPr>
              <a:t>Continuity Equation (mass conservation)</a:t>
            </a:r>
            <a:endParaRPr lang="LID4096" sz="2000" b="1" dirty="0">
              <a:solidFill>
                <a:srgbClr val="0000FF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F34DD6D9-35C5-F891-8CFE-3959BB5F9F6F}"/>
                  </a:ext>
                </a:extLst>
              </p:cNvPr>
              <p:cNvSpPr txBox="1"/>
              <p:nvPr/>
            </p:nvSpPr>
            <p:spPr>
              <a:xfrm>
                <a:off x="5864142" y="2855627"/>
                <a:ext cx="1362232" cy="43088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r>
                  <a:rPr lang="pt-BR" sz="2800" b="1" dirty="0">
                    <a:solidFill>
                      <a:schemeClr val="tx1"/>
                    </a:solidFill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pt-BR" sz="2800" b="1" i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𝛁</m:t>
                    </m:r>
                    <m:r>
                      <a:rPr lang="pt-BR" sz="2800" b="1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.</m:t>
                    </m:r>
                    <m:r>
                      <a:rPr lang="pt-BR" sz="2800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𝒖</m:t>
                    </m:r>
                    <m:r>
                      <a:rPr lang="pt-BR" sz="2800" b="1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pt-BR" sz="2800" b="1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𝟎</m:t>
                    </m:r>
                  </m:oMath>
                </a14:m>
                <a:endParaRPr lang="LID4096" sz="2800" b="1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F34DD6D9-35C5-F891-8CFE-3959BB5F9F6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64142" y="2855627"/>
                <a:ext cx="1362232" cy="430887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9" name="TextBox 38">
            <a:extLst>
              <a:ext uri="{FF2B5EF4-FFF2-40B4-BE49-F238E27FC236}">
                <a16:creationId xmlns:a16="http://schemas.microsoft.com/office/drawing/2014/main" id="{A5957222-A3DB-85F2-F22A-343ED12BEC06}"/>
              </a:ext>
            </a:extLst>
          </p:cNvPr>
          <p:cNvSpPr txBox="1"/>
          <p:nvPr/>
        </p:nvSpPr>
        <p:spPr>
          <a:xfrm>
            <a:off x="7895507" y="4521202"/>
            <a:ext cx="3888746" cy="40011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en-GB" sz="2000" b="1" u="none" strike="noStrike" dirty="0">
                <a:solidFill>
                  <a:srgbClr val="0000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Google Sans"/>
              </a:rPr>
              <a:t>Laser heat input       latent input </a:t>
            </a:r>
            <a:endParaRPr lang="LID4096" sz="2000" b="1" dirty="0">
              <a:solidFill>
                <a:srgbClr val="0000FF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644A6B13-4CA8-CE52-D5EE-CC8C23BE7FDF}"/>
                  </a:ext>
                </a:extLst>
              </p:cNvPr>
              <p:cNvSpPr txBox="1"/>
              <p:nvPr/>
            </p:nvSpPr>
            <p:spPr>
              <a:xfrm>
                <a:off x="9410765" y="1588721"/>
                <a:ext cx="2265797" cy="923330"/>
              </a:xfrm>
              <a:prstGeom prst="rect">
                <a:avLst/>
              </a:prstGeom>
              <a:noFill/>
              <a:effectLst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pt-BR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𝜶</m:t>
                    </m:r>
                  </m:oMath>
                </a14:m>
                <a:r>
                  <a:rPr lang="en-GB" b="1" dirty="0">
                    <a:solidFill>
                      <a:srgbClr val="FF0000"/>
                    </a:solidFill>
                    <a:latin typeface="Google Sans"/>
                  </a:rPr>
                  <a:t> = 0 (solid)</a:t>
                </a:r>
              </a:p>
              <a:p>
                <a14:m>
                  <m:oMath xmlns:m="http://schemas.openxmlformats.org/officeDocument/2006/math">
                    <m:r>
                      <a:rPr lang="pt-BR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𝜶</m:t>
                    </m:r>
                  </m:oMath>
                </a14:m>
                <a:r>
                  <a:rPr lang="en-GB" b="1" dirty="0">
                    <a:solidFill>
                      <a:srgbClr val="FF0000"/>
                    </a:solidFill>
                    <a:latin typeface="Google Sans"/>
                  </a:rPr>
                  <a:t> = 1 (liquid)</a:t>
                </a:r>
                <a:endParaRPr lang="LID4096" b="1" dirty="0">
                  <a:solidFill>
                    <a:srgbClr val="FF0000"/>
                  </a:solidFill>
                </a:endParaRPr>
              </a:p>
              <a:p>
                <a14:m>
                  <m:oMath xmlns:m="http://schemas.openxmlformats.org/officeDocument/2006/math">
                    <m:r>
                      <a:rPr lang="pt-BR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𝟎</m:t>
                    </m:r>
                    <m:r>
                      <a:rPr lang="pt-BR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&lt;</m:t>
                    </m:r>
                    <m:r>
                      <a:rPr lang="pt-BR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𝜶</m:t>
                    </m:r>
                  </m:oMath>
                </a14:m>
                <a:r>
                  <a:rPr lang="en-GB" b="1" dirty="0">
                    <a:solidFill>
                      <a:srgbClr val="FF0000"/>
                    </a:solidFill>
                    <a:latin typeface="Google Sans"/>
                  </a:rPr>
                  <a:t> &lt; 0 (interface)</a:t>
                </a:r>
                <a:endParaRPr lang="LID4096" b="1" dirty="0">
                  <a:solidFill>
                    <a:srgbClr val="FF0000"/>
                  </a:solidFill>
                </a:endParaRPr>
              </a:p>
            </p:txBody>
          </p:sp>
        </mc:Choice>
        <mc:Fallback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644A6B13-4CA8-CE52-D5EE-CC8C23BE7FD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10765" y="1588721"/>
                <a:ext cx="2265797" cy="923330"/>
              </a:xfrm>
              <a:prstGeom prst="rect">
                <a:avLst/>
              </a:prstGeom>
              <a:blipFill>
                <a:blip r:embed="rId7"/>
                <a:stretch>
                  <a:fillRect t="-3974" b="-9934"/>
                </a:stretch>
              </a:blipFill>
              <a:effectLst/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4" name="TextBox 43">
            <a:extLst>
              <a:ext uri="{FF2B5EF4-FFF2-40B4-BE49-F238E27FC236}">
                <a16:creationId xmlns:a16="http://schemas.microsoft.com/office/drawing/2014/main" id="{E46C37BF-E976-8AA5-2002-7B282F7CB412}"/>
              </a:ext>
            </a:extLst>
          </p:cNvPr>
          <p:cNvSpPr txBox="1"/>
          <p:nvPr/>
        </p:nvSpPr>
        <p:spPr>
          <a:xfrm>
            <a:off x="383670" y="226880"/>
            <a:ext cx="493128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3200" b="1" u="sng" strike="noStrike" dirty="0">
                <a:latin typeface="Calibri (Body)"/>
              </a:rPr>
              <a:t>CFD Methodology</a:t>
            </a:r>
            <a:endParaRPr lang="LID4096" sz="3200" b="1" u="sng" dirty="0">
              <a:latin typeface="Calibri (Body)"/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9D135F60-F138-044C-DEEB-BE10A10F14B1}"/>
              </a:ext>
            </a:extLst>
          </p:cNvPr>
          <p:cNvSpPr txBox="1"/>
          <p:nvPr/>
        </p:nvSpPr>
        <p:spPr>
          <a:xfrm>
            <a:off x="383670" y="5266443"/>
            <a:ext cx="2693595" cy="307777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anchor="ctr" anchorCtr="0">
            <a:noAutofit/>
          </a:bodyPr>
          <a:lstStyle/>
          <a:p>
            <a:r>
              <a:rPr lang="en-GB" sz="2000" b="1" u="none" strike="noStrike" dirty="0">
                <a:solidFill>
                  <a:srgbClr val="0000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Google Sans"/>
              </a:rPr>
              <a:t>Energy conservation</a:t>
            </a:r>
            <a:endParaRPr lang="LID4096" sz="2000" b="1" dirty="0">
              <a:solidFill>
                <a:srgbClr val="0000FF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grpSp>
        <p:nvGrpSpPr>
          <p:cNvPr id="51" name="Group 50">
            <a:extLst>
              <a:ext uri="{FF2B5EF4-FFF2-40B4-BE49-F238E27FC236}">
                <a16:creationId xmlns:a16="http://schemas.microsoft.com/office/drawing/2014/main" id="{B07E8784-62C9-8E9E-031E-8672EBE9D17A}"/>
              </a:ext>
            </a:extLst>
          </p:cNvPr>
          <p:cNvGrpSpPr/>
          <p:nvPr/>
        </p:nvGrpSpPr>
        <p:grpSpPr>
          <a:xfrm>
            <a:off x="296363" y="2724299"/>
            <a:ext cx="11616517" cy="1707082"/>
            <a:chOff x="296363" y="2519645"/>
            <a:chExt cx="11616517" cy="1707082"/>
          </a:xfrm>
        </p:grpSpPr>
        <p:pic>
          <p:nvPicPr>
            <p:cNvPr id="49" name="Picture 48">
              <a:extLst>
                <a:ext uri="{FF2B5EF4-FFF2-40B4-BE49-F238E27FC236}">
                  <a16:creationId xmlns:a16="http://schemas.microsoft.com/office/drawing/2014/main" id="{82EBD62A-9AA4-2364-9DB5-A2E80B72F20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t="59089" b="22256"/>
            <a:stretch>
              <a:fillRect/>
            </a:stretch>
          </p:blipFill>
          <p:spPr>
            <a:xfrm>
              <a:off x="296363" y="3164572"/>
              <a:ext cx="11616517" cy="1062155"/>
            </a:xfrm>
            <a:prstGeom prst="rect">
              <a:avLst/>
            </a:prstGeom>
            <a:noFill/>
            <a:ln>
              <a:noFill/>
            </a:ln>
            <a:effectLst/>
          </p:spPr>
        </p:pic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23B91431-B75F-3489-710F-E4303CA16694}"/>
                </a:ext>
              </a:extLst>
            </p:cNvPr>
            <p:cNvSpPr txBox="1"/>
            <p:nvPr/>
          </p:nvSpPr>
          <p:spPr>
            <a:xfrm>
              <a:off x="314505" y="3400569"/>
              <a:ext cx="2807896" cy="453826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lIns="0" tIns="0" rIns="0" bIns="0" anchor="ctr" anchorCtr="0">
              <a:noAutofit/>
            </a:bodyPr>
            <a:lstStyle/>
            <a:p>
              <a:pPr algn="ctr"/>
              <a:r>
                <a:rPr lang="en-GB" sz="2000" b="1" u="none" strike="noStrike" dirty="0">
                  <a:solidFill>
                    <a:srgbClr val="0000FF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Google Sans"/>
                </a:rPr>
                <a:t>Momentum conservation</a:t>
              </a:r>
              <a:endParaRPr lang="LID4096" sz="2000" b="1" dirty="0">
                <a:solidFill>
                  <a:srgbClr val="0000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endParaRPr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7F1E3B3D-BF74-FBBD-5231-49BE03323EE8}"/>
                </a:ext>
              </a:extLst>
            </p:cNvPr>
            <p:cNvSpPr txBox="1"/>
            <p:nvPr/>
          </p:nvSpPr>
          <p:spPr>
            <a:xfrm>
              <a:off x="9467850" y="2519645"/>
              <a:ext cx="2265796" cy="707886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</p:spPr>
          <p:txBody>
            <a:bodyPr wrap="square">
              <a:spAutoFit/>
            </a:bodyPr>
            <a:lstStyle/>
            <a:p>
              <a:pPr algn="ctr"/>
              <a:r>
                <a:rPr lang="en-GB" sz="2000" b="1" u="none" strike="noStrike" dirty="0">
                  <a:solidFill>
                    <a:srgbClr val="0000FF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Google Sans"/>
                </a:rPr>
                <a:t>Surface tension </a:t>
              </a:r>
            </a:p>
            <a:p>
              <a:pPr algn="ctr"/>
              <a:r>
                <a:rPr lang="en-GB" sz="2000" b="1" u="none" strike="noStrike" dirty="0">
                  <a:solidFill>
                    <a:srgbClr val="0000FF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Google Sans"/>
                </a:rPr>
                <a:t>Marangoni force</a:t>
              </a:r>
              <a:endParaRPr lang="LID4096" sz="2000" b="1" dirty="0">
                <a:solidFill>
                  <a:srgbClr val="0000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endParaRPr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E1C57D7A-52BC-3883-3AB1-1894146B1700}"/>
              </a:ext>
            </a:extLst>
          </p:cNvPr>
          <p:cNvGrpSpPr/>
          <p:nvPr/>
        </p:nvGrpSpPr>
        <p:grpSpPr>
          <a:xfrm>
            <a:off x="9224223" y="4967978"/>
            <a:ext cx="2141838" cy="187824"/>
            <a:chOff x="9224223" y="4686319"/>
            <a:chExt cx="2141838" cy="286597"/>
          </a:xfrm>
        </p:grpSpPr>
        <p:sp>
          <p:nvSpPr>
            <p:cNvPr id="3" name="Arrow: Down 2">
              <a:extLst>
                <a:ext uri="{FF2B5EF4-FFF2-40B4-BE49-F238E27FC236}">
                  <a16:creationId xmlns:a16="http://schemas.microsoft.com/office/drawing/2014/main" id="{FA345EE5-1FBC-C64A-AA9E-36628533B164}"/>
                </a:ext>
              </a:extLst>
            </p:cNvPr>
            <p:cNvSpPr/>
            <p:nvPr/>
          </p:nvSpPr>
          <p:spPr>
            <a:xfrm>
              <a:off x="9224223" y="4686319"/>
              <a:ext cx="339205" cy="286597"/>
            </a:xfrm>
            <a:prstGeom prst="downArrow">
              <a:avLst/>
            </a:prstGeom>
            <a:solidFill>
              <a:srgbClr val="0033C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 dirty="0"/>
            </a:p>
          </p:txBody>
        </p:sp>
        <p:sp>
          <p:nvSpPr>
            <p:cNvPr id="5" name="Arrow: Down 4">
              <a:extLst>
                <a:ext uri="{FF2B5EF4-FFF2-40B4-BE49-F238E27FC236}">
                  <a16:creationId xmlns:a16="http://schemas.microsoft.com/office/drawing/2014/main" id="{68520981-5B4A-BFEB-72E1-C0718E35858C}"/>
                </a:ext>
              </a:extLst>
            </p:cNvPr>
            <p:cNvSpPr/>
            <p:nvPr/>
          </p:nvSpPr>
          <p:spPr>
            <a:xfrm>
              <a:off x="11026856" y="4686319"/>
              <a:ext cx="339205" cy="286597"/>
            </a:xfrm>
            <a:prstGeom prst="downArrow">
              <a:avLst/>
            </a:prstGeom>
            <a:solidFill>
              <a:srgbClr val="0033C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431F4CE9-F311-EE29-6519-1396E63DC8DB}"/>
              </a:ext>
            </a:extLst>
          </p:cNvPr>
          <p:cNvSpPr txBox="1"/>
          <p:nvPr/>
        </p:nvSpPr>
        <p:spPr>
          <a:xfrm>
            <a:off x="0" y="5872105"/>
            <a:ext cx="12202463" cy="976877"/>
          </a:xfrm>
          <a:prstGeom prst="rect">
            <a:avLst/>
          </a:prstGeom>
          <a:solidFill>
            <a:srgbClr val="E5FFF6"/>
          </a:solidFill>
          <a:ln>
            <a:noFill/>
          </a:ln>
        </p:spPr>
        <p:txBody>
          <a:bodyPr wrap="square" lIns="0" tIns="0" rIns="182880" bIns="0" anchor="ctr" anchorCtr="0">
            <a:noAutofit/>
          </a:bodyPr>
          <a:lstStyle/>
          <a:p>
            <a:pPr algn="r"/>
            <a:r>
              <a:rPr lang="en-GB" sz="1900" b="1" u="none" strike="noStrike" dirty="0">
                <a:solidFill>
                  <a:srgbClr val="0000FF"/>
                </a:solidFill>
                <a:effectLst/>
                <a:latin typeface="Google Sans"/>
              </a:rPr>
              <a:t>“… the basis of how the simulation solver is modelled and </a:t>
            </a:r>
          </a:p>
          <a:p>
            <a:pPr algn="r"/>
            <a:r>
              <a:rPr lang="en-GB" sz="1900" b="1" u="none" strike="noStrike" dirty="0">
                <a:solidFill>
                  <a:srgbClr val="FF0000"/>
                </a:solidFill>
                <a:effectLst/>
                <a:latin typeface="Google Sans"/>
              </a:rPr>
              <a:t>how we can rely on the data that has been predicted </a:t>
            </a:r>
            <a:r>
              <a:rPr lang="en-GB" sz="1900" b="1" u="none" strike="noStrike" dirty="0">
                <a:solidFill>
                  <a:srgbClr val="00B050"/>
                </a:solidFill>
                <a:effectLst/>
                <a:latin typeface="Google Sans"/>
              </a:rPr>
              <a:t>… based on this robust physic equations that are provided ” </a:t>
            </a:r>
          </a:p>
          <a:p>
            <a:pPr algn="r"/>
            <a:endParaRPr lang="LID4096" sz="1400" b="1" dirty="0">
              <a:solidFill>
                <a:srgbClr val="00B050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0E8FB94-86F6-2C05-AADA-342736A2CDC8}"/>
              </a:ext>
            </a:extLst>
          </p:cNvPr>
          <p:cNvSpPr txBox="1"/>
          <p:nvPr/>
        </p:nvSpPr>
        <p:spPr>
          <a:xfrm>
            <a:off x="9897626" y="6504376"/>
            <a:ext cx="230483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LID4096"/>
            </a:defPPr>
            <a:lvl1pPr>
              <a:defRPr sz="1400" b="1" i="0" u="none" strike="noStrike" baseline="0">
                <a:solidFill>
                  <a:schemeClr val="accent2"/>
                </a:solidFill>
                <a:latin typeface="AdvOTa2fa4214.B"/>
              </a:defRPr>
            </a:lvl1pPr>
          </a:lstStyle>
          <a:p>
            <a:pPr algn="r"/>
            <a:r>
              <a:rPr lang="LID4096" sz="1800" dirty="0"/>
              <a:t>AM PravaH®</a:t>
            </a:r>
          </a:p>
        </p:txBody>
      </p:sp>
    </p:spTree>
    <p:extLst>
      <p:ext uri="{BB962C8B-B14F-4D97-AF65-F5344CB8AC3E}">
        <p14:creationId xmlns:p14="http://schemas.microsoft.com/office/powerpoint/2010/main" val="117274426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B372A31-4535-5889-B031-7F639D5F8DA2}"/>
              </a:ext>
            </a:extLst>
          </p:cNvPr>
          <p:cNvSpPr/>
          <p:nvPr/>
        </p:nvSpPr>
        <p:spPr>
          <a:xfrm>
            <a:off x="0" y="1"/>
            <a:ext cx="12192000" cy="6858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19D5A93-641C-ED55-E5B0-9FA35FCBAEB8}"/>
              </a:ext>
            </a:extLst>
          </p:cNvPr>
          <p:cNvSpPr txBox="1"/>
          <p:nvPr/>
        </p:nvSpPr>
        <p:spPr>
          <a:xfrm>
            <a:off x="843993" y="376033"/>
            <a:ext cx="6096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800" b="1" i="0" u="none" strike="noStrike" baseline="0" dirty="0">
                <a:solidFill>
                  <a:srgbClr val="0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haris SIL"/>
              </a:rPr>
              <a:t>Heat Affected Zone (HAZ)</a:t>
            </a:r>
            <a:endParaRPr lang="LID4096" sz="66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A99D9C9-9B3A-C2E2-304D-58E8755D1B5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6027" t="14307" r="35724" b="19738"/>
          <a:stretch>
            <a:fillRect/>
          </a:stretch>
        </p:blipFill>
        <p:spPr>
          <a:xfrm>
            <a:off x="391846" y="978344"/>
            <a:ext cx="1383223" cy="248385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356D3E41-9434-80D6-4E99-7BB9A2B55FCD}"/>
              </a:ext>
            </a:extLst>
          </p:cNvPr>
          <p:cNvSpPr txBox="1"/>
          <p:nvPr/>
        </p:nvSpPr>
        <p:spPr>
          <a:xfrm>
            <a:off x="1942286" y="1817843"/>
            <a:ext cx="5259704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800" b="1" i="0" u="none" strike="noStrike" baseline="0" dirty="0">
                <a:solidFill>
                  <a:srgbClr val="000000"/>
                </a:solidFill>
                <a:latin typeface="Charis SIL"/>
              </a:rPr>
              <a:t>the balance of energy equation</a:t>
            </a:r>
          </a:p>
          <a:p>
            <a:r>
              <a:rPr lang="en-GB" sz="2800" b="1" dirty="0">
                <a:solidFill>
                  <a:srgbClr val="000000"/>
                </a:solidFill>
                <a:latin typeface="Charis SIL"/>
              </a:rPr>
              <a:t>    + </a:t>
            </a:r>
            <a:r>
              <a:rPr lang="en-GB" sz="2800" b="1" i="0" u="none" strike="noStrike" baseline="0" dirty="0">
                <a:solidFill>
                  <a:srgbClr val="000000"/>
                </a:solidFill>
                <a:latin typeface="Charis SIL"/>
              </a:rPr>
              <a:t>phase change </a:t>
            </a:r>
          </a:p>
          <a:p>
            <a:r>
              <a:rPr lang="en-GB" sz="2800" b="1" dirty="0">
                <a:solidFill>
                  <a:srgbClr val="000000"/>
                </a:solidFill>
                <a:latin typeface="Charis SIL"/>
              </a:rPr>
              <a:t>    + </a:t>
            </a:r>
            <a:r>
              <a:rPr lang="en-GB" sz="2800" b="1" i="0" u="none" strike="noStrike" baseline="0" dirty="0">
                <a:solidFill>
                  <a:srgbClr val="000000"/>
                </a:solidFill>
                <a:latin typeface="Charis SIL"/>
              </a:rPr>
              <a:t>growing domain</a:t>
            </a:r>
            <a:endParaRPr lang="LID4096" sz="2800" b="1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2D6F1F8-B1CC-6223-0A12-E2FCBA87E2E9}"/>
              </a:ext>
            </a:extLst>
          </p:cNvPr>
          <p:cNvSpPr txBox="1"/>
          <p:nvPr/>
        </p:nvSpPr>
        <p:spPr>
          <a:xfrm>
            <a:off x="1950721" y="1029795"/>
            <a:ext cx="401640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LID4096" sz="2800" b="1" dirty="0">
                <a:solidFill>
                  <a:srgbClr val="0000FF"/>
                </a:solidFill>
              </a:rPr>
              <a:t>multi-timestep</a:t>
            </a:r>
            <a:r>
              <a:rPr lang="pt-BR" sz="2800" b="1" dirty="0">
                <a:solidFill>
                  <a:srgbClr val="0000FF"/>
                </a:solidFill>
              </a:rPr>
              <a:t> </a:t>
            </a:r>
            <a:r>
              <a:rPr lang="LID4096" sz="2800" b="1" dirty="0">
                <a:solidFill>
                  <a:srgbClr val="0000FF"/>
                </a:solidFill>
              </a:rPr>
              <a:t>method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60B9153-75B0-027B-C081-E78A1381EC58}"/>
              </a:ext>
            </a:extLst>
          </p:cNvPr>
          <p:cNvSpPr txBox="1"/>
          <p:nvPr/>
        </p:nvSpPr>
        <p:spPr>
          <a:xfrm>
            <a:off x="6357260" y="564188"/>
            <a:ext cx="4158340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LID4096"/>
            </a:defPPr>
            <a:lvl1pPr>
              <a:defRPr sz="2400" b="1" i="0" u="none" strike="noStrike" baseline="0">
                <a:solidFill>
                  <a:srgbClr val="000000"/>
                </a:solidFill>
                <a:latin typeface="Charis SIL"/>
              </a:defRPr>
            </a:lvl1pPr>
          </a:lstStyle>
          <a:p>
            <a:r>
              <a:rPr lang="LID4096" sz="2600" dirty="0"/>
              <a:t>latent heat treatment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D2A4ADE-6940-4338-444E-1058736549F8}"/>
              </a:ext>
            </a:extLst>
          </p:cNvPr>
          <p:cNvSpPr txBox="1"/>
          <p:nvPr/>
        </p:nvSpPr>
        <p:spPr>
          <a:xfrm>
            <a:off x="7201990" y="978344"/>
            <a:ext cx="4742760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600" b="1" i="0" u="none" strike="noStrike" baseline="0" dirty="0">
                <a:solidFill>
                  <a:srgbClr val="000000"/>
                </a:solidFill>
                <a:latin typeface="Charis SIL"/>
              </a:rPr>
              <a:t>born-dead element technique</a:t>
            </a:r>
            <a:endParaRPr lang="LID4096" sz="2600" b="1" dirty="0"/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B36A24B8-634C-02D0-93D4-D9DF7CAD6657}"/>
              </a:ext>
            </a:extLst>
          </p:cNvPr>
          <p:cNvSpPr/>
          <p:nvPr/>
        </p:nvSpPr>
        <p:spPr>
          <a:xfrm>
            <a:off x="43544" y="-21164"/>
            <a:ext cx="4667794" cy="634862"/>
          </a:xfrm>
          <a:prstGeom prst="roundRect">
            <a:avLst/>
          </a:prstGeom>
          <a:noFill/>
        </p:spPr>
        <p:txBody>
          <a:bodyPr wrap="square" lIns="0" tIns="0" rIns="0" bIns="0" anchor="t" anchorCtr="0">
            <a:noAutofit/>
          </a:bodyPr>
          <a:lstStyle/>
          <a:p>
            <a:r>
              <a:rPr lang="pt-BR" sz="3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EX:</a:t>
            </a:r>
            <a:endParaRPr lang="pt-BR" sz="3200" noProof="0" dirty="0">
              <a:solidFill>
                <a:srgbClr val="FF0000"/>
              </a:solidFill>
              <a:latin typeface="Times New Roman" panose="02020603050405020304" pitchFamily="18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5E651B0-B3B9-A010-8E1E-4114FB97C730}"/>
              </a:ext>
            </a:extLst>
          </p:cNvPr>
          <p:cNvSpPr txBox="1"/>
          <p:nvPr/>
        </p:nvSpPr>
        <p:spPr>
          <a:xfrm>
            <a:off x="391846" y="3625496"/>
            <a:ext cx="8447354" cy="3105153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endParaRPr lang="LID4096" dirty="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15A2E344-759F-7698-5C8C-5B37EF03C37A}"/>
              </a:ext>
            </a:extLst>
          </p:cNvPr>
          <p:cNvGrpSpPr/>
          <p:nvPr/>
        </p:nvGrpSpPr>
        <p:grpSpPr>
          <a:xfrm>
            <a:off x="374470" y="3625497"/>
            <a:ext cx="8239278" cy="3045468"/>
            <a:chOff x="374470" y="3625497"/>
            <a:chExt cx="8239278" cy="3045468"/>
          </a:xfrm>
        </p:grpSpPr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1FF72EBC-F7DC-34D1-9A2F-C0455CBFCFF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74470" y="3625497"/>
              <a:ext cx="7977050" cy="1649188"/>
            </a:xfrm>
            <a:prstGeom prst="rect">
              <a:avLst/>
            </a:prstGeom>
          </p:spPr>
        </p:pic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D42D4601-15DD-F79C-B8C9-2B4871CC5FD0}"/>
                </a:ext>
              </a:extLst>
            </p:cNvPr>
            <p:cNvSpPr txBox="1"/>
            <p:nvPr/>
          </p:nvSpPr>
          <p:spPr>
            <a:xfrm>
              <a:off x="458114" y="4223406"/>
              <a:ext cx="3605544" cy="156966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sz="2400" b="1" u="none" strike="noStrike" baseline="0" dirty="0">
                  <a:solidFill>
                    <a:srgbClr val="0000FF"/>
                  </a:solidFill>
                  <a:latin typeface="STIXMath"/>
                </a:rPr>
                <a:t>𝜌,𝑐</a:t>
              </a:r>
              <a:r>
                <a:rPr lang="en-GB" sz="1000" b="1" u="none" strike="noStrike" baseline="0" dirty="0">
                  <a:solidFill>
                    <a:srgbClr val="0000FF"/>
                  </a:solidFill>
                  <a:latin typeface="STIXMath"/>
                </a:rPr>
                <a:t>𝑝</a:t>
              </a:r>
              <a:r>
                <a:rPr lang="en-GB" sz="2400" b="1" u="none" strike="noStrike" baseline="0" dirty="0">
                  <a:solidFill>
                    <a:srgbClr val="0000FF"/>
                  </a:solidFill>
                  <a:latin typeface="STIXMath"/>
                </a:rPr>
                <a:t>,𝐿,𝑓</a:t>
              </a:r>
              <a:r>
                <a:rPr lang="en-GB" sz="1000" b="1" u="none" strike="noStrike" baseline="0" dirty="0">
                  <a:solidFill>
                    <a:srgbClr val="0000FF"/>
                  </a:solidFill>
                  <a:latin typeface="STIXMath"/>
                </a:rPr>
                <a:t>𝑙 </a:t>
              </a:r>
              <a:r>
                <a:rPr lang="en-GB" sz="2400" b="1" dirty="0">
                  <a:solidFill>
                    <a:srgbClr val="0000FF"/>
                  </a:solidFill>
                  <a:latin typeface="STIXMath"/>
                </a:rPr>
                <a:t>,𝑟 </a:t>
              </a:r>
              <a:r>
                <a:rPr lang="en-GB" sz="2400" b="1" u="none" strike="noStrike" baseline="0" dirty="0">
                  <a:solidFill>
                    <a:srgbClr val="0000FF"/>
                  </a:solidFill>
                  <a:latin typeface="STIXMath"/>
                </a:rPr>
                <a:t> </a:t>
              </a:r>
            </a:p>
            <a:p>
              <a:r>
                <a:rPr lang="en-GB" sz="1800" b="0" i="0" u="none" strike="noStrike" baseline="0" dirty="0">
                  <a:solidFill>
                    <a:srgbClr val="000000"/>
                  </a:solidFill>
                  <a:latin typeface="Charis SIL"/>
                </a:rPr>
                <a:t>1    density</a:t>
              </a:r>
            </a:p>
            <a:p>
              <a:r>
                <a:rPr lang="en-GB" sz="1800" b="0" i="0" u="none" strike="noStrike" baseline="0" dirty="0">
                  <a:solidFill>
                    <a:srgbClr val="000000"/>
                  </a:solidFill>
                  <a:latin typeface="Charis SIL"/>
                </a:rPr>
                <a:t>2    specific and latent heats</a:t>
              </a:r>
            </a:p>
            <a:p>
              <a:r>
                <a:rPr lang="en-GB" sz="1800" b="0" i="0" u="none" strike="noStrike" baseline="0" dirty="0">
                  <a:solidFill>
                    <a:srgbClr val="000000"/>
                  </a:solidFill>
                  <a:latin typeface="Charis SIL"/>
                </a:rPr>
                <a:t>3,4 liquid fraction and </a:t>
              </a:r>
            </a:p>
            <a:p>
              <a:r>
                <a:rPr lang="en-GB" sz="1800" b="0" i="0" u="none" strike="noStrike" baseline="0" dirty="0">
                  <a:solidFill>
                    <a:srgbClr val="000000"/>
                  </a:solidFill>
                  <a:latin typeface="Charis SIL"/>
                </a:rPr>
                <a:t>5    power density </a:t>
              </a:r>
              <a:endParaRPr lang="LID4096" dirty="0"/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B4614344-6462-498D-3537-B52335A1FEBA}"/>
                </a:ext>
              </a:extLst>
            </p:cNvPr>
            <p:cNvSpPr txBox="1"/>
            <p:nvPr/>
          </p:nvSpPr>
          <p:spPr>
            <a:xfrm>
              <a:off x="4362995" y="5378303"/>
              <a:ext cx="4250753" cy="1292662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>
              <a:spAutoFit/>
            </a:bodyPr>
            <a:lstStyle/>
            <a:p>
              <a:r>
                <a:rPr lang="en-US" sz="2400" b="1" u="none" strike="noStrike" baseline="0" dirty="0" err="1">
                  <a:solidFill>
                    <a:srgbClr val="0000FF"/>
                  </a:solidFill>
                  <a:latin typeface="STIXMath"/>
                </a:rPr>
                <a:t>ℎ</a:t>
              </a:r>
              <a:r>
                <a:rPr lang="en-US" sz="1000" b="1" u="none" strike="noStrike" baseline="0" dirty="0" err="1">
                  <a:solidFill>
                    <a:srgbClr val="0000FF"/>
                  </a:solidFill>
                  <a:latin typeface="Charis SIL"/>
                </a:rPr>
                <a:t>conv</a:t>
              </a:r>
              <a:r>
                <a:rPr lang="en-US" sz="2400" b="1" u="none" strike="noStrike" baseline="0" dirty="0">
                  <a:solidFill>
                    <a:srgbClr val="0000FF"/>
                  </a:solidFill>
                  <a:latin typeface="Charis SIL"/>
                </a:rPr>
                <a:t>, </a:t>
              </a:r>
              <a:r>
                <a:rPr lang="en-US" sz="2400" b="1" u="none" strike="noStrike" baseline="0" dirty="0">
                  <a:solidFill>
                    <a:srgbClr val="0000FF"/>
                  </a:solidFill>
                  <a:latin typeface="STIXMath"/>
                </a:rPr>
                <a:t>𝜀</a:t>
              </a:r>
              <a:r>
                <a:rPr lang="en-US" sz="2400" b="1" u="none" strike="noStrike" baseline="0" dirty="0">
                  <a:solidFill>
                    <a:srgbClr val="0000FF"/>
                  </a:solidFill>
                  <a:latin typeface="Charis SIL"/>
                </a:rPr>
                <a:t>, </a:t>
              </a:r>
              <a:r>
                <a:rPr lang="en-US" sz="2400" b="1" u="none" strike="noStrike" baseline="0" dirty="0">
                  <a:solidFill>
                    <a:srgbClr val="0000FF"/>
                  </a:solidFill>
                  <a:latin typeface="STIXMath"/>
                </a:rPr>
                <a:t>𝜎</a:t>
              </a:r>
              <a:r>
                <a:rPr lang="en-US" sz="2400" b="1" u="none" strike="noStrike" baseline="0" dirty="0">
                  <a:solidFill>
                    <a:srgbClr val="0000FF"/>
                  </a:solidFill>
                  <a:latin typeface="Charis SIL"/>
                </a:rPr>
                <a:t>, </a:t>
              </a:r>
              <a:r>
                <a:rPr lang="en-US" sz="2400" b="1" u="none" strike="noStrike" baseline="0" dirty="0">
                  <a:solidFill>
                    <a:srgbClr val="0000FF"/>
                  </a:solidFill>
                  <a:latin typeface="STIXMath"/>
                </a:rPr>
                <a:t>𝑇</a:t>
              </a:r>
              <a:r>
                <a:rPr lang="en-US" sz="1000" b="1" u="none" strike="noStrike" baseline="0" dirty="0">
                  <a:solidFill>
                    <a:srgbClr val="0000FF"/>
                  </a:solidFill>
                  <a:latin typeface="Charis SIL"/>
                </a:rPr>
                <a:t>env</a:t>
              </a:r>
              <a:r>
                <a:rPr lang="en-US" sz="2400" b="1" u="none" strike="noStrike" baseline="0" dirty="0">
                  <a:solidFill>
                    <a:srgbClr val="0000FF"/>
                  </a:solidFill>
                  <a:latin typeface="Charis SIL"/>
                </a:rPr>
                <a:t>, </a:t>
              </a:r>
              <a:r>
                <a:rPr lang="en-US" sz="2400" b="1" u="none" strike="noStrike" baseline="0" dirty="0">
                  <a:solidFill>
                    <a:srgbClr val="0000FF"/>
                  </a:solidFill>
                  <a:latin typeface="STIXMath"/>
                </a:rPr>
                <a:t>𝑇</a:t>
              </a:r>
              <a:r>
                <a:rPr lang="en-US" sz="1000" b="1" u="none" strike="noStrike" baseline="0" dirty="0">
                  <a:solidFill>
                    <a:srgbClr val="0000FF"/>
                  </a:solidFill>
                  <a:latin typeface="STIXMath"/>
                </a:rPr>
                <a:t>0</a:t>
              </a:r>
            </a:p>
            <a:p>
              <a:r>
                <a:rPr lang="en-US" sz="1800" b="0" i="0" u="none" strike="noStrike" baseline="0" dirty="0">
                  <a:solidFill>
                    <a:srgbClr val="000000"/>
                  </a:solidFill>
                  <a:latin typeface="Charis SIL"/>
                </a:rPr>
                <a:t>1.2 convection heat transfer coefficient</a:t>
              </a:r>
            </a:p>
            <a:p>
              <a:r>
                <a:rPr lang="en-US" sz="1800" b="0" i="0" u="none" strike="noStrike" baseline="0" dirty="0">
                  <a:solidFill>
                    <a:srgbClr val="000000"/>
                  </a:solidFill>
                  <a:latin typeface="Charis SIL"/>
                </a:rPr>
                <a:t>3    emissivity, Stefan–Boltzmann cte</a:t>
              </a:r>
            </a:p>
            <a:p>
              <a:r>
                <a:rPr lang="en-US" sz="1800" b="0" i="0" u="none" strike="noStrike" baseline="0" dirty="0">
                  <a:solidFill>
                    <a:srgbClr val="000000"/>
                  </a:solidFill>
                  <a:latin typeface="Charis SIL"/>
                </a:rPr>
                <a:t>4,5 environment &amp; initial temperatures </a:t>
              </a:r>
              <a:endParaRPr lang="LID4096" dirty="0"/>
            </a:p>
          </p:txBody>
        </p:sp>
      </p:grpSp>
    </p:spTree>
    <p:extLst>
      <p:ext uri="{BB962C8B-B14F-4D97-AF65-F5344CB8AC3E}">
        <p14:creationId xmlns:p14="http://schemas.microsoft.com/office/powerpoint/2010/main" val="105790681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F138DA-AD81-0282-9C11-F23B1B5834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52171260-EB76-CA4B-243D-37924966B69A}"/>
              </a:ext>
            </a:extLst>
          </p:cNvPr>
          <p:cNvSpPr/>
          <p:nvPr/>
        </p:nvSpPr>
        <p:spPr>
          <a:xfrm>
            <a:off x="0" y="1"/>
            <a:ext cx="12192000" cy="68580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C351F313-CDCA-58BB-8BD2-FF282BB3FC95}"/>
              </a:ext>
            </a:extLst>
          </p:cNvPr>
          <p:cNvSpPr/>
          <p:nvPr/>
        </p:nvSpPr>
        <p:spPr>
          <a:xfrm>
            <a:off x="6421922" y="201481"/>
            <a:ext cx="5071603" cy="318411"/>
          </a:xfrm>
          <a:prstGeom prst="roundRect">
            <a:avLst/>
          </a:prstGeom>
          <a:solidFill>
            <a:schemeClr val="bg1"/>
          </a:solidFill>
        </p:spPr>
        <p:txBody>
          <a:bodyPr wrap="square" lIns="0" tIns="0" rIns="0" bIns="0" anchor="ctr" anchorCtr="0">
            <a:noAutofit/>
          </a:bodyPr>
          <a:lstStyle/>
          <a:p>
            <a:r>
              <a:rPr lang="en-US" sz="2400" b="1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Horley Old Style MT"/>
              </a:rPr>
              <a:t>Directed Energy Deposition (DED - </a:t>
            </a:r>
            <a:r>
              <a:rPr lang="en-US" sz="2400" b="1" u="sng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Horley Old Style MT"/>
              </a:rPr>
              <a:t>ARC</a:t>
            </a:r>
            <a:r>
              <a:rPr lang="en-US" sz="2400" b="1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Horley Old Style MT"/>
              </a:rPr>
              <a:t>)</a:t>
            </a:r>
            <a:endParaRPr lang="LID4096" sz="2400" b="1" dirty="0">
              <a:solidFill>
                <a:srgbClr val="FF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Horley Old Style MT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8C70260-0027-6F19-2E23-7B17D61F949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3587"/>
          <a:stretch>
            <a:fillRect/>
          </a:stretch>
        </p:blipFill>
        <p:spPr>
          <a:xfrm>
            <a:off x="6318648" y="697078"/>
            <a:ext cx="4707798" cy="3530848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591E2041-643C-7461-CAB6-1FABB2F6DD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9562" y="697078"/>
            <a:ext cx="5482503" cy="1800225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BA49131F-7BC5-1788-F128-F560ABDEEE83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7277" r="53402" b="72066"/>
          <a:stretch>
            <a:fillRect/>
          </a:stretch>
        </p:blipFill>
        <p:spPr>
          <a:xfrm>
            <a:off x="4366517" y="3689352"/>
            <a:ext cx="1201540" cy="377823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234A704C-E8A1-A87D-AE5A-EAA60B8C5BFD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2122" t="11952" r="3891" b="9751"/>
          <a:stretch>
            <a:fillRect/>
          </a:stretch>
        </p:blipFill>
        <p:spPr>
          <a:xfrm>
            <a:off x="309562" y="4605168"/>
            <a:ext cx="5482503" cy="1209675"/>
          </a:xfrm>
          <a:prstGeom prst="rect">
            <a:avLst/>
          </a:prstGeom>
          <a:ln w="38100">
            <a:solidFill>
              <a:srgbClr val="FF0000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17FA0806-70A3-4910-06CF-170AAEDF5823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7277" t="38368"/>
          <a:stretch>
            <a:fillRect/>
          </a:stretch>
        </p:blipFill>
        <p:spPr>
          <a:xfrm>
            <a:off x="1371736" y="3689352"/>
            <a:ext cx="2833384" cy="833604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sp>
        <p:nvSpPr>
          <p:cNvPr id="28" name="TextBox 27">
            <a:extLst>
              <a:ext uri="{FF2B5EF4-FFF2-40B4-BE49-F238E27FC236}">
                <a16:creationId xmlns:a16="http://schemas.microsoft.com/office/drawing/2014/main" id="{B24E538B-A9C6-7696-6587-F44F87DA13D0}"/>
              </a:ext>
            </a:extLst>
          </p:cNvPr>
          <p:cNvSpPr txBox="1"/>
          <p:nvPr/>
        </p:nvSpPr>
        <p:spPr>
          <a:xfrm>
            <a:off x="4386095" y="2669752"/>
            <a:ext cx="181468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LID4096" dirty="0"/>
              <a:t>new </a:t>
            </a:r>
            <a:r>
              <a:rPr lang="pt-BR" dirty="0"/>
              <a:t>(</a:t>
            </a:r>
            <a:r>
              <a:rPr lang="LID4096" dirty="0"/>
              <a:t>x</a:t>
            </a:r>
            <a:r>
              <a:rPr lang="pt-BR" dirty="0"/>
              <a:t>) </a:t>
            </a:r>
            <a:r>
              <a:rPr lang="LID4096" dirty="0"/>
              <a:t>coordinate system</a:t>
            </a:r>
          </a:p>
        </p:txBody>
      </p:sp>
      <p:grpSp>
        <p:nvGrpSpPr>
          <p:cNvPr id="45" name="Group 44">
            <a:extLst>
              <a:ext uri="{FF2B5EF4-FFF2-40B4-BE49-F238E27FC236}">
                <a16:creationId xmlns:a16="http://schemas.microsoft.com/office/drawing/2014/main" id="{99061413-9D3E-67F9-AA5E-5FB998882026}"/>
              </a:ext>
            </a:extLst>
          </p:cNvPr>
          <p:cNvGrpSpPr/>
          <p:nvPr/>
        </p:nvGrpSpPr>
        <p:grpSpPr>
          <a:xfrm>
            <a:off x="309562" y="2586206"/>
            <a:ext cx="4272499" cy="1050542"/>
            <a:chOff x="309562" y="2586206"/>
            <a:chExt cx="4272499" cy="1050542"/>
          </a:xfrm>
        </p:grpSpPr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C70DCF73-A2E1-5797-7CD7-A93E4548113F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309562" y="2586206"/>
              <a:ext cx="4272499" cy="1014243"/>
            </a:xfrm>
            <a:prstGeom prst="rect">
              <a:avLst/>
            </a:prstGeom>
            <a:ln>
              <a:solidFill>
                <a:schemeClr val="tx1"/>
              </a:solidFill>
            </a:ln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</p:pic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59EF701A-C34B-76DB-2B0D-E041B1D4143D}"/>
                </a:ext>
              </a:extLst>
            </p:cNvPr>
            <p:cNvSpPr txBox="1"/>
            <p:nvPr/>
          </p:nvSpPr>
          <p:spPr>
            <a:xfrm>
              <a:off x="2792488" y="3288197"/>
              <a:ext cx="177191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LID4096"/>
              </a:defPPr>
              <a:lvl1pPr>
                <a:defRPr sz="1050" b="1">
                  <a:solidFill>
                    <a:srgbClr val="0000FF"/>
                  </a:solidFill>
                </a:defRPr>
              </a:lvl1pPr>
            </a:lstStyle>
            <a:p>
              <a:r>
                <a:rPr lang="en-GB" sz="1600" noProof="0" dirty="0"/>
                <a:t>Diffusion</a:t>
              </a:r>
              <a:endParaRPr lang="en-GB" sz="2400" noProof="0" dirty="0">
                <a:solidFill>
                  <a:srgbClr val="FF0000"/>
                </a:solidFill>
              </a:endParaRPr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5EFEEA19-3E4A-5432-85F1-84C82AC62A8B}"/>
                </a:ext>
              </a:extLst>
            </p:cNvPr>
            <p:cNvSpPr txBox="1"/>
            <p:nvPr/>
          </p:nvSpPr>
          <p:spPr>
            <a:xfrm>
              <a:off x="1352933" y="3298194"/>
              <a:ext cx="177191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LID4096"/>
              </a:defPPr>
              <a:lvl1pPr>
                <a:defRPr sz="1050" b="1">
                  <a:solidFill>
                    <a:srgbClr val="0000FF"/>
                  </a:solidFill>
                </a:defRPr>
              </a:lvl1pPr>
            </a:lstStyle>
            <a:p>
              <a:r>
                <a:rPr lang="en-GB" sz="1600" noProof="0" dirty="0"/>
                <a:t>Convection</a:t>
              </a:r>
              <a:endParaRPr lang="en-GB" sz="2400" noProof="0" dirty="0">
                <a:solidFill>
                  <a:srgbClr val="FF0000"/>
                </a:solidFill>
              </a:endParaRPr>
            </a:p>
          </p:txBody>
        </p:sp>
      </p:grpSp>
      <p:sp>
        <p:nvSpPr>
          <p:cNvPr id="55" name="TextBox 54">
            <a:extLst>
              <a:ext uri="{FF2B5EF4-FFF2-40B4-BE49-F238E27FC236}">
                <a16:creationId xmlns:a16="http://schemas.microsoft.com/office/drawing/2014/main" id="{410A54E0-5241-8461-3BAE-45E25250626C}"/>
              </a:ext>
            </a:extLst>
          </p:cNvPr>
          <p:cNvSpPr txBox="1"/>
          <p:nvPr/>
        </p:nvSpPr>
        <p:spPr>
          <a:xfrm>
            <a:off x="6292521" y="4418449"/>
            <a:ext cx="5482503" cy="1631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1" dirty="0"/>
              <a:t>k    Heat conductivity</a:t>
            </a:r>
          </a:p>
          <a:p>
            <a:r>
              <a:rPr lang="en-GB" sz="2000" b="1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R    Distance - moving heat source and pt </a:t>
            </a:r>
            <a:r>
              <a:rPr lang="en-US" sz="2000" b="1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interest</a:t>
            </a:r>
          </a:p>
          <a:p>
            <a:r>
              <a:rPr lang="en-US" sz="2000" b="1" dirty="0"/>
              <a:t>c    Specific heat</a:t>
            </a:r>
            <a:endParaRPr lang="en-US" sz="2000" b="1" i="0" u="none" strike="noStrike" baseline="0" dirty="0">
              <a:solidFill>
                <a:srgbClr val="131413"/>
              </a:solidFill>
              <a:latin typeface="NywgqrAdvTT3713a231"/>
            </a:endParaRPr>
          </a:p>
          <a:p>
            <a:r>
              <a:rPr lang="en-US" sz="2000" b="1" i="0" u="none" strike="noStrike" baseline="0" dirty="0">
                <a:solidFill>
                  <a:srgbClr val="0000FF"/>
                </a:solidFill>
                <a:latin typeface="NywgqrAdvTT3713a231"/>
              </a:rPr>
              <a:t>v    Welding speed</a:t>
            </a:r>
          </a:p>
          <a:p>
            <a:r>
              <a:rPr lang="en-GB" sz="2000" b="1" dirty="0"/>
              <a:t>ξ    Moving coordinate parallel to the welding</a:t>
            </a:r>
            <a:endParaRPr lang="LID4096" sz="2000" b="1" dirty="0"/>
          </a:p>
        </p:txBody>
      </p:sp>
      <p:pic>
        <p:nvPicPr>
          <p:cNvPr id="57" name="Picture 56">
            <a:extLst>
              <a:ext uri="{FF2B5EF4-FFF2-40B4-BE49-F238E27FC236}">
                <a16:creationId xmlns:a16="http://schemas.microsoft.com/office/drawing/2014/main" id="{327AA450-EBB1-0E43-D94C-41FBC8B539E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09562" y="5967073"/>
            <a:ext cx="2400300" cy="771525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sp>
        <p:nvSpPr>
          <p:cNvPr id="59" name="Rectangle: Rounded Corners 58">
            <a:extLst>
              <a:ext uri="{FF2B5EF4-FFF2-40B4-BE49-F238E27FC236}">
                <a16:creationId xmlns:a16="http://schemas.microsoft.com/office/drawing/2014/main" id="{C8D96BD0-77D9-B321-9870-DD6DB5FD7C00}"/>
              </a:ext>
            </a:extLst>
          </p:cNvPr>
          <p:cNvSpPr/>
          <p:nvPr/>
        </p:nvSpPr>
        <p:spPr>
          <a:xfrm>
            <a:off x="784339" y="201481"/>
            <a:ext cx="5018605" cy="318411"/>
          </a:xfrm>
          <a:prstGeom prst="roundRect">
            <a:avLst/>
          </a:prstGeom>
          <a:noFill/>
        </p:spPr>
        <p:txBody>
          <a:bodyPr wrap="square" lIns="0" tIns="0" rIns="0" bIns="0" anchor="ctr" anchorCtr="0">
            <a:noAutofit/>
          </a:bodyPr>
          <a:lstStyle/>
          <a:p>
            <a:r>
              <a:rPr lang="en-GB" sz="2400" b="1" dirty="0">
                <a:solidFill>
                  <a:srgbClr val="0000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Horley Old Style MT"/>
              </a:rPr>
              <a:t>arc welding - </a:t>
            </a:r>
            <a:r>
              <a:rPr lang="en-GB" sz="3200" b="1" u="sng" dirty="0">
                <a:solidFill>
                  <a:srgbClr val="0000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Horley Old Style MT"/>
              </a:rPr>
              <a:t>analytical solution</a:t>
            </a:r>
            <a:endParaRPr lang="LID4096" sz="2400" b="1" u="sng" dirty="0">
              <a:solidFill>
                <a:srgbClr val="0000FF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Horley Old Style MT"/>
            </a:endParaRPr>
          </a:p>
        </p:txBody>
      </p:sp>
      <p:sp>
        <p:nvSpPr>
          <p:cNvPr id="2" name="Arrow: Down 1">
            <a:extLst>
              <a:ext uri="{FF2B5EF4-FFF2-40B4-BE49-F238E27FC236}">
                <a16:creationId xmlns:a16="http://schemas.microsoft.com/office/drawing/2014/main" id="{3D436DD5-2366-DE73-7DE7-B4FDAECD5428}"/>
              </a:ext>
            </a:extLst>
          </p:cNvPr>
          <p:cNvSpPr/>
          <p:nvPr/>
        </p:nvSpPr>
        <p:spPr>
          <a:xfrm rot="18866954" flipV="1">
            <a:off x="3661686" y="5601391"/>
            <a:ext cx="312186" cy="426906"/>
          </a:xfrm>
          <a:prstGeom prst="downArrow">
            <a:avLst/>
          </a:prstGeom>
          <a:solidFill>
            <a:srgbClr val="0000FF"/>
          </a:solidFill>
          <a:ln w="3810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4362881-7FEA-40EF-4D68-6B7D66F95C04}"/>
              </a:ext>
            </a:extLst>
          </p:cNvPr>
          <p:cNvSpPr txBox="1"/>
          <p:nvPr/>
        </p:nvSpPr>
        <p:spPr>
          <a:xfrm>
            <a:off x="6078582" y="6274457"/>
            <a:ext cx="611777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LID4096"/>
            </a:defPPr>
            <a:lvl1pPr>
              <a:defRPr sz="1400" b="1" i="0" u="none" strike="noStrike" baseline="0">
                <a:solidFill>
                  <a:schemeClr val="accent2"/>
                </a:solidFill>
                <a:latin typeface="AdvOTa2fa4214.B"/>
              </a:defRPr>
            </a:lvl1pPr>
          </a:lstStyle>
          <a:p>
            <a:pPr algn="r"/>
            <a:r>
              <a:rPr lang="LID4096" sz="1600" dirty="0"/>
              <a:t>An analytical solution for temperature distribution in fillet arc welding based on an adaptive function </a:t>
            </a:r>
            <a:r>
              <a:rPr lang="LID4096" sz="1600" u="sng" dirty="0"/>
              <a:t>Bagher &amp; Norbert Enzinger</a:t>
            </a:r>
          </a:p>
        </p:txBody>
      </p:sp>
      <p:pic>
        <p:nvPicPr>
          <p:cNvPr id="1026" name="Picture 2" descr="Excel - GET – Engenharia de Produção">
            <a:extLst>
              <a:ext uri="{FF2B5EF4-FFF2-40B4-BE49-F238E27FC236}">
                <a16:creationId xmlns:a16="http://schemas.microsoft.com/office/drawing/2014/main" id="{363B5D60-D89D-9982-4ED5-65BEEF31E83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93990" y="5985583"/>
            <a:ext cx="1308954" cy="734505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06E25E82-46D3-D672-1627-3689257B9AC4}"/>
              </a:ext>
            </a:extLst>
          </p:cNvPr>
          <p:cNvSpPr/>
          <p:nvPr/>
        </p:nvSpPr>
        <p:spPr>
          <a:xfrm>
            <a:off x="43544" y="-21164"/>
            <a:ext cx="4667794" cy="634862"/>
          </a:xfrm>
          <a:prstGeom prst="roundRect">
            <a:avLst/>
          </a:prstGeom>
          <a:noFill/>
        </p:spPr>
        <p:txBody>
          <a:bodyPr wrap="square" lIns="0" tIns="0" rIns="0" bIns="0" anchor="t" anchorCtr="0">
            <a:noAutofit/>
          </a:bodyPr>
          <a:lstStyle/>
          <a:p>
            <a:r>
              <a:rPr lang="pt-BR" sz="3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EX:</a:t>
            </a:r>
            <a:endParaRPr lang="pt-BR" sz="3200" noProof="0" dirty="0">
              <a:solidFill>
                <a:srgbClr val="FF0000"/>
              </a:solidFill>
              <a:latin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4525895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AB9BBA-DD77-1E52-FBB7-D61941D6AE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C68CEFAF-0C2B-6506-BC6C-CF0D0E471333}"/>
              </a:ext>
            </a:extLst>
          </p:cNvPr>
          <p:cNvSpPr/>
          <p:nvPr/>
        </p:nvSpPr>
        <p:spPr>
          <a:xfrm>
            <a:off x="0" y="1"/>
            <a:ext cx="12192000" cy="68580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3D4D445-F5BB-D09D-A239-D5CD9383BB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79294" y="3846680"/>
            <a:ext cx="4941256" cy="2900963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E79D3651-4C86-DC7F-D8FA-3E4956568DDA}"/>
              </a:ext>
            </a:extLst>
          </p:cNvPr>
          <p:cNvSpPr/>
          <p:nvPr/>
        </p:nvSpPr>
        <p:spPr>
          <a:xfrm>
            <a:off x="6421922" y="201481"/>
            <a:ext cx="5071603" cy="318411"/>
          </a:xfrm>
          <a:prstGeom prst="roundRect">
            <a:avLst/>
          </a:prstGeom>
          <a:solidFill>
            <a:schemeClr val="bg1"/>
          </a:solidFill>
        </p:spPr>
        <p:txBody>
          <a:bodyPr wrap="square" lIns="0" tIns="0" rIns="0" bIns="0" anchor="ctr" anchorCtr="0">
            <a:noAutofit/>
          </a:bodyPr>
          <a:lstStyle/>
          <a:p>
            <a:r>
              <a:rPr lang="en-US" sz="2400" b="1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Horley Old Style MT"/>
              </a:rPr>
              <a:t>Directed Energy Deposition (DED - </a:t>
            </a:r>
            <a:r>
              <a:rPr lang="en-US" sz="2400" b="1" u="sng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Horley Old Style MT"/>
              </a:rPr>
              <a:t>ARC</a:t>
            </a:r>
            <a:r>
              <a:rPr lang="en-US" sz="2400" b="1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Horley Old Style MT"/>
              </a:rPr>
              <a:t>)</a:t>
            </a:r>
            <a:endParaRPr lang="LID4096" sz="2400" b="1" dirty="0">
              <a:solidFill>
                <a:srgbClr val="FF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Horley Old Style MT"/>
            </a:endParaRPr>
          </a:p>
        </p:txBody>
      </p:sp>
      <p:pic>
        <p:nvPicPr>
          <p:cNvPr id="60" name="Picture 59">
            <a:extLst>
              <a:ext uri="{FF2B5EF4-FFF2-40B4-BE49-F238E27FC236}">
                <a16:creationId xmlns:a16="http://schemas.microsoft.com/office/drawing/2014/main" id="{C1AABF47-842A-954E-6FAF-D0D832F517B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242" t="2493" r="2462" b="7363"/>
          <a:stretch>
            <a:fillRect/>
          </a:stretch>
        </p:blipFill>
        <p:spPr>
          <a:xfrm>
            <a:off x="264798" y="697078"/>
            <a:ext cx="7661670" cy="4334227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516D5B8-4C72-758D-883A-7F4B221F9BCC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36592" t="9679" b="40870"/>
          <a:stretch>
            <a:fillRect/>
          </a:stretch>
        </p:blipFill>
        <p:spPr>
          <a:xfrm>
            <a:off x="8029305" y="697078"/>
            <a:ext cx="3915315" cy="1743074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6CD3B99-9019-1FF2-15D2-F9BEA0B6BFB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77639" t="3661" r="3662" b="74669"/>
          <a:stretch>
            <a:fillRect/>
          </a:stretch>
        </p:blipFill>
        <p:spPr>
          <a:xfrm>
            <a:off x="10117602" y="3935930"/>
            <a:ext cx="1820792" cy="1238888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F94B4011-DB36-3320-7851-E4E0A12D600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29305" y="2507162"/>
            <a:ext cx="2225945" cy="1270653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65C1781B-E4FF-3C69-CF52-DEE891F79F3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694" t="2494" r="69754" b="74167"/>
          <a:stretch>
            <a:fillRect/>
          </a:stretch>
        </p:blipFill>
        <p:spPr>
          <a:xfrm>
            <a:off x="249883" y="5102182"/>
            <a:ext cx="3365894" cy="1645461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8F93B32D-0090-DE0D-9E76-FCB6FA3DB95D}"/>
              </a:ext>
            </a:extLst>
          </p:cNvPr>
          <p:cNvSpPr/>
          <p:nvPr/>
        </p:nvSpPr>
        <p:spPr>
          <a:xfrm>
            <a:off x="784339" y="201481"/>
            <a:ext cx="5018605" cy="318411"/>
          </a:xfrm>
          <a:prstGeom prst="roundRect">
            <a:avLst/>
          </a:prstGeom>
          <a:noFill/>
        </p:spPr>
        <p:txBody>
          <a:bodyPr wrap="square" lIns="0" tIns="0" rIns="0" bIns="0" anchor="ctr" anchorCtr="0">
            <a:noAutofit/>
          </a:bodyPr>
          <a:lstStyle/>
          <a:p>
            <a:r>
              <a:rPr lang="en-GB" sz="2400" b="1" dirty="0">
                <a:solidFill>
                  <a:srgbClr val="0000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Horley Old Style MT"/>
              </a:rPr>
              <a:t>arc welding - </a:t>
            </a:r>
            <a:r>
              <a:rPr lang="en-GB" sz="3200" b="1" u="sng" dirty="0">
                <a:solidFill>
                  <a:srgbClr val="0000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Horley Old Style MT"/>
              </a:rPr>
              <a:t>analytical solution</a:t>
            </a:r>
            <a:endParaRPr lang="LID4096" sz="2400" b="1" u="sng" dirty="0">
              <a:solidFill>
                <a:srgbClr val="0000FF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Horley Old Style MT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632BEE6-3F62-796F-6587-F305A89F64EE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2122" t="11952" r="3891" b="9751"/>
          <a:stretch>
            <a:fillRect/>
          </a:stretch>
        </p:blipFill>
        <p:spPr>
          <a:xfrm>
            <a:off x="3879501" y="5260781"/>
            <a:ext cx="3054033" cy="713299"/>
          </a:xfrm>
          <a:prstGeom prst="rect">
            <a:avLst/>
          </a:prstGeom>
          <a:ln w="38100">
            <a:solidFill>
              <a:srgbClr val="FF0000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sp>
        <p:nvSpPr>
          <p:cNvPr id="12" name="Arrow: Down 11">
            <a:extLst>
              <a:ext uri="{FF2B5EF4-FFF2-40B4-BE49-F238E27FC236}">
                <a16:creationId xmlns:a16="http://schemas.microsoft.com/office/drawing/2014/main" id="{CBBE9048-2207-D7A2-E34D-CD1860E9E343}"/>
              </a:ext>
            </a:extLst>
          </p:cNvPr>
          <p:cNvSpPr/>
          <p:nvPr/>
        </p:nvSpPr>
        <p:spPr>
          <a:xfrm rot="18866954" flipV="1">
            <a:off x="5754261" y="6139671"/>
            <a:ext cx="312186" cy="426906"/>
          </a:xfrm>
          <a:prstGeom prst="downArrow">
            <a:avLst/>
          </a:prstGeom>
          <a:solidFill>
            <a:srgbClr val="0000FF"/>
          </a:solidFill>
          <a:ln w="3810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dirty="0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6F36A0B8-6E90-3466-00EA-64BB7EEBE27C}"/>
              </a:ext>
            </a:extLst>
          </p:cNvPr>
          <p:cNvSpPr/>
          <p:nvPr/>
        </p:nvSpPr>
        <p:spPr>
          <a:xfrm>
            <a:off x="3650876" y="6243113"/>
            <a:ext cx="1095375" cy="318268"/>
          </a:xfrm>
          <a:prstGeom prst="roundRect">
            <a:avLst/>
          </a:prstGeom>
          <a:noFill/>
        </p:spPr>
        <p:txBody>
          <a:bodyPr wrap="square" lIns="0" tIns="0" rIns="0" bIns="0" anchor="ctr" anchorCtr="0">
            <a:noAutofit/>
          </a:bodyPr>
          <a:lstStyle/>
          <a:p>
            <a:pPr algn="ctr"/>
            <a:r>
              <a:rPr lang="en-US" sz="2400" b="1" dirty="0">
                <a:latin typeface="Horley Old Style MT"/>
              </a:rPr>
              <a:t>Part 01</a:t>
            </a:r>
            <a:endParaRPr lang="LID4096" sz="2400" b="1" dirty="0">
              <a:latin typeface="Horley Old Style MT"/>
            </a:endParaRP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08D0980C-988E-7936-5450-9AC89CDB9278}"/>
              </a:ext>
            </a:extLst>
          </p:cNvPr>
          <p:cNvSpPr/>
          <p:nvPr/>
        </p:nvSpPr>
        <p:spPr>
          <a:xfrm>
            <a:off x="43544" y="-21164"/>
            <a:ext cx="4667794" cy="634862"/>
          </a:xfrm>
          <a:prstGeom prst="roundRect">
            <a:avLst/>
          </a:prstGeom>
          <a:noFill/>
        </p:spPr>
        <p:txBody>
          <a:bodyPr wrap="square" lIns="0" tIns="0" rIns="0" bIns="0" anchor="t" anchorCtr="0">
            <a:noAutofit/>
          </a:bodyPr>
          <a:lstStyle/>
          <a:p>
            <a:r>
              <a:rPr lang="pt-BR" sz="3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EX:</a:t>
            </a:r>
            <a:endParaRPr lang="pt-BR" sz="3200" noProof="0" dirty="0">
              <a:solidFill>
                <a:srgbClr val="FF0000"/>
              </a:solidFill>
              <a:latin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0434664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807E47-36F7-A14D-6D3D-105D701B68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25">
            <a:extLst>
              <a:ext uri="{FF2B5EF4-FFF2-40B4-BE49-F238E27FC236}">
                <a16:creationId xmlns:a16="http://schemas.microsoft.com/office/drawing/2014/main" id="{741018B7-70D0-A75A-CF22-A7EC1BF464C2}"/>
              </a:ext>
            </a:extLst>
          </p:cNvPr>
          <p:cNvSpPr/>
          <p:nvPr/>
        </p:nvSpPr>
        <p:spPr>
          <a:xfrm>
            <a:off x="0" y="1"/>
            <a:ext cx="12192000" cy="68580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7809736-CF39-A5D8-B764-CA2C086D07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8467" y="2038909"/>
            <a:ext cx="4033694" cy="1038484"/>
          </a:xfrm>
          <a:prstGeom prst="rect">
            <a:avLst/>
          </a:prstGeom>
          <a:ln w="19050">
            <a:solidFill>
              <a:srgbClr val="0000FF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3DA7D50B-C9B4-2452-B129-12632D37ECD8}"/>
              </a:ext>
            </a:extLst>
          </p:cNvPr>
          <p:cNvGrpSpPr>
            <a:grpSpLocks noChangeAspect="1"/>
          </p:cNvGrpSpPr>
          <p:nvPr/>
        </p:nvGrpSpPr>
        <p:grpSpPr>
          <a:xfrm>
            <a:off x="8192913" y="1763555"/>
            <a:ext cx="3279461" cy="1486255"/>
            <a:chOff x="8782077" y="4405112"/>
            <a:chExt cx="3020812" cy="1369035"/>
          </a:xfrm>
        </p:grpSpPr>
        <p:pic>
          <p:nvPicPr>
            <p:cNvPr id="47" name="Picture 46">
              <a:extLst>
                <a:ext uri="{FF2B5EF4-FFF2-40B4-BE49-F238E27FC236}">
                  <a16:creationId xmlns:a16="http://schemas.microsoft.com/office/drawing/2014/main" id="{15D8380C-F3FF-A0B3-4D46-48662A3B8B0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t="6025" r="71901" b="49372"/>
            <a:stretch>
              <a:fillRect/>
            </a:stretch>
          </p:blipFill>
          <p:spPr>
            <a:xfrm>
              <a:off x="9836961" y="5118084"/>
              <a:ext cx="1965928" cy="656063"/>
            </a:xfrm>
            <a:prstGeom prst="rect">
              <a:avLst/>
            </a:prstGeom>
            <a:ln>
              <a:solidFill>
                <a:schemeClr val="tx1"/>
              </a:solidFill>
            </a:ln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</p:pic>
        <p:pic>
          <p:nvPicPr>
            <p:cNvPr id="58" name="Picture 57">
              <a:extLst>
                <a:ext uri="{FF2B5EF4-FFF2-40B4-BE49-F238E27FC236}">
                  <a16:creationId xmlns:a16="http://schemas.microsoft.com/office/drawing/2014/main" id="{82DCF1E5-C5DA-46F3-BA72-AABE5CBEAA0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39408" t="24331" b="13075"/>
            <a:stretch>
              <a:fillRect/>
            </a:stretch>
          </p:blipFill>
          <p:spPr>
            <a:xfrm>
              <a:off x="8782077" y="4405112"/>
              <a:ext cx="3020812" cy="656064"/>
            </a:xfrm>
            <a:prstGeom prst="rect">
              <a:avLst/>
            </a:prstGeom>
            <a:ln>
              <a:solidFill>
                <a:schemeClr val="tx1"/>
              </a:solidFill>
            </a:ln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</p:pic>
      </p:grpSp>
      <p:pic>
        <p:nvPicPr>
          <p:cNvPr id="12" name="Picture 11">
            <a:extLst>
              <a:ext uri="{FF2B5EF4-FFF2-40B4-BE49-F238E27FC236}">
                <a16:creationId xmlns:a16="http://schemas.microsoft.com/office/drawing/2014/main" id="{04BD2D46-8A5F-898A-1862-BF818BA338F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13465" y="345741"/>
            <a:ext cx="7105650" cy="4238625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pic>
        <p:nvPicPr>
          <p:cNvPr id="49" name="Picture 48">
            <a:extLst>
              <a:ext uri="{FF2B5EF4-FFF2-40B4-BE49-F238E27FC236}">
                <a16:creationId xmlns:a16="http://schemas.microsoft.com/office/drawing/2014/main" id="{766A1B12-A203-0DC6-2A3E-3E3CB83FEEE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6525" y="3220132"/>
            <a:ext cx="4314512" cy="981340"/>
          </a:xfrm>
          <a:prstGeom prst="rect">
            <a:avLst/>
          </a:prstGeom>
          <a:ln w="38100">
            <a:solidFill>
              <a:srgbClr val="FF0000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pic>
        <p:nvPicPr>
          <p:cNvPr id="50" name="Picture 49">
            <a:extLst>
              <a:ext uri="{FF2B5EF4-FFF2-40B4-BE49-F238E27FC236}">
                <a16:creationId xmlns:a16="http://schemas.microsoft.com/office/drawing/2014/main" id="{81F4DC11-8CBF-BADA-997B-252CF2FFC421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2122" t="11952" r="3891" b="9751"/>
          <a:stretch>
            <a:fillRect/>
          </a:stretch>
        </p:blipFill>
        <p:spPr>
          <a:xfrm>
            <a:off x="507235" y="614258"/>
            <a:ext cx="3724926" cy="869993"/>
          </a:xfrm>
          <a:prstGeom prst="rect">
            <a:avLst/>
          </a:prstGeom>
          <a:ln w="38100">
            <a:solidFill>
              <a:srgbClr val="FF0000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pic>
        <p:nvPicPr>
          <p:cNvPr id="55" name="Picture 54">
            <a:extLst>
              <a:ext uri="{FF2B5EF4-FFF2-40B4-BE49-F238E27FC236}">
                <a16:creationId xmlns:a16="http://schemas.microsoft.com/office/drawing/2014/main" id="{D4101EAB-05C3-0D3A-3E8C-874D69C869E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96526" y="4370375"/>
            <a:ext cx="4314512" cy="556417"/>
          </a:xfrm>
          <a:prstGeom prst="rect">
            <a:avLst/>
          </a:prstGeom>
          <a:ln w="19050">
            <a:solidFill>
              <a:srgbClr val="0000FF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sp>
        <p:nvSpPr>
          <p:cNvPr id="59" name="Rectangle: Rounded Corners 58">
            <a:extLst>
              <a:ext uri="{FF2B5EF4-FFF2-40B4-BE49-F238E27FC236}">
                <a16:creationId xmlns:a16="http://schemas.microsoft.com/office/drawing/2014/main" id="{63B3247C-A186-71FB-2E21-FFB4C7F8625F}"/>
              </a:ext>
            </a:extLst>
          </p:cNvPr>
          <p:cNvSpPr/>
          <p:nvPr/>
        </p:nvSpPr>
        <p:spPr>
          <a:xfrm>
            <a:off x="3650876" y="6243113"/>
            <a:ext cx="1095375" cy="318268"/>
          </a:xfrm>
          <a:prstGeom prst="roundRect">
            <a:avLst/>
          </a:prstGeom>
          <a:noFill/>
        </p:spPr>
        <p:txBody>
          <a:bodyPr wrap="square" lIns="0" tIns="0" rIns="0" bIns="0" anchor="ctr" anchorCtr="0">
            <a:noAutofit/>
          </a:bodyPr>
          <a:lstStyle/>
          <a:p>
            <a:pPr algn="ctr"/>
            <a:r>
              <a:rPr lang="en-US" sz="2400" b="1" dirty="0">
                <a:latin typeface="Horley Old Style MT"/>
              </a:rPr>
              <a:t>Part 02</a:t>
            </a:r>
            <a:endParaRPr lang="LID4096" sz="2400" b="1" dirty="0">
              <a:latin typeface="Horley Old Style MT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36D3408-F51D-70BF-D232-DF79ECF04FA4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69053" b="71810"/>
          <a:stretch>
            <a:fillRect/>
          </a:stretch>
        </p:blipFill>
        <p:spPr>
          <a:xfrm>
            <a:off x="203642" y="5102182"/>
            <a:ext cx="3412135" cy="1632683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sp>
        <p:nvSpPr>
          <p:cNvPr id="13" name="Arrow: Down 12">
            <a:extLst>
              <a:ext uri="{FF2B5EF4-FFF2-40B4-BE49-F238E27FC236}">
                <a16:creationId xmlns:a16="http://schemas.microsoft.com/office/drawing/2014/main" id="{EE29EFDE-2F13-B64F-18BF-359815E8FE2C}"/>
              </a:ext>
            </a:extLst>
          </p:cNvPr>
          <p:cNvSpPr/>
          <p:nvPr/>
        </p:nvSpPr>
        <p:spPr>
          <a:xfrm rot="18866954" flipV="1">
            <a:off x="2885934" y="1342167"/>
            <a:ext cx="312186" cy="426906"/>
          </a:xfrm>
          <a:prstGeom prst="downArrow">
            <a:avLst/>
          </a:prstGeom>
          <a:solidFill>
            <a:srgbClr val="0000FF"/>
          </a:solidFill>
          <a:ln w="3810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dirty="0"/>
          </a:p>
        </p:txBody>
      </p:sp>
      <p:sp>
        <p:nvSpPr>
          <p:cNvPr id="17" name="Arrow: Down 16">
            <a:extLst>
              <a:ext uri="{FF2B5EF4-FFF2-40B4-BE49-F238E27FC236}">
                <a16:creationId xmlns:a16="http://schemas.microsoft.com/office/drawing/2014/main" id="{20581281-120F-F693-980F-DF586C6C96DD}"/>
              </a:ext>
            </a:extLst>
          </p:cNvPr>
          <p:cNvSpPr/>
          <p:nvPr/>
        </p:nvSpPr>
        <p:spPr>
          <a:xfrm rot="18866954" flipV="1">
            <a:off x="2269426" y="4031940"/>
            <a:ext cx="177754" cy="191373"/>
          </a:xfrm>
          <a:prstGeom prst="downArrow">
            <a:avLst/>
          </a:prstGeom>
          <a:solidFill>
            <a:srgbClr val="0000FF"/>
          </a:solidFill>
          <a:ln w="1270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dirty="0"/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F07C0B4A-B477-129E-051E-7AF8DE64FFFC}"/>
              </a:ext>
            </a:extLst>
          </p:cNvPr>
          <p:cNvGrpSpPr>
            <a:grpSpLocks noChangeAspect="1"/>
          </p:cNvGrpSpPr>
          <p:nvPr/>
        </p:nvGrpSpPr>
        <p:grpSpPr>
          <a:xfrm>
            <a:off x="5218135" y="4677679"/>
            <a:ext cx="6802419" cy="2072388"/>
            <a:chOff x="6370926" y="5028883"/>
            <a:chExt cx="5649624" cy="1721184"/>
          </a:xfrm>
          <a:effectLst/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E6695ADC-18CD-4C20-3A03-0C1D80224B86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rcRect t="5045" r="2663" b="10307"/>
            <a:stretch>
              <a:fillRect/>
            </a:stretch>
          </p:blipFill>
          <p:spPr>
            <a:xfrm>
              <a:off x="6370926" y="5028884"/>
              <a:ext cx="2595388" cy="1721183"/>
            </a:xfrm>
            <a:prstGeom prst="rect">
              <a:avLst/>
            </a:prstGeom>
            <a:ln>
              <a:solidFill>
                <a:schemeClr val="tx1"/>
              </a:solidFill>
            </a:ln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AC716D59-AA1A-8777-8F03-711FBBA2511F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9085597" y="5028883"/>
              <a:ext cx="2934953" cy="1721184"/>
            </a:xfrm>
            <a:prstGeom prst="rect">
              <a:avLst/>
            </a:prstGeom>
            <a:ln>
              <a:solidFill>
                <a:schemeClr val="tx1"/>
              </a:solidFill>
            </a:ln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</p:pic>
        <p:pic>
          <p:nvPicPr>
            <p:cNvPr id="20" name="Picture 19">
              <a:extLst>
                <a:ext uri="{FF2B5EF4-FFF2-40B4-BE49-F238E27FC236}">
                  <a16:creationId xmlns:a16="http://schemas.microsoft.com/office/drawing/2014/main" id="{F8D5F67A-2646-69E2-2787-402F89BB1BF7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rcRect l="69735" t="21527" r="3221" b="40870"/>
            <a:stretch>
              <a:fillRect/>
            </a:stretch>
          </p:blipFill>
          <p:spPr>
            <a:xfrm>
              <a:off x="10985542" y="5059383"/>
              <a:ext cx="1006363" cy="798774"/>
            </a:xfrm>
            <a:prstGeom prst="rect">
              <a:avLst/>
            </a:prstGeom>
            <a:ln>
              <a:noFill/>
            </a:ln>
            <a:effectLst/>
          </p:spPr>
        </p:pic>
      </p:grpSp>
      <p:pic>
        <p:nvPicPr>
          <p:cNvPr id="22" name="Picture 21">
            <a:extLst>
              <a:ext uri="{FF2B5EF4-FFF2-40B4-BE49-F238E27FC236}">
                <a16:creationId xmlns:a16="http://schemas.microsoft.com/office/drawing/2014/main" id="{074E6F56-9AC3-F4AB-F231-891BD530F74A}"/>
              </a:ext>
            </a:extLst>
          </p:cNvPr>
          <p:cNvPicPr>
            <a:picLocks noChangeAspect="1"/>
          </p:cNvPicPr>
          <p:nvPr/>
        </p:nvPicPr>
        <p:blipFill>
          <a:blip r:embed="rId11"/>
          <a:srcRect l="77639" t="3661" r="3662" b="74669"/>
          <a:stretch>
            <a:fillRect/>
          </a:stretch>
        </p:blipFill>
        <p:spPr>
          <a:xfrm>
            <a:off x="7117237" y="4715386"/>
            <a:ext cx="1179373" cy="802459"/>
          </a:xfrm>
          <a:prstGeom prst="rect">
            <a:avLst/>
          </a:prstGeom>
          <a:ln>
            <a:noFill/>
          </a:ln>
          <a:effectLst/>
        </p:spPr>
      </p:pic>
      <p:sp>
        <p:nvSpPr>
          <p:cNvPr id="23" name="Arrow: Down 22">
            <a:extLst>
              <a:ext uri="{FF2B5EF4-FFF2-40B4-BE49-F238E27FC236}">
                <a16:creationId xmlns:a16="http://schemas.microsoft.com/office/drawing/2014/main" id="{15B385FE-7139-45E5-3EC8-81E4510607AB}"/>
              </a:ext>
            </a:extLst>
          </p:cNvPr>
          <p:cNvSpPr/>
          <p:nvPr/>
        </p:nvSpPr>
        <p:spPr>
          <a:xfrm rot="18866954" flipV="1">
            <a:off x="1584057" y="4031704"/>
            <a:ext cx="177754" cy="191373"/>
          </a:xfrm>
          <a:prstGeom prst="downArrow">
            <a:avLst/>
          </a:prstGeom>
          <a:solidFill>
            <a:srgbClr val="0000FF"/>
          </a:solidFill>
          <a:ln w="1270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dirty="0"/>
          </a:p>
        </p:txBody>
      </p:sp>
      <p:sp>
        <p:nvSpPr>
          <p:cNvPr id="25" name="Arrow: Down 24">
            <a:extLst>
              <a:ext uri="{FF2B5EF4-FFF2-40B4-BE49-F238E27FC236}">
                <a16:creationId xmlns:a16="http://schemas.microsoft.com/office/drawing/2014/main" id="{AA2C53FD-BC72-9C09-413B-4BB95C73E50E}"/>
              </a:ext>
            </a:extLst>
          </p:cNvPr>
          <p:cNvSpPr/>
          <p:nvPr/>
        </p:nvSpPr>
        <p:spPr>
          <a:xfrm rot="18866954" flipV="1">
            <a:off x="2954797" y="4031703"/>
            <a:ext cx="177754" cy="191373"/>
          </a:xfrm>
          <a:prstGeom prst="downArrow">
            <a:avLst/>
          </a:prstGeom>
          <a:solidFill>
            <a:srgbClr val="0000FF"/>
          </a:solidFill>
          <a:ln w="1270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dirty="0"/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66DCA200-0A44-EF4D-AE38-9B8E7C9478EB}"/>
              </a:ext>
            </a:extLst>
          </p:cNvPr>
          <p:cNvSpPr/>
          <p:nvPr/>
        </p:nvSpPr>
        <p:spPr>
          <a:xfrm>
            <a:off x="43544" y="-21164"/>
            <a:ext cx="4667794" cy="634862"/>
          </a:xfrm>
          <a:prstGeom prst="roundRect">
            <a:avLst/>
          </a:prstGeom>
          <a:noFill/>
        </p:spPr>
        <p:txBody>
          <a:bodyPr wrap="square" lIns="0" tIns="0" rIns="0" bIns="0" anchor="t" anchorCtr="0">
            <a:noAutofit/>
          </a:bodyPr>
          <a:lstStyle/>
          <a:p>
            <a:r>
              <a:rPr lang="pt-BR" sz="3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EX:</a:t>
            </a:r>
            <a:endParaRPr lang="pt-BR" sz="3200" noProof="0" dirty="0">
              <a:solidFill>
                <a:srgbClr val="FF0000"/>
              </a:solidFill>
              <a:latin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2780709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651E93-D7AA-3DC0-B98C-6CE8ACD860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DCA59159-463A-4515-3BBE-CC0F1379AAB3}"/>
              </a:ext>
            </a:extLst>
          </p:cNvPr>
          <p:cNvSpPr/>
          <p:nvPr/>
        </p:nvSpPr>
        <p:spPr>
          <a:xfrm>
            <a:off x="0" y="1"/>
            <a:ext cx="12192000" cy="68580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F689BD5-7F8D-3E07-9C24-2FB7427632BD}"/>
              </a:ext>
            </a:extLst>
          </p:cNvPr>
          <p:cNvSpPr txBox="1"/>
          <p:nvPr/>
        </p:nvSpPr>
        <p:spPr>
          <a:xfrm>
            <a:off x="254049" y="1965842"/>
            <a:ext cx="5664926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Wingdings" panose="05000000000000000000" pitchFamily="2" charset="2"/>
              <a:buChar char="Ø"/>
            </a:pPr>
            <a:r>
              <a:rPr lang="LID4096" sz="2000" b="1" dirty="0"/>
              <a:t>insight into the solute transport process</a:t>
            </a:r>
            <a:r>
              <a:rPr lang="pt-BR" sz="2000" b="1" dirty="0"/>
              <a:t>;</a:t>
            </a:r>
          </a:p>
          <a:p>
            <a:pPr marL="342900" indent="-342900">
              <a:buFont typeface="Wingdings" panose="05000000000000000000" pitchFamily="2" charset="2"/>
              <a:buChar char="Ø"/>
            </a:pPr>
            <a:r>
              <a:rPr lang="en-US" sz="2000" b="1" dirty="0"/>
              <a:t>high-fidelity physics-based numerical modelling;</a:t>
            </a:r>
            <a:endParaRPr lang="LID4096" sz="2000" b="1" dirty="0"/>
          </a:p>
          <a:p>
            <a:pPr marL="342900" indent="-342900">
              <a:buFont typeface="Wingdings" panose="05000000000000000000" pitchFamily="2" charset="2"/>
              <a:buChar char="Ø"/>
            </a:pPr>
            <a:r>
              <a:rPr lang="en-GB" sz="2000" b="1" dirty="0"/>
              <a:t>effect of melt convection and solute partition.</a:t>
            </a:r>
            <a:endParaRPr lang="LID4096" sz="2000" b="1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4895958-1321-34DA-5B5D-A7B298E0B9D9}"/>
              </a:ext>
            </a:extLst>
          </p:cNvPr>
          <p:cNvSpPr txBox="1"/>
          <p:nvPr/>
        </p:nvSpPr>
        <p:spPr>
          <a:xfrm>
            <a:off x="2695714" y="5239373"/>
            <a:ext cx="3154683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LID4096" sz="2000" b="1" dirty="0">
                <a:solidFill>
                  <a:srgbClr val="0000FF"/>
                </a:solidFill>
              </a:rPr>
              <a:t>Temperature,</a:t>
            </a:r>
            <a:r>
              <a:rPr lang="pt-BR" sz="2000" b="1" dirty="0">
                <a:solidFill>
                  <a:srgbClr val="0000FF"/>
                </a:solidFill>
              </a:rPr>
              <a:t> </a:t>
            </a:r>
            <a:r>
              <a:rPr lang="LID4096" sz="2000" b="1" dirty="0">
                <a:solidFill>
                  <a:srgbClr val="0000FF"/>
                </a:solidFill>
              </a:rPr>
              <a:t>flow velocity, solute concentration, and microstructure </a:t>
            </a:r>
            <a:endParaRPr lang="pt-BR" sz="2000" b="1" dirty="0">
              <a:solidFill>
                <a:srgbClr val="FF0000"/>
              </a:solidFill>
            </a:endParaRPr>
          </a:p>
          <a:p>
            <a:r>
              <a:rPr lang="pt-BR" sz="2000" b="1" dirty="0">
                <a:solidFill>
                  <a:srgbClr val="FF0000"/>
                </a:solidFill>
              </a:rPr>
              <a:t>... d</a:t>
            </a:r>
            <a:r>
              <a:rPr lang="LID4096" sz="2000" b="1" dirty="0">
                <a:solidFill>
                  <a:srgbClr val="FF0000"/>
                </a:solidFill>
              </a:rPr>
              <a:t>irectly coupled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CF00EEF1-2CBF-2E01-3442-D944A50E0CBA}"/>
              </a:ext>
            </a:extLst>
          </p:cNvPr>
          <p:cNvGrpSpPr/>
          <p:nvPr/>
        </p:nvGrpSpPr>
        <p:grpSpPr>
          <a:xfrm>
            <a:off x="2229808" y="343023"/>
            <a:ext cx="4295542" cy="1360750"/>
            <a:chOff x="326574" y="239486"/>
            <a:chExt cx="4295542" cy="1360750"/>
          </a:xfrm>
        </p:grpSpPr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58865A81-25FD-EFFC-EE19-89AA2169286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26574" y="239486"/>
              <a:ext cx="4295542" cy="1360750"/>
            </a:xfrm>
            <a:prstGeom prst="rect">
              <a:avLst/>
            </a:prstGeom>
            <a:ln>
              <a:solidFill>
                <a:schemeClr val="tx1"/>
              </a:solidFill>
            </a:ln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</p:pic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2FA1F596-C0A1-D18B-4C5E-F58FDD4668E1}"/>
                </a:ext>
              </a:extLst>
            </p:cNvPr>
            <p:cNvSpPr txBox="1"/>
            <p:nvPr/>
          </p:nvSpPr>
          <p:spPr>
            <a:xfrm>
              <a:off x="1916158" y="270558"/>
              <a:ext cx="2242458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>
              <a:defPPr>
                <a:defRPr lang="LID4096"/>
              </a:defPPr>
              <a:lvl1pPr algn="ctr">
                <a:defRPr sz="2000">
                  <a:solidFill>
                    <a:srgbClr val="0000FF"/>
                  </a:solidFill>
                </a:defRPr>
              </a:lvl1pPr>
            </a:lstStyle>
            <a:p>
              <a:r>
                <a:rPr lang="en-GB" sz="2800" b="1" noProof="0" dirty="0">
                  <a:solidFill>
                    <a:srgbClr val="FF00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rPr>
                <a:t>Micro-scale</a:t>
              </a:r>
            </a:p>
          </p:txBody>
        </p:sp>
      </p:grpSp>
      <p:sp>
        <p:nvSpPr>
          <p:cNvPr id="18" name="TextBox 17">
            <a:extLst>
              <a:ext uri="{FF2B5EF4-FFF2-40B4-BE49-F238E27FC236}">
                <a16:creationId xmlns:a16="http://schemas.microsoft.com/office/drawing/2014/main" id="{DF613F02-D1CC-C2FD-E558-4F90E83774E5}"/>
              </a:ext>
            </a:extLst>
          </p:cNvPr>
          <p:cNvSpPr txBox="1"/>
          <p:nvPr/>
        </p:nvSpPr>
        <p:spPr>
          <a:xfrm>
            <a:off x="10118272" y="5085050"/>
            <a:ext cx="1502231" cy="140038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LID4096" sz="1700" b="1" dirty="0"/>
              <a:t>210 ×</a:t>
            </a:r>
            <a:r>
              <a:rPr lang="pt-BR" sz="1700" b="1" dirty="0"/>
              <a:t> </a:t>
            </a:r>
            <a:r>
              <a:rPr lang="LID4096" sz="1700" b="1" dirty="0"/>
              <a:t>400 µm computational domain</a:t>
            </a:r>
            <a:r>
              <a:rPr lang="pt-BR" sz="1700" b="1" dirty="0"/>
              <a:t> (2D)</a:t>
            </a:r>
          </a:p>
          <a:p>
            <a:pPr algn="r"/>
            <a:r>
              <a:rPr lang="en-GB" sz="1700" b="1" dirty="0">
                <a:latin typeface="AdvOTdd63dae3"/>
              </a:rPr>
              <a:t>1,341,561 </a:t>
            </a:r>
          </a:p>
          <a:p>
            <a:pPr algn="r"/>
            <a:r>
              <a:rPr lang="en-GB" sz="1700" b="1" dirty="0">
                <a:latin typeface="AdvOTdd63dae3"/>
              </a:rPr>
              <a:t>grid 0.25 </a:t>
            </a:r>
            <a:r>
              <a:rPr lang="en-GB" sz="1700" b="1" dirty="0">
                <a:latin typeface="AdvOTdd63dae3+03"/>
              </a:rPr>
              <a:t>μ</a:t>
            </a:r>
            <a:r>
              <a:rPr lang="en-GB" sz="1700" b="1" dirty="0">
                <a:latin typeface="AdvOTdd63dae3"/>
              </a:rPr>
              <a:t>m</a:t>
            </a:r>
            <a:endParaRPr lang="LID4096" sz="1700" b="1" dirty="0"/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E93FDDD3-7330-406D-9099-4460C47A936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45717" b="60600"/>
          <a:stretch>
            <a:fillRect/>
          </a:stretch>
        </p:blipFill>
        <p:spPr>
          <a:xfrm>
            <a:off x="6705600" y="337154"/>
            <a:ext cx="4974773" cy="1795812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3511BDF1-0BF2-0125-5C1A-2CF5CA83533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45717" t="45003" b="4034"/>
          <a:stretch>
            <a:fillRect/>
          </a:stretch>
        </p:blipFill>
        <p:spPr>
          <a:xfrm>
            <a:off x="6204457" y="2314575"/>
            <a:ext cx="5475915" cy="2556885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8F5D7BA6-F9DA-5A65-FB31-92FFA294A66A}"/>
              </a:ext>
            </a:extLst>
          </p:cNvPr>
          <p:cNvSpPr txBox="1"/>
          <p:nvPr/>
        </p:nvSpPr>
        <p:spPr>
          <a:xfrm>
            <a:off x="10029832" y="316354"/>
            <a:ext cx="1621967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LID4096"/>
            </a:defPPr>
            <a:lvl1pPr algn="ctr">
              <a:defRPr sz="2000">
                <a:solidFill>
                  <a:srgbClr val="0000FF"/>
                </a:solidFill>
              </a:defRPr>
            </a:lvl1pPr>
          </a:lstStyle>
          <a:p>
            <a:r>
              <a:rPr lang="en-GB" sz="28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Printed</a:t>
            </a:r>
            <a:endParaRPr lang="en-GB" sz="2800" b="1" noProof="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9F1AEB8-61A7-BB22-36CA-C87A2B7D8FA8}"/>
              </a:ext>
            </a:extLst>
          </p:cNvPr>
          <p:cNvSpPr txBox="1"/>
          <p:nvPr/>
        </p:nvSpPr>
        <p:spPr>
          <a:xfrm rot="16200000">
            <a:off x="5134136" y="3325923"/>
            <a:ext cx="149570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LID4096"/>
            </a:defPPr>
            <a:lvl1pPr algn="ctr">
              <a:defRPr sz="2000">
                <a:solidFill>
                  <a:srgbClr val="0000FF"/>
                </a:solidFill>
              </a:defRPr>
            </a:lvl1pPr>
          </a:lstStyle>
          <a:p>
            <a:r>
              <a:rPr lang="en-GB" sz="28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Model</a:t>
            </a:r>
            <a:endParaRPr lang="en-GB" sz="2800" b="1" noProof="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8F61D8B2-1561-C685-7297-740D867F16C1}"/>
              </a:ext>
            </a:extLst>
          </p:cNvPr>
          <p:cNvGrpSpPr>
            <a:grpSpLocks noChangeAspect="1"/>
          </p:cNvGrpSpPr>
          <p:nvPr/>
        </p:nvGrpSpPr>
        <p:grpSpPr>
          <a:xfrm>
            <a:off x="250059" y="3153724"/>
            <a:ext cx="5331535" cy="3216127"/>
            <a:chOff x="322216" y="3019052"/>
            <a:chExt cx="5519474" cy="3329497"/>
          </a:xfrm>
        </p:grpSpPr>
        <p:pic>
          <p:nvPicPr>
            <p:cNvPr id="23" name="Picture 22">
              <a:extLst>
                <a:ext uri="{FF2B5EF4-FFF2-40B4-BE49-F238E27FC236}">
                  <a16:creationId xmlns:a16="http://schemas.microsoft.com/office/drawing/2014/main" id="{9E9D78FC-A9F0-161A-B5C7-ABA7352AFC8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5748" t="9050" r="67184" b="66061"/>
            <a:stretch>
              <a:fillRect/>
            </a:stretch>
          </p:blipFill>
          <p:spPr>
            <a:xfrm>
              <a:off x="322216" y="3019053"/>
              <a:ext cx="2420984" cy="1107142"/>
            </a:xfrm>
            <a:prstGeom prst="rect">
              <a:avLst/>
            </a:prstGeom>
            <a:ln>
              <a:solidFill>
                <a:schemeClr val="tx1"/>
              </a:solidFill>
            </a:ln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</p:pic>
        <p:pic>
          <p:nvPicPr>
            <p:cNvPr id="24" name="Picture 23">
              <a:extLst>
                <a:ext uri="{FF2B5EF4-FFF2-40B4-BE49-F238E27FC236}">
                  <a16:creationId xmlns:a16="http://schemas.microsoft.com/office/drawing/2014/main" id="{D094B13F-A5E0-E8CD-CE8D-3ACAA9BB044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4946" t="48903" r="60805" b="2231"/>
            <a:stretch>
              <a:fillRect/>
            </a:stretch>
          </p:blipFill>
          <p:spPr>
            <a:xfrm>
              <a:off x="2910840" y="3019052"/>
              <a:ext cx="2930850" cy="2079709"/>
            </a:xfrm>
            <a:prstGeom prst="rect">
              <a:avLst/>
            </a:prstGeom>
            <a:ln>
              <a:solidFill>
                <a:schemeClr val="tx1"/>
              </a:solidFill>
            </a:ln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</p:pic>
        <p:pic>
          <p:nvPicPr>
            <p:cNvPr id="33" name="Picture 32">
              <a:extLst>
                <a:ext uri="{FF2B5EF4-FFF2-40B4-BE49-F238E27FC236}">
                  <a16:creationId xmlns:a16="http://schemas.microsoft.com/office/drawing/2014/main" id="{2A2FEBC7-5E88-737D-62CE-9613783756C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327767" y="4268840"/>
              <a:ext cx="2402948" cy="2079709"/>
            </a:xfrm>
            <a:prstGeom prst="rect">
              <a:avLst/>
            </a:prstGeom>
            <a:ln>
              <a:solidFill>
                <a:schemeClr val="tx1"/>
              </a:solidFill>
            </a:ln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</p:pic>
      </p:grpSp>
      <p:pic>
        <p:nvPicPr>
          <p:cNvPr id="35" name="Picture 34">
            <a:extLst>
              <a:ext uri="{FF2B5EF4-FFF2-40B4-BE49-F238E27FC236}">
                <a16:creationId xmlns:a16="http://schemas.microsoft.com/office/drawing/2014/main" id="{90BF4C24-79E7-B909-2D48-F842675B41E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85030" y="5077211"/>
            <a:ext cx="4349575" cy="1393001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sp>
        <p:nvSpPr>
          <p:cNvPr id="37" name="TextBox 36">
            <a:extLst>
              <a:ext uri="{FF2B5EF4-FFF2-40B4-BE49-F238E27FC236}">
                <a16:creationId xmlns:a16="http://schemas.microsoft.com/office/drawing/2014/main" id="{C87012C3-282F-FEBE-C4B0-B50DEB4B2630}"/>
              </a:ext>
            </a:extLst>
          </p:cNvPr>
          <p:cNvSpPr txBox="1"/>
          <p:nvPr/>
        </p:nvSpPr>
        <p:spPr>
          <a:xfrm>
            <a:off x="8708" y="6551411"/>
            <a:ext cx="840377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400" b="1" i="0" u="none" strike="noStrike" baseline="0" dirty="0">
                <a:solidFill>
                  <a:schemeClr val="accent2"/>
                </a:solidFill>
                <a:latin typeface="AdvOTa2fa4214.B"/>
              </a:rPr>
              <a:t>Solute trapping and non-equilibrium microstructure </a:t>
            </a:r>
            <a:r>
              <a:rPr lang="en-GB" sz="1400" b="1" i="0" u="none" strike="noStrike" baseline="0" dirty="0">
                <a:solidFill>
                  <a:schemeClr val="accent2"/>
                </a:solidFill>
                <a:latin typeface="AdvOTa2fa4214.B"/>
              </a:rPr>
              <a:t>during rapid solidi</a:t>
            </a:r>
            <a:r>
              <a:rPr lang="en-GB" sz="1400" b="1" i="0" u="none" strike="noStrike" baseline="0" dirty="0">
                <a:solidFill>
                  <a:schemeClr val="accent2"/>
                </a:solidFill>
                <a:latin typeface="AdvOTa2fa4214.B+fb"/>
              </a:rPr>
              <a:t>fi</a:t>
            </a:r>
            <a:r>
              <a:rPr lang="en-GB" sz="1400" b="1" i="0" u="none" strike="noStrike" baseline="0" dirty="0">
                <a:solidFill>
                  <a:schemeClr val="accent2"/>
                </a:solidFill>
                <a:latin typeface="AdvOTa2fa4214.B"/>
              </a:rPr>
              <a:t>cation of additive </a:t>
            </a:r>
            <a:r>
              <a:rPr lang="en-US" sz="1400" b="1" i="0" u="none" strike="noStrike" baseline="0" dirty="0">
                <a:solidFill>
                  <a:schemeClr val="accent2"/>
                </a:solidFill>
                <a:latin typeface="AdvOTa2fa4214.B"/>
              </a:rPr>
              <a:t>manufacturing</a:t>
            </a:r>
            <a:endParaRPr lang="LID4096" sz="1400" b="1" dirty="0">
              <a:solidFill>
                <a:schemeClr val="accent2"/>
              </a:solidFill>
            </a:endParaRP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0248A28C-04CA-5432-7115-335E104ADF21}"/>
              </a:ext>
            </a:extLst>
          </p:cNvPr>
          <p:cNvSpPr/>
          <p:nvPr/>
        </p:nvSpPr>
        <p:spPr>
          <a:xfrm>
            <a:off x="357897" y="688420"/>
            <a:ext cx="1559713" cy="889008"/>
          </a:xfrm>
          <a:prstGeom prst="roundRect">
            <a:avLst/>
          </a:prstGeom>
          <a:noFill/>
        </p:spPr>
        <p:txBody>
          <a:bodyPr wrap="square" lIns="0" tIns="0" rIns="0" bIns="0" anchor="ctr" anchorCtr="0">
            <a:noAutofit/>
          </a:bodyPr>
          <a:lstStyle/>
          <a:p>
            <a:pPr algn="ctr"/>
            <a:r>
              <a:rPr lang="pt-BR" sz="2400" b="1" dirty="0">
                <a:solidFill>
                  <a:srgbClr val="0000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Horley Old Style MT"/>
              </a:rPr>
              <a:t>Laser</a:t>
            </a:r>
          </a:p>
          <a:p>
            <a:pPr algn="ctr"/>
            <a:r>
              <a:rPr lang="LID4096" sz="2400" b="1" u="sng" dirty="0">
                <a:solidFill>
                  <a:srgbClr val="0000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Horley Old Style MT"/>
              </a:rPr>
              <a:t>Powder</a:t>
            </a:r>
            <a:r>
              <a:rPr lang="pt-BR" sz="2400" b="1" dirty="0">
                <a:solidFill>
                  <a:srgbClr val="0000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Horley Old Style MT"/>
              </a:rPr>
              <a:t> </a:t>
            </a:r>
            <a:r>
              <a:rPr lang="LID4096" sz="2400" b="1" dirty="0">
                <a:solidFill>
                  <a:srgbClr val="0000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Horley Old Style MT"/>
              </a:rPr>
              <a:t>Bed Fusion (</a:t>
            </a:r>
            <a:r>
              <a:rPr lang="pt-BR" sz="2400" b="1" dirty="0">
                <a:solidFill>
                  <a:srgbClr val="0000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Horley Old Style MT"/>
              </a:rPr>
              <a:t>L </a:t>
            </a:r>
            <a:r>
              <a:rPr lang="LID4096" sz="2400" b="1" dirty="0">
                <a:solidFill>
                  <a:srgbClr val="0000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Horley Old Style MT"/>
              </a:rPr>
              <a:t>PBF)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C2C12347-0F5A-8559-3DCF-88CB0A23E200}"/>
              </a:ext>
            </a:extLst>
          </p:cNvPr>
          <p:cNvSpPr/>
          <p:nvPr/>
        </p:nvSpPr>
        <p:spPr>
          <a:xfrm>
            <a:off x="43544" y="-21164"/>
            <a:ext cx="4667794" cy="634862"/>
          </a:xfrm>
          <a:prstGeom prst="roundRect">
            <a:avLst/>
          </a:prstGeom>
          <a:noFill/>
        </p:spPr>
        <p:txBody>
          <a:bodyPr wrap="square" lIns="0" tIns="0" rIns="0" bIns="0" anchor="t" anchorCtr="0">
            <a:noAutofit/>
          </a:bodyPr>
          <a:lstStyle/>
          <a:p>
            <a:r>
              <a:rPr lang="pt-BR" sz="3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EX:</a:t>
            </a:r>
            <a:endParaRPr lang="pt-BR" sz="3200" noProof="0" dirty="0">
              <a:solidFill>
                <a:srgbClr val="FF0000"/>
              </a:solidFill>
              <a:latin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6702584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TextBox 28">
            <a:extLst>
              <a:ext uri="{FF2B5EF4-FFF2-40B4-BE49-F238E27FC236}">
                <a16:creationId xmlns:a16="http://schemas.microsoft.com/office/drawing/2014/main" id="{383AFA05-AE80-CBF4-788E-F2994CD23B67}"/>
              </a:ext>
            </a:extLst>
          </p:cNvPr>
          <p:cNvSpPr txBox="1"/>
          <p:nvPr/>
        </p:nvSpPr>
        <p:spPr>
          <a:xfrm>
            <a:off x="92131" y="6135257"/>
            <a:ext cx="12007737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b="1" i="0" u="sng" strike="noStrike" baseline="0" dirty="0">
                <a:solidFill>
                  <a:schemeClr val="accent2"/>
                </a:solidFill>
                <a:latin typeface="MyriadPro-SemiboldSemiCn"/>
              </a:rPr>
              <a:t>- A multi‑criteria </a:t>
            </a:r>
            <a:r>
              <a:rPr lang="en-US" sz="1600" b="1" i="1" u="sng" strike="noStrike" baseline="0" dirty="0">
                <a:solidFill>
                  <a:schemeClr val="accent2"/>
                </a:solidFill>
                <a:latin typeface="MyriadPro-SemiboldSemiCnIt"/>
              </a:rPr>
              <a:t>h</a:t>
            </a:r>
            <a:r>
              <a:rPr lang="en-US" sz="1600" b="1" i="0" u="sng" strike="noStrike" baseline="0" dirty="0">
                <a:solidFill>
                  <a:schemeClr val="accent2"/>
                </a:solidFill>
                <a:latin typeface="MyriadPro-SemiboldSemiCn"/>
              </a:rPr>
              <a:t>‑adaptive finite‑element framework</a:t>
            </a:r>
            <a:r>
              <a:rPr lang="en-US" sz="1200" b="0" i="0" u="none" strike="noStrike" baseline="0" dirty="0">
                <a:solidFill>
                  <a:schemeClr val="accent2"/>
                </a:solidFill>
                <a:latin typeface="MyriadPro-SemiboldSemiCn"/>
              </a:rPr>
              <a:t> for industrial </a:t>
            </a:r>
            <a:r>
              <a:rPr lang="en-GB" sz="1200" b="0" i="0" u="none" strike="noStrike" baseline="0" dirty="0">
                <a:solidFill>
                  <a:schemeClr val="accent2"/>
                </a:solidFill>
                <a:latin typeface="MyriadPro-SemiboldSemiCn"/>
              </a:rPr>
              <a:t>part‑scale thermal analysis in additive manufacturing processes – </a:t>
            </a:r>
            <a:r>
              <a:rPr lang="en-US" sz="1200" dirty="0">
                <a:solidFill>
                  <a:schemeClr val="accent2"/>
                </a:solidFill>
              </a:rPr>
              <a:t>Moreira &amp; </a:t>
            </a:r>
            <a:r>
              <a:rPr lang="en-US" sz="1200" dirty="0" err="1">
                <a:solidFill>
                  <a:schemeClr val="accent2"/>
                </a:solidFill>
                <a:highlight>
                  <a:srgbClr val="FFFF00"/>
                </a:highlight>
              </a:rPr>
              <a:t>Chiumenti</a:t>
            </a:r>
            <a:r>
              <a:rPr lang="en-US" sz="1200" dirty="0">
                <a:solidFill>
                  <a:schemeClr val="accent2"/>
                </a:solidFill>
                <a:highlight>
                  <a:srgbClr val="FFFF00"/>
                </a:highlight>
              </a:rPr>
              <a:t> </a:t>
            </a:r>
            <a:r>
              <a:rPr lang="en-US" sz="1200" dirty="0">
                <a:solidFill>
                  <a:schemeClr val="accent2"/>
                </a:solidFill>
              </a:rPr>
              <a:t>(2021)</a:t>
            </a:r>
          </a:p>
          <a:p>
            <a:r>
              <a:rPr lang="en-GB" sz="1200" dirty="0">
                <a:solidFill>
                  <a:schemeClr val="accent2"/>
                </a:solidFill>
              </a:rPr>
              <a:t>- Numerical simulation and experimental calibration of Additive Manufacturing by blown powder technology. </a:t>
            </a:r>
            <a:r>
              <a:rPr lang="en-US" sz="1200" dirty="0">
                <a:solidFill>
                  <a:schemeClr val="accent2"/>
                </a:solidFill>
              </a:rPr>
              <a:t>Part I: thermal analysis -- M. </a:t>
            </a:r>
            <a:r>
              <a:rPr lang="en-US" sz="1200" dirty="0" err="1">
                <a:solidFill>
                  <a:schemeClr val="accent2"/>
                </a:solidFill>
                <a:highlight>
                  <a:srgbClr val="FFFF00"/>
                </a:highlight>
              </a:rPr>
              <a:t>Chiumenti</a:t>
            </a:r>
            <a:endParaRPr lang="en-US" sz="1200" dirty="0">
              <a:solidFill>
                <a:schemeClr val="accent2"/>
              </a:solidFill>
              <a:highlight>
                <a:srgbClr val="FFFF00"/>
              </a:highlight>
            </a:endParaRPr>
          </a:p>
          <a:p>
            <a:r>
              <a:rPr lang="en-GB" sz="1200" dirty="0">
                <a:solidFill>
                  <a:schemeClr val="accent2"/>
                </a:solidFill>
              </a:rPr>
              <a:t>- Residual stress and distortion of rectangular and S-shaped Ti-6Al-4V parts </a:t>
            </a:r>
            <a:r>
              <a:rPr lang="en-US" sz="1200" dirty="0">
                <a:solidFill>
                  <a:schemeClr val="accent2"/>
                </a:solidFill>
              </a:rPr>
              <a:t>-- M. </a:t>
            </a:r>
            <a:r>
              <a:rPr lang="en-US" sz="1200" dirty="0" err="1">
                <a:solidFill>
                  <a:schemeClr val="accent2"/>
                </a:solidFill>
                <a:highlight>
                  <a:srgbClr val="FFFF00"/>
                </a:highlight>
              </a:rPr>
              <a:t>Chiumenti</a:t>
            </a:r>
            <a:endParaRPr lang="LID4096" sz="1200" dirty="0">
              <a:solidFill>
                <a:schemeClr val="accent2"/>
              </a:solidFill>
              <a:highlight>
                <a:srgbClr val="FFFF00"/>
              </a:highlight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F2B78473-A7F0-914B-C99C-1BF327B3FDA8}"/>
              </a:ext>
            </a:extLst>
          </p:cNvPr>
          <p:cNvSpPr txBox="1"/>
          <p:nvPr/>
        </p:nvSpPr>
        <p:spPr>
          <a:xfrm>
            <a:off x="507223" y="830286"/>
            <a:ext cx="4808890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Wingdings" panose="05000000000000000000" pitchFamily="2" charset="2"/>
              <a:buChar char="Ø"/>
            </a:pPr>
            <a:r>
              <a:rPr lang="en-US" sz="2000" b="1" dirty="0"/>
              <a:t>h-adaptive finite-element (FE) strategy</a:t>
            </a:r>
          </a:p>
          <a:p>
            <a:pPr marL="800100" lvl="1" indent="-342900">
              <a:buFont typeface="Wingdings" panose="05000000000000000000" pitchFamily="2" charset="2"/>
              <a:buChar char="Ø"/>
            </a:pPr>
            <a:r>
              <a:rPr lang="en-US" b="1" dirty="0"/>
              <a:t>mesh coarsening and refinement</a:t>
            </a:r>
            <a:endParaRPr lang="en-US" sz="2000" b="1" dirty="0"/>
          </a:p>
          <a:p>
            <a:pPr marL="342900" indent="-342900">
              <a:buFont typeface="Wingdings" panose="05000000000000000000" pitchFamily="2" charset="2"/>
              <a:buChar char="Ø"/>
            </a:pPr>
            <a:r>
              <a:rPr lang="en-US" b="1" dirty="0">
                <a:solidFill>
                  <a:srgbClr val="FF0000"/>
                </a:solidFill>
              </a:rPr>
              <a:t>common layer interface (CLI)  </a:t>
            </a:r>
            <a:r>
              <a:rPr lang="en-US" b="1" dirty="0">
                <a:solidFill>
                  <a:srgbClr val="0000FF"/>
                </a:solidFill>
              </a:rPr>
              <a:t>x </a:t>
            </a:r>
            <a:r>
              <a:rPr lang="en-US" b="1" dirty="0" err="1">
                <a:solidFill>
                  <a:srgbClr val="0000FF"/>
                </a:solidFill>
              </a:rPr>
              <a:t>GCode</a:t>
            </a:r>
            <a:endParaRPr lang="LID4096" b="1" dirty="0">
              <a:solidFill>
                <a:srgbClr val="0000FF"/>
              </a:solidFill>
            </a:endParaRPr>
          </a:p>
        </p:txBody>
      </p:sp>
      <p:pic>
        <p:nvPicPr>
          <p:cNvPr id="37" name="Picture 36">
            <a:extLst>
              <a:ext uri="{FF2B5EF4-FFF2-40B4-BE49-F238E27FC236}">
                <a16:creationId xmlns:a16="http://schemas.microsoft.com/office/drawing/2014/main" id="{BD4AE64D-142C-C5A6-6B1E-B80609B23F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223" y="2062144"/>
            <a:ext cx="4760272" cy="3384520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ACF20649-871F-C592-E74E-004711043AA6}"/>
              </a:ext>
            </a:extLst>
          </p:cNvPr>
          <p:cNvSpPr txBox="1"/>
          <p:nvPr/>
        </p:nvSpPr>
        <p:spPr>
          <a:xfrm>
            <a:off x="10218870" y="6461173"/>
            <a:ext cx="131162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LID4096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Caicedo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49CEB4DE-F19B-25D2-D69C-0FB7DBF81CC8}"/>
              </a:ext>
            </a:extLst>
          </p:cNvPr>
          <p:cNvGrpSpPr/>
          <p:nvPr/>
        </p:nvGrpSpPr>
        <p:grpSpPr>
          <a:xfrm>
            <a:off x="5905794" y="2062144"/>
            <a:ext cx="5641879" cy="3330812"/>
            <a:chOff x="5870960" y="1834785"/>
            <a:chExt cx="5641879" cy="3330812"/>
          </a:xfrm>
        </p:grpSpPr>
        <p:grpSp>
          <p:nvGrpSpPr>
            <p:cNvPr id="41" name="Group 40">
              <a:extLst>
                <a:ext uri="{FF2B5EF4-FFF2-40B4-BE49-F238E27FC236}">
                  <a16:creationId xmlns:a16="http://schemas.microsoft.com/office/drawing/2014/main" id="{42884BF6-7107-207F-BD5F-B4C5C233DF35}"/>
                </a:ext>
              </a:extLst>
            </p:cNvPr>
            <p:cNvGrpSpPr/>
            <p:nvPr/>
          </p:nvGrpSpPr>
          <p:grpSpPr>
            <a:xfrm>
              <a:off x="5870960" y="1834785"/>
              <a:ext cx="5641879" cy="3258752"/>
              <a:chOff x="5564776" y="1514854"/>
              <a:chExt cx="5641879" cy="3258752"/>
            </a:xfrm>
          </p:grpSpPr>
          <p:pic>
            <p:nvPicPr>
              <p:cNvPr id="40" name="Picture 39">
                <a:extLst>
                  <a:ext uri="{FF2B5EF4-FFF2-40B4-BE49-F238E27FC236}">
                    <a16:creationId xmlns:a16="http://schemas.microsoft.com/office/drawing/2014/main" id="{6E57E60B-F3DF-524A-8F29-346395CE708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rcRect t="56742"/>
              <a:stretch>
                <a:fillRect/>
              </a:stretch>
            </p:blipFill>
            <p:spPr>
              <a:xfrm>
                <a:off x="6253655" y="4077260"/>
                <a:ext cx="4953000" cy="696346"/>
              </a:xfrm>
              <a:prstGeom prst="rect">
                <a:avLst/>
              </a:prstGeom>
            </p:spPr>
          </p:pic>
          <p:grpSp>
            <p:nvGrpSpPr>
              <p:cNvPr id="33" name="Group 32">
                <a:extLst>
                  <a:ext uri="{FF2B5EF4-FFF2-40B4-BE49-F238E27FC236}">
                    <a16:creationId xmlns:a16="http://schemas.microsoft.com/office/drawing/2014/main" id="{36DAC0AD-FD90-EDDD-759F-9EB4DA08F0A4}"/>
                  </a:ext>
                </a:extLst>
              </p:cNvPr>
              <p:cNvGrpSpPr/>
              <p:nvPr/>
            </p:nvGrpSpPr>
            <p:grpSpPr>
              <a:xfrm>
                <a:off x="5564776" y="1514854"/>
                <a:ext cx="5357427" cy="2563504"/>
                <a:chOff x="676003" y="334423"/>
                <a:chExt cx="5357427" cy="2563504"/>
              </a:xfrm>
            </p:grpSpPr>
            <p:pic>
              <p:nvPicPr>
                <p:cNvPr id="5" name="Picture 4">
                  <a:extLst>
                    <a:ext uri="{FF2B5EF4-FFF2-40B4-BE49-F238E27FC236}">
                      <a16:creationId xmlns:a16="http://schemas.microsoft.com/office/drawing/2014/main" id="{E5E0877E-0A06-E5B1-0B43-BBC1749C3AA4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738051" y="419236"/>
                  <a:ext cx="1676400" cy="428625"/>
                </a:xfrm>
                <a:prstGeom prst="rect">
                  <a:avLst/>
                </a:prstGeom>
              </p:spPr>
            </p:pic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63826787-2279-F854-B987-63CF4E26EB9C}"/>
                    </a:ext>
                  </a:extLst>
                </p:cNvPr>
                <p:cNvSpPr txBox="1"/>
                <p:nvPr/>
              </p:nvSpPr>
              <p:spPr>
                <a:xfrm>
                  <a:off x="3721053" y="334424"/>
                  <a:ext cx="2312377" cy="1184940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txBody>
                <a:bodyPr wrap="square">
                  <a:spAutoFit/>
                </a:bodyPr>
                <a:lstStyle/>
                <a:p>
                  <a:r>
                    <a:rPr lang="en-US" sz="1400" b="0" i="1" u="none" strike="noStrike" baseline="0" dirty="0">
                      <a:solidFill>
                        <a:srgbClr val="0000FF"/>
                      </a:solidFill>
                      <a:latin typeface="STIXMath-Italic"/>
                    </a:rPr>
                    <a:t>̇</a:t>
                  </a:r>
                  <a:r>
                    <a:rPr lang="en-US" sz="1400" b="0" i="1" u="none" strike="noStrike" baseline="0" dirty="0">
                      <a:solidFill>
                        <a:srgbClr val="0000FF"/>
                      </a:solidFill>
                      <a:latin typeface="STIXGeneral-Italic2"/>
                    </a:rPr>
                    <a:t>H   </a:t>
                  </a:r>
                  <a:r>
                    <a:rPr lang="en-GB" sz="1400" dirty="0">
                      <a:solidFill>
                        <a:srgbClr val="0000FF"/>
                      </a:solidFill>
                      <a:latin typeface="STIX-Regular"/>
                    </a:rPr>
                    <a:t>rate of enthalpy</a:t>
                  </a:r>
                  <a:endParaRPr lang="en-US" sz="1400" b="0" i="1" u="none" strike="noStrike" baseline="0" dirty="0">
                    <a:solidFill>
                      <a:srgbClr val="0000FF"/>
                    </a:solidFill>
                    <a:latin typeface="STIXGeneral-Italic2"/>
                  </a:endParaRPr>
                </a:p>
                <a:p>
                  <a:r>
                    <a:rPr lang="en-GB" sz="1400" b="1" i="1" u="none" strike="noStrike" baseline="0" dirty="0">
                      <a:solidFill>
                        <a:srgbClr val="0000FF"/>
                      </a:solidFill>
                      <a:latin typeface="STIXGeneral-BoldItalic"/>
                    </a:rPr>
                    <a:t>q   </a:t>
                  </a:r>
                  <a:r>
                    <a:rPr lang="en-GB" sz="1400" b="0" i="0" u="none" strike="noStrike" baseline="0" dirty="0">
                      <a:solidFill>
                        <a:srgbClr val="0000FF"/>
                      </a:solidFill>
                      <a:latin typeface="STIX-Regular"/>
                    </a:rPr>
                    <a:t>heat-flux per unit volume</a:t>
                  </a:r>
                </a:p>
                <a:p>
                  <a:r>
                    <a:rPr lang="en-GB" sz="1400" i="1" dirty="0">
                      <a:solidFill>
                        <a:srgbClr val="0000FF"/>
                      </a:solidFill>
                      <a:latin typeface="STIXGeneral-Italic3"/>
                    </a:rPr>
                    <a:t>r</a:t>
                  </a:r>
                  <a:r>
                    <a:rPr lang="en-GB" sz="1400" i="1" dirty="0">
                      <a:solidFill>
                        <a:srgbClr val="0000FF"/>
                      </a:solidFill>
                      <a:latin typeface="STIXMath-Italic"/>
                    </a:rPr>
                    <a:t>̇  </a:t>
                  </a:r>
                  <a:r>
                    <a:rPr lang="en-GB" sz="1400" dirty="0">
                      <a:solidFill>
                        <a:srgbClr val="0000FF"/>
                      </a:solidFill>
                      <a:latin typeface="STIX-Regular"/>
                    </a:rPr>
                    <a:t>  rate of heat source</a:t>
                  </a:r>
                  <a:endParaRPr lang="en-GB" sz="1400" i="1" dirty="0">
                    <a:solidFill>
                      <a:srgbClr val="0000FF"/>
                    </a:solidFill>
                    <a:latin typeface="STIXMath-Italic"/>
                  </a:endParaRPr>
                </a:p>
                <a:p>
                  <a:endParaRPr lang="en-GB" sz="100" b="0" i="0" u="none" strike="noStrike" baseline="0" dirty="0">
                    <a:solidFill>
                      <a:srgbClr val="0000FF"/>
                    </a:solidFill>
                    <a:latin typeface="STIX-Regular"/>
                  </a:endParaRPr>
                </a:p>
                <a:p>
                  <a:r>
                    <a:rPr lang="en-GB" sz="1400" dirty="0">
                      <a:solidFill>
                        <a:srgbClr val="0000FF"/>
                      </a:solidFill>
                      <a:latin typeface="STIX-Regular"/>
                    </a:rPr>
                    <a:t>C   </a:t>
                  </a:r>
                  <a:r>
                    <a:rPr lang="en-GB" sz="1400" dirty="0">
                      <a:solidFill>
                        <a:srgbClr val="0000FF"/>
                      </a:solidFill>
                    </a:rPr>
                    <a:t>(temperature dependent) heat capacity</a:t>
                  </a:r>
                  <a:endParaRPr lang="LID4096" sz="1400" dirty="0">
                    <a:solidFill>
                      <a:srgbClr val="0000FF"/>
                    </a:solidFill>
                  </a:endParaRPr>
                </a:p>
              </p:txBody>
            </p:sp>
            <p:pic>
              <p:nvPicPr>
                <p:cNvPr id="9" name="Picture 8">
                  <a:extLst>
                    <a:ext uri="{FF2B5EF4-FFF2-40B4-BE49-F238E27FC236}">
                      <a16:creationId xmlns:a16="http://schemas.microsoft.com/office/drawing/2014/main" id="{0233BAAB-ABE6-5897-4FB7-A0AF4988C8A9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5"/>
                <a:srcRect t="18000" b="13963"/>
                <a:stretch>
                  <a:fillRect/>
                </a:stretch>
              </p:blipFill>
              <p:spPr>
                <a:xfrm>
                  <a:off x="1738992" y="796115"/>
                  <a:ext cx="1285875" cy="324024"/>
                </a:xfrm>
                <a:prstGeom prst="rect">
                  <a:avLst/>
                </a:prstGeom>
              </p:spPr>
            </p:pic>
            <p:pic>
              <p:nvPicPr>
                <p:cNvPr id="11" name="Picture 10">
                  <a:extLst>
                    <a:ext uri="{FF2B5EF4-FFF2-40B4-BE49-F238E27FC236}">
                      <a16:creationId xmlns:a16="http://schemas.microsoft.com/office/drawing/2014/main" id="{41D14760-1E87-0A6F-3873-6AD13A5FCCEF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738051" y="997075"/>
                  <a:ext cx="1009650" cy="390525"/>
                </a:xfrm>
                <a:prstGeom prst="rect">
                  <a:avLst/>
                </a:prstGeom>
              </p:spPr>
            </p:pic>
            <p:grpSp>
              <p:nvGrpSpPr>
                <p:cNvPr id="24" name="Group 23">
                  <a:extLst>
                    <a:ext uri="{FF2B5EF4-FFF2-40B4-BE49-F238E27FC236}">
                      <a16:creationId xmlns:a16="http://schemas.microsoft.com/office/drawing/2014/main" id="{42164C09-3E45-EAB5-94A0-D52A6CAFF7B3}"/>
                    </a:ext>
                  </a:extLst>
                </p:cNvPr>
                <p:cNvGrpSpPr/>
                <p:nvPr/>
              </p:nvGrpSpPr>
              <p:grpSpPr>
                <a:xfrm>
                  <a:off x="771889" y="1561596"/>
                  <a:ext cx="2848519" cy="476250"/>
                  <a:chOff x="771889" y="1474509"/>
                  <a:chExt cx="2848519" cy="476250"/>
                </a:xfrm>
              </p:grpSpPr>
              <p:pic>
                <p:nvPicPr>
                  <p:cNvPr id="13" name="Picture 12">
                    <a:extLst>
                      <a:ext uri="{FF2B5EF4-FFF2-40B4-BE49-F238E27FC236}">
                        <a16:creationId xmlns:a16="http://schemas.microsoft.com/office/drawing/2014/main" id="{03048724-9AC1-2634-3030-559A1647CEBB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7"/>
                  <a:srcRect t="-2041" r="20544"/>
                  <a:stretch>
                    <a:fillRect/>
                  </a:stretch>
                </p:blipFill>
                <p:spPr>
                  <a:xfrm>
                    <a:off x="771889" y="1474509"/>
                    <a:ext cx="2066108" cy="476250"/>
                  </a:xfrm>
                  <a:prstGeom prst="rect">
                    <a:avLst/>
                  </a:prstGeom>
                </p:spPr>
              </p:pic>
              <p:pic>
                <p:nvPicPr>
                  <p:cNvPr id="16" name="Picture 15">
                    <a:extLst>
                      <a:ext uri="{FF2B5EF4-FFF2-40B4-BE49-F238E27FC236}">
                        <a16:creationId xmlns:a16="http://schemas.microsoft.com/office/drawing/2014/main" id="{CAA6090C-5358-9B70-4C86-B31AA578B2F0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7"/>
                  <a:srcRect l="78954"/>
                  <a:stretch>
                    <a:fillRect/>
                  </a:stretch>
                </p:blipFill>
                <p:spPr>
                  <a:xfrm>
                    <a:off x="3073129" y="1479271"/>
                    <a:ext cx="547279" cy="466725"/>
                  </a:xfrm>
                  <a:prstGeom prst="rect">
                    <a:avLst/>
                  </a:prstGeom>
                </p:spPr>
              </p:pic>
            </p:grpSp>
            <p:pic>
              <p:nvPicPr>
                <p:cNvPr id="18" name="Picture 17">
                  <a:extLst>
                    <a:ext uri="{FF2B5EF4-FFF2-40B4-BE49-F238E27FC236}">
                      <a16:creationId xmlns:a16="http://schemas.microsoft.com/office/drawing/2014/main" id="{7A8DCB8C-179F-7DC5-2651-1DB79A19844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/>
                <a:srcRect t="1" b="49340"/>
                <a:stretch>
                  <a:fillRect/>
                </a:stretch>
              </p:blipFill>
              <p:spPr>
                <a:xfrm>
                  <a:off x="1000980" y="2082468"/>
                  <a:ext cx="4953000" cy="815459"/>
                </a:xfrm>
                <a:prstGeom prst="rect">
                  <a:avLst/>
                </a:prstGeom>
              </p:spPr>
            </p:pic>
            <p:sp>
              <p:nvSpPr>
                <p:cNvPr id="27" name="Rectangle 26">
                  <a:extLst>
                    <a:ext uri="{FF2B5EF4-FFF2-40B4-BE49-F238E27FC236}">
                      <a16:creationId xmlns:a16="http://schemas.microsoft.com/office/drawing/2014/main" id="{2752B941-3E23-0EEE-3C03-4FAF44369101}"/>
                    </a:ext>
                  </a:extLst>
                </p:cNvPr>
                <p:cNvSpPr/>
                <p:nvPr/>
              </p:nvSpPr>
              <p:spPr>
                <a:xfrm>
                  <a:off x="676003" y="334423"/>
                  <a:ext cx="2824842" cy="1182549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/>
                </a:p>
              </p:txBody>
            </p:sp>
          </p:grpSp>
        </p:grp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01F3F83B-A6CA-28F1-E03A-7B349F665D43}"/>
                </a:ext>
              </a:extLst>
            </p:cNvPr>
            <p:cNvSpPr txBox="1"/>
            <p:nvPr/>
          </p:nvSpPr>
          <p:spPr>
            <a:xfrm>
              <a:off x="7279369" y="4850526"/>
              <a:ext cx="1219200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LID4096" sz="1400" dirty="0">
                  <a:solidFill>
                    <a:srgbClr val="0000FF"/>
                  </a:solidFill>
                </a:rPr>
                <a:t>heat losses</a:t>
              </a: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9A3E7AF0-73B5-4CC6-9427-4896A57CAA4B}"/>
                </a:ext>
              </a:extLst>
            </p:cNvPr>
            <p:cNvSpPr txBox="1"/>
            <p:nvPr/>
          </p:nvSpPr>
          <p:spPr>
            <a:xfrm>
              <a:off x="8695802" y="4857820"/>
              <a:ext cx="2752794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>
              <a:defPPr>
                <a:defRPr lang="LID4096"/>
              </a:defPPr>
              <a:lvl1pPr>
                <a:defRPr>
                  <a:solidFill>
                    <a:srgbClr val="0000FF"/>
                  </a:solidFill>
                </a:defRPr>
              </a:lvl1pPr>
            </a:lstStyle>
            <a:p>
              <a:r>
                <a:rPr lang="LID4096" sz="1400" dirty="0"/>
                <a:t>external work of the thermal loads</a:t>
              </a:r>
            </a:p>
          </p:txBody>
        </p:sp>
      </p:grp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6AF9E4C3-CBA3-6E42-B4D0-628D34F56B7C}"/>
              </a:ext>
            </a:extLst>
          </p:cNvPr>
          <p:cNvSpPr/>
          <p:nvPr/>
        </p:nvSpPr>
        <p:spPr>
          <a:xfrm>
            <a:off x="43544" y="-21164"/>
            <a:ext cx="4667794" cy="634862"/>
          </a:xfrm>
          <a:prstGeom prst="roundRect">
            <a:avLst/>
          </a:prstGeom>
          <a:noFill/>
        </p:spPr>
        <p:txBody>
          <a:bodyPr wrap="square" lIns="0" tIns="0" rIns="0" bIns="0" anchor="t" anchorCtr="0">
            <a:noAutofit/>
          </a:bodyPr>
          <a:lstStyle/>
          <a:p>
            <a:r>
              <a:rPr lang="pt-BR" sz="3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EX:</a:t>
            </a:r>
            <a:endParaRPr lang="pt-BR" sz="3200" noProof="0" dirty="0">
              <a:solidFill>
                <a:srgbClr val="FF0000"/>
              </a:solidFill>
              <a:latin typeface="Times New Roman" panose="02020603050405020304" pitchFamily="18" charset="0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9A6CCF1-9380-6966-03B8-981879992227}"/>
              </a:ext>
            </a:extLst>
          </p:cNvPr>
          <p:cNvSpPr/>
          <p:nvPr/>
        </p:nvSpPr>
        <p:spPr>
          <a:xfrm>
            <a:off x="0" y="1"/>
            <a:ext cx="12192000" cy="6858000"/>
          </a:xfrm>
          <a:prstGeom prst="rect">
            <a:avLst/>
          </a:prstGeom>
          <a:solidFill>
            <a:srgbClr val="DAE3F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87269309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6030</TotalTime>
  <Words>1712</Words>
  <Application>Microsoft Office PowerPoint</Application>
  <PresentationFormat>Widescreen</PresentationFormat>
  <Paragraphs>336</Paragraphs>
  <Slides>22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51" baseType="lpstr">
      <vt:lpstr>AdvOT46dcae81</vt:lpstr>
      <vt:lpstr>AdvOTa2fa4214.B</vt:lpstr>
      <vt:lpstr>AdvOTa2fa4214.B+fb</vt:lpstr>
      <vt:lpstr>AdvOTdd63dae3</vt:lpstr>
      <vt:lpstr>AdvOTdd63dae3+03</vt:lpstr>
      <vt:lpstr>Arial</vt:lpstr>
      <vt:lpstr>Calibri</vt:lpstr>
      <vt:lpstr>Calibri (Body)</vt:lpstr>
      <vt:lpstr>Calibri Light</vt:lpstr>
      <vt:lpstr>Cambria Math</vt:lpstr>
      <vt:lpstr>Charis SIL</vt:lpstr>
      <vt:lpstr>Consolas</vt:lpstr>
      <vt:lpstr>Google Sans</vt:lpstr>
      <vt:lpstr>Horley Old Style MT</vt:lpstr>
      <vt:lpstr>LMRoman12-Regular</vt:lpstr>
      <vt:lpstr>MyriadPro-SemiboldSemiCn</vt:lpstr>
      <vt:lpstr>MyriadPro-SemiboldSemiCnIt</vt:lpstr>
      <vt:lpstr>NywgqrAdvTT3713a231</vt:lpstr>
      <vt:lpstr>Segoe UI</vt:lpstr>
      <vt:lpstr>STIXGeneral-BoldItalic</vt:lpstr>
      <vt:lpstr>STIXGeneral-Italic2</vt:lpstr>
      <vt:lpstr>STIXGeneral-Italic3</vt:lpstr>
      <vt:lpstr>STIXMath</vt:lpstr>
      <vt:lpstr>STIXMath-Italic</vt:lpstr>
      <vt:lpstr>STIX-Regular</vt:lpstr>
      <vt:lpstr>Symbol</vt:lpstr>
      <vt:lpstr>Times New Roman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grossi</dc:creator>
  <cp:lastModifiedBy>grossi</cp:lastModifiedBy>
  <cp:revision>296</cp:revision>
  <dcterms:created xsi:type="dcterms:W3CDTF">2026-09-30T17:20:39Z</dcterms:created>
  <dcterms:modified xsi:type="dcterms:W3CDTF">2026-10-21T17:52:14Z</dcterms:modified>
</cp:coreProperties>
</file>