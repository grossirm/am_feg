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76" r:id="rId5"/>
    <p:sldId id="284" r:id="rId6"/>
    <p:sldId id="285" r:id="rId7"/>
    <p:sldId id="287" r:id="rId8"/>
    <p:sldId id="288" r:id="rId9"/>
    <p:sldId id="289" r:id="rId10"/>
    <p:sldId id="273" r:id="rId11"/>
    <p:sldId id="270" r:id="rId12"/>
    <p:sldId id="282" r:id="rId13"/>
    <p:sldId id="281" r:id="rId14"/>
    <p:sldId id="266" r:id="rId15"/>
    <p:sldId id="265" r:id="rId16"/>
    <p:sldId id="257" r:id="rId17"/>
    <p:sldId id="268" r:id="rId18"/>
    <p:sldId id="277" r:id="rId19"/>
    <p:sldId id="278" r:id="rId20"/>
    <p:sldId id="260" r:id="rId21"/>
    <p:sldId id="272" r:id="rId22"/>
    <p:sldId id="271" r:id="rId2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5FFF6"/>
    <a:srgbClr val="BDFFE9"/>
    <a:srgbClr val="C9FF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60"/>
  </p:normalViewPr>
  <p:slideViewPr>
    <p:cSldViewPr snapToGrid="0">
      <p:cViewPr>
        <p:scale>
          <a:sx n="100" d="100"/>
          <a:sy n="100" d="100"/>
        </p:scale>
        <p:origin x="83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5.jpeg"/><Relationship Id="rId5" Type="http://schemas.openxmlformats.org/officeDocument/2006/relationships/image" Target="../media/image20.png"/><Relationship Id="rId10" Type="http://schemas.openxmlformats.org/officeDocument/2006/relationships/image" Target="../media/image24.jpeg"/><Relationship Id="rId4" Type="http://schemas.openxmlformats.org/officeDocument/2006/relationships/image" Target="../media/image19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6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jpe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hyperlink" Target="https://github.com/grossiRM/CFD_ON/tree/main/04_OpenFoam" TargetMode="External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8" Type="http://schemas.openxmlformats.org/officeDocument/2006/relationships/image" Target="../media/image200.png"/><Relationship Id="rId3" Type="http://schemas.openxmlformats.org/officeDocument/2006/relationships/image" Target="../media/image44.png"/><Relationship Id="rId21" Type="http://schemas.openxmlformats.org/officeDocument/2006/relationships/image" Target="../media/image53.png"/><Relationship Id="rId7" Type="http://schemas.openxmlformats.org/officeDocument/2006/relationships/image" Target="../media/image48.png"/><Relationship Id="rId17" Type="http://schemas.openxmlformats.org/officeDocument/2006/relationships/image" Target="../media/image190.png"/><Relationship Id="rId2" Type="http://schemas.openxmlformats.org/officeDocument/2006/relationships/image" Target="../media/image43.PNG"/><Relationship Id="rId16" Type="http://schemas.openxmlformats.org/officeDocument/2006/relationships/image" Target="../media/image180.png"/><Relationship Id="rId20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19" Type="http://schemas.openxmlformats.org/officeDocument/2006/relationships/image" Target="../media/image210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22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jpeg"/><Relationship Id="rId4" Type="http://schemas.openxmlformats.org/officeDocument/2006/relationships/image" Target="../media/image55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7" Type="http://schemas.openxmlformats.org/officeDocument/2006/relationships/image" Target="../media/image73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jpe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89.png"/><Relationship Id="rId7" Type="http://schemas.openxmlformats.org/officeDocument/2006/relationships/image" Target="../media/image92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11" Type="http://schemas.openxmlformats.org/officeDocument/2006/relationships/image" Target="../media/image85.png"/><Relationship Id="rId5" Type="http://schemas.openxmlformats.org/officeDocument/2006/relationships/image" Target="../media/image91.png"/><Relationship Id="rId10" Type="http://schemas.openxmlformats.org/officeDocument/2006/relationships/image" Target="../media/image87.png"/><Relationship Id="rId4" Type="http://schemas.openxmlformats.org/officeDocument/2006/relationships/image" Target="../media/image90.png"/><Relationship Id="rId9" Type="http://schemas.openxmlformats.org/officeDocument/2006/relationships/image" Target="../media/image9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2E74B6-3C6E-346D-648E-B4AB2B22A88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578430" y="3953203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69366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45C74A-CC08-BD7F-61E8-7645E6DD463F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183514" y="6057399"/>
            <a:ext cx="2584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FDF19-A33C-136F-1A28-B6A70AF3043D}"/>
              </a:ext>
            </a:extLst>
          </p:cNvPr>
          <p:cNvGrpSpPr/>
          <p:nvPr/>
        </p:nvGrpSpPr>
        <p:grpSpPr>
          <a:xfrm>
            <a:off x="469242" y="1316124"/>
            <a:ext cx="5131267" cy="1977507"/>
            <a:chOff x="469242" y="658584"/>
            <a:chExt cx="5131267" cy="197750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51DC266-B0C6-7AD9-4BB8-8ADFB9064D9E}"/>
                </a:ext>
              </a:extLst>
            </p:cNvPr>
            <p:cNvSpPr/>
            <p:nvPr/>
          </p:nvSpPr>
          <p:spPr>
            <a:xfrm>
              <a:off x="3722009" y="769025"/>
              <a:ext cx="980423" cy="318411"/>
            </a:xfrm>
            <a:prstGeom prst="round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 algn="r"/>
              <a:r>
                <a:rPr lang="en-US" sz="2400" b="1" dirty="0">
                  <a:latin typeface="Horley Old Style MT"/>
                </a:rPr>
                <a:t>EBM </a:t>
              </a:r>
              <a:endParaRPr lang="LID4096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E35006-F1A4-F82E-9FA6-576C303FC24C}"/>
                </a:ext>
              </a:extLst>
            </p:cNvPr>
            <p:cNvSpPr txBox="1"/>
            <p:nvPr/>
          </p:nvSpPr>
          <p:spPr>
            <a:xfrm>
              <a:off x="469242" y="658584"/>
              <a:ext cx="346703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u="sng" dirty="0">
                  <a:latin typeface="Horley Old Style MT"/>
                </a:rPr>
                <a:t>Electron Beam</a:t>
              </a:r>
              <a:r>
                <a:rPr lang="en-US" sz="2400" b="1" dirty="0">
                  <a:latin typeface="Horley Old Style MT"/>
                </a:rPr>
                <a:t> Melting</a:t>
              </a:r>
              <a:endParaRPr lang="LID4096" sz="2400" b="1" dirty="0">
                <a:latin typeface="Horley Old Style M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E1CCE9-6D2A-0BD7-3430-CB907C3B0A37}"/>
                </a:ext>
              </a:extLst>
            </p:cNvPr>
            <p:cNvSpPr txBox="1"/>
            <p:nvPr/>
          </p:nvSpPr>
          <p:spPr>
            <a:xfrm>
              <a:off x="469242" y="1066431"/>
              <a:ext cx="51312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dirty="0">
                  <a:effectLst/>
                  <a:latin typeface="Google Sans"/>
                </a:rPr>
                <a:t>Vat </a:t>
              </a:r>
              <a:r>
                <a:rPr lang="en-GB" sz="2400" b="1" u="sng" strike="noStrike" dirty="0">
                  <a:solidFill>
                    <a:srgbClr val="FF0000"/>
                  </a:solidFill>
                  <a:effectLst/>
                  <a:latin typeface="Google Sans"/>
                </a:rPr>
                <a:t>Photo</a:t>
              </a:r>
              <a:r>
                <a:rPr lang="en-GB" sz="2400" b="1" u="none" strike="noStrike" dirty="0">
                  <a:effectLst/>
                  <a:latin typeface="Google Sans"/>
                </a:rPr>
                <a:t>polymerization      VPP</a:t>
              </a:r>
              <a:r>
                <a:rPr lang="en-GB" sz="2400" b="1" dirty="0"/>
                <a:t> </a:t>
              </a:r>
            </a:p>
            <a:p>
              <a:r>
                <a:rPr lang="en-GB" sz="2400" b="1" u="sng" dirty="0">
                  <a:latin typeface="Google Sans"/>
                </a:rPr>
                <a:t>Binder</a:t>
              </a:r>
              <a:r>
                <a:rPr lang="en-GB" sz="2400" b="1" dirty="0">
                  <a:latin typeface="Google Sans"/>
                </a:rPr>
                <a:t> Jetting 	</a:t>
              </a:r>
              <a:r>
                <a:rPr lang="en-GB" sz="2400" b="1" dirty="0">
                  <a:solidFill>
                    <a:srgbClr val="FF0000"/>
                  </a:solidFill>
                  <a:latin typeface="Google Sans"/>
                </a:rPr>
                <a:t>(glue)</a:t>
              </a:r>
              <a:r>
                <a:rPr lang="en-GB" sz="2400" b="1" dirty="0">
                  <a:latin typeface="Google Sans"/>
                </a:rPr>
                <a:t>	            BJ</a:t>
              </a:r>
              <a:r>
                <a:rPr lang="en-GB" sz="2400" b="1" dirty="0"/>
                <a:t> </a:t>
              </a:r>
            </a:p>
            <a:p>
              <a:r>
                <a:rPr lang="en-GB" sz="2400" b="1" dirty="0"/>
                <a:t>Material Jetting 	            MJ</a:t>
              </a:r>
            </a:p>
            <a:p>
              <a:r>
                <a:rPr lang="en-US" sz="2400" b="1" dirty="0">
                  <a:latin typeface="Horley Old Style MT"/>
                </a:rPr>
                <a:t>Sheet Lamination </a:t>
              </a:r>
              <a:r>
                <a:rPr lang="en-US" sz="2400" b="1" dirty="0">
                  <a:solidFill>
                    <a:srgbClr val="FF0000"/>
                  </a:solidFill>
                  <a:latin typeface="Horley Old Style MT"/>
                </a:rPr>
                <a:t>(cut)</a:t>
              </a:r>
              <a:r>
                <a:rPr lang="en-US" sz="2400" b="1" dirty="0">
                  <a:latin typeface="Horley Old Style MT"/>
                </a:rPr>
                <a:t>          SHL</a:t>
              </a:r>
              <a:endParaRPr lang="LID4096" sz="2400" b="1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613818" y="3919717"/>
            <a:ext cx="36612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 A.M.: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Por </a:t>
            </a:r>
            <a:r>
              <a:rPr lang="pt-BR" sz="2400" u="sng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Por </a:t>
            </a:r>
            <a:r>
              <a:rPr lang="pt-BR" sz="2400" u="sng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-1" y="6306902"/>
            <a:ext cx="55244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400" dirty="0"/>
              <a:t>Modelling and simulation of metal additive manufacturing processes with particle methods: </a:t>
            </a:r>
            <a:r>
              <a:rPr lang="en-US" sz="1600" u="sng" dirty="0"/>
              <a:t>A review</a:t>
            </a:r>
            <a:r>
              <a:rPr lang="en-US" sz="1400" u="sng" dirty="0"/>
              <a:t> </a:t>
            </a:r>
            <a:r>
              <a:rPr lang="en-US" sz="1050" dirty="0"/>
              <a:t>https://doi.org/10.1080/17452759.2023.2274494</a:t>
            </a:r>
            <a:endParaRPr lang="LID4096" sz="105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4A3A7-1340-B08A-9291-F6EE6511837A}"/>
              </a:ext>
            </a:extLst>
          </p:cNvPr>
          <p:cNvSpPr txBox="1"/>
          <p:nvPr/>
        </p:nvSpPr>
        <p:spPr>
          <a:xfrm>
            <a:off x="5647372" y="4706281"/>
            <a:ext cx="1206748" cy="461665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defRPr>
            </a:lvl1pPr>
          </a:lstStyle>
          <a:p>
            <a:pPr algn="ctr"/>
            <a:r>
              <a:rPr lang="LID4096" dirty="0"/>
              <a:t>GTAW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5E383-2B32-2865-3DDE-578942CA3C4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8" y="874453"/>
            <a:ext cx="644883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1000" b="1" dirty="0"/>
          </a:p>
          <a:p>
            <a:pPr>
              <a:spcAft>
                <a:spcPts val="600"/>
              </a:spcAft>
            </a:pPr>
            <a:r>
              <a:rPr lang="pt-BR" sz="2800" dirty="0"/>
              <a:t>1- </a:t>
            </a:r>
            <a:r>
              <a:rPr lang="LID4096" sz="2800" dirty="0"/>
              <a:t>Orientação </a:t>
            </a:r>
            <a:r>
              <a:rPr lang="pt-BR" sz="2800" dirty="0"/>
              <a:t>– intensidade</a:t>
            </a:r>
            <a:endParaRPr lang="LID4096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2- D</a:t>
            </a:r>
            <a:r>
              <a:rPr lang="LID4096" sz="2800" b="1" u="sng" dirty="0"/>
              <a:t>escontínuidades</a:t>
            </a:r>
            <a:r>
              <a:rPr lang="pt-BR" sz="2800" b="1" u="sng" dirty="0"/>
              <a:t> 	(</a:t>
            </a:r>
            <a:r>
              <a:rPr lang="LID4096" sz="2800" b="1" i="1" u="sng" dirty="0"/>
              <a:t>balling</a:t>
            </a:r>
            <a:r>
              <a:rPr lang="pt-BR" sz="2800" b="1" u="sng" dirty="0"/>
              <a:t>)</a:t>
            </a:r>
            <a:endParaRPr lang="LID4096" sz="2800" b="1" u="sng" dirty="0"/>
          </a:p>
          <a:p>
            <a:pPr>
              <a:spcAft>
                <a:spcPts val="600"/>
              </a:spcAft>
            </a:pPr>
            <a:r>
              <a:rPr lang="pt-BR" sz="2800" dirty="0"/>
              <a:t>3- </a:t>
            </a:r>
            <a:r>
              <a:rPr lang="LID4096" sz="28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4- </a:t>
            </a:r>
            <a:r>
              <a:rPr lang="LID4096" sz="2800" dirty="0"/>
              <a:t>Degradação química e oxidação</a:t>
            </a: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5- </a:t>
            </a:r>
            <a:r>
              <a:rPr lang="LID4096" sz="2800" b="1" u="sng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6- </a:t>
            </a:r>
            <a:r>
              <a:rPr lang="LID4096" sz="2800" b="1" u="sng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7- </a:t>
            </a:r>
            <a:r>
              <a:rPr lang="LID4096" sz="2800" dirty="0"/>
              <a:t>Delaminação</a:t>
            </a:r>
            <a:r>
              <a:rPr lang="pt-BR" sz="2800" dirty="0"/>
              <a:t> / </a:t>
            </a:r>
            <a:r>
              <a:rPr lang="LID4096" sz="28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8- </a:t>
            </a:r>
            <a:r>
              <a:rPr lang="LID4096" sz="28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9- </a:t>
            </a:r>
            <a:r>
              <a:rPr lang="LID4096" sz="2800" b="1" u="sng" dirty="0"/>
              <a:t>Porosidade</a:t>
            </a:r>
            <a:endParaRPr lang="LID4096" sz="28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6444343" y="1336012"/>
            <a:ext cx="5251268" cy="3626024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1200" b="1" noProof="0" dirty="0">
                <a:latin typeface="Calibri (Body)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600" b="1" noProof="0" dirty="0">
                <a:solidFill>
                  <a:srgbClr val="0000FF"/>
                </a:solidFill>
                <a:latin typeface="Calibri (Body)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Criar hipóteses 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... entender a base de dados</a:t>
            </a:r>
            <a:endParaRPr lang="pt-BR" sz="3600" b="1" noProof="0" dirty="0">
              <a:latin typeface="Calibri (Body)"/>
            </a:endParaRPr>
          </a:p>
          <a:p>
            <a:pPr marL="457200" indent="-457200">
              <a:buFontTx/>
              <a:buChar char="-"/>
            </a:pPr>
            <a:r>
              <a:rPr lang="pt-BR" sz="3600" b="1" dirty="0">
                <a:solidFill>
                  <a:srgbClr val="FF0000"/>
                </a:solidFill>
                <a:latin typeface="Calibri (Body)"/>
              </a:rPr>
              <a:t>Controlar o processo de fabricação</a:t>
            </a:r>
            <a:endParaRPr lang="pt-BR" sz="3600" b="1" noProof="0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9936481" y="6686377"/>
            <a:ext cx="228875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500" dirty="0">
                <a:solidFill>
                  <a:srgbClr val="FF0000"/>
                </a:solidFill>
              </a:rPr>
              <a:t>Aula 3 - ED_Deposicao_por_energia_direcionada___e___p86__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5722372" y="5864167"/>
            <a:ext cx="6268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CDE9C45-8EE6-07C3-97F7-7DF495D5B30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F4E0-5D6C-B8C8-041A-DE6633FC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15FF410-E3BF-58D3-73A2-5083553DA82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E064A5-8F7C-19C4-3433-7FA8C1048AA1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092BC9-E253-837A-6F34-9AC90E7C3685}"/>
              </a:ext>
            </a:extLst>
          </p:cNvPr>
          <p:cNvGrpSpPr>
            <a:grpSpLocks noChangeAspect="1"/>
          </p:cNvGrpSpPr>
          <p:nvPr/>
        </p:nvGrpSpPr>
        <p:grpSpPr>
          <a:xfrm rot="885919">
            <a:off x="9387761" y="905464"/>
            <a:ext cx="203936" cy="417936"/>
            <a:chOff x="6545656" y="3721680"/>
            <a:chExt cx="295643" cy="60587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90785A8-BC39-9859-EB81-346EAAD7E929}"/>
                </a:ext>
              </a:extLst>
            </p:cNvPr>
            <p:cNvSpPr/>
            <p:nvPr/>
          </p:nvSpPr>
          <p:spPr>
            <a:xfrm rot="19486941">
              <a:off x="6545656" y="3947310"/>
              <a:ext cx="72427" cy="380245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4DDDE7-130C-F0ED-7562-72891D2D2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4714378">
              <a:off x="6434178" y="3888393"/>
              <a:ext cx="573834" cy="240408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D1910-FAE6-8AC2-8978-309CE632CD14}"/>
              </a:ext>
            </a:extLst>
          </p:cNvPr>
          <p:cNvSpPr/>
          <p:nvPr/>
        </p:nvSpPr>
        <p:spPr>
          <a:xfrm>
            <a:off x="9711378" y="809174"/>
            <a:ext cx="1999716" cy="1542127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Analítico</a:t>
            </a:r>
          </a:p>
          <a:p>
            <a:r>
              <a:rPr lang="pt-BR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Numérico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A488418-BA03-ABF3-9F8B-D2F1CBB80AE4}"/>
              </a:ext>
            </a:extLst>
          </p:cNvPr>
          <p:cNvGrpSpPr/>
          <p:nvPr/>
        </p:nvGrpSpPr>
        <p:grpSpPr>
          <a:xfrm>
            <a:off x="458909" y="260685"/>
            <a:ext cx="5464360" cy="6336630"/>
            <a:chOff x="775068" y="311509"/>
            <a:chExt cx="5464360" cy="633663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BB93DFF-57B2-4C00-C034-D1DF222D2F65}"/>
                </a:ext>
              </a:extLst>
            </p:cNvPr>
            <p:cNvGrpSpPr/>
            <p:nvPr/>
          </p:nvGrpSpPr>
          <p:grpSpPr>
            <a:xfrm>
              <a:off x="775068" y="311509"/>
              <a:ext cx="5422377" cy="4536130"/>
              <a:chOff x="673623" y="317105"/>
              <a:chExt cx="5422377" cy="453613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4BADB124-49C1-754F-FBE9-24B41864428F}"/>
                  </a:ext>
                </a:extLst>
              </p:cNvPr>
              <p:cNvGrpSpPr/>
              <p:nvPr/>
            </p:nvGrpSpPr>
            <p:grpSpPr>
              <a:xfrm>
                <a:off x="673623" y="2161150"/>
                <a:ext cx="3829128" cy="1908215"/>
                <a:chOff x="408691" y="285954"/>
                <a:chExt cx="3829128" cy="1908215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CB785D-C5A4-33BC-3DF3-6F2B57A72606}"/>
                    </a:ext>
                  </a:extLst>
                </p:cNvPr>
                <p:cNvSpPr txBox="1"/>
                <p:nvPr/>
              </p:nvSpPr>
              <p:spPr>
                <a:xfrm>
                  <a:off x="408691" y="285954"/>
                  <a:ext cx="3829128" cy="1908215"/>
                </a:xfrm>
                <a:prstGeom prst="rect">
                  <a:avLst/>
                </a:prstGeom>
                <a:solidFill>
                  <a:schemeClr val="tx1"/>
                </a:solidFill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bg1"/>
                      </a:solidFill>
                    </a:rPr>
                    <a:t>   ===========                 </a:t>
                  </a:r>
                </a:p>
                <a:p>
                  <a:r>
                    <a:rPr lang="en-US" dirty="0">
                      <a:solidFill>
                        <a:schemeClr val="bg1"/>
                      </a:solidFill>
                    </a:rPr>
                    <a:t>     \ \               /    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F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 ield           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    \ \          /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O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peration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\ \      /  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A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nd      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  \ \  /      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M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anipulation  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C1EF483-E3F0-BCCF-0DA3-BE6CE9CB959B}"/>
                    </a:ext>
                  </a:extLst>
                </p:cNvPr>
                <p:cNvSpPr txBox="1"/>
                <p:nvPr/>
              </p:nvSpPr>
              <p:spPr>
                <a:xfrm>
                  <a:off x="3012792" y="285954"/>
                  <a:ext cx="121298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en-GB" sz="2800" b="1" u="sng" dirty="0">
                      <a:solidFill>
                        <a:srgbClr val="FFFF0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LMRoman12-Regular"/>
                    </a:rPr>
                    <a:t>Open</a:t>
                  </a:r>
                  <a:endParaRPr lang="LID4096" sz="2800" b="1" u="sng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pic>
            <p:nvPicPr>
              <p:cNvPr id="2052" name="Picture 4" descr="GitHub – Wikipédia, a enciclopédia livre">
                <a:extLst>
                  <a:ext uri="{FF2B5EF4-FFF2-40B4-BE49-F238E27FC236}">
                    <a16:creationId xmlns:a16="http://schemas.microsoft.com/office/drawing/2014/main" id="{C9B531D7-215C-0597-69AC-FA6F9E96F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9541" y="317105"/>
                <a:ext cx="1736459" cy="173645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2" descr="Python (programming language) - Wikipedia">
                <a:extLst>
                  <a:ext uri="{FF2B5EF4-FFF2-40B4-BE49-F238E27FC236}">
                    <a16:creationId xmlns:a16="http://schemas.microsoft.com/office/drawing/2014/main" id="{CEB90D50-B677-E077-9483-76847AC3C69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3131" y="317105"/>
                <a:ext cx="1738305" cy="17383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63A9BA0-E7EC-EFB9-415B-761AEEB0BFE4}"/>
                  </a:ext>
                </a:extLst>
              </p:cNvPr>
              <p:cNvGrpSpPr/>
              <p:nvPr/>
            </p:nvGrpSpPr>
            <p:grpSpPr>
              <a:xfrm>
                <a:off x="681011" y="317105"/>
                <a:ext cx="1584015" cy="1810301"/>
                <a:chOff x="566057" y="203450"/>
                <a:chExt cx="1584015" cy="181030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ED6BF0F9-B6E1-D861-5DFC-49FE4E001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6057" y="203450"/>
                  <a:ext cx="1537730" cy="1738305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</p:pic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B92E8E-E4AB-A105-2AC9-D5AEA2927C1B}"/>
                    </a:ext>
                  </a:extLst>
                </p:cNvPr>
                <p:cNvSpPr txBox="1"/>
                <p:nvPr/>
              </p:nvSpPr>
              <p:spPr>
                <a:xfrm>
                  <a:off x="1265252" y="1490531"/>
                  <a:ext cx="88482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pt-BR" sz="2800" b="1" dirty="0"/>
                    <a:t>Fi</a:t>
                  </a:r>
                  <a:r>
                    <a:rPr lang="pt-BR" sz="2800" b="1" dirty="0">
                      <a:solidFill>
                        <a:srgbClr val="FF0000"/>
                      </a:solidFill>
                    </a:rPr>
                    <a:t>Py</a:t>
                  </a:r>
                  <a:endParaRPr lang="pt-BR" sz="2000" dirty="0">
                    <a:solidFill>
                      <a:srgbClr val="FF0000"/>
                    </a:solidFill>
                  </a:endParaRPr>
                </a:p>
              </p:txBody>
            </p:sp>
          </p:grpSp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B6AE8A39-7019-D45A-36B9-B6991751D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36027" t="14307" r="35724" b="19738"/>
              <a:stretch>
                <a:fillRect/>
              </a:stretch>
            </p:blipFill>
            <p:spPr>
              <a:xfrm>
                <a:off x="4596814" y="2161150"/>
                <a:ext cx="1499186" cy="26920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DB637263-302C-D6CC-F8B9-0BEE2DE8920F}"/>
                  </a:ext>
                </a:extLst>
              </p:cNvPr>
              <p:cNvSpPr/>
              <p:nvPr/>
            </p:nvSpPr>
            <p:spPr>
              <a:xfrm>
                <a:off x="697352" y="4175344"/>
                <a:ext cx="3829129" cy="634862"/>
              </a:xfrm>
              <a:prstGeom prst="roundRect">
                <a:avLst/>
              </a:prstGeom>
              <a:noFill/>
            </p:spPr>
            <p:txBody>
              <a:bodyPr wrap="square" lIns="0" tIns="0" rIns="0" bIns="0" anchor="t" anchorCtr="0">
                <a:noAutofit/>
              </a:bodyPr>
              <a:lstStyle/>
              <a:p>
                <a:pPr algn="ctr"/>
                <a:r>
                  <a:rPr lang="pt-BR" sz="28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Python, Github</a:t>
                </a:r>
              </a:p>
            </p:txBody>
          </p:sp>
        </p:grpSp>
        <p:pic>
          <p:nvPicPr>
            <p:cNvPr id="2056" name="Picture 8" descr="Project Jupyter - Wikipedia">
              <a:extLst>
                <a:ext uri="{FF2B5EF4-FFF2-40B4-BE49-F238E27FC236}">
                  <a16:creationId xmlns:a16="http://schemas.microsoft.com/office/drawing/2014/main" id="{1114490E-F308-86A2-9545-F2FA48902A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83123" y="4770122"/>
              <a:ext cx="1577863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0CAB0A03-134E-3D0E-C037-FFACB2EE2447}"/>
                </a:ext>
              </a:extLst>
            </p:cNvPr>
            <p:cNvSpPr/>
            <p:nvPr/>
          </p:nvSpPr>
          <p:spPr>
            <a:xfrm>
              <a:off x="4740241" y="4911680"/>
              <a:ext cx="1499187" cy="1736459"/>
            </a:xfrm>
            <a:prstGeom prst="roundRect">
              <a:avLst/>
            </a:prstGeom>
            <a:noFill/>
          </p:spPr>
          <p:txBody>
            <a:bodyPr wrap="square" lIns="0" tIns="0" rIns="0" bIns="0" anchor="t" anchorCtr="0">
              <a:noAutofit/>
            </a:bodyPr>
            <a:lstStyle/>
            <a:p>
              <a:pPr algn="ctr"/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Visual Studio</a:t>
              </a:r>
            </a:p>
            <a:p>
              <a:pPr algn="ctr"/>
              <a:endParaRPr lang="pt-BR" sz="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ctr"/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Jupyter Notebook</a:t>
              </a:r>
            </a:p>
          </p:txBody>
        </p:sp>
        <p:pic>
          <p:nvPicPr>
            <p:cNvPr id="2054" name="Picture 6" descr="Visual Studio Code - Baixar e instalar no Windows | Microsoft Store">
              <a:extLst>
                <a:ext uri="{FF2B5EF4-FFF2-40B4-BE49-F238E27FC236}">
                  <a16:creationId xmlns:a16="http://schemas.microsoft.com/office/drawing/2014/main" id="{295B0B8F-7087-B9AC-2768-318BA72D32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8" y="4770122"/>
              <a:ext cx="1828800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D41B619-95AB-3A56-A5BA-271CC205E316}"/>
              </a:ext>
            </a:extLst>
          </p:cNvPr>
          <p:cNvSpPr txBox="1"/>
          <p:nvPr/>
        </p:nvSpPr>
        <p:spPr>
          <a:xfrm>
            <a:off x="6424410" y="2358088"/>
            <a:ext cx="5560029" cy="1365463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np  </a:t>
            </a:r>
          </a:p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sz="15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fp</a:t>
            </a:r>
            <a:endParaRPr lang="en-US" sz="15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CellVariable, Grid2D, Viewer</a:t>
            </a:r>
            <a:r>
              <a:rPr lang="en-US" sz="15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650"/>
              </a:lnSpc>
              <a:buNone/>
            </a:pPr>
            <a:r>
              <a:rPr lang="en-US" sz="15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US" sz="15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US" sz="15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D73A49"/>
                </a:solidFill>
                <a:latin typeface="Consolas" panose="020B0609020204030204" pitchFamily="49" charset="0"/>
              </a:rPr>
              <a:t>import </a:t>
            </a:r>
            <a:r>
              <a:rPr lang="en-US" sz="15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TransientTerm</a:t>
            </a:r>
            <a:r>
              <a:rPr lang="en-US" sz="15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DiffusionTerm</a:t>
            </a:r>
            <a:endParaRPr lang="en-US" sz="15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984CD4-2865-E38D-207C-4B41988A1C34}"/>
              </a:ext>
            </a:extLst>
          </p:cNvPr>
          <p:cNvSpPr txBox="1"/>
          <p:nvPr/>
        </p:nvSpPr>
        <p:spPr>
          <a:xfrm>
            <a:off x="6436878" y="3768168"/>
            <a:ext cx="5547562" cy="11107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;dx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.;dy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;L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phi 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"solution </a:t>
            </a:r>
            <a:r>
              <a:rPr lang="en-US" b="0" dirty="0" err="1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variable"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.)  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6F485-2BBA-FD58-1E15-931769C72033}"/>
              </a:ext>
            </a:extLst>
          </p:cNvPr>
          <p:cNvSpPr txBox="1"/>
          <p:nvPr/>
        </p:nvSpPr>
        <p:spPr>
          <a:xfrm>
            <a:off x="6438617" y="4955055"/>
            <a:ext cx="2550624" cy="83035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 </a:t>
            </a:r>
          </a:p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164D62-DA21-F813-8181-5BC34F2080D0}"/>
              </a:ext>
            </a:extLst>
          </p:cNvPr>
          <p:cNvGrpSpPr>
            <a:grpSpLocks noChangeAspect="1"/>
          </p:cNvGrpSpPr>
          <p:nvPr/>
        </p:nvGrpSpPr>
        <p:grpSpPr>
          <a:xfrm>
            <a:off x="9620358" y="4955056"/>
            <a:ext cx="2364079" cy="1667197"/>
            <a:chOff x="10030241" y="4561557"/>
            <a:chExt cx="1805372" cy="1273185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38386CD-EDD8-3CD5-2615-C9F5CC2B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38322" y="4561557"/>
              <a:ext cx="1790440" cy="83034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FB71C50-856C-4AC0-439F-4865B175E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30241" y="5443133"/>
              <a:ext cx="1805372" cy="39160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3108E80-1069-048E-EDB9-1344559F3D02}"/>
              </a:ext>
            </a:extLst>
          </p:cNvPr>
          <p:cNvSpPr txBox="1"/>
          <p:nvPr/>
        </p:nvSpPr>
        <p:spPr>
          <a:xfrm>
            <a:off x="6573231" y="5844206"/>
            <a:ext cx="28128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Linguagem orientada a objetos</a:t>
            </a:r>
          </a:p>
        </p:txBody>
      </p:sp>
    </p:spTree>
    <p:extLst>
      <p:ext uri="{BB962C8B-B14F-4D97-AF65-F5344CB8AC3E}">
        <p14:creationId xmlns:p14="http://schemas.microsoft.com/office/powerpoint/2010/main" val="1429370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E42-99DA-B8B5-69FA-9D786FFC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DE534B-5949-FB9B-E933-F00174A09EB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33A6C5-3ACB-E41E-B133-E6E6DA18863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A761F99-2476-9F45-A4CC-CEBE0DECE788}"/>
              </a:ext>
            </a:extLst>
          </p:cNvPr>
          <p:cNvSpPr/>
          <p:nvPr/>
        </p:nvSpPr>
        <p:spPr>
          <a:xfrm>
            <a:off x="3329543" y="6500940"/>
            <a:ext cx="8691871" cy="3065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https://github.com/grossiRM/CFD_ON/blob/main/02_FiPy/</a:t>
            </a:r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02_diffusion.mesh20x20.ipynb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4E5E0-D854-BCCE-58C9-5075E40D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86" y="2316898"/>
            <a:ext cx="3121253" cy="4337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FEAF43-EB15-D0F3-200F-39BF7CF51F2F}"/>
              </a:ext>
            </a:extLst>
          </p:cNvPr>
          <p:cNvSpPr txBox="1"/>
          <p:nvPr/>
        </p:nvSpPr>
        <p:spPr>
          <a:xfrm>
            <a:off x="1577934" y="2349289"/>
            <a:ext cx="3604010" cy="461665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LID4096" sz="1700" dirty="0"/>
              <a:t>https://github.com/grossiRM/CFD_ON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F63F6F3-8038-D153-5BFD-A9316E3E5E98}"/>
              </a:ext>
            </a:extLst>
          </p:cNvPr>
          <p:cNvGrpSpPr>
            <a:grpSpLocks noChangeAspect="1"/>
          </p:cNvGrpSpPr>
          <p:nvPr/>
        </p:nvGrpSpPr>
        <p:grpSpPr>
          <a:xfrm>
            <a:off x="170587" y="203777"/>
            <a:ext cx="5887933" cy="2016837"/>
            <a:chOff x="170587" y="203777"/>
            <a:chExt cx="4687854" cy="160576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3B6BCC-AF6B-F46B-6FEC-2E1C60508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33602" b="63439"/>
            <a:stretch>
              <a:fillRect/>
            </a:stretch>
          </p:blipFill>
          <p:spPr>
            <a:xfrm>
              <a:off x="170587" y="203777"/>
              <a:ext cx="4687854" cy="634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B97477-9DA2-41D5-9AC9-D881CD430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43" t="44209" r="2159"/>
            <a:stretch>
              <a:fillRect/>
            </a:stretch>
          </p:blipFill>
          <p:spPr>
            <a:xfrm>
              <a:off x="170587" y="840758"/>
              <a:ext cx="4687854" cy="9687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6E2746B-586D-0388-3F09-17C8DAC5E878}"/>
              </a:ext>
            </a:extLst>
          </p:cNvPr>
          <p:cNvSpPr/>
          <p:nvPr/>
        </p:nvSpPr>
        <p:spPr>
          <a:xfrm rot="16200000" flipV="1">
            <a:off x="1208386" y="3744814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3878D7-FBC5-D95F-B982-8A29D269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79" y="2907238"/>
            <a:ext cx="7768046" cy="35149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B569316A-6FA2-8628-4449-D948D7698896}"/>
              </a:ext>
            </a:extLst>
          </p:cNvPr>
          <p:cNvSpPr txBox="1"/>
          <p:nvPr/>
        </p:nvSpPr>
        <p:spPr>
          <a:xfrm>
            <a:off x="2917509" y="296685"/>
            <a:ext cx="2993833" cy="353943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https://github.com/usnistgov</a:t>
            </a: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D6E7B2E2-319B-2363-473C-F7B7A036D3E9}"/>
              </a:ext>
            </a:extLst>
          </p:cNvPr>
          <p:cNvSpPr/>
          <p:nvPr/>
        </p:nvSpPr>
        <p:spPr>
          <a:xfrm rot="16200000">
            <a:off x="4886504" y="1451602"/>
            <a:ext cx="312186" cy="472369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50E6FF3-DA78-01AE-0D91-A4836A987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2748" y="1001164"/>
            <a:ext cx="3191894" cy="17706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0FD3AA5-83C5-EF4A-B940-110383E1BE53}"/>
              </a:ext>
            </a:extLst>
          </p:cNvPr>
          <p:cNvSpPr txBox="1"/>
          <p:nvPr/>
        </p:nvSpPr>
        <p:spPr>
          <a:xfrm>
            <a:off x="8377838" y="1687786"/>
            <a:ext cx="3191894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pic>
        <p:nvPicPr>
          <p:cNvPr id="51" name="Picture 4" descr="GitHub – Wikipédia, a enciclopédia livre">
            <a:extLst>
              <a:ext uri="{FF2B5EF4-FFF2-40B4-BE49-F238E27FC236}">
                <a16:creationId xmlns:a16="http://schemas.microsoft.com/office/drawing/2014/main" id="{EFE2FBE7-935E-19F5-BC76-FF193AA17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558" y="1460909"/>
            <a:ext cx="1310883" cy="13108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59C7B0A-CEC6-E3AD-CAEC-6FB4ED77DBB9}"/>
              </a:ext>
            </a:extLst>
          </p:cNvPr>
          <p:cNvGrpSpPr>
            <a:grpSpLocks noChangeAspect="1"/>
          </p:cNvGrpSpPr>
          <p:nvPr/>
        </p:nvGrpSpPr>
        <p:grpSpPr>
          <a:xfrm>
            <a:off x="10742983" y="2138013"/>
            <a:ext cx="1196985" cy="1313577"/>
            <a:chOff x="5217406" y="1618699"/>
            <a:chExt cx="1584015" cy="17383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DCDB11C-71DE-44F0-4B2B-18B23508D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17406" y="1618699"/>
              <a:ext cx="1537730" cy="17383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050939-4D12-E988-E1BD-950102B9F9D3}"/>
                </a:ext>
              </a:extLst>
            </p:cNvPr>
            <p:cNvSpPr txBox="1"/>
            <p:nvPr/>
          </p:nvSpPr>
          <p:spPr>
            <a:xfrm>
              <a:off x="5916601" y="2905780"/>
              <a:ext cx="8848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000" b="1" dirty="0"/>
                <a:t>Fi</a:t>
              </a:r>
              <a:r>
                <a:rPr lang="pt-BR" sz="2000" b="1" dirty="0">
                  <a:solidFill>
                    <a:srgbClr val="FF0000"/>
                  </a:solidFill>
                </a:rPr>
                <a:t>Py</a:t>
              </a:r>
              <a:endParaRPr lang="pt-BR" sz="16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9410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31F26F8-8FCE-76BB-4542-D64980A626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D77871E-59EB-7DAB-24E4-D3B000F92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t="68014" r="59655" b="12008"/>
          <a:stretch>
            <a:fillRect/>
          </a:stretch>
        </p:blipFill>
        <p:spPr>
          <a:xfrm>
            <a:off x="4726210" y="572879"/>
            <a:ext cx="3425013" cy="16681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4897F0-BAE4-9635-542C-378FDF07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922" t="72641" r="13927" b="21396"/>
          <a:stretch>
            <a:fillRect/>
          </a:stretch>
        </p:blipFill>
        <p:spPr>
          <a:xfrm>
            <a:off x="7471728" y="925017"/>
            <a:ext cx="2582720" cy="6587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89B3F4-F951-0E17-26C6-7AC72F12F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7" y="306840"/>
            <a:ext cx="3200061" cy="20571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F4AF90-0B66-0A6E-6035-0197047C84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222407" y="2428615"/>
            <a:ext cx="384449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2100CC4-2015-590B-C69C-49AF00D7C3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10"/>
          <a:stretch>
            <a:fillRect/>
          </a:stretch>
        </p:blipFill>
        <p:spPr>
          <a:xfrm>
            <a:off x="6084492" y="4367939"/>
            <a:ext cx="4100616" cy="12134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7F6F25-AEBD-1A8F-FA4A-1E40BF251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57" t="34471" r="66643" b="29016"/>
          <a:stretch>
            <a:fillRect/>
          </a:stretch>
        </p:blipFill>
        <p:spPr>
          <a:xfrm>
            <a:off x="222407" y="2932784"/>
            <a:ext cx="1706880" cy="250406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DE04BA7-0F71-CADB-E003-F4F2BA89CD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6892" y="2868192"/>
            <a:ext cx="3881630" cy="250407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1802FCB-FF63-F555-8DDF-05094CFB69F4}"/>
              </a:ext>
            </a:extLst>
          </p:cNvPr>
          <p:cNvSpPr txBox="1"/>
          <p:nvPr/>
        </p:nvSpPr>
        <p:spPr>
          <a:xfrm>
            <a:off x="4726209" y="122243"/>
            <a:ext cx="2664069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8C02BF-9837-4DC3-7A43-13B5D00BFF5A}"/>
              </a:ext>
            </a:extLst>
          </p:cNvPr>
          <p:cNvSpPr txBox="1"/>
          <p:nvPr/>
        </p:nvSpPr>
        <p:spPr>
          <a:xfrm>
            <a:off x="6084492" y="2371534"/>
            <a:ext cx="4100616" cy="13849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chemeClr val="bg1"/>
                </a:solidFill>
              </a:rPr>
              <a:t>echo "# </a:t>
            </a:r>
            <a:r>
              <a:rPr lang="pt-BR" sz="1400" dirty="0">
                <a:solidFill>
                  <a:schemeClr val="bg1"/>
                </a:solidFill>
              </a:rPr>
              <a:t>new</a:t>
            </a:r>
            <a:r>
              <a:rPr lang="LID4096" sz="1400" dirty="0">
                <a:solidFill>
                  <a:schemeClr val="bg1"/>
                </a:solidFill>
              </a:rPr>
              <a:t>" &gt;&gt;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initgit add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commit -m "first commit“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branch -M main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remote add origin </a:t>
            </a:r>
            <a:r>
              <a:rPr lang="LID4096" sz="900" dirty="0">
                <a:solidFill>
                  <a:srgbClr val="FFFF00"/>
                </a:solidFill>
              </a:rPr>
              <a:t>https://github.com/</a:t>
            </a:r>
            <a:r>
              <a:rPr lang="LID4096" sz="1400" b="1" dirty="0">
                <a:solidFill>
                  <a:srgbClr val="FFFF00"/>
                </a:solidFill>
              </a:rPr>
              <a:t>grossiRM/</a:t>
            </a:r>
            <a:r>
              <a:rPr lang="pt-BR" sz="1400" b="1" dirty="0">
                <a:solidFill>
                  <a:srgbClr val="FFFF00"/>
                </a:solidFill>
              </a:rPr>
              <a:t>new</a:t>
            </a:r>
            <a:r>
              <a:rPr lang="LID4096" sz="1400" b="1" dirty="0">
                <a:solidFill>
                  <a:srgbClr val="FFFF00"/>
                </a:solidFill>
              </a:rPr>
              <a:t>.git</a:t>
            </a:r>
            <a:endParaRPr lang="pt-BR" sz="1200" b="1" dirty="0">
              <a:solidFill>
                <a:srgbClr val="FFFF00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push -u origin main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C9EA845-39E6-4317-FFE8-CE4A5FB5D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1189" y="3551867"/>
            <a:ext cx="3597333" cy="269933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AA19C45-5B13-4E05-E14D-7B36F9B17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6084492" y="3855063"/>
            <a:ext cx="410061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39D8B4C-1CE8-CEE5-B342-8792120B11B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D98028-1AD7-5823-BE62-9B5DF7F9553C}"/>
              </a:ext>
            </a:extLst>
          </p:cNvPr>
          <p:cNvSpPr txBox="1"/>
          <p:nvPr/>
        </p:nvSpPr>
        <p:spPr>
          <a:xfrm>
            <a:off x="6084493" y="5675741"/>
            <a:ext cx="4100615" cy="86177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$ git add .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commit -m “001"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push origin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725841A-4D36-6884-6979-403402FA0352}"/>
              </a:ext>
            </a:extLst>
          </p:cNvPr>
          <p:cNvGrpSpPr/>
          <p:nvPr/>
        </p:nvGrpSpPr>
        <p:grpSpPr>
          <a:xfrm>
            <a:off x="10396377" y="934567"/>
            <a:ext cx="1329047" cy="4223008"/>
            <a:chOff x="10535717" y="1030364"/>
            <a:chExt cx="1329047" cy="4223008"/>
          </a:xfrm>
        </p:grpSpPr>
        <p:pic>
          <p:nvPicPr>
            <p:cNvPr id="31" name="Picture 4" descr="GitHub – Wikipédia, a enciclopédia livre">
              <a:extLst>
                <a:ext uri="{FF2B5EF4-FFF2-40B4-BE49-F238E27FC236}">
                  <a16:creationId xmlns:a16="http://schemas.microsoft.com/office/drawing/2014/main" id="{6D37DA40-E63B-CF2C-8A19-697C71E0AD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1030364"/>
              <a:ext cx="1310883" cy="13108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A3A57A76-C800-3053-8C53-2C16DB519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2405504"/>
              <a:ext cx="1329047" cy="13290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59BB9B62-FD6A-8F40-B538-805404AB7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3810170"/>
              <a:ext cx="1310883" cy="144320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7BCA19F1-50FE-8225-2047-46B571878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35" y="1474290"/>
            <a:ext cx="690265" cy="77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0075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CDA6-7D37-41F4-BB9D-3E7EEBE2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F9D288-4C91-332E-25FC-FDB91EDFCF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1F38F-CFEB-2928-DB99-D6D53406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8"/>
          <a:stretch>
            <a:fillRect/>
          </a:stretch>
        </p:blipFill>
        <p:spPr>
          <a:xfrm>
            <a:off x="151674" y="136382"/>
            <a:ext cx="2102647" cy="664759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BF48F5-C1B2-72B7-5785-7820AB451F55}"/>
              </a:ext>
            </a:extLst>
          </p:cNvPr>
          <p:cNvSpPr txBox="1"/>
          <p:nvPr/>
        </p:nvSpPr>
        <p:spPr>
          <a:xfrm>
            <a:off x="2405994" y="152845"/>
            <a:ext cx="9516039" cy="4770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Grid1D     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;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       </a:t>
            </a:r>
            <a:r>
              <a:rPr lang="en-US" sz="16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sz="20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=Grid1D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buNone/>
            </a:pPr>
            <a:endParaRPr lang="en-US" sz="500" dirty="0">
              <a:solidFill>
                <a:srgbClr val="24292E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3B78DF6-8243-1DFB-28E0-8456BBC2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991" y="4605660"/>
            <a:ext cx="9516039" cy="63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AD00659-CEB2-13E0-9DB5-55F5AB1EE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3477" y="1325178"/>
            <a:ext cx="1937668" cy="7693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7AF6F-CC5D-FEBB-C71B-0E26D393D54A}"/>
              </a:ext>
            </a:extLst>
          </p:cNvPr>
          <p:cNvGrpSpPr/>
          <p:nvPr/>
        </p:nvGrpSpPr>
        <p:grpSpPr>
          <a:xfrm>
            <a:off x="5712823" y="688752"/>
            <a:ext cx="6209209" cy="2474665"/>
            <a:chOff x="4843521" y="2968927"/>
            <a:chExt cx="7078512" cy="271570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1CA0449-76FF-43C0-68F0-02B6311D64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43521" y="2968927"/>
              <a:ext cx="7078512" cy="2715705"/>
              <a:chOff x="4495335" y="3075495"/>
              <a:chExt cx="7078512" cy="271570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A7DA92F0-2129-99C7-27C9-30F85BAC8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95335" y="3075495"/>
                <a:ext cx="247560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50E41F62-EE8E-4FDE-0A36-ADE72CEC24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11535" y="3075495"/>
                <a:ext cx="274606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80E3EC3-54F8-21AA-6457-6C0B678DC9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031207" y="3075495"/>
                <a:ext cx="2542640" cy="22152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85AAAC-5764-520B-5D08-8465B624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38467" b="70395"/>
            <a:stretch>
              <a:fillRect/>
            </a:stretch>
          </p:blipFill>
          <p:spPr>
            <a:xfrm>
              <a:off x="6424386" y="3984098"/>
              <a:ext cx="1870671" cy="41740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107F1A2-C964-A529-BCBD-F74C955D1D36}"/>
              </a:ext>
            </a:extLst>
          </p:cNvPr>
          <p:cNvSpPr txBox="1"/>
          <p:nvPr/>
        </p:nvSpPr>
        <p:spPr>
          <a:xfrm>
            <a:off x="2405992" y="3273974"/>
            <a:ext cx="9516039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u="sng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plt.figure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           ;FF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  		       ;X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  </a:t>
            </a:r>
            <a:r>
              <a:rPr lang="en-US" sz="2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buNone/>
            </a:pPr>
            <a:endParaRPr lang="en-US" sz="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 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</a:t>
            </a:r>
            <a:r>
              <a:rPr lang="en-US" sz="14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1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'green'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A03476-F5D9-A85E-8365-6F57F65A2D42}"/>
              </a:ext>
            </a:extLst>
          </p:cNvPr>
          <p:cNvSpPr txBox="1"/>
          <p:nvPr/>
        </p:nvSpPr>
        <p:spPr>
          <a:xfrm>
            <a:off x="2405991" y="71468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3A842DB-3735-DEB5-7A02-5CD32D7119E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05992" y="5691783"/>
            <a:ext cx="5405598" cy="10887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3D1AC20-FBE9-2AE7-EA52-0EE322050F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6612" y="5691783"/>
            <a:ext cx="3905418" cy="10627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AE89330-4CB7-8DBA-0313-9940F9B7FC86}"/>
              </a:ext>
            </a:extLst>
          </p:cNvPr>
          <p:cNvSpPr txBox="1"/>
          <p:nvPr/>
        </p:nvSpPr>
        <p:spPr>
          <a:xfrm>
            <a:off x="2405990" y="5182748"/>
            <a:ext cx="9516039" cy="52033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pt-BR" sz="1600" b="1" noProof="0" dirty="0">
                <a:solidFill>
                  <a:srgbClr val="0000FF"/>
                </a:solidFill>
                <a:latin typeface="Consolas" panose="020B0609020204030204" pitchFamily="49" charset="0"/>
              </a:rPr>
              <a:t>... Condições iniciais e de contorno, solvers, equação de referência, visualização </a:t>
            </a:r>
            <a:endParaRPr lang="pt-BR" sz="1600" b="1" noProof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1" name="Picture 2" descr="Python (programming language) - Wikipedia">
            <a:extLst>
              <a:ext uri="{FF2B5EF4-FFF2-40B4-BE49-F238E27FC236}">
                <a16:creationId xmlns:a16="http://schemas.microsoft.com/office/drawing/2014/main" id="{5966E435-BAED-6F21-E475-8D6EAB0BA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7531" y="1859044"/>
            <a:ext cx="1325327" cy="1325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4B57542-C920-7F0D-EE8C-DD08CB3D1EA6}"/>
              </a:ext>
            </a:extLst>
          </p:cNvPr>
          <p:cNvSpPr txBox="1"/>
          <p:nvPr/>
        </p:nvSpPr>
        <p:spPr>
          <a:xfrm>
            <a:off x="10406741" y="2719697"/>
            <a:ext cx="151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Objeto.py</a:t>
            </a:r>
          </a:p>
        </p:txBody>
      </p:sp>
    </p:spTree>
    <p:extLst>
      <p:ext uri="{BB962C8B-B14F-4D97-AF65-F5344CB8AC3E}">
        <p14:creationId xmlns:p14="http://schemas.microsoft.com/office/powerpoint/2010/main" val="3110044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7EA140-2D21-5139-71CB-2D37217668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28403-C001-2645-3F4C-56AE906210A5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87D2C-3F5F-BA81-3762-CB101C9FF7B9}"/>
              </a:ext>
            </a:extLst>
          </p:cNvPr>
          <p:cNvSpPr txBox="1"/>
          <p:nvPr/>
        </p:nvSpPr>
        <p:spPr>
          <a:xfrm>
            <a:off x="3176221" y="36301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2" descr="Ícone de Ubuntu simples a marca logo">
            <a:extLst>
              <a:ext uri="{FF2B5EF4-FFF2-40B4-BE49-F238E27FC236}">
                <a16:creationId xmlns:a16="http://schemas.microsoft.com/office/drawing/2014/main" id="{46B51EE5-8F08-5C01-8191-542971D6E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1133" y="363016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Linux SVG and transparent PNG icons | TechIcons">
            <a:extLst>
              <a:ext uri="{FF2B5EF4-FFF2-40B4-BE49-F238E27FC236}">
                <a16:creationId xmlns:a16="http://schemas.microsoft.com/office/drawing/2014/main" id="{18EF3775-C478-6507-4F0D-52AC7A0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153" y="363016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C63E12-8E2E-6263-15C2-2AAA6B5223B1}"/>
              </a:ext>
            </a:extLst>
          </p:cNvPr>
          <p:cNvSpPr txBox="1"/>
          <p:nvPr/>
        </p:nvSpPr>
        <p:spPr>
          <a:xfrm>
            <a:off x="4791876" y="1791601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BE7CD0-9D7D-8FAF-2CE8-45B7CD73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2DCD753-2CF3-0B38-F1D3-A5F39939F30E}"/>
              </a:ext>
            </a:extLst>
          </p:cNvPr>
          <p:cNvGrpSpPr>
            <a:grpSpLocks noChangeAspect="1"/>
          </p:cNvGrpSpPr>
          <p:nvPr/>
        </p:nvGrpSpPr>
        <p:grpSpPr>
          <a:xfrm>
            <a:off x="9859223" y="3817761"/>
            <a:ext cx="1640274" cy="1704853"/>
            <a:chOff x="6630437" y="2359743"/>
            <a:chExt cx="1294361" cy="134532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D2520C-C2EF-AFFC-BEF3-C31E96B45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21DE0B-F6EF-09A6-7C9E-FC10ADE01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9744FEA0-5E34-8E39-0C2E-60FDF6B565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04" y="2901514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52F60EAB-C414-E9B6-8F84-DA483CB5A174}"/>
              </a:ext>
            </a:extLst>
          </p:cNvPr>
          <p:cNvGrpSpPr/>
          <p:nvPr/>
        </p:nvGrpSpPr>
        <p:grpSpPr>
          <a:xfrm>
            <a:off x="4759327" y="2656395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0E9015-6308-2730-2E5B-2460429CC1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DE6537-FA2D-E505-7656-214443B9452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7D85CDA5-FA95-6C1C-63F5-4216390686B0}"/>
              </a:ext>
            </a:extLst>
          </p:cNvPr>
          <p:cNvSpPr/>
          <p:nvPr/>
        </p:nvSpPr>
        <p:spPr>
          <a:xfrm>
            <a:off x="1511152" y="2766422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A055A-30BC-C2FA-4078-581546984846}"/>
              </a:ext>
            </a:extLst>
          </p:cNvPr>
          <p:cNvSpPr txBox="1"/>
          <p:nvPr/>
        </p:nvSpPr>
        <p:spPr>
          <a:xfrm>
            <a:off x="1516360" y="2475343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Convection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0A33C73-84AC-5683-A5C4-947ED10DF2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04" y="4137696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036BC6B-037C-E382-EA58-A095A4736E73}"/>
              </a:ext>
            </a:extLst>
          </p:cNvPr>
          <p:cNvGrpSpPr/>
          <p:nvPr/>
        </p:nvGrpSpPr>
        <p:grpSpPr>
          <a:xfrm>
            <a:off x="4759327" y="3892577"/>
            <a:ext cx="950514" cy="883294"/>
            <a:chOff x="9845949" y="5571569"/>
            <a:chExt cx="950514" cy="883294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F42D383-B269-275E-70EE-6DBB8A09D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8863DE5-A794-62E4-83AC-7E8A481C4DCE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381484EC-5D3A-1183-56FB-1942CADF23EA}"/>
              </a:ext>
            </a:extLst>
          </p:cNvPr>
          <p:cNvSpPr/>
          <p:nvPr/>
        </p:nvSpPr>
        <p:spPr>
          <a:xfrm>
            <a:off x="3113710" y="4002604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5FB294-9D43-FE31-EF20-DC8D56250767}"/>
              </a:ext>
            </a:extLst>
          </p:cNvPr>
          <p:cNvSpPr txBox="1"/>
          <p:nvPr/>
        </p:nvSpPr>
        <p:spPr>
          <a:xfrm>
            <a:off x="3284383" y="3711525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Diffusion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33BF864-9904-C9AA-FD4B-C920A6E1F5F0}"/>
              </a:ext>
            </a:extLst>
          </p:cNvPr>
          <p:cNvCxnSpPr/>
          <p:nvPr/>
        </p:nvCxnSpPr>
        <p:spPr>
          <a:xfrm>
            <a:off x="3586038" y="4682398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6AE1F50-F04C-28A0-D8C4-531CCC3AD8E5}"/>
              </a:ext>
            </a:extLst>
          </p:cNvPr>
          <p:cNvGrpSpPr/>
          <p:nvPr/>
        </p:nvGrpSpPr>
        <p:grpSpPr>
          <a:xfrm>
            <a:off x="1831715" y="5201506"/>
            <a:ext cx="3773322" cy="1607780"/>
            <a:chOff x="2931952" y="995752"/>
            <a:chExt cx="3773322" cy="160778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B739BC1-00C7-322B-3624-17656FF034FE}"/>
                </a:ext>
              </a:extLst>
            </p:cNvPr>
            <p:cNvGrpSpPr/>
            <p:nvPr/>
          </p:nvGrpSpPr>
          <p:grpSpPr>
            <a:xfrm>
              <a:off x="2931952" y="995752"/>
              <a:ext cx="3765147" cy="1295400"/>
              <a:chOff x="8101480" y="5268987"/>
              <a:chExt cx="3765147" cy="1295400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789D87EC-5BCA-F593-35A3-056762118245}"/>
                  </a:ext>
                </a:extLst>
              </p:cNvPr>
              <p:cNvGrpSpPr/>
              <p:nvPr/>
            </p:nvGrpSpPr>
            <p:grpSpPr>
              <a:xfrm>
                <a:off x="8101480" y="5268987"/>
                <a:ext cx="3762375" cy="1295400"/>
                <a:chOff x="7529768" y="4495989"/>
                <a:chExt cx="3762375" cy="1295400"/>
              </a:xfrm>
            </p:grpSpPr>
            <p:pic>
              <p:nvPicPr>
                <p:cNvPr id="37" name="Picture 36">
                  <a:extLst>
                    <a:ext uri="{FF2B5EF4-FFF2-40B4-BE49-F238E27FC236}">
                      <a16:creationId xmlns:a16="http://schemas.microsoft.com/office/drawing/2014/main" id="{9AF28A18-3B68-676F-A22F-AAF0F7F3D7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529768" y="4495989"/>
                  <a:ext cx="3762375" cy="1295400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</p:pic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835C06E5-B94A-D5F6-F52B-624451D872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19043" y="4929376"/>
                  <a:ext cx="645765" cy="773846"/>
                </a:xfrm>
                <a:prstGeom prst="straightConnector1">
                  <a:avLst/>
                </a:prstGeom>
                <a:ln>
                  <a:solidFill>
                    <a:srgbClr val="0000FF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C71AB1C-70AC-5F90-7D68-886997816384}"/>
                  </a:ext>
                </a:extLst>
              </p:cNvPr>
              <p:cNvSpPr txBox="1"/>
              <p:nvPr/>
            </p:nvSpPr>
            <p:spPr>
              <a:xfrm>
                <a:off x="11561878" y="5655077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33396D-28F7-B15E-37E4-7152F0FEA3FD}"/>
                </a:ext>
              </a:extLst>
            </p:cNvPr>
            <p:cNvSpPr txBox="1"/>
            <p:nvPr/>
          </p:nvSpPr>
          <p:spPr>
            <a:xfrm>
              <a:off x="5662447" y="2295755"/>
              <a:ext cx="10428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/>
                <a:t>Diffusion</a:t>
              </a:r>
              <a:endParaRPr lang="en-GB" sz="20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1C1044D4-C7AB-6C93-7976-C69B58D418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31965" y="240707"/>
            <a:ext cx="2174040" cy="2998675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896EC11-0D71-17AC-4B3A-DEF10CE2FCA2}"/>
              </a:ext>
            </a:extLst>
          </p:cNvPr>
          <p:cNvSpPr txBox="1"/>
          <p:nvPr/>
        </p:nvSpPr>
        <p:spPr>
          <a:xfrm>
            <a:off x="8424588" y="6177907"/>
            <a:ext cx="32814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900" dirty="0">
                <a:solidFill>
                  <a:srgbClr val="0563C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https://github.com/grossiRM/CFD_ON/tree/main/04_</a:t>
            </a:r>
            <a:r>
              <a:rPr lang="LID4096" sz="900" dirty="0">
                <a:solidFill>
                  <a:schemeClr val="bg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OpenFoam</a:t>
            </a:r>
            <a:endParaRPr lang="LID4096" sz="9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25958C-491D-87F4-4577-E9EC1BB39419}"/>
              </a:ext>
            </a:extLst>
          </p:cNvPr>
          <p:cNvSpPr txBox="1"/>
          <p:nvPr/>
        </p:nvSpPr>
        <p:spPr>
          <a:xfrm>
            <a:off x="4638206" y="2489214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>
                <a:solidFill>
                  <a:schemeClr val="tx1"/>
                </a:solidFill>
              </a:rPr>
              <a:t>source</a:t>
            </a:r>
            <a:endParaRPr lang="en-GB" sz="2400" noProof="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657EAA-5C3B-A5E5-3225-BE16ED66CE4E}"/>
              </a:ext>
            </a:extLst>
          </p:cNvPr>
          <p:cNvSpPr txBox="1"/>
          <p:nvPr/>
        </p:nvSpPr>
        <p:spPr>
          <a:xfrm>
            <a:off x="477994" y="4761932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>
                <a:solidFill>
                  <a:schemeClr val="tx1"/>
                </a:solidFill>
              </a:rPr>
              <a:t>transient</a:t>
            </a:r>
            <a:endParaRPr lang="en-GB" sz="2400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7252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102D-CECA-980A-2AD6-9D7B5173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59B489-67D3-3532-7B30-DF76137F07F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8B0C35-EC16-7DC5-183F-B6BE09583CCD}"/>
              </a:ext>
            </a:extLst>
          </p:cNvPr>
          <p:cNvSpPr/>
          <p:nvPr/>
        </p:nvSpPr>
        <p:spPr>
          <a:xfrm>
            <a:off x="9292423" y="317105"/>
            <a:ext cx="2333520" cy="634862"/>
          </a:xfrm>
          <a:prstGeom prst="roundRect">
            <a:avLst/>
          </a:prstGeom>
          <a:solidFill>
            <a:srgbClr val="FFFF00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AEC11-8F9A-034C-308C-AA33CA01BA86}"/>
              </a:ext>
            </a:extLst>
          </p:cNvPr>
          <p:cNvSpPr txBox="1"/>
          <p:nvPr/>
        </p:nvSpPr>
        <p:spPr>
          <a:xfrm>
            <a:off x="272599" y="525679"/>
            <a:ext cx="5367946" cy="5850635"/>
          </a:xfrm>
          <a:prstGeom prst="rect">
            <a:avLst/>
          </a:prstGeom>
          <a:solidFill>
            <a:srgbClr val="A7E8FF"/>
          </a:solidFill>
          <a:effectLst/>
        </p:spPr>
        <p:txBody>
          <a:bodyPr wrap="none" lIns="0" tIns="0" rIns="0" bIns="0" rtlCol="0" anchor="t" anchorCtr="0">
            <a:noAutofit/>
          </a:bodyPr>
          <a:lstStyle>
            <a:defPPr>
              <a:defRPr lang="LID4096"/>
            </a:defPPr>
            <a:lvl1pPr algn="ctr">
              <a:defRPr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pt-BR" dirty="0"/>
              <a:t> </a:t>
            </a:r>
            <a:r>
              <a:rPr lang="pt-BR" sz="4000" u="sng" dirty="0"/>
              <a:t>Contexto</a:t>
            </a:r>
            <a:endParaRPr lang="pt-BR" u="sng" dirty="0"/>
          </a:p>
        </p:txBody>
      </p:sp>
      <p:sp>
        <p:nvSpPr>
          <p:cNvPr id="5" name="Retângulo 83">
            <a:extLst>
              <a:ext uri="{FF2B5EF4-FFF2-40B4-BE49-F238E27FC236}">
                <a16:creationId xmlns:a16="http://schemas.microsoft.com/office/drawing/2014/main" id="{E9DBDE52-75D3-B495-AE58-D2C816647D0C}"/>
              </a:ext>
            </a:extLst>
          </p:cNvPr>
          <p:cNvSpPr/>
          <p:nvPr/>
        </p:nvSpPr>
        <p:spPr>
          <a:xfrm>
            <a:off x="528640" y="1237518"/>
            <a:ext cx="4871383" cy="16633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F885EEA9-577F-D3DE-6E26-7E41EB9CDE73}"/>
              </a:ext>
            </a:extLst>
          </p:cNvPr>
          <p:cNvSpPr txBox="1"/>
          <p:nvPr/>
        </p:nvSpPr>
        <p:spPr>
          <a:xfrm>
            <a:off x="2563262" y="646332"/>
            <a:ext cx="2847048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Darcy  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  Fourier</a:t>
            </a:r>
            <a:endParaRPr lang="pt-BR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E8056E78-FDBB-F7C9-9DCC-263CE7ABB10B}"/>
              </a:ext>
            </a:extLst>
          </p:cNvPr>
          <p:cNvSpPr txBox="1"/>
          <p:nvPr/>
        </p:nvSpPr>
        <p:spPr>
          <a:xfrm>
            <a:off x="3847550" y="2342797"/>
            <a:ext cx="1650878" cy="487809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2B6B4C-4418-8F7B-F7EC-35982B117C06}"/>
              </a:ext>
            </a:extLst>
          </p:cNvPr>
          <p:cNvGrpSpPr/>
          <p:nvPr/>
        </p:nvGrpSpPr>
        <p:grpSpPr>
          <a:xfrm>
            <a:off x="5712305" y="3094262"/>
            <a:ext cx="3407577" cy="1885969"/>
            <a:chOff x="6178952" y="4366766"/>
            <a:chExt cx="4811155" cy="258243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84CA36E-0490-8358-8EA9-48538F80DA0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178952" y="4366766"/>
              <a:ext cx="4811155" cy="2582433"/>
              <a:chOff x="6612774" y="3332502"/>
              <a:chExt cx="4250457" cy="228147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A628C42-5B11-A5DD-8276-4D2BBA4E3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07" b="54338"/>
              <a:stretch>
                <a:fillRect/>
              </a:stretch>
            </p:blipFill>
            <p:spPr>
              <a:xfrm>
                <a:off x="6612774" y="3332502"/>
                <a:ext cx="4250457" cy="2281474"/>
              </a:xfrm>
              <a:prstGeom prst="rect">
                <a:avLst/>
              </a:prstGeom>
              <a:ln w="19050">
                <a:noFill/>
              </a:ln>
            </p:spPr>
          </p:pic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B0DAEB9-EF99-284C-43D1-714244542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1117" y="3502743"/>
                <a:ext cx="0" cy="1963112"/>
              </a:xfrm>
              <a:prstGeom prst="line">
                <a:avLst/>
              </a:prstGeom>
              <a:ln w="1016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6285E9-6BA4-8BC6-6454-5C1748830C14}"/>
                </a:ext>
              </a:extLst>
            </p:cNvPr>
            <p:cNvCxnSpPr>
              <a:cxnSpLocks/>
            </p:cNvCxnSpPr>
            <p:nvPr/>
          </p:nvCxnSpPr>
          <p:spPr>
            <a:xfrm>
              <a:off x="10459810" y="5766380"/>
              <a:ext cx="0" cy="1022879"/>
            </a:xfrm>
            <a:prstGeom prst="line">
              <a:avLst/>
            </a:prstGeom>
            <a:ln w="101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3A574CF-E256-9CD0-1EE0-4F18C56B197A}"/>
              </a:ext>
            </a:extLst>
          </p:cNvPr>
          <p:cNvSpPr txBox="1"/>
          <p:nvPr/>
        </p:nvSpPr>
        <p:spPr>
          <a:xfrm>
            <a:off x="5686524" y="471591"/>
            <a:ext cx="3108175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Premissas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AEE2E-AFC8-D5BD-1653-E5A40E928B16}"/>
              </a:ext>
            </a:extLst>
          </p:cNvPr>
          <p:cNvSpPr txBox="1"/>
          <p:nvPr/>
        </p:nvSpPr>
        <p:spPr>
          <a:xfrm>
            <a:off x="5668418" y="2699045"/>
            <a:ext cx="3128764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Resultados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F1C7B-2318-7CB7-789D-BDC7BF99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54968" b="54771"/>
          <a:stretch>
            <a:fillRect/>
          </a:stretch>
        </p:blipFill>
        <p:spPr>
          <a:xfrm>
            <a:off x="5873992" y="905113"/>
            <a:ext cx="3212857" cy="1870863"/>
          </a:xfrm>
          <a:prstGeom prst="rect">
            <a:avLst/>
          </a:prstGeom>
          <a:ln w="19050">
            <a:noFill/>
          </a:ln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D96375-0F9B-7957-39D4-0FBB4DC089B0}"/>
              </a:ext>
            </a:extLst>
          </p:cNvPr>
          <p:cNvCxnSpPr>
            <a:cxnSpLocks/>
          </p:cNvCxnSpPr>
          <p:nvPr/>
        </p:nvCxnSpPr>
        <p:spPr>
          <a:xfrm>
            <a:off x="5802712" y="1049003"/>
            <a:ext cx="0" cy="16227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4B77D4-EDEA-06DD-BB5A-E494B5B2A0DA}"/>
              </a:ext>
            </a:extLst>
          </p:cNvPr>
          <p:cNvCxnSpPr>
            <a:cxnSpLocks/>
          </p:cNvCxnSpPr>
          <p:nvPr/>
        </p:nvCxnSpPr>
        <p:spPr>
          <a:xfrm>
            <a:off x="8763296" y="1930422"/>
            <a:ext cx="0" cy="7470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706C778E-79E1-8319-FEF5-F5DB8DE20DA1}"/>
                  </a:ext>
                </a:extLst>
              </p:cNvPr>
              <p:cNvSpPr txBox="1"/>
              <p:nvPr/>
            </p:nvSpPr>
            <p:spPr>
              <a:xfrm>
                <a:off x="10661031" y="3751732"/>
                <a:ext cx="901577" cy="25213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ctr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600" b="1" dirty="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𝐓</m:t>
                      </m:r>
                      <m:r>
                        <a:rPr lang="pt-BR" sz="1600" b="1" dirty="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=</m:t>
                      </m:r>
                      <m:r>
                        <a:rPr lang="pt-BR" sz="1600" b="1" dirty="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𝐤𝐛</m:t>
                      </m:r>
                    </m:oMath>
                  </m:oMathPara>
                </a14:m>
                <a:endParaRPr lang="en-GB" sz="1600" b="1" dirty="0">
                  <a:solidFill>
                    <a:srgbClr val="0000FF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706C778E-79E1-8319-FEF5-F5DB8DE20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1031" y="3751732"/>
                <a:ext cx="901577" cy="2521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175"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05F1084B-FC58-64A3-D366-B64BA7CE9F48}"/>
                  </a:ext>
                </a:extLst>
              </p:cNvPr>
              <p:cNvSpPr txBox="1"/>
              <p:nvPr/>
            </p:nvSpPr>
            <p:spPr>
              <a:xfrm>
                <a:off x="9315024" y="3623047"/>
                <a:ext cx="2250031" cy="116767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>
                  <a:defRPr/>
                </a:pPr>
                <a:endParaRPr lang="pt-BR" sz="400" b="1" i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0" dirty="0" smtClean="0">
                          <a:solidFill>
                            <a:srgbClr val="00B05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𝐡</m:t>
                      </m:r>
                    </m:oMath>
                  </m:oMathPara>
                </a14:m>
                <a:endParaRPr lang="en-GB" sz="3200" b="1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:endParaRPr lang="pt-BR" sz="900" b="1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:r>
                  <a:rPr lang="pt-BR" sz="2400" b="1" dirty="0">
                    <a:solidFill>
                      <a:srgbClr val="00B05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Carga </a:t>
                </a:r>
                <a:r>
                  <a:rPr lang="pt-BR" sz="2000" b="1" dirty="0">
                    <a:solidFill>
                      <a:srgbClr val="00B05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(hidráulica)</a:t>
                </a:r>
                <a:endParaRPr lang="pt-BR" sz="2400" b="1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05F1084B-FC58-64A3-D366-B64BA7CE9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024" y="3623047"/>
                <a:ext cx="2250031" cy="11676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3FD5CF55-4D23-969F-FDF5-E64563D73725}"/>
                  </a:ext>
                </a:extLst>
              </p:cNvPr>
              <p:cNvSpPr txBox="1"/>
              <p:nvPr/>
            </p:nvSpPr>
            <p:spPr>
              <a:xfrm>
                <a:off x="9320296" y="990039"/>
                <a:ext cx="2250031" cy="169521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0" noProof="0" smtClean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𝐤</m:t>
                      </m:r>
                    </m:oMath>
                  </m:oMathPara>
                </a14:m>
                <a:endParaRPr lang="pt-BR" sz="32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  <a:sym typeface="Symbol" panose="05050102010706020507" pitchFamily="18" charset="2"/>
                </a:endParaRPr>
              </a:p>
              <a:p>
                <a:pPr lvl="0">
                  <a:defRPr/>
                </a:pPr>
                <a:r>
                  <a:rPr lang="pt-BR" sz="2200" b="1" noProof="0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Condutividade</a:t>
                </a:r>
              </a:p>
              <a:p>
                <a:pPr lvl="0">
                  <a:defRPr/>
                </a:pPr>
                <a:endParaRPr lang="pt-BR" sz="1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  <a:ea typeface="Cambria Math" panose="02040503050406030204" pitchFamily="18" charset="0"/>
                </a:endParaRPr>
              </a:p>
              <a:p>
                <a:pPr lvl="0">
                  <a:defRPr/>
                </a:pPr>
                <a:r>
                  <a:rPr lang="pt-BR" sz="2200" b="1" noProof="0" dirty="0">
                    <a:effectLst/>
                    <a:latin typeface="Calibri (Body)"/>
                    <a:ea typeface="Cambria Math" panose="02040503050406030204" pitchFamily="18" charset="0"/>
                  </a:rPr>
                  <a:t>... Resistência</a:t>
                </a:r>
              </a:p>
              <a:p>
                <a:pPr lvl="0">
                  <a:defRPr/>
                </a:pPr>
                <a:r>
                  <a:rPr lang="pt-BR" sz="2200" b="1" noProof="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rPr>
                  <a:t>... Topologia (!)</a:t>
                </a:r>
              </a:p>
            </p:txBody>
          </p:sp>
        </mc:Choice>
        <mc:Fallback xmlns="">
          <p:sp>
            <p:nvSpPr>
              <p:cNvPr id="20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3FD5CF55-4D23-969F-FDF5-E64563D73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0296" y="990039"/>
                <a:ext cx="2250031" cy="16952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0BA803D-944C-3E12-17CB-49C679F91A96}"/>
              </a:ext>
            </a:extLst>
          </p:cNvPr>
          <p:cNvGrpSpPr/>
          <p:nvPr/>
        </p:nvGrpSpPr>
        <p:grpSpPr>
          <a:xfrm>
            <a:off x="470357" y="3064494"/>
            <a:ext cx="1671753" cy="1415001"/>
            <a:chOff x="844800" y="843864"/>
            <a:chExt cx="2174642" cy="1956264"/>
          </a:xfrm>
        </p:grpSpPr>
        <p:grpSp>
          <p:nvGrpSpPr>
            <p:cNvPr id="22" name="Agrupar 1086">
              <a:extLst>
                <a:ext uri="{FF2B5EF4-FFF2-40B4-BE49-F238E27FC236}">
                  <a16:creationId xmlns:a16="http://schemas.microsoft.com/office/drawing/2014/main" id="{BE4FF1A4-7E16-1DF3-A1A3-3C6B9CA4B0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4800" y="843864"/>
              <a:ext cx="2174642" cy="1956264"/>
              <a:chOff x="262811" y="138888"/>
              <a:chExt cx="727401" cy="654585"/>
            </a:xfrm>
          </p:grpSpPr>
          <p:sp>
            <p:nvSpPr>
              <p:cNvPr id="25" name="Seta: para a Direita 1078">
                <a:extLst>
                  <a:ext uri="{FF2B5EF4-FFF2-40B4-BE49-F238E27FC236}">
                    <a16:creationId xmlns:a16="http://schemas.microsoft.com/office/drawing/2014/main" id="{75FB556E-AC71-B631-462B-CFA8055D1412}"/>
                  </a:ext>
                </a:extLst>
              </p:cNvPr>
              <p:cNvSpPr/>
              <p:nvPr/>
            </p:nvSpPr>
            <p:spPr>
              <a:xfrm>
                <a:off x="765383" y="334159"/>
                <a:ext cx="159385" cy="173990"/>
              </a:xfrm>
              <a:prstGeom prst="rightArrow">
                <a:avLst/>
              </a:prstGeom>
              <a:solidFill>
                <a:schemeClr val="accent1"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LID4096" sz="4000" dirty="0"/>
              </a:p>
            </p:txBody>
          </p:sp>
          <p:sp>
            <p:nvSpPr>
              <p:cNvPr id="26" name="Seta: para a Direita 1079">
                <a:extLst>
                  <a:ext uri="{FF2B5EF4-FFF2-40B4-BE49-F238E27FC236}">
                    <a16:creationId xmlns:a16="http://schemas.microsoft.com/office/drawing/2014/main" id="{C42C1604-0D88-58AC-E7A6-28698ECE175C}"/>
                  </a:ext>
                </a:extLst>
              </p:cNvPr>
              <p:cNvSpPr/>
              <p:nvPr/>
            </p:nvSpPr>
            <p:spPr>
              <a:xfrm>
                <a:off x="382198" y="333381"/>
                <a:ext cx="159147" cy="173990"/>
              </a:xfrm>
              <a:prstGeom prst="rightArrow">
                <a:avLst/>
              </a:prstGeom>
              <a:solidFill>
                <a:schemeClr val="accent6">
                  <a:lumMod val="60000"/>
                  <a:lumOff val="40000"/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sz="24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7" name="Agrupar 1085">
                <a:extLst>
                  <a:ext uri="{FF2B5EF4-FFF2-40B4-BE49-F238E27FC236}">
                    <a16:creationId xmlns:a16="http://schemas.microsoft.com/office/drawing/2014/main" id="{060A4ED5-3BC2-7F07-0A92-461F003F285C}"/>
                  </a:ext>
                </a:extLst>
              </p:cNvPr>
              <p:cNvGrpSpPr/>
              <p:nvPr/>
            </p:nvGrpSpPr>
            <p:grpSpPr>
              <a:xfrm>
                <a:off x="262811" y="138888"/>
                <a:ext cx="727401" cy="654585"/>
                <a:chOff x="103251" y="138888"/>
                <a:chExt cx="727401" cy="654585"/>
              </a:xfrm>
            </p:grpSpPr>
            <p:grpSp>
              <p:nvGrpSpPr>
                <p:cNvPr id="28" name="Agrupar 1067">
                  <a:extLst>
                    <a:ext uri="{FF2B5EF4-FFF2-40B4-BE49-F238E27FC236}">
                      <a16:creationId xmlns:a16="http://schemas.microsoft.com/office/drawing/2014/main" id="{3428EC0E-9FE3-5138-F212-FBF42F7ECF32}"/>
                    </a:ext>
                  </a:extLst>
                </p:cNvPr>
                <p:cNvGrpSpPr/>
                <p:nvPr/>
              </p:nvGrpSpPr>
              <p:grpSpPr>
                <a:xfrm>
                  <a:off x="103251" y="138888"/>
                  <a:ext cx="727401" cy="654585"/>
                  <a:chOff x="-1076" y="113072"/>
                  <a:chExt cx="727401" cy="654643"/>
                </a:xfrm>
              </p:grpSpPr>
              <p:grpSp>
                <p:nvGrpSpPr>
                  <p:cNvPr id="34" name="Agrupar 1063">
                    <a:extLst>
                      <a:ext uri="{FF2B5EF4-FFF2-40B4-BE49-F238E27FC236}">
                        <a16:creationId xmlns:a16="http://schemas.microsoft.com/office/drawing/2014/main" id="{BC3FE826-756F-6EF3-45F4-954221B01C1F}"/>
                      </a:ext>
                    </a:extLst>
                  </p:cNvPr>
                  <p:cNvGrpSpPr/>
                  <p:nvPr/>
                </p:nvGrpSpPr>
                <p:grpSpPr>
                  <a:xfrm>
                    <a:off x="-1076" y="116538"/>
                    <a:ext cx="727401" cy="651177"/>
                    <a:chOff x="-1076" y="116538"/>
                    <a:chExt cx="727401" cy="651177"/>
                  </a:xfrm>
                </p:grpSpPr>
                <p:grpSp>
                  <p:nvGrpSpPr>
                    <p:cNvPr id="38" name="Agrupar 1059">
                      <a:extLst>
                        <a:ext uri="{FF2B5EF4-FFF2-40B4-BE49-F238E27FC236}">
                          <a16:creationId xmlns:a16="http://schemas.microsoft.com/office/drawing/2014/main" id="{87B5D7CF-68D8-59B0-2549-B303A42CB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076" y="116538"/>
                      <a:ext cx="725170" cy="650542"/>
                      <a:chOff x="-1076" y="-937"/>
                      <a:chExt cx="725170" cy="650542"/>
                    </a:xfrm>
                  </p:grpSpPr>
                  <p:cxnSp>
                    <p:nvCxnSpPr>
                      <p:cNvPr id="47" name="Conector reto 1046">
                        <a:extLst>
                          <a:ext uri="{FF2B5EF4-FFF2-40B4-BE49-F238E27FC236}">
                            <a16:creationId xmlns:a16="http://schemas.microsoft.com/office/drawing/2014/main" id="{9697004F-777C-627B-01EE-16641C41C4D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175" y="479425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8" name="Conector reto 1056">
                        <a:extLst>
                          <a:ext uri="{FF2B5EF4-FFF2-40B4-BE49-F238E27FC236}">
                            <a16:creationId xmlns:a16="http://schemas.microsoft.com/office/drawing/2014/main" id="{B0461492-C289-9D2F-6FEC-32B8F5C0CC9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-1076" y="0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9" name="Conector reto 1057">
                        <a:extLst>
                          <a:ext uri="{FF2B5EF4-FFF2-40B4-BE49-F238E27FC236}">
                            <a16:creationId xmlns:a16="http://schemas.microsoft.com/office/drawing/2014/main" id="{00B0DD77-5135-DA98-D3AE-E5DFF9705ECF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6728" y="-937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50" name="Conector reto 1058">
                        <a:extLst>
                          <a:ext uri="{FF2B5EF4-FFF2-40B4-BE49-F238E27FC236}">
                            <a16:creationId xmlns:a16="http://schemas.microsoft.com/office/drawing/2014/main" id="{41AA19D3-0582-3CEC-8982-94EF0C92617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7724" y="479334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  <p:grpSp>
                  <p:nvGrpSpPr>
                    <p:cNvPr id="39" name="Agrupar 1054">
                      <a:extLst>
                        <a:ext uri="{FF2B5EF4-FFF2-40B4-BE49-F238E27FC236}">
                          <a16:creationId xmlns:a16="http://schemas.microsoft.com/office/drawing/2014/main" id="{0C336F62-6A43-3E12-5866-1F89D028E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117475"/>
                      <a:ext cx="726325" cy="650240"/>
                      <a:chOff x="0" y="111125"/>
                      <a:chExt cx="726325" cy="650240"/>
                    </a:xfrm>
                  </p:grpSpPr>
                  <p:sp>
                    <p:nvSpPr>
                      <p:cNvPr id="42" name="Retângulo 1044">
                        <a:extLst>
                          <a:ext uri="{FF2B5EF4-FFF2-40B4-BE49-F238E27FC236}">
                            <a16:creationId xmlns:a16="http://schemas.microsoft.com/office/drawing/2014/main" id="{FB5A4CAF-1456-A90B-8F28-5969D3CDB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0" y="279400"/>
                        <a:ext cx="556651" cy="481965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LID4096" sz="4000" dirty="0"/>
                      </a:p>
                    </p:txBody>
                  </p:sp>
                  <p:cxnSp>
                    <p:nvCxnSpPr>
                      <p:cNvPr id="43" name="Conector reto 1047">
                        <a:extLst>
                          <a:ext uri="{FF2B5EF4-FFF2-40B4-BE49-F238E27FC236}">
                            <a16:creationId xmlns:a16="http://schemas.microsoft.com/office/drawing/2014/main" id="{39CF2F30-403A-D901-49F2-15ACF80E5DF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8275" y="114300"/>
                        <a:ext cx="317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4" name="Conector reto 1048">
                        <a:extLst>
                          <a:ext uri="{FF2B5EF4-FFF2-40B4-BE49-F238E27FC236}">
                            <a16:creationId xmlns:a16="http://schemas.microsoft.com/office/drawing/2014/main" id="{3021BCCA-BA38-FFDF-547E-E92F3E33B9D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723900" y="111125"/>
                        <a:ext cx="63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5" name="Conector reto 1050">
                        <a:extLst>
                          <a:ext uri="{FF2B5EF4-FFF2-40B4-BE49-F238E27FC236}">
                            <a16:creationId xmlns:a16="http://schemas.microsoft.com/office/drawing/2014/main" id="{A486A0F6-4B2E-1882-F224-A1BF3511C0E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9311" y="589708"/>
                        <a:ext cx="557014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6" name="Conector reto 1051">
                        <a:extLst>
                          <a:ext uri="{FF2B5EF4-FFF2-40B4-BE49-F238E27FC236}">
                            <a16:creationId xmlns:a16="http://schemas.microsoft.com/office/drawing/2014/main" id="{A90D1C27-D61D-7F54-5F69-807FF7C6DBF5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5100" y="111125"/>
                        <a:ext cx="559435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</p:grpSp>
              <p:sp>
                <p:nvSpPr>
                  <p:cNvPr id="36" name="Forma Livre: Forma 1064">
                    <a:extLst>
                      <a:ext uri="{FF2B5EF4-FFF2-40B4-BE49-F238E27FC236}">
                        <a16:creationId xmlns:a16="http://schemas.microsoft.com/office/drawing/2014/main" id="{62B7CA0D-FA4A-20B0-7236-3F878664BC36}"/>
                      </a:ext>
                    </a:extLst>
                  </p:cNvPr>
                  <p:cNvSpPr/>
                  <p:nvPr/>
                </p:nvSpPr>
                <p:spPr>
                  <a:xfrm>
                    <a:off x="1324" y="118377"/>
                    <a:ext cx="166016" cy="64325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60000"/>
                      <a:lumOff val="40000"/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  <p:sp>
                <p:nvSpPr>
                  <p:cNvPr id="37" name="Forma Livre: Forma 1065">
                    <a:extLst>
                      <a:ext uri="{FF2B5EF4-FFF2-40B4-BE49-F238E27FC236}">
                        <a16:creationId xmlns:a16="http://schemas.microsoft.com/office/drawing/2014/main" id="{4F789A60-68FB-2720-5CF1-AE81A5185715}"/>
                      </a:ext>
                    </a:extLst>
                  </p:cNvPr>
                  <p:cNvSpPr/>
                  <p:nvPr/>
                </p:nvSpPr>
                <p:spPr>
                  <a:xfrm>
                    <a:off x="556813" y="113072"/>
                    <a:ext cx="166016" cy="65180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1"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</p:grpSp>
            <p:grpSp>
              <p:nvGrpSpPr>
                <p:cNvPr id="29" name="Agrupar 1083">
                  <a:extLst>
                    <a:ext uri="{FF2B5EF4-FFF2-40B4-BE49-F238E27FC236}">
                      <a16:creationId xmlns:a16="http://schemas.microsoft.com/office/drawing/2014/main" id="{69A66BAA-17F2-68F0-134C-113DEA3607E3}"/>
                    </a:ext>
                  </a:extLst>
                </p:cNvPr>
                <p:cNvGrpSpPr/>
                <p:nvPr/>
              </p:nvGrpSpPr>
              <p:grpSpPr>
                <a:xfrm>
                  <a:off x="203133" y="150803"/>
                  <a:ext cx="539247" cy="628276"/>
                  <a:chOff x="203135" y="150872"/>
                  <a:chExt cx="539254" cy="628524"/>
                </a:xfrm>
              </p:grpSpPr>
              <p:sp>
                <p:nvSpPr>
                  <p:cNvPr id="30" name="Caixa de texto 109">
                    <a:extLst>
                      <a:ext uri="{FF2B5EF4-FFF2-40B4-BE49-F238E27FC236}">
                        <a16:creationId xmlns:a16="http://schemas.microsoft.com/office/drawing/2014/main" id="{5B39DE95-85A4-4C95-E90B-02E963C5A3DA}"/>
                      </a:ext>
                    </a:extLst>
                  </p:cNvPr>
                  <p:cNvSpPr txBox="1"/>
                  <p:nvPr/>
                </p:nvSpPr>
                <p:spPr>
                  <a:xfrm>
                    <a:off x="516065" y="616044"/>
                    <a:ext cx="226324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</a:t>
                    </a: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a:t>x</a:t>
                    </a:r>
                    <a:endParaRPr sz="2000" b="1" dirty="0">
                      <a:solidFill>
                        <a:schemeClr val="tx1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" name="Caixa de texto 109">
                    <a:extLst>
                      <a:ext uri="{FF2B5EF4-FFF2-40B4-BE49-F238E27FC236}">
                        <a16:creationId xmlns:a16="http://schemas.microsoft.com/office/drawing/2014/main" id="{A563CFA2-73A8-B35E-0AED-7B4A87254DCD}"/>
                      </a:ext>
                    </a:extLst>
                  </p:cNvPr>
                  <p:cNvSpPr txBox="1"/>
                  <p:nvPr/>
                </p:nvSpPr>
                <p:spPr>
                  <a:xfrm>
                    <a:off x="288978" y="150872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Δz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" name="Caixa de texto 109">
                    <a:extLst>
                      <a:ext uri="{FF2B5EF4-FFF2-40B4-BE49-F238E27FC236}">
                        <a16:creationId xmlns:a16="http://schemas.microsoft.com/office/drawing/2014/main" id="{3EFCBF55-B40E-CBC5-5543-4EBB05A8BF9B}"/>
                      </a:ext>
                    </a:extLst>
                  </p:cNvPr>
                  <p:cNvSpPr txBox="1"/>
                  <p:nvPr/>
                </p:nvSpPr>
                <p:spPr>
                  <a:xfrm>
                    <a:off x="203135" y="671446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Δy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23" name="Caixa de texto 109">
              <a:extLst>
                <a:ext uri="{FF2B5EF4-FFF2-40B4-BE49-F238E27FC236}">
                  <a16:creationId xmlns:a16="http://schemas.microsoft.com/office/drawing/2014/main" id="{3FEA236C-5C85-2FDB-2351-5B721C7BC002}"/>
                </a:ext>
              </a:extLst>
            </p:cNvPr>
            <p:cNvSpPr txBox="1"/>
            <p:nvPr/>
          </p:nvSpPr>
          <p:spPr>
            <a:xfrm>
              <a:off x="1479186" y="1918575"/>
              <a:ext cx="448015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in</a:t>
              </a:r>
              <a:endParaRPr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Caixa de texto 109">
              <a:extLst>
                <a:ext uri="{FF2B5EF4-FFF2-40B4-BE49-F238E27FC236}">
                  <a16:creationId xmlns:a16="http://schemas.microsoft.com/office/drawing/2014/main" id="{1C000600-D393-7395-5B5C-7CC6295C6B5B}"/>
                </a:ext>
              </a:extLst>
            </p:cNvPr>
            <p:cNvSpPr txBox="1"/>
            <p:nvPr/>
          </p:nvSpPr>
          <p:spPr>
            <a:xfrm>
              <a:off x="2026713" y="1915481"/>
              <a:ext cx="646032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out</a:t>
              </a:r>
              <a:endParaRPr b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Retângulo 83">
            <a:extLst>
              <a:ext uri="{FF2B5EF4-FFF2-40B4-BE49-F238E27FC236}">
                <a16:creationId xmlns:a16="http://schemas.microsoft.com/office/drawing/2014/main" id="{3A8604E3-6C86-A5D8-2EB7-A8B08A709C66}"/>
              </a:ext>
            </a:extLst>
          </p:cNvPr>
          <p:cNvSpPr/>
          <p:nvPr/>
        </p:nvSpPr>
        <p:spPr>
          <a:xfrm>
            <a:off x="2246468" y="3004863"/>
            <a:ext cx="3163842" cy="13041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52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677F8FAB-891F-C923-27E0-2D73C79154E8}"/>
              </a:ext>
            </a:extLst>
          </p:cNvPr>
          <p:cNvSpPr txBox="1"/>
          <p:nvPr/>
        </p:nvSpPr>
        <p:spPr>
          <a:xfrm>
            <a:off x="2548126" y="5777245"/>
            <a:ext cx="1573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algn="r"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400" dirty="0"/>
              <a:t>=   𝐟𝐨𝐧𝐭𝐞𝐬 </a:t>
            </a:r>
          </a:p>
          <a:p>
            <a:pPr algn="l"/>
            <a:r>
              <a:rPr lang="en-GB" sz="1400" dirty="0"/>
              <a:t>(-) 𝐬𝐮𝐦𝐢𝐝𝐨𝐮𝐫𝐨𝐬</a:t>
            </a:r>
          </a:p>
        </p:txBody>
      </p:sp>
      <p:sp>
        <p:nvSpPr>
          <p:cNvPr id="53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4559EF1-A99A-7CCC-C78E-851EA7EC93C2}"/>
              </a:ext>
            </a:extLst>
          </p:cNvPr>
          <p:cNvSpPr txBox="1"/>
          <p:nvPr/>
        </p:nvSpPr>
        <p:spPr>
          <a:xfrm>
            <a:off x="437798" y="5378784"/>
            <a:ext cx="1346944" cy="417907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pt-BR" sz="1800" b="1" dirty="0">
                <a:latin typeface="Horley Old Style MT"/>
              </a:rPr>
              <a:t>Laplace</a:t>
            </a:r>
            <a:endParaRPr lang="pt-BR" sz="1800" dirty="0">
              <a:latin typeface="Horley Old Style M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19469C-F406-4872-DBE5-1A1D04048490}"/>
              </a:ext>
            </a:extLst>
          </p:cNvPr>
          <p:cNvSpPr txBox="1"/>
          <p:nvPr/>
        </p:nvSpPr>
        <p:spPr>
          <a:xfrm>
            <a:off x="9015566" y="4980231"/>
            <a:ext cx="2547041" cy="1371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4400" spc="-100" dirty="0">
                <a:solidFill>
                  <a:srgbClr val="00B050"/>
                </a:solidFill>
              </a:rPr>
              <a:t>Objetivo</a:t>
            </a:r>
          </a:p>
        </p:txBody>
      </p:sp>
      <p:pic>
        <p:nvPicPr>
          <p:cNvPr id="55" name="Picture 2" descr="Loop - Free interface icons">
            <a:extLst>
              <a:ext uri="{FF2B5EF4-FFF2-40B4-BE49-F238E27FC236}">
                <a16:creationId xmlns:a16="http://schemas.microsoft.com/office/drawing/2014/main" id="{0D935917-2307-B4F7-361B-59C66D255B20}"/>
              </a:ext>
            </a:extLst>
          </p:cNvPr>
          <p:cNvPicPr preferRelativeResize="0"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9237" y="2765010"/>
            <a:ext cx="1589638" cy="1589638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A4B77BDA-0B52-5B69-A2C1-71512DFDB038}"/>
                  </a:ext>
                </a:extLst>
              </p:cNvPr>
              <p:cNvSpPr txBox="1"/>
              <p:nvPr/>
            </p:nvSpPr>
            <p:spPr>
              <a:xfrm>
                <a:off x="5822323" y="5372427"/>
                <a:ext cx="3055353" cy="980353"/>
              </a:xfrm>
              <a:prstGeom prst="rect">
                <a:avLst/>
              </a:prstGeom>
              <a:solidFill>
                <a:srgbClr val="A7E8FF"/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</m:t>
                      </m:r>
                      <m:d>
                        <m:dPr>
                          <m:ctrlPr>
                            <a:rPr lang="pt-BR" sz="2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</m:e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d>
                            <m:dPr>
                              <m:ctrlPr>
                                <a:rPr lang="pt-BR" sz="2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𝐁</m:t>
                              </m:r>
                            </m:e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𝐀</m:t>
                              </m:r>
                            </m:e>
                          </m:d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sz="22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A4B77BDA-0B52-5B69-A2C1-71512DFDB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323" y="5372427"/>
                <a:ext cx="3055353" cy="98035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CDBB5BAF-936E-64C5-28B6-58ECF22CB89B}"/>
              </a:ext>
            </a:extLst>
          </p:cNvPr>
          <p:cNvSpPr txBox="1"/>
          <p:nvPr/>
        </p:nvSpPr>
        <p:spPr>
          <a:xfrm>
            <a:off x="5684432" y="4881201"/>
            <a:ext cx="3435450" cy="5232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8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Cálculo Bayesiano </a:t>
            </a:r>
          </a:p>
        </p:txBody>
      </p:sp>
      <p:sp>
        <p:nvSpPr>
          <p:cNvPr id="58" name="CaixaDeTexto 141">
            <a:extLst>
              <a:ext uri="{FF2B5EF4-FFF2-40B4-BE49-F238E27FC236}">
                <a16:creationId xmlns:a16="http://schemas.microsoft.com/office/drawing/2014/main" id="{A533A617-5F98-B2B5-B6ED-CCC06B0B3975}"/>
              </a:ext>
            </a:extLst>
          </p:cNvPr>
          <p:cNvSpPr txBox="1"/>
          <p:nvPr/>
        </p:nvSpPr>
        <p:spPr>
          <a:xfrm>
            <a:off x="252833" y="2821370"/>
            <a:ext cx="422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Q</a:t>
            </a:r>
            <a:endParaRPr lang="LID4096" sz="11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/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lIns="0" tIns="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r>
                  <a:rPr lang="pt-BR" sz="1800" b="1" i="0" dirty="0">
                    <a:solidFill>
                      <a:schemeClr val="accent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. .</a:t>
                </a: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n-GB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i="0" dirty="0">
                  <a:solidFill>
                    <a:schemeClr val="accent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en-GB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dirty="0">
                  <a:solidFill>
                    <a:srgbClr val="0000FF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blipFill>
                <a:blip r:embed="rId8"/>
                <a:stretch>
                  <a:fillRect t="-34375" b="-3437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3108FF7-AE35-1067-AE5B-1D8FB4DCE18E}"/>
              </a:ext>
            </a:extLst>
          </p:cNvPr>
          <p:cNvSpPr txBox="1"/>
          <p:nvPr/>
        </p:nvSpPr>
        <p:spPr>
          <a:xfrm>
            <a:off x="851002" y="6101371"/>
            <a:ext cx="670916" cy="286976"/>
          </a:xfrm>
          <a:prstGeom prst="rect">
            <a:avLst/>
          </a:prstGeom>
          <a:noFill/>
          <a:ln w="3175">
            <a:noFill/>
          </a:ln>
          <a:effectLst/>
        </p:spPr>
        <p:txBody>
          <a:bodyPr wrap="none" anchor="b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GB" sz="2400" b="1" dirty="0">
                <a:solidFill>
                  <a:schemeClr val="accent2"/>
                </a:solidFill>
                <a:latin typeface="+mj-lt"/>
                <a:ea typeface="Cambria Math" panose="02040503050406030204" pitchFamily="18" charset="0"/>
              </a:rPr>
              <a:t>nabla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/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4572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ar-AE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ar-AE" sz="3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bar>
                      <m:r>
                        <a:rPr lang="pt-BR" sz="3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bar>
                        <m:barPr>
                          <m:ctrlPr>
                            <a:rPr lang="ar-AE" sz="3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pt-BR" sz="30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𝐡</m:t>
                          </m:r>
                        </m:e>
                      </m:bar>
                    </m:oMath>
                  </m:oMathPara>
                </a14:m>
                <a:endParaRPr lang="en-GB" sz="3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/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182880" tIns="45720" rIns="9144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𝐲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𝐐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𝐏𝐀</m:t>
                      </m:r>
                    </m:oMath>
                  </m:oMathPara>
                </a14:m>
                <a:endParaRPr lang="en-GB" sz="1800" b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7129078B-8E66-3D50-141D-35006F7044CD}"/>
              </a:ext>
            </a:extLst>
          </p:cNvPr>
          <p:cNvSpPr txBox="1"/>
          <p:nvPr/>
        </p:nvSpPr>
        <p:spPr>
          <a:xfrm>
            <a:off x="3624119" y="5770072"/>
            <a:ext cx="1810525" cy="46166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24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  <a:endParaRPr lang="pt-BR" dirty="0">
              <a:solidFill>
                <a:srgbClr val="0000FF"/>
              </a:solidFill>
            </a:endParaRPr>
          </a:p>
        </p:txBody>
      </p:sp>
      <p:sp>
        <p:nvSpPr>
          <p:cNvPr id="64" name="Retângulo 83">
            <a:extLst>
              <a:ext uri="{FF2B5EF4-FFF2-40B4-BE49-F238E27FC236}">
                <a16:creationId xmlns:a16="http://schemas.microsoft.com/office/drawing/2014/main" id="{31D73027-EA17-7900-9D82-2DF5F7D17CAD}"/>
              </a:ext>
            </a:extLst>
          </p:cNvPr>
          <p:cNvSpPr/>
          <p:nvPr/>
        </p:nvSpPr>
        <p:spPr>
          <a:xfrm>
            <a:off x="3845378" y="4489070"/>
            <a:ext cx="1573652" cy="11151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/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l-G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</m:num>
                        <m:den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pt-B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f>
                            <m:fPr>
                              <m:ctrlPr>
                                <a:rPr lang="el-GR" sz="24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𝐡</m:t>
                              </m:r>
                            </m:num>
                            <m:den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blipFill>
                <a:blip r:embed="rId11"/>
                <a:stretch>
                  <a:fillRect r="-9836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CaixaDeTexto 141">
            <a:extLst>
              <a:ext uri="{FF2B5EF4-FFF2-40B4-BE49-F238E27FC236}">
                <a16:creationId xmlns:a16="http://schemas.microsoft.com/office/drawing/2014/main" id="{E1191DA1-8FC4-0801-7C47-0F3E41536735}"/>
              </a:ext>
            </a:extLst>
          </p:cNvPr>
          <p:cNvSpPr txBox="1"/>
          <p:nvPr/>
        </p:nvSpPr>
        <p:spPr>
          <a:xfrm>
            <a:off x="3919424" y="2535789"/>
            <a:ext cx="1430903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r"/>
            <a:r>
              <a:rPr lang="pt-BR" dirty="0"/>
              <a:t>Calor</a:t>
            </a:r>
            <a:endParaRPr lang="LID4096" dirty="0"/>
          </a:p>
        </p:txBody>
      </p:sp>
      <p:sp>
        <p:nvSpPr>
          <p:cNvPr id="67" name="CaixaDeTexto 141">
            <a:extLst>
              <a:ext uri="{FF2B5EF4-FFF2-40B4-BE49-F238E27FC236}">
                <a16:creationId xmlns:a16="http://schemas.microsoft.com/office/drawing/2014/main" id="{B281D329-12FD-E093-D042-91C054EBF8AB}"/>
              </a:ext>
            </a:extLst>
          </p:cNvPr>
          <p:cNvSpPr txBox="1"/>
          <p:nvPr/>
        </p:nvSpPr>
        <p:spPr>
          <a:xfrm>
            <a:off x="2143274" y="4327380"/>
            <a:ext cx="14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infinitesimal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D1D3A6-88D6-5474-2003-0320BE916DB5}"/>
              </a:ext>
            </a:extLst>
          </p:cNvPr>
          <p:cNvGrpSpPr/>
          <p:nvPr/>
        </p:nvGrpSpPr>
        <p:grpSpPr>
          <a:xfrm>
            <a:off x="583412" y="1240914"/>
            <a:ext cx="2144086" cy="1511767"/>
            <a:chOff x="250339" y="1299318"/>
            <a:chExt cx="2144086" cy="151176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DB00BD7-9369-0C94-D8AE-088DE9ED6E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50339" y="1299318"/>
              <a:ext cx="2144086" cy="1511767"/>
              <a:chOff x="1881494" y="1113381"/>
              <a:chExt cx="2301094" cy="1427179"/>
            </a:xfrm>
          </p:grpSpPr>
          <p:grpSp>
            <p:nvGrpSpPr>
              <p:cNvPr id="72" name="Agrupar 134">
                <a:extLst>
                  <a:ext uri="{FF2B5EF4-FFF2-40B4-BE49-F238E27FC236}">
                    <a16:creationId xmlns:a16="http://schemas.microsoft.com/office/drawing/2014/main" id="{70121B97-C4B5-2854-E989-3A30A0AF615E}"/>
                  </a:ext>
                </a:extLst>
              </p:cNvPr>
              <p:cNvGrpSpPr/>
              <p:nvPr/>
            </p:nvGrpSpPr>
            <p:grpSpPr>
              <a:xfrm>
                <a:off x="1881494" y="1113381"/>
                <a:ext cx="2301094" cy="1427179"/>
                <a:chOff x="1097433" y="1160227"/>
                <a:chExt cx="2736618" cy="1751228"/>
              </a:xfrm>
            </p:grpSpPr>
            <p:grpSp>
              <p:nvGrpSpPr>
                <p:cNvPr id="74" name="Agrupar 135">
                  <a:extLst>
                    <a:ext uri="{FF2B5EF4-FFF2-40B4-BE49-F238E27FC236}">
                      <a16:creationId xmlns:a16="http://schemas.microsoft.com/office/drawing/2014/main" id="{7F5976A9-7F52-0E86-DC36-36B1E6C23BB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97433" y="1160227"/>
                  <a:ext cx="2736618" cy="1711930"/>
                  <a:chOff x="5866419" y="814051"/>
                  <a:chExt cx="2528587" cy="1571172"/>
                </a:xfrm>
              </p:grpSpPr>
              <p:sp>
                <p:nvSpPr>
                  <p:cNvPr id="78" name="Cilindro 140">
                    <a:extLst>
                      <a:ext uri="{FF2B5EF4-FFF2-40B4-BE49-F238E27FC236}">
                        <a16:creationId xmlns:a16="http://schemas.microsoft.com/office/drawing/2014/main" id="{DCDFE901-29FC-DC7F-F8F9-F88AB9812414}"/>
                      </a:ext>
                    </a:extLst>
                  </p:cNvPr>
                  <p:cNvSpPr/>
                  <p:nvPr/>
                </p:nvSpPr>
                <p:spPr>
                  <a:xfrm rot="17926501">
                    <a:off x="7227774" y="974828"/>
                    <a:ext cx="438142" cy="1434517"/>
                  </a:xfrm>
                  <a:prstGeom prst="can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 sz="1400" b="1" u="sng"/>
                  </a:p>
                </p:txBody>
              </p:sp>
              <p:sp>
                <p:nvSpPr>
                  <p:cNvPr id="79" name="CaixaDeTexto 141">
                    <a:extLst>
                      <a:ext uri="{FF2B5EF4-FFF2-40B4-BE49-F238E27FC236}">
                        <a16:creationId xmlns:a16="http://schemas.microsoft.com/office/drawing/2014/main" id="{E1F218CC-678A-21F8-8A01-FA8AB50294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66419" y="814051"/>
                    <a:ext cx="498667" cy="556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2800" b="1" dirty="0"/>
                      <a:t>Q</a:t>
                    </a:r>
                    <a:endParaRPr lang="LID4096" sz="1100" b="1" dirty="0"/>
                  </a:p>
                </p:txBody>
              </p:sp>
              <p:cxnSp>
                <p:nvCxnSpPr>
                  <p:cNvPr id="80" name="Conector de Seta Reta 142">
                    <a:extLst>
                      <a:ext uri="{FF2B5EF4-FFF2-40B4-BE49-F238E27FC236}">
                        <a16:creationId xmlns:a16="http://schemas.microsoft.com/office/drawing/2014/main" id="{C0929374-1C47-8B7D-CDB9-72C44247318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420377" y="1168911"/>
                    <a:ext cx="326127" cy="179853"/>
                  </a:xfrm>
                  <a:prstGeom prst="straightConnector1">
                    <a:avLst/>
                  </a:prstGeom>
                  <a:ln w="762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CaixaDeTexto 143">
                    <a:extLst>
                      <a:ext uri="{FF2B5EF4-FFF2-40B4-BE49-F238E27FC236}">
                        <a16:creationId xmlns:a16="http://schemas.microsoft.com/office/drawing/2014/main" id="{754EDD70-DA66-1993-9D15-80ADC9A51DDF}"/>
                      </a:ext>
                    </a:extLst>
                  </p:cNvPr>
                  <p:cNvSpPr txBox="1"/>
                  <p:nvPr/>
                </p:nvSpPr>
                <p:spPr>
                  <a:xfrm>
                    <a:off x="6878378" y="1969296"/>
                    <a:ext cx="1190873" cy="415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L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cxnSp>
                <p:nvCxnSpPr>
                  <p:cNvPr id="82" name="Conector de Seta Reta 144">
                    <a:extLst>
                      <a:ext uri="{FF2B5EF4-FFF2-40B4-BE49-F238E27FC236}">
                        <a16:creationId xmlns:a16="http://schemas.microsoft.com/office/drawing/2014/main" id="{AB616D83-7F68-5DBC-6AA0-53C85C67E1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6035" y="1467890"/>
                    <a:ext cx="431352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Conector de Seta Reta 145">
                    <a:extLst>
                      <a:ext uri="{FF2B5EF4-FFF2-40B4-BE49-F238E27FC236}">
                        <a16:creationId xmlns:a16="http://schemas.microsoft.com/office/drawing/2014/main" id="{2B5C37C7-E468-2F98-5272-1946D75F4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8775" y="2102363"/>
                    <a:ext cx="485271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Conector de Seta Reta 146">
                    <a:extLst>
                      <a:ext uri="{FF2B5EF4-FFF2-40B4-BE49-F238E27FC236}">
                        <a16:creationId xmlns:a16="http://schemas.microsoft.com/office/drawing/2014/main" id="{86360858-8055-A54B-6C78-8EFFF89A15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88298" y="1600517"/>
                    <a:ext cx="0" cy="32857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Conector de Seta Reta 147">
                    <a:extLst>
                      <a:ext uri="{FF2B5EF4-FFF2-40B4-BE49-F238E27FC236}">
                        <a16:creationId xmlns:a16="http://schemas.microsoft.com/office/drawing/2014/main" id="{52B96891-06B6-B9A0-A7F3-8908E79A9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00631" y="2364490"/>
                    <a:ext cx="576485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6" name="CaixaDeTexto 150">
                    <a:extLst>
                      <a:ext uri="{FF2B5EF4-FFF2-40B4-BE49-F238E27FC236}">
                        <a16:creationId xmlns:a16="http://schemas.microsoft.com/office/drawing/2014/main" id="{20DA643F-606A-A4AD-182D-BBCF18F57606}"/>
                      </a:ext>
                    </a:extLst>
                  </p:cNvPr>
                  <p:cNvSpPr txBox="1"/>
                  <p:nvPr/>
                </p:nvSpPr>
                <p:spPr>
                  <a:xfrm>
                    <a:off x="5989338" y="1602445"/>
                    <a:ext cx="392968" cy="32721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H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87" name="CaixaDeTexto 151">
                    <a:extLst>
                      <a:ext uri="{FF2B5EF4-FFF2-40B4-BE49-F238E27FC236}">
                        <a16:creationId xmlns:a16="http://schemas.microsoft.com/office/drawing/2014/main" id="{19B62460-FC2D-484E-2296-30DD4E7EB47F}"/>
                      </a:ext>
                    </a:extLst>
                  </p:cNvPr>
                  <p:cNvSpPr txBox="1"/>
                  <p:nvPr/>
                </p:nvSpPr>
                <p:spPr>
                  <a:xfrm>
                    <a:off x="7344975" y="1047969"/>
                    <a:ext cx="1050031" cy="4908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4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k</a:t>
                    </a:r>
                    <a:r>
                      <a:rPr lang="pt-BR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 </a:t>
                    </a:r>
                    <a:r>
                      <a:rPr lang="pt-BR" sz="12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(m/d)</a:t>
                    </a:r>
                    <a:endParaRPr lang="LID4096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75" name="Conector reto 136">
                  <a:extLst>
                    <a:ext uri="{FF2B5EF4-FFF2-40B4-BE49-F238E27FC236}">
                      <a16:creationId xmlns:a16="http://schemas.microsoft.com/office/drawing/2014/main" id="{6E124EE9-C7BE-B473-F316-E86A73A055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3988" y="2911455"/>
                  <a:ext cx="186736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to 137">
                  <a:extLst>
                    <a:ext uri="{FF2B5EF4-FFF2-40B4-BE49-F238E27FC236}">
                      <a16:creationId xmlns:a16="http://schemas.microsoft.com/office/drawing/2014/main" id="{558536E7-BB3F-6755-375B-C1F2947B9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74794" y="1851780"/>
                  <a:ext cx="0" cy="105923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to 138">
                  <a:extLst>
                    <a:ext uri="{FF2B5EF4-FFF2-40B4-BE49-F238E27FC236}">
                      <a16:creationId xmlns:a16="http://schemas.microsoft.com/office/drawing/2014/main" id="{B5514EA8-D63F-9968-1D5E-B8CFF8366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71574" y="1784174"/>
                  <a:ext cx="1309376" cy="7064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Cilindro 140">
                <a:extLst>
                  <a:ext uri="{FF2B5EF4-FFF2-40B4-BE49-F238E27FC236}">
                    <a16:creationId xmlns:a16="http://schemas.microsoft.com/office/drawing/2014/main" id="{94C28BEF-5EDF-FA4B-3FA4-22A1F2C30563}"/>
                  </a:ext>
                </a:extLst>
              </p:cNvPr>
              <p:cNvSpPr/>
              <p:nvPr/>
            </p:nvSpPr>
            <p:spPr>
              <a:xfrm rot="17926501">
                <a:off x="2631659" y="1560865"/>
                <a:ext cx="389057" cy="200226"/>
              </a:xfrm>
              <a:prstGeom prst="can">
                <a:avLst>
                  <a:gd name="adj" fmla="val 58875"/>
                </a:avLst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400" b="1" u="sng"/>
              </a:p>
            </p:txBody>
          </p:sp>
        </p:grpSp>
        <p:cxnSp>
          <p:nvCxnSpPr>
            <p:cNvPr id="70" name="Conector reto 138">
              <a:extLst>
                <a:ext uri="{FF2B5EF4-FFF2-40B4-BE49-F238E27FC236}">
                  <a16:creationId xmlns:a16="http://schemas.microsoft.com/office/drawing/2014/main" id="{7934B41F-C815-B9CD-EFB0-2823C14F38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5245" y="1914309"/>
              <a:ext cx="239" cy="86868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to 138">
              <a:extLst>
                <a:ext uri="{FF2B5EF4-FFF2-40B4-BE49-F238E27FC236}">
                  <a16:creationId xmlns:a16="http://schemas.microsoft.com/office/drawing/2014/main" id="{1ACC1AA6-1D2F-4356-2F7C-5BA58616AC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1321" y="2433796"/>
              <a:ext cx="239" cy="36576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CaixaDeTexto 141">
            <a:extLst>
              <a:ext uri="{FF2B5EF4-FFF2-40B4-BE49-F238E27FC236}">
                <a16:creationId xmlns:a16="http://schemas.microsoft.com/office/drawing/2014/main" id="{CDF764A2-5F68-9DEA-C94A-6E9208B00E7C}"/>
              </a:ext>
            </a:extLst>
          </p:cNvPr>
          <p:cNvSpPr txBox="1"/>
          <p:nvPr/>
        </p:nvSpPr>
        <p:spPr>
          <a:xfrm>
            <a:off x="4742771" y="1696351"/>
            <a:ext cx="682126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</a:t>
            </a:r>
            <a:r>
              <a:rPr lang="pt-BR" sz="1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9" name="CaixaDeTexto 141">
            <a:extLst>
              <a:ext uri="{FF2B5EF4-FFF2-40B4-BE49-F238E27FC236}">
                <a16:creationId xmlns:a16="http://schemas.microsoft.com/office/drawing/2014/main" id="{CC9668F8-A1A2-A573-0AF4-EB545F4B34B3}"/>
              </a:ext>
            </a:extLst>
          </p:cNvPr>
          <p:cNvSpPr txBox="1"/>
          <p:nvPr/>
        </p:nvSpPr>
        <p:spPr>
          <a:xfrm>
            <a:off x="10826626" y="1075049"/>
            <a:ext cx="682126" cy="36933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BC</a:t>
            </a:r>
            <a:endParaRPr lang="LID4096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EE7198C-297F-CE51-6CE0-4A22BCFB924C}"/>
              </a:ext>
            </a:extLst>
          </p:cNvPr>
          <p:cNvGrpSpPr/>
          <p:nvPr/>
        </p:nvGrpSpPr>
        <p:grpSpPr>
          <a:xfrm>
            <a:off x="2854364" y="1316717"/>
            <a:ext cx="2119290" cy="649211"/>
            <a:chOff x="2931273" y="1376538"/>
            <a:chExt cx="2119290" cy="649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B80A087-B853-C16F-E7A0-DE9A6345AEF8}"/>
                    </a:ext>
                  </a:extLst>
                </p:cNvPr>
                <p:cNvSpPr txBox="1"/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pt-BR" sz="18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1800" b="1" i="1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1" i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pt-BR" sz="1800" b="1" dirty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</m:t>
                                </m:r>
                              </m:sub>
                            </m:sSub>
                          </m:den>
                        </m:f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f>
                          <m:fPr>
                            <m:ctrlPr>
                              <a:rPr lang="pt-BR" sz="1800" b="1" i="1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</m:t>
                            </m:r>
                          </m:num>
                          <m:den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𝐋</m:t>
                            </m:r>
                          </m:den>
                        </m:f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B88DAE8-A55B-3D68-2885-4CF1CA469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D2C7FE55-A371-B339-E315-06351A0FB35B}"/>
                    </a:ext>
                  </a:extLst>
                </p:cNvPr>
                <p:cNvSpPr txBox="1"/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1" i="1" smtClean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1" i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pt-BR" sz="2000" b="1" dirty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</m:t>
                            </m:r>
                          </m:sub>
                        </m:sSub>
                      </m:oMath>
                    </m:oMathPara>
                  </a14:m>
                  <a:endParaRPr lang="en-GB" sz="20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1D87B5CF-5F01-F491-23C7-1EF3AEB20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blipFill>
                  <a:blip r:embed="rId17"/>
                  <a:stretch>
                    <a:fillRect l="-26087" r="-18841" b="-48936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FD8CC1-940E-1539-B380-AB874A3A5FAF}"/>
                    </a:ext>
                  </a:extLst>
                </p:cNvPr>
                <p:cNvSpPr txBox="1"/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22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</m:oMath>
                    </m:oMathPara>
                  </a14:m>
                  <a:endParaRPr lang="en-GB" sz="2200" b="1" dirty="0">
                    <a:solidFill>
                      <a:srgbClr val="0000FF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C2C0F1A-F9F4-EB81-9734-7C4CB7287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blipFill>
                  <a:blip r:embed="rId18"/>
                  <a:stretch>
                    <a:fillRect l="-31111" r="-6667" b="-20968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4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9B38E7BE-C41D-09BF-CD92-AE1AF4CBF417}"/>
              </a:ext>
            </a:extLst>
          </p:cNvPr>
          <p:cNvSpPr txBox="1"/>
          <p:nvPr/>
        </p:nvSpPr>
        <p:spPr>
          <a:xfrm>
            <a:off x="2813373" y="2102180"/>
            <a:ext cx="2259685" cy="433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182880" tIns="45720" rIns="9144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en-GB" sz="1800" b="1" dirty="0">
              <a:solidFill>
                <a:prstClr val="black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0100653-E2BC-64D7-1C8C-86D5D743221D}"/>
              </a:ext>
            </a:extLst>
          </p:cNvPr>
          <p:cNvGrpSpPr/>
          <p:nvPr/>
        </p:nvGrpSpPr>
        <p:grpSpPr>
          <a:xfrm>
            <a:off x="2942447" y="2078608"/>
            <a:ext cx="1992664" cy="490068"/>
            <a:chOff x="3124483" y="2239011"/>
            <a:chExt cx="1992664" cy="529462"/>
          </a:xfrm>
          <a:solidFill>
            <a:schemeClr val="accent2">
              <a:lumMod val="20000"/>
              <a:lumOff val="80000"/>
            </a:schemeClr>
          </a:solidFill>
          <a:effectLst/>
        </p:grpSpPr>
        <p:sp>
          <p:nvSpPr>
            <p:cNvPr id="96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BB058801-DB9A-A3D2-2FF1-7628CC726295}"/>
                </a:ext>
              </a:extLst>
            </p:cNvPr>
            <p:cNvSpPr txBox="1"/>
            <p:nvPr/>
          </p:nvSpPr>
          <p:spPr>
            <a:xfrm>
              <a:off x="3434964" y="2280664"/>
              <a:ext cx="675042" cy="487809"/>
            </a:xfrm>
            <a:prstGeom prst="rect">
              <a:avLst/>
            </a:prstGeom>
            <a:noFill/>
            <a:ln w="3175">
              <a:noFill/>
            </a:ln>
            <a:effectLst/>
          </p:spPr>
          <p:txBody>
            <a:bodyPr wrap="none" anchor="ctr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2400" b="1" dirty="0">
                  <a:ea typeface="Cambria Math" panose="02040503050406030204" pitchFamily="18" charset="0"/>
                </a:rPr>
                <a:t>=</a:t>
              </a:r>
              <a:r>
                <a:rPr lang="pt-BR" sz="2400" b="1" dirty="0">
                  <a:solidFill>
                    <a:srgbClr val="00B050"/>
                  </a:solidFill>
                  <a:ea typeface="Cambria Math" panose="02040503050406030204" pitchFamily="18" charset="0"/>
                </a:rPr>
                <a:t>  </a:t>
              </a:r>
              <a:r>
                <a:rPr lang="pt-BR" sz="2400" b="1" dirty="0">
                  <a:solidFill>
                    <a:srgbClr val="FF0000"/>
                  </a:solidFill>
                  <a:ea typeface="Cambria Math" panose="02040503050406030204" pitchFamily="18" charset="0"/>
                </a:rPr>
                <a:t>-</a:t>
              </a:r>
              <a:endParaRPr lang="en-GB" sz="2400" b="1" dirty="0">
                <a:solidFill>
                  <a:srgbClr val="FF0000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CE60EA-0CF4-03DA-9309-3C03205F4D5B}"/>
                    </a:ext>
                  </a:extLst>
                </p:cNvPr>
                <p:cNvSpPr txBox="1"/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            ∆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)/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𝐋</m:t>
                        </m:r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0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2F2464A1-3A0E-A58D-F9ED-90527F9DE3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blipFill>
                  <a:blip r:embed="rId19"/>
                  <a:stretch>
                    <a:fillRect l="-1215" b="-270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BD05542-3D57-F04F-A78A-5EAE93177F4A}"/>
                    </a:ext>
                  </a:extLst>
                </p:cNvPr>
                <p:cNvSpPr txBox="1"/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pt-BR" sz="24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400" b="1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e>
                        </m:acc>
                        <m:r>
                          <a:rPr lang="pt-BR" sz="2400" b="1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pt-BR" sz="24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r>
                          <a:rPr lang="pt-BR" sz="2400" b="1" i="0" smtClean="0">
                            <a:solidFill>
                              <a:schemeClr val="accent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GB" sz="24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B95894E-294F-BCF5-27C1-29A520AB4D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blipFill>
                  <a:blip r:embed="rId20"/>
                  <a:stretch>
                    <a:fillRect r="-978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9" name="Rectangle 98">
            <a:extLst>
              <a:ext uri="{FF2B5EF4-FFF2-40B4-BE49-F238E27FC236}">
                <a16:creationId xmlns:a16="http://schemas.microsoft.com/office/drawing/2014/main" id="{44975F62-CA97-C008-1E0F-EB7671ECCD23}"/>
              </a:ext>
            </a:extLst>
          </p:cNvPr>
          <p:cNvSpPr/>
          <p:nvPr/>
        </p:nvSpPr>
        <p:spPr>
          <a:xfrm>
            <a:off x="4017356" y="3366241"/>
            <a:ext cx="1281286" cy="879959"/>
          </a:xfrm>
          <a:prstGeom prst="rect">
            <a:avLst/>
          </a:prstGeom>
          <a:solidFill>
            <a:schemeClr val="bg1"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LID4096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BF24E9-96E5-C50D-0576-49358198EC65}"/>
              </a:ext>
            </a:extLst>
          </p:cNvPr>
          <p:cNvGrpSpPr/>
          <p:nvPr/>
        </p:nvGrpSpPr>
        <p:grpSpPr>
          <a:xfrm>
            <a:off x="2516985" y="3182781"/>
            <a:ext cx="1826016" cy="802240"/>
            <a:chOff x="2439338" y="3000792"/>
            <a:chExt cx="1826016" cy="80224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/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l-GR" sz="2800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2800" b="1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𝐪</m:t>
                                </m:r>
                              </m:e>
                              <m:sub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sub>
                            </m:sSub>
                          </m:num>
                          <m:den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</m:oMath>
                    </m:oMathPara>
                  </a14:m>
                  <a:endParaRPr lang="pt-BR" sz="2800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0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blipFill>
                  <a:blip r:embed="rId21"/>
                  <a:stretch>
                    <a:fillRect l="-775" b="-7759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1864E1F-34D4-A099-2217-848BB8B27774}"/>
                    </a:ext>
                  </a:extLst>
                </p:cNvPr>
                <p:cNvSpPr txBox="1"/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l-GR" sz="2000" b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  <m:r>
                          <a:rPr lang="en-GB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𝐲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oMath>
                    </m:oMathPara>
                  </a14:m>
                  <a:endParaRPr lang="pt-BR" sz="1600" b="1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970DF81-89D2-9568-D849-32DAAC3B06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912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01A74-F5A5-16F0-F1BF-66E37219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66BC-03E2-9BD8-569C-E6C042905C3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14D74540-E379-CFE4-7D31-130239E68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F2CD72-C7D1-A28B-A201-E4BC34BF78B4}"/>
              </a:ext>
            </a:extLst>
          </p:cNvPr>
          <p:cNvSpPr txBox="1"/>
          <p:nvPr/>
        </p:nvSpPr>
        <p:spPr>
          <a:xfrm>
            <a:off x="5669568" y="6734889"/>
            <a:ext cx="6522432" cy="123111"/>
          </a:xfrm>
          <a:prstGeom prst="rect">
            <a:avLst/>
          </a:prstGeom>
          <a:noFill/>
        </p:spPr>
        <p:txBody>
          <a:bodyPr wrap="square" lIns="0" tIns="0" rIns="0" bIns="0" anchor="b" anchorCtr="0">
            <a:noAutofit/>
          </a:bodyPr>
          <a:lstStyle/>
          <a:p>
            <a:pPr algn="r"/>
            <a:r>
              <a:rPr lang="LID4096" sz="800" dirty="0">
                <a:hlinkClick r:id="rId3"/>
              </a:rPr>
              <a:t>https://formnext.mesago.com/frankfurt/en/industry-insights/am-field-guide/process_in_general.html</a:t>
            </a:r>
            <a:endParaRPr lang="LID4096" sz="8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3643FC-C13D-2DCF-C53B-CE201BB988FF}"/>
              </a:ext>
            </a:extLst>
          </p:cNvPr>
          <p:cNvGrpSpPr/>
          <p:nvPr/>
        </p:nvGrpSpPr>
        <p:grpSpPr>
          <a:xfrm>
            <a:off x="333332" y="3644329"/>
            <a:ext cx="4367732" cy="2705302"/>
            <a:chOff x="434246" y="3370024"/>
            <a:chExt cx="4367732" cy="27053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226F45-96C5-5790-AA40-656947B1114D}"/>
                </a:ext>
              </a:extLst>
            </p:cNvPr>
            <p:cNvSpPr txBox="1"/>
            <p:nvPr/>
          </p:nvSpPr>
          <p:spPr>
            <a:xfrm>
              <a:off x="434246" y="4907442"/>
              <a:ext cx="2180776" cy="1167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2C074CF-8F7A-5F3A-6BF1-C90ED073E4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086B03E6-F34E-1145-3D09-B0CE1E95E3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7B2EC496-F5F2-A9D6-BCB3-5E9621F21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3CA16F-7AC3-758D-A398-DE541F6AAC38}"/>
              </a:ext>
            </a:extLst>
          </p:cNvPr>
          <p:cNvGrpSpPr/>
          <p:nvPr/>
        </p:nvGrpSpPr>
        <p:grpSpPr>
          <a:xfrm>
            <a:off x="6574343" y="963500"/>
            <a:ext cx="5304147" cy="2143912"/>
            <a:chOff x="6763177" y="796305"/>
            <a:chExt cx="5304147" cy="214391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EBFE5E-1B50-4B85-6981-545C9D574D42}"/>
                </a:ext>
              </a:extLst>
            </p:cNvPr>
            <p:cNvSpPr txBox="1"/>
            <p:nvPr/>
          </p:nvSpPr>
          <p:spPr>
            <a:xfrm>
              <a:off x="6763177" y="796305"/>
              <a:ext cx="4005035" cy="10670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577DA59-FD78-1502-E621-7079958E1B61}"/>
                </a:ext>
              </a:extLst>
            </p:cNvPr>
            <p:cNvSpPr txBox="1"/>
            <p:nvPr/>
          </p:nvSpPr>
          <p:spPr>
            <a:xfrm>
              <a:off x="6763177" y="1874925"/>
              <a:ext cx="5304147" cy="10652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1F419332-9E0B-3D4F-FD43-722D617EAB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1114044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5CA32-B555-00D8-C431-C7D7060516EB}"/>
              </a:ext>
            </a:extLst>
          </p:cNvPr>
          <p:cNvGrpSpPr/>
          <p:nvPr/>
        </p:nvGrpSpPr>
        <p:grpSpPr>
          <a:xfrm>
            <a:off x="5735426" y="5706256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E8F990-D7E2-4864-AC68-D0069658B8A4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FE72C2-4D8E-82EB-10F4-F6EEF285DD8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52C720-64B6-BF56-5FCE-1E9507F4538D}"/>
              </a:ext>
            </a:extLst>
          </p:cNvPr>
          <p:cNvCxnSpPr>
            <a:cxnSpLocks/>
          </p:cNvCxnSpPr>
          <p:nvPr/>
        </p:nvCxnSpPr>
        <p:spPr>
          <a:xfrm>
            <a:off x="5110467" y="3553097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C38D7A-B395-A54D-499A-69264F12F803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61DC19E1-F7C6-0430-4B2C-A59B1C8B11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536053" y="3644329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894B7-E229-5711-B9E9-38F156B4385C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911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D18262-79C3-97F3-7608-04C239CF9BE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562897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1335393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942141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1274828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999928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1320995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973999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973998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8188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818832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3482A-51B4-C9C8-5B2B-9A3F5760AC2E}"/>
              </a:ext>
            </a:extLst>
          </p:cNvPr>
          <p:cNvSpPr/>
          <p:nvPr/>
        </p:nvSpPr>
        <p:spPr>
          <a:xfrm>
            <a:off x="3176725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6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Escalas de modelagem</a:t>
            </a:r>
            <a:endParaRPr lang="pt-BR" sz="36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9CD8D-4B1D-099E-72FE-E4A9D8A4FE3D}"/>
              </a:ext>
            </a:extLst>
          </p:cNvPr>
          <p:cNvSpPr/>
          <p:nvPr/>
        </p:nvSpPr>
        <p:spPr>
          <a:xfrm>
            <a:off x="8372475" y="317105"/>
            <a:ext cx="325346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C27728-C905-B009-3AA3-FD5D0FA2B1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6FEA9-7EF3-C277-8E36-C7669F63E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1"/>
          <a:stretch>
            <a:fillRect/>
          </a:stretch>
        </p:blipFill>
        <p:spPr>
          <a:xfrm>
            <a:off x="276720" y="2570864"/>
            <a:ext cx="4085603" cy="27325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6D91F9-C9A0-ABDD-E36F-6420C1DADA46}"/>
              </a:ext>
            </a:extLst>
          </p:cNvPr>
          <p:cNvSpPr txBox="1"/>
          <p:nvPr/>
        </p:nvSpPr>
        <p:spPr>
          <a:xfrm>
            <a:off x="212135" y="185056"/>
            <a:ext cx="8862196" cy="13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320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FEA – Análise de Elementos Finitos  </a:t>
            </a:r>
          </a:p>
          <a:p>
            <a:pPr lvl="0" algn="l">
              <a:defRPr/>
            </a:pPr>
            <a:endParaRPr lang="pt-BR" sz="11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  <a:p>
            <a:pPr lvl="0" algn="l">
              <a:defRPr/>
            </a:pPr>
            <a:r>
              <a:rPr lang="pt-BR" dirty="0"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Decompõe um objeto 3D complexo em milhares de pequenas partes gerenciáveis ​​("elementos"); - Calcula tensões estruturais, falhas e deformações.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40DB6-C404-19BC-9D0F-ECB805C01817}"/>
              </a:ext>
            </a:extLst>
          </p:cNvPr>
          <p:cNvSpPr txBox="1"/>
          <p:nvPr/>
        </p:nvSpPr>
        <p:spPr>
          <a:xfrm>
            <a:off x="4814543" y="4472428"/>
            <a:ext cx="156877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400" b="1" i="0" u="none" strike="noStrike" baseline="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Peça de Suporte</a:t>
            </a:r>
            <a:endParaRPr lang="pt-BR" sz="24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D7B3F9-F49D-8161-28CC-53F9CF4C1625}"/>
              </a:ext>
            </a:extLst>
          </p:cNvPr>
          <p:cNvSpPr/>
          <p:nvPr/>
        </p:nvSpPr>
        <p:spPr>
          <a:xfrm>
            <a:off x="6513187" y="1524000"/>
            <a:ext cx="5466680" cy="52494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1319E9-D6B9-8AE1-F641-877AEAD80FDB}"/>
              </a:ext>
            </a:extLst>
          </p:cNvPr>
          <p:cNvGrpSpPr>
            <a:grpSpLocks noChangeAspect="1"/>
          </p:cNvGrpSpPr>
          <p:nvPr/>
        </p:nvGrpSpPr>
        <p:grpSpPr>
          <a:xfrm>
            <a:off x="6665587" y="1609725"/>
            <a:ext cx="5249693" cy="5112462"/>
            <a:chOff x="4964461" y="288938"/>
            <a:chExt cx="6855569" cy="667636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1D5FCEF-AF2B-7018-FF25-444431D18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284872" y="288938"/>
              <a:ext cx="4558587" cy="597498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453F9-7876-B5D9-A9E4-12F46EA5BE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378909" y="878366"/>
              <a:ext cx="1441121" cy="5943659"/>
              <a:chOff x="11076678" y="3429000"/>
              <a:chExt cx="822685" cy="339302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A4CDDEC-3E2D-61DF-2E45-44983BE66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11076678" y="3429000"/>
                <a:ext cx="822685" cy="3393024"/>
              </a:xfrm>
              <a:prstGeom prst="rect">
                <a:avLst/>
              </a:prstGeom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348DBEB-5B21-9AB1-912B-82C28516B5B0}"/>
                  </a:ext>
                </a:extLst>
              </p:cNvPr>
              <p:cNvSpPr/>
              <p:nvPr/>
            </p:nvSpPr>
            <p:spPr>
              <a:xfrm>
                <a:off x="11582492" y="3429000"/>
                <a:ext cx="316871" cy="6518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60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3AE0F8-07E5-A686-8BD7-FE8564A80116}"/>
                </a:ext>
              </a:extLst>
            </p:cNvPr>
            <p:cNvSpPr txBox="1"/>
            <p:nvPr/>
          </p:nvSpPr>
          <p:spPr>
            <a:xfrm>
              <a:off x="4964461" y="6347118"/>
              <a:ext cx="6659546" cy="61818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182880" tIns="91440" rIns="182880" bIns="91440" anchor="ctr" anchorCtr="0">
              <a:noAutofit/>
            </a:bodyPr>
            <a:lstStyle>
              <a:defPPr>
                <a:defRPr lang="LID4096"/>
              </a:defPPr>
              <a:lvl1pPr indent="0" algn="ctr">
                <a:spcAft>
                  <a:spcPts val="600"/>
                </a:spcAft>
                <a:defRPr sz="2000" b="1" i="1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defRPr sz="1100"/>
              </a:lvl2pPr>
              <a:lvl3pPr indent="0">
                <a:defRPr sz="1100"/>
              </a:lvl3pPr>
              <a:lvl4pPr indent="0">
                <a:defRPr sz="1100"/>
              </a:lvl4pPr>
              <a:lvl5pPr indent="0">
                <a:defRPr sz="1100"/>
              </a:lvl5pPr>
              <a:lvl6pPr indent="0">
                <a:defRPr sz="1100"/>
              </a:lvl6pPr>
              <a:lvl7pPr indent="0">
                <a:defRPr sz="1100"/>
              </a:lvl7pPr>
              <a:lvl8pPr indent="0">
                <a:defRPr sz="1100"/>
              </a:lvl8pPr>
              <a:lvl9pPr indent="0">
                <a:defRPr sz="1100"/>
              </a:lvl9pPr>
            </a:lstStyle>
            <a:p>
              <a:r>
                <a:rPr lang="en-US" sz="2400" i="0" dirty="0">
                  <a:solidFill>
                    <a:srgbClr val="0000FF"/>
                  </a:solidFill>
                </a:rPr>
                <a:t>FSI –</a:t>
              </a:r>
              <a:r>
                <a:rPr lang="en-US" sz="2400" dirty="0">
                  <a:solidFill>
                    <a:srgbClr val="0000FF"/>
                  </a:solidFill>
                </a:rPr>
                <a:t> Fluid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-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Structure Interaction</a:t>
              </a:r>
              <a:endParaRPr lang="LID4096" sz="2800" dirty="0">
                <a:solidFill>
                  <a:srgbClr val="0000FF"/>
                </a:solidFill>
              </a:endParaRPr>
            </a:p>
          </p:txBody>
        </p:sp>
      </p:grpSp>
      <p:pic>
        <p:nvPicPr>
          <p:cNvPr id="22" name="Picture 4">
            <a:extLst>
              <a:ext uri="{FF2B5EF4-FFF2-40B4-BE49-F238E27FC236}">
                <a16:creationId xmlns:a16="http://schemas.microsoft.com/office/drawing/2014/main" id="{3187604D-67DE-972C-8C65-C7C199488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889" y="2567026"/>
            <a:ext cx="1865424" cy="15615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8072DCC-E31C-2B39-5872-F434A53FDAD9}"/>
              </a:ext>
            </a:extLst>
          </p:cNvPr>
          <p:cNvSpPr txBox="1"/>
          <p:nvPr/>
        </p:nvSpPr>
        <p:spPr>
          <a:xfrm>
            <a:off x="2726458" y="5446593"/>
            <a:ext cx="3535368" cy="12618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r">
              <a:defRPr/>
            </a:pPr>
            <a:r>
              <a:rPr lang="pt-BR" sz="28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CFD  </a:t>
            </a:r>
          </a:p>
          <a:p>
            <a:pPr lvl="0" algn="r">
              <a:defRPr/>
            </a:pPr>
            <a:r>
              <a:rPr lang="pt-BR" sz="24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Fluidodinâmica Computacional</a:t>
            </a:r>
            <a:endParaRPr lang="pt-BR" sz="24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9D2E8-8EE9-1D79-6CA1-CB86AE4CE007}"/>
              </a:ext>
            </a:extLst>
          </p:cNvPr>
          <p:cNvSpPr txBox="1"/>
          <p:nvPr/>
        </p:nvSpPr>
        <p:spPr>
          <a:xfrm>
            <a:off x="92649" y="1885403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AACB8-6577-8ADD-6ECA-ACC088CBEB3F}"/>
              </a:ext>
            </a:extLst>
          </p:cNvPr>
          <p:cNvSpPr txBox="1"/>
          <p:nvPr/>
        </p:nvSpPr>
        <p:spPr>
          <a:xfrm>
            <a:off x="264386" y="2197694"/>
            <a:ext cx="4161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noProof="0" dirty="0">
                <a:solidFill>
                  <a:srgbClr val="FF0000"/>
                </a:solidFill>
              </a:rPr>
              <a:t>Análise Estrutural 	</a:t>
            </a:r>
            <a:endParaRPr lang="pt-BR" sz="1400" b="1" i="1" noProof="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B1CBB-EEA5-8A49-7ABE-340A99B5BA07}"/>
              </a:ext>
            </a:extLst>
          </p:cNvPr>
          <p:cNvSpPr txBox="1"/>
          <p:nvPr/>
        </p:nvSpPr>
        <p:spPr>
          <a:xfrm>
            <a:off x="562643" y="5565492"/>
            <a:ext cx="29118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0000FF"/>
                </a:solidFill>
              </a:rPr>
              <a:t>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momento, energia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95001-3623-55B3-48B9-EB838E208526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329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0ECFE3-2D41-9A4D-2CA6-79E475C15769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5D1E5-5971-C9EF-56F5-6D0A4BEE46C2}"/>
              </a:ext>
            </a:extLst>
          </p:cNvPr>
          <p:cNvSpPr txBox="1"/>
          <p:nvPr/>
        </p:nvSpPr>
        <p:spPr>
          <a:xfrm>
            <a:off x="375220" y="903985"/>
            <a:ext cx="32894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FEM | Finite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Material contínuo – stress e deformação</a:t>
            </a:r>
            <a:endParaRPr lang="pt-BR" b="1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6BA448-BEA9-CB97-9C7B-3E7B90052A24}"/>
              </a:ext>
            </a:extLst>
          </p:cNvPr>
          <p:cNvSpPr txBox="1"/>
          <p:nvPr/>
        </p:nvSpPr>
        <p:spPr>
          <a:xfrm>
            <a:off x="3927287" y="903985"/>
            <a:ext cx="3375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 | Discrete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Interação de partículas</a:t>
            </a:r>
          </a:p>
          <a:p>
            <a:pPr algn="ctr"/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Escorregamento, aberturas</a:t>
            </a:r>
            <a:endParaRPr lang="pt-BR" b="1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C8C27-44E0-0546-F931-E45EBA93BD19}"/>
              </a:ext>
            </a:extLst>
          </p:cNvPr>
          <p:cNvSpPr txBox="1"/>
          <p:nvPr/>
        </p:nvSpPr>
        <p:spPr>
          <a:xfrm>
            <a:off x="7271818" y="912694"/>
            <a:ext cx="4513109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FDEM | Finite-Discrete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Combinação: </a:t>
            </a:r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deformação </a:t>
            </a:r>
          </a:p>
          <a:p>
            <a:pPr algn="ctr"/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+ interação de blocos = fraturas</a:t>
            </a:r>
            <a:endParaRPr lang="pt-BR" sz="2000" b="1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1ADC83-C321-1E01-AEA0-82953A101F7A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A7C8487-1AFC-2168-812A-03A580DB6F7F}"/>
              </a:ext>
            </a:extLst>
          </p:cNvPr>
          <p:cNvGrpSpPr>
            <a:grpSpLocks noChangeAspect="1"/>
          </p:cNvGrpSpPr>
          <p:nvPr/>
        </p:nvGrpSpPr>
        <p:grpSpPr>
          <a:xfrm>
            <a:off x="1247775" y="1998370"/>
            <a:ext cx="9143746" cy="2391566"/>
            <a:chOff x="779140" y="1831005"/>
            <a:chExt cx="9926706" cy="297024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75D0D32-EAAA-3652-EBC3-78978633F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81" t="16117" b="48462"/>
            <a:stretch>
              <a:fillRect/>
            </a:stretch>
          </p:blipFill>
          <p:spPr>
            <a:xfrm>
              <a:off x="8369951" y="1831005"/>
              <a:ext cx="2335895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5C040F1-2E46-8BAC-ABB0-2B5C1C32C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75" t="16117" r="33465" b="48462"/>
            <a:stretch>
              <a:fillRect/>
            </a:stretch>
          </p:blipFill>
          <p:spPr>
            <a:xfrm>
              <a:off x="4410092" y="1840555"/>
              <a:ext cx="2409690" cy="296069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92686D-5195-F561-F218-0FCD3B83C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7" t="16117" r="67064" b="48462"/>
            <a:stretch>
              <a:fillRect/>
            </a:stretch>
          </p:blipFill>
          <p:spPr>
            <a:xfrm>
              <a:off x="779140" y="1840556"/>
              <a:ext cx="2481582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1BF80DB-5FB3-F14F-9A5F-2C1AD5896DD2}"/>
              </a:ext>
            </a:extLst>
          </p:cNvPr>
          <p:cNvGrpSpPr/>
          <p:nvPr/>
        </p:nvGrpSpPr>
        <p:grpSpPr>
          <a:xfrm>
            <a:off x="602306" y="4668171"/>
            <a:ext cx="3033610" cy="1858606"/>
            <a:chOff x="481116" y="4743855"/>
            <a:chExt cx="3033610" cy="1858606"/>
          </a:xfrm>
        </p:grpSpPr>
        <p:sp>
          <p:nvSpPr>
            <p:cNvPr id="2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2386D903-222E-8DAB-32FC-FECE345707C8}"/>
                </a:ext>
              </a:extLst>
            </p:cNvPr>
            <p:cNvSpPr txBox="1"/>
            <p:nvPr/>
          </p:nvSpPr>
          <p:spPr>
            <a:xfrm>
              <a:off x="481116" y="4743855"/>
              <a:ext cx="3033610" cy="185860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182880" tIns="137160" rIns="182880" bIns="91440" anchor="t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2400" b="1" u="sng" dirty="0">
                  <a:solidFill>
                    <a:srgbClr val="0000FF"/>
                  </a:solidFill>
                  <a:latin typeface="Calibri (Body)"/>
                </a:rPr>
                <a:t>Finite-difference</a:t>
              </a:r>
            </a:p>
            <a:p>
              <a:r>
                <a:rPr lang="en-GB" sz="2400" b="1" dirty="0">
                  <a:solidFill>
                    <a:srgbClr val="0000FF"/>
                  </a:solidFill>
                  <a:latin typeface="Calibri (Body)"/>
                </a:rPr>
                <a:t>  </a:t>
              </a:r>
              <a:r>
                <a:rPr lang="en-GB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MODFLOW</a:t>
              </a:r>
            </a:p>
            <a:p>
              <a:endParaRPr lang="en-GB" sz="1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endParaRPr>
            </a:p>
            <a:p>
              <a:r>
                <a:rPr lang="en-GB" sz="2400" b="1" u="sng" dirty="0">
                  <a:solidFill>
                    <a:srgbClr val="FF0000"/>
                  </a:solidFill>
                  <a:latin typeface="Calibri (Body)"/>
                </a:rPr>
                <a:t>Finite-volume</a:t>
              </a:r>
            </a:p>
            <a:p>
              <a:r>
                <a:rPr lang="en-US" sz="2400" dirty="0">
                  <a:solidFill>
                    <a:srgbClr val="FF0000"/>
                  </a:solidFill>
                  <a:latin typeface="Calibri (Body)"/>
                </a:rPr>
                <a:t>  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OpenFOAM, </a:t>
              </a:r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Fi</a:t>
              </a:r>
              <a:r>
                <a:rPr lang="pt-BR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Py</a:t>
              </a:r>
            </a:p>
          </p:txBody>
        </p:sp>
        <p:sp>
          <p:nvSpPr>
            <p:cNvPr id="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F88326D3-A093-B7BE-2E82-E620740886C1}"/>
                </a:ext>
              </a:extLst>
            </p:cNvPr>
            <p:cNvSpPr txBox="1"/>
            <p:nvPr/>
          </p:nvSpPr>
          <p:spPr>
            <a:xfrm>
              <a:off x="2846730" y="4822577"/>
              <a:ext cx="533164" cy="3474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FDM</a:t>
              </a:r>
              <a:endParaRPr lang="en-GB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DCE87608-81A5-9AD5-9DFE-0B3859404E17}"/>
                </a:ext>
              </a:extLst>
            </p:cNvPr>
            <p:cNvSpPr txBox="1"/>
            <p:nvPr/>
          </p:nvSpPr>
          <p:spPr>
            <a:xfrm>
              <a:off x="2846730" y="5712519"/>
              <a:ext cx="533164" cy="3474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FVM</a:t>
              </a:r>
              <a:endParaRPr lang="en-GB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pic>
        <p:nvPicPr>
          <p:cNvPr id="7" name="Picture 2" descr="Coupling of FEM and DEM simulations to consider dynamic deformations under  particle load | Granular Matter | Springer Nature Link">
            <a:extLst>
              <a:ext uri="{FF2B5EF4-FFF2-40B4-BE49-F238E27FC236}">
                <a16:creationId xmlns:a16="http://schemas.microsoft.com/office/drawing/2014/main" id="{BBAD27A5-9D7B-6DED-DBD5-72193CC639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68"/>
          <a:stretch>
            <a:fillRect/>
          </a:stretch>
        </p:blipFill>
        <p:spPr bwMode="auto">
          <a:xfrm>
            <a:off x="4600321" y="4516288"/>
            <a:ext cx="5791200" cy="2162373"/>
          </a:xfrm>
          <a:prstGeom prst="rect">
            <a:avLst/>
          </a:prstGeom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807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224F62-85DE-5919-A7A4-4EC5D1F01FE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-1" y="6491538"/>
            <a:ext cx="936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600" dirty="0"/>
              <a:t>  Modelling and simulation of metal additive manufacturing processes </a:t>
            </a:r>
            <a:r>
              <a:rPr lang="en-GB" sz="18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with particle methods</a:t>
            </a:r>
            <a:r>
              <a:rPr lang="en-GB" sz="16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LID4096" sz="16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472BB-24B5-FFD0-70FD-00E7E49A772B}"/>
              </a:ext>
            </a:extLst>
          </p:cNvPr>
          <p:cNvGrpSpPr/>
          <p:nvPr/>
        </p:nvGrpSpPr>
        <p:grpSpPr>
          <a:xfrm>
            <a:off x="7267080" y="3488585"/>
            <a:ext cx="4777212" cy="1118298"/>
            <a:chOff x="7276605" y="3717185"/>
            <a:chExt cx="4777212" cy="111829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FBDAC9-8C53-45F9-5A4A-32D1EEBC4BCA}"/>
                </a:ext>
              </a:extLst>
            </p:cNvPr>
            <p:cNvSpPr/>
            <p:nvPr/>
          </p:nvSpPr>
          <p:spPr>
            <a:xfrm>
              <a:off x="7276605" y="3738145"/>
              <a:ext cx="4777212" cy="1097338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B4C5E1-8721-4AAF-60A1-3B843C65F5A1}"/>
                </a:ext>
              </a:extLst>
            </p:cNvPr>
            <p:cNvGrpSpPr/>
            <p:nvPr/>
          </p:nvGrpSpPr>
          <p:grpSpPr>
            <a:xfrm>
              <a:off x="7383388" y="3717185"/>
              <a:ext cx="4584703" cy="1087315"/>
              <a:chOff x="7312398" y="3950366"/>
              <a:chExt cx="4584703" cy="108731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735A3EF-D08A-12CC-3C13-206EE46C92C4}"/>
                  </a:ext>
                </a:extLst>
              </p:cNvPr>
              <p:cNvSpPr txBox="1"/>
              <p:nvPr/>
            </p:nvSpPr>
            <p:spPr>
              <a:xfrm>
                <a:off x="7459308" y="3950366"/>
                <a:ext cx="253141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32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ML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algorithms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213B0C6-69EB-AA10-8CF9-B16BCBEFDD77}"/>
                  </a:ext>
                </a:extLst>
              </p:cNvPr>
              <p:cNvSpPr txBox="1"/>
              <p:nvPr/>
            </p:nvSpPr>
            <p:spPr>
              <a:xfrm>
                <a:off x="7312398" y="4576016"/>
                <a:ext cx="458470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2400" b="1" dirty="0"/>
                  <a:t>physics-based 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 </a:t>
                </a:r>
                <a:r>
                  <a:rPr lang="LID4096" sz="2400" b="1" dirty="0">
                    <a:highlight>
                      <a:srgbClr val="FFFF00"/>
                    </a:highlight>
                  </a:rPr>
                  <a:t>surrogate </a:t>
                </a:r>
                <a:r>
                  <a:rPr lang="pt-BR" sz="2400" b="1" dirty="0">
                    <a:highlight>
                      <a:srgbClr val="FFFF00"/>
                    </a:highlight>
                  </a:rPr>
                  <a:t>models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</a:t>
                </a:r>
                <a:endParaRPr lang="LID4096" sz="2400" b="1" dirty="0">
                  <a:highlight>
                    <a:srgbClr val="FFFF00"/>
                  </a:highlight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1378598"/>
            <a:ext cx="11762308" cy="3226958"/>
            <a:chOff x="291509" y="1386415"/>
            <a:chExt cx="11762308" cy="3226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4576" r="43519"/>
            <a:stretch>
              <a:fillRect/>
            </a:stretch>
          </p:blipFill>
          <p:spPr>
            <a:xfrm>
              <a:off x="291509" y="1386415"/>
              <a:ext cx="6730766" cy="32269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t="24662" b="28137"/>
            <a:stretch>
              <a:fillRect/>
            </a:stretch>
          </p:blipFill>
          <p:spPr>
            <a:xfrm>
              <a:off x="7276605" y="1403275"/>
              <a:ext cx="4777212" cy="204456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97447" y="355674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7" y="1394652"/>
              <a:ext cx="2368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b="1" dirty="0">
                  <a:solidFill>
                    <a:srgbClr val="FF0000"/>
                  </a:solidFill>
                </a:rPr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E38427-47BD-60F9-EFE1-816AAC792B33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2E1C13F-BF03-2A7B-DB0D-D1A9AD5EDE8B}"/>
              </a:ext>
            </a:extLst>
          </p:cNvPr>
          <p:cNvSpPr/>
          <p:nvPr/>
        </p:nvSpPr>
        <p:spPr>
          <a:xfrm>
            <a:off x="4586200" y="2100204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A3FA29-3C4D-906A-3C33-FB0E63523A03}"/>
              </a:ext>
            </a:extLst>
          </p:cNvPr>
          <p:cNvSpPr/>
          <p:nvPr/>
        </p:nvSpPr>
        <p:spPr>
          <a:xfrm>
            <a:off x="2557757" y="1836822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Grid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140BBDA6-9A25-E367-8650-1FC54D6F0E2D}"/>
              </a:ext>
            </a:extLst>
          </p:cNvPr>
          <p:cNvSpPr/>
          <p:nvPr/>
        </p:nvSpPr>
        <p:spPr>
          <a:xfrm>
            <a:off x="4575667" y="2684112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797BDB67-1204-ADD4-BB75-EAF0FA40D622}"/>
              </a:ext>
            </a:extLst>
          </p:cNvPr>
          <p:cNvSpPr/>
          <p:nvPr/>
        </p:nvSpPr>
        <p:spPr>
          <a:xfrm>
            <a:off x="4575667" y="3228921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B3A00913-5101-9C13-56E5-BE037B499771}"/>
              </a:ext>
            </a:extLst>
          </p:cNvPr>
          <p:cNvSpPr/>
          <p:nvPr/>
        </p:nvSpPr>
        <p:spPr>
          <a:xfrm>
            <a:off x="722185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82ED7DD-8A99-8411-C77E-318D2B85AB8E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45" y="915782"/>
            <a:ext cx="10313066" cy="420727"/>
            <a:chOff x="1538445" y="998464"/>
            <a:chExt cx="10313066" cy="29994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A5AB33-B365-06CE-7250-B8D2207B27E2}"/>
                </a:ext>
              </a:extLst>
            </p:cNvPr>
            <p:cNvSpPr/>
            <p:nvPr/>
          </p:nvSpPr>
          <p:spPr>
            <a:xfrm>
              <a:off x="480796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 based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4CEBBE-8D0D-63C1-55BF-D225E705E803}"/>
                </a:ext>
              </a:extLst>
            </p:cNvPr>
            <p:cNvSpPr/>
            <p:nvPr/>
          </p:nvSpPr>
          <p:spPr>
            <a:xfrm>
              <a:off x="153844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Mesh-free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A68D285-DE6B-1E43-C3D9-6A6151C672D7}"/>
                </a:ext>
              </a:extLst>
            </p:cNvPr>
            <p:cNvSpPr/>
            <p:nvPr/>
          </p:nvSpPr>
          <p:spPr>
            <a:xfrm>
              <a:off x="7469113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Deterministic</a:t>
              </a:r>
              <a:endParaRPr lang="en-US" sz="2400" b="1" noProof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47005E6-D948-34E4-6290-F72D65977635}"/>
                </a:ext>
              </a:extLst>
            </p:cNvPr>
            <p:cNvSpPr/>
            <p:nvPr/>
          </p:nvSpPr>
          <p:spPr>
            <a:xfrm>
              <a:off x="9816678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Stochastic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252520" y="4745337"/>
            <a:ext cx="47345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simulation-informed </a:t>
            </a:r>
          </a:p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closed-loop control feedback </a:t>
            </a:r>
            <a:r>
              <a:rPr lang="en-GB" sz="2800" b="1" i="0" u="none" strike="noStrike" baseline="0" dirty="0">
                <a:solidFill>
                  <a:srgbClr val="FF0000"/>
                </a:solidFill>
                <a:latin typeface="AdvOT46dcae81"/>
              </a:rPr>
              <a:t>real-time monitoring systems</a:t>
            </a:r>
            <a:endParaRPr lang="LID4096" sz="2800" b="1" dirty="0">
              <a:solidFill>
                <a:srgbClr val="FF0000"/>
              </a:solidFill>
            </a:endParaRPr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CD19762E-1D12-FE12-D6A0-3E4046329B3E}"/>
              </a:ext>
            </a:extLst>
          </p:cNvPr>
          <p:cNvSpPr/>
          <p:nvPr/>
        </p:nvSpPr>
        <p:spPr>
          <a:xfrm>
            <a:off x="252520" y="3926918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2CD8C851-703D-BC14-E36E-33D56EEBCB80}"/>
              </a:ext>
            </a:extLst>
          </p:cNvPr>
          <p:cNvSpPr/>
          <p:nvPr/>
        </p:nvSpPr>
        <p:spPr>
          <a:xfrm>
            <a:off x="221461" y="2108444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C99EC9EE-22F1-364E-BF5D-932FF000DA59}"/>
              </a:ext>
            </a:extLst>
          </p:cNvPr>
          <p:cNvSpPr/>
          <p:nvPr/>
        </p:nvSpPr>
        <p:spPr>
          <a:xfrm>
            <a:off x="236464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F295761-EECA-B3D1-EDA7-E11A7AAEE1C7}"/>
              </a:ext>
            </a:extLst>
          </p:cNvPr>
          <p:cNvGrpSpPr/>
          <p:nvPr/>
        </p:nvGrpSpPr>
        <p:grpSpPr>
          <a:xfrm>
            <a:off x="4962525" y="4738626"/>
            <a:ext cx="7091293" cy="1723255"/>
            <a:chOff x="-108132" y="4740421"/>
            <a:chExt cx="7091293" cy="172325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EADCAF4-653D-AAB8-F5D7-F15732EEDAA3}"/>
                </a:ext>
              </a:extLst>
            </p:cNvPr>
            <p:cNvSpPr/>
            <p:nvPr/>
          </p:nvSpPr>
          <p:spPr>
            <a:xfrm>
              <a:off x="-108132" y="4740421"/>
              <a:ext cx="7086516" cy="1723255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FF4B0D7-6BB9-1323-2A86-D6C9CA2D9D06}"/>
                </a:ext>
              </a:extLst>
            </p:cNvPr>
            <p:cNvGrpSpPr/>
            <p:nvPr/>
          </p:nvGrpSpPr>
          <p:grpSpPr>
            <a:xfrm>
              <a:off x="281984" y="4755936"/>
              <a:ext cx="6701177" cy="1647114"/>
              <a:chOff x="3960177" y="3941471"/>
              <a:chExt cx="6701177" cy="1647114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030490-DB93-F4DC-BB3A-9280CD14D85B}"/>
                  </a:ext>
                </a:extLst>
              </p:cNvPr>
              <p:cNvSpPr txBox="1"/>
              <p:nvPr/>
            </p:nvSpPr>
            <p:spPr>
              <a:xfrm>
                <a:off x="5629811" y="3941471"/>
                <a:ext cx="5031543" cy="892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/>
                  <a:t>01 - </a:t>
                </a:r>
                <a:r>
                  <a:rPr lang="LID4096" sz="2400" b="1" dirty="0"/>
                  <a:t>finite element analysis 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(FEA)</a:t>
                </a:r>
                <a:endParaRPr lang="pt-BR" sz="3200" b="1" dirty="0"/>
              </a:p>
              <a:p>
                <a:r>
                  <a:rPr lang="pt-BR" sz="2400" b="1" dirty="0"/>
                  <a:t>02 - </a:t>
                </a:r>
                <a:r>
                  <a:rPr lang="LID4096" sz="2400" b="1" u="sng" dirty="0">
                    <a:solidFill>
                      <a:srgbClr val="FF0000"/>
                    </a:solidFill>
                  </a:rPr>
                  <a:t>phase-field modeling</a:t>
                </a:r>
                <a:r>
                  <a:rPr lang="LID4096" sz="2400" b="1" dirty="0"/>
                  <a:t> techniques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CD4E9B6-2A00-FB75-CE18-635A77908225}"/>
                  </a:ext>
                </a:extLst>
              </p:cNvPr>
              <p:cNvSpPr txBox="1"/>
              <p:nvPr/>
            </p:nvSpPr>
            <p:spPr>
              <a:xfrm>
                <a:off x="3960177" y="5203864"/>
                <a:ext cx="6498870" cy="3847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1900" b="1" dirty="0">
                    <a:solidFill>
                      <a:srgbClr val="0000FF"/>
                    </a:solidFill>
                  </a:rPr>
                  <a:t>heat flow, temperature,</a:t>
                </a:r>
                <a:r>
                  <a:rPr lang="pt-BR" sz="1900" b="1" dirty="0">
                    <a:solidFill>
                      <a:srgbClr val="0000FF"/>
                    </a:solidFill>
                  </a:rPr>
                  <a:t> </a:t>
                </a:r>
                <a:r>
                  <a:rPr lang="LID4096" sz="1900" b="1" dirty="0">
                    <a:solidFill>
                      <a:srgbClr val="0000FF"/>
                    </a:solidFill>
                  </a:rPr>
                  <a:t>and stress evolution during deposition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02E9AB0-1B66-2B81-8AA7-7E094D7F3C7E}"/>
                  </a:ext>
                </a:extLst>
              </p:cNvPr>
              <p:cNvSpPr txBox="1"/>
              <p:nvPr/>
            </p:nvSpPr>
            <p:spPr>
              <a:xfrm>
                <a:off x="4481246" y="3945738"/>
                <a:ext cx="11101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400" b="1" i="0" strike="noStrike" baseline="0" dirty="0">
                    <a:solidFill>
                      <a:srgbClr val="FF0000"/>
                    </a:solidFill>
                    <a:latin typeface="Calibri (Body)"/>
                  </a:rPr>
                  <a:t>Macro</a:t>
                </a:r>
                <a:endParaRPr lang="LID4096" dirty="0">
                  <a:latin typeface="Calibri (Body)"/>
                </a:endParaRPr>
              </a:p>
            </p:txBody>
          </p:sp>
        </p:grp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D3F4970-4AFF-7764-2D24-7C73ECF0502E}"/>
              </a:ext>
            </a:extLst>
          </p:cNvPr>
          <p:cNvSpPr/>
          <p:nvPr/>
        </p:nvSpPr>
        <p:spPr>
          <a:xfrm>
            <a:off x="5125245" y="5234440"/>
            <a:ext cx="1036163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6B12A4C-502A-255B-CB45-FCB1C7AB3335}"/>
              </a:ext>
            </a:extLst>
          </p:cNvPr>
          <p:cNvSpPr/>
          <p:nvPr/>
        </p:nvSpPr>
        <p:spPr>
          <a:xfrm>
            <a:off x="5404423" y="5675031"/>
            <a:ext cx="2666540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optimization</a:t>
            </a:r>
            <a:endParaRPr lang="pt-BR" sz="24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400A28-C32A-D2D7-ACF9-31E3343BACE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6"/>
            <a:ext cx="6498785" cy="31058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5229225" y="3167451"/>
            <a:ext cx="6727386" cy="34302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CF2BD-C67F-5ACC-D491-17626E9EAB52}"/>
              </a:ext>
            </a:extLst>
          </p:cNvPr>
          <p:cNvSpPr txBox="1"/>
          <p:nvPr/>
        </p:nvSpPr>
        <p:spPr>
          <a:xfrm>
            <a:off x="6734175" y="199176"/>
            <a:ext cx="22424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Meso-scale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0EE05-7867-89D0-799C-C63BC7F1966C}"/>
              </a:ext>
            </a:extLst>
          </p:cNvPr>
          <p:cNvSpPr txBox="1"/>
          <p:nvPr/>
        </p:nvSpPr>
        <p:spPr>
          <a:xfrm>
            <a:off x="7123362" y="1126485"/>
            <a:ext cx="38887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none" strike="noStrike" dirty="0">
                <a:latin typeface="Google Sans"/>
              </a:rPr>
              <a:t>Mult—physics </a:t>
            </a:r>
          </a:p>
          <a:p>
            <a:r>
              <a:rPr lang="en-GB" sz="2800" b="1" dirty="0">
                <a:latin typeface="Google Sans"/>
              </a:rPr>
              <a:t>Mult—Dimensional</a:t>
            </a:r>
            <a:endParaRPr lang="LID4096" sz="2800" b="1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C0D5A00-1278-CD54-B9FC-DA51386D6C48}"/>
              </a:ext>
            </a:extLst>
          </p:cNvPr>
          <p:cNvGrpSpPr/>
          <p:nvPr/>
        </p:nvGrpSpPr>
        <p:grpSpPr>
          <a:xfrm>
            <a:off x="410242" y="3960801"/>
            <a:ext cx="3815509" cy="2412310"/>
            <a:chOff x="8057771" y="-55836"/>
            <a:chExt cx="3815509" cy="241231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/>
                <p:nvPr/>
              </p:nvSpPr>
              <p:spPr>
                <a:xfrm>
                  <a:off x="8144695" y="-55836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4695" y="-55836"/>
                  <a:ext cx="1362232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/>
                <p:nvPr/>
              </p:nvSpPr>
              <p:spPr>
                <a:xfrm>
                  <a:off x="8144695" y="62540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4695" y="625400"/>
                  <a:ext cx="3728585" cy="629468"/>
                </a:xfrm>
                <a:prstGeom prst="rect">
                  <a:avLst/>
                </a:prstGeom>
                <a:blipFill>
                  <a:blip r:embed="rId5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/>
                <p:nvPr/>
              </p:nvSpPr>
              <p:spPr>
                <a:xfrm>
                  <a:off x="8057771" y="1537211"/>
                  <a:ext cx="3382336" cy="81926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7771" y="1537211"/>
                  <a:ext cx="3382336" cy="8192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EC9B11-0753-3A0B-C1F7-30438CA0A2D0}"/>
              </a:ext>
            </a:extLst>
          </p:cNvPr>
          <p:cNvSpPr txBox="1"/>
          <p:nvPr/>
        </p:nvSpPr>
        <p:spPr>
          <a:xfrm>
            <a:off x="2405872" y="5237297"/>
            <a:ext cx="2434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pPr algn="r"/>
            <a:r>
              <a:rPr lang="pt-BR" sz="2400" noProof="0" dirty="0"/>
              <a:t>Momento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12775-DC6B-D77D-4604-068B196824F0}"/>
              </a:ext>
            </a:extLst>
          </p:cNvPr>
          <p:cNvSpPr txBox="1"/>
          <p:nvPr/>
        </p:nvSpPr>
        <p:spPr>
          <a:xfrm>
            <a:off x="2292720" y="3936503"/>
            <a:ext cx="2434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pPr algn="r"/>
            <a:r>
              <a:rPr lang="pt-BR" sz="2400" dirty="0"/>
              <a:t>Continuidade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9ACD7C-41F1-5A32-5126-DC3A746A5BE9}"/>
              </a:ext>
            </a:extLst>
          </p:cNvPr>
          <p:cNvSpPr txBox="1"/>
          <p:nvPr/>
        </p:nvSpPr>
        <p:spPr>
          <a:xfrm>
            <a:off x="2130438" y="6182289"/>
            <a:ext cx="2434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pPr algn="r"/>
            <a:r>
              <a:rPr lang="pt-BR" sz="2400" dirty="0"/>
              <a:t>Energia</a:t>
            </a:r>
            <a:endParaRPr lang="pt-BR" sz="3600" noProof="0" dirty="0"/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600C5800-42C7-D5ED-4031-77CF300969A8}"/>
              </a:ext>
            </a:extLst>
          </p:cNvPr>
          <p:cNvSpPr/>
          <p:nvPr/>
        </p:nvSpPr>
        <p:spPr>
          <a:xfrm>
            <a:off x="287654" y="1638299"/>
            <a:ext cx="11670967" cy="39436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875C080-361E-0623-F0F2-42B93ECE40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708" b="3135"/>
          <a:stretch>
            <a:fillRect/>
          </a:stretch>
        </p:blipFill>
        <p:spPr>
          <a:xfrm>
            <a:off x="296363" y="4870844"/>
            <a:ext cx="11616517" cy="976879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287655" y="250003"/>
            <a:ext cx="11625225" cy="6242543"/>
            <a:chOff x="598919" y="565429"/>
            <a:chExt cx="10859799" cy="59159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98919" y="565429"/>
              <a:ext cx="10859799" cy="5915976"/>
              <a:chOff x="598919" y="565429"/>
              <a:chExt cx="10859799" cy="5915976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1F4CE9-F311-EE29-6519-1396E63DC8DB}"/>
                  </a:ext>
                </a:extLst>
              </p:cNvPr>
              <p:cNvSpPr txBox="1"/>
              <p:nvPr/>
            </p:nvSpPr>
            <p:spPr>
              <a:xfrm>
                <a:off x="598919" y="5868659"/>
                <a:ext cx="10859799" cy="612746"/>
              </a:xfrm>
              <a:prstGeom prst="rect">
                <a:avLst/>
              </a:prstGeom>
              <a:solidFill>
                <a:srgbClr val="E5FFF6"/>
              </a:solidFill>
              <a:ln>
                <a:noFill/>
              </a:ln>
            </p:spPr>
            <p:txBody>
              <a:bodyPr wrap="square" lIns="0" tIns="0" rIns="182880" bIns="0" anchor="ctr" anchorCtr="0">
                <a:noAutofit/>
              </a:bodyPr>
              <a:lstStyle/>
              <a:p>
                <a:pPr algn="r"/>
                <a:r>
                  <a:rPr lang="en-GB" sz="1900" b="1" u="none" strike="noStrike" dirty="0">
                    <a:solidFill>
                      <a:srgbClr val="0000FF"/>
                    </a:solidFill>
                    <a:effectLst/>
                    <a:latin typeface="Google Sans"/>
                  </a:rPr>
                  <a:t>“… the basis of how the simulation solver is modelled and </a:t>
                </a:r>
              </a:p>
              <a:p>
                <a:pPr algn="r"/>
                <a:r>
                  <a:rPr lang="en-GB" sz="1900" b="1" u="none" strike="noStrike" dirty="0">
                    <a:solidFill>
                      <a:srgbClr val="FF0000"/>
                    </a:solidFill>
                    <a:effectLst/>
                    <a:latin typeface="Google Sans"/>
                  </a:rPr>
                  <a:t>how we can rely on the data that has been predicted </a:t>
                </a:r>
                <a:r>
                  <a:rPr lang="en-GB" sz="1900" b="1" u="none" strike="noStrike" dirty="0">
                    <a:solidFill>
                      <a:srgbClr val="00B050"/>
                    </a:solidFill>
                    <a:effectLst/>
                    <a:latin typeface="Google Sans"/>
                  </a:rPr>
                  <a:t>… based on this robust physic equations that are provided ” </a:t>
                </a:r>
                <a:endParaRPr lang="LID4096" sz="1900" b="1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FA345EE5-1FBC-C64A-AA9E-36628533B164}"/>
                  </a:ext>
                </a:extLst>
              </p:cNvPr>
              <p:cNvSpPr/>
              <p:nvPr/>
            </p:nvSpPr>
            <p:spPr>
              <a:xfrm>
                <a:off x="8947087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68520981-5B4A-BFEB-72E1-C0718E35858C}"/>
                  </a:ext>
                </a:extLst>
              </p:cNvPr>
              <p:cNvSpPr/>
              <p:nvPr/>
            </p:nvSpPr>
            <p:spPr>
              <a:xfrm>
                <a:off x="10631031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7624961" y="582488"/>
              <a:ext cx="307274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653784" y="6547921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800" dirty="0"/>
              <a:t>AM PravaH®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EE5D95-2C59-C92D-77B7-C154AE597321}"/>
              </a:ext>
            </a:extLst>
          </p:cNvPr>
          <p:cNvSpPr txBox="1"/>
          <p:nvPr/>
        </p:nvSpPr>
        <p:spPr>
          <a:xfrm>
            <a:off x="419034" y="999131"/>
            <a:ext cx="11277666" cy="4924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600" b="1" u="sng" strike="noStrike" dirty="0">
                <a:latin typeface="Calibri (Body)"/>
              </a:rPr>
              <a:t>Incompressible</a:t>
            </a:r>
            <a:r>
              <a:rPr lang="en-GB" sz="2600" b="1" u="sng" dirty="0">
                <a:latin typeface="Calibri (Body)"/>
              </a:rPr>
              <a:t>, multiphase flow with surface tension and phase change</a:t>
            </a:r>
            <a:endParaRPr lang="LID4096" sz="2600" b="1" u="sng" dirty="0">
              <a:latin typeface="Calibri (Body)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/>
              <p:nvPr/>
            </p:nvSpPr>
            <p:spPr>
              <a:xfrm>
                <a:off x="4754992" y="1667255"/>
                <a:ext cx="2471382" cy="62946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</m:num>
                      <m:den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992" y="1667255"/>
                <a:ext cx="2471382" cy="629468"/>
              </a:xfrm>
              <a:prstGeom prst="rect">
                <a:avLst/>
              </a:prstGeom>
              <a:blipFill>
                <a:blip r:embed="rId4"/>
                <a:stretch>
                  <a:fillRect b="-201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AC9FB577-F992-4E60-14EB-5332DB8C4422}"/>
              </a:ext>
            </a:extLst>
          </p:cNvPr>
          <p:cNvSpPr txBox="1"/>
          <p:nvPr/>
        </p:nvSpPr>
        <p:spPr>
          <a:xfrm>
            <a:off x="296363" y="1781146"/>
            <a:ext cx="4277654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400" b="1" u="none" strike="noStrike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Volum</a:t>
            </a:r>
            <a:r>
              <a:rPr lang="en-GB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 of fluid method (VOF)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/>
              <p:nvPr/>
            </p:nvSpPr>
            <p:spPr>
              <a:xfrm>
                <a:off x="7583384" y="1558364"/>
                <a:ext cx="1675243" cy="1077218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Volume of</a:t>
                </a:r>
              </a:p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fraction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pt-BR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 = V</a:t>
                </a:r>
                <a:r>
                  <a:rPr lang="en-GB" sz="2400" b="1" baseline="-25000" dirty="0">
                    <a:solidFill>
                      <a:srgbClr val="FF0000"/>
                    </a:solidFill>
                    <a:latin typeface="Google Sans"/>
                  </a:rPr>
                  <a:t>i </a:t>
                </a:r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/ V</a:t>
                </a:r>
                <a:endParaRPr lang="LID4096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84" y="1558364"/>
                <a:ext cx="1675243" cy="1077218"/>
              </a:xfrm>
              <a:prstGeom prst="rect">
                <a:avLst/>
              </a:prstGeom>
              <a:blipFill>
                <a:blip r:embed="rId5"/>
                <a:stretch>
                  <a:fillRect t="-3409" b="-12500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66D263D-FFFF-06AA-141B-E74D0F87AFD0}"/>
              </a:ext>
            </a:extLst>
          </p:cNvPr>
          <p:cNvSpPr txBox="1"/>
          <p:nvPr/>
        </p:nvSpPr>
        <p:spPr>
          <a:xfrm>
            <a:off x="314505" y="2663008"/>
            <a:ext cx="580052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Continuity Equation (mass conservation)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/>
              <p:nvPr/>
            </p:nvSpPr>
            <p:spPr>
              <a:xfrm>
                <a:off x="5864142" y="2646617"/>
                <a:ext cx="136223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𝒖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142" y="2646617"/>
                <a:ext cx="136223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5957222-A3DB-85F2-F22A-343ED12BEC06}"/>
              </a:ext>
            </a:extLst>
          </p:cNvPr>
          <p:cNvSpPr txBox="1"/>
          <p:nvPr/>
        </p:nvSpPr>
        <p:spPr>
          <a:xfrm>
            <a:off x="7895507" y="4329607"/>
            <a:ext cx="38887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Laser heat input       latent input 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/>
              <p:nvPr/>
            </p:nvSpPr>
            <p:spPr>
              <a:xfrm>
                <a:off x="9410765" y="1614848"/>
                <a:ext cx="2265797" cy="923330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0 (solid)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1 (liquid)</a:t>
                </a:r>
                <a:endParaRPr lang="LID4096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&lt; 0 (interface)</a:t>
                </a:r>
                <a:endParaRPr lang="LID4096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0765" y="1614848"/>
                <a:ext cx="2265797" cy="923330"/>
              </a:xfrm>
              <a:prstGeom prst="rect">
                <a:avLst/>
              </a:prstGeom>
              <a:blipFill>
                <a:blip r:embed="rId7"/>
                <a:stretch>
                  <a:fillRect t="-3974" b="-993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E46C37BF-E976-8AA5-2002-7B282F7CB412}"/>
              </a:ext>
            </a:extLst>
          </p:cNvPr>
          <p:cNvSpPr txBox="1"/>
          <p:nvPr/>
        </p:nvSpPr>
        <p:spPr>
          <a:xfrm>
            <a:off x="383670" y="226880"/>
            <a:ext cx="4931280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3200" b="1" u="sng" strike="noStrike" dirty="0">
                <a:latin typeface="Calibri (Body)"/>
              </a:rPr>
              <a:t>CFD Methodology</a:t>
            </a:r>
            <a:endParaRPr lang="LID4096" sz="3200" b="1" u="sng" dirty="0">
              <a:latin typeface="Calibri (Body)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135F60-F138-044C-DEEB-BE10A10F14B1}"/>
              </a:ext>
            </a:extLst>
          </p:cNvPr>
          <p:cNvSpPr txBox="1"/>
          <p:nvPr/>
        </p:nvSpPr>
        <p:spPr>
          <a:xfrm>
            <a:off x="383670" y="5214189"/>
            <a:ext cx="2693595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Energy conservation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07E8784-62C9-8E9E-031E-8672EBE9D17A}"/>
              </a:ext>
            </a:extLst>
          </p:cNvPr>
          <p:cNvGrpSpPr/>
          <p:nvPr/>
        </p:nvGrpSpPr>
        <p:grpSpPr>
          <a:xfrm>
            <a:off x="296363" y="2750425"/>
            <a:ext cx="11616517" cy="1585157"/>
            <a:chOff x="296363" y="2598025"/>
            <a:chExt cx="11616517" cy="1585157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2EBD62A-9AA4-2364-9DB5-A2E80B72F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9089" b="22256"/>
            <a:stretch>
              <a:fillRect/>
            </a:stretch>
          </p:blipFill>
          <p:spPr>
            <a:xfrm>
              <a:off x="296363" y="3121027"/>
              <a:ext cx="11616517" cy="1062155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3B91431-B75F-3489-710F-E4303CA16694}"/>
                </a:ext>
              </a:extLst>
            </p:cNvPr>
            <p:cNvSpPr txBox="1"/>
            <p:nvPr/>
          </p:nvSpPr>
          <p:spPr>
            <a:xfrm>
              <a:off x="314505" y="3400569"/>
              <a:ext cx="2807896" cy="4538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Momentum conservation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F1E3B3D-BF74-FBBD-5231-49BE03323EE8}"/>
                </a:ext>
              </a:extLst>
            </p:cNvPr>
            <p:cNvSpPr txBox="1"/>
            <p:nvPr/>
          </p:nvSpPr>
          <p:spPr>
            <a:xfrm>
              <a:off x="9467850" y="2598025"/>
              <a:ext cx="2265796" cy="7078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Surface tension </a:t>
              </a:r>
            </a:p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Marangoni force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59159-463A-4515-3BBE-CC0F1379AAB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254049" y="1965842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695714" y="5239373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000" b="1" dirty="0">
                <a:solidFill>
                  <a:srgbClr val="0000FF"/>
                </a:solidFill>
              </a:rPr>
              <a:t>Temperature,</a:t>
            </a:r>
            <a:r>
              <a:rPr lang="pt-BR" sz="2000" b="1" dirty="0">
                <a:solidFill>
                  <a:srgbClr val="0000FF"/>
                </a:solidFill>
              </a:rPr>
              <a:t> </a:t>
            </a:r>
            <a:r>
              <a:rPr lang="LID4096" sz="2000" b="1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b="1" dirty="0">
              <a:solidFill>
                <a:srgbClr val="FF0000"/>
              </a:solidFill>
            </a:endParaRPr>
          </a:p>
          <a:p>
            <a:r>
              <a:rPr lang="pt-BR" sz="2000" b="1" dirty="0">
                <a:solidFill>
                  <a:srgbClr val="FF0000"/>
                </a:solidFill>
              </a:rPr>
              <a:t>... d</a:t>
            </a:r>
            <a:r>
              <a:rPr lang="LID4096" sz="2000" b="1" dirty="0">
                <a:solidFill>
                  <a:srgbClr val="FF0000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2229808" y="343023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916158" y="270558"/>
              <a:ext cx="2242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sz="28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085050"/>
            <a:ext cx="150223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700" b="1" dirty="0"/>
              <a:t>210 ×</a:t>
            </a:r>
            <a:r>
              <a:rPr lang="pt-BR" sz="1700" b="1" dirty="0"/>
              <a:t> </a:t>
            </a:r>
            <a:r>
              <a:rPr lang="LID4096" sz="1700" b="1" dirty="0"/>
              <a:t>400 µm computational domain</a:t>
            </a:r>
            <a:r>
              <a:rPr lang="pt-BR" sz="1700" b="1" dirty="0"/>
              <a:t> (2D)</a:t>
            </a:r>
          </a:p>
          <a:p>
            <a:pPr algn="r"/>
            <a:r>
              <a:rPr lang="en-GB" sz="1700" b="1" dirty="0">
                <a:latin typeface="AdvOTdd63dae3"/>
              </a:rPr>
              <a:t>1,341,561 </a:t>
            </a:r>
          </a:p>
          <a:p>
            <a:pPr algn="r"/>
            <a:r>
              <a:rPr lang="en-GB" sz="1700" b="1" dirty="0">
                <a:latin typeface="AdvOTdd63dae3"/>
              </a:rPr>
              <a:t>grid 0.25 </a:t>
            </a:r>
            <a:r>
              <a:rPr lang="en-GB" sz="1700" b="1" dirty="0">
                <a:latin typeface="AdvOTdd63dae3+03"/>
              </a:rPr>
              <a:t>μ</a:t>
            </a:r>
            <a:r>
              <a:rPr lang="en-GB" sz="1700" b="1" dirty="0">
                <a:latin typeface="AdvOTdd63dae3"/>
              </a:rPr>
              <a:t>m</a:t>
            </a:r>
            <a:endParaRPr lang="LID4096" sz="17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705600" y="337154"/>
            <a:ext cx="4974773" cy="17958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204457" y="2314575"/>
            <a:ext cx="5475915" cy="25568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29832" y="316354"/>
            <a:ext cx="16219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Printed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 rot="16200000">
            <a:off x="5134136" y="3325923"/>
            <a:ext cx="1495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1D8B2-1561-C685-7297-740D867F16C1}"/>
              </a:ext>
            </a:extLst>
          </p:cNvPr>
          <p:cNvGrpSpPr>
            <a:grpSpLocks noChangeAspect="1"/>
          </p:cNvGrpSpPr>
          <p:nvPr/>
        </p:nvGrpSpPr>
        <p:grpSpPr>
          <a:xfrm>
            <a:off x="250059" y="3153724"/>
            <a:ext cx="5331535" cy="3216127"/>
            <a:chOff x="322216" y="3019052"/>
            <a:chExt cx="5519474" cy="332949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9D78FC-A9F0-161A-B5C7-ABA7352AF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8" t="9050" r="67184" b="66061"/>
            <a:stretch>
              <a:fillRect/>
            </a:stretch>
          </p:blipFill>
          <p:spPr>
            <a:xfrm>
              <a:off x="322216" y="3019053"/>
              <a:ext cx="2420984" cy="110714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094B13F-A5E0-E8CD-CE8D-3ACAA9BB0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946" t="48903" r="60805" b="2231"/>
            <a:stretch>
              <a:fillRect/>
            </a:stretch>
          </p:blipFill>
          <p:spPr>
            <a:xfrm>
              <a:off x="2910840" y="3019052"/>
              <a:ext cx="2930850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A2FEBC7-5E88-737D-62CE-961378375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767" y="4268840"/>
              <a:ext cx="2402948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030" y="5077211"/>
            <a:ext cx="4349575" cy="13930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8" y="6551411"/>
            <a:ext cx="8403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Solute trapping and non-equilibrium microstructure 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during rapid solidi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+fb"/>
              </a:rPr>
              <a:t>fi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cation of additive </a:t>
            </a:r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manufacturing</a:t>
            </a:r>
            <a:endParaRPr lang="LID4096" sz="1400" b="1" dirty="0">
              <a:solidFill>
                <a:schemeClr val="accent2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357897" y="68842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C12347-0F5A-8559-3DCF-88CB0A23E200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38DA-AD81-0282-9C11-F23B1B5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71260-EB76-CA4B-243D-37924966B69A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51F313-CDCA-58BB-8BD2-FF282BB3FC95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C70260-0027-6F19-2E23-7B17D61F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7"/>
          <a:stretch>
            <a:fillRect/>
          </a:stretch>
        </p:blipFill>
        <p:spPr>
          <a:xfrm>
            <a:off x="6318648" y="697078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E2041-643C-7461-CAB6-1FABB2F6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62" y="697078"/>
            <a:ext cx="5482503" cy="18002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49131F-7BC5-1788-F128-F560ABDEEE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r="53402" b="72066"/>
          <a:stretch>
            <a:fillRect/>
          </a:stretch>
        </p:blipFill>
        <p:spPr>
          <a:xfrm>
            <a:off x="4366517" y="3689352"/>
            <a:ext cx="1201540" cy="377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4A704C-E8A1-A87D-AE5A-EAA60B8C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09562" y="4605168"/>
            <a:ext cx="5482503" cy="1209675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7FA0806-70A3-4910-06CF-170AAEDF58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t="38368"/>
          <a:stretch>
            <a:fillRect/>
          </a:stretch>
        </p:blipFill>
        <p:spPr>
          <a:xfrm>
            <a:off x="1371736" y="3689352"/>
            <a:ext cx="2833384" cy="83360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24E538B-A9C6-7696-6587-F44F87DA13D0}"/>
              </a:ext>
            </a:extLst>
          </p:cNvPr>
          <p:cNvSpPr txBox="1"/>
          <p:nvPr/>
        </p:nvSpPr>
        <p:spPr>
          <a:xfrm>
            <a:off x="4386095" y="2669752"/>
            <a:ext cx="1814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/>
              <a:t>new </a:t>
            </a:r>
            <a:r>
              <a:rPr lang="pt-BR" dirty="0"/>
              <a:t>(</a:t>
            </a:r>
            <a:r>
              <a:rPr lang="LID4096" dirty="0"/>
              <a:t>x</a:t>
            </a:r>
            <a:r>
              <a:rPr lang="pt-BR" dirty="0"/>
              <a:t>) </a:t>
            </a:r>
            <a:r>
              <a:rPr lang="LID4096" dirty="0"/>
              <a:t>coordinate system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9061413-9D3E-67F9-AA5E-5FB998882026}"/>
              </a:ext>
            </a:extLst>
          </p:cNvPr>
          <p:cNvGrpSpPr/>
          <p:nvPr/>
        </p:nvGrpSpPr>
        <p:grpSpPr>
          <a:xfrm>
            <a:off x="309562" y="2586206"/>
            <a:ext cx="4272499" cy="1050542"/>
            <a:chOff x="309562" y="2586206"/>
            <a:chExt cx="4272499" cy="105054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70DCF73-A2E1-5797-7CD7-A93E45481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9562" y="2586206"/>
              <a:ext cx="4272499" cy="101424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EF701A-C34B-76DB-2B0D-E041B1D4143D}"/>
                </a:ext>
              </a:extLst>
            </p:cNvPr>
            <p:cNvSpPr txBox="1"/>
            <p:nvPr/>
          </p:nvSpPr>
          <p:spPr>
            <a:xfrm>
              <a:off x="2792488" y="328819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EFEEA19-3E4A-5432-85F1-84C82AC62A8B}"/>
                </a:ext>
              </a:extLst>
            </p:cNvPr>
            <p:cNvSpPr txBox="1"/>
            <p:nvPr/>
          </p:nvSpPr>
          <p:spPr>
            <a:xfrm>
              <a:off x="1352933" y="329819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0A54E0-5241-8461-3BAE-45E25250626C}"/>
              </a:ext>
            </a:extLst>
          </p:cNvPr>
          <p:cNvSpPr txBox="1"/>
          <p:nvPr/>
        </p:nvSpPr>
        <p:spPr>
          <a:xfrm>
            <a:off x="6292521" y="4418449"/>
            <a:ext cx="54825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    Heat conductivity</a:t>
            </a:r>
          </a:p>
          <a:p>
            <a:r>
              <a:rPr lang="en-GB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    Distance - moving heat source and pt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</a:p>
          <a:p>
            <a:r>
              <a:rPr lang="en-US" sz="2000" b="1" dirty="0"/>
              <a:t>c    Specific heat</a:t>
            </a:r>
            <a:endParaRPr lang="en-US" sz="2000" b="1" i="0" u="none" strike="noStrike" baseline="0" dirty="0">
              <a:solidFill>
                <a:srgbClr val="131413"/>
              </a:solidFill>
              <a:latin typeface="NywgqrAdvTT3713a231"/>
            </a:endParaRPr>
          </a:p>
          <a:p>
            <a:r>
              <a:rPr lang="en-US" sz="2000" b="1" i="0" u="none" strike="noStrike" baseline="0" dirty="0">
                <a:solidFill>
                  <a:srgbClr val="0000FF"/>
                </a:solidFill>
                <a:latin typeface="NywgqrAdvTT3713a231"/>
              </a:rPr>
              <a:t>v    Welding speed</a:t>
            </a:r>
          </a:p>
          <a:p>
            <a:r>
              <a:rPr lang="en-GB" sz="2000" b="1" dirty="0"/>
              <a:t>ξ    Moving coordinate parallel to the welding</a:t>
            </a:r>
            <a:endParaRPr lang="LID4096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327AA450-EBB1-0E43-D94C-41FBC8B539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562" y="5967073"/>
            <a:ext cx="2400300" cy="7715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8D96BD0-77D9-B321-9870-DD6DB5FD7C00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3D436DD5-2366-DE73-7DE7-B4FDAECD5428}"/>
              </a:ext>
            </a:extLst>
          </p:cNvPr>
          <p:cNvSpPr/>
          <p:nvPr/>
        </p:nvSpPr>
        <p:spPr>
          <a:xfrm rot="18866954" flipV="1">
            <a:off x="3661686" y="560139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62881-7FEA-40EF-4D68-6B7D66F95C04}"/>
              </a:ext>
            </a:extLst>
          </p:cNvPr>
          <p:cNvSpPr txBox="1"/>
          <p:nvPr/>
        </p:nvSpPr>
        <p:spPr>
          <a:xfrm>
            <a:off x="6078582" y="6335417"/>
            <a:ext cx="61177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LID4096" dirty="0"/>
              <a:t>An analytical solution for temperature distribution in fillet arc welding based on an adaptive function Bagher &amp; Norbert Enzinger</a:t>
            </a:r>
          </a:p>
        </p:txBody>
      </p:sp>
      <p:pic>
        <p:nvPicPr>
          <p:cNvPr id="1026" name="Picture 2" descr="Excel - GET – Engenharia de Produção">
            <a:extLst>
              <a:ext uri="{FF2B5EF4-FFF2-40B4-BE49-F238E27FC236}">
                <a16:creationId xmlns:a16="http://schemas.microsoft.com/office/drawing/2014/main" id="{363B5D60-D89D-9982-4ED5-65BEEF31E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990" y="5985583"/>
            <a:ext cx="1308954" cy="7345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E25E82-46D3-D672-1627-3689257B9AC4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258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9BBA-DD77-1E52-FBB7-D61941D6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8CEFAF-0C2B-6506-BC6C-CF0D0E47133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D4D445-F5BB-D09D-A239-D5CD9383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94" y="3846680"/>
            <a:ext cx="4941256" cy="2900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9D3651-4C86-DC7F-D8FA-3E4956568DD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1AABF47-842A-954E-6FAF-D0D832F51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264798" y="697078"/>
            <a:ext cx="7661670" cy="43342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16D5B8-4C72-758D-883A-7F4B221F9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92" t="9679" b="40870"/>
          <a:stretch>
            <a:fillRect/>
          </a:stretch>
        </p:blipFill>
        <p:spPr>
          <a:xfrm>
            <a:off x="8029305" y="697078"/>
            <a:ext cx="3915315" cy="174307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D3B99-9019-1FF2-15D2-F9BEA0B6B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39" t="3661" r="3662" b="74669"/>
          <a:stretch>
            <a:fillRect/>
          </a:stretch>
        </p:blipFill>
        <p:spPr>
          <a:xfrm>
            <a:off x="10117602" y="3935930"/>
            <a:ext cx="1820792" cy="1238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B4011-DB36-3320-7851-E4E0A12D6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305" y="2507162"/>
            <a:ext cx="2225945" cy="1270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C1781B-E4FF-3C69-CF52-DEE891F7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4" t="2494" r="69754" b="74167"/>
          <a:stretch>
            <a:fillRect/>
          </a:stretch>
        </p:blipFill>
        <p:spPr>
          <a:xfrm>
            <a:off x="249883" y="5102182"/>
            <a:ext cx="3365894" cy="16454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93B32D-0090-DE0D-9E76-FCB6FA3DB95D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2BEE6-3F62-796F-6587-F305A89F64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879501" y="5260781"/>
            <a:ext cx="3054033" cy="713299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CBBE9048-2207-D7A2-E34D-CD1860E9E343}"/>
              </a:ext>
            </a:extLst>
          </p:cNvPr>
          <p:cNvSpPr/>
          <p:nvPr/>
        </p:nvSpPr>
        <p:spPr>
          <a:xfrm rot="18866954" flipV="1">
            <a:off x="5754261" y="613967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36A0B8-6E90-3466-00EA-64BB7EEBE27C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01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D0980C-988E-7936-5450-9AC89CDB9278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46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41018B7-70D0-A75A-CF22-A7EC1BF464C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09736-CF39-A5D8-B764-CA2C086D0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67" y="2038909"/>
            <a:ext cx="4033694" cy="1038484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A7D50B-C9B4-2452-B129-12632D37ECD8}"/>
              </a:ext>
            </a:extLst>
          </p:cNvPr>
          <p:cNvGrpSpPr>
            <a:grpSpLocks noChangeAspect="1"/>
          </p:cNvGrpSpPr>
          <p:nvPr/>
        </p:nvGrpSpPr>
        <p:grpSpPr>
          <a:xfrm>
            <a:off x="8192913" y="1763555"/>
            <a:ext cx="3279461" cy="1486255"/>
            <a:chOff x="8782077" y="4405112"/>
            <a:chExt cx="3020812" cy="136903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5D8380C-F3FF-A0B3-4D46-48662A3B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025" r="71901" b="49372"/>
            <a:stretch>
              <a:fillRect/>
            </a:stretch>
          </p:blipFill>
          <p:spPr>
            <a:xfrm>
              <a:off x="9836961" y="5118084"/>
              <a:ext cx="1965928" cy="6560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2DCF1E5-C5DA-46F3-BA72-AABE5CBEA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9408" t="24331" b="13075"/>
            <a:stretch>
              <a:fillRect/>
            </a:stretch>
          </p:blipFill>
          <p:spPr>
            <a:xfrm>
              <a:off x="8782077" y="4405112"/>
              <a:ext cx="3020812" cy="65606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04BD2D46-8A5F-898A-1862-BF818BA33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465" y="345741"/>
            <a:ext cx="7105650" cy="42386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66A1B12-A203-0DC6-2A3E-3E3CB83FE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25" y="3220132"/>
            <a:ext cx="4314512" cy="98134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1F4DC11-8CBF-BADA-997B-252CF2FFC4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22" t="11952" r="3891" b="9751"/>
          <a:stretch>
            <a:fillRect/>
          </a:stretch>
        </p:blipFill>
        <p:spPr>
          <a:xfrm>
            <a:off x="507235" y="614258"/>
            <a:ext cx="3724926" cy="869993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101EAB-05C3-0D3A-3E8C-874D69C86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26" y="4370375"/>
            <a:ext cx="4314512" cy="556417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3B3247C-A186-71FB-2E21-FFB4C7F8625F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02</a:t>
            </a:r>
            <a:endParaRPr lang="LID4096" sz="2400" b="1" dirty="0">
              <a:latin typeface="Horley Old Style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D3408-F51D-70BF-D232-DF79ECF0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053" b="71810"/>
          <a:stretch>
            <a:fillRect/>
          </a:stretch>
        </p:blipFill>
        <p:spPr>
          <a:xfrm>
            <a:off x="203642" y="5102182"/>
            <a:ext cx="3412135" cy="16326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EE29EFDE-2F13-B64F-18BF-359815E8FE2C}"/>
              </a:ext>
            </a:extLst>
          </p:cNvPr>
          <p:cNvSpPr/>
          <p:nvPr/>
        </p:nvSpPr>
        <p:spPr>
          <a:xfrm rot="18866954" flipV="1">
            <a:off x="2885934" y="1342167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20581281-120F-F693-980F-DF586C6C96DD}"/>
              </a:ext>
            </a:extLst>
          </p:cNvPr>
          <p:cNvSpPr/>
          <p:nvPr/>
        </p:nvSpPr>
        <p:spPr>
          <a:xfrm rot="18866954" flipV="1">
            <a:off x="2269426" y="4031940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7C0B4A-B477-129E-051E-7AF8DE64FFFC}"/>
              </a:ext>
            </a:extLst>
          </p:cNvPr>
          <p:cNvGrpSpPr>
            <a:grpSpLocks noChangeAspect="1"/>
          </p:cNvGrpSpPr>
          <p:nvPr/>
        </p:nvGrpSpPr>
        <p:grpSpPr>
          <a:xfrm>
            <a:off x="5218135" y="4677679"/>
            <a:ext cx="6802419" cy="2072388"/>
            <a:chOff x="6370926" y="5028883"/>
            <a:chExt cx="5649624" cy="1721184"/>
          </a:xfrm>
          <a:effectLst/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695ADC-18CD-4C20-3A03-0C1D8022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5045" r="2663" b="10307"/>
            <a:stretch>
              <a:fillRect/>
            </a:stretch>
          </p:blipFill>
          <p:spPr>
            <a:xfrm>
              <a:off x="6370926" y="5028884"/>
              <a:ext cx="2595388" cy="17211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716D59-AA1A-8777-8F03-711FBBA25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85597" y="5028883"/>
              <a:ext cx="2934953" cy="17211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8D5F67A-2646-69E2-2787-402F89BB1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9735" t="21527" r="3221" b="40870"/>
            <a:stretch>
              <a:fillRect/>
            </a:stretch>
          </p:blipFill>
          <p:spPr>
            <a:xfrm>
              <a:off x="10985542" y="5059383"/>
              <a:ext cx="1006363" cy="798774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74E6F56-9AC3-F4AB-F231-891BD530F74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7639" t="3661" r="3662" b="74669"/>
          <a:stretch>
            <a:fillRect/>
          </a:stretch>
        </p:blipFill>
        <p:spPr>
          <a:xfrm>
            <a:off x="7117237" y="4715386"/>
            <a:ext cx="1179373" cy="802459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15B385FE-7139-45E5-3EC8-81E4510607AB}"/>
              </a:ext>
            </a:extLst>
          </p:cNvPr>
          <p:cNvSpPr/>
          <p:nvPr/>
        </p:nvSpPr>
        <p:spPr>
          <a:xfrm rot="18866954" flipV="1">
            <a:off x="1584057" y="4031704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A2C53FD-BC72-9C09-413B-4BB95C73E50E}"/>
              </a:ext>
            </a:extLst>
          </p:cNvPr>
          <p:cNvSpPr/>
          <p:nvPr/>
        </p:nvSpPr>
        <p:spPr>
          <a:xfrm rot="18866954" flipV="1">
            <a:off x="2954797" y="4031703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DCA200-0A44-EF4D-AE38-9B8E7C9478EB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72A31-4535-5889-B031-7F639D5F8DA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843993" y="376033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/>
              </a:rPr>
              <a:t>Heat Affected Zone (HAZ)</a:t>
            </a:r>
            <a:endParaRPr lang="LID4096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99D9C9-9B3A-C2E2-304D-58E8755D1B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027" t="14307" r="35724" b="19738"/>
          <a:stretch>
            <a:fillRect/>
          </a:stretch>
        </p:blipFill>
        <p:spPr>
          <a:xfrm>
            <a:off x="391846" y="978344"/>
            <a:ext cx="1383223" cy="24838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942286" y="1817843"/>
            <a:ext cx="525970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950721" y="1029795"/>
            <a:ext cx="40164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800" b="1" dirty="0">
                <a:solidFill>
                  <a:srgbClr val="0000FF"/>
                </a:solidFill>
              </a:rPr>
              <a:t>multi-timestep</a:t>
            </a:r>
            <a:r>
              <a:rPr lang="pt-BR" sz="2800" b="1" dirty="0">
                <a:solidFill>
                  <a:srgbClr val="0000FF"/>
                </a:solidFill>
              </a:rPr>
              <a:t> </a:t>
            </a:r>
            <a:r>
              <a:rPr lang="LID4096" sz="2800" b="1" dirty="0">
                <a:solidFill>
                  <a:srgbClr val="0000FF"/>
                </a:solidFill>
              </a:rPr>
              <a:t>method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0B9153-75B0-027B-C081-E78A1381EC58}"/>
              </a:ext>
            </a:extLst>
          </p:cNvPr>
          <p:cNvSpPr txBox="1"/>
          <p:nvPr/>
        </p:nvSpPr>
        <p:spPr>
          <a:xfrm>
            <a:off x="6357260" y="564188"/>
            <a:ext cx="41583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 i="0" u="none" strike="noStrike" baseline="0">
                <a:solidFill>
                  <a:srgbClr val="000000"/>
                </a:solidFill>
                <a:latin typeface="Charis SIL"/>
              </a:defRPr>
            </a:lvl1pPr>
          </a:lstStyle>
          <a:p>
            <a:r>
              <a:rPr lang="LID4096" sz="2600" dirty="0"/>
              <a:t>latent heat treatment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7201990" y="978344"/>
            <a:ext cx="47427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i="0" u="none" strike="noStrike" baseline="0" dirty="0">
                <a:solidFill>
                  <a:srgbClr val="000000"/>
                </a:solidFill>
                <a:latin typeface="Charis SIL"/>
              </a:rPr>
              <a:t>born-dead element technique</a:t>
            </a:r>
            <a:endParaRPr lang="LID4096" sz="26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6A24B8-634C-02D0-93D4-D9DF7CAD6657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E651B0-B3B9-A010-8E1E-4114FB97C730}"/>
              </a:ext>
            </a:extLst>
          </p:cNvPr>
          <p:cNvSpPr txBox="1"/>
          <p:nvPr/>
        </p:nvSpPr>
        <p:spPr>
          <a:xfrm>
            <a:off x="391846" y="3625496"/>
            <a:ext cx="8447354" cy="310515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5A2E344-759F-7698-5C8C-5B37EF03C37A}"/>
              </a:ext>
            </a:extLst>
          </p:cNvPr>
          <p:cNvGrpSpPr/>
          <p:nvPr/>
        </p:nvGrpSpPr>
        <p:grpSpPr>
          <a:xfrm>
            <a:off x="374470" y="3625497"/>
            <a:ext cx="8239278" cy="3045468"/>
            <a:chOff x="374470" y="3625497"/>
            <a:chExt cx="8239278" cy="304546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FF72EBC-F7DC-34D1-9A2F-C0455CBFCF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4470" y="3625497"/>
              <a:ext cx="7977050" cy="1649188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2D4601-15DD-F79C-B8C9-2B4871CC5FD0}"/>
                </a:ext>
              </a:extLst>
            </p:cNvPr>
            <p:cNvSpPr txBox="1"/>
            <p:nvPr/>
          </p:nvSpPr>
          <p:spPr>
            <a:xfrm>
              <a:off x="458114" y="4223406"/>
              <a:ext cx="36055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baseline="0" dirty="0">
                  <a:solidFill>
                    <a:srgbClr val="0000FF"/>
                  </a:solidFill>
                  <a:latin typeface="STIXMath"/>
                </a:rPr>
                <a:t>𝜌,𝑐</a:t>
              </a:r>
              <a:r>
                <a:rPr lang="en-GB" sz="1000" b="1" u="none" strike="noStrike" baseline="0" dirty="0">
                  <a:solidFill>
                    <a:srgbClr val="0000FF"/>
                  </a:solidFill>
                  <a:latin typeface="STIXMath"/>
                </a:rPr>
                <a:t>𝑝</a:t>
              </a:r>
              <a:r>
                <a:rPr lang="en-GB" sz="2400" b="1" u="none" strike="noStrike" baseline="0" dirty="0">
                  <a:solidFill>
                    <a:srgbClr val="0000FF"/>
                  </a:solidFill>
                  <a:latin typeface="STIXMath"/>
                </a:rPr>
                <a:t>,𝐿,𝑓</a:t>
              </a:r>
              <a:r>
                <a:rPr lang="en-GB" sz="1000" b="1" u="none" strike="noStrike" baseline="0" dirty="0">
                  <a:solidFill>
                    <a:srgbClr val="0000FF"/>
                  </a:solidFill>
                  <a:latin typeface="STIXMath"/>
                </a:rPr>
                <a:t>𝑙 </a:t>
              </a:r>
              <a:r>
                <a:rPr lang="en-GB" sz="2400" b="1" dirty="0">
                  <a:solidFill>
                    <a:srgbClr val="0000FF"/>
                  </a:solidFill>
                  <a:latin typeface="STIXMath"/>
                </a:rPr>
                <a:t>,𝑟 </a:t>
              </a:r>
              <a:r>
                <a:rPr lang="en-GB" sz="2400" b="1" u="none" strike="noStrike" baseline="0" dirty="0">
                  <a:solidFill>
                    <a:srgbClr val="0000FF"/>
                  </a:solidFill>
                  <a:latin typeface="STIXMath"/>
                </a:rPr>
                <a:t> 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1    density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2    specific and latent heats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3,4 liquid fraction and 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5    power density </a:t>
              </a:r>
              <a:endParaRPr lang="LID4096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4614344-6462-498D-3537-B52335A1FEBA}"/>
                </a:ext>
              </a:extLst>
            </p:cNvPr>
            <p:cNvSpPr txBox="1"/>
            <p:nvPr/>
          </p:nvSpPr>
          <p:spPr>
            <a:xfrm>
              <a:off x="4362995" y="5378303"/>
              <a:ext cx="4250753" cy="129266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2400" b="1" u="none" strike="noStrike" baseline="0" dirty="0" err="1">
                  <a:solidFill>
                    <a:srgbClr val="0000FF"/>
                  </a:solidFill>
                  <a:latin typeface="STIXMath"/>
                </a:rPr>
                <a:t>ℎ</a:t>
              </a:r>
              <a:r>
                <a:rPr lang="en-US" sz="1000" b="1" u="none" strike="noStrike" baseline="0" dirty="0" err="1">
                  <a:solidFill>
                    <a:srgbClr val="0000FF"/>
                  </a:solidFill>
                  <a:latin typeface="Charis SIL"/>
                </a:rPr>
                <a:t>conv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𝜀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𝜎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𝑇</a:t>
              </a:r>
              <a:r>
                <a:rPr lang="en-US" sz="1000" b="1" u="none" strike="noStrike" baseline="0" dirty="0">
                  <a:solidFill>
                    <a:srgbClr val="0000FF"/>
                  </a:solidFill>
                  <a:latin typeface="Charis SIL"/>
                </a:rPr>
                <a:t>env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𝑇</a:t>
              </a:r>
              <a:r>
                <a:rPr lang="en-US" sz="1000" b="1" u="none" strike="noStrike" baseline="0" dirty="0">
                  <a:solidFill>
                    <a:srgbClr val="0000FF"/>
                  </a:solidFill>
                  <a:latin typeface="STIXMath"/>
                </a:rPr>
                <a:t>0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1.2 convection heat transfer coefficient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3    emissivity, Stefan–Boltzmann cte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4,5 environment &amp; initial temperatures 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383AFA05-AE80-CBF4-788E-F2994CD23B67}"/>
              </a:ext>
            </a:extLst>
          </p:cNvPr>
          <p:cNvSpPr txBox="1"/>
          <p:nvPr/>
        </p:nvSpPr>
        <p:spPr>
          <a:xfrm>
            <a:off x="79760" y="5709780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0" u="sng" strike="noStrike" baseline="0" dirty="0">
                <a:latin typeface="MyriadPro-SemiboldSemiCn"/>
              </a:rPr>
              <a:t>- A multi‑criteria </a:t>
            </a:r>
            <a:r>
              <a:rPr lang="en-US" sz="1600" b="1" i="1" u="sng" strike="noStrike" baseline="0" dirty="0">
                <a:latin typeface="MyriadPro-SemiboldSemiCnIt"/>
              </a:rPr>
              <a:t>h</a:t>
            </a:r>
            <a:r>
              <a:rPr lang="en-US" sz="1600" b="1" i="0" u="sng" strike="noStrike" baseline="0" dirty="0">
                <a:latin typeface="MyriadPro-SemiboldSemiCn"/>
              </a:rPr>
              <a:t>‑adaptive finite‑element framework</a:t>
            </a:r>
            <a:r>
              <a:rPr lang="en-US" sz="1200" b="0" i="0" u="none" strike="noStrike" baseline="0" dirty="0">
                <a:latin typeface="MyriadPro-SemiboldSemiCn"/>
              </a:rPr>
              <a:t> for industrial </a:t>
            </a:r>
            <a:r>
              <a:rPr lang="en-GB" sz="1200" b="0" i="0" u="none" strike="noStrike" baseline="0" dirty="0">
                <a:latin typeface="MyriadPro-SemiboldSemiCn"/>
              </a:rPr>
              <a:t>part‑scale thermal analysis in additive manufacturing processes – </a:t>
            </a:r>
            <a:r>
              <a:rPr lang="en-US" sz="1200" dirty="0"/>
              <a:t>Moreira &amp;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r>
              <a:rPr lang="en-US" sz="1200" dirty="0">
                <a:highlight>
                  <a:srgbClr val="FFFF00"/>
                </a:highlight>
              </a:rPr>
              <a:t> </a:t>
            </a:r>
            <a:r>
              <a:rPr lang="en-US" sz="1200" dirty="0"/>
              <a:t>(2021)</a:t>
            </a:r>
          </a:p>
          <a:p>
            <a:r>
              <a:rPr lang="en-GB" sz="1200" dirty="0"/>
              <a:t>- Numerical simulation and experimental calibration of Additive Manufacturing by blown powder technology. </a:t>
            </a:r>
            <a:r>
              <a:rPr lang="en-US" sz="1200" dirty="0"/>
              <a:t>Part I: thermal analysis -- M.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endParaRPr lang="en-US" sz="1200" dirty="0">
              <a:highlight>
                <a:srgbClr val="FFFF00"/>
              </a:highlight>
            </a:endParaRPr>
          </a:p>
          <a:p>
            <a:r>
              <a:rPr lang="en-GB" sz="1200" dirty="0"/>
              <a:t>- Residual stress and distortion of rectangular and S-shaped Ti-6Al-4V parts </a:t>
            </a:r>
            <a:r>
              <a:rPr lang="en-US" sz="1200" dirty="0"/>
              <a:t>-- M.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endParaRPr lang="LID4096" sz="1200" dirty="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B78473-A7F0-914B-C99C-1BF327B3FDA8}"/>
              </a:ext>
            </a:extLst>
          </p:cNvPr>
          <p:cNvSpPr txBox="1"/>
          <p:nvPr/>
        </p:nvSpPr>
        <p:spPr>
          <a:xfrm>
            <a:off x="507223" y="698995"/>
            <a:ext cx="48088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h-adaptive finite-element (FE) strategy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b="1" dirty="0"/>
              <a:t>mesh coarsening and refinement</a:t>
            </a:r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FF0000"/>
                </a:solidFill>
              </a:rPr>
              <a:t>common layer interface (CLI)  </a:t>
            </a:r>
            <a:r>
              <a:rPr lang="en-US" b="1" dirty="0">
                <a:solidFill>
                  <a:srgbClr val="0000FF"/>
                </a:solidFill>
              </a:rPr>
              <a:t>x </a:t>
            </a:r>
            <a:r>
              <a:rPr lang="en-US" b="1" dirty="0" err="1">
                <a:solidFill>
                  <a:srgbClr val="0000FF"/>
                </a:solidFill>
              </a:rPr>
              <a:t>GCode</a:t>
            </a:r>
            <a:endParaRPr lang="LID4096" b="1" dirty="0">
              <a:solidFill>
                <a:srgbClr val="0000FF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D4AE64D-142C-C5A6-6B1E-B80609B23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23" y="2062144"/>
            <a:ext cx="4760272" cy="338452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F20649-871F-C592-E74E-004711043AA6}"/>
              </a:ext>
            </a:extLst>
          </p:cNvPr>
          <p:cNvSpPr txBox="1"/>
          <p:nvPr/>
        </p:nvSpPr>
        <p:spPr>
          <a:xfrm>
            <a:off x="7340531" y="6063723"/>
            <a:ext cx="2484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Caicedo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9CEB4DE-F19B-25D2-D69C-0FB7DBF81CC8}"/>
              </a:ext>
            </a:extLst>
          </p:cNvPr>
          <p:cNvGrpSpPr/>
          <p:nvPr/>
        </p:nvGrpSpPr>
        <p:grpSpPr>
          <a:xfrm>
            <a:off x="5905794" y="2062144"/>
            <a:ext cx="5641879" cy="3330812"/>
            <a:chOff x="5870960" y="1834785"/>
            <a:chExt cx="5641879" cy="333081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2884BF6-7107-207F-BD5F-B4C5C233DF35}"/>
                </a:ext>
              </a:extLst>
            </p:cNvPr>
            <p:cNvGrpSpPr/>
            <p:nvPr/>
          </p:nvGrpSpPr>
          <p:grpSpPr>
            <a:xfrm>
              <a:off x="5870960" y="1834785"/>
              <a:ext cx="5641879" cy="3258752"/>
              <a:chOff x="5564776" y="1514854"/>
              <a:chExt cx="5641879" cy="3258752"/>
            </a:xfrm>
          </p:grpSpPr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6E57E60B-F3DF-524A-8F29-346395CE70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56742"/>
              <a:stretch>
                <a:fillRect/>
              </a:stretch>
            </p:blipFill>
            <p:spPr>
              <a:xfrm>
                <a:off x="6253655" y="4077260"/>
                <a:ext cx="4953000" cy="696346"/>
              </a:xfrm>
              <a:prstGeom prst="rect">
                <a:avLst/>
              </a:prstGeom>
            </p:spPr>
          </p:pic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6DAC0AD-FD90-EDDD-759F-9EB4DA08F0A4}"/>
                  </a:ext>
                </a:extLst>
              </p:cNvPr>
              <p:cNvGrpSpPr/>
              <p:nvPr/>
            </p:nvGrpSpPr>
            <p:grpSpPr>
              <a:xfrm>
                <a:off x="5564776" y="1514854"/>
                <a:ext cx="5357427" cy="2563504"/>
                <a:chOff x="676003" y="334423"/>
                <a:chExt cx="5357427" cy="2563504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E5E0877E-0A06-E5B1-0B43-BBC1749C3A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8051" y="419236"/>
                  <a:ext cx="1676400" cy="428625"/>
                </a:xfrm>
                <a:prstGeom prst="rect">
                  <a:avLst/>
                </a:prstGeom>
              </p:spPr>
            </p:pic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26787-2279-F854-B987-63CF4E26EB9C}"/>
                    </a:ext>
                  </a:extLst>
                </p:cNvPr>
                <p:cNvSpPr txBox="1"/>
                <p:nvPr/>
              </p:nvSpPr>
              <p:spPr>
                <a:xfrm>
                  <a:off x="3721053" y="334424"/>
                  <a:ext cx="2312377" cy="11849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Math-Italic"/>
                    </a:rPr>
                    <a:t>̇</a:t>
                  </a:r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General-Italic2"/>
                    </a:rPr>
                    <a:t>H 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rate of enthalpy</a:t>
                  </a:r>
                  <a:endParaRPr lang="en-US" sz="1400" b="0" i="1" u="none" strike="noStrike" baseline="0" dirty="0">
                    <a:solidFill>
                      <a:srgbClr val="0000FF"/>
                    </a:solidFill>
                    <a:latin typeface="STIXGeneral-Italic2"/>
                  </a:endParaRPr>
                </a:p>
                <a:p>
                  <a:r>
                    <a:rPr lang="en-GB" sz="1400" b="1" i="1" u="none" strike="noStrike" baseline="0" dirty="0">
                      <a:solidFill>
                        <a:srgbClr val="0000FF"/>
                      </a:solidFill>
                      <a:latin typeface="STIXGeneral-BoldItalic"/>
                    </a:rPr>
                    <a:t>q   </a:t>
                  </a:r>
                  <a:r>
                    <a:rPr lang="en-GB" sz="1400" b="0" i="0" u="none" strike="noStrike" baseline="0" dirty="0">
                      <a:solidFill>
                        <a:srgbClr val="0000FF"/>
                      </a:solidFill>
                      <a:latin typeface="STIX-Regular"/>
                    </a:rPr>
                    <a:t>heat-flux per unit volume</a:t>
                  </a:r>
                </a:p>
                <a:p>
                  <a:r>
                    <a:rPr lang="en-GB" sz="1400" i="1" dirty="0">
                      <a:solidFill>
                        <a:srgbClr val="0000FF"/>
                      </a:solidFill>
                      <a:latin typeface="STIXGeneral-Italic3"/>
                    </a:rPr>
                    <a:t>r</a:t>
                  </a:r>
                  <a:r>
                    <a:rPr lang="en-GB" sz="1400" i="1" dirty="0">
                      <a:solidFill>
                        <a:srgbClr val="0000FF"/>
                      </a:solidFill>
                      <a:latin typeface="STIXMath-Italic"/>
                    </a:rPr>
                    <a:t>̇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  rate of heat source</a:t>
                  </a:r>
                  <a:endParaRPr lang="en-GB" sz="1400" i="1" dirty="0">
                    <a:solidFill>
                      <a:srgbClr val="0000FF"/>
                    </a:solidFill>
                    <a:latin typeface="STIXMath-Italic"/>
                  </a:endParaRPr>
                </a:p>
                <a:p>
                  <a:endParaRPr lang="en-GB" sz="100" b="0" i="0" u="none" strike="noStrike" baseline="0" dirty="0">
                    <a:solidFill>
                      <a:srgbClr val="0000FF"/>
                    </a:solidFill>
                    <a:latin typeface="STIX-Regular"/>
                  </a:endParaRPr>
                </a:p>
                <a:p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C   </a:t>
                  </a:r>
                  <a:r>
                    <a:rPr lang="en-GB" sz="1400" dirty="0">
                      <a:solidFill>
                        <a:srgbClr val="0000FF"/>
                      </a:solidFill>
                    </a:rPr>
                    <a:t>(temperature dependent) heat capacity</a:t>
                  </a:r>
                  <a:endParaRPr lang="LID4096" sz="1400" dirty="0">
                    <a:solidFill>
                      <a:srgbClr val="0000FF"/>
                    </a:solidFill>
                  </a:endParaRPr>
                </a:p>
              </p:txBody>
            </p:sp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0233BAAB-ABE6-5897-4FB7-A0AF4988C8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8000" b="13963"/>
                <a:stretch>
                  <a:fillRect/>
                </a:stretch>
              </p:blipFill>
              <p:spPr>
                <a:xfrm>
                  <a:off x="1738992" y="796115"/>
                  <a:ext cx="1285875" cy="324024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41D14760-1E87-0A6F-3873-6AD13A5FCC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38051" y="997075"/>
                  <a:ext cx="1009650" cy="390525"/>
                </a:xfrm>
                <a:prstGeom prst="rect">
                  <a:avLst/>
                </a:prstGeom>
              </p:spPr>
            </p:pic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2164C09-3E45-EAB5-94A0-D52A6CAFF7B3}"/>
                    </a:ext>
                  </a:extLst>
                </p:cNvPr>
                <p:cNvGrpSpPr/>
                <p:nvPr/>
              </p:nvGrpSpPr>
              <p:grpSpPr>
                <a:xfrm>
                  <a:off x="771889" y="1561596"/>
                  <a:ext cx="2848519" cy="476250"/>
                  <a:chOff x="771889" y="1474509"/>
                  <a:chExt cx="2848519" cy="476250"/>
                </a:xfrm>
              </p:grpSpPr>
              <p:pic>
                <p:nvPicPr>
                  <p:cNvPr id="13" name="Picture 12">
                    <a:extLst>
                      <a:ext uri="{FF2B5EF4-FFF2-40B4-BE49-F238E27FC236}">
                        <a16:creationId xmlns:a16="http://schemas.microsoft.com/office/drawing/2014/main" id="{03048724-9AC1-2634-3030-559A1647CEB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t="-2041" r="20544"/>
                  <a:stretch>
                    <a:fillRect/>
                  </a:stretch>
                </p:blipFill>
                <p:spPr>
                  <a:xfrm>
                    <a:off x="771889" y="1474509"/>
                    <a:ext cx="2066108" cy="476250"/>
                  </a:xfrm>
                  <a:prstGeom prst="rect">
                    <a:avLst/>
                  </a:prstGeom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CAA6090C-5358-9B70-4C86-B31AA578B2F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l="78954"/>
                  <a:stretch>
                    <a:fillRect/>
                  </a:stretch>
                </p:blipFill>
                <p:spPr>
                  <a:xfrm>
                    <a:off x="3073129" y="1479271"/>
                    <a:ext cx="547279" cy="466725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7A8DCB8C-179F-7DC5-2651-1DB79A1984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" b="49340"/>
                <a:stretch>
                  <a:fillRect/>
                </a:stretch>
              </p:blipFill>
              <p:spPr>
                <a:xfrm>
                  <a:off x="1000980" y="2082468"/>
                  <a:ext cx="4953000" cy="815459"/>
                </a:xfrm>
                <a:prstGeom prst="rect">
                  <a:avLst/>
                </a:prstGeom>
              </p:spPr>
            </p:pic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752B941-3E23-0EEE-3C03-4FAF44369101}"/>
                    </a:ext>
                  </a:extLst>
                </p:cNvPr>
                <p:cNvSpPr/>
                <p:nvPr/>
              </p:nvSpPr>
              <p:spPr>
                <a:xfrm>
                  <a:off x="676003" y="334423"/>
                  <a:ext cx="2824842" cy="1182549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F3F83B-A6CA-28F1-E03A-7B349F665D43}"/>
                </a:ext>
              </a:extLst>
            </p:cNvPr>
            <p:cNvSpPr txBox="1"/>
            <p:nvPr/>
          </p:nvSpPr>
          <p:spPr>
            <a:xfrm>
              <a:off x="7279369" y="4850526"/>
              <a:ext cx="12192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0000FF"/>
                  </a:solidFill>
                </a:rPr>
                <a:t>heat losses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A3E7AF0-73B5-4CC6-9427-4896A57CAA4B}"/>
                </a:ext>
              </a:extLst>
            </p:cNvPr>
            <p:cNvSpPr txBox="1"/>
            <p:nvPr/>
          </p:nvSpPr>
          <p:spPr>
            <a:xfrm>
              <a:off x="8695802" y="4857820"/>
              <a:ext cx="275279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>
                <a:defRPr>
                  <a:solidFill>
                    <a:srgbClr val="0000FF"/>
                  </a:solidFill>
                </a:defRPr>
              </a:lvl1pPr>
            </a:lstStyle>
            <a:p>
              <a:r>
                <a:rPr lang="LID4096" sz="1400" dirty="0"/>
                <a:t>external work of the thermal loads</a:t>
              </a: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F9E4C3-CBA3-6E42-B4D0-628D34F56B7C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790EF8-A016-39E0-D82C-D70338D4258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2693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4283</TotalTime>
  <Words>1624</Words>
  <Application>Microsoft Office PowerPoint</Application>
  <PresentationFormat>Widescreen</PresentationFormat>
  <Paragraphs>330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51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Cambria Math</vt:lpstr>
      <vt:lpstr>Charis SIL</vt:lpstr>
      <vt:lpstr>Consolas</vt:lpstr>
      <vt:lpstr>Google Sans</vt:lpstr>
      <vt:lpstr>Horley Old Style MT</vt:lpstr>
      <vt:lpstr>LMRoman12-Regular</vt:lpstr>
      <vt:lpstr>MyriadPro-SemiboldSemiCn</vt:lpstr>
      <vt:lpstr>MyriadPro-SemiboldSemiCnIt</vt:lpstr>
      <vt:lpstr>NywgqrAdvTT3713a231</vt:lpstr>
      <vt:lpstr>Segoe UI</vt:lpstr>
      <vt:lpstr>STIXGeneral-BoldItalic</vt:lpstr>
      <vt:lpstr>STIXGeneral-Italic2</vt:lpstr>
      <vt:lpstr>STIXGeneral-Italic3</vt:lpstr>
      <vt:lpstr>STIXMath</vt:lpstr>
      <vt:lpstr>STIXMath-Italic</vt:lpstr>
      <vt:lpstr>STIX-Regular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268</cp:revision>
  <dcterms:created xsi:type="dcterms:W3CDTF">2026-09-30T17:20:39Z</dcterms:created>
  <dcterms:modified xsi:type="dcterms:W3CDTF">2026-10-19T18:58:56Z</dcterms:modified>
</cp:coreProperties>
</file>