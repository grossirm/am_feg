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69" r:id="rId3"/>
    <p:sldId id="263" r:id="rId4"/>
    <p:sldId id="289" r:id="rId5"/>
    <p:sldId id="291" r:id="rId6"/>
    <p:sldId id="295" r:id="rId7"/>
    <p:sldId id="298" r:id="rId8"/>
    <p:sldId id="272" r:id="rId9"/>
    <p:sldId id="297" r:id="rId10"/>
    <p:sldId id="276" r:id="rId11"/>
    <p:sldId id="284" r:id="rId12"/>
    <p:sldId id="285" r:id="rId13"/>
    <p:sldId id="287" r:id="rId14"/>
    <p:sldId id="294" r:id="rId15"/>
    <p:sldId id="288" r:id="rId16"/>
    <p:sldId id="293" r:id="rId17"/>
    <p:sldId id="273" r:id="rId18"/>
    <p:sldId id="270" r:id="rId19"/>
    <p:sldId id="282" r:id="rId20"/>
    <p:sldId id="281" r:id="rId21"/>
    <p:sldId id="266" r:id="rId22"/>
    <p:sldId id="290" r:id="rId23"/>
    <p:sldId id="265" r:id="rId24"/>
    <p:sldId id="257" r:id="rId25"/>
    <p:sldId id="277" r:id="rId26"/>
    <p:sldId id="278" r:id="rId27"/>
    <p:sldId id="260" r:id="rId28"/>
    <p:sldId id="296" r:id="rId29"/>
    <p:sldId id="268" r:id="rId30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FFCC"/>
    <a:srgbClr val="FFEFFF"/>
    <a:srgbClr val="FFFBFF"/>
    <a:srgbClr val="FFDDFF"/>
    <a:srgbClr val="DAE3F3"/>
    <a:srgbClr val="E5FFF6"/>
    <a:srgbClr val="BDFFE9"/>
    <a:srgbClr val="C9FF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38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55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28921-5049-2E32-25A4-86F65610AA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D8C54D-5AEE-839C-E6CE-1CBBACA454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F335BE-C74C-CB6A-2B3A-763F6D31C4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E9BB9B-E6B7-AB9D-291F-299AABC96A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2DC91E-CD3E-36EF-0845-6EAE8937D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035818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B7D1C-F319-72E2-9ADA-D91D0A1EB5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7BCDC5-F031-8865-C1B3-15A3AAD6E9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B8A3C3-35B0-0245-783F-E1D2295E7E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1B5C52-A3F0-8838-8AE5-DC29946D30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06FA7B-93B4-7B06-EB54-C87EECEE5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951269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ADFD5D-8C2D-47C9-F784-D71D6C99DB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DA3644-D5D7-639D-9D01-47ADEF79FB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E7BC99-1286-48D3-90FB-10CC7DA1A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7B7651-21C8-1EE2-9B79-BB8017B8F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811145-94A9-10EB-063F-1B221B674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9961435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0CDD21-43A1-10C1-3651-871BCCB0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0A32DD-14B2-A15A-D2A1-AE2297F825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4E3FE99-E72B-9244-7EFB-C60EE1AF8F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54D93A-4972-F498-6313-8CD04CD810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10/23/2026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CBF39C-ED62-2D11-0F4C-739C25099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B26EF5-B03A-255C-2AA0-0E0F94A1F2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180365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FDD20D-092D-A734-2227-98DBAC15C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DB66FA-ED88-86AB-4998-A266CC8DA1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ABCE67-A9D1-C824-1A0C-4D0B2EEF17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5F5106-4821-0BA4-2A24-5ACDA98159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1F419F-06FF-BE02-F0F5-5279F1BC02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450294E-7236-2751-0FBB-8408E34BA7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10/23/2026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7FF2BE-B79E-CBEF-1F90-9BB0D58C7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3B957DA-9932-5F90-3C6B-110E650FA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429651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EB9A1-A865-C17A-18A1-8D9423F207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752FA0B-0456-19AB-C82E-85FAE83145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10/23/2026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8435560-35B7-033F-8002-88AE8FBCEA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9C48C5D-7CDC-90A0-B7BE-0B413E51D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55969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6CCFCFB-D5E3-1EBB-0813-5525914B8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10/23/2026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C57FED4-FD0E-4038-C245-9C42D33BF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E2338A-5F42-05CD-688E-6235921A71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773021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A402A-1B0E-19F5-4F43-61DA5EF289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515FC5-D1B1-6B16-0C4A-D5B9C9DECE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3356E4-A0AB-2182-EC2A-312898C84A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8A5BF0-567A-36EE-9770-251B10980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10/23/2026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792492-1424-5EC0-7797-DCD14F909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CB43C3-D0BE-17BE-258A-D2095F034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739832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6BD9E-3C35-7CE6-C397-02CAB9CE4B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DD81586-3DE7-1CED-A6FA-516F32DC9A0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F83911-9CA4-91CC-A2D5-74E33EB36A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BB73AF-257F-4AB4-4438-B5F82E031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10/23/2026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AD3FD0-2C0F-2D84-53E7-202C71E32D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582C7F-0CEB-AF03-1866-F3FAD42C2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772137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035A0D-E1E8-F181-8213-2B452845E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9580F6-16D9-4C8A-4D3E-2C67E9F8AC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1FA7D0-F549-C4AD-CA87-A769E218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09DD54-320A-040C-9CEB-DB00F45E51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0B8D1B-8549-922B-2420-31F98FD75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73790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0A5A027-C698-463D-495A-D7085AE74A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B5A546-1999-B8F8-7674-248D56D089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0B8244-F6AE-3BFA-0CD4-70293E6F99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182EAB-7A87-22ED-E19C-E146064A9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F3936B-53D2-50CB-D565-BBC7F1033C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097572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4A41BD9-EA3F-C372-285F-0E39B54A6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99B9AB-C7EC-E7BA-13DB-1B474E0B06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06A62A-CFD7-80AA-9B44-CBD28EA449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72F609-7128-42D8-8672-4D6F16D38DEE}" type="datetimeFigureOut">
              <a:rPr lang="LID4096" smtClean="0"/>
              <a:t>10/23/2026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1750B6-8239-FB0A-429F-C1C3D106C9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9FF734-DC96-1ACA-B5C3-248A9D54B2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447952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18" Type="http://schemas.openxmlformats.org/officeDocument/2006/relationships/image" Target="../media/image200.png"/><Relationship Id="rId26" Type="http://schemas.openxmlformats.org/officeDocument/2006/relationships/image" Target="../media/image8.png"/><Relationship Id="rId21" Type="http://schemas.openxmlformats.org/officeDocument/2006/relationships/image" Target="../media/image53.png"/><Relationship Id="rId17" Type="http://schemas.openxmlformats.org/officeDocument/2006/relationships/image" Target="../media/image190.png"/><Relationship Id="rId25" Type="http://schemas.openxmlformats.org/officeDocument/2006/relationships/image" Target="../media/image7.png"/><Relationship Id="rId2" Type="http://schemas.openxmlformats.org/officeDocument/2006/relationships/image" Target="../media/image4.PNG"/><Relationship Id="rId16" Type="http://schemas.openxmlformats.org/officeDocument/2006/relationships/image" Target="../media/image180.png"/><Relationship Id="rId20" Type="http://schemas.openxmlformats.org/officeDocument/2006/relationships/image" Target="../media/image220.png"/><Relationship Id="rId29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52.png"/><Relationship Id="rId24" Type="http://schemas.openxmlformats.org/officeDocument/2006/relationships/image" Target="../media/image6.png"/><Relationship Id="rId23" Type="http://schemas.openxmlformats.org/officeDocument/2006/relationships/image" Target="../media/image5.jpeg"/><Relationship Id="rId28" Type="http://schemas.openxmlformats.org/officeDocument/2006/relationships/image" Target="../media/image10.png"/><Relationship Id="rId10" Type="http://schemas.openxmlformats.org/officeDocument/2006/relationships/image" Target="../media/image51.png"/><Relationship Id="rId19" Type="http://schemas.openxmlformats.org/officeDocument/2006/relationships/image" Target="../media/image210.png"/><Relationship Id="rId9" Type="http://schemas.openxmlformats.org/officeDocument/2006/relationships/image" Target="../media/image50.png"/><Relationship Id="rId22" Type="http://schemas.openxmlformats.org/officeDocument/2006/relationships/image" Target="../media/image110.png"/><Relationship Id="rId27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7" Type="http://schemas.openxmlformats.org/officeDocument/2006/relationships/image" Target="../media/image12.png"/><Relationship Id="rId1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11" Type="http://schemas.openxmlformats.org/officeDocument/2006/relationships/image" Target="../media/image14.png"/><Relationship Id="rId5" Type="http://schemas.openxmlformats.org/officeDocument/2006/relationships/image" Target="../media/image33.png"/><Relationship Id="rId10" Type="http://schemas.openxmlformats.org/officeDocument/2006/relationships/image" Target="../media/image37.png"/><Relationship Id="rId4" Type="http://schemas.openxmlformats.org/officeDocument/2006/relationships/image" Target="../media/image27.png"/><Relationship Id="rId9" Type="http://schemas.openxmlformats.org/officeDocument/2006/relationships/image" Target="../media/image3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30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0.png"/><Relationship Id="rId7" Type="http://schemas.openxmlformats.org/officeDocument/2006/relationships/image" Target="../media/image35.jpe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0.png"/><Relationship Id="rId5" Type="http://schemas.openxmlformats.org/officeDocument/2006/relationships/image" Target="../media/image69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9.png"/><Relationship Id="rId7" Type="http://schemas.openxmlformats.org/officeDocument/2006/relationships/image" Target="../media/image42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11" Type="http://schemas.openxmlformats.org/officeDocument/2006/relationships/image" Target="../media/image46.gif"/><Relationship Id="rId5" Type="http://schemas.openxmlformats.org/officeDocument/2006/relationships/image" Target="../media/image41.png"/><Relationship Id="rId10" Type="http://schemas.openxmlformats.org/officeDocument/2006/relationships/image" Target="../media/image45.png"/><Relationship Id="rId4" Type="http://schemas.openxmlformats.org/officeDocument/2006/relationships/image" Target="../media/image40.png"/><Relationship Id="rId9" Type="http://schemas.openxmlformats.org/officeDocument/2006/relationships/image" Target="../media/image4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48.png"/><Relationship Id="rId7" Type="http://schemas.openxmlformats.org/officeDocument/2006/relationships/image" Target="../media/image41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png"/><Relationship Id="rId3" Type="http://schemas.openxmlformats.org/officeDocument/2006/relationships/image" Target="../media/image58.png"/><Relationship Id="rId7" Type="http://schemas.openxmlformats.org/officeDocument/2006/relationships/image" Target="../media/image62.png"/><Relationship Id="rId12" Type="http://schemas.openxmlformats.org/officeDocument/2006/relationships/image" Target="../media/image56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.png"/><Relationship Id="rId11" Type="http://schemas.openxmlformats.org/officeDocument/2006/relationships/image" Target="../media/image65.jpeg"/><Relationship Id="rId5" Type="http://schemas.openxmlformats.org/officeDocument/2006/relationships/image" Target="../media/image60.png"/><Relationship Id="rId10" Type="http://schemas.openxmlformats.org/officeDocument/2006/relationships/image" Target="../media/image64.jpeg"/><Relationship Id="rId4" Type="http://schemas.openxmlformats.org/officeDocument/2006/relationships/image" Target="../media/image59.png"/><Relationship Id="rId9" Type="http://schemas.openxmlformats.org/officeDocument/2006/relationships/image" Target="../media/image3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7.png"/><Relationship Id="rId7" Type="http://schemas.openxmlformats.org/officeDocument/2006/relationships/image" Target="../media/image44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11" Type="http://schemas.openxmlformats.org/officeDocument/2006/relationships/image" Target="../media/image340.png"/><Relationship Id="rId5" Type="http://schemas.openxmlformats.org/officeDocument/2006/relationships/image" Target="../media/image69.png"/><Relationship Id="rId10" Type="http://schemas.openxmlformats.org/officeDocument/2006/relationships/image" Target="../media/image40.png"/><Relationship Id="rId4" Type="http://schemas.openxmlformats.org/officeDocument/2006/relationships/image" Target="../media/image68.png"/><Relationship Id="rId9" Type="http://schemas.openxmlformats.org/officeDocument/2006/relationships/image" Target="../media/image72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grossiRM/CFD_ON/tree/main/04_OpenFoam" TargetMode="External"/><Relationship Id="rId3" Type="http://schemas.openxmlformats.org/officeDocument/2006/relationships/image" Target="../media/image74.jpeg"/><Relationship Id="rId7" Type="http://schemas.openxmlformats.org/officeDocument/2006/relationships/image" Target="../media/image78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7.png"/><Relationship Id="rId5" Type="http://schemas.openxmlformats.org/officeDocument/2006/relationships/image" Target="../media/image76.png"/><Relationship Id="rId10" Type="http://schemas.openxmlformats.org/officeDocument/2006/relationships/image" Target="../media/image80.png"/><Relationship Id="rId4" Type="http://schemas.openxmlformats.org/officeDocument/2006/relationships/image" Target="../media/image75.png"/><Relationship Id="rId9" Type="http://schemas.openxmlformats.org/officeDocument/2006/relationships/image" Target="../media/image79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0.png"/><Relationship Id="rId3" Type="http://schemas.openxmlformats.org/officeDocument/2006/relationships/image" Target="../media/image75.png"/><Relationship Id="rId7" Type="http://schemas.openxmlformats.org/officeDocument/2006/relationships/image" Target="../media/image690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0.png"/><Relationship Id="rId5" Type="http://schemas.openxmlformats.org/officeDocument/2006/relationships/image" Target="../media/image77.png"/><Relationship Id="rId4" Type="http://schemas.openxmlformats.org/officeDocument/2006/relationships/image" Target="../media/image7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formnext.mesago.com/frankfurt/en/industry-insights/am-field-guide/process_in_general.html" TargetMode="External"/><Relationship Id="rId2" Type="http://schemas.openxmlformats.org/officeDocument/2006/relationships/image" Target="../media/image8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3.jpeg"/><Relationship Id="rId4" Type="http://schemas.openxmlformats.org/officeDocument/2006/relationships/image" Target="../media/image82.jpe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formnext.mesago.com/frankfurt/en/industry-insights/am-field-guide/process_in_general.html" TargetMode="External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8.png"/><Relationship Id="rId4" Type="http://schemas.openxmlformats.org/officeDocument/2006/relationships/image" Target="../media/image8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7" Type="http://schemas.openxmlformats.org/officeDocument/2006/relationships/image" Target="../media/image96.png"/><Relationship Id="rId25" Type="http://schemas.openxmlformats.org/officeDocument/2006/relationships/image" Target="../media/image721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5.png"/><Relationship Id="rId24" Type="http://schemas.openxmlformats.org/officeDocument/2006/relationships/image" Target="../media/image6.png"/><Relationship Id="rId5" Type="http://schemas.openxmlformats.org/officeDocument/2006/relationships/image" Target="../media/image94.png"/><Relationship Id="rId4" Type="http://schemas.openxmlformats.org/officeDocument/2006/relationships/image" Target="../media/image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0.png"/><Relationship Id="rId5" Type="http://schemas.openxmlformats.org/officeDocument/2006/relationships/image" Target="../media/image690.png"/><Relationship Id="rId4" Type="http://schemas.openxmlformats.org/officeDocument/2006/relationships/image" Target="../media/image68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LR-RY/VoFLibrary" TargetMode="External"/><Relationship Id="rId7" Type="http://schemas.openxmlformats.org/officeDocument/2006/relationships/image" Target="../media/image750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0.png"/><Relationship Id="rId5" Type="http://schemas.openxmlformats.org/officeDocument/2006/relationships/image" Target="../media/image730.png"/><Relationship Id="rId4" Type="http://schemas.openxmlformats.org/officeDocument/2006/relationships/image" Target="../media/image720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jpeg"/><Relationship Id="rId3" Type="http://schemas.openxmlformats.org/officeDocument/2006/relationships/image" Target="../media/image100.png"/><Relationship Id="rId7" Type="http://schemas.openxmlformats.org/officeDocument/2006/relationships/image" Target="../media/image104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.png"/><Relationship Id="rId5" Type="http://schemas.openxmlformats.org/officeDocument/2006/relationships/image" Target="../media/image102.png"/><Relationship Id="rId4" Type="http://schemas.openxmlformats.org/officeDocument/2006/relationships/image" Target="../media/image10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2.png"/><Relationship Id="rId4" Type="http://schemas.openxmlformats.org/officeDocument/2006/relationships/image" Target="../media/image107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4.png"/><Relationship Id="rId3" Type="http://schemas.openxmlformats.org/officeDocument/2006/relationships/image" Target="../media/image109.png"/><Relationship Id="rId7" Type="http://schemas.openxmlformats.org/officeDocument/2006/relationships/image" Target="../media/image113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2.png"/><Relationship Id="rId11" Type="http://schemas.openxmlformats.org/officeDocument/2006/relationships/image" Target="../media/image105.png"/><Relationship Id="rId5" Type="http://schemas.openxmlformats.org/officeDocument/2006/relationships/image" Target="../media/image112.png"/><Relationship Id="rId10" Type="http://schemas.openxmlformats.org/officeDocument/2006/relationships/image" Target="../media/image107.png"/><Relationship Id="rId4" Type="http://schemas.openxmlformats.org/officeDocument/2006/relationships/image" Target="../media/image111.png"/><Relationship Id="rId9" Type="http://schemas.openxmlformats.org/officeDocument/2006/relationships/image" Target="../media/image115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png"/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9.png"/><Relationship Id="rId4" Type="http://schemas.openxmlformats.org/officeDocument/2006/relationships/image" Target="../media/image1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A2E74B6-3C6E-346D-648E-B4AB2B22A884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5037BCBA-444F-A065-9520-D96B0388A2B9}"/>
              </a:ext>
            </a:extLst>
          </p:cNvPr>
          <p:cNvCxnSpPr/>
          <p:nvPr/>
        </p:nvCxnSpPr>
        <p:spPr>
          <a:xfrm>
            <a:off x="5676523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E80FE23-DB89-9CAC-5DE4-80E598169ABA}"/>
              </a:ext>
            </a:extLst>
          </p:cNvPr>
          <p:cNvSpPr/>
          <p:nvPr/>
        </p:nvSpPr>
        <p:spPr>
          <a:xfrm>
            <a:off x="6421922" y="201481"/>
            <a:ext cx="5071603" cy="318411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r>
              <a:rPr lang="en-US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Directed Energy Deposition (DED)</a:t>
            </a:r>
            <a:endParaRPr lang="LID4096" sz="24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orley Old Style MT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31717DC-E08A-F153-F093-47FAB12A3E9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453" t="1979" r="3871" b="55847"/>
          <a:stretch>
            <a:fillRect/>
          </a:stretch>
        </p:blipFill>
        <p:spPr>
          <a:xfrm>
            <a:off x="6331768" y="697116"/>
            <a:ext cx="4705992" cy="306912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C64638C-E3C1-B05C-2A60-DC9970BE6FB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044" t="52481"/>
          <a:stretch>
            <a:fillRect/>
          </a:stretch>
        </p:blipFill>
        <p:spPr>
          <a:xfrm>
            <a:off x="6578430" y="3953203"/>
            <a:ext cx="4332584" cy="276863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C5E4821-3A2C-49A0-D61A-EF6CBAC7767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450" t="1979" r="52120" b="55847"/>
          <a:stretch>
            <a:fillRect/>
          </a:stretch>
        </p:blipFill>
        <p:spPr>
          <a:xfrm>
            <a:off x="585177" y="697116"/>
            <a:ext cx="4704696" cy="306912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81418AD-8511-5108-6887-B0645A1BEDB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2791" r="50044"/>
          <a:stretch>
            <a:fillRect/>
          </a:stretch>
        </p:blipFill>
        <p:spPr>
          <a:xfrm>
            <a:off x="707853" y="3969366"/>
            <a:ext cx="4332584" cy="2750526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F794F47-B59C-8DC5-E51E-9257C60CD17A}"/>
              </a:ext>
            </a:extLst>
          </p:cNvPr>
          <p:cNvSpPr/>
          <p:nvPr/>
        </p:nvSpPr>
        <p:spPr>
          <a:xfrm>
            <a:off x="784340" y="201481"/>
            <a:ext cx="3380256" cy="318411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r>
              <a:rPr lang="LID4096" sz="2400" b="1" u="sng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Powder</a:t>
            </a:r>
            <a:r>
              <a:rPr lang="pt-BR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 </a:t>
            </a:r>
            <a:r>
              <a:rPr lang="LID4096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Bed Fusion (PBF)</a:t>
            </a:r>
          </a:p>
        </p:txBody>
      </p:sp>
    </p:spTree>
    <p:extLst>
      <p:ext uri="{BB962C8B-B14F-4D97-AF65-F5344CB8AC3E}">
        <p14:creationId xmlns:p14="http://schemas.microsoft.com/office/powerpoint/2010/main" val="20468961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B47A7-35CA-C242-B76D-83DA96D6A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F45C74A-CC08-BD7F-61E8-7645E6DD463F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FE7A7C-03EC-0F16-903D-BFF5517595B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0330"/>
          <a:stretch>
            <a:fillRect/>
          </a:stretch>
        </p:blipFill>
        <p:spPr>
          <a:xfrm>
            <a:off x="8908610" y="4405154"/>
            <a:ext cx="2117835" cy="215012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AEBB0BD-7342-CEEC-C6FC-434A548652F7}"/>
              </a:ext>
            </a:extLst>
          </p:cNvPr>
          <p:cNvSpPr/>
          <p:nvPr/>
        </p:nvSpPr>
        <p:spPr>
          <a:xfrm>
            <a:off x="6421922" y="201481"/>
            <a:ext cx="5071603" cy="318411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r>
              <a:rPr lang="en-US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Directed Energy Deposition (DED - </a:t>
            </a:r>
            <a:r>
              <a:rPr lang="en-US" sz="24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ARC</a:t>
            </a:r>
            <a:r>
              <a:rPr lang="en-US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)</a:t>
            </a:r>
            <a:endParaRPr lang="LID4096" sz="24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orley Old Style MT"/>
            </a:endParaRPr>
          </a:p>
        </p:txBody>
      </p:sp>
      <p:pic>
        <p:nvPicPr>
          <p:cNvPr id="16" name="Picture 2">
            <a:extLst>
              <a:ext uri="{FF2B5EF4-FFF2-40B4-BE49-F238E27FC236}">
                <a16:creationId xmlns:a16="http://schemas.microsoft.com/office/drawing/2014/main" id="{B8D4F16C-1F71-CD67-F7B1-035A0F9966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8647" y="697120"/>
            <a:ext cx="4707798" cy="353084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C9DBE22-0C4C-95E4-AABC-C64DD76A297F}"/>
              </a:ext>
            </a:extLst>
          </p:cNvPr>
          <p:cNvSpPr txBox="1"/>
          <p:nvPr/>
        </p:nvSpPr>
        <p:spPr>
          <a:xfrm>
            <a:off x="6318647" y="4522849"/>
            <a:ext cx="2454161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800" dirty="0">
                <a:solidFill>
                  <a:srgbClr val="0000FF"/>
                </a:solidFill>
              </a:rPr>
              <a:t>Wire Arc  </a:t>
            </a:r>
          </a:p>
          <a:p>
            <a:pPr algn="ctr"/>
            <a:r>
              <a:rPr lang="en-GB" sz="3600" b="1" dirty="0">
                <a:solidFill>
                  <a:srgbClr val="0000FF"/>
                </a:solidFill>
              </a:rPr>
              <a:t>WAAM</a:t>
            </a:r>
          </a:p>
          <a:p>
            <a:pPr algn="ctr"/>
            <a:r>
              <a:rPr lang="en-GB" sz="3600" b="1" dirty="0">
                <a:solidFill>
                  <a:srgbClr val="0000FF"/>
                </a:solidFill>
              </a:rPr>
              <a:t>Wire DED</a:t>
            </a:r>
            <a:endParaRPr lang="en-GB" sz="3600" dirty="0">
              <a:solidFill>
                <a:srgbClr val="0000FF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2C6E52-701D-9A04-C61F-B318F5709B32}"/>
              </a:ext>
            </a:extLst>
          </p:cNvPr>
          <p:cNvSpPr txBox="1"/>
          <p:nvPr/>
        </p:nvSpPr>
        <p:spPr>
          <a:xfrm>
            <a:off x="6183514" y="6057399"/>
            <a:ext cx="25840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800" b="1" noProof="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Arco Voltaico</a:t>
            </a:r>
            <a:endParaRPr lang="pt-BR" sz="2800" noProof="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180FDF19-A33C-136F-1A28-B6A70AF3043D}"/>
              </a:ext>
            </a:extLst>
          </p:cNvPr>
          <p:cNvGrpSpPr/>
          <p:nvPr/>
        </p:nvGrpSpPr>
        <p:grpSpPr>
          <a:xfrm>
            <a:off x="469242" y="1316124"/>
            <a:ext cx="5131267" cy="1977507"/>
            <a:chOff x="469242" y="658584"/>
            <a:chExt cx="5131267" cy="1977507"/>
          </a:xfrm>
        </p:grpSpPr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951DC266-B0C6-7AD9-4BB8-8ADFB9064D9E}"/>
                </a:ext>
              </a:extLst>
            </p:cNvPr>
            <p:cNvSpPr/>
            <p:nvPr/>
          </p:nvSpPr>
          <p:spPr>
            <a:xfrm>
              <a:off x="3722009" y="769025"/>
              <a:ext cx="980423" cy="318411"/>
            </a:xfrm>
            <a:prstGeom prst="roundRect">
              <a:avLst/>
            </a:prstGeom>
            <a:noFill/>
          </p:spPr>
          <p:txBody>
            <a:bodyPr wrap="square" lIns="0" tIns="0" rIns="0" bIns="0" anchor="ctr" anchorCtr="0">
              <a:noAutofit/>
            </a:bodyPr>
            <a:lstStyle/>
            <a:p>
              <a:pPr algn="r"/>
              <a:r>
                <a:rPr lang="en-US" sz="2400" b="1" dirty="0">
                  <a:latin typeface="Horley Old Style MT"/>
                </a:rPr>
                <a:t>EBM </a:t>
              </a:r>
              <a:endParaRPr lang="LID4096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AE35006-F1A4-F82E-9FA6-576C303FC24C}"/>
                </a:ext>
              </a:extLst>
            </p:cNvPr>
            <p:cNvSpPr txBox="1"/>
            <p:nvPr/>
          </p:nvSpPr>
          <p:spPr>
            <a:xfrm>
              <a:off x="469242" y="658584"/>
              <a:ext cx="3467032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400" b="1" u="sng" dirty="0">
                  <a:latin typeface="Horley Old Style MT"/>
                </a:rPr>
                <a:t>Electron Beam</a:t>
              </a:r>
              <a:r>
                <a:rPr lang="en-US" sz="2400" b="1" dirty="0">
                  <a:latin typeface="Horley Old Style MT"/>
                </a:rPr>
                <a:t> Melting</a:t>
              </a:r>
              <a:endParaRPr lang="LID4096" sz="2400" b="1" dirty="0">
                <a:latin typeface="Horley Old Style MT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6E1CCE9-6D2A-0BD7-3430-CB907C3B0A37}"/>
                </a:ext>
              </a:extLst>
            </p:cNvPr>
            <p:cNvSpPr txBox="1"/>
            <p:nvPr/>
          </p:nvSpPr>
          <p:spPr>
            <a:xfrm>
              <a:off x="469242" y="1066431"/>
              <a:ext cx="5131267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400" b="1" u="none" strike="noStrike" dirty="0">
                  <a:effectLst/>
                  <a:latin typeface="Google Sans"/>
                </a:rPr>
                <a:t>Vat </a:t>
              </a:r>
              <a:r>
                <a:rPr lang="en-GB" sz="2400" b="1" u="sng" strike="noStrike" dirty="0">
                  <a:solidFill>
                    <a:srgbClr val="FF0000"/>
                  </a:solidFill>
                  <a:effectLst/>
                  <a:latin typeface="Google Sans"/>
                </a:rPr>
                <a:t>Photo</a:t>
              </a:r>
              <a:r>
                <a:rPr lang="en-GB" sz="2400" b="1" u="none" strike="noStrike" dirty="0">
                  <a:effectLst/>
                  <a:latin typeface="Google Sans"/>
                </a:rPr>
                <a:t>polymerization      VPP</a:t>
              </a:r>
              <a:r>
                <a:rPr lang="en-GB" sz="2400" b="1" dirty="0"/>
                <a:t> </a:t>
              </a:r>
            </a:p>
            <a:p>
              <a:r>
                <a:rPr lang="en-GB" sz="2400" b="1" u="sng" dirty="0">
                  <a:latin typeface="Google Sans"/>
                </a:rPr>
                <a:t>Binder</a:t>
              </a:r>
              <a:r>
                <a:rPr lang="en-GB" sz="2400" b="1" dirty="0">
                  <a:latin typeface="Google Sans"/>
                </a:rPr>
                <a:t> Jetting 	</a:t>
              </a:r>
              <a:r>
                <a:rPr lang="en-GB" sz="2400" b="1" dirty="0">
                  <a:solidFill>
                    <a:srgbClr val="FF0000"/>
                  </a:solidFill>
                  <a:latin typeface="Google Sans"/>
                </a:rPr>
                <a:t>(glue)</a:t>
              </a:r>
              <a:r>
                <a:rPr lang="en-GB" sz="2400" b="1" dirty="0">
                  <a:latin typeface="Google Sans"/>
                </a:rPr>
                <a:t>	            BJ</a:t>
              </a:r>
              <a:r>
                <a:rPr lang="en-GB" sz="2400" b="1" dirty="0"/>
                <a:t> </a:t>
              </a:r>
            </a:p>
            <a:p>
              <a:r>
                <a:rPr lang="en-GB" sz="2400" b="1" dirty="0"/>
                <a:t>Material Jetting 	            MJ</a:t>
              </a:r>
            </a:p>
            <a:p>
              <a:r>
                <a:rPr lang="en-US" sz="2400" b="1" dirty="0">
                  <a:latin typeface="Horley Old Style MT"/>
                </a:rPr>
                <a:t>Sheet Lamination </a:t>
              </a:r>
              <a:r>
                <a:rPr lang="en-US" sz="2400" b="1" dirty="0">
                  <a:solidFill>
                    <a:srgbClr val="FF0000"/>
                  </a:solidFill>
                  <a:latin typeface="Horley Old Style MT"/>
                </a:rPr>
                <a:t>(cut)</a:t>
              </a:r>
              <a:r>
                <a:rPr lang="en-US" sz="2400" b="1" dirty="0">
                  <a:latin typeface="Horley Old Style MT"/>
                </a:rPr>
                <a:t>          SHL</a:t>
              </a:r>
              <a:endParaRPr lang="LID4096" sz="2400" b="1" dirty="0"/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D415A883-323F-D825-8070-C7FA0739707D}"/>
              </a:ext>
            </a:extLst>
          </p:cNvPr>
          <p:cNvSpPr txBox="1"/>
          <p:nvPr/>
        </p:nvSpPr>
        <p:spPr>
          <a:xfrm>
            <a:off x="613818" y="3919717"/>
            <a:ext cx="3661238" cy="16466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800" b="1" u="sng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Classificações A.M.:</a:t>
            </a:r>
          </a:p>
          <a:p>
            <a:endParaRPr lang="pt-BR" sz="1600" b="1" u="sng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342900" indent="-342900">
              <a:buFontTx/>
              <a:buChar char="-"/>
            </a:pPr>
            <a:r>
              <a:rPr lang="pt-BR" sz="2400" dirty="0"/>
              <a:t>Por </a:t>
            </a:r>
            <a:r>
              <a:rPr lang="pt-BR" sz="2400" u="sng" dirty="0"/>
              <a:t>fonte de energia</a:t>
            </a:r>
          </a:p>
          <a:p>
            <a:pPr marL="342900" indent="-342900">
              <a:buFontTx/>
              <a:buChar char="-"/>
            </a:pPr>
            <a:endParaRPr lang="pt-BR" sz="900" dirty="0"/>
          </a:p>
          <a:p>
            <a:pPr marL="342900" indent="-342900">
              <a:buFontTx/>
              <a:buChar char="-"/>
            </a:pPr>
            <a:r>
              <a:rPr lang="pt-BR" sz="2400" noProof="0" dirty="0"/>
              <a:t>Por </a:t>
            </a:r>
            <a:r>
              <a:rPr lang="pt-BR" sz="2400" u="sng" noProof="0" dirty="0"/>
              <a:t>tipo de material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647E3A2-4DD7-7204-6E35-8ACDC72ADD98}"/>
              </a:ext>
            </a:extLst>
          </p:cNvPr>
          <p:cNvSpPr txBox="1"/>
          <p:nvPr/>
        </p:nvSpPr>
        <p:spPr>
          <a:xfrm>
            <a:off x="-1" y="6306902"/>
            <a:ext cx="5524497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1000" b="1" i="0" u="none" strike="noStrike" baseline="0">
                <a:solidFill>
                  <a:schemeClr val="accent2"/>
                </a:solidFill>
                <a:latin typeface="AdvOTa2fa4214.B"/>
              </a:defRPr>
            </a:lvl1pPr>
          </a:lstStyle>
          <a:p>
            <a:r>
              <a:rPr lang="en-GB" sz="1400" dirty="0"/>
              <a:t>Modelling and simulation of metal additive manufacturing processes with particle methods: </a:t>
            </a:r>
            <a:r>
              <a:rPr lang="en-US" sz="1600" u="sng" dirty="0"/>
              <a:t>A review</a:t>
            </a:r>
            <a:r>
              <a:rPr lang="en-US" sz="1400" u="sng" dirty="0"/>
              <a:t> </a:t>
            </a:r>
            <a:r>
              <a:rPr lang="en-US" sz="1050" dirty="0"/>
              <a:t>https://doi.org/10.1080/17452759.2023.2274494</a:t>
            </a:r>
            <a:endParaRPr lang="LID4096" sz="1050" dirty="0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48CC822-50A7-BA08-8FEC-28D3FD8AAC40}"/>
              </a:ext>
            </a:extLst>
          </p:cNvPr>
          <p:cNvCxnSpPr/>
          <p:nvPr/>
        </p:nvCxnSpPr>
        <p:spPr>
          <a:xfrm>
            <a:off x="5676523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76B5466-651A-4813-52DC-98E73BD34022}"/>
              </a:ext>
            </a:extLst>
          </p:cNvPr>
          <p:cNvSpPr/>
          <p:nvPr/>
        </p:nvSpPr>
        <p:spPr>
          <a:xfrm>
            <a:off x="784340" y="201481"/>
            <a:ext cx="3380256" cy="318411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r>
              <a:rPr lang="LID4096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Powder</a:t>
            </a:r>
            <a:r>
              <a:rPr lang="pt-BR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 </a:t>
            </a:r>
            <a:r>
              <a:rPr lang="LID4096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Bed Fusion (PBF)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34A3A7-1340-B08A-9291-F6EE6511837A}"/>
              </a:ext>
            </a:extLst>
          </p:cNvPr>
          <p:cNvSpPr txBox="1"/>
          <p:nvPr/>
        </p:nvSpPr>
        <p:spPr>
          <a:xfrm>
            <a:off x="5647372" y="4706281"/>
            <a:ext cx="1206748" cy="461665"/>
          </a:xfrm>
          <a:prstGeom prst="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>
            <a:defPPr>
              <a:defRPr lang="LID4096"/>
            </a:defPPr>
            <a:lvl1pPr>
              <a:defRPr sz="24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defRPr>
            </a:lvl1pPr>
          </a:lstStyle>
          <a:p>
            <a:pPr algn="ctr"/>
            <a:r>
              <a:rPr lang="LID4096" dirty="0"/>
              <a:t>GTAW</a:t>
            </a:r>
          </a:p>
        </p:txBody>
      </p:sp>
    </p:spTree>
    <p:extLst>
      <p:ext uri="{BB962C8B-B14F-4D97-AF65-F5344CB8AC3E}">
        <p14:creationId xmlns:p14="http://schemas.microsoft.com/office/powerpoint/2010/main" val="4266251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0A5E383-2B32-2865-3DDE-578942CA3C47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378646D-4E92-EA17-AB94-8E5ACEB2D355}"/>
              </a:ext>
            </a:extLst>
          </p:cNvPr>
          <p:cNvSpPr txBox="1"/>
          <p:nvPr/>
        </p:nvSpPr>
        <p:spPr>
          <a:xfrm>
            <a:off x="892488" y="874453"/>
            <a:ext cx="6448837" cy="54168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sz="4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PROBLEMAS</a:t>
            </a:r>
            <a:r>
              <a:rPr lang="pt-BR" sz="4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A.M.</a:t>
            </a:r>
          </a:p>
          <a:p>
            <a:endParaRPr lang="LID4096" sz="1000" b="1" dirty="0"/>
          </a:p>
          <a:p>
            <a:pPr>
              <a:spcAft>
                <a:spcPts val="600"/>
              </a:spcAft>
            </a:pPr>
            <a:r>
              <a:rPr lang="pt-BR" sz="2800" dirty="0"/>
              <a:t>1- </a:t>
            </a:r>
            <a:r>
              <a:rPr lang="LID4096" sz="2800" dirty="0"/>
              <a:t>Orientação </a:t>
            </a:r>
            <a:r>
              <a:rPr lang="pt-BR" sz="2800" dirty="0"/>
              <a:t>– intensidade</a:t>
            </a:r>
            <a:endParaRPr lang="LID4096" sz="2800" dirty="0"/>
          </a:p>
          <a:p>
            <a:pPr>
              <a:spcAft>
                <a:spcPts val="600"/>
              </a:spcAft>
            </a:pPr>
            <a:r>
              <a:rPr lang="pt-BR" sz="2800" b="1" u="sng" dirty="0"/>
              <a:t>2- D</a:t>
            </a:r>
            <a:r>
              <a:rPr lang="LID4096" sz="2800" b="1" u="sng" dirty="0"/>
              <a:t>escontínuidades</a:t>
            </a:r>
            <a:r>
              <a:rPr lang="pt-BR" sz="2800" b="1" u="sng" dirty="0"/>
              <a:t> 	(</a:t>
            </a:r>
            <a:r>
              <a:rPr lang="LID4096" sz="2800" b="1" i="1" u="sng" dirty="0"/>
              <a:t>balling</a:t>
            </a:r>
            <a:r>
              <a:rPr lang="pt-BR" sz="2800" b="1" u="sng" dirty="0"/>
              <a:t>)</a:t>
            </a:r>
            <a:endParaRPr lang="LID4096" sz="2800" b="1" u="sng" dirty="0"/>
          </a:p>
          <a:p>
            <a:pPr>
              <a:spcAft>
                <a:spcPts val="600"/>
              </a:spcAft>
            </a:pPr>
            <a:r>
              <a:rPr lang="pt-BR" sz="2800" dirty="0"/>
              <a:t>3- </a:t>
            </a:r>
            <a:r>
              <a:rPr lang="LID4096" sz="2800" dirty="0"/>
              <a:t>Keyholes (espaços vazios - vapor)</a:t>
            </a:r>
          </a:p>
          <a:p>
            <a:pPr>
              <a:spcAft>
                <a:spcPts val="600"/>
              </a:spcAft>
            </a:pPr>
            <a:r>
              <a:rPr lang="pt-BR" sz="2800" dirty="0"/>
              <a:t>4- </a:t>
            </a:r>
            <a:r>
              <a:rPr lang="LID4096" sz="2800" dirty="0"/>
              <a:t>Degradação química e oxidação</a:t>
            </a:r>
            <a:endParaRPr lang="pt-BR" sz="2800" dirty="0"/>
          </a:p>
          <a:p>
            <a:pPr>
              <a:spcAft>
                <a:spcPts val="600"/>
              </a:spcAft>
            </a:pPr>
            <a:r>
              <a:rPr lang="pt-BR" sz="2800" b="1" u="sng" dirty="0"/>
              <a:t>5- </a:t>
            </a:r>
            <a:r>
              <a:rPr lang="LID4096" sz="2800" b="1" u="sng" dirty="0"/>
              <a:t>Partículas residuais</a:t>
            </a:r>
          </a:p>
          <a:p>
            <a:pPr>
              <a:spcAft>
                <a:spcPts val="600"/>
              </a:spcAft>
            </a:pPr>
            <a:r>
              <a:rPr lang="pt-BR" sz="2800" b="1" u="sng" dirty="0"/>
              <a:t>6- </a:t>
            </a:r>
            <a:r>
              <a:rPr lang="LID4096" sz="2800" b="1" u="sng" dirty="0"/>
              <a:t>Trincas</a:t>
            </a:r>
          </a:p>
          <a:p>
            <a:pPr>
              <a:spcAft>
                <a:spcPts val="600"/>
              </a:spcAft>
            </a:pPr>
            <a:r>
              <a:rPr lang="pt-BR" sz="2800" dirty="0"/>
              <a:t>7- </a:t>
            </a:r>
            <a:r>
              <a:rPr lang="LID4096" sz="2800" dirty="0"/>
              <a:t>Delaminação</a:t>
            </a:r>
            <a:r>
              <a:rPr lang="pt-BR" sz="2800" dirty="0"/>
              <a:t> / </a:t>
            </a:r>
            <a:r>
              <a:rPr lang="LID4096" sz="2800" dirty="0"/>
              <a:t>Distorção</a:t>
            </a:r>
          </a:p>
          <a:p>
            <a:pPr>
              <a:spcAft>
                <a:spcPts val="600"/>
              </a:spcAft>
            </a:pPr>
            <a:r>
              <a:rPr lang="pt-BR" sz="2800" dirty="0"/>
              <a:t>8- </a:t>
            </a:r>
            <a:r>
              <a:rPr lang="LID4096" sz="2800" dirty="0"/>
              <a:t>Acabamento superficial</a:t>
            </a:r>
          </a:p>
          <a:p>
            <a:pPr>
              <a:spcAft>
                <a:spcPts val="600"/>
              </a:spcAft>
            </a:pPr>
            <a:r>
              <a:rPr lang="pt-BR" sz="2800" b="1" u="sng" dirty="0"/>
              <a:t>9- </a:t>
            </a:r>
            <a:r>
              <a:rPr lang="LID4096" sz="2800" b="1" u="sng" dirty="0"/>
              <a:t>Porosidade</a:t>
            </a:r>
            <a:endParaRPr lang="LID4096" sz="2800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F4802523-39A9-93CD-3D5D-F72290DAC1F3}"/>
              </a:ext>
            </a:extLst>
          </p:cNvPr>
          <p:cNvSpPr/>
          <p:nvPr/>
        </p:nvSpPr>
        <p:spPr>
          <a:xfrm>
            <a:off x="6444343" y="1336012"/>
            <a:ext cx="5251268" cy="3626024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1200" b="1" noProof="0" dirty="0">
                <a:latin typeface="Calibri (Body)"/>
              </a:rPr>
              <a:t> </a:t>
            </a:r>
          </a:p>
          <a:p>
            <a:pPr marL="457200" indent="-457200">
              <a:buFontTx/>
              <a:buChar char="-"/>
            </a:pPr>
            <a:r>
              <a:rPr lang="pt-BR" sz="3600" b="1" noProof="0" dirty="0">
                <a:solidFill>
                  <a:srgbClr val="0000FF"/>
                </a:solidFill>
                <a:latin typeface="Calibri (Body)"/>
              </a:rPr>
              <a:t>Racionalizar o problema</a:t>
            </a:r>
          </a:p>
          <a:p>
            <a:pPr marL="457200" indent="-457200">
              <a:buFontTx/>
              <a:buChar char="-"/>
            </a:pPr>
            <a:r>
              <a:rPr lang="pt-BR" sz="3600" b="1" dirty="0">
                <a:latin typeface="Calibri (Body)"/>
              </a:rPr>
              <a:t>Criar hipóteses </a:t>
            </a:r>
          </a:p>
          <a:p>
            <a:pPr marL="457200" indent="-457200">
              <a:buFontTx/>
              <a:buChar char="-"/>
            </a:pPr>
            <a:r>
              <a:rPr lang="pt-BR" sz="3600" b="1" dirty="0">
                <a:latin typeface="Calibri (Body)"/>
              </a:rPr>
              <a:t>... entender a base de dados</a:t>
            </a:r>
            <a:endParaRPr lang="pt-BR" sz="3600" b="1" noProof="0" dirty="0">
              <a:latin typeface="Calibri (Body)"/>
            </a:endParaRPr>
          </a:p>
          <a:p>
            <a:pPr marL="457200" indent="-457200">
              <a:buFontTx/>
              <a:buChar char="-"/>
            </a:pPr>
            <a:r>
              <a:rPr lang="pt-BR" sz="3600" b="1" dirty="0">
                <a:solidFill>
                  <a:srgbClr val="FF0000"/>
                </a:solidFill>
                <a:latin typeface="Calibri (Body)"/>
              </a:rPr>
              <a:t>Controlar o processo de fabricação</a:t>
            </a:r>
            <a:endParaRPr lang="pt-BR" sz="3600" b="1" noProof="0" dirty="0">
              <a:solidFill>
                <a:srgbClr val="FF0000"/>
              </a:solidFill>
              <a:latin typeface="Calibri (Body)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AF34C84-B521-4465-5ABE-19053F4AEFEF}"/>
              </a:ext>
            </a:extLst>
          </p:cNvPr>
          <p:cNvSpPr txBox="1"/>
          <p:nvPr/>
        </p:nvSpPr>
        <p:spPr>
          <a:xfrm>
            <a:off x="6609804" y="6593148"/>
            <a:ext cx="558930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1400" b="1" i="0" u="none" strike="noStrike" baseline="0">
                <a:solidFill>
                  <a:schemeClr val="accent2"/>
                </a:solidFill>
                <a:latin typeface="AdvOTa2fa4214.B"/>
              </a:defRPr>
            </a:lvl1pPr>
          </a:lstStyle>
          <a:p>
            <a:pPr algn="r"/>
            <a:r>
              <a:rPr lang="LID4096" sz="1050" dirty="0"/>
              <a:t>Aula 3 - ED_Deposicao_por_energia_direcionada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B126066-2354-2130-32C5-10AC28739FB2}"/>
              </a:ext>
            </a:extLst>
          </p:cNvPr>
          <p:cNvSpPr txBox="1"/>
          <p:nvPr/>
        </p:nvSpPr>
        <p:spPr>
          <a:xfrm>
            <a:off x="5722372" y="5864167"/>
            <a:ext cx="626821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Grande quantidade de variáveis !</a:t>
            </a:r>
            <a:endParaRPr lang="LID4096" sz="3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CDE9C45-8EE6-07C3-97F7-7DF495D5B300}"/>
              </a:ext>
            </a:extLst>
          </p:cNvPr>
          <p:cNvSpPr/>
          <p:nvPr/>
        </p:nvSpPr>
        <p:spPr>
          <a:xfrm>
            <a:off x="7796814" y="317105"/>
            <a:ext cx="3829129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Para que modelar?</a:t>
            </a:r>
          </a:p>
        </p:txBody>
      </p:sp>
    </p:spTree>
    <p:extLst>
      <p:ext uri="{BB962C8B-B14F-4D97-AF65-F5344CB8AC3E}">
        <p14:creationId xmlns:p14="http://schemas.microsoft.com/office/powerpoint/2010/main" val="29062260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4102D-CECA-980A-2AD6-9D7B51734C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859B489-67D3-3532-7B30-DF76137F07F2}"/>
              </a:ext>
            </a:extLst>
          </p:cNvPr>
          <p:cNvSpPr/>
          <p:nvPr/>
        </p:nvSpPr>
        <p:spPr>
          <a:xfrm>
            <a:off x="-2583" y="0"/>
            <a:ext cx="12192000" cy="6858000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CAEC11-8F9A-034C-308C-AA33CA01BA86}"/>
              </a:ext>
            </a:extLst>
          </p:cNvPr>
          <p:cNvSpPr txBox="1"/>
          <p:nvPr/>
        </p:nvSpPr>
        <p:spPr>
          <a:xfrm>
            <a:off x="272599" y="525679"/>
            <a:ext cx="5367946" cy="5850635"/>
          </a:xfrm>
          <a:prstGeom prst="rect">
            <a:avLst/>
          </a:prstGeom>
          <a:solidFill>
            <a:srgbClr val="A7E8FF"/>
          </a:solidFill>
          <a:effectLst/>
        </p:spPr>
        <p:txBody>
          <a:bodyPr wrap="none" lIns="0" tIns="0" rIns="0" bIns="0" rtlCol="0" anchor="t" anchorCtr="0">
            <a:noAutofit/>
          </a:bodyPr>
          <a:lstStyle>
            <a:defPPr>
              <a:defRPr lang="LID4096"/>
            </a:defPPr>
            <a:lvl1pPr algn="ctr">
              <a:defRPr sz="3600" b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algn="l"/>
            <a:r>
              <a:rPr lang="pt-BR" dirty="0"/>
              <a:t> </a:t>
            </a:r>
            <a:r>
              <a:rPr lang="pt-BR" sz="4000" u="sng" dirty="0"/>
              <a:t>Contexto</a:t>
            </a:r>
            <a:endParaRPr lang="pt-BR" u="sng" dirty="0"/>
          </a:p>
        </p:txBody>
      </p:sp>
      <p:sp>
        <p:nvSpPr>
          <p:cNvPr id="5" name="Retângulo 83">
            <a:extLst>
              <a:ext uri="{FF2B5EF4-FFF2-40B4-BE49-F238E27FC236}">
                <a16:creationId xmlns:a16="http://schemas.microsoft.com/office/drawing/2014/main" id="{E9DBDE52-75D3-B495-AE58-D2C816647D0C}"/>
              </a:ext>
            </a:extLst>
          </p:cNvPr>
          <p:cNvSpPr/>
          <p:nvPr/>
        </p:nvSpPr>
        <p:spPr>
          <a:xfrm>
            <a:off x="528640" y="1237518"/>
            <a:ext cx="4871383" cy="1663367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sz="1400" b="1" u="sng" dirty="0"/>
          </a:p>
        </p:txBody>
      </p:sp>
      <p:sp>
        <p:nvSpPr>
          <p:cNvPr id="6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F885EEA9-577F-D3DE-6E26-7E41EB9CDE73}"/>
              </a:ext>
            </a:extLst>
          </p:cNvPr>
          <p:cNvSpPr txBox="1"/>
          <p:nvPr/>
        </p:nvSpPr>
        <p:spPr>
          <a:xfrm>
            <a:off x="2563262" y="646332"/>
            <a:ext cx="2847048" cy="461665"/>
          </a:xfrm>
          <a:prstGeom prst="rect">
            <a:avLst/>
          </a:prstGeom>
          <a:noFill/>
          <a:ln w="38100">
            <a:noFill/>
          </a:ln>
        </p:spPr>
        <p:txBody>
          <a:bodyPr wrap="square" anchor="ctr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pt-BR" sz="28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Darcy  </a:t>
            </a:r>
            <a:r>
              <a:rPr lang="pt-BR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~  Fourier</a:t>
            </a:r>
            <a:endParaRPr lang="pt-BR" sz="2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7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E8056E78-FDBB-F7C9-9DCC-263CE7ABB10B}"/>
              </a:ext>
            </a:extLst>
          </p:cNvPr>
          <p:cNvSpPr txBox="1"/>
          <p:nvPr/>
        </p:nvSpPr>
        <p:spPr>
          <a:xfrm>
            <a:off x="3847550" y="2342797"/>
            <a:ext cx="1650878" cy="487809"/>
          </a:xfrm>
          <a:prstGeom prst="rect">
            <a:avLst/>
          </a:prstGeom>
          <a:noFill/>
          <a:ln w="38100">
            <a:noFill/>
          </a:ln>
        </p:spPr>
        <p:txBody>
          <a:bodyPr wrap="square" anchor="ctr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endParaRPr lang="pt-BR" sz="2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82B6B4C-4418-8F7B-F7EC-35982B117C06}"/>
              </a:ext>
            </a:extLst>
          </p:cNvPr>
          <p:cNvGrpSpPr/>
          <p:nvPr/>
        </p:nvGrpSpPr>
        <p:grpSpPr>
          <a:xfrm>
            <a:off x="5841960" y="4453325"/>
            <a:ext cx="3407577" cy="1885969"/>
            <a:chOff x="6178952" y="4366766"/>
            <a:chExt cx="4811155" cy="2582433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84CA36E-0490-8358-8EA9-48538F80DA0E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178952" y="4366766"/>
              <a:ext cx="4811155" cy="2582433"/>
              <a:chOff x="6612774" y="3332502"/>
              <a:chExt cx="4250457" cy="2281474"/>
            </a:xfrm>
          </p:grpSpPr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0A628C42-5B11-A5DD-8276-4D2BBA4E36D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5807" b="54338"/>
              <a:stretch>
                <a:fillRect/>
              </a:stretch>
            </p:blipFill>
            <p:spPr>
              <a:xfrm>
                <a:off x="6612774" y="3332502"/>
                <a:ext cx="4250457" cy="2281474"/>
              </a:xfrm>
              <a:prstGeom prst="rect">
                <a:avLst/>
              </a:prstGeom>
              <a:ln w="19050">
                <a:noFill/>
              </a:ln>
            </p:spPr>
          </p:pic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0B0DAEB9-EF99-284C-43D1-7142445426C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21117" y="3502743"/>
                <a:ext cx="0" cy="1963112"/>
              </a:xfrm>
              <a:prstGeom prst="line">
                <a:avLst/>
              </a:prstGeom>
              <a:ln w="1016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86285E9-6BA4-8BC6-6454-5C1748830C14}"/>
                </a:ext>
              </a:extLst>
            </p:cNvPr>
            <p:cNvCxnSpPr>
              <a:cxnSpLocks/>
            </p:cNvCxnSpPr>
            <p:nvPr/>
          </p:nvCxnSpPr>
          <p:spPr>
            <a:xfrm>
              <a:off x="10459810" y="5766380"/>
              <a:ext cx="0" cy="1022879"/>
            </a:xfrm>
            <a:prstGeom prst="line">
              <a:avLst/>
            </a:prstGeom>
            <a:ln w="1016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63A574CF-E256-9CD0-1EE0-4F18C56B197A}"/>
              </a:ext>
            </a:extLst>
          </p:cNvPr>
          <p:cNvSpPr txBox="1"/>
          <p:nvPr/>
        </p:nvSpPr>
        <p:spPr>
          <a:xfrm>
            <a:off x="5816179" y="1830654"/>
            <a:ext cx="3108175" cy="461665"/>
          </a:xfrm>
          <a:prstGeom prst="rect">
            <a:avLst/>
          </a:prstGeom>
          <a:noFill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pPr algn="l"/>
            <a:r>
              <a:rPr lang="pt-BR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Premissas</a:t>
            </a:r>
            <a:endParaRPr lang="pt-BR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BEAEE2E-AFC8-D5BD-1653-E5A40E928B16}"/>
              </a:ext>
            </a:extLst>
          </p:cNvPr>
          <p:cNvSpPr txBox="1"/>
          <p:nvPr/>
        </p:nvSpPr>
        <p:spPr>
          <a:xfrm>
            <a:off x="5798073" y="4058108"/>
            <a:ext cx="3128764" cy="461665"/>
          </a:xfrm>
          <a:prstGeom prst="rect">
            <a:avLst/>
          </a:prstGeom>
          <a:noFill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Resultados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CDF1C7B-2318-7CB7-789D-BDC7BF99AA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26" r="54968" b="54771"/>
          <a:stretch>
            <a:fillRect/>
          </a:stretch>
        </p:blipFill>
        <p:spPr>
          <a:xfrm>
            <a:off x="6003647" y="2264176"/>
            <a:ext cx="3212857" cy="1870863"/>
          </a:xfrm>
          <a:prstGeom prst="rect">
            <a:avLst/>
          </a:prstGeom>
          <a:ln w="19050">
            <a:noFill/>
          </a:ln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4D96375-0F9B-7957-39D4-0FBB4DC089B0}"/>
              </a:ext>
            </a:extLst>
          </p:cNvPr>
          <p:cNvCxnSpPr>
            <a:cxnSpLocks/>
          </p:cNvCxnSpPr>
          <p:nvPr/>
        </p:nvCxnSpPr>
        <p:spPr>
          <a:xfrm>
            <a:off x="5932367" y="2408066"/>
            <a:ext cx="0" cy="1622797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34B77D4-EDEA-06DD-BB5A-E494B5B2A0DA}"/>
              </a:ext>
            </a:extLst>
          </p:cNvPr>
          <p:cNvCxnSpPr>
            <a:cxnSpLocks/>
          </p:cNvCxnSpPr>
          <p:nvPr/>
        </p:nvCxnSpPr>
        <p:spPr>
          <a:xfrm>
            <a:off x="8892951" y="3289485"/>
            <a:ext cx="0" cy="747016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05F1084B-FC58-64A3-D366-B64BA7CE9F48}"/>
              </a:ext>
            </a:extLst>
          </p:cNvPr>
          <p:cNvSpPr txBox="1"/>
          <p:nvPr/>
        </p:nvSpPr>
        <p:spPr>
          <a:xfrm>
            <a:off x="6301988" y="5777245"/>
            <a:ext cx="2372661" cy="369332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anchor="ctr" anchorCtr="0">
            <a:spAutoFit/>
          </a:bodyPr>
          <a:lstStyle>
            <a:defPPr>
              <a:defRPr lang="LID4096"/>
            </a:defPPr>
            <a:lvl1pPr lvl="0" indent="0" algn="ctr"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 (Body)"/>
                <a:ea typeface="Cambria Math" panose="02040503050406030204" pitchFamily="18" charset="0"/>
              </a:defRPr>
            </a:lvl1pPr>
            <a:lvl2pPr indent="0">
              <a:defRPr sz="1100"/>
            </a:lvl2pPr>
            <a:lvl3pPr indent="0">
              <a:defRPr sz="1100"/>
            </a:lvl3pPr>
            <a:lvl4pPr indent="0">
              <a:defRPr sz="1100"/>
            </a:lvl4pPr>
            <a:lvl5pPr indent="0">
              <a:defRPr sz="1100"/>
            </a:lvl5pPr>
            <a:lvl6pPr indent="0">
              <a:defRPr sz="1100"/>
            </a:lvl6pPr>
            <a:lvl7pPr indent="0">
              <a:defRPr sz="1100"/>
            </a:lvl7pPr>
            <a:lvl8pPr indent="0">
              <a:defRPr sz="1100"/>
            </a:lvl8pPr>
            <a:lvl9pPr indent="0">
              <a:defRPr sz="1100"/>
            </a:lvl9pPr>
          </a:lstStyle>
          <a:p>
            <a:r>
              <a:rPr lang="pt-BR" dirty="0"/>
              <a:t>Carga (hidráulica)</a:t>
            </a:r>
          </a:p>
        </p:txBody>
      </p:sp>
      <p:sp>
        <p:nvSpPr>
          <p:cNvPr id="20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3FD5CF55-4D23-969F-FDF5-E64563D73725}"/>
              </a:ext>
            </a:extLst>
          </p:cNvPr>
          <p:cNvSpPr txBox="1"/>
          <p:nvPr/>
        </p:nvSpPr>
        <p:spPr>
          <a:xfrm>
            <a:off x="6641726" y="3555156"/>
            <a:ext cx="2074932" cy="369332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anchor="ctr" anchorCtr="0">
            <a:sp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r>
              <a:rPr lang="pt-BR" sz="2400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 (Body)"/>
                <a:ea typeface="Cambria Math" panose="02040503050406030204" pitchFamily="18" charset="0"/>
              </a:rPr>
              <a:t>Condutividade</a:t>
            </a:r>
            <a:endParaRPr lang="pt-BR" sz="200" b="1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libri (Body)"/>
              <a:ea typeface="Cambria Math" panose="02040503050406030204" pitchFamily="18" charset="0"/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80BA803D-944C-3E12-17CB-49C679F91A96}"/>
              </a:ext>
            </a:extLst>
          </p:cNvPr>
          <p:cNvGrpSpPr/>
          <p:nvPr/>
        </p:nvGrpSpPr>
        <p:grpSpPr>
          <a:xfrm>
            <a:off x="470357" y="3064494"/>
            <a:ext cx="1671753" cy="1415001"/>
            <a:chOff x="844800" y="843864"/>
            <a:chExt cx="2174642" cy="1956264"/>
          </a:xfrm>
        </p:grpSpPr>
        <p:grpSp>
          <p:nvGrpSpPr>
            <p:cNvPr id="22" name="Agrupar 1086">
              <a:extLst>
                <a:ext uri="{FF2B5EF4-FFF2-40B4-BE49-F238E27FC236}">
                  <a16:creationId xmlns:a16="http://schemas.microsoft.com/office/drawing/2014/main" id="{BE4FF1A4-7E16-1DF3-A1A3-3C6B9CA4B099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844800" y="843864"/>
              <a:ext cx="2174642" cy="1956264"/>
              <a:chOff x="262811" y="138888"/>
              <a:chExt cx="727401" cy="654585"/>
            </a:xfrm>
          </p:grpSpPr>
          <p:sp>
            <p:nvSpPr>
              <p:cNvPr id="25" name="Seta: para a Direita 1078">
                <a:extLst>
                  <a:ext uri="{FF2B5EF4-FFF2-40B4-BE49-F238E27FC236}">
                    <a16:creationId xmlns:a16="http://schemas.microsoft.com/office/drawing/2014/main" id="{75FB556E-AC71-B631-462B-CFA8055D1412}"/>
                  </a:ext>
                </a:extLst>
              </p:cNvPr>
              <p:cNvSpPr/>
              <p:nvPr/>
            </p:nvSpPr>
            <p:spPr>
              <a:xfrm>
                <a:off x="765383" y="334159"/>
                <a:ext cx="159385" cy="173990"/>
              </a:xfrm>
              <a:prstGeom prst="rightArrow">
                <a:avLst/>
              </a:prstGeom>
              <a:solidFill>
                <a:schemeClr val="accent1">
                  <a:alpha val="50196"/>
                </a:schemeClr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LID4096" sz="4000" dirty="0"/>
              </a:p>
            </p:txBody>
          </p:sp>
          <p:sp>
            <p:nvSpPr>
              <p:cNvPr id="26" name="Seta: para a Direita 1079">
                <a:extLst>
                  <a:ext uri="{FF2B5EF4-FFF2-40B4-BE49-F238E27FC236}">
                    <a16:creationId xmlns:a16="http://schemas.microsoft.com/office/drawing/2014/main" id="{C42C1604-0D88-58AC-E7A6-28698ECE175C}"/>
                  </a:ext>
                </a:extLst>
              </p:cNvPr>
              <p:cNvSpPr/>
              <p:nvPr/>
            </p:nvSpPr>
            <p:spPr>
              <a:xfrm>
                <a:off x="382198" y="333381"/>
                <a:ext cx="159147" cy="173990"/>
              </a:xfrm>
              <a:prstGeom prst="rightArrow">
                <a:avLst/>
              </a:prstGeom>
              <a:solidFill>
                <a:schemeClr val="accent6">
                  <a:lumMod val="60000"/>
                  <a:lumOff val="40000"/>
                  <a:alpha val="50196"/>
                </a:schemeClr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algn="ctr">
                  <a:lnSpc>
                    <a:spcPct val="107000"/>
                  </a:lnSpc>
                  <a:spcAft>
                    <a:spcPts val="800"/>
                  </a:spcAft>
                  <a:buNone/>
                </a:pPr>
                <a:endParaRPr sz="2400" dirty="0">
                  <a:effectLst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7" name="Agrupar 1085">
                <a:extLst>
                  <a:ext uri="{FF2B5EF4-FFF2-40B4-BE49-F238E27FC236}">
                    <a16:creationId xmlns:a16="http://schemas.microsoft.com/office/drawing/2014/main" id="{060A4ED5-3BC2-7F07-0A92-461F003F285C}"/>
                  </a:ext>
                </a:extLst>
              </p:cNvPr>
              <p:cNvGrpSpPr/>
              <p:nvPr/>
            </p:nvGrpSpPr>
            <p:grpSpPr>
              <a:xfrm>
                <a:off x="262811" y="138888"/>
                <a:ext cx="727401" cy="654585"/>
                <a:chOff x="103251" y="138888"/>
                <a:chExt cx="727401" cy="654585"/>
              </a:xfrm>
            </p:grpSpPr>
            <p:grpSp>
              <p:nvGrpSpPr>
                <p:cNvPr id="28" name="Agrupar 1067">
                  <a:extLst>
                    <a:ext uri="{FF2B5EF4-FFF2-40B4-BE49-F238E27FC236}">
                      <a16:creationId xmlns:a16="http://schemas.microsoft.com/office/drawing/2014/main" id="{3428EC0E-9FE3-5138-F212-FBF42F7ECF32}"/>
                    </a:ext>
                  </a:extLst>
                </p:cNvPr>
                <p:cNvGrpSpPr/>
                <p:nvPr/>
              </p:nvGrpSpPr>
              <p:grpSpPr>
                <a:xfrm>
                  <a:off x="103251" y="138888"/>
                  <a:ext cx="727401" cy="654585"/>
                  <a:chOff x="-1076" y="113072"/>
                  <a:chExt cx="727401" cy="654643"/>
                </a:xfrm>
              </p:grpSpPr>
              <p:grpSp>
                <p:nvGrpSpPr>
                  <p:cNvPr id="34" name="Agrupar 1063">
                    <a:extLst>
                      <a:ext uri="{FF2B5EF4-FFF2-40B4-BE49-F238E27FC236}">
                        <a16:creationId xmlns:a16="http://schemas.microsoft.com/office/drawing/2014/main" id="{BC3FE826-756F-6EF3-45F4-954221B01C1F}"/>
                      </a:ext>
                    </a:extLst>
                  </p:cNvPr>
                  <p:cNvGrpSpPr/>
                  <p:nvPr/>
                </p:nvGrpSpPr>
                <p:grpSpPr>
                  <a:xfrm>
                    <a:off x="-1076" y="116538"/>
                    <a:ext cx="727401" cy="651177"/>
                    <a:chOff x="-1076" y="116538"/>
                    <a:chExt cx="727401" cy="651177"/>
                  </a:xfrm>
                </p:grpSpPr>
                <p:grpSp>
                  <p:nvGrpSpPr>
                    <p:cNvPr id="38" name="Agrupar 1059">
                      <a:extLst>
                        <a:ext uri="{FF2B5EF4-FFF2-40B4-BE49-F238E27FC236}">
                          <a16:creationId xmlns:a16="http://schemas.microsoft.com/office/drawing/2014/main" id="{87B5D7CF-68D8-59B0-2549-B303A42CB60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-1076" y="116538"/>
                      <a:ext cx="725170" cy="650542"/>
                      <a:chOff x="-1076" y="-937"/>
                      <a:chExt cx="725170" cy="650542"/>
                    </a:xfrm>
                  </p:grpSpPr>
                  <p:cxnSp>
                    <p:nvCxnSpPr>
                      <p:cNvPr id="47" name="Conector reto 1046">
                        <a:extLst>
                          <a:ext uri="{FF2B5EF4-FFF2-40B4-BE49-F238E27FC236}">
                            <a16:creationId xmlns:a16="http://schemas.microsoft.com/office/drawing/2014/main" id="{9697004F-777C-627B-01EE-16641C41C4D2}"/>
                          </a:ext>
                        </a:extLst>
                      </p:cNvPr>
                      <p:cNvCxnSpPr/>
                      <p:nvPr/>
                    </p:nvCxnSpPr>
                    <p:spPr>
                      <a:xfrm flipV="1">
                        <a:off x="3175" y="479425"/>
                        <a:ext cx="166370" cy="170180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  <a:prstDash val="dash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cxnSp>
                  <p:cxnSp>
                    <p:nvCxnSpPr>
                      <p:cNvPr id="48" name="Conector reto 1056">
                        <a:extLst>
                          <a:ext uri="{FF2B5EF4-FFF2-40B4-BE49-F238E27FC236}">
                            <a16:creationId xmlns:a16="http://schemas.microsoft.com/office/drawing/2014/main" id="{B0461492-C289-9D2F-6FEC-32B8F5C0CC98}"/>
                          </a:ext>
                        </a:extLst>
                      </p:cNvPr>
                      <p:cNvCxnSpPr/>
                      <p:nvPr/>
                    </p:nvCxnSpPr>
                    <p:spPr>
                      <a:xfrm flipV="1">
                        <a:off x="-1076" y="0"/>
                        <a:ext cx="166370" cy="170180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cxnSp>
                  <p:cxnSp>
                    <p:nvCxnSpPr>
                      <p:cNvPr id="49" name="Conector reto 1057">
                        <a:extLst>
                          <a:ext uri="{FF2B5EF4-FFF2-40B4-BE49-F238E27FC236}">
                            <a16:creationId xmlns:a16="http://schemas.microsoft.com/office/drawing/2014/main" id="{00B0DD77-5135-DA98-D3AE-E5DFF9705ECF}"/>
                          </a:ext>
                        </a:extLst>
                      </p:cNvPr>
                      <p:cNvCxnSpPr/>
                      <p:nvPr/>
                    </p:nvCxnSpPr>
                    <p:spPr>
                      <a:xfrm flipV="1">
                        <a:off x="556728" y="-937"/>
                        <a:ext cx="166370" cy="170180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cxnSp>
                  <p:cxnSp>
                    <p:nvCxnSpPr>
                      <p:cNvPr id="50" name="Conector reto 1058">
                        <a:extLst>
                          <a:ext uri="{FF2B5EF4-FFF2-40B4-BE49-F238E27FC236}">
                            <a16:creationId xmlns:a16="http://schemas.microsoft.com/office/drawing/2014/main" id="{41AA19D3-0582-3CEC-8982-94EF0C92617D}"/>
                          </a:ext>
                        </a:extLst>
                      </p:cNvPr>
                      <p:cNvCxnSpPr/>
                      <p:nvPr/>
                    </p:nvCxnSpPr>
                    <p:spPr>
                      <a:xfrm flipV="1">
                        <a:off x="557724" y="479334"/>
                        <a:ext cx="166370" cy="170180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cxnSp>
                </p:grpSp>
                <p:grpSp>
                  <p:nvGrpSpPr>
                    <p:cNvPr id="39" name="Agrupar 1054">
                      <a:extLst>
                        <a:ext uri="{FF2B5EF4-FFF2-40B4-BE49-F238E27FC236}">
                          <a16:creationId xmlns:a16="http://schemas.microsoft.com/office/drawing/2014/main" id="{0C336F62-6A43-3E12-5866-1F89D028E94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0" y="117475"/>
                      <a:ext cx="726325" cy="650240"/>
                      <a:chOff x="0" y="111125"/>
                      <a:chExt cx="726325" cy="650240"/>
                    </a:xfrm>
                  </p:grpSpPr>
                  <p:sp>
                    <p:nvSpPr>
                      <p:cNvPr id="42" name="Retângulo 1044">
                        <a:extLst>
                          <a:ext uri="{FF2B5EF4-FFF2-40B4-BE49-F238E27FC236}">
                            <a16:creationId xmlns:a16="http://schemas.microsoft.com/office/drawing/2014/main" id="{FB5A4CAF-1456-A90B-8F28-5969D3CDB82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0" y="279400"/>
                        <a:ext cx="556651" cy="481965"/>
                      </a:xfrm>
                      <a:prstGeom prst="rect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="horz" wrap="square" lIns="91440" tIns="45720" rIns="91440" bIns="45720" numCol="1" spcCol="0" rtlCol="0" fromWordArt="0" anchor="ctr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endParaRPr lang="LID4096" sz="4000" dirty="0"/>
                      </a:p>
                    </p:txBody>
                  </p:sp>
                  <p:cxnSp>
                    <p:nvCxnSpPr>
                      <p:cNvPr id="43" name="Conector reto 1047">
                        <a:extLst>
                          <a:ext uri="{FF2B5EF4-FFF2-40B4-BE49-F238E27FC236}">
                            <a16:creationId xmlns:a16="http://schemas.microsoft.com/office/drawing/2014/main" id="{39CF2F30-403A-D901-49F2-15ACF80E5DF2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 flipV="1">
                        <a:off x="168275" y="114300"/>
                        <a:ext cx="3175" cy="476250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  <a:prstDash val="dash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cxnSp>
                  <p:cxnSp>
                    <p:nvCxnSpPr>
                      <p:cNvPr id="44" name="Conector reto 1048">
                        <a:extLst>
                          <a:ext uri="{FF2B5EF4-FFF2-40B4-BE49-F238E27FC236}">
                            <a16:creationId xmlns:a16="http://schemas.microsoft.com/office/drawing/2014/main" id="{3021BCCA-BA38-FFDF-547E-E92F3E33B9D2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 flipV="1">
                        <a:off x="723900" y="111125"/>
                        <a:ext cx="635" cy="476250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cxnSp>
                  <p:cxnSp>
                    <p:nvCxnSpPr>
                      <p:cNvPr id="45" name="Conector reto 1050">
                        <a:extLst>
                          <a:ext uri="{FF2B5EF4-FFF2-40B4-BE49-F238E27FC236}">
                            <a16:creationId xmlns:a16="http://schemas.microsoft.com/office/drawing/2014/main" id="{A486A0F6-4B2E-1882-F224-A1BF3511C0EA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 flipV="1">
                        <a:off x="169311" y="589708"/>
                        <a:ext cx="557014" cy="0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  <a:prstDash val="dash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cxnSp>
                  <p:cxnSp>
                    <p:nvCxnSpPr>
                      <p:cNvPr id="46" name="Conector reto 1051">
                        <a:extLst>
                          <a:ext uri="{FF2B5EF4-FFF2-40B4-BE49-F238E27FC236}">
                            <a16:creationId xmlns:a16="http://schemas.microsoft.com/office/drawing/2014/main" id="{A90D1C27-D61D-7F54-5F69-807FF7C6DBF5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 flipV="1">
                        <a:off x="165100" y="111125"/>
                        <a:ext cx="559435" cy="0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cxnSp>
                </p:grpSp>
              </p:grpSp>
              <p:sp>
                <p:nvSpPr>
                  <p:cNvPr id="36" name="Forma Livre: Forma 1064">
                    <a:extLst>
                      <a:ext uri="{FF2B5EF4-FFF2-40B4-BE49-F238E27FC236}">
                        <a16:creationId xmlns:a16="http://schemas.microsoft.com/office/drawing/2014/main" id="{62B7CA0D-FA4A-20B0-7236-3F878664BC36}"/>
                      </a:ext>
                    </a:extLst>
                  </p:cNvPr>
                  <p:cNvSpPr/>
                  <p:nvPr/>
                </p:nvSpPr>
                <p:spPr>
                  <a:xfrm>
                    <a:off x="1324" y="118377"/>
                    <a:ext cx="166016" cy="643255"/>
                  </a:xfrm>
                  <a:custGeom>
                    <a:avLst/>
                    <a:gdLst>
                      <a:gd name="connsiteX0" fmla="*/ 6350 w 155575"/>
                      <a:gd name="connsiteY0" fmla="*/ 609600 h 609600"/>
                      <a:gd name="connsiteX1" fmla="*/ 0 w 155575"/>
                      <a:gd name="connsiteY1" fmla="*/ 161925 h 609600"/>
                      <a:gd name="connsiteX2" fmla="*/ 152400 w 155575"/>
                      <a:gd name="connsiteY2" fmla="*/ 0 h 609600"/>
                      <a:gd name="connsiteX3" fmla="*/ 155575 w 155575"/>
                      <a:gd name="connsiteY3" fmla="*/ 444500 h 609600"/>
                      <a:gd name="connsiteX4" fmla="*/ 6350 w 155575"/>
                      <a:gd name="connsiteY4" fmla="*/ 609600 h 609600"/>
                      <a:gd name="connsiteX0" fmla="*/ 6350 w 165100"/>
                      <a:gd name="connsiteY0" fmla="*/ 609600 h 609600"/>
                      <a:gd name="connsiteX1" fmla="*/ 0 w 165100"/>
                      <a:gd name="connsiteY1" fmla="*/ 161925 h 609600"/>
                      <a:gd name="connsiteX2" fmla="*/ 152400 w 165100"/>
                      <a:gd name="connsiteY2" fmla="*/ 0 h 609600"/>
                      <a:gd name="connsiteX3" fmla="*/ 165100 w 165100"/>
                      <a:gd name="connsiteY3" fmla="*/ 463550 h 609600"/>
                      <a:gd name="connsiteX4" fmla="*/ 6350 w 165100"/>
                      <a:gd name="connsiteY4" fmla="*/ 609600 h 609600"/>
                      <a:gd name="connsiteX0" fmla="*/ 611 w 165711"/>
                      <a:gd name="connsiteY0" fmla="*/ 630555 h 630555"/>
                      <a:gd name="connsiteX1" fmla="*/ 611 w 165711"/>
                      <a:gd name="connsiteY1" fmla="*/ 161925 h 630555"/>
                      <a:gd name="connsiteX2" fmla="*/ 153011 w 165711"/>
                      <a:gd name="connsiteY2" fmla="*/ 0 h 630555"/>
                      <a:gd name="connsiteX3" fmla="*/ 165711 w 165711"/>
                      <a:gd name="connsiteY3" fmla="*/ 463550 h 630555"/>
                      <a:gd name="connsiteX4" fmla="*/ 611 w 165711"/>
                      <a:gd name="connsiteY4" fmla="*/ 630555 h 630555"/>
                      <a:gd name="connsiteX0" fmla="*/ 611 w 166016"/>
                      <a:gd name="connsiteY0" fmla="*/ 643255 h 643255"/>
                      <a:gd name="connsiteX1" fmla="*/ 611 w 166016"/>
                      <a:gd name="connsiteY1" fmla="*/ 174625 h 643255"/>
                      <a:gd name="connsiteX2" fmla="*/ 165711 w 166016"/>
                      <a:gd name="connsiteY2" fmla="*/ 0 h 643255"/>
                      <a:gd name="connsiteX3" fmla="*/ 165711 w 166016"/>
                      <a:gd name="connsiteY3" fmla="*/ 476250 h 643255"/>
                      <a:gd name="connsiteX4" fmla="*/ 611 w 166016"/>
                      <a:gd name="connsiteY4" fmla="*/ 643255 h 64325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66016" h="643255">
                        <a:moveTo>
                          <a:pt x="611" y="643255"/>
                        </a:moveTo>
                        <a:cubicBezTo>
                          <a:pt x="-1506" y="494030"/>
                          <a:pt x="2728" y="323850"/>
                          <a:pt x="611" y="174625"/>
                        </a:cubicBezTo>
                        <a:lnTo>
                          <a:pt x="165711" y="0"/>
                        </a:lnTo>
                        <a:cubicBezTo>
                          <a:pt x="166769" y="148167"/>
                          <a:pt x="164653" y="328083"/>
                          <a:pt x="165711" y="476250"/>
                        </a:cubicBezTo>
                        <a:lnTo>
                          <a:pt x="611" y="643255"/>
                        </a:lnTo>
                        <a:close/>
                      </a:path>
                    </a:pathLst>
                  </a:custGeom>
                  <a:solidFill>
                    <a:schemeClr val="accent6">
                      <a:lumMod val="60000"/>
                      <a:lumOff val="40000"/>
                      <a:alpha val="50196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endParaRPr lang="LID4096" sz="4000" dirty="0"/>
                  </a:p>
                </p:txBody>
              </p:sp>
              <p:sp>
                <p:nvSpPr>
                  <p:cNvPr id="37" name="Forma Livre: Forma 1065">
                    <a:extLst>
                      <a:ext uri="{FF2B5EF4-FFF2-40B4-BE49-F238E27FC236}">
                        <a16:creationId xmlns:a16="http://schemas.microsoft.com/office/drawing/2014/main" id="{4F789A60-68FB-2720-5CF1-AE81A5185715}"/>
                      </a:ext>
                    </a:extLst>
                  </p:cNvPr>
                  <p:cNvSpPr/>
                  <p:nvPr/>
                </p:nvSpPr>
                <p:spPr>
                  <a:xfrm>
                    <a:off x="556813" y="113072"/>
                    <a:ext cx="166016" cy="651805"/>
                  </a:xfrm>
                  <a:custGeom>
                    <a:avLst/>
                    <a:gdLst>
                      <a:gd name="connsiteX0" fmla="*/ 6350 w 155575"/>
                      <a:gd name="connsiteY0" fmla="*/ 609600 h 609600"/>
                      <a:gd name="connsiteX1" fmla="*/ 0 w 155575"/>
                      <a:gd name="connsiteY1" fmla="*/ 161925 h 609600"/>
                      <a:gd name="connsiteX2" fmla="*/ 152400 w 155575"/>
                      <a:gd name="connsiteY2" fmla="*/ 0 h 609600"/>
                      <a:gd name="connsiteX3" fmla="*/ 155575 w 155575"/>
                      <a:gd name="connsiteY3" fmla="*/ 444500 h 609600"/>
                      <a:gd name="connsiteX4" fmla="*/ 6350 w 155575"/>
                      <a:gd name="connsiteY4" fmla="*/ 609600 h 609600"/>
                      <a:gd name="connsiteX0" fmla="*/ 6350 w 165100"/>
                      <a:gd name="connsiteY0" fmla="*/ 609600 h 609600"/>
                      <a:gd name="connsiteX1" fmla="*/ 0 w 165100"/>
                      <a:gd name="connsiteY1" fmla="*/ 161925 h 609600"/>
                      <a:gd name="connsiteX2" fmla="*/ 152400 w 165100"/>
                      <a:gd name="connsiteY2" fmla="*/ 0 h 609600"/>
                      <a:gd name="connsiteX3" fmla="*/ 165100 w 165100"/>
                      <a:gd name="connsiteY3" fmla="*/ 463550 h 609600"/>
                      <a:gd name="connsiteX4" fmla="*/ 6350 w 165100"/>
                      <a:gd name="connsiteY4" fmla="*/ 609600 h 609600"/>
                      <a:gd name="connsiteX0" fmla="*/ 611 w 165711"/>
                      <a:gd name="connsiteY0" fmla="*/ 630555 h 630555"/>
                      <a:gd name="connsiteX1" fmla="*/ 611 w 165711"/>
                      <a:gd name="connsiteY1" fmla="*/ 161925 h 630555"/>
                      <a:gd name="connsiteX2" fmla="*/ 153011 w 165711"/>
                      <a:gd name="connsiteY2" fmla="*/ 0 h 630555"/>
                      <a:gd name="connsiteX3" fmla="*/ 165711 w 165711"/>
                      <a:gd name="connsiteY3" fmla="*/ 463550 h 630555"/>
                      <a:gd name="connsiteX4" fmla="*/ 611 w 165711"/>
                      <a:gd name="connsiteY4" fmla="*/ 630555 h 630555"/>
                      <a:gd name="connsiteX0" fmla="*/ 611 w 166016"/>
                      <a:gd name="connsiteY0" fmla="*/ 643255 h 643255"/>
                      <a:gd name="connsiteX1" fmla="*/ 611 w 166016"/>
                      <a:gd name="connsiteY1" fmla="*/ 174625 h 643255"/>
                      <a:gd name="connsiteX2" fmla="*/ 165711 w 166016"/>
                      <a:gd name="connsiteY2" fmla="*/ 0 h 643255"/>
                      <a:gd name="connsiteX3" fmla="*/ 165711 w 166016"/>
                      <a:gd name="connsiteY3" fmla="*/ 476250 h 643255"/>
                      <a:gd name="connsiteX4" fmla="*/ 611 w 166016"/>
                      <a:gd name="connsiteY4" fmla="*/ 643255 h 64325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66016" h="643255">
                        <a:moveTo>
                          <a:pt x="611" y="643255"/>
                        </a:moveTo>
                        <a:cubicBezTo>
                          <a:pt x="-1506" y="494030"/>
                          <a:pt x="2728" y="323850"/>
                          <a:pt x="611" y="174625"/>
                        </a:cubicBezTo>
                        <a:lnTo>
                          <a:pt x="165711" y="0"/>
                        </a:lnTo>
                        <a:cubicBezTo>
                          <a:pt x="166769" y="148167"/>
                          <a:pt x="164653" y="328083"/>
                          <a:pt x="165711" y="476250"/>
                        </a:cubicBezTo>
                        <a:lnTo>
                          <a:pt x="611" y="643255"/>
                        </a:lnTo>
                        <a:close/>
                      </a:path>
                    </a:pathLst>
                  </a:custGeom>
                  <a:solidFill>
                    <a:schemeClr val="accent1">
                      <a:alpha val="50196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endParaRPr lang="LID4096" sz="4000" dirty="0"/>
                  </a:p>
                </p:txBody>
              </p:sp>
            </p:grpSp>
            <p:grpSp>
              <p:nvGrpSpPr>
                <p:cNvPr id="29" name="Agrupar 1083">
                  <a:extLst>
                    <a:ext uri="{FF2B5EF4-FFF2-40B4-BE49-F238E27FC236}">
                      <a16:creationId xmlns:a16="http://schemas.microsoft.com/office/drawing/2014/main" id="{69A66BAA-17F2-68F0-134C-113DEA3607E3}"/>
                    </a:ext>
                  </a:extLst>
                </p:cNvPr>
                <p:cNvGrpSpPr/>
                <p:nvPr/>
              </p:nvGrpSpPr>
              <p:grpSpPr>
                <a:xfrm>
                  <a:off x="203133" y="150803"/>
                  <a:ext cx="539247" cy="628276"/>
                  <a:chOff x="203135" y="150872"/>
                  <a:chExt cx="539254" cy="628524"/>
                </a:xfrm>
              </p:grpSpPr>
              <p:sp>
                <p:nvSpPr>
                  <p:cNvPr id="30" name="Caixa de texto 109">
                    <a:extLst>
                      <a:ext uri="{FF2B5EF4-FFF2-40B4-BE49-F238E27FC236}">
                        <a16:creationId xmlns:a16="http://schemas.microsoft.com/office/drawing/2014/main" id="{5B39DE95-85A4-4C95-E90B-02E963C5A3DA}"/>
                      </a:ext>
                    </a:extLst>
                  </p:cNvPr>
                  <p:cNvSpPr txBox="1"/>
                  <p:nvPr/>
                </p:nvSpPr>
                <p:spPr>
                  <a:xfrm>
                    <a:off x="516065" y="616044"/>
                    <a:ext cx="226324" cy="107950"/>
                  </a:xfrm>
                  <a:prstGeom prst="rect">
                    <a:avLst/>
                  </a:prstGeom>
                  <a:noFill/>
                  <a:ln w="6350">
                    <a:noFill/>
                  </a:ln>
                  <a:effectLst/>
                </p:spPr>
                <p:style>
                  <a:lnRef idx="0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dk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marR="0">
                      <a:lnSpc>
                        <a:spcPct val="107000"/>
                      </a:lnSpc>
                      <a:spcAft>
                        <a:spcPts val="800"/>
                      </a:spcAft>
                      <a:buNone/>
                    </a:pPr>
                    <a:r>
                      <a:rPr lang="en-US" sz="2000" b="1" dirty="0">
                        <a:solidFill>
                          <a:schemeClr val="tx1"/>
                        </a:solidFill>
                        <a:effectLst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Δ</a:t>
                    </a:r>
                    <a:r>
                      <a:rPr lang="en-US" sz="2000" b="1" dirty="0">
                        <a:solidFill>
                          <a:schemeClr val="tx1"/>
                        </a:solidFill>
                        <a:effectLst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a:t>x</a:t>
                    </a:r>
                    <a:endParaRPr sz="2000" b="1" dirty="0">
                      <a:solidFill>
                        <a:schemeClr val="tx1"/>
                      </a:solidFill>
                      <a:effectLst/>
                      <a:ea typeface="Calibri" panose="020F0502020204030204" pitchFamily="34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31" name="Caixa de texto 109">
                    <a:extLst>
                      <a:ext uri="{FF2B5EF4-FFF2-40B4-BE49-F238E27FC236}">
                        <a16:creationId xmlns:a16="http://schemas.microsoft.com/office/drawing/2014/main" id="{A563CFA2-73A8-B35E-0AED-7B4A87254DCD}"/>
                      </a:ext>
                    </a:extLst>
                  </p:cNvPr>
                  <p:cNvSpPr txBox="1"/>
                  <p:nvPr/>
                </p:nvSpPr>
                <p:spPr>
                  <a:xfrm>
                    <a:off x="288978" y="150872"/>
                    <a:ext cx="149860" cy="107950"/>
                  </a:xfrm>
                  <a:prstGeom prst="rect">
                    <a:avLst/>
                  </a:prstGeom>
                  <a:noFill/>
                  <a:ln w="6350">
                    <a:noFill/>
                  </a:ln>
                  <a:effectLst/>
                </p:spPr>
                <p:style>
                  <a:lnRef idx="0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dk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marR="0">
                      <a:lnSpc>
                        <a:spcPct val="107000"/>
                      </a:lnSpc>
                      <a:spcAft>
                        <a:spcPts val="800"/>
                      </a:spcAft>
                      <a:buNone/>
                    </a:pPr>
                    <a:r>
                      <a:rPr lang="en-US" sz="1600" b="1" dirty="0">
                        <a:solidFill>
                          <a:schemeClr val="accent2"/>
                        </a:solidFill>
                        <a:effectLst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Δz</a:t>
                    </a:r>
                    <a:endParaRPr sz="1600" b="1" dirty="0">
                      <a:solidFill>
                        <a:schemeClr val="accent2"/>
                      </a:solidFill>
                      <a:effectLst/>
                      <a:ea typeface="Calibri" panose="020F0502020204030204" pitchFamily="34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32" name="Caixa de texto 109">
                    <a:extLst>
                      <a:ext uri="{FF2B5EF4-FFF2-40B4-BE49-F238E27FC236}">
                        <a16:creationId xmlns:a16="http://schemas.microsoft.com/office/drawing/2014/main" id="{3EFCBF55-B40E-CBC5-5543-4EBB05A8BF9B}"/>
                      </a:ext>
                    </a:extLst>
                  </p:cNvPr>
                  <p:cNvSpPr txBox="1"/>
                  <p:nvPr/>
                </p:nvSpPr>
                <p:spPr>
                  <a:xfrm>
                    <a:off x="203135" y="671446"/>
                    <a:ext cx="149860" cy="107950"/>
                  </a:xfrm>
                  <a:prstGeom prst="rect">
                    <a:avLst/>
                  </a:prstGeom>
                  <a:noFill/>
                  <a:ln w="6350">
                    <a:noFill/>
                  </a:ln>
                  <a:effectLst/>
                </p:spPr>
                <p:style>
                  <a:lnRef idx="0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dk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marR="0">
                      <a:lnSpc>
                        <a:spcPct val="107000"/>
                      </a:lnSpc>
                      <a:spcAft>
                        <a:spcPts val="800"/>
                      </a:spcAft>
                      <a:buNone/>
                    </a:pPr>
                    <a:r>
                      <a:rPr lang="en-US" sz="1600" b="1" dirty="0">
                        <a:solidFill>
                          <a:schemeClr val="accent2"/>
                        </a:solidFill>
                        <a:effectLst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Δy</a:t>
                    </a:r>
                    <a:endParaRPr sz="1600" b="1" dirty="0">
                      <a:solidFill>
                        <a:schemeClr val="accent2"/>
                      </a:solidFill>
                      <a:effectLst/>
                      <a:ea typeface="Calibri" panose="020F0502020204030204" pitchFamily="34" charset="0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</p:grpSp>
        <p:sp>
          <p:nvSpPr>
            <p:cNvPr id="23" name="Caixa de texto 109">
              <a:extLst>
                <a:ext uri="{FF2B5EF4-FFF2-40B4-BE49-F238E27FC236}">
                  <a16:creationId xmlns:a16="http://schemas.microsoft.com/office/drawing/2014/main" id="{3FEA236C-5C85-2FDB-2351-5B721C7BC002}"/>
                </a:ext>
              </a:extLst>
            </p:cNvPr>
            <p:cNvSpPr txBox="1"/>
            <p:nvPr/>
          </p:nvSpPr>
          <p:spPr>
            <a:xfrm>
              <a:off x="1479186" y="1918575"/>
              <a:ext cx="448015" cy="322505"/>
            </a:xfrm>
            <a:prstGeom prst="rect">
              <a:avLst/>
            </a:prstGeom>
            <a:noFill/>
            <a:ln w="6350">
              <a:noFill/>
            </a:ln>
            <a:effectLst/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en-US" b="1" dirty="0">
                  <a:solidFill>
                    <a:schemeClr val="accent6">
                      <a:lumMod val="60000"/>
                      <a:lumOff val="40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in</a:t>
              </a:r>
              <a:endParaRPr b="1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24" name="Caixa de texto 109">
              <a:extLst>
                <a:ext uri="{FF2B5EF4-FFF2-40B4-BE49-F238E27FC236}">
                  <a16:creationId xmlns:a16="http://schemas.microsoft.com/office/drawing/2014/main" id="{1C000600-D393-7395-5B5C-7CC6295C6B5B}"/>
                </a:ext>
              </a:extLst>
            </p:cNvPr>
            <p:cNvSpPr txBox="1"/>
            <p:nvPr/>
          </p:nvSpPr>
          <p:spPr>
            <a:xfrm>
              <a:off x="2026713" y="1915481"/>
              <a:ext cx="646032" cy="322505"/>
            </a:xfrm>
            <a:prstGeom prst="rect">
              <a:avLst/>
            </a:prstGeom>
            <a:noFill/>
            <a:ln w="6350">
              <a:noFill/>
            </a:ln>
            <a:effectLst/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en-US" b="1" dirty="0">
                  <a:solidFill>
                    <a:schemeClr val="accent1">
                      <a:lumMod val="60000"/>
                      <a:lumOff val="40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out</a:t>
              </a:r>
              <a:endParaRPr b="1" dirty="0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51" name="Retângulo 83">
            <a:extLst>
              <a:ext uri="{FF2B5EF4-FFF2-40B4-BE49-F238E27FC236}">
                <a16:creationId xmlns:a16="http://schemas.microsoft.com/office/drawing/2014/main" id="{3A8604E3-6C86-A5D8-2EB7-A8B08A709C66}"/>
              </a:ext>
            </a:extLst>
          </p:cNvPr>
          <p:cNvSpPr/>
          <p:nvPr/>
        </p:nvSpPr>
        <p:spPr>
          <a:xfrm>
            <a:off x="2246468" y="3004863"/>
            <a:ext cx="3163842" cy="1304158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sz="1400" b="1" u="sng" dirty="0"/>
          </a:p>
        </p:txBody>
      </p:sp>
      <p:sp>
        <p:nvSpPr>
          <p:cNvPr id="52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677F8FAB-891F-C923-27E0-2D73C79154E8}"/>
              </a:ext>
            </a:extLst>
          </p:cNvPr>
          <p:cNvSpPr txBox="1"/>
          <p:nvPr/>
        </p:nvSpPr>
        <p:spPr>
          <a:xfrm>
            <a:off x="2548126" y="5777245"/>
            <a:ext cx="15736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 algn="r">
              <a:defRPr sz="16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400" dirty="0"/>
              <a:t>=   𝐟𝐨𝐧𝐭𝐞𝐬 </a:t>
            </a:r>
          </a:p>
          <a:p>
            <a:pPr algn="l"/>
            <a:r>
              <a:rPr lang="en-GB" sz="1400" dirty="0"/>
              <a:t>(-) 𝐬𝐮𝐦𝐢𝐝𝐨𝐮𝐫𝐨𝐬</a:t>
            </a:r>
          </a:p>
        </p:txBody>
      </p:sp>
      <p:sp>
        <p:nvSpPr>
          <p:cNvPr id="53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04559EF1-A99A-7CCC-C78E-851EA7EC93C2}"/>
              </a:ext>
            </a:extLst>
          </p:cNvPr>
          <p:cNvSpPr txBox="1"/>
          <p:nvPr/>
        </p:nvSpPr>
        <p:spPr>
          <a:xfrm>
            <a:off x="437798" y="5378784"/>
            <a:ext cx="1346944" cy="417907"/>
          </a:xfrm>
          <a:prstGeom prst="rect">
            <a:avLst/>
          </a:prstGeom>
          <a:noFill/>
          <a:ln w="38100">
            <a:noFill/>
          </a:ln>
        </p:spPr>
        <p:txBody>
          <a:bodyPr wrap="square" anchor="ctr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pt-BR" sz="1800" b="1" dirty="0">
                <a:latin typeface="Horley Old Style MT"/>
              </a:rPr>
              <a:t>Laplace</a:t>
            </a:r>
            <a:endParaRPr lang="pt-BR" sz="1800" dirty="0">
              <a:latin typeface="Horley Old Style MT"/>
            </a:endParaRPr>
          </a:p>
        </p:txBody>
      </p:sp>
      <p:sp>
        <p:nvSpPr>
          <p:cNvPr id="58" name="CaixaDeTexto 141">
            <a:extLst>
              <a:ext uri="{FF2B5EF4-FFF2-40B4-BE49-F238E27FC236}">
                <a16:creationId xmlns:a16="http://schemas.microsoft.com/office/drawing/2014/main" id="{A533A617-5F98-B2B5-B6ED-CCC06B0B3975}"/>
              </a:ext>
            </a:extLst>
          </p:cNvPr>
          <p:cNvSpPr txBox="1"/>
          <p:nvPr/>
        </p:nvSpPr>
        <p:spPr>
          <a:xfrm>
            <a:off x="252833" y="2821370"/>
            <a:ext cx="42284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Q</a:t>
            </a:r>
            <a:endParaRPr lang="LID4096" sz="11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Object 4">
                <a:extLst>
                  <a:ext uri="{63B3BB69-23CF-44E3-9099-C40C66FF867C}">
                    <a14:compatExt spid="_x0000_s1028"/>
                  </a:ext>
                  <a:ext uri="{FF2B5EF4-FFF2-40B4-BE49-F238E27FC236}">
                    <a16:creationId xmlns:a16="http://schemas.microsoft.com/office/drawing/2014/main" id="{EE0CFE30-22A8-5FBF-E1B1-61D2827359C3}"/>
                  </a:ext>
                </a:extLst>
              </p:cNvPr>
              <p:cNvSpPr txBox="1"/>
              <p:nvPr/>
            </p:nvSpPr>
            <p:spPr>
              <a:xfrm>
                <a:off x="4045229" y="3495521"/>
                <a:ext cx="1289081" cy="58217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txBody>
              <a:bodyPr wrap="none" lIns="0" tIns="0" rIns="0" bIns="0" anchor="ctr" anchorCtr="0">
                <a:noAutofit/>
              </a:bodyPr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>
                  <a:defRPr/>
                </a:pPr>
                <a:r>
                  <a:rPr lang="pt-BR" sz="1800" b="1" i="0" dirty="0">
                    <a:solidFill>
                      <a:schemeClr val="accent2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. . .</a:t>
                </a:r>
              </a:p>
              <a:p>
                <a:pPr algn="ctr">
                  <a:defRPr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l-G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𝚫</m:t>
                      </m:r>
                      <m:r>
                        <a:rPr lang="pt-B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𝐱</m:t>
                      </m:r>
                      <m:r>
                        <a:rPr lang="en-GB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pt-B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l-GR" sz="1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𝚫</m:t>
                      </m:r>
                      <m:r>
                        <a:rPr lang="pt-BR" sz="1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𝐲</m:t>
                      </m:r>
                      <m:r>
                        <a:rPr lang="pt-BR" sz="1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r>
                        <a:rPr lang="el-G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𝚫</m:t>
                      </m:r>
                      <m:r>
                        <a:rPr lang="pt-B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𝐳</m:t>
                      </m:r>
                    </m:oMath>
                  </m:oMathPara>
                </a14:m>
                <a:endParaRPr lang="pt-BR" sz="1800" b="1" i="0" dirty="0">
                  <a:solidFill>
                    <a:schemeClr val="accent2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>
                  <a:defRPr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l-G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𝚫</m:t>
                      </m:r>
                      <m:r>
                        <a:rPr lang="pt-B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𝐱</m:t>
                      </m:r>
                      <m:r>
                        <a:rPr lang="pt-B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r>
                        <a:rPr lang="el-G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𝚫</m:t>
                      </m:r>
                      <m:r>
                        <a:rPr lang="pt-B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𝐲</m:t>
                      </m:r>
                      <m:r>
                        <a:rPr lang="en-GB" sz="1800" b="0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pt-BR" sz="1800" b="0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l-GR" sz="1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𝚫</m:t>
                      </m:r>
                      <m:r>
                        <a:rPr lang="pt-BR" sz="1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𝐳</m:t>
                      </m:r>
                    </m:oMath>
                  </m:oMathPara>
                </a14:m>
                <a:endParaRPr lang="pt-BR" sz="1800" b="1" dirty="0">
                  <a:solidFill>
                    <a:srgbClr val="0000FF"/>
                  </a:solidFill>
                  <a:latin typeface="Cambria Math" panose="020405030504060302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9" name="Object 4">
                <a:extLst>
                  <a:ext uri="{63B3BB69-23CF-44E3-9099-C40C66FF867C}">
                    <a14:compatExt xmlns:a14="http://schemas.microsoft.com/office/drawing/2010/main" spid="_x0000_s1028"/>
                  </a:ext>
                  <a:ext uri="{FF2B5EF4-FFF2-40B4-BE49-F238E27FC236}">
                    <a16:creationId xmlns:a16="http://schemas.microsoft.com/office/drawing/2014/main" id="{EE0CFE30-22A8-5FBF-E1B1-61D2827359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5229" y="3495521"/>
                <a:ext cx="1289081" cy="582171"/>
              </a:xfrm>
              <a:prstGeom prst="rect">
                <a:avLst/>
              </a:prstGeom>
              <a:blipFill>
                <a:blip r:embed="rId8"/>
                <a:stretch>
                  <a:fillRect t="-34375" b="-34375"/>
                </a:stretch>
              </a:blipFill>
              <a:ln w="3175">
                <a:noFill/>
              </a:ln>
              <a:effectLst/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73108FF7-AE35-1067-AE5B-1D8FB4DCE18E}"/>
              </a:ext>
            </a:extLst>
          </p:cNvPr>
          <p:cNvSpPr txBox="1"/>
          <p:nvPr/>
        </p:nvSpPr>
        <p:spPr>
          <a:xfrm>
            <a:off x="851002" y="6101371"/>
            <a:ext cx="670916" cy="286976"/>
          </a:xfrm>
          <a:prstGeom prst="rect">
            <a:avLst/>
          </a:prstGeom>
          <a:noFill/>
          <a:ln w="3175">
            <a:noFill/>
          </a:ln>
          <a:effectLst/>
        </p:spPr>
        <p:txBody>
          <a:bodyPr wrap="none" anchor="b" anchorCtr="0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GB" sz="2400" b="1" dirty="0">
                <a:solidFill>
                  <a:schemeClr val="accent2"/>
                </a:solidFill>
                <a:latin typeface="+mj-lt"/>
                <a:ea typeface="Cambria Math" panose="02040503050406030204" pitchFamily="18" charset="0"/>
              </a:rPr>
              <a:t>nabla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Object 4">
                <a:extLst>
                  <a:ext uri="{63B3BB69-23CF-44E3-9099-C40C66FF867C}">
                    <a14:compatExt spid="_x0000_s1028"/>
                  </a:ext>
                  <a:ext uri="{FF2B5EF4-FFF2-40B4-BE49-F238E27FC236}">
                    <a16:creationId xmlns:a16="http://schemas.microsoft.com/office/drawing/2014/main" id="{94AF9AD3-69D2-E2F4-D227-7F772A6720B5}"/>
                  </a:ext>
                </a:extLst>
              </p:cNvPr>
              <p:cNvSpPr txBox="1"/>
              <p:nvPr/>
            </p:nvSpPr>
            <p:spPr>
              <a:xfrm>
                <a:off x="1546576" y="5530742"/>
                <a:ext cx="983405" cy="602322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3175">
                <a:noFill/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txBody>
              <a:bodyPr wrap="none" lIns="0" tIns="45720" rIns="0" bIns="0" anchor="ctr" anchorCtr="0">
                <a:noAutofit/>
              </a:bodyPr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>
                  <a:defRPr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ar-AE" sz="3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arPr>
                        <m:e>
                          <m:sSup>
                            <m:sSupPr>
                              <m:ctrlPr>
                                <a:rPr lang="ar-AE" sz="30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3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𝛁</m:t>
                              </m:r>
                            </m:e>
                            <m:sup>
                              <m:r>
                                <a:rPr lang="pt-BR" sz="30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e>
                      </m:bar>
                      <m:r>
                        <a:rPr lang="pt-BR" sz="3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bar>
                        <m:barPr>
                          <m:ctrlPr>
                            <a:rPr lang="ar-AE" sz="30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pt-BR" sz="3000" b="1" i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𝐡</m:t>
                          </m:r>
                        </m:e>
                      </m:bar>
                    </m:oMath>
                  </m:oMathPara>
                </a14:m>
                <a:endParaRPr lang="en-GB" sz="3000" b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1" name="Object 4">
                <a:extLst>
                  <a:ext uri="{63B3BB69-23CF-44E3-9099-C40C66FF867C}">
                    <a14:compatExt xmlns:a14="http://schemas.microsoft.com/office/drawing/2010/main" spid="_x0000_s1028"/>
                  </a:ext>
                  <a:ext uri="{FF2B5EF4-FFF2-40B4-BE49-F238E27FC236}">
                    <a16:creationId xmlns:a16="http://schemas.microsoft.com/office/drawing/2014/main" id="{94AF9AD3-69D2-E2F4-D227-7F772A6720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6576" y="5530742"/>
                <a:ext cx="983405" cy="60232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3175">
                <a:noFill/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Object 4">
                <a:extLst>
                  <a:ext uri="{63B3BB69-23CF-44E3-9099-C40C66FF867C}">
                    <a14:compatExt spid="_x0000_s1028"/>
                  </a:ext>
                  <a:ext uri="{FF2B5EF4-FFF2-40B4-BE49-F238E27FC236}">
                    <a16:creationId xmlns:a16="http://schemas.microsoft.com/office/drawing/2014/main" id="{5E19B602-AA52-35BB-23EE-F028810DBE65}"/>
                  </a:ext>
                </a:extLst>
              </p:cNvPr>
              <p:cNvSpPr txBox="1"/>
              <p:nvPr/>
            </p:nvSpPr>
            <p:spPr>
              <a:xfrm>
                <a:off x="402444" y="4660253"/>
                <a:ext cx="3255859" cy="73152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3175">
                <a:noFill/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txBody>
              <a:bodyPr wrap="none" lIns="182880" tIns="45720" rIns="91440" bIns="0" anchor="ctr" anchorCtr="0">
                <a:noAutofit/>
              </a:bodyPr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lvl="0" algn="ctr"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ar-AE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ar-AE" sz="1800" b="1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𝛛</m:t>
                              </m:r>
                            </m:e>
                            <m:sup>
                              <m:r>
                                <a:rPr lang="ar-AE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pt-BR" sz="1800" b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num>
                        <m:den>
                          <m:r>
                            <a:rPr lang="ar-AE" sz="1800" b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𝛛</m:t>
                          </m:r>
                          <m:sSup>
                            <m:sSupPr>
                              <m:ctrlPr>
                                <a:rPr lang="ar-AE" sz="1800" b="1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p>
                              <m:r>
                                <a:rPr lang="ar-AE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den>
                      </m:f>
                      <m:r>
                        <a:rPr lang="pt-BR" sz="1800" b="1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r>
                        <a:rPr lang="ar-AE" sz="18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ar-AE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ar-AE" sz="1800" b="1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𝛛</m:t>
                              </m:r>
                            </m:e>
                            <m:sup>
                              <m:r>
                                <a:rPr lang="ar-AE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pt-BR" sz="1800" b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num>
                        <m:den>
                          <m:r>
                            <a:rPr lang="ar-AE" sz="1800" b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𝛛</m:t>
                          </m:r>
                          <m:sSup>
                            <m:sSupPr>
                              <m:ctrlPr>
                                <a:rPr lang="ar-AE" sz="1800" b="1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𝐲</m:t>
                              </m:r>
                            </m:e>
                            <m:sup>
                              <m:r>
                                <a:rPr lang="ar-AE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den>
                      </m:f>
                      <m:r>
                        <a:rPr lang="pt-BR" sz="1800" b="1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ar-AE" sz="18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ar-AE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ar-AE" sz="1800" b="1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𝛛</m:t>
                              </m:r>
                            </m:e>
                            <m:sup>
                              <m:r>
                                <a:rPr lang="ar-AE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pt-BR" sz="1800" b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num>
                        <m:den>
                          <m:r>
                            <a:rPr lang="ar-AE" sz="1800" b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𝛛</m:t>
                          </m:r>
                          <m:sSup>
                            <m:sSupPr>
                              <m:ctrlPr>
                                <a:rPr lang="ar-AE" sz="1800" b="1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𝐳</m:t>
                              </m:r>
                            </m:e>
                            <m:sup>
                              <m:r>
                                <a:rPr lang="ar-AE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den>
                      </m:f>
                      <m:r>
                        <a:rPr lang="pt-BR" sz="1800" b="1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sz="18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ar-AE" sz="18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pt-BR" sz="1800" b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𝐐</m:t>
                      </m:r>
                      <m:r>
                        <a:rPr lang="pt-BR" sz="1800" b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pt-BR" sz="1800" b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𝐏𝐀</m:t>
                      </m:r>
                    </m:oMath>
                  </m:oMathPara>
                </a14:m>
                <a:endParaRPr lang="en-GB" sz="1800" b="1" dirty="0">
                  <a:solidFill>
                    <a:prstClr val="black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2" name="Object 4">
                <a:extLst>
                  <a:ext uri="{63B3BB69-23CF-44E3-9099-C40C66FF867C}">
                    <a14:compatExt xmlns:a14="http://schemas.microsoft.com/office/drawing/2010/main" spid="_x0000_s1028"/>
                  </a:ext>
                  <a:ext uri="{FF2B5EF4-FFF2-40B4-BE49-F238E27FC236}">
                    <a16:creationId xmlns:a16="http://schemas.microsoft.com/office/drawing/2014/main" id="{5E19B602-AA52-35BB-23EE-F028810DBE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444" y="4660253"/>
                <a:ext cx="3255859" cy="7315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3175">
                <a:noFill/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3" name="TextBox 62">
            <a:extLst>
              <a:ext uri="{FF2B5EF4-FFF2-40B4-BE49-F238E27FC236}">
                <a16:creationId xmlns:a16="http://schemas.microsoft.com/office/drawing/2014/main" id="{7129078B-8E66-3D50-141D-35006F7044CD}"/>
              </a:ext>
            </a:extLst>
          </p:cNvPr>
          <p:cNvSpPr txBox="1"/>
          <p:nvPr/>
        </p:nvSpPr>
        <p:spPr>
          <a:xfrm>
            <a:off x="3940519" y="5822324"/>
            <a:ext cx="1650878" cy="461665"/>
          </a:xfrm>
          <a:prstGeom prst="rect">
            <a:avLst/>
          </a:prstGeom>
          <a:solidFill>
            <a:srgbClr val="FFFF00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pPr algn="r"/>
            <a:r>
              <a:rPr lang="pt-BR" sz="2400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MODFLOW</a:t>
            </a:r>
            <a:endParaRPr lang="pt-BR" dirty="0">
              <a:solidFill>
                <a:srgbClr val="0000FF"/>
              </a:solidFill>
            </a:endParaRPr>
          </a:p>
        </p:txBody>
      </p:sp>
      <p:sp>
        <p:nvSpPr>
          <p:cNvPr id="64" name="Retângulo 83">
            <a:extLst>
              <a:ext uri="{FF2B5EF4-FFF2-40B4-BE49-F238E27FC236}">
                <a16:creationId xmlns:a16="http://schemas.microsoft.com/office/drawing/2014/main" id="{31D73027-EA17-7900-9D82-2DF5F7D17CAD}"/>
              </a:ext>
            </a:extLst>
          </p:cNvPr>
          <p:cNvSpPr/>
          <p:nvPr/>
        </p:nvSpPr>
        <p:spPr>
          <a:xfrm>
            <a:off x="3845378" y="4489070"/>
            <a:ext cx="1573652" cy="1115102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sz="14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14F1262B-17D8-60B9-77B8-B4E99FC28BB0}"/>
                  </a:ext>
                </a:extLst>
              </p:cNvPr>
              <p:cNvSpPr txBox="1"/>
              <p:nvPr/>
            </p:nvSpPr>
            <p:spPr>
              <a:xfrm>
                <a:off x="3822989" y="4607545"/>
                <a:ext cx="743004" cy="9221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l-GR" sz="24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b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𝛛</m:t>
                          </m:r>
                        </m:num>
                        <m:den>
                          <m:r>
                            <a:rPr lang="pt-BR" sz="2400" b="1" i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𝛛</m:t>
                          </m:r>
                          <m:r>
                            <a:rPr lang="pt-BR" sz="2400" b="1" i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𝐱</m:t>
                          </m:r>
                        </m:den>
                      </m:f>
                      <m:d>
                        <m:dPr>
                          <m:ctrlPr>
                            <a:rPr lang="pt-B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𝐤</m:t>
                          </m:r>
                          <m:f>
                            <m:fPr>
                              <m:ctrlPr>
                                <a:rPr lang="el-GR" sz="2400" b="1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sz="2400" b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𝛛</m:t>
                              </m:r>
                              <m:r>
                                <a:rPr lang="pt-BR" sz="2400" b="1" i="0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𝐡</m:t>
                              </m:r>
                            </m:num>
                            <m:den>
                              <m:r>
                                <a:rPr lang="pt-BR" sz="2400" b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𝛛</m:t>
                              </m:r>
                              <m:r>
                                <a:rPr lang="pt-BR" sz="2400" b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𝐱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LID4096" sz="2400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14F1262B-17D8-60B9-77B8-B4E99FC28B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2989" y="4607545"/>
                <a:ext cx="743004" cy="922176"/>
              </a:xfrm>
              <a:prstGeom prst="rect">
                <a:avLst/>
              </a:prstGeom>
              <a:blipFill>
                <a:blip r:embed="rId11"/>
                <a:stretch>
                  <a:fillRect r="-9836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CaixaDeTexto 141">
            <a:extLst>
              <a:ext uri="{FF2B5EF4-FFF2-40B4-BE49-F238E27FC236}">
                <a16:creationId xmlns:a16="http://schemas.microsoft.com/office/drawing/2014/main" id="{E1191DA1-8FC4-0801-7C47-0F3E41536735}"/>
              </a:ext>
            </a:extLst>
          </p:cNvPr>
          <p:cNvSpPr txBox="1"/>
          <p:nvPr/>
        </p:nvSpPr>
        <p:spPr>
          <a:xfrm>
            <a:off x="3919424" y="2535789"/>
            <a:ext cx="1430903" cy="338554"/>
          </a:xfrm>
          <a:prstGeom prst="rect">
            <a:avLst/>
          </a:prstGeom>
          <a:noFill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6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algn="r"/>
            <a:r>
              <a:rPr lang="pt-BR" dirty="0"/>
              <a:t>Calor</a:t>
            </a:r>
            <a:endParaRPr lang="LID4096" dirty="0"/>
          </a:p>
        </p:txBody>
      </p:sp>
      <p:sp>
        <p:nvSpPr>
          <p:cNvPr id="67" name="CaixaDeTexto 141">
            <a:extLst>
              <a:ext uri="{FF2B5EF4-FFF2-40B4-BE49-F238E27FC236}">
                <a16:creationId xmlns:a16="http://schemas.microsoft.com/office/drawing/2014/main" id="{B281D329-12FD-E093-D042-91C054EBF8AB}"/>
              </a:ext>
            </a:extLst>
          </p:cNvPr>
          <p:cNvSpPr txBox="1"/>
          <p:nvPr/>
        </p:nvSpPr>
        <p:spPr>
          <a:xfrm>
            <a:off x="2143274" y="4327380"/>
            <a:ext cx="14309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infinitesimal</a:t>
            </a:r>
            <a:endParaRPr lang="LID4096" sz="1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68" name="Group 67">
            <a:extLst>
              <a:ext uri="{FF2B5EF4-FFF2-40B4-BE49-F238E27FC236}">
                <a16:creationId xmlns:a16="http://schemas.microsoft.com/office/drawing/2014/main" id="{7DD1D3A6-88D6-5474-2003-0320BE916DB5}"/>
              </a:ext>
            </a:extLst>
          </p:cNvPr>
          <p:cNvGrpSpPr/>
          <p:nvPr/>
        </p:nvGrpSpPr>
        <p:grpSpPr>
          <a:xfrm>
            <a:off x="583412" y="1240914"/>
            <a:ext cx="2144086" cy="1511767"/>
            <a:chOff x="250339" y="1299318"/>
            <a:chExt cx="2144086" cy="1511767"/>
          </a:xfrm>
        </p:grpSpPr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9DB00BD7-9369-0C94-D8AE-088DE9ED6EA9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250339" y="1299318"/>
              <a:ext cx="2144086" cy="1511767"/>
              <a:chOff x="1881494" y="1113381"/>
              <a:chExt cx="2301094" cy="1427179"/>
            </a:xfrm>
          </p:grpSpPr>
          <p:grpSp>
            <p:nvGrpSpPr>
              <p:cNvPr id="72" name="Agrupar 134">
                <a:extLst>
                  <a:ext uri="{FF2B5EF4-FFF2-40B4-BE49-F238E27FC236}">
                    <a16:creationId xmlns:a16="http://schemas.microsoft.com/office/drawing/2014/main" id="{70121B97-C4B5-2854-E989-3A30A0AF615E}"/>
                  </a:ext>
                </a:extLst>
              </p:cNvPr>
              <p:cNvGrpSpPr/>
              <p:nvPr/>
            </p:nvGrpSpPr>
            <p:grpSpPr>
              <a:xfrm>
                <a:off x="1881494" y="1113381"/>
                <a:ext cx="2301094" cy="1427179"/>
                <a:chOff x="1097433" y="1160227"/>
                <a:chExt cx="2736618" cy="1751228"/>
              </a:xfrm>
            </p:grpSpPr>
            <p:grpSp>
              <p:nvGrpSpPr>
                <p:cNvPr id="74" name="Agrupar 135">
                  <a:extLst>
                    <a:ext uri="{FF2B5EF4-FFF2-40B4-BE49-F238E27FC236}">
                      <a16:creationId xmlns:a16="http://schemas.microsoft.com/office/drawing/2014/main" id="{7F5976A9-7F52-0E86-DC36-36B1E6C23BB3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1097433" y="1160227"/>
                  <a:ext cx="2736618" cy="1711930"/>
                  <a:chOff x="5866419" y="814051"/>
                  <a:chExt cx="2528587" cy="1571172"/>
                </a:xfrm>
              </p:grpSpPr>
              <p:sp>
                <p:nvSpPr>
                  <p:cNvPr id="78" name="Cilindro 140">
                    <a:extLst>
                      <a:ext uri="{FF2B5EF4-FFF2-40B4-BE49-F238E27FC236}">
                        <a16:creationId xmlns:a16="http://schemas.microsoft.com/office/drawing/2014/main" id="{DCDFE901-29FC-DC7F-F8F9-F88AB9812414}"/>
                      </a:ext>
                    </a:extLst>
                  </p:cNvPr>
                  <p:cNvSpPr/>
                  <p:nvPr/>
                </p:nvSpPr>
                <p:spPr>
                  <a:xfrm rot="17926501">
                    <a:off x="7227774" y="974828"/>
                    <a:ext cx="438142" cy="1434517"/>
                  </a:xfrm>
                  <a:prstGeom prst="can">
                    <a:avLst/>
                  </a:prstGeom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LID4096" sz="1400" b="1" u="sng"/>
                  </a:p>
                </p:txBody>
              </p:sp>
              <p:sp>
                <p:nvSpPr>
                  <p:cNvPr id="79" name="CaixaDeTexto 141">
                    <a:extLst>
                      <a:ext uri="{FF2B5EF4-FFF2-40B4-BE49-F238E27FC236}">
                        <a16:creationId xmlns:a16="http://schemas.microsoft.com/office/drawing/2014/main" id="{E1F218CC-678A-21F8-8A01-FA8AB50294A3}"/>
                      </a:ext>
                    </a:extLst>
                  </p:cNvPr>
                  <p:cNvSpPr txBox="1"/>
                  <p:nvPr/>
                </p:nvSpPr>
                <p:spPr>
                  <a:xfrm>
                    <a:off x="5866419" y="814051"/>
                    <a:ext cx="498667" cy="55626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pt-BR" sz="2800" b="1" dirty="0"/>
                      <a:t>Q</a:t>
                    </a:r>
                    <a:endParaRPr lang="LID4096" sz="1100" b="1" dirty="0"/>
                  </a:p>
                </p:txBody>
              </p:sp>
              <p:cxnSp>
                <p:nvCxnSpPr>
                  <p:cNvPr id="80" name="Conector de Seta Reta 142">
                    <a:extLst>
                      <a:ext uri="{FF2B5EF4-FFF2-40B4-BE49-F238E27FC236}">
                        <a16:creationId xmlns:a16="http://schemas.microsoft.com/office/drawing/2014/main" id="{C0929374-1C47-8B7D-CDB9-72C44247318A}"/>
                      </a:ext>
                    </a:extLst>
                  </p:cNvPr>
                  <p:cNvCxnSpPr>
                    <a:cxnSpLocks noChangeAspect="1"/>
                  </p:cNvCxnSpPr>
                  <p:nvPr/>
                </p:nvCxnSpPr>
                <p:spPr>
                  <a:xfrm>
                    <a:off x="6420377" y="1168911"/>
                    <a:ext cx="326127" cy="179853"/>
                  </a:xfrm>
                  <a:prstGeom prst="straightConnector1">
                    <a:avLst/>
                  </a:prstGeom>
                  <a:ln w="762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81" name="CaixaDeTexto 143">
                    <a:extLst>
                      <a:ext uri="{FF2B5EF4-FFF2-40B4-BE49-F238E27FC236}">
                        <a16:creationId xmlns:a16="http://schemas.microsoft.com/office/drawing/2014/main" id="{754EDD70-DA66-1993-9D15-80ADC9A51DDF}"/>
                      </a:ext>
                    </a:extLst>
                  </p:cNvPr>
                  <p:cNvSpPr txBox="1"/>
                  <p:nvPr/>
                </p:nvSpPr>
                <p:spPr>
                  <a:xfrm>
                    <a:off x="6878378" y="1969296"/>
                    <a:ext cx="1190873" cy="41592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pt-BR" sz="2000" b="1" dirty="0">
                        <a:solidFill>
                          <a:srgbClr val="00B05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sym typeface="Symbol" panose="05050102010706020507" pitchFamily="18" charset="2"/>
                      </a:rPr>
                      <a:t>L</a:t>
                    </a:r>
                    <a:endParaRPr lang="LID4096" sz="2000" b="1" dirty="0">
                      <a:solidFill>
                        <a:srgbClr val="00B050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</a:endParaRPr>
                  </a:p>
                </p:txBody>
              </p:sp>
              <p:cxnSp>
                <p:nvCxnSpPr>
                  <p:cNvPr id="82" name="Conector de Seta Reta 144">
                    <a:extLst>
                      <a:ext uri="{FF2B5EF4-FFF2-40B4-BE49-F238E27FC236}">
                        <a16:creationId xmlns:a16="http://schemas.microsoft.com/office/drawing/2014/main" id="{AB616D83-7F68-5DBC-6AA0-53C85C67E16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506035" y="1467890"/>
                    <a:ext cx="431352" cy="0"/>
                  </a:xfrm>
                  <a:prstGeom prst="straightConnector1">
                    <a:avLst/>
                  </a:prstGeom>
                  <a:ln>
                    <a:solidFill>
                      <a:srgbClr val="00B050"/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3" name="Conector de Seta Reta 145">
                    <a:extLst>
                      <a:ext uri="{FF2B5EF4-FFF2-40B4-BE49-F238E27FC236}">
                        <a16:creationId xmlns:a16="http://schemas.microsoft.com/office/drawing/2014/main" id="{2B5C37C7-E468-2F98-5272-1946D75F464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508775" y="2102363"/>
                    <a:ext cx="485271" cy="0"/>
                  </a:xfrm>
                  <a:prstGeom prst="straightConnector1">
                    <a:avLst/>
                  </a:prstGeom>
                  <a:ln>
                    <a:solidFill>
                      <a:srgbClr val="00B050"/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4" name="Conector de Seta Reta 146">
                    <a:extLst>
                      <a:ext uri="{FF2B5EF4-FFF2-40B4-BE49-F238E27FC236}">
                        <a16:creationId xmlns:a16="http://schemas.microsoft.com/office/drawing/2014/main" id="{86360858-8055-A54B-6C78-8EFFF89A153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488298" y="1600517"/>
                    <a:ext cx="0" cy="328570"/>
                  </a:xfrm>
                  <a:prstGeom prst="straightConnector1">
                    <a:avLst/>
                  </a:prstGeom>
                  <a:ln>
                    <a:solidFill>
                      <a:srgbClr val="00B050"/>
                    </a:solidFill>
                    <a:headEnd type="triangle" w="med" len="med"/>
                    <a:tailEnd type="triangl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5" name="Conector de Seta Reta 147">
                    <a:extLst>
                      <a:ext uri="{FF2B5EF4-FFF2-40B4-BE49-F238E27FC236}">
                        <a16:creationId xmlns:a16="http://schemas.microsoft.com/office/drawing/2014/main" id="{52B96891-06B6-B9A0-A7F3-8908E79A904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7200631" y="2364490"/>
                    <a:ext cx="576485" cy="0"/>
                  </a:xfrm>
                  <a:prstGeom prst="straightConnector1">
                    <a:avLst/>
                  </a:prstGeom>
                  <a:ln>
                    <a:solidFill>
                      <a:srgbClr val="00B050"/>
                    </a:solidFill>
                    <a:headEnd type="triangle" w="med" len="med"/>
                    <a:tailEnd type="triangl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86" name="CaixaDeTexto 150">
                    <a:extLst>
                      <a:ext uri="{FF2B5EF4-FFF2-40B4-BE49-F238E27FC236}">
                        <a16:creationId xmlns:a16="http://schemas.microsoft.com/office/drawing/2014/main" id="{20DA643F-606A-A4AD-182D-BBCF18F57606}"/>
                      </a:ext>
                    </a:extLst>
                  </p:cNvPr>
                  <p:cNvSpPr txBox="1"/>
                  <p:nvPr/>
                </p:nvSpPr>
                <p:spPr>
                  <a:xfrm>
                    <a:off x="5989338" y="1602445"/>
                    <a:ext cx="392968" cy="327214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r>
                      <a:rPr lang="pt-BR" sz="2000" b="1" dirty="0">
                        <a:solidFill>
                          <a:srgbClr val="00B05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sym typeface="Symbol" panose="05050102010706020507" pitchFamily="18" charset="2"/>
                      </a:rPr>
                      <a:t>H</a:t>
                    </a:r>
                    <a:endParaRPr lang="LID4096" sz="2000" b="1" dirty="0">
                      <a:solidFill>
                        <a:srgbClr val="00B050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</a:endParaRPr>
                  </a:p>
                </p:txBody>
              </p:sp>
              <p:sp>
                <p:nvSpPr>
                  <p:cNvPr id="87" name="CaixaDeTexto 151">
                    <a:extLst>
                      <a:ext uri="{FF2B5EF4-FFF2-40B4-BE49-F238E27FC236}">
                        <a16:creationId xmlns:a16="http://schemas.microsoft.com/office/drawing/2014/main" id="{19B62460-FC2D-484E-2296-30DD4E7EB47F}"/>
                      </a:ext>
                    </a:extLst>
                  </p:cNvPr>
                  <p:cNvSpPr txBox="1"/>
                  <p:nvPr/>
                </p:nvSpPr>
                <p:spPr>
                  <a:xfrm>
                    <a:off x="7344975" y="1047969"/>
                    <a:ext cx="1050031" cy="490820"/>
                  </a:xfrm>
                  <a:prstGeom prst="rect">
                    <a:avLst/>
                  </a:prstGeom>
                  <a:noFill/>
                  <a:effectLst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pt-BR" sz="2400" b="1" dirty="0">
                        <a:solidFill>
                          <a:srgbClr val="FF0000"/>
                        </a:solidFill>
                        <a:sym typeface="Symbol" panose="05050102010706020507" pitchFamily="18" charset="2"/>
                      </a:rPr>
                      <a:t>k</a:t>
                    </a:r>
                    <a:r>
                      <a:rPr lang="pt-BR" b="1" dirty="0">
                        <a:solidFill>
                          <a:srgbClr val="FF0000"/>
                        </a:solidFill>
                        <a:sym typeface="Symbol" panose="05050102010706020507" pitchFamily="18" charset="2"/>
                      </a:rPr>
                      <a:t> </a:t>
                    </a:r>
                    <a:r>
                      <a:rPr lang="pt-BR" sz="1200" b="1" dirty="0">
                        <a:solidFill>
                          <a:srgbClr val="FF0000"/>
                        </a:solidFill>
                        <a:sym typeface="Symbol" panose="05050102010706020507" pitchFamily="18" charset="2"/>
                      </a:rPr>
                      <a:t>(m/d)</a:t>
                    </a:r>
                    <a:endParaRPr lang="LID4096" b="1" dirty="0">
                      <a:solidFill>
                        <a:srgbClr val="FF0000"/>
                      </a:solidFill>
                    </a:endParaRPr>
                  </a:p>
                </p:txBody>
              </p:sp>
            </p:grpSp>
            <p:cxnSp>
              <p:nvCxnSpPr>
                <p:cNvPr id="75" name="Conector reto 136">
                  <a:extLst>
                    <a:ext uri="{FF2B5EF4-FFF2-40B4-BE49-F238E27FC236}">
                      <a16:creationId xmlns:a16="http://schemas.microsoft.com/office/drawing/2014/main" id="{6E124EE9-C7BE-B473-F316-E86A73A055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883988" y="2911455"/>
                  <a:ext cx="1867361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6" name="Conector reto 137">
                  <a:extLst>
                    <a:ext uri="{FF2B5EF4-FFF2-40B4-BE49-F238E27FC236}">
                      <a16:creationId xmlns:a16="http://schemas.microsoft.com/office/drawing/2014/main" id="{558536E7-BB3F-6755-375B-C1F2947B9A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874794" y="1851780"/>
                  <a:ext cx="0" cy="105923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7" name="Conector reto 138">
                  <a:extLst>
                    <a:ext uri="{FF2B5EF4-FFF2-40B4-BE49-F238E27FC236}">
                      <a16:creationId xmlns:a16="http://schemas.microsoft.com/office/drawing/2014/main" id="{B5514EA8-D63F-9968-1D5E-B8CFF8366F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171574" y="1784174"/>
                  <a:ext cx="1309376" cy="706412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3" name="Cilindro 140">
                <a:extLst>
                  <a:ext uri="{FF2B5EF4-FFF2-40B4-BE49-F238E27FC236}">
                    <a16:creationId xmlns:a16="http://schemas.microsoft.com/office/drawing/2014/main" id="{94C28BEF-5EDF-FA4B-3FA4-22A1F2C30563}"/>
                  </a:ext>
                </a:extLst>
              </p:cNvPr>
              <p:cNvSpPr/>
              <p:nvPr/>
            </p:nvSpPr>
            <p:spPr>
              <a:xfrm rot="17926501">
                <a:off x="2631659" y="1560865"/>
                <a:ext cx="389057" cy="200226"/>
              </a:xfrm>
              <a:prstGeom prst="can">
                <a:avLst>
                  <a:gd name="adj" fmla="val 58875"/>
                </a:avLst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 sz="1400" b="1" u="sng"/>
              </a:p>
            </p:txBody>
          </p:sp>
        </p:grpSp>
        <p:cxnSp>
          <p:nvCxnSpPr>
            <p:cNvPr id="70" name="Conector reto 138">
              <a:extLst>
                <a:ext uri="{FF2B5EF4-FFF2-40B4-BE49-F238E27FC236}">
                  <a16:creationId xmlns:a16="http://schemas.microsoft.com/office/drawing/2014/main" id="{7934B41F-C815-B9CD-EFB0-2823C14F38E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15245" y="1914309"/>
              <a:ext cx="239" cy="86868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Conector reto 138">
              <a:extLst>
                <a:ext uri="{FF2B5EF4-FFF2-40B4-BE49-F238E27FC236}">
                  <a16:creationId xmlns:a16="http://schemas.microsoft.com/office/drawing/2014/main" id="{1ACC1AA6-1D2F-4356-2F7C-5BA58616AC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1321" y="2433796"/>
              <a:ext cx="239" cy="36576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8" name="CaixaDeTexto 141">
            <a:extLst>
              <a:ext uri="{FF2B5EF4-FFF2-40B4-BE49-F238E27FC236}">
                <a16:creationId xmlns:a16="http://schemas.microsoft.com/office/drawing/2014/main" id="{CDF764A2-5F68-9DEA-C94A-6E9208B00E7C}"/>
              </a:ext>
            </a:extLst>
          </p:cNvPr>
          <p:cNvSpPr txBox="1"/>
          <p:nvPr/>
        </p:nvSpPr>
        <p:spPr>
          <a:xfrm>
            <a:off x="4742771" y="1696351"/>
            <a:ext cx="682126" cy="338554"/>
          </a:xfrm>
          <a:prstGeom prst="rect">
            <a:avLst/>
          </a:prstGeom>
          <a:noFill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pt-BR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</a:t>
            </a:r>
            <a:r>
              <a:rPr lang="pt-BR" sz="1600" b="1" baseline="-25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</a:t>
            </a:r>
            <a:r>
              <a:rPr lang="pt-BR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</a:t>
            </a:r>
            <a:endParaRPr lang="LID4096" sz="1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90" name="Group 89">
            <a:extLst>
              <a:ext uri="{FF2B5EF4-FFF2-40B4-BE49-F238E27FC236}">
                <a16:creationId xmlns:a16="http://schemas.microsoft.com/office/drawing/2014/main" id="{8EE7198C-297F-CE51-6CE0-4A22BCFB924C}"/>
              </a:ext>
            </a:extLst>
          </p:cNvPr>
          <p:cNvGrpSpPr/>
          <p:nvPr/>
        </p:nvGrpSpPr>
        <p:grpSpPr>
          <a:xfrm>
            <a:off x="2854364" y="1316717"/>
            <a:ext cx="2119290" cy="649211"/>
            <a:chOff x="2931273" y="1376538"/>
            <a:chExt cx="2119290" cy="64921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CB80A087-B853-C16F-E7A0-DE9A6345AEF8}"/>
                    </a:ext>
                  </a:extLst>
                </p:cNvPr>
                <p:cNvSpPr txBox="1"/>
                <p:nvPr/>
              </p:nvSpPr>
              <p:spPr>
                <a:xfrm>
                  <a:off x="2931273" y="1376538"/>
                  <a:ext cx="2119290" cy="649211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txBody>
                <a:bodyPr wrap="none" anchor="ctr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pt-BR" sz="1800" b="1" i="1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sz="1800" b="1" i="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𝐐</m:t>
                            </m:r>
                          </m:num>
                          <m:den>
                            <m:sSub>
                              <m:sSubPr>
                                <m:ctrlPr>
                                  <a:rPr lang="pt-BR" sz="1800" b="1" i="1" smtClean="0">
                                    <a:solidFill>
                                      <a:schemeClr val="accent2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800" b="1" i="0" smtClean="0">
                                    <a:solidFill>
                                      <a:schemeClr val="accent2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𝐀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pt-BR" sz="1800" b="1" dirty="0" smtClean="0">
                                    <a:solidFill>
                                      <a:schemeClr val="accent2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  <m:t></m:t>
                                </m:r>
                              </m:sub>
                            </m:sSub>
                          </m:den>
                        </m:f>
                        <m:r>
                          <a:rPr lang="pt-BR" sz="1800" b="1" i="0" smtClean="0">
                            <a:solidFill>
                              <a:srgbClr val="0000FF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pt-BR" sz="1800" b="1" i="0" smtClean="0">
                            <a:solidFill>
                              <a:srgbClr val="0000FF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𝐪</m:t>
                        </m:r>
                        <m:r>
                          <a:rPr lang="pt-BR" sz="1800" b="1" i="0" smtClean="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pt-BR" sz="1800" b="1" i="0" smtClean="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𝐤</m:t>
                        </m:r>
                        <m:f>
                          <m:fPr>
                            <m:ctrlPr>
                              <a:rPr lang="pt-BR" sz="1800" b="1" i="1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sz="1800" b="1" i="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∆</m:t>
                            </m:r>
                            <m:r>
                              <a:rPr lang="pt-BR" sz="1800" b="1" i="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𝐇</m:t>
                            </m:r>
                          </m:num>
                          <m:den>
                            <m:r>
                              <a:rPr lang="pt-BR" sz="1800" b="1" i="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∆</m:t>
                            </m:r>
                            <m:r>
                              <a:rPr lang="pt-BR" sz="1800" b="1" i="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𝐋</m:t>
                            </m:r>
                          </m:den>
                        </m:f>
                      </m:oMath>
                    </m:oMathPara>
                  </a14:m>
                  <a:endParaRPr lang="en-GB" sz="1800" b="1" dirty="0"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7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0B88DAE8-A55B-3D68-2885-4CF1CA4694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1273" y="1376538"/>
                  <a:ext cx="2119290" cy="649211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  <a:ln w="3175">
                  <a:noFill/>
                </a:ln>
                <a:effectLst/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D2C7FE55-A371-B339-E315-06351A0FB35B}"/>
                    </a:ext>
                  </a:extLst>
                </p:cNvPr>
                <p:cNvSpPr txBox="1"/>
                <p:nvPr/>
              </p:nvSpPr>
              <p:spPr>
                <a:xfrm>
                  <a:off x="3131379" y="1704340"/>
                  <a:ext cx="421230" cy="290051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  <a:effectLst/>
              </p:spPr>
              <p:txBody>
                <a:bodyPr wrap="none" lIns="0" tIns="0" rIns="0" bIns="0" anchor="ctr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b="1" i="1" smtClean="0">
                                <a:solidFill>
                                  <a:schemeClr val="accent2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1" i="0">
                                <a:solidFill>
                                  <a:schemeClr val="accent2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𝐀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pt-BR" sz="2000" b="1" dirty="0">
                                <a:solidFill>
                                  <a:schemeClr val="accent2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  <m:t></m:t>
                            </m:r>
                          </m:sub>
                        </m:sSub>
                      </m:oMath>
                    </m:oMathPara>
                  </a14:m>
                  <a:endParaRPr lang="en-GB" sz="2000" b="1" dirty="0"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8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1D87B5CF-5F01-F491-23C7-1EF3AEB200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31379" y="1704340"/>
                  <a:ext cx="421230" cy="290051"/>
                </a:xfrm>
                <a:prstGeom prst="rect">
                  <a:avLst/>
                </a:prstGeom>
                <a:blipFill>
                  <a:blip r:embed="rId17"/>
                  <a:stretch>
                    <a:fillRect l="-26087" r="-18841" b="-48936"/>
                  </a:stretch>
                </a:blipFill>
                <a:ln w="3175">
                  <a:noFill/>
                </a:ln>
                <a:effectLst/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3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B0FD8CC1-940E-1539-B380-AB874A3A5FAF}"/>
                    </a:ext>
                  </a:extLst>
                </p:cNvPr>
                <p:cNvSpPr txBox="1"/>
                <p:nvPr/>
              </p:nvSpPr>
              <p:spPr>
                <a:xfrm>
                  <a:off x="3770892" y="1523452"/>
                  <a:ext cx="274320" cy="375997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  <a:effectLst/>
              </p:spPr>
              <p:txBody>
                <a:bodyPr wrap="none" lIns="0" tIns="0" rIns="0" bIns="0" anchor="ctr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2200" b="1" i="0" smtClean="0">
                            <a:solidFill>
                              <a:srgbClr val="0000FF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𝐪</m:t>
                        </m:r>
                      </m:oMath>
                    </m:oMathPara>
                  </a14:m>
                  <a:endParaRPr lang="en-GB" sz="2200" b="1" dirty="0">
                    <a:solidFill>
                      <a:srgbClr val="0000FF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21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8C2C0F1A-F9F4-EB81-9734-7C4CB72877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70892" y="1523452"/>
                  <a:ext cx="274320" cy="375997"/>
                </a:xfrm>
                <a:prstGeom prst="rect">
                  <a:avLst/>
                </a:prstGeom>
                <a:blipFill>
                  <a:blip r:embed="rId18"/>
                  <a:stretch>
                    <a:fillRect l="-31111" r="-6667" b="-20968"/>
                  </a:stretch>
                </a:blipFill>
                <a:ln w="3175">
                  <a:noFill/>
                </a:ln>
                <a:effectLst/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94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9B38E7BE-C41D-09BF-CD92-AE1AF4CBF417}"/>
              </a:ext>
            </a:extLst>
          </p:cNvPr>
          <p:cNvSpPr txBox="1"/>
          <p:nvPr/>
        </p:nvSpPr>
        <p:spPr>
          <a:xfrm>
            <a:off x="2813373" y="2102180"/>
            <a:ext cx="2259685" cy="43321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175"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none" lIns="182880" tIns="45720" rIns="91440" bIns="0" anchor="ctr" anchorCtr="0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endParaRPr lang="en-GB" sz="1800" b="1" dirty="0">
              <a:solidFill>
                <a:prstClr val="black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grpSp>
        <p:nvGrpSpPr>
          <p:cNvPr id="95" name="Group 94">
            <a:extLst>
              <a:ext uri="{FF2B5EF4-FFF2-40B4-BE49-F238E27FC236}">
                <a16:creationId xmlns:a16="http://schemas.microsoft.com/office/drawing/2014/main" id="{40100653-E2BC-64D7-1C8C-86D5D743221D}"/>
              </a:ext>
            </a:extLst>
          </p:cNvPr>
          <p:cNvGrpSpPr/>
          <p:nvPr/>
        </p:nvGrpSpPr>
        <p:grpSpPr>
          <a:xfrm>
            <a:off x="2942447" y="2078608"/>
            <a:ext cx="1992664" cy="490068"/>
            <a:chOff x="3124483" y="2239011"/>
            <a:chExt cx="1992664" cy="529462"/>
          </a:xfrm>
          <a:solidFill>
            <a:schemeClr val="accent2">
              <a:lumMod val="20000"/>
              <a:lumOff val="80000"/>
            </a:schemeClr>
          </a:solidFill>
          <a:effectLst/>
        </p:grpSpPr>
        <p:sp>
          <p:nvSpPr>
            <p:cNvPr id="96" name="Object 4">
              <a:extLst>
                <a:ext uri="{63B3BB69-23CF-44E3-9099-C40C66FF867C}">
                  <a14:compatExt xmlns:a14="http://schemas.microsoft.com/office/drawing/2010/main" spid="_x0000_s1028"/>
                </a:ext>
                <a:ext uri="{FF2B5EF4-FFF2-40B4-BE49-F238E27FC236}">
                  <a16:creationId xmlns:a16="http://schemas.microsoft.com/office/drawing/2014/main" id="{BB058801-DB9A-A3D2-2FF1-7628CC726295}"/>
                </a:ext>
              </a:extLst>
            </p:cNvPr>
            <p:cNvSpPr txBox="1"/>
            <p:nvPr/>
          </p:nvSpPr>
          <p:spPr>
            <a:xfrm>
              <a:off x="3434964" y="2280664"/>
              <a:ext cx="675042" cy="487809"/>
            </a:xfrm>
            <a:prstGeom prst="rect">
              <a:avLst/>
            </a:prstGeom>
            <a:noFill/>
            <a:ln w="3175">
              <a:noFill/>
            </a:ln>
            <a:effectLst/>
          </p:spPr>
          <p:txBody>
            <a:bodyPr wrap="none" anchor="ctr">
              <a:no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/>
              </a:pPr>
              <a:r>
                <a:rPr lang="pt-BR" sz="2400" b="1" dirty="0">
                  <a:ea typeface="Cambria Math" panose="02040503050406030204" pitchFamily="18" charset="0"/>
                </a:rPr>
                <a:t>=</a:t>
              </a:r>
              <a:r>
                <a:rPr lang="pt-BR" sz="2400" b="1" dirty="0">
                  <a:solidFill>
                    <a:srgbClr val="00B050"/>
                  </a:solidFill>
                  <a:ea typeface="Cambria Math" panose="02040503050406030204" pitchFamily="18" charset="0"/>
                </a:rPr>
                <a:t>  </a:t>
              </a:r>
              <a:r>
                <a:rPr lang="pt-BR" sz="2400" b="1" dirty="0">
                  <a:solidFill>
                    <a:srgbClr val="FF0000"/>
                  </a:solidFill>
                  <a:ea typeface="Cambria Math" panose="02040503050406030204" pitchFamily="18" charset="0"/>
                </a:rPr>
                <a:t>-</a:t>
              </a:r>
              <a:endParaRPr lang="en-GB" sz="2400" b="1" dirty="0">
                <a:solidFill>
                  <a:srgbClr val="FF0000"/>
                </a:solidFill>
                <a:effectLst/>
                <a:latin typeface="Cambria Math" panose="02040503050406030204" pitchFamily="18" charset="0"/>
                <a:ea typeface="Cambria Math" panose="020405030504060302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7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B0CE60EA-0CF4-03DA-9309-3C03205F4D5B}"/>
                    </a:ext>
                  </a:extLst>
                </p:cNvPr>
                <p:cNvSpPr txBox="1"/>
                <p:nvPr/>
              </p:nvSpPr>
              <p:spPr>
                <a:xfrm>
                  <a:off x="3612481" y="2257738"/>
                  <a:ext cx="1504666" cy="487809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txBody>
                <a:bodyPr wrap="none" anchor="ctr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>
                    <a:defRPr/>
                  </a:pPr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pt-BR" sz="1800" b="1" i="0" smtClean="0">
                            <a:solidFill>
                              <a:srgbClr val="00B05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            ∆</m:t>
                        </m:r>
                        <m:r>
                          <a:rPr lang="pt-BR" sz="1800" b="1" i="0" smtClean="0">
                            <a:solidFill>
                              <a:srgbClr val="00B05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𝐓</m:t>
                        </m:r>
                        <m:r>
                          <a:rPr lang="pt-BR" sz="1800" b="1" i="0" smtClean="0">
                            <a:solidFill>
                              <a:srgbClr val="00B05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)/</m:t>
                        </m:r>
                        <m:r>
                          <a:rPr lang="pt-BR" sz="1800" b="1" i="0" smtClean="0">
                            <a:solidFill>
                              <a:srgbClr val="00B05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𝐋</m:t>
                        </m:r>
                      </m:oMath>
                    </m:oMathPara>
                  </a14:m>
                  <a:endParaRPr lang="en-GB" sz="1800" b="1" dirty="0"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0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2F2464A1-3A0E-A58D-F9ED-90527F9DE3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12481" y="2257738"/>
                  <a:ext cx="1504666" cy="487809"/>
                </a:xfrm>
                <a:prstGeom prst="rect">
                  <a:avLst/>
                </a:prstGeom>
                <a:blipFill>
                  <a:blip r:embed="rId19"/>
                  <a:stretch>
                    <a:fillRect l="-1215" b="-2703"/>
                  </a:stretch>
                </a:blipFill>
                <a:ln w="3175">
                  <a:noFill/>
                </a:ln>
                <a:effectLst/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3BD05542-3D57-F04F-A78A-5EAE93177F4A}"/>
                    </a:ext>
                  </a:extLst>
                </p:cNvPr>
                <p:cNvSpPr txBox="1"/>
                <p:nvPr/>
              </p:nvSpPr>
              <p:spPr>
                <a:xfrm>
                  <a:off x="3124483" y="2239011"/>
                  <a:ext cx="1122226" cy="487809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txBody>
                <a:bodyPr wrap="none" anchor="ctr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>
                    <a:defRPr/>
                  </a:pPr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acc>
                          <m:accPr>
                            <m:chr m:val="̇"/>
                            <m:ctrlPr>
                              <a:rPr lang="pt-BR" sz="2400" b="1" i="1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2400" b="1" i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𝐐</m:t>
                            </m:r>
                          </m:e>
                        </m:acc>
                        <m:r>
                          <a:rPr lang="pt-BR" sz="2400" b="1" i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       </m:t>
                        </m:r>
                        <m:r>
                          <a:rPr lang="pt-BR" sz="2400" b="1" i="0" smtClean="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𝐤</m:t>
                        </m:r>
                        <m:r>
                          <a:rPr lang="pt-BR" sz="2400" b="1" i="0" smtClean="0">
                            <a:solidFill>
                              <a:schemeClr val="accent2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𝐀</m:t>
                        </m:r>
                      </m:oMath>
                    </m:oMathPara>
                  </a14:m>
                  <a:endParaRPr lang="en-GB" sz="2400" b="1" dirty="0"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1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DB95894E-294F-BCF5-27C1-29A520AB4D8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4483" y="2239011"/>
                  <a:ext cx="1122226" cy="487809"/>
                </a:xfrm>
                <a:prstGeom prst="rect">
                  <a:avLst/>
                </a:prstGeom>
                <a:blipFill>
                  <a:blip r:embed="rId20"/>
                  <a:stretch>
                    <a:fillRect r="-9783"/>
                  </a:stretch>
                </a:blipFill>
                <a:ln w="3175">
                  <a:noFill/>
                </a:ln>
                <a:effectLst/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99" name="Rectangle 98">
            <a:extLst>
              <a:ext uri="{FF2B5EF4-FFF2-40B4-BE49-F238E27FC236}">
                <a16:creationId xmlns:a16="http://schemas.microsoft.com/office/drawing/2014/main" id="{44975F62-CA97-C008-1E0F-EB7671ECCD23}"/>
              </a:ext>
            </a:extLst>
          </p:cNvPr>
          <p:cNvSpPr/>
          <p:nvPr/>
        </p:nvSpPr>
        <p:spPr>
          <a:xfrm>
            <a:off x="4017356" y="3366241"/>
            <a:ext cx="1281286" cy="879959"/>
          </a:xfrm>
          <a:prstGeom prst="rect">
            <a:avLst/>
          </a:prstGeom>
          <a:solidFill>
            <a:schemeClr val="bg1">
              <a:alpha val="89804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300"/>
              </a:spcAft>
            </a:pPr>
            <a:endParaRPr lang="LID4096" dirty="0"/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1BBF24E9-96E5-C50D-0576-49358198EC65}"/>
              </a:ext>
            </a:extLst>
          </p:cNvPr>
          <p:cNvGrpSpPr/>
          <p:nvPr/>
        </p:nvGrpSpPr>
        <p:grpSpPr>
          <a:xfrm>
            <a:off x="2516985" y="3182781"/>
            <a:ext cx="1826016" cy="802240"/>
            <a:chOff x="2439338" y="3000792"/>
            <a:chExt cx="1826016" cy="80224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8FFCF345-DB94-FF7B-7FFE-A535C9305DAF}"/>
                    </a:ext>
                  </a:extLst>
                </p:cNvPr>
                <p:cNvSpPr txBox="1"/>
                <p:nvPr/>
              </p:nvSpPr>
              <p:spPr>
                <a:xfrm>
                  <a:off x="2439338" y="3096136"/>
                  <a:ext cx="785274" cy="706896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txBody>
                <a:bodyPr wrap="none" lIns="0" tIns="0" rIns="0" bIns="0" anchor="ctr" anchorCtr="0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>
                    <a:defRPr/>
                  </a:pPr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l-GR" sz="2800" b="1" i="1" smtClean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pt-BR" sz="2800" b="1" i="1" smtClean="0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2800" b="1" i="0" smtClean="0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𝛛</m:t>
                                </m:r>
                                <m:r>
                                  <a:rPr lang="pt-BR" sz="2800" b="1" i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𝐪</m:t>
                                </m:r>
                              </m:e>
                              <m:sub>
                                <m:r>
                                  <a:rPr lang="pt-BR" sz="2800" b="1" i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𝐱</m:t>
                                </m:r>
                              </m:sub>
                            </m:sSub>
                          </m:num>
                          <m:den>
                            <m:r>
                              <a:rPr lang="pt-BR" sz="2800" b="1" i="0" smtClean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𝛛</m:t>
                            </m:r>
                            <m:r>
                              <a:rPr lang="pt-BR" sz="2800" b="1" i="0" smtClean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𝐱</m:t>
                            </m:r>
                          </m:den>
                        </m:f>
                      </m:oMath>
                    </m:oMathPara>
                  </a14:m>
                  <a:endParaRPr lang="pt-BR" sz="2800" dirty="0">
                    <a:solidFill>
                      <a:srgbClr val="0000FF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01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8FFCF345-DB94-FF7B-7FFE-A535C9305D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39338" y="3096136"/>
                  <a:ext cx="785274" cy="706896"/>
                </a:xfrm>
                <a:prstGeom prst="rect">
                  <a:avLst/>
                </a:prstGeom>
                <a:blipFill>
                  <a:blip r:embed="rId21"/>
                  <a:stretch>
                    <a:fillRect l="-775" b="-7759"/>
                  </a:stretch>
                </a:blipFill>
                <a:ln w="3175">
                  <a:noFill/>
                </a:ln>
                <a:effectLst/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2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51864E1F-34D4-A099-2217-848BB8B27774}"/>
                    </a:ext>
                  </a:extLst>
                </p:cNvPr>
                <p:cNvSpPr txBox="1"/>
                <p:nvPr/>
              </p:nvSpPr>
              <p:spPr>
                <a:xfrm>
                  <a:off x="2976273" y="3000792"/>
                  <a:ext cx="1289081" cy="582171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txBody>
                <a:bodyPr wrap="none" lIns="0" tIns="0" rIns="0" bIns="0" anchor="ctr" anchorCtr="0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l-GR" sz="2000" b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𝚫</m:t>
                        </m:r>
                        <m:r>
                          <a:rPr lang="pt-BR" sz="2000" b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𝐱</m:t>
                        </m:r>
                        <m:r>
                          <a:rPr lang="en-GB" sz="2000" b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l-GR" sz="2000" b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𝚫</m:t>
                        </m:r>
                        <m:r>
                          <a:rPr lang="pt-BR" sz="2000" b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𝐲</m:t>
                        </m:r>
                        <m:r>
                          <a:rPr lang="el-GR" sz="2000" b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𝚫</m:t>
                        </m:r>
                        <m:r>
                          <a:rPr lang="pt-BR" sz="2000" b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𝐳</m:t>
                        </m:r>
                      </m:oMath>
                    </m:oMathPara>
                  </a14:m>
                  <a:endParaRPr lang="pt-BR" sz="1600" b="1" dirty="0">
                    <a:solidFill>
                      <a:srgbClr val="0000FF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091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D970DF81-89D2-9568-D849-32DAAC3B06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6273" y="3000792"/>
                  <a:ext cx="1289081" cy="582171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  <a:ln w="3175">
                  <a:noFill/>
                </a:ln>
                <a:effectLst/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991DBC90-5334-2E5C-115B-29F013B07E75}"/>
              </a:ext>
            </a:extLst>
          </p:cNvPr>
          <p:cNvSpPr/>
          <p:nvPr/>
        </p:nvSpPr>
        <p:spPr>
          <a:xfrm>
            <a:off x="7796814" y="317105"/>
            <a:ext cx="3829129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 que é um modelo?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599C002D-3ECF-D9D4-4CB7-9C3F6749A855}"/>
              </a:ext>
            </a:extLst>
          </p:cNvPr>
          <p:cNvSpPr txBox="1"/>
          <p:nvPr/>
        </p:nvSpPr>
        <p:spPr>
          <a:xfrm>
            <a:off x="4493623" y="6575136"/>
            <a:ext cx="7753858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r">
              <a:defRPr sz="1200" b="1">
                <a:solidFill>
                  <a:schemeClr val="accent2"/>
                </a:solidFill>
              </a:defRPr>
            </a:lvl1pPr>
          </a:lstStyle>
          <a:p>
            <a:r>
              <a:rPr lang="LID4096" sz="1300" dirty="0"/>
              <a:t>https://betami2022.wixsite.com/betami/home-2/t01-spatial-variances/02-inversion/03-iteractive-solution</a:t>
            </a:r>
          </a:p>
        </p:txBody>
      </p:sp>
      <p:pic>
        <p:nvPicPr>
          <p:cNvPr id="104" name="Picture 2" descr="Excel - GET – Engenharia de Produção">
            <a:extLst>
              <a:ext uri="{FF2B5EF4-FFF2-40B4-BE49-F238E27FC236}">
                <a16:creationId xmlns:a16="http://schemas.microsoft.com/office/drawing/2014/main" id="{5486B8BA-5E94-5BC3-83AF-F8AB3466A9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456" y="6421393"/>
            <a:ext cx="670916" cy="37647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5" name="Grupo 10">
            <a:extLst>
              <a:ext uri="{FF2B5EF4-FFF2-40B4-BE49-F238E27FC236}">
                <a16:creationId xmlns:a16="http://schemas.microsoft.com/office/drawing/2014/main" id="{3DD2E4AE-1B16-A075-DF2D-8D2A29B80D7B}"/>
              </a:ext>
            </a:extLst>
          </p:cNvPr>
          <p:cNvGrpSpPr>
            <a:grpSpLocks noChangeAspect="1"/>
          </p:cNvGrpSpPr>
          <p:nvPr/>
        </p:nvGrpSpPr>
        <p:grpSpPr>
          <a:xfrm>
            <a:off x="5916557" y="568855"/>
            <a:ext cx="2034501" cy="1243506"/>
            <a:chOff x="7551799" y="3880749"/>
            <a:chExt cx="1792685" cy="1055366"/>
          </a:xfrm>
        </p:grpSpPr>
        <p:sp>
          <p:nvSpPr>
            <p:cNvPr id="106" name="Seta para a direita 12">
              <a:extLst>
                <a:ext uri="{FF2B5EF4-FFF2-40B4-BE49-F238E27FC236}">
                  <a16:creationId xmlns:a16="http://schemas.microsoft.com/office/drawing/2014/main" id="{7E82F3A3-8D7E-B508-D76D-C2189ABDF1C2}"/>
                </a:ext>
              </a:extLst>
            </p:cNvPr>
            <p:cNvSpPr/>
            <p:nvPr/>
          </p:nvSpPr>
          <p:spPr>
            <a:xfrm rot="2573740">
              <a:off x="7603764" y="4134921"/>
              <a:ext cx="288000" cy="108000"/>
            </a:xfrm>
            <a:prstGeom prst="rightArrow">
              <a:avLst/>
            </a:prstGeom>
            <a:solidFill>
              <a:schemeClr val="accent2"/>
            </a:solidFill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107" name="Grupo 13">
              <a:extLst>
                <a:ext uri="{FF2B5EF4-FFF2-40B4-BE49-F238E27FC236}">
                  <a16:creationId xmlns:a16="http://schemas.microsoft.com/office/drawing/2014/main" id="{E0C8D19E-DA8A-C0F7-0285-CF2B16EDDAE5}"/>
                </a:ext>
              </a:extLst>
            </p:cNvPr>
            <p:cNvGrpSpPr/>
            <p:nvPr/>
          </p:nvGrpSpPr>
          <p:grpSpPr>
            <a:xfrm>
              <a:off x="7551799" y="3880749"/>
              <a:ext cx="1792685" cy="1055366"/>
              <a:chOff x="6308874" y="4003609"/>
              <a:chExt cx="1792685" cy="1055366"/>
            </a:xfrm>
          </p:grpSpPr>
          <p:sp>
            <p:nvSpPr>
              <p:cNvPr id="109" name="Seta para a direita 15">
                <a:extLst>
                  <a:ext uri="{FF2B5EF4-FFF2-40B4-BE49-F238E27FC236}">
                    <a16:creationId xmlns:a16="http://schemas.microsoft.com/office/drawing/2014/main" id="{DEA541A1-E3BF-824B-C208-125A597255F3}"/>
                  </a:ext>
                </a:extLst>
              </p:cNvPr>
              <p:cNvSpPr/>
              <p:nvPr/>
            </p:nvSpPr>
            <p:spPr>
              <a:xfrm rot="16166615">
                <a:off x="6618727" y="4743355"/>
                <a:ext cx="288000" cy="108000"/>
              </a:xfrm>
              <a:prstGeom prst="rightArrow">
                <a:avLst/>
              </a:prstGeom>
              <a:solidFill>
                <a:schemeClr val="accent2"/>
              </a:solidFill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grpSp>
            <p:nvGrpSpPr>
              <p:cNvPr id="110" name="Grupo 16">
                <a:extLst>
                  <a:ext uri="{FF2B5EF4-FFF2-40B4-BE49-F238E27FC236}">
                    <a16:creationId xmlns:a16="http://schemas.microsoft.com/office/drawing/2014/main" id="{503D2665-72C5-5500-141F-4385446FDBA0}"/>
                  </a:ext>
                </a:extLst>
              </p:cNvPr>
              <p:cNvGrpSpPr/>
              <p:nvPr/>
            </p:nvGrpSpPr>
            <p:grpSpPr>
              <a:xfrm>
                <a:off x="6308874" y="4003609"/>
                <a:ext cx="1792685" cy="1055366"/>
                <a:chOff x="5618130" y="5251772"/>
                <a:chExt cx="1792685" cy="1055366"/>
              </a:xfrm>
            </p:grpSpPr>
            <p:grpSp>
              <p:nvGrpSpPr>
                <p:cNvPr id="112" name="Grupo 18">
                  <a:extLst>
                    <a:ext uri="{FF2B5EF4-FFF2-40B4-BE49-F238E27FC236}">
                      <a16:creationId xmlns:a16="http://schemas.microsoft.com/office/drawing/2014/main" id="{E51BEB84-E48B-06A6-0495-5DF118B593F2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6416287" y="5251772"/>
                  <a:ext cx="994528" cy="1055366"/>
                  <a:chOff x="7015665" y="3769107"/>
                  <a:chExt cx="2095099" cy="2554882"/>
                </a:xfrm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</p:grpSpPr>
              <p:sp>
                <p:nvSpPr>
                  <p:cNvPr id="116" name="Cubo 854">
                    <a:extLst>
                      <a:ext uri="{FF2B5EF4-FFF2-40B4-BE49-F238E27FC236}">
                        <a16:creationId xmlns:a16="http://schemas.microsoft.com/office/drawing/2014/main" id="{AAF86330-BF18-E421-4121-A0DBA6C50BF2}"/>
                      </a:ext>
                    </a:extLst>
                  </p:cNvPr>
                  <p:cNvSpPr/>
                  <p:nvPr/>
                </p:nvSpPr>
                <p:spPr>
                  <a:xfrm flipH="1">
                    <a:off x="7285076" y="5243990"/>
                    <a:ext cx="1079999" cy="1079999"/>
                  </a:xfrm>
                  <a:prstGeom prst="cube">
                    <a:avLst>
                      <a:gd name="adj" fmla="val 32078"/>
                    </a:avLst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117" name="Cubo 855">
                    <a:extLst>
                      <a:ext uri="{FF2B5EF4-FFF2-40B4-BE49-F238E27FC236}">
                        <a16:creationId xmlns:a16="http://schemas.microsoft.com/office/drawing/2014/main" id="{37D37679-A82B-9203-540A-595488AFA056}"/>
                      </a:ext>
                    </a:extLst>
                  </p:cNvPr>
                  <p:cNvSpPr/>
                  <p:nvPr/>
                </p:nvSpPr>
                <p:spPr>
                  <a:xfrm flipH="1">
                    <a:off x="7015665" y="4123701"/>
                    <a:ext cx="1080000" cy="1080000"/>
                  </a:xfrm>
                  <a:prstGeom prst="cube">
                    <a:avLst>
                      <a:gd name="adj" fmla="val 32078"/>
                    </a:avLst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118" name="Cubo 856">
                    <a:extLst>
                      <a:ext uri="{FF2B5EF4-FFF2-40B4-BE49-F238E27FC236}">
                        <a16:creationId xmlns:a16="http://schemas.microsoft.com/office/drawing/2014/main" id="{7081C526-DB86-B762-6F34-EB69700DE98B}"/>
                      </a:ext>
                    </a:extLst>
                  </p:cNvPr>
                  <p:cNvSpPr/>
                  <p:nvPr/>
                </p:nvSpPr>
                <p:spPr>
                  <a:xfrm flipH="1">
                    <a:off x="8030765" y="4498395"/>
                    <a:ext cx="1079999" cy="1079999"/>
                  </a:xfrm>
                  <a:prstGeom prst="cube">
                    <a:avLst>
                      <a:gd name="adj" fmla="val 32078"/>
                    </a:avLst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119" name="Cubo 857">
                    <a:extLst>
                      <a:ext uri="{FF2B5EF4-FFF2-40B4-BE49-F238E27FC236}">
                        <a16:creationId xmlns:a16="http://schemas.microsoft.com/office/drawing/2014/main" id="{A6806F81-C5DB-4B76-431F-DFD89DDB7DAE}"/>
                      </a:ext>
                    </a:extLst>
                  </p:cNvPr>
                  <p:cNvSpPr/>
                  <p:nvPr/>
                </p:nvSpPr>
                <p:spPr>
                  <a:xfrm flipH="1">
                    <a:off x="7285461" y="4504733"/>
                    <a:ext cx="1079999" cy="1079999"/>
                  </a:xfrm>
                  <a:prstGeom prst="cube">
                    <a:avLst>
                      <a:gd name="adj" fmla="val 32078"/>
                    </a:avLst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120" name="Cubo 858">
                    <a:extLst>
                      <a:ext uri="{FF2B5EF4-FFF2-40B4-BE49-F238E27FC236}">
                        <a16:creationId xmlns:a16="http://schemas.microsoft.com/office/drawing/2014/main" id="{9FE485CF-B23F-A9BE-1646-57B7CFC7735E}"/>
                      </a:ext>
                    </a:extLst>
                  </p:cNvPr>
                  <p:cNvSpPr/>
                  <p:nvPr/>
                </p:nvSpPr>
                <p:spPr>
                  <a:xfrm flipH="1">
                    <a:off x="7288823" y="3769107"/>
                    <a:ext cx="1079999" cy="1079999"/>
                  </a:xfrm>
                  <a:prstGeom prst="cube">
                    <a:avLst>
                      <a:gd name="adj" fmla="val 32078"/>
                    </a:avLst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121" name="Cubo 859">
                    <a:extLst>
                      <a:ext uri="{FF2B5EF4-FFF2-40B4-BE49-F238E27FC236}">
                        <a16:creationId xmlns:a16="http://schemas.microsoft.com/office/drawing/2014/main" id="{D7EC0AE3-309E-3607-180E-283730B4A6CD}"/>
                      </a:ext>
                    </a:extLst>
                  </p:cNvPr>
                  <p:cNvSpPr/>
                  <p:nvPr/>
                </p:nvSpPr>
                <p:spPr>
                  <a:xfrm flipH="1">
                    <a:off x="7609327" y="4854685"/>
                    <a:ext cx="1080000" cy="1080002"/>
                  </a:xfrm>
                  <a:prstGeom prst="cube">
                    <a:avLst>
                      <a:gd name="adj" fmla="val 32078"/>
                    </a:avLst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</p:grpSp>
            <p:sp>
              <p:nvSpPr>
                <p:cNvPr id="113" name="Seta para a direita 19">
                  <a:extLst>
                    <a:ext uri="{FF2B5EF4-FFF2-40B4-BE49-F238E27FC236}">
                      <a16:creationId xmlns:a16="http://schemas.microsoft.com/office/drawing/2014/main" id="{892332CE-F3FB-0453-C14C-E22BF5128D36}"/>
                    </a:ext>
                  </a:extLst>
                </p:cNvPr>
                <p:cNvSpPr/>
                <p:nvPr/>
              </p:nvSpPr>
              <p:spPr>
                <a:xfrm>
                  <a:off x="6062205" y="5705476"/>
                  <a:ext cx="576000" cy="180000"/>
                </a:xfrm>
                <a:prstGeom prst="rightArrow">
                  <a:avLst/>
                </a:prstGeom>
                <a:solidFill>
                  <a:schemeClr val="accent2"/>
                </a:solidFill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sp>
              <p:nvSpPr>
                <p:cNvPr id="114" name="Cubo 852">
                  <a:extLst>
                    <a:ext uri="{FF2B5EF4-FFF2-40B4-BE49-F238E27FC236}">
                      <a16:creationId xmlns:a16="http://schemas.microsoft.com/office/drawing/2014/main" id="{4051E8B0-95D4-A0C2-6CE9-0BE4F8CE0011}"/>
                    </a:ext>
                  </a:extLst>
                </p:cNvPr>
                <p:cNvSpPr/>
                <p:nvPr/>
              </p:nvSpPr>
              <p:spPr>
                <a:xfrm flipH="1">
                  <a:off x="5811644" y="5563045"/>
                  <a:ext cx="512668" cy="446124"/>
                </a:xfrm>
                <a:prstGeom prst="cube">
                  <a:avLst>
                    <a:gd name="adj" fmla="val 32078"/>
                  </a:avLst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sp>
              <p:nvSpPr>
                <p:cNvPr id="115" name="Seta para a direita 24">
                  <a:extLst>
                    <a:ext uri="{FF2B5EF4-FFF2-40B4-BE49-F238E27FC236}">
                      <a16:creationId xmlns:a16="http://schemas.microsoft.com/office/drawing/2014/main" id="{B8F46508-041C-4BA8-9178-5CBA3B130279}"/>
                    </a:ext>
                  </a:extLst>
                </p:cNvPr>
                <p:cNvSpPr/>
                <p:nvPr/>
              </p:nvSpPr>
              <p:spPr>
                <a:xfrm>
                  <a:off x="5618130" y="5734051"/>
                  <a:ext cx="288000" cy="108000"/>
                </a:xfrm>
                <a:prstGeom prst="rightArrow">
                  <a:avLst/>
                </a:prstGeom>
                <a:solidFill>
                  <a:schemeClr val="accent2"/>
                </a:solidFill>
                <a:effectLst>
                  <a:outerShdw blurRad="50800" dist="139700" dir="8100000" algn="tr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</p:grpSp>
          <p:sp>
            <p:nvSpPr>
              <p:cNvPr id="111" name="Seta para a direita 17">
                <a:extLst>
                  <a:ext uri="{FF2B5EF4-FFF2-40B4-BE49-F238E27FC236}">
                    <a16:creationId xmlns:a16="http://schemas.microsoft.com/office/drawing/2014/main" id="{5C1C4696-F299-9047-4FC6-C431E93C126F}"/>
                  </a:ext>
                </a:extLst>
              </p:cNvPr>
              <p:cNvSpPr/>
              <p:nvPr/>
            </p:nvSpPr>
            <p:spPr>
              <a:xfrm rot="5400000">
                <a:off x="6612548" y="4194806"/>
                <a:ext cx="288000" cy="108000"/>
              </a:xfrm>
              <a:prstGeom prst="rightArrow">
                <a:avLst/>
              </a:prstGeom>
              <a:solidFill>
                <a:schemeClr val="accent2"/>
              </a:solidFill>
              <a:effectLst>
                <a:outerShdw blurRad="50800" dist="139700" dir="8100000" algn="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108" name="Seta para a direita 14">
              <a:extLst>
                <a:ext uri="{FF2B5EF4-FFF2-40B4-BE49-F238E27FC236}">
                  <a16:creationId xmlns:a16="http://schemas.microsoft.com/office/drawing/2014/main" id="{5D47EDBE-78BC-BFC7-290F-5C7E6D4A271E}"/>
                </a:ext>
              </a:extLst>
            </p:cNvPr>
            <p:cNvSpPr/>
            <p:nvPr/>
          </p:nvSpPr>
          <p:spPr>
            <a:xfrm rot="13276495">
              <a:off x="8046776" y="4538294"/>
              <a:ext cx="288000" cy="108000"/>
            </a:xfrm>
            <a:prstGeom prst="rightArrow">
              <a:avLst/>
            </a:prstGeom>
            <a:solidFill>
              <a:schemeClr val="accent2"/>
            </a:solidFill>
            <a:effectLst>
              <a:outerShdw blurRad="50800" dist="1397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</p:grpSp>
      <p:grpSp>
        <p:nvGrpSpPr>
          <p:cNvPr id="122" name="Agrupar 221">
            <a:extLst>
              <a:ext uri="{FF2B5EF4-FFF2-40B4-BE49-F238E27FC236}">
                <a16:creationId xmlns:a16="http://schemas.microsoft.com/office/drawing/2014/main" id="{798D4ED3-E339-5746-6398-48D42649F979}"/>
              </a:ext>
            </a:extLst>
          </p:cNvPr>
          <p:cNvGrpSpPr/>
          <p:nvPr/>
        </p:nvGrpSpPr>
        <p:grpSpPr>
          <a:xfrm>
            <a:off x="8303408" y="973098"/>
            <a:ext cx="3120386" cy="1197745"/>
            <a:chOff x="8805611" y="2854336"/>
            <a:chExt cx="2942277" cy="1017208"/>
          </a:xfrm>
        </p:grpSpPr>
        <p:cxnSp>
          <p:nvCxnSpPr>
            <p:cNvPr id="123" name="Conector de Seta Reta 98">
              <a:extLst>
                <a:ext uri="{FF2B5EF4-FFF2-40B4-BE49-F238E27FC236}">
                  <a16:creationId xmlns:a16="http://schemas.microsoft.com/office/drawing/2014/main" id="{9960C934-7385-0C67-E765-D42E7299A4C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912400" y="3533610"/>
              <a:ext cx="4759" cy="275267"/>
            </a:xfrm>
            <a:prstGeom prst="straightConnector1">
              <a:avLst/>
            </a:prstGeom>
            <a:ln w="28575">
              <a:solidFill>
                <a:srgbClr val="0000FF"/>
              </a:solidFill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4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3F9C59A4-257B-D9F2-5DD4-058337E238C7}"/>
                    </a:ext>
                  </a:extLst>
                </p:cNvPr>
                <p:cNvSpPr txBox="1"/>
                <p:nvPr/>
              </p:nvSpPr>
              <p:spPr>
                <a:xfrm>
                  <a:off x="11119645" y="3359970"/>
                  <a:ext cx="628243" cy="511574"/>
                </a:xfrm>
                <a:prstGeom prst="rect">
                  <a:avLst/>
                </a:prstGeom>
                <a:noFill/>
                <a:ln w="38100">
                  <a:noFill/>
                </a:ln>
              </p:spPr>
              <p:txBody>
                <a:bodyPr wrap="square" anchor="ctr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lvl="0" algn="ctr"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3200" b="1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𝑯</m:t>
                        </m:r>
                        <m:r>
                          <a:rPr lang="pt-BR" sz="3200" b="1" i="1" baseline="-2500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pt-BR" sz="3200" b="1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GB" sz="3200" b="1" dirty="0">
                    <a:solidFill>
                      <a:srgbClr val="0000FF"/>
                    </a:solidFill>
                  </a:endParaRPr>
                </a:p>
              </p:txBody>
            </p:sp>
          </mc:Choice>
          <mc:Fallback xmlns="">
            <p:sp>
              <p:nvSpPr>
                <p:cNvPr id="124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3F9C59A4-257B-D9F2-5DD4-058337E238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19645" y="3359970"/>
                  <a:ext cx="628243" cy="511574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  <a:ln w="38100">
                  <a:noFill/>
                </a:ln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5" name="Conector reto 191">
              <a:extLst>
                <a:ext uri="{FF2B5EF4-FFF2-40B4-BE49-F238E27FC236}">
                  <a16:creationId xmlns:a16="http://schemas.microsoft.com/office/drawing/2014/main" id="{7D011BA3-2965-B5A8-CDC2-18D648D14392}"/>
                </a:ext>
              </a:extLst>
            </p:cNvPr>
            <p:cNvCxnSpPr>
              <a:cxnSpLocks/>
            </p:cNvCxnSpPr>
            <p:nvPr/>
          </p:nvCxnSpPr>
          <p:spPr>
            <a:xfrm>
              <a:off x="8805611" y="3231347"/>
              <a:ext cx="229436" cy="227965"/>
            </a:xfrm>
            <a:prstGeom prst="line">
              <a:avLst/>
            </a:prstGeom>
            <a:noFill/>
            <a:ln w="28575"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6" name="Conector reto 196">
              <a:extLst>
                <a:ext uri="{FF2B5EF4-FFF2-40B4-BE49-F238E27FC236}">
                  <a16:creationId xmlns:a16="http://schemas.microsoft.com/office/drawing/2014/main" id="{A93F4503-0BF0-4B26-5852-69ED53366DE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51032" y="3391830"/>
              <a:ext cx="738000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27" name="Agrupar 207">
              <a:extLst>
                <a:ext uri="{FF2B5EF4-FFF2-40B4-BE49-F238E27FC236}">
                  <a16:creationId xmlns:a16="http://schemas.microsoft.com/office/drawing/2014/main" id="{3C87EAD9-8601-3E65-362F-44CF4E90263D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8809159" y="2854336"/>
              <a:ext cx="1941029" cy="948588"/>
              <a:chOff x="8673239" y="3288564"/>
              <a:chExt cx="1261022" cy="616267"/>
            </a:xfrm>
          </p:grpSpPr>
          <p:grpSp>
            <p:nvGrpSpPr>
              <p:cNvPr id="137" name="Agrupar 87">
                <a:extLst>
                  <a:ext uri="{FF2B5EF4-FFF2-40B4-BE49-F238E27FC236}">
                    <a16:creationId xmlns:a16="http://schemas.microsoft.com/office/drawing/2014/main" id="{0FC39CC3-E475-2663-D6B5-49DE0EBF2089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8673239" y="3288564"/>
                <a:ext cx="798508" cy="616267"/>
                <a:chOff x="8741399" y="2617366"/>
                <a:chExt cx="1364715" cy="1053253"/>
              </a:xfrm>
            </p:grpSpPr>
            <p:sp>
              <p:nvSpPr>
                <p:cNvPr id="141" name="Cubo 79">
                  <a:extLst>
                    <a:ext uri="{FF2B5EF4-FFF2-40B4-BE49-F238E27FC236}">
                      <a16:creationId xmlns:a16="http://schemas.microsoft.com/office/drawing/2014/main" id="{FCD22416-67E3-3C51-5136-5B3CC3073E22}"/>
                    </a:ext>
                  </a:extLst>
                </p:cNvPr>
                <p:cNvSpPr/>
                <p:nvPr/>
              </p:nvSpPr>
              <p:spPr>
                <a:xfrm flipH="1">
                  <a:off x="8741399" y="2617366"/>
                  <a:ext cx="1073719" cy="791634"/>
                </a:xfrm>
                <a:prstGeom prst="cube">
                  <a:avLst>
                    <a:gd name="adj" fmla="val 32078"/>
                  </a:avLst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sp>
              <p:nvSpPr>
                <p:cNvPr id="142" name="Cubo 85">
                  <a:extLst>
                    <a:ext uri="{FF2B5EF4-FFF2-40B4-BE49-F238E27FC236}">
                      <a16:creationId xmlns:a16="http://schemas.microsoft.com/office/drawing/2014/main" id="{B5CEE7F3-7D89-9770-29FD-65E31F95B303}"/>
                    </a:ext>
                  </a:extLst>
                </p:cNvPr>
                <p:cNvSpPr/>
                <p:nvPr/>
              </p:nvSpPr>
              <p:spPr>
                <a:xfrm flipH="1">
                  <a:off x="9032395" y="2878985"/>
                  <a:ext cx="1073719" cy="791634"/>
                </a:xfrm>
                <a:prstGeom prst="cube">
                  <a:avLst>
                    <a:gd name="adj" fmla="val 32078"/>
                  </a:avLst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</p:grpSp>
          <p:grpSp>
            <p:nvGrpSpPr>
              <p:cNvPr id="138" name="Agrupar 204">
                <a:extLst>
                  <a:ext uri="{FF2B5EF4-FFF2-40B4-BE49-F238E27FC236}">
                    <a16:creationId xmlns:a16="http://schemas.microsoft.com/office/drawing/2014/main" id="{AD109542-6D9C-4514-19F4-7A442301DBE2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9135756" y="3290794"/>
                <a:ext cx="798505" cy="611266"/>
                <a:chOff x="8712967" y="2617366"/>
                <a:chExt cx="1364711" cy="1044702"/>
              </a:xfrm>
            </p:grpSpPr>
            <p:sp>
              <p:nvSpPr>
                <p:cNvPr id="139" name="Cubo 205">
                  <a:extLst>
                    <a:ext uri="{FF2B5EF4-FFF2-40B4-BE49-F238E27FC236}">
                      <a16:creationId xmlns:a16="http://schemas.microsoft.com/office/drawing/2014/main" id="{9706DE44-5687-0FD6-2E9B-A593EE90DF63}"/>
                    </a:ext>
                  </a:extLst>
                </p:cNvPr>
                <p:cNvSpPr/>
                <p:nvPr/>
              </p:nvSpPr>
              <p:spPr>
                <a:xfrm flipH="1">
                  <a:off x="8712967" y="2617366"/>
                  <a:ext cx="1073719" cy="791634"/>
                </a:xfrm>
                <a:prstGeom prst="cube">
                  <a:avLst>
                    <a:gd name="adj" fmla="val 32078"/>
                  </a:avLst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sp>
              <p:nvSpPr>
                <p:cNvPr id="140" name="Cubo 206">
                  <a:extLst>
                    <a:ext uri="{FF2B5EF4-FFF2-40B4-BE49-F238E27FC236}">
                      <a16:creationId xmlns:a16="http://schemas.microsoft.com/office/drawing/2014/main" id="{F39D64E7-4108-D4B0-8029-F6E231C5CDC8}"/>
                    </a:ext>
                  </a:extLst>
                </p:cNvPr>
                <p:cNvSpPr/>
                <p:nvPr/>
              </p:nvSpPr>
              <p:spPr>
                <a:xfrm flipH="1">
                  <a:off x="9003959" y="2870434"/>
                  <a:ext cx="1073719" cy="791634"/>
                </a:xfrm>
                <a:prstGeom prst="cube">
                  <a:avLst>
                    <a:gd name="adj" fmla="val 32078"/>
                  </a:avLst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</p:grpSp>
        </p:grpSp>
        <p:cxnSp>
          <p:nvCxnSpPr>
            <p:cNvPr id="128" name="Conector reto 210">
              <a:extLst>
                <a:ext uri="{FF2B5EF4-FFF2-40B4-BE49-F238E27FC236}">
                  <a16:creationId xmlns:a16="http://schemas.microsoft.com/office/drawing/2014/main" id="{62FFB071-EDD1-FEB2-93D6-CBD46638E2E5}"/>
                </a:ext>
              </a:extLst>
            </p:cNvPr>
            <p:cNvCxnSpPr>
              <a:cxnSpLocks/>
            </p:cNvCxnSpPr>
            <p:nvPr/>
          </p:nvCxnSpPr>
          <p:spPr>
            <a:xfrm>
              <a:off x="9033852" y="3172458"/>
              <a:ext cx="229436" cy="227965"/>
            </a:xfrm>
            <a:prstGeom prst="line">
              <a:avLst/>
            </a:prstGeom>
            <a:noFill/>
            <a:ln w="28575"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9" name="Conector reto 211">
              <a:extLst>
                <a:ext uri="{FF2B5EF4-FFF2-40B4-BE49-F238E27FC236}">
                  <a16:creationId xmlns:a16="http://schemas.microsoft.com/office/drawing/2014/main" id="{01CE75FE-F54A-E18B-7B85-6D7934BCB2A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004097" y="3691515"/>
              <a:ext cx="738000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0" name="Conector reto 212">
              <a:extLst>
                <a:ext uri="{FF2B5EF4-FFF2-40B4-BE49-F238E27FC236}">
                  <a16:creationId xmlns:a16="http://schemas.microsoft.com/office/drawing/2014/main" id="{C3A26A0B-82B4-CAC7-F757-54982F8DC9B9}"/>
                </a:ext>
              </a:extLst>
            </p:cNvPr>
            <p:cNvCxnSpPr>
              <a:cxnSpLocks/>
            </p:cNvCxnSpPr>
            <p:nvPr/>
          </p:nvCxnSpPr>
          <p:spPr>
            <a:xfrm>
              <a:off x="9777961" y="3466898"/>
              <a:ext cx="229436" cy="227965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1" name="Conector reto 213">
              <a:extLst>
                <a:ext uri="{FF2B5EF4-FFF2-40B4-BE49-F238E27FC236}">
                  <a16:creationId xmlns:a16="http://schemas.microsoft.com/office/drawing/2014/main" id="{1865F7E6-9036-B28E-69F4-7B333C7A3846}"/>
                </a:ext>
              </a:extLst>
            </p:cNvPr>
            <p:cNvCxnSpPr>
              <a:cxnSpLocks/>
            </p:cNvCxnSpPr>
            <p:nvPr/>
          </p:nvCxnSpPr>
          <p:spPr>
            <a:xfrm>
              <a:off x="10505504" y="3466898"/>
              <a:ext cx="229436" cy="227965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2" name="Conector reto 214">
              <a:extLst>
                <a:ext uri="{FF2B5EF4-FFF2-40B4-BE49-F238E27FC236}">
                  <a16:creationId xmlns:a16="http://schemas.microsoft.com/office/drawing/2014/main" id="{746ECE35-2842-FD9F-E07F-088C025F5235}"/>
                </a:ext>
              </a:extLst>
            </p:cNvPr>
            <p:cNvCxnSpPr>
              <a:cxnSpLocks/>
            </p:cNvCxnSpPr>
            <p:nvPr/>
          </p:nvCxnSpPr>
          <p:spPr>
            <a:xfrm>
              <a:off x="10506614" y="3565845"/>
              <a:ext cx="236576" cy="2375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3" name="Conector reto 215">
              <a:extLst>
                <a:ext uri="{FF2B5EF4-FFF2-40B4-BE49-F238E27FC236}">
                  <a16:creationId xmlns:a16="http://schemas.microsoft.com/office/drawing/2014/main" id="{97ECE51C-378F-CD8E-80DA-6A0B31A2A5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67504" y="3459538"/>
              <a:ext cx="738000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prstDash val="dash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4" name="Conector reto 216">
              <a:extLst>
                <a:ext uri="{FF2B5EF4-FFF2-40B4-BE49-F238E27FC236}">
                  <a16:creationId xmlns:a16="http://schemas.microsoft.com/office/drawing/2014/main" id="{A2158EEA-2022-3743-3A7F-816BB514F5D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46552" y="3171246"/>
              <a:ext cx="738000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prstDash val="dash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5" name="Conector reto 217">
              <a:extLst>
                <a:ext uri="{FF2B5EF4-FFF2-40B4-BE49-F238E27FC236}">
                  <a16:creationId xmlns:a16="http://schemas.microsoft.com/office/drawing/2014/main" id="{E758FD02-097E-F804-4338-A77C736BF574}"/>
                </a:ext>
              </a:extLst>
            </p:cNvPr>
            <p:cNvCxnSpPr>
              <a:cxnSpLocks/>
            </p:cNvCxnSpPr>
            <p:nvPr/>
          </p:nvCxnSpPr>
          <p:spPr>
            <a:xfrm>
              <a:off x="9774708" y="3165277"/>
              <a:ext cx="229436" cy="227965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6" name="Conector reto 219">
              <a:extLst>
                <a:ext uri="{FF2B5EF4-FFF2-40B4-BE49-F238E27FC236}">
                  <a16:creationId xmlns:a16="http://schemas.microsoft.com/office/drawing/2014/main" id="{6E870AD9-60AD-4F53-B032-203D740F8C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813267" y="3231347"/>
              <a:ext cx="216000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prstDash val="dash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pic>
        <p:nvPicPr>
          <p:cNvPr id="143" name="Imagem 4">
            <a:extLst>
              <a:ext uri="{FF2B5EF4-FFF2-40B4-BE49-F238E27FC236}">
                <a16:creationId xmlns:a16="http://schemas.microsoft.com/office/drawing/2014/main" id="{5FDC551C-AA9F-98BF-6121-89EA29F2E043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840980" y="4819988"/>
            <a:ext cx="2009882" cy="152481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144" name="Group 143">
            <a:extLst>
              <a:ext uri="{FF2B5EF4-FFF2-40B4-BE49-F238E27FC236}">
                <a16:creationId xmlns:a16="http://schemas.microsoft.com/office/drawing/2014/main" id="{3120F3C6-34A5-E2B7-44C1-0AA19D98BD5E}"/>
              </a:ext>
            </a:extLst>
          </p:cNvPr>
          <p:cNvGrpSpPr/>
          <p:nvPr/>
        </p:nvGrpSpPr>
        <p:grpSpPr>
          <a:xfrm>
            <a:off x="9450952" y="2256080"/>
            <a:ext cx="2424418" cy="2404173"/>
            <a:chOff x="5782638" y="3435325"/>
            <a:chExt cx="2424418" cy="2404173"/>
          </a:xfrm>
        </p:grpSpPr>
        <p:pic>
          <p:nvPicPr>
            <p:cNvPr id="145" name="Imagem 150">
              <a:extLst>
                <a:ext uri="{FF2B5EF4-FFF2-40B4-BE49-F238E27FC236}">
                  <a16:creationId xmlns:a16="http://schemas.microsoft.com/office/drawing/2014/main" id="{18C92F61-C007-F3D1-8CD4-577BB9D34DB3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5789892" y="3435325"/>
              <a:ext cx="2409911" cy="2404173"/>
            </a:xfrm>
            <a:prstGeom prst="rect">
              <a:avLst/>
            </a:prstGeom>
          </p:spPr>
        </p:pic>
        <p:grpSp>
          <p:nvGrpSpPr>
            <p:cNvPr id="146" name="Group 145">
              <a:extLst>
                <a:ext uri="{FF2B5EF4-FFF2-40B4-BE49-F238E27FC236}">
                  <a16:creationId xmlns:a16="http://schemas.microsoft.com/office/drawing/2014/main" id="{11B22BEA-DA1C-410A-6021-0F73AF841CD9}"/>
                </a:ext>
              </a:extLst>
            </p:cNvPr>
            <p:cNvGrpSpPr/>
            <p:nvPr/>
          </p:nvGrpSpPr>
          <p:grpSpPr>
            <a:xfrm>
              <a:off x="5782638" y="3441535"/>
              <a:ext cx="2424418" cy="2365695"/>
              <a:chOff x="5908166" y="1237410"/>
              <a:chExt cx="2424418" cy="2365695"/>
            </a:xfrm>
          </p:grpSpPr>
          <p:grpSp>
            <p:nvGrpSpPr>
              <p:cNvPr id="147" name="Agrupar 164">
                <a:extLst>
                  <a:ext uri="{FF2B5EF4-FFF2-40B4-BE49-F238E27FC236}">
                    <a16:creationId xmlns:a16="http://schemas.microsoft.com/office/drawing/2014/main" id="{748FEC9C-59F0-E4D2-32E7-09C868BF6A46}"/>
                  </a:ext>
                </a:extLst>
              </p:cNvPr>
              <p:cNvGrpSpPr/>
              <p:nvPr/>
            </p:nvGrpSpPr>
            <p:grpSpPr>
              <a:xfrm>
                <a:off x="5908166" y="1237410"/>
                <a:ext cx="2424418" cy="2365695"/>
                <a:chOff x="5469622" y="1107347"/>
                <a:chExt cx="2424418" cy="2365695"/>
              </a:xfrm>
            </p:grpSpPr>
            <p:sp>
              <p:nvSpPr>
                <p:cNvPr id="152" name="Forma Livre: Forma 158">
                  <a:extLst>
                    <a:ext uri="{FF2B5EF4-FFF2-40B4-BE49-F238E27FC236}">
                      <a16:creationId xmlns:a16="http://schemas.microsoft.com/office/drawing/2014/main" id="{3477F66B-7F0A-99A0-BD76-E1A172BC561E}"/>
                    </a:ext>
                  </a:extLst>
                </p:cNvPr>
                <p:cNvSpPr/>
                <p:nvPr/>
              </p:nvSpPr>
              <p:spPr>
                <a:xfrm>
                  <a:off x="5494789" y="2474752"/>
                  <a:ext cx="1275127" cy="998290"/>
                </a:xfrm>
                <a:custGeom>
                  <a:avLst/>
                  <a:gdLst>
                    <a:gd name="connsiteX0" fmla="*/ 0 w 1275127"/>
                    <a:gd name="connsiteY0" fmla="*/ 0 h 998290"/>
                    <a:gd name="connsiteX1" fmla="*/ 234892 w 1275127"/>
                    <a:gd name="connsiteY1" fmla="*/ 134224 h 998290"/>
                    <a:gd name="connsiteX2" fmla="*/ 444617 w 1275127"/>
                    <a:gd name="connsiteY2" fmla="*/ 268448 h 998290"/>
                    <a:gd name="connsiteX3" fmla="*/ 679508 w 1275127"/>
                    <a:gd name="connsiteY3" fmla="*/ 453006 h 998290"/>
                    <a:gd name="connsiteX4" fmla="*/ 729842 w 1275127"/>
                    <a:gd name="connsiteY4" fmla="*/ 536896 h 998290"/>
                    <a:gd name="connsiteX5" fmla="*/ 880844 w 1275127"/>
                    <a:gd name="connsiteY5" fmla="*/ 729842 h 998290"/>
                    <a:gd name="connsiteX6" fmla="*/ 1082180 w 1275127"/>
                    <a:gd name="connsiteY6" fmla="*/ 864066 h 998290"/>
                    <a:gd name="connsiteX7" fmla="*/ 1275127 w 1275127"/>
                    <a:gd name="connsiteY7" fmla="*/ 998290 h 998290"/>
                    <a:gd name="connsiteX8" fmla="*/ 1275127 w 1275127"/>
                    <a:gd name="connsiteY8" fmla="*/ 998290 h 9982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275127" h="998290">
                      <a:moveTo>
                        <a:pt x="0" y="0"/>
                      </a:moveTo>
                      <a:lnTo>
                        <a:pt x="234892" y="134224"/>
                      </a:lnTo>
                      <a:lnTo>
                        <a:pt x="444617" y="268448"/>
                      </a:lnTo>
                      <a:lnTo>
                        <a:pt x="679508" y="453006"/>
                      </a:lnTo>
                      <a:lnTo>
                        <a:pt x="729842" y="536896"/>
                      </a:lnTo>
                      <a:lnTo>
                        <a:pt x="880844" y="729842"/>
                      </a:lnTo>
                      <a:lnTo>
                        <a:pt x="1082180" y="864066"/>
                      </a:lnTo>
                      <a:lnTo>
                        <a:pt x="1275127" y="998290"/>
                      </a:lnTo>
                      <a:lnTo>
                        <a:pt x="1275127" y="998290"/>
                      </a:lnTo>
                    </a:path>
                  </a:pathLst>
                </a:custGeom>
                <a:noFill/>
                <a:ln>
                  <a:solidFill>
                    <a:srgbClr val="0000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53" name="Forma Livre: Forma 159">
                  <a:extLst>
                    <a:ext uri="{FF2B5EF4-FFF2-40B4-BE49-F238E27FC236}">
                      <a16:creationId xmlns:a16="http://schemas.microsoft.com/office/drawing/2014/main" id="{C3D644F2-06A9-3B7A-409E-EDE7117954E1}"/>
                    </a:ext>
                  </a:extLst>
                </p:cNvPr>
                <p:cNvSpPr/>
                <p:nvPr/>
              </p:nvSpPr>
              <p:spPr>
                <a:xfrm>
                  <a:off x="5511567" y="2189527"/>
                  <a:ext cx="1820411" cy="1283515"/>
                </a:xfrm>
                <a:custGeom>
                  <a:avLst/>
                  <a:gdLst>
                    <a:gd name="connsiteX0" fmla="*/ 0 w 1820411"/>
                    <a:gd name="connsiteY0" fmla="*/ 0 h 1283515"/>
                    <a:gd name="connsiteX1" fmla="*/ 0 w 1820411"/>
                    <a:gd name="connsiteY1" fmla="*/ 0 h 1283515"/>
                    <a:gd name="connsiteX2" fmla="*/ 67112 w 1820411"/>
                    <a:gd name="connsiteY2" fmla="*/ 41945 h 1283515"/>
                    <a:gd name="connsiteX3" fmla="*/ 427839 w 1820411"/>
                    <a:gd name="connsiteY3" fmla="*/ 226502 h 1283515"/>
                    <a:gd name="connsiteX4" fmla="*/ 713064 w 1820411"/>
                    <a:gd name="connsiteY4" fmla="*/ 394282 h 1283515"/>
                    <a:gd name="connsiteX5" fmla="*/ 771787 w 1820411"/>
                    <a:gd name="connsiteY5" fmla="*/ 503339 h 1283515"/>
                    <a:gd name="connsiteX6" fmla="*/ 939567 w 1820411"/>
                    <a:gd name="connsiteY6" fmla="*/ 687897 h 1283515"/>
                    <a:gd name="connsiteX7" fmla="*/ 1048624 w 1820411"/>
                    <a:gd name="connsiteY7" fmla="*/ 771787 h 1283515"/>
                    <a:gd name="connsiteX8" fmla="*/ 1233182 w 1820411"/>
                    <a:gd name="connsiteY8" fmla="*/ 880844 h 1283515"/>
                    <a:gd name="connsiteX9" fmla="*/ 1308683 w 1820411"/>
                    <a:gd name="connsiteY9" fmla="*/ 931178 h 1283515"/>
                    <a:gd name="connsiteX10" fmla="*/ 1409350 w 1820411"/>
                    <a:gd name="connsiteY10" fmla="*/ 998290 h 1283515"/>
                    <a:gd name="connsiteX11" fmla="*/ 1459684 w 1820411"/>
                    <a:gd name="connsiteY11" fmla="*/ 1057012 h 1283515"/>
                    <a:gd name="connsiteX12" fmla="*/ 1820411 w 1820411"/>
                    <a:gd name="connsiteY12" fmla="*/ 1283515 h 12835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820411" h="1283515">
                      <a:moveTo>
                        <a:pt x="0" y="0"/>
                      </a:moveTo>
                      <a:lnTo>
                        <a:pt x="0" y="0"/>
                      </a:lnTo>
                      <a:lnTo>
                        <a:pt x="67112" y="41945"/>
                      </a:lnTo>
                      <a:lnTo>
                        <a:pt x="427839" y="226502"/>
                      </a:lnTo>
                      <a:lnTo>
                        <a:pt x="713064" y="394282"/>
                      </a:lnTo>
                      <a:cubicBezTo>
                        <a:pt x="773196" y="497365"/>
                        <a:pt x="771787" y="456102"/>
                        <a:pt x="771787" y="503339"/>
                      </a:cubicBezTo>
                      <a:lnTo>
                        <a:pt x="939567" y="687897"/>
                      </a:lnTo>
                      <a:lnTo>
                        <a:pt x="1048624" y="771787"/>
                      </a:lnTo>
                      <a:lnTo>
                        <a:pt x="1233182" y="880844"/>
                      </a:lnTo>
                      <a:cubicBezTo>
                        <a:pt x="1296993" y="926423"/>
                        <a:pt x="1270390" y="912031"/>
                        <a:pt x="1308683" y="931178"/>
                      </a:cubicBezTo>
                      <a:lnTo>
                        <a:pt x="1409350" y="998290"/>
                      </a:lnTo>
                      <a:lnTo>
                        <a:pt x="1459684" y="1057012"/>
                      </a:lnTo>
                      <a:lnTo>
                        <a:pt x="1820411" y="1283515"/>
                      </a:lnTo>
                    </a:path>
                  </a:pathLst>
                </a:custGeom>
                <a:noFill/>
                <a:ln>
                  <a:solidFill>
                    <a:srgbClr val="0000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54" name="Forma Livre: Forma 160">
                  <a:extLst>
                    <a:ext uri="{FF2B5EF4-FFF2-40B4-BE49-F238E27FC236}">
                      <a16:creationId xmlns:a16="http://schemas.microsoft.com/office/drawing/2014/main" id="{11BACE2C-1532-83EC-B788-4E80BD59D914}"/>
                    </a:ext>
                  </a:extLst>
                </p:cNvPr>
                <p:cNvSpPr/>
                <p:nvPr/>
              </p:nvSpPr>
              <p:spPr>
                <a:xfrm>
                  <a:off x="5511567" y="1887523"/>
                  <a:ext cx="2248250" cy="1577130"/>
                </a:xfrm>
                <a:custGeom>
                  <a:avLst/>
                  <a:gdLst>
                    <a:gd name="connsiteX0" fmla="*/ 0 w 2248250"/>
                    <a:gd name="connsiteY0" fmla="*/ 0 h 1577130"/>
                    <a:gd name="connsiteX1" fmla="*/ 0 w 2248250"/>
                    <a:gd name="connsiteY1" fmla="*/ 0 h 1577130"/>
                    <a:gd name="connsiteX2" fmla="*/ 234892 w 2248250"/>
                    <a:gd name="connsiteY2" fmla="*/ 167780 h 1577130"/>
                    <a:gd name="connsiteX3" fmla="*/ 528506 w 2248250"/>
                    <a:gd name="connsiteY3" fmla="*/ 335560 h 1577130"/>
                    <a:gd name="connsiteX4" fmla="*/ 922789 w 2248250"/>
                    <a:gd name="connsiteY4" fmla="*/ 553673 h 1577130"/>
                    <a:gd name="connsiteX5" fmla="*/ 981512 w 2248250"/>
                    <a:gd name="connsiteY5" fmla="*/ 629174 h 1577130"/>
                    <a:gd name="connsiteX6" fmla="*/ 1140903 w 2248250"/>
                    <a:gd name="connsiteY6" fmla="*/ 763398 h 1577130"/>
                    <a:gd name="connsiteX7" fmla="*/ 1434517 w 2248250"/>
                    <a:gd name="connsiteY7" fmla="*/ 956345 h 1577130"/>
                    <a:gd name="connsiteX8" fmla="*/ 1803633 w 2248250"/>
                    <a:gd name="connsiteY8" fmla="*/ 1208015 h 1577130"/>
                    <a:gd name="connsiteX9" fmla="*/ 2248250 w 2248250"/>
                    <a:gd name="connsiteY9" fmla="*/ 1577130 h 15771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2248250" h="1577130">
                      <a:moveTo>
                        <a:pt x="0" y="0"/>
                      </a:moveTo>
                      <a:lnTo>
                        <a:pt x="0" y="0"/>
                      </a:lnTo>
                      <a:lnTo>
                        <a:pt x="234892" y="167780"/>
                      </a:lnTo>
                      <a:lnTo>
                        <a:pt x="528506" y="335560"/>
                      </a:lnTo>
                      <a:lnTo>
                        <a:pt x="922789" y="553673"/>
                      </a:lnTo>
                      <a:lnTo>
                        <a:pt x="981512" y="629174"/>
                      </a:lnTo>
                      <a:lnTo>
                        <a:pt x="1140903" y="763398"/>
                      </a:lnTo>
                      <a:lnTo>
                        <a:pt x="1434517" y="956345"/>
                      </a:lnTo>
                      <a:lnTo>
                        <a:pt x="1803633" y="1208015"/>
                      </a:lnTo>
                      <a:lnTo>
                        <a:pt x="2248250" y="1577130"/>
                      </a:lnTo>
                    </a:path>
                  </a:pathLst>
                </a:custGeom>
                <a:noFill/>
                <a:ln>
                  <a:solidFill>
                    <a:srgbClr val="0000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55" name="Forma Livre: Forma 161">
                  <a:extLst>
                    <a:ext uri="{FF2B5EF4-FFF2-40B4-BE49-F238E27FC236}">
                      <a16:creationId xmlns:a16="http://schemas.microsoft.com/office/drawing/2014/main" id="{F750C8AD-B07C-D1EA-B2F7-856CC6DDB682}"/>
                    </a:ext>
                  </a:extLst>
                </p:cNvPr>
                <p:cNvSpPr/>
                <p:nvPr/>
              </p:nvSpPr>
              <p:spPr>
                <a:xfrm>
                  <a:off x="5503178" y="1602297"/>
                  <a:ext cx="2365695" cy="1342239"/>
                </a:xfrm>
                <a:custGeom>
                  <a:avLst/>
                  <a:gdLst>
                    <a:gd name="connsiteX0" fmla="*/ 0 w 2365695"/>
                    <a:gd name="connsiteY0" fmla="*/ 25167 h 1342239"/>
                    <a:gd name="connsiteX1" fmla="*/ 0 w 2365695"/>
                    <a:gd name="connsiteY1" fmla="*/ 25167 h 1342239"/>
                    <a:gd name="connsiteX2" fmla="*/ 134224 w 2365695"/>
                    <a:gd name="connsiteY2" fmla="*/ 0 h 1342239"/>
                    <a:gd name="connsiteX3" fmla="*/ 746620 w 2365695"/>
                    <a:gd name="connsiteY3" fmla="*/ 176169 h 1342239"/>
                    <a:gd name="connsiteX4" fmla="*/ 813732 w 2365695"/>
                    <a:gd name="connsiteY4" fmla="*/ 218114 h 1342239"/>
                    <a:gd name="connsiteX5" fmla="*/ 1283516 w 2365695"/>
                    <a:gd name="connsiteY5" fmla="*/ 578841 h 1342239"/>
                    <a:gd name="connsiteX6" fmla="*/ 1367405 w 2365695"/>
                    <a:gd name="connsiteY6" fmla="*/ 645953 h 1342239"/>
                    <a:gd name="connsiteX7" fmla="*/ 1577130 w 2365695"/>
                    <a:gd name="connsiteY7" fmla="*/ 931178 h 1342239"/>
                    <a:gd name="connsiteX8" fmla="*/ 1652631 w 2365695"/>
                    <a:gd name="connsiteY8" fmla="*/ 989901 h 1342239"/>
                    <a:gd name="connsiteX9" fmla="*/ 1904301 w 2365695"/>
                    <a:gd name="connsiteY9" fmla="*/ 1140903 h 1342239"/>
                    <a:gd name="connsiteX10" fmla="*/ 2181138 w 2365695"/>
                    <a:gd name="connsiteY10" fmla="*/ 1266738 h 1342239"/>
                    <a:gd name="connsiteX11" fmla="*/ 2365695 w 2365695"/>
                    <a:gd name="connsiteY11" fmla="*/ 1342239 h 13422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365695" h="1342239">
                      <a:moveTo>
                        <a:pt x="0" y="25167"/>
                      </a:moveTo>
                      <a:lnTo>
                        <a:pt x="0" y="25167"/>
                      </a:lnTo>
                      <a:lnTo>
                        <a:pt x="134224" y="0"/>
                      </a:lnTo>
                      <a:lnTo>
                        <a:pt x="746620" y="176169"/>
                      </a:lnTo>
                      <a:lnTo>
                        <a:pt x="813732" y="218114"/>
                      </a:lnTo>
                      <a:lnTo>
                        <a:pt x="1283516" y="578841"/>
                      </a:lnTo>
                      <a:lnTo>
                        <a:pt x="1367405" y="645953"/>
                      </a:lnTo>
                      <a:lnTo>
                        <a:pt x="1577130" y="931178"/>
                      </a:lnTo>
                      <a:cubicBezTo>
                        <a:pt x="1642289" y="977720"/>
                        <a:pt x="1618844" y="956114"/>
                        <a:pt x="1652631" y="989901"/>
                      </a:cubicBezTo>
                      <a:lnTo>
                        <a:pt x="1904301" y="1140903"/>
                      </a:lnTo>
                      <a:lnTo>
                        <a:pt x="2181138" y="1266738"/>
                      </a:lnTo>
                      <a:lnTo>
                        <a:pt x="2365695" y="1342239"/>
                      </a:lnTo>
                    </a:path>
                  </a:pathLst>
                </a:custGeom>
                <a:noFill/>
                <a:ln>
                  <a:solidFill>
                    <a:srgbClr val="0000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56" name="Forma Livre: Forma 162">
                  <a:extLst>
                    <a:ext uri="{FF2B5EF4-FFF2-40B4-BE49-F238E27FC236}">
                      <a16:creationId xmlns:a16="http://schemas.microsoft.com/office/drawing/2014/main" id="{F72C4048-FFB3-3DDF-7589-8AC6E21F1984}"/>
                    </a:ext>
                  </a:extLst>
                </p:cNvPr>
                <p:cNvSpPr/>
                <p:nvPr/>
              </p:nvSpPr>
              <p:spPr>
                <a:xfrm>
                  <a:off x="5469622" y="1283516"/>
                  <a:ext cx="2399251" cy="1199625"/>
                </a:xfrm>
                <a:custGeom>
                  <a:avLst/>
                  <a:gdLst>
                    <a:gd name="connsiteX0" fmla="*/ 0 w 2399251"/>
                    <a:gd name="connsiteY0" fmla="*/ 0 h 1199625"/>
                    <a:gd name="connsiteX1" fmla="*/ 411061 w 2399251"/>
                    <a:gd name="connsiteY1" fmla="*/ 125834 h 1199625"/>
                    <a:gd name="connsiteX2" fmla="*/ 486561 w 2399251"/>
                    <a:gd name="connsiteY2" fmla="*/ 125834 h 1199625"/>
                    <a:gd name="connsiteX3" fmla="*/ 738231 w 2399251"/>
                    <a:gd name="connsiteY3" fmla="*/ 109056 h 1199625"/>
                    <a:gd name="connsiteX4" fmla="*/ 1065402 w 2399251"/>
                    <a:gd name="connsiteY4" fmla="*/ 50334 h 1199625"/>
                    <a:gd name="connsiteX5" fmla="*/ 1182848 w 2399251"/>
                    <a:gd name="connsiteY5" fmla="*/ 58723 h 1199625"/>
                    <a:gd name="connsiteX6" fmla="*/ 1501629 w 2399251"/>
                    <a:gd name="connsiteY6" fmla="*/ 310392 h 1199625"/>
                    <a:gd name="connsiteX7" fmla="*/ 1543574 w 2399251"/>
                    <a:gd name="connsiteY7" fmla="*/ 394282 h 1199625"/>
                    <a:gd name="connsiteX8" fmla="*/ 1644242 w 2399251"/>
                    <a:gd name="connsiteY8" fmla="*/ 696286 h 1199625"/>
                    <a:gd name="connsiteX9" fmla="*/ 1770077 w 2399251"/>
                    <a:gd name="connsiteY9" fmla="*/ 864066 h 1199625"/>
                    <a:gd name="connsiteX10" fmla="*/ 1845578 w 2399251"/>
                    <a:gd name="connsiteY10" fmla="*/ 889233 h 1199625"/>
                    <a:gd name="connsiteX11" fmla="*/ 2013358 w 2399251"/>
                    <a:gd name="connsiteY11" fmla="*/ 981512 h 1199625"/>
                    <a:gd name="connsiteX12" fmla="*/ 2399251 w 2399251"/>
                    <a:gd name="connsiteY12" fmla="*/ 1199625 h 11996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2399251" h="1199625">
                      <a:moveTo>
                        <a:pt x="0" y="0"/>
                      </a:moveTo>
                      <a:lnTo>
                        <a:pt x="411061" y="125834"/>
                      </a:lnTo>
                      <a:lnTo>
                        <a:pt x="486561" y="125834"/>
                      </a:lnTo>
                      <a:lnTo>
                        <a:pt x="738231" y="109056"/>
                      </a:lnTo>
                      <a:lnTo>
                        <a:pt x="1065402" y="50334"/>
                      </a:lnTo>
                      <a:lnTo>
                        <a:pt x="1182848" y="58723"/>
                      </a:lnTo>
                      <a:lnTo>
                        <a:pt x="1501629" y="310392"/>
                      </a:lnTo>
                      <a:lnTo>
                        <a:pt x="1543574" y="394282"/>
                      </a:lnTo>
                      <a:lnTo>
                        <a:pt x="1644242" y="696286"/>
                      </a:lnTo>
                      <a:lnTo>
                        <a:pt x="1770077" y="864066"/>
                      </a:lnTo>
                      <a:lnTo>
                        <a:pt x="1845578" y="889233"/>
                      </a:lnTo>
                      <a:lnTo>
                        <a:pt x="2013358" y="981512"/>
                      </a:lnTo>
                      <a:lnTo>
                        <a:pt x="2399251" y="1199625"/>
                      </a:lnTo>
                    </a:path>
                  </a:pathLst>
                </a:custGeom>
                <a:noFill/>
                <a:ln>
                  <a:solidFill>
                    <a:srgbClr val="0000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57" name="Forma Livre: Forma 163">
                  <a:extLst>
                    <a:ext uri="{FF2B5EF4-FFF2-40B4-BE49-F238E27FC236}">
                      <a16:creationId xmlns:a16="http://schemas.microsoft.com/office/drawing/2014/main" id="{78514355-1963-A9AC-96B4-044207506601}"/>
                    </a:ext>
                  </a:extLst>
                </p:cNvPr>
                <p:cNvSpPr/>
                <p:nvPr/>
              </p:nvSpPr>
              <p:spPr>
                <a:xfrm>
                  <a:off x="6878972" y="1107347"/>
                  <a:ext cx="1015068" cy="1006679"/>
                </a:xfrm>
                <a:custGeom>
                  <a:avLst/>
                  <a:gdLst>
                    <a:gd name="connsiteX0" fmla="*/ 0 w 1015068"/>
                    <a:gd name="connsiteY0" fmla="*/ 0 h 1006679"/>
                    <a:gd name="connsiteX1" fmla="*/ 201336 w 1015068"/>
                    <a:gd name="connsiteY1" fmla="*/ 142613 h 1006679"/>
                    <a:gd name="connsiteX2" fmla="*/ 335560 w 1015068"/>
                    <a:gd name="connsiteY2" fmla="*/ 209725 h 1006679"/>
                    <a:gd name="connsiteX3" fmla="*/ 520118 w 1015068"/>
                    <a:gd name="connsiteY3" fmla="*/ 444616 h 1006679"/>
                    <a:gd name="connsiteX4" fmla="*/ 595619 w 1015068"/>
                    <a:gd name="connsiteY4" fmla="*/ 578840 h 1006679"/>
                    <a:gd name="connsiteX5" fmla="*/ 696287 w 1015068"/>
                    <a:gd name="connsiteY5" fmla="*/ 780176 h 1006679"/>
                    <a:gd name="connsiteX6" fmla="*/ 1015068 w 1015068"/>
                    <a:gd name="connsiteY6" fmla="*/ 1006679 h 10066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015068" h="1006679">
                      <a:moveTo>
                        <a:pt x="0" y="0"/>
                      </a:moveTo>
                      <a:lnTo>
                        <a:pt x="201336" y="142613"/>
                      </a:lnTo>
                      <a:cubicBezTo>
                        <a:pt x="300391" y="202046"/>
                        <a:pt x="254289" y="182635"/>
                        <a:pt x="335560" y="209725"/>
                      </a:cubicBezTo>
                      <a:lnTo>
                        <a:pt x="520118" y="444616"/>
                      </a:lnTo>
                      <a:cubicBezTo>
                        <a:pt x="575424" y="564445"/>
                        <a:pt x="542141" y="525362"/>
                        <a:pt x="595619" y="578840"/>
                      </a:cubicBezTo>
                      <a:lnTo>
                        <a:pt x="696287" y="780176"/>
                      </a:lnTo>
                      <a:lnTo>
                        <a:pt x="1015068" y="1006679"/>
                      </a:lnTo>
                    </a:path>
                  </a:pathLst>
                </a:custGeom>
                <a:noFill/>
                <a:ln>
                  <a:solidFill>
                    <a:srgbClr val="0000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</p:grpSp>
          <p:cxnSp>
            <p:nvCxnSpPr>
              <p:cNvPr id="148" name="Conector de Seta Reta 166">
                <a:extLst>
                  <a:ext uri="{FF2B5EF4-FFF2-40B4-BE49-F238E27FC236}">
                    <a16:creationId xmlns:a16="http://schemas.microsoft.com/office/drawing/2014/main" id="{75F1CC01-F2F1-C71C-25B7-5964BCD00E89}"/>
                  </a:ext>
                </a:extLst>
              </p:cNvPr>
              <p:cNvCxnSpPr/>
              <p:nvPr/>
            </p:nvCxnSpPr>
            <p:spPr>
              <a:xfrm flipV="1">
                <a:off x="6534544" y="3071658"/>
                <a:ext cx="378202" cy="48740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Conector de Seta Reta 167">
                <a:extLst>
                  <a:ext uri="{FF2B5EF4-FFF2-40B4-BE49-F238E27FC236}">
                    <a16:creationId xmlns:a16="http://schemas.microsoft.com/office/drawing/2014/main" id="{3DBF22AE-C462-9301-1FEF-C42CBA8A40CA}"/>
                  </a:ext>
                </a:extLst>
              </p:cNvPr>
              <p:cNvCxnSpPr/>
              <p:nvPr/>
            </p:nvCxnSpPr>
            <p:spPr>
              <a:xfrm flipV="1">
                <a:off x="7315417" y="2821982"/>
                <a:ext cx="378202" cy="48740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0" name="Conector de Seta Reta 168">
                <a:extLst>
                  <a:ext uri="{FF2B5EF4-FFF2-40B4-BE49-F238E27FC236}">
                    <a16:creationId xmlns:a16="http://schemas.microsoft.com/office/drawing/2014/main" id="{F4E8655E-3973-ABED-5C93-D814CD3AEDB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89162" y="1823007"/>
                <a:ext cx="503889" cy="9213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Conector de Seta Reta 170">
                <a:extLst>
                  <a:ext uri="{FF2B5EF4-FFF2-40B4-BE49-F238E27FC236}">
                    <a16:creationId xmlns:a16="http://schemas.microsoft.com/office/drawing/2014/main" id="{EF3B2D5C-6204-40C7-CF64-381408C25AC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87165" y="2544134"/>
                <a:ext cx="513322" cy="236916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8" name="Object 4">
                <a:extLst>
                  <a:ext uri="{63B3BB69-23CF-44E3-9099-C40C66FF867C}">
                    <a14:compatExt spid="_x0000_s1028"/>
                  </a:ext>
                  <a:ext uri="{FF2B5EF4-FFF2-40B4-BE49-F238E27FC236}">
                    <a16:creationId xmlns:a16="http://schemas.microsoft.com/office/drawing/2014/main" id="{D11EBF9B-EFC3-C3FB-61AD-C583454EC737}"/>
                  </a:ext>
                </a:extLst>
              </p:cNvPr>
              <p:cNvSpPr txBox="1"/>
              <p:nvPr/>
            </p:nvSpPr>
            <p:spPr>
              <a:xfrm>
                <a:off x="10718120" y="644112"/>
                <a:ext cx="666273" cy="602370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anchor="ctr">
                <a:noAutofit/>
              </a:bodyPr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lvl="0" algn="ctr"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000" b="1" i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𝐧𝐮𝐦</m:t>
                      </m:r>
                      <m:r>
                        <a:rPr lang="pt-BR" sz="2000" b="1" i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é</m:t>
                      </m:r>
                      <m:r>
                        <a:rPr lang="pt-BR" sz="2000" b="1" i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𝐫𝐢𝐜𝐨</m:t>
                      </m:r>
                    </m:oMath>
                  </m:oMathPara>
                </a14:m>
                <a:endParaRPr lang="en-GB" sz="2000" b="1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158" name="Object 4">
                <a:extLst>
                  <a:ext uri="{63B3BB69-23CF-44E3-9099-C40C66FF867C}">
                    <a14:compatExt xmlns:a14="http://schemas.microsoft.com/office/drawing/2010/main" spid="_x0000_s1028"/>
                  </a:ext>
                  <a:ext uri="{FF2B5EF4-FFF2-40B4-BE49-F238E27FC236}">
                    <a16:creationId xmlns:a16="http://schemas.microsoft.com/office/drawing/2014/main" id="{D11EBF9B-EFC3-C3FB-61AD-C583454EC7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18120" y="644112"/>
                <a:ext cx="666273" cy="602370"/>
              </a:xfrm>
              <a:prstGeom prst="rect">
                <a:avLst/>
              </a:prstGeom>
              <a:blipFill>
                <a:blip r:embed="rId27"/>
                <a:stretch>
                  <a:fillRect l="-53636" r="-45455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9" name="Object 4">
                <a:extLst>
                  <a:ext uri="{63B3BB69-23CF-44E3-9099-C40C66FF867C}">
                    <a14:compatExt spid="_x0000_s1028"/>
                  </a:ext>
                  <a:ext uri="{FF2B5EF4-FFF2-40B4-BE49-F238E27FC236}">
                    <a16:creationId xmlns:a16="http://schemas.microsoft.com/office/drawing/2014/main" id="{FE8E4903-B8B4-3B33-50F8-DD4CCA92C8DF}"/>
                  </a:ext>
                </a:extLst>
              </p:cNvPr>
              <p:cNvSpPr txBox="1"/>
              <p:nvPr/>
            </p:nvSpPr>
            <p:spPr>
              <a:xfrm>
                <a:off x="11226186" y="4168312"/>
                <a:ext cx="562178" cy="369332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wrap="square" lIns="0" tIns="0" rIns="0" bIns="0" anchor="ctr" anchorCtr="0">
                <a:spAutoFit/>
              </a:bodyPr>
              <a:lstStyle>
                <a:defPPr>
                  <a:defRPr lang="LID4096"/>
                </a:defPPr>
                <a:lvl1pPr lvl="0" indent="0" algn="ctr">
                  <a:defRPr sz="2400" b="1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libri (Body)"/>
                    <a:ea typeface="Cambria Math" panose="02040503050406030204" pitchFamily="18" charset="0"/>
                  </a:defRPr>
                </a:lvl1pPr>
                <a:lvl2pPr indent="0">
                  <a:defRPr sz="1100"/>
                </a:lvl2pPr>
                <a:lvl3pPr indent="0">
                  <a:defRPr sz="1100"/>
                </a:lvl3pPr>
                <a:lvl4pPr indent="0">
                  <a:defRPr sz="1100"/>
                </a:lvl4pPr>
                <a:lvl5pPr indent="0">
                  <a:defRPr sz="1100"/>
                </a:lvl5pPr>
                <a:lvl6pPr indent="0">
                  <a:defRPr sz="1100"/>
                </a:lvl6pPr>
                <a:lvl7pPr indent="0">
                  <a:defRPr sz="1100"/>
                </a:lvl7pPr>
                <a:lvl8pPr indent="0">
                  <a:defRPr sz="1100"/>
                </a:lvl8pPr>
                <a:lvl9pPr indent="0">
                  <a:defRPr sz="1100"/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>
                          <a:latin typeface="Cambria Math" panose="02040503050406030204" pitchFamily="18" charset="0"/>
                        </a:rPr>
                        <m:t>𝟐𝐃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59" name="Object 4">
                <a:extLst>
                  <a:ext uri="{63B3BB69-23CF-44E3-9099-C40C66FF867C}">
                    <a14:compatExt xmlns:a14="http://schemas.microsoft.com/office/drawing/2010/main" spid="_x0000_s1028"/>
                  </a:ext>
                  <a:ext uri="{FF2B5EF4-FFF2-40B4-BE49-F238E27FC236}">
                    <a16:creationId xmlns:a16="http://schemas.microsoft.com/office/drawing/2014/main" id="{FE8E4903-B8B4-3B33-50F8-DD4CCA92C8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26186" y="4168312"/>
                <a:ext cx="562178" cy="369332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  <a:ln w="3175"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0" name="Object 4">
                <a:extLst>
                  <a:ext uri="{63B3BB69-23CF-44E3-9099-C40C66FF867C}">
                    <a14:compatExt spid="_x0000_s1028"/>
                  </a:ext>
                  <a:ext uri="{FF2B5EF4-FFF2-40B4-BE49-F238E27FC236}">
                    <a16:creationId xmlns:a16="http://schemas.microsoft.com/office/drawing/2014/main" id="{99A5E381-024C-E7EE-E761-56E0A3CCF425}"/>
                  </a:ext>
                </a:extLst>
              </p:cNvPr>
              <p:cNvSpPr txBox="1"/>
              <p:nvPr/>
            </p:nvSpPr>
            <p:spPr>
              <a:xfrm>
                <a:off x="11240561" y="5805989"/>
                <a:ext cx="562178" cy="369332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wrap="square" lIns="0" tIns="0" rIns="0" bIns="0" anchor="ctr" anchorCtr="0">
                <a:spAutoFit/>
              </a:bodyPr>
              <a:lstStyle>
                <a:defPPr>
                  <a:defRPr lang="LID4096"/>
                </a:defPPr>
                <a:lvl1pPr lvl="0" indent="0" algn="ctr">
                  <a:defRPr sz="2400" b="1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libri (Body)"/>
                    <a:ea typeface="Cambria Math" panose="02040503050406030204" pitchFamily="18" charset="0"/>
                  </a:defRPr>
                </a:lvl1pPr>
                <a:lvl2pPr indent="0">
                  <a:defRPr sz="1100"/>
                </a:lvl2pPr>
                <a:lvl3pPr indent="0">
                  <a:defRPr sz="1100"/>
                </a:lvl3pPr>
                <a:lvl4pPr indent="0">
                  <a:defRPr sz="1100"/>
                </a:lvl4pPr>
                <a:lvl5pPr indent="0">
                  <a:defRPr sz="1100"/>
                </a:lvl5pPr>
                <a:lvl6pPr indent="0">
                  <a:defRPr sz="1100"/>
                </a:lvl6pPr>
                <a:lvl7pPr indent="0">
                  <a:defRPr sz="1100"/>
                </a:lvl7pPr>
                <a:lvl8pPr indent="0">
                  <a:defRPr sz="1100"/>
                </a:lvl8pPr>
                <a:lvl9pPr indent="0">
                  <a:defRPr sz="1100"/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0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𝐃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60" name="Object 4">
                <a:extLst>
                  <a:ext uri="{63B3BB69-23CF-44E3-9099-C40C66FF867C}">
                    <a14:compatExt xmlns:a14="http://schemas.microsoft.com/office/drawing/2010/main" spid="_x0000_s1028"/>
                  </a:ext>
                  <a:ext uri="{FF2B5EF4-FFF2-40B4-BE49-F238E27FC236}">
                    <a16:creationId xmlns:a16="http://schemas.microsoft.com/office/drawing/2014/main" id="{99A5E381-024C-E7EE-E761-56E0A3CCF4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40561" y="5805989"/>
                <a:ext cx="562178" cy="369332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  <a:ln w="3175"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519122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256D9CEA-78FF-2828-D262-EBD3B2DED6F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7B6C85-71B7-2054-6907-EB64BD1D6219}"/>
              </a:ext>
            </a:extLst>
          </p:cNvPr>
          <p:cNvSpPr txBox="1"/>
          <p:nvPr/>
        </p:nvSpPr>
        <p:spPr>
          <a:xfrm>
            <a:off x="272599" y="494726"/>
            <a:ext cx="5367946" cy="5975649"/>
          </a:xfrm>
          <a:prstGeom prst="rect">
            <a:avLst/>
          </a:prstGeom>
          <a:solidFill>
            <a:srgbClr val="A7E8FF"/>
          </a:solidFill>
        </p:spPr>
        <p:txBody>
          <a:bodyPr wrap="square" rtlCol="0">
            <a:noAutofit/>
          </a:bodyPr>
          <a:lstStyle>
            <a:defPPr>
              <a:defRPr lang="LID4096"/>
            </a:defPPr>
            <a:lvl1pPr>
              <a:defRPr sz="360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endParaRPr lang="pt-BR" b="1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B55FE00-BE13-5FA7-56D6-2DBF395258E5}"/>
              </a:ext>
            </a:extLst>
          </p:cNvPr>
          <p:cNvGrpSpPr/>
          <p:nvPr/>
        </p:nvGrpSpPr>
        <p:grpSpPr>
          <a:xfrm>
            <a:off x="783748" y="2255709"/>
            <a:ext cx="4854911" cy="2347628"/>
            <a:chOff x="824562" y="2788962"/>
            <a:chExt cx="4854911" cy="2347628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47546C97-AAFB-964B-FCAC-56788D445E4C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824562" y="2788962"/>
              <a:ext cx="2512636" cy="2347628"/>
              <a:chOff x="793838" y="2521334"/>
              <a:chExt cx="1571841" cy="1468622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E8BCF9A-42E0-6C54-17A9-AE89A34A98EA}"/>
                  </a:ext>
                </a:extLst>
              </p:cNvPr>
              <p:cNvSpPr txBox="1"/>
              <p:nvPr/>
            </p:nvSpPr>
            <p:spPr>
              <a:xfrm>
                <a:off x="793838" y="2532496"/>
                <a:ext cx="1143678" cy="145746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none" lIns="0" tIns="0" rIns="0" bIns="0" anchor="ctr" anchorCtr="0">
                <a:noAutofit/>
              </a:bodyPr>
              <a:lstStyle/>
              <a:p>
                <a:pPr algn="ctr"/>
                <a:endParaRPr lang="en-US" sz="1600" b="1" i="0" u="none" strike="noStrike" baseline="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LMRoman12-Regular"/>
                </a:endParaRPr>
              </a:p>
              <a:p>
                <a:pPr algn="ctr"/>
                <a:endParaRPr lang="en-US" sz="1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LMRoman12-Regular"/>
                </a:endParaRPr>
              </a:p>
              <a:p>
                <a:pPr algn="ctr"/>
                <a:endParaRPr lang="en-US" sz="1600" b="1" i="0" u="none" strike="noStrike" baseline="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LMRoman12-Regular"/>
                </a:endParaRPr>
              </a:p>
              <a:p>
                <a:pPr algn="ctr"/>
                <a:endParaRPr lang="en-US" sz="1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LMRoman12-Regular"/>
                </a:endParaRPr>
              </a:p>
              <a:p>
                <a:pPr algn="ctr"/>
                <a:endParaRPr lang="en-US" sz="1600" b="1" i="0" u="none" strike="noStrike" baseline="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LMRoman12-Regular"/>
                </a:endParaRPr>
              </a:p>
              <a:p>
                <a:pPr algn="ctr"/>
                <a:endParaRPr lang="en-US" sz="2000" b="1" i="0" u="none" strike="noStrike" baseline="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LMRoman12-Regular"/>
                </a:endParaRPr>
              </a:p>
              <a:p>
                <a:pPr algn="ctr"/>
                <a:endParaRPr lang="en-US" sz="20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LMRoman12-Regular"/>
                </a:endParaRPr>
              </a:p>
              <a:p>
                <a:pPr algn="ctr"/>
                <a:endParaRPr lang="en-US" sz="2000" b="1" i="0" u="none" strike="noStrike" baseline="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LMRoman12-Regular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Object 4">
                    <a:extLst>
                      <a:ext uri="{63B3BB69-23CF-44E3-9099-C40C66FF867C}">
                        <a14:compatExt spid="_x0000_s1028"/>
                      </a:ext>
                      <a:ext uri="{FF2B5EF4-FFF2-40B4-BE49-F238E27FC236}">
                        <a16:creationId xmlns:a16="http://schemas.microsoft.com/office/drawing/2014/main" id="{223C1C8E-DD23-CB49-0092-AAEB3ED36436}"/>
                      </a:ext>
                    </a:extLst>
                  </p:cNvPr>
                  <p:cNvSpPr txBox="1"/>
                  <p:nvPr/>
                </p:nvSpPr>
                <p:spPr>
                  <a:xfrm>
                    <a:off x="814142" y="2521334"/>
                    <a:ext cx="1551537" cy="763537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txBody>
                  <a:bodyPr wrap="none" anchor="t" anchorCtr="0">
                    <a:noAutofit/>
                  </a:bodyPr>
                  <a:lstStyle>
                    <a:lvl1pPr marL="0" indent="0">
                      <a:defRPr sz="1100">
                        <a:latin typeface="+mn-lt"/>
                        <a:ea typeface="+mn-ea"/>
                        <a:cs typeface="+mn-cs"/>
                      </a:defRPr>
                    </a:lvl1pPr>
                    <a:lvl2pPr marL="457200" indent="0">
                      <a:defRPr sz="1100">
                        <a:latin typeface="+mn-lt"/>
                        <a:ea typeface="+mn-ea"/>
                        <a:cs typeface="+mn-cs"/>
                      </a:defRPr>
                    </a:lvl2pPr>
                    <a:lvl3pPr marL="914400" indent="0">
                      <a:defRPr sz="1100">
                        <a:latin typeface="+mn-lt"/>
                        <a:ea typeface="+mn-ea"/>
                        <a:cs typeface="+mn-cs"/>
                      </a:defRPr>
                    </a:lvl3pPr>
                    <a:lvl4pPr marL="1371600" indent="0">
                      <a:defRPr sz="1100">
                        <a:latin typeface="+mn-lt"/>
                        <a:ea typeface="+mn-ea"/>
                        <a:cs typeface="+mn-cs"/>
                      </a:defRPr>
                    </a:lvl4pPr>
                    <a:lvl5pPr marL="1828800" indent="0">
                      <a:defRPr sz="1100">
                        <a:latin typeface="+mn-lt"/>
                        <a:ea typeface="+mn-ea"/>
                        <a:cs typeface="+mn-cs"/>
                      </a:defRPr>
                    </a:lvl5pPr>
                    <a:lvl6pPr marL="2286000" indent="0">
                      <a:defRPr sz="1100">
                        <a:latin typeface="+mn-lt"/>
                        <a:ea typeface="+mn-ea"/>
                        <a:cs typeface="+mn-cs"/>
                      </a:defRPr>
                    </a:lvl6pPr>
                    <a:lvl7pPr marL="2743200" indent="0">
                      <a:defRPr sz="1100">
                        <a:latin typeface="+mn-lt"/>
                        <a:ea typeface="+mn-ea"/>
                        <a:cs typeface="+mn-cs"/>
                      </a:defRPr>
                    </a:lvl7pPr>
                    <a:lvl8pPr marL="3200400" indent="0">
                      <a:defRPr sz="1100">
                        <a:latin typeface="+mn-lt"/>
                        <a:ea typeface="+mn-ea"/>
                        <a:cs typeface="+mn-cs"/>
                      </a:defRPr>
                    </a:lvl8pPr>
                    <a:lvl9pPr marL="3657600" indent="0">
                      <a:defRPr sz="1100"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just">
                      <a:defRPr/>
                    </a:pPr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d>
                            <m:dPr>
                              <m:begChr m:val="["/>
                              <m:endChr m:val="]"/>
                              <m:ctrlPr>
                                <a:rPr lang="en-US" sz="2400" b="1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b="1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 </m:t>
                              </m:r>
                              <m:eqArr>
                                <m:eqArrPr>
                                  <m:ctrlPr>
                                    <a:rPr lang="en-US" sz="2400" b="1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pt-BR" sz="2400" b="1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∗  ∗  </m:t>
                                  </m:r>
                                  <m:r>
                                    <a:rPr lang="pt-BR" sz="2400" b="1" i="1" dirty="0" smtClean="0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∗</m:t>
                                  </m:r>
                                  <m:r>
                                    <a:rPr lang="pt-BR" sz="2400" b="1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 ∗</m:t>
                                  </m:r>
                                </m:e>
                                <m:e>
                                  <m:r>
                                    <a:rPr lang="pt-BR" sz="2400" b="1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∗ </m:t>
                                  </m:r>
                                  <m:borderBox>
                                    <m:borderBoxPr>
                                      <m:ctrlPr>
                                        <a:rPr lang="pt-BR" sz="2400" b="1" i="1" dirty="0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borderBoxPr>
                                    <m:e>
                                      <m:r>
                                        <a:rPr lang="pt-BR" sz="2400" b="1" i="1" dirty="0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∗</m:t>
                                      </m:r>
                                    </m:e>
                                  </m:borderBox>
                                  <m:r>
                                    <a:rPr lang="pt-BR" sz="2400" b="1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 ∗  </m:t>
                                  </m:r>
                                  <m:r>
                                    <a:rPr lang="pt-BR" sz="2400" b="1" i="1" dirty="0" smtClean="0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∗</m:t>
                                  </m:r>
                                </m:e>
                                <m:e>
                                  <m:r>
                                    <a:rPr lang="pt-BR" sz="2400" b="1" i="1" dirty="0" smtClean="0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∗</m:t>
                                  </m:r>
                                  <m:r>
                                    <a:rPr lang="pt-BR" sz="2400" b="1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 ∗  ∗  ∗</m:t>
                                  </m:r>
                                </m:e>
                                <m:e>
                                  <m:r>
                                    <a:rPr lang="pt-BR" sz="2400" b="1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∗ </m:t>
                                  </m:r>
                                  <m:r>
                                    <a:rPr lang="pt-BR" sz="2400" b="1" i="1" dirty="0" smtClean="0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∗  </m:t>
                                  </m:r>
                                  <m:r>
                                    <a:rPr lang="pt-BR" sz="2400" b="1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∗  ∗</m:t>
                                  </m:r>
                                </m:e>
                              </m:eqArr>
                              <m:r>
                                <a:rPr lang="pt-BR" sz="2400" b="1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 </m:t>
                              </m:r>
                            </m:e>
                          </m:d>
                          <m:r>
                            <a:rPr lang="pt-BR" sz="2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∗  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2400" b="1" i="1" dirty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2400" b="1" i="1" dirty="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1" i="1" dirty="0" smtClean="0">
                                        <a:solidFill>
                                          <a:srgbClr val="A7E8FF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.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pt-BR" sz="2400" b="1" i="1" dirty="0" smtClean="0">
                                        <a:solidFill>
                                          <a:srgbClr val="A7E8FF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.</m:t>
                                    </m:r>
                                  </m:e>
                                </m:mr>
                                <m:m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1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en-US" sz="2400" b="1" i="1" dirty="0" smtClean="0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a:rPr lang="en-US" sz="2400" b="1" i="1" dirty="0">
                                              <a:effectLst>
                                                <a:outerShdw blurRad="38100" dist="38100" dir="2700000" algn="tl">
                                                  <a:srgbClr val="000000">
                                                    <a:alpha val="43137"/>
                                                  </a:srgbClr>
                                                </a:outerShdw>
                                              </a:effectLst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𝛙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pt-BR" sz="2400" b="1" i="1" dirty="0" smtClean="0">
                                              <a:solidFill>
                                                <a:srgbClr val="A7E8FF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.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pt-BR" sz="2400" b="1" i="1" dirty="0" smtClean="0">
                                              <a:solidFill>
                                                <a:srgbClr val="A7E8FF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.</m:t>
                                          </m:r>
                                        </m:e>
                                      </m:mr>
                                    </m:m>
                                  </m:e>
                                </m:mr>
                              </m:m>
                            </m:e>
                          </m:d>
                          <m:r>
                            <a:rPr lang="pt-BR" sz="2400" b="1" i="1" dirty="0" smtClean="0">
                              <a:solidFill>
                                <a:srgbClr val="A7E8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</m:t>
                          </m:r>
                          <m:r>
                            <a:rPr kumimoji="0" lang="pt-BR" sz="24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   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2400" b="1" i="1" dirty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eqArr>
                                <m:eqArrPr>
                                  <m:ctrlPr>
                                    <a:rPr lang="en-US" sz="2400" b="1" i="1" dirty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pt-BR" sz="2400" b="1" i="1" dirty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∗</m:t>
                                  </m:r>
                                </m:e>
                                <m:e>
                                  <m:borderBox>
                                    <m:borderBoxPr>
                                      <m:ctrlPr>
                                        <a:rPr lang="pt-BR" sz="2400" b="1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borderBoxPr>
                                    <m:e>
                                      <m:r>
                                        <a:rPr lang="pt-BR" sz="2400" b="1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∗</m:t>
                                      </m:r>
                                    </m:e>
                                  </m:borderBox>
                                </m:e>
                                <m:e>
                                  <m:r>
                                    <a:rPr lang="pt-BR" sz="2400" b="1" i="1" dirty="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∗</m:t>
                                  </m:r>
                                </m:e>
                                <m:e>
                                  <m:r>
                                    <a:rPr lang="pt-BR" sz="2400" b="1" i="1" dirty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∗</m:t>
                                  </m:r>
                                </m:e>
                              </m:eqArr>
                            </m:e>
                          </m:d>
                        </m:oMath>
                      </m:oMathPara>
                    </a14:m>
                    <a:endParaRPr kumimoji="0" lang="en-GB" sz="14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mbria Math" panose="02040503050406030204" pitchFamily="18" charset="0"/>
                      <a:ea typeface="Cambria Math" panose="020405030504060302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8" name="Object 4">
                    <a:extLst>
                      <a:ext uri="{63B3BB69-23CF-44E3-9099-C40C66FF867C}">
                        <a14:compatExt xmlns:a14="http://schemas.microsoft.com/office/drawing/2010/main" spid="_x0000_s1028"/>
                      </a:ext>
                      <a:ext uri="{FF2B5EF4-FFF2-40B4-BE49-F238E27FC236}">
                        <a16:creationId xmlns:a16="http://schemas.microsoft.com/office/drawing/2014/main" id="{0448708D-9BC7-B47C-2C2E-F888909D89D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4142" y="2521334"/>
                    <a:ext cx="1551537" cy="76353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64128" b="-23000"/>
                    </a:stretch>
                  </a:blipFill>
                  <a:ln w="3175">
                    <a:noFill/>
                  </a:ln>
                  <a:effectLst/>
                </p:spPr>
                <p:txBody>
                  <a:bodyPr/>
                  <a:lstStyle/>
                  <a:p>
                    <a:r>
                      <a:rPr lang="LID4096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F2EE953A-81C8-5E49-F0D1-771FC0E3732B}"/>
                    </a:ext>
                  </a:extLst>
                </p:cNvPr>
                <p:cNvSpPr txBox="1"/>
                <p:nvPr/>
              </p:nvSpPr>
              <p:spPr>
                <a:xfrm>
                  <a:off x="2602897" y="4206964"/>
                  <a:ext cx="3076576" cy="683321"/>
                </a:xfrm>
                <a:prstGeom prst="rect">
                  <a:avLst/>
                </a:prstGeom>
              </p:spPr>
              <p:txBody>
                <a:bodyPr wrap="square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kumimoji="0" lang="pt-BR" sz="3200" b="1" i="0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∗  </m:t>
                        </m:r>
                        <m:r>
                          <a:rPr kumimoji="0" lang="pt-BR" sz="3200" b="1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𝛙</m:t>
                        </m:r>
                        <m:r>
                          <a:rPr kumimoji="0" lang="pt-BR" sz="3200" b="1" i="0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  </m:t>
                        </m:r>
                        <m:r>
                          <a:rPr kumimoji="0" lang="pt-BR" sz="3200" b="1" i="0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FF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=   </m:t>
                        </m:r>
                        <m:r>
                          <a:rPr kumimoji="0" lang="pt-BR" sz="3200" b="1" i="0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FF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𝐛</m:t>
                        </m:r>
                      </m:oMath>
                    </m:oMathPara>
                  </a14:m>
                  <a:endParaRPr lang="pt-BR" sz="32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2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9C8BF703-48E7-1AEB-223B-42378A69D0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02897" y="4206964"/>
                  <a:ext cx="3076576" cy="683321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E3F84413-7516-C97A-D8D8-88D5139957B4}"/>
                    </a:ext>
                  </a:extLst>
                </p:cNvPr>
                <p:cNvSpPr txBox="1"/>
                <p:nvPr/>
              </p:nvSpPr>
              <p:spPr>
                <a:xfrm>
                  <a:off x="1348262" y="4197911"/>
                  <a:ext cx="841441" cy="683321"/>
                </a:xfrm>
                <a:prstGeom prst="rect">
                  <a:avLst/>
                </a:prstGeom>
                <a:noFill/>
              </p:spPr>
              <p:txBody>
                <a:bodyPr wrap="square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0" lang="pt-BR" sz="3200" b="1" i="0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rgbClr val="00B05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uLnTx/>
                            <a:uFillTx/>
                            <a:latin typeface="Cambria Math" panose="02040503050406030204" pitchFamily="18" charset="0"/>
                          </a:rPr>
                          <m:t>𝐀</m:t>
                        </m:r>
                      </m:oMath>
                    </m:oMathPara>
                  </a14:m>
                  <a:endParaRPr lang="pt-BR" sz="3200" b="1" dirty="0">
                    <a:solidFill>
                      <a:srgbClr val="FF0000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endParaRPr>
                </a:p>
              </p:txBody>
            </p:sp>
          </mc:Choice>
          <mc:Fallback xmlns="">
            <p:sp>
              <p:nvSpPr>
                <p:cNvPr id="13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A33393BF-DA28-99BA-C932-79E37ED14A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48262" y="4197911"/>
                  <a:ext cx="841441" cy="683321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B29CFDDF-8C1E-BBC8-3545-E209A2CB7F08}"/>
              </a:ext>
            </a:extLst>
          </p:cNvPr>
          <p:cNvSpPr/>
          <p:nvPr/>
        </p:nvSpPr>
        <p:spPr>
          <a:xfrm>
            <a:off x="334994" y="4747584"/>
            <a:ext cx="5208415" cy="166500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A346507-79E7-C138-17C0-B2924799DF65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444" t="15866" r="2521" b="10122"/>
          <a:stretch>
            <a:fillRect/>
          </a:stretch>
        </p:blipFill>
        <p:spPr>
          <a:xfrm>
            <a:off x="402036" y="4927995"/>
            <a:ext cx="4960539" cy="14600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3" name="Object 4">
                <a:extLst>
                  <a:ext uri="{63B3BB69-23CF-44E3-9099-C40C66FF867C}">
                    <a14:compatExt spid="_x0000_s1028"/>
                  </a:ext>
                  <a:ext uri="{FF2B5EF4-FFF2-40B4-BE49-F238E27FC236}">
                    <a16:creationId xmlns:a16="http://schemas.microsoft.com/office/drawing/2014/main" id="{03461A97-BD80-AD24-8222-C67E33CFD6FB}"/>
                  </a:ext>
                </a:extLst>
              </p:cNvPr>
              <p:cNvSpPr txBox="1"/>
              <p:nvPr/>
            </p:nvSpPr>
            <p:spPr>
              <a:xfrm>
                <a:off x="385884" y="542861"/>
                <a:ext cx="5208415" cy="94338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txBody>
              <a:bodyPr wrap="none" anchor="t" anchorCtr="0">
                <a:noAutofit/>
              </a:bodyPr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3200" b="1" i="1" spc="150" dirty="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LID4096" sz="3200" b="1" spc="150" dirty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∂</m:t>
                          </m:r>
                          <m:r>
                            <m:rPr>
                              <m:nor/>
                            </m:rPr>
                            <a:rPr lang="LID4096" sz="3200" b="1" spc="150" dirty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u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LID4096" sz="3200" b="1" spc="150" dirty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∂</m:t>
                          </m:r>
                          <m:r>
                            <m:rPr>
                              <m:nor/>
                            </m:rPr>
                            <a:rPr lang="LID4096" sz="3200" b="1" spc="150" dirty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den>
                      </m:f>
                      <m:r>
                        <m:rPr>
                          <m:nor/>
                        </m:rPr>
                        <a:rPr lang="pt-BR" sz="3200" b="1" i="0" spc="150" dirty="0" smtClean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m:rPr>
                          <m:nor/>
                        </m:rPr>
                        <a:rPr lang="LID4096" sz="3200" b="1" spc="150" dirty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m:rPr>
                          <m:nor/>
                        </m:rPr>
                        <a:rPr lang="pt-BR" sz="3200" b="1" i="0" spc="150" dirty="0" smtClean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m:rPr>
                          <m:nor/>
                        </m:rPr>
                        <a:rPr lang="LID4096" sz="3200" b="1" spc="150" dirty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LID4096" sz="3200" b="1" spc="150" dirty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u</m:t>
                      </m:r>
                      <m:r>
                        <a:rPr lang="en-US" sz="3200" b="1" i="1" spc="150" dirty="0" smtClean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𝛙</m:t>
                      </m:r>
                      <m:r>
                        <m:rPr>
                          <m:nor/>
                        </m:rPr>
                        <a:rPr lang="LID4096" sz="3200" b="1" spc="150" dirty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m:rPr>
                          <m:nor/>
                        </m:rPr>
                        <a:rPr lang="LID4096" sz="3200" b="1" spc="150" dirty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LID4096" sz="3200" b="1" spc="150" dirty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m:rPr>
                          <m:nor/>
                        </m:rPr>
                        <a:rPr lang="pt-BR" sz="3200" b="1" i="0" spc="150" dirty="0" smtClean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m:rPr>
                          <m:nor/>
                        </m:rPr>
                        <a:rPr lang="LID4096" sz="3200" b="1" spc="150" dirty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3200" b="1" i="1" spc="150" dirty="0" smtClean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𝚪</m:t>
                      </m:r>
                      <m:r>
                        <m:rPr>
                          <m:nor/>
                        </m:rPr>
                        <a:rPr lang="LID4096" sz="3200" b="1" spc="150" dirty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en-US" sz="3200" b="1" i="1" spc="150" dirty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𝛙</m:t>
                      </m:r>
                      <m:r>
                        <m:rPr>
                          <m:nor/>
                        </m:rPr>
                        <a:rPr lang="pt-BR" sz="3200" b="1" i="0" spc="150" dirty="0" smtClean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m:rPr>
                          <m:nor/>
                        </m:rPr>
                        <a:rPr lang="LID4096" sz="3200" b="1" spc="150" dirty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pt-BR" sz="3200" b="1" i="0" spc="150" dirty="0" smtClean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pt-BR" sz="3200" b="1" i="1" spc="150" dirty="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3200" b="1" i="1" spc="150" dirty="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𝑺</m:t>
                          </m:r>
                        </m:e>
                        <m:sub>
                          <m:r>
                            <a:rPr lang="en-US" sz="3200" b="1" i="1" spc="150" dirty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𝛙</m:t>
                          </m:r>
                        </m:sub>
                      </m:sSub>
                    </m:oMath>
                  </m:oMathPara>
                </a14:m>
                <a:endParaRPr lang="LID4096" sz="3200" b="1" spc="150" dirty="0">
                  <a:effectLst/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>
                  <a:defRPr/>
                </a:pPr>
                <a:endParaRPr lang="en-GB" sz="2000" b="1" spc="150" dirty="0">
                  <a:effectLst/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" name="Object 4">
                <a:extLst>
                  <a:ext uri="{63B3BB69-23CF-44E3-9099-C40C66FF867C}">
                    <a14:compatExt xmlns:a14="http://schemas.microsoft.com/office/drawing/2010/main" spid="_x0000_s1028"/>
                  </a:ext>
                  <a:ext uri="{FF2B5EF4-FFF2-40B4-BE49-F238E27FC236}">
                    <a16:creationId xmlns:a16="http://schemas.microsoft.com/office/drawing/2014/main" id="{03461A97-BD80-AD24-8222-C67E33CFD6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884" y="542861"/>
                <a:ext cx="5208415" cy="943385"/>
              </a:xfrm>
              <a:prstGeom prst="rect">
                <a:avLst/>
              </a:prstGeom>
              <a:blipFill>
                <a:blip r:embed="rId8"/>
                <a:stretch>
                  <a:fillRect b="-3871"/>
                </a:stretch>
              </a:blipFill>
              <a:ln w="3175">
                <a:noFill/>
              </a:ln>
              <a:effectLst/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55507666-6C5B-B3FA-99CB-724CA32834E5}"/>
              </a:ext>
            </a:extLst>
          </p:cNvPr>
          <p:cNvSpPr txBox="1"/>
          <p:nvPr/>
        </p:nvSpPr>
        <p:spPr>
          <a:xfrm>
            <a:off x="5767341" y="1376427"/>
            <a:ext cx="2542671" cy="1754326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pPr algn="l"/>
            <a:r>
              <a:rPr lang="pt-BR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Notação Diferencial</a:t>
            </a:r>
          </a:p>
          <a:p>
            <a:pPr algn="l"/>
            <a:endParaRPr lang="pt-BR" sz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algn="l"/>
            <a:r>
              <a:rPr lang="pt-BR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Notação</a:t>
            </a:r>
          </a:p>
          <a:p>
            <a:pPr algn="l"/>
            <a:r>
              <a:rPr lang="pt-BR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Matricial</a:t>
            </a:r>
            <a:endParaRPr lang="pt-BR" sz="2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559A5F5-2F50-269E-E258-5FAB2A954A8B}"/>
              </a:ext>
            </a:extLst>
          </p:cNvPr>
          <p:cNvSpPr txBox="1"/>
          <p:nvPr/>
        </p:nvSpPr>
        <p:spPr>
          <a:xfrm>
            <a:off x="9226149" y="1438651"/>
            <a:ext cx="2336460" cy="830997"/>
          </a:xfrm>
          <a:prstGeom prst="rect">
            <a:avLst/>
          </a:prstGeom>
          <a:solidFill>
            <a:srgbClr val="A7E8FF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r>
              <a:rPr lang="pt-BR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Probabilidade condicional</a:t>
            </a:r>
            <a:endParaRPr lang="pt-BR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A0ABA33-B04F-4015-E1EF-19E920AC3BCD}"/>
              </a:ext>
            </a:extLst>
          </p:cNvPr>
          <p:cNvSpPr txBox="1"/>
          <p:nvPr/>
        </p:nvSpPr>
        <p:spPr>
          <a:xfrm>
            <a:off x="9232926" y="2390613"/>
            <a:ext cx="2329681" cy="23569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none" lIns="0" tIns="182880" rIns="182880" bIns="182880" anchor="ctr" anchorCtr="0">
            <a:noAutofit/>
          </a:bodyPr>
          <a:lstStyle/>
          <a:p>
            <a:pPr algn="r">
              <a:lnSpc>
                <a:spcPts val="2500"/>
              </a:lnSpc>
            </a:pPr>
            <a:r>
              <a:rPr lang="en-US" sz="2400" b="1" dirty="0">
                <a:solidFill>
                  <a:srgbClr val="00B050"/>
                </a:solidFill>
                <a:latin typeface="LMRoman12-Regular"/>
              </a:rPr>
              <a:t>Model </a:t>
            </a:r>
            <a:r>
              <a:rPr lang="en-US" sz="1600" b="1" dirty="0">
                <a:solidFill>
                  <a:srgbClr val="00B050"/>
                </a:solidFill>
                <a:latin typeface="LMRoman12-Regular"/>
              </a:rPr>
              <a:t>matrix</a:t>
            </a:r>
            <a:endParaRPr lang="en-US" sz="2400" b="1" dirty="0">
              <a:solidFill>
                <a:srgbClr val="00B050"/>
              </a:solidFill>
              <a:latin typeface="LMRoman12-Regular"/>
            </a:endParaRPr>
          </a:p>
          <a:p>
            <a:pPr algn="r">
              <a:lnSpc>
                <a:spcPts val="2500"/>
              </a:lnSpc>
            </a:pPr>
            <a:r>
              <a:rPr lang="en-US" sz="2400" b="1" dirty="0">
                <a:solidFill>
                  <a:srgbClr val="00B050"/>
                </a:solidFill>
                <a:latin typeface="LMRoman12-Regular"/>
              </a:rPr>
              <a:t> Design </a:t>
            </a:r>
            <a:r>
              <a:rPr lang="en-US" b="1" dirty="0">
                <a:solidFill>
                  <a:srgbClr val="00B050"/>
                </a:solidFill>
                <a:latin typeface="LMRoman12-Regular"/>
              </a:rPr>
              <a:t> m</a:t>
            </a:r>
            <a:r>
              <a:rPr lang="en-US" sz="1600" b="1" dirty="0">
                <a:solidFill>
                  <a:srgbClr val="00B050"/>
                </a:solidFill>
                <a:latin typeface="LMRoman12-Regular"/>
              </a:rPr>
              <a:t>atrix</a:t>
            </a:r>
          </a:p>
          <a:p>
            <a:pPr algn="r">
              <a:lnSpc>
                <a:spcPts val="2500"/>
              </a:lnSpc>
            </a:pPr>
            <a:r>
              <a:rPr lang="en-US" sz="2400" b="1" dirty="0">
                <a:solidFill>
                  <a:srgbClr val="00B050"/>
                </a:solidFill>
                <a:latin typeface="LMRoman12-Regular"/>
              </a:rPr>
              <a:t>Coefficient </a:t>
            </a:r>
            <a:r>
              <a:rPr lang="en-US" sz="1600" b="1" dirty="0">
                <a:solidFill>
                  <a:srgbClr val="00B050"/>
                </a:solidFill>
                <a:latin typeface="LMRoman12-Regular"/>
              </a:rPr>
              <a:t>matrix</a:t>
            </a:r>
          </a:p>
          <a:p>
            <a:pPr algn="r">
              <a:lnSpc>
                <a:spcPts val="2500"/>
              </a:lnSpc>
            </a:pPr>
            <a:r>
              <a:rPr lang="en-US" sz="2400" b="1" dirty="0">
                <a:solidFill>
                  <a:srgbClr val="00B050"/>
                </a:solidFill>
                <a:latin typeface="LMRoman12-Regular"/>
              </a:rPr>
              <a:t>Covariance </a:t>
            </a:r>
            <a:r>
              <a:rPr lang="en-US" sz="1600" b="1" dirty="0">
                <a:solidFill>
                  <a:srgbClr val="00B050"/>
                </a:solidFill>
                <a:latin typeface="LMRoman12-Regular"/>
              </a:rPr>
              <a:t>matrix</a:t>
            </a:r>
          </a:p>
          <a:p>
            <a:pPr algn="r">
              <a:lnSpc>
                <a:spcPts val="2500"/>
              </a:lnSpc>
            </a:pPr>
            <a:r>
              <a:rPr lang="en-US" sz="2400" b="1" u="sng" dirty="0">
                <a:solidFill>
                  <a:srgbClr val="00B050"/>
                </a:solidFill>
              </a:rPr>
              <a:t>Regressor</a:t>
            </a:r>
            <a:r>
              <a:rPr lang="en-US" sz="1600" b="1" dirty="0">
                <a:solidFill>
                  <a:srgbClr val="00B050"/>
                </a:solidFill>
              </a:rPr>
              <a:t> matrix</a:t>
            </a:r>
          </a:p>
          <a:p>
            <a:pPr algn="r">
              <a:lnSpc>
                <a:spcPts val="2500"/>
              </a:lnSpc>
            </a:pPr>
            <a:r>
              <a:rPr lang="en-US" sz="2400" b="1" dirty="0">
                <a:solidFill>
                  <a:srgbClr val="00B050"/>
                </a:solidFill>
              </a:rPr>
              <a:t>Asymmetric</a:t>
            </a:r>
            <a:r>
              <a:rPr lang="en-US" sz="1600" dirty="0">
                <a:solidFill>
                  <a:srgbClr val="00B050"/>
                </a:solidFill>
              </a:rPr>
              <a:t> </a:t>
            </a:r>
            <a:r>
              <a:rPr lang="en-US" sz="1600" b="1" dirty="0">
                <a:solidFill>
                  <a:srgbClr val="00B050"/>
                </a:solidFill>
              </a:rPr>
              <a:t>matrix</a:t>
            </a:r>
            <a:endParaRPr lang="en-US" sz="1600" dirty="0">
              <a:solidFill>
                <a:srgbClr val="00B050"/>
              </a:solidFill>
            </a:endParaRPr>
          </a:p>
          <a:p>
            <a:pPr algn="r">
              <a:lnSpc>
                <a:spcPts val="2500"/>
              </a:lnSpc>
            </a:pPr>
            <a:r>
              <a:rPr lang="en-US" sz="2400" b="1" dirty="0">
                <a:solidFill>
                  <a:srgbClr val="00B050"/>
                </a:solidFill>
                <a:latin typeface="LMRoman12-Regular"/>
              </a:rPr>
              <a:t>Sparce Z</a:t>
            </a:r>
            <a:r>
              <a:rPr lang="en-US" sz="1600" b="1" dirty="0">
                <a:solidFill>
                  <a:srgbClr val="00B050"/>
                </a:solidFill>
                <a:latin typeface="LMRoman12-Regular"/>
              </a:rPr>
              <a:t> matrix</a:t>
            </a:r>
            <a:endParaRPr lang="LID4096" sz="1600" b="1" dirty="0">
              <a:solidFill>
                <a:srgbClr val="00B05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FB9B60-B057-D2DA-34E2-9B9757E749F7}"/>
              </a:ext>
            </a:extLst>
          </p:cNvPr>
          <p:cNvSpPr txBox="1"/>
          <p:nvPr/>
        </p:nvSpPr>
        <p:spPr>
          <a:xfrm>
            <a:off x="5844654" y="3116754"/>
            <a:ext cx="2097292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pt-BR" sz="3000" b="1" dirty="0">
                <a:solidFill>
                  <a:srgbClr val="00B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cs typeface="Times New Roman" panose="02020603050405020304" pitchFamily="18" charset="0"/>
              </a:rPr>
              <a:t>Inversão</a:t>
            </a:r>
            <a:endParaRPr lang="pt-BR" sz="3000" b="1" noProof="0" dirty="0">
              <a:solidFill>
                <a:srgbClr val="00B050"/>
              </a:solidFill>
              <a:latin typeface="Calibri" panose="020F0502020204030204" pitchFamily="34" charset="0"/>
              <a:cs typeface="Times New Roman" panose="02020603050405020304" pitchFamily="18" charset="0"/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A5C1FF0-0943-06E8-0C45-27DA16BBDEAF}"/>
              </a:ext>
            </a:extLst>
          </p:cNvPr>
          <p:cNvGrpSpPr/>
          <p:nvPr/>
        </p:nvGrpSpPr>
        <p:grpSpPr>
          <a:xfrm>
            <a:off x="6310340" y="3407499"/>
            <a:ext cx="2550782" cy="781999"/>
            <a:chOff x="5631843" y="4509524"/>
            <a:chExt cx="2550782" cy="7819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E27F01E8-7E7E-6469-4A85-C7E8ADEB0522}"/>
                    </a:ext>
                  </a:extLst>
                </p:cNvPr>
                <p:cNvSpPr txBox="1"/>
                <p:nvPr/>
              </p:nvSpPr>
              <p:spPr>
                <a:xfrm>
                  <a:off x="5631843" y="4608202"/>
                  <a:ext cx="2550782" cy="683321"/>
                </a:xfrm>
                <a:prstGeom prst="rect">
                  <a:avLst/>
                </a:prstGeom>
              </p:spPr>
              <p:txBody>
                <a:bodyPr wrap="square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kumimoji="0" lang="pt-BR" sz="3600" b="1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𝛙</m:t>
                        </m:r>
                        <m:r>
                          <a:rPr kumimoji="0" lang="pt-BR" sz="3600" b="1" i="0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rgbClr val="00B05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kumimoji="0" lang="pt-BR" sz="3600" b="1" i="0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        </m:t>
                        </m:r>
                        <m:r>
                          <a:rPr kumimoji="0" lang="pt-BR" sz="3600" b="1" i="0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FF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𝐛</m:t>
                        </m:r>
                      </m:oMath>
                    </m:oMathPara>
                  </a14:m>
                  <a:endParaRPr lang="pt-BR" sz="36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F698D269-5693-6DA9-5D90-BF5E5DCCA1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1843" y="4608202"/>
                  <a:ext cx="2550782" cy="683321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436F283F-548F-B951-FBCB-40FC132C8D09}"/>
                    </a:ext>
                  </a:extLst>
                </p:cNvPr>
                <p:cNvSpPr txBox="1"/>
                <p:nvPr/>
              </p:nvSpPr>
              <p:spPr>
                <a:xfrm>
                  <a:off x="6440425" y="4509524"/>
                  <a:ext cx="1251715" cy="683321"/>
                </a:xfrm>
                <a:prstGeom prst="rect">
                  <a:avLst/>
                </a:prstGeom>
              </p:spPr>
              <p:txBody>
                <a:bodyPr wrap="square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pt-BR" sz="4000" b="1" i="1" smtClean="0">
                            <a:solidFill>
                              <a:srgbClr val="00B05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pt-BR" sz="4000" b="1" i="1" smtClean="0">
                                <a:solidFill>
                                  <a:srgbClr val="00B050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4000" b="1" i="0" smtClean="0">
                                <a:solidFill>
                                  <a:srgbClr val="00B050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𝐀</m:t>
                            </m:r>
                          </m:e>
                          <m:sup>
                            <m:r>
                              <a:rPr lang="pt-BR" sz="4000" b="1" i="0" smtClean="0">
                                <a:solidFill>
                                  <a:srgbClr val="00B050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sz="4000" b="1" i="0" smtClean="0">
                                <a:solidFill>
                                  <a:srgbClr val="00B050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p>
                        </m:sSup>
                      </m:oMath>
                    </m:oMathPara>
                  </a14:m>
                  <a:endParaRPr lang="pt-BR" sz="40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57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7D2385E6-611D-7193-4C27-C7750CFEA7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40425" y="4509524"/>
                  <a:ext cx="1251715" cy="683321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4D39D65-EA3E-9567-3F82-BD7A97ED78DF}"/>
              </a:ext>
            </a:extLst>
          </p:cNvPr>
          <p:cNvSpPr txBox="1"/>
          <p:nvPr/>
        </p:nvSpPr>
        <p:spPr>
          <a:xfrm>
            <a:off x="2910063" y="4180821"/>
            <a:ext cx="716326" cy="451087"/>
          </a:xfrm>
          <a:prstGeom prst="rect">
            <a:avLst/>
          </a:prstGeom>
          <a:noFill/>
        </p:spPr>
        <p:txBody>
          <a:bodyPr wrap="none" lIns="0" tIns="0" rIns="0" bIns="0" anchor="ctr" anchorCtr="0">
            <a:noAutofit/>
          </a:bodyPr>
          <a:lstStyle/>
          <a:p>
            <a:pPr algn="ctr"/>
            <a:r>
              <a:rPr lang="en-US" sz="2400" b="1" i="0" u="none" strike="noStrike" baseline="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OBS</a:t>
            </a:r>
            <a:endParaRPr lang="LID4096" sz="24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2" name="Arrow: Left-Right 21">
            <a:extLst>
              <a:ext uri="{FF2B5EF4-FFF2-40B4-BE49-F238E27FC236}">
                <a16:creationId xmlns:a16="http://schemas.microsoft.com/office/drawing/2014/main" id="{A426A04E-2816-DEEC-D66A-9B20F9EA1C02}"/>
              </a:ext>
            </a:extLst>
          </p:cNvPr>
          <p:cNvSpPr/>
          <p:nvPr/>
        </p:nvSpPr>
        <p:spPr>
          <a:xfrm>
            <a:off x="3702905" y="4270347"/>
            <a:ext cx="554126" cy="302015"/>
          </a:xfrm>
          <a:prstGeom prst="leftRightArrow">
            <a:avLst/>
          </a:prstGeom>
          <a:solidFill>
            <a:schemeClr val="tx1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D6004A-A64F-1203-C3E0-29D7AE0A0D58}"/>
              </a:ext>
            </a:extLst>
          </p:cNvPr>
          <p:cNvSpPr txBox="1"/>
          <p:nvPr/>
        </p:nvSpPr>
        <p:spPr>
          <a:xfrm>
            <a:off x="4318064" y="4199871"/>
            <a:ext cx="716326" cy="451087"/>
          </a:xfrm>
          <a:prstGeom prst="rect">
            <a:avLst/>
          </a:prstGeom>
          <a:noFill/>
        </p:spPr>
        <p:txBody>
          <a:bodyPr wrap="none" lIns="0" tIns="0" rIns="0" bIns="0" anchor="ctr" anchorCtr="0">
            <a:noAutofit/>
          </a:bodyPr>
          <a:lstStyle/>
          <a:p>
            <a:pPr algn="ctr"/>
            <a:r>
              <a:rPr lang="en-US" sz="2400" b="1" i="0" u="none" strike="noStrike" baseline="0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PAR</a:t>
            </a:r>
            <a:endParaRPr lang="LID4096" sz="2400" b="1" dirty="0">
              <a:solidFill>
                <a:srgbClr val="0000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14EDD16-7B7D-FA78-F307-248D07305F8B}"/>
              </a:ext>
            </a:extLst>
          </p:cNvPr>
          <p:cNvSpPr txBox="1"/>
          <p:nvPr/>
        </p:nvSpPr>
        <p:spPr>
          <a:xfrm>
            <a:off x="685715" y="4115304"/>
            <a:ext cx="2051652" cy="451087"/>
          </a:xfrm>
          <a:prstGeom prst="rect">
            <a:avLst/>
          </a:prstGeom>
          <a:noFill/>
        </p:spPr>
        <p:txBody>
          <a:bodyPr wrap="none" lIns="0" tIns="0" rIns="0" bIns="0" anchor="ctr" anchorCtr="0"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Modelo</a:t>
            </a:r>
            <a:endParaRPr lang="LID4096" sz="2000" b="1" dirty="0">
              <a:solidFill>
                <a:srgbClr val="00B0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08BB9C-A35D-188D-3D0C-64876985F250}"/>
              </a:ext>
            </a:extLst>
          </p:cNvPr>
          <p:cNvSpPr txBox="1"/>
          <p:nvPr/>
        </p:nvSpPr>
        <p:spPr>
          <a:xfrm>
            <a:off x="1727901" y="541801"/>
            <a:ext cx="4347024" cy="338554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pPr algn="l"/>
            <a:r>
              <a:rPr lang="pt-BR" sz="1600" dirty="0">
                <a:solidFill>
                  <a:srgbClr val="0000FF"/>
                </a:solidFill>
              </a:rPr>
              <a:t>convecção                        difusão            fontes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5747393-7F73-FA13-1C06-837FF6D454FB}"/>
              </a:ext>
            </a:extLst>
          </p:cNvPr>
          <p:cNvSpPr/>
          <p:nvPr/>
        </p:nvSpPr>
        <p:spPr>
          <a:xfrm>
            <a:off x="3676701" y="4869122"/>
            <a:ext cx="1759217" cy="146002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78963E5F-17BB-8272-1F44-53A1CD31C518}"/>
              </a:ext>
            </a:extLst>
          </p:cNvPr>
          <p:cNvPicPr>
            <a:picLocks noChangeAspect="1"/>
          </p:cNvPicPr>
          <p:nvPr/>
        </p:nvPicPr>
        <p:blipFill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643" t="7684" r="61417" b="1128"/>
          <a:stretch>
            <a:fillRect/>
          </a:stretch>
        </p:blipFill>
        <p:spPr>
          <a:xfrm>
            <a:off x="3593538" y="4895954"/>
            <a:ext cx="1800876" cy="1433192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0FCA157D-90A9-1649-4BC9-DD58A98E3DDC}"/>
              </a:ext>
            </a:extLst>
          </p:cNvPr>
          <p:cNvSpPr txBox="1"/>
          <p:nvPr/>
        </p:nvSpPr>
        <p:spPr>
          <a:xfrm>
            <a:off x="3933410" y="4853019"/>
            <a:ext cx="139671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r">
              <a:defRPr sz="2400" b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r>
              <a:rPr lang="en-US" sz="2000" dirty="0">
                <a:latin typeface="Calibri (Body)"/>
              </a:rPr>
              <a:t>Qde</a:t>
            </a:r>
          </a:p>
          <a:p>
            <a:r>
              <a:rPr lang="en-US" sz="2000" dirty="0">
                <a:latin typeface="Calibri (Body)"/>
              </a:rPr>
              <a:t>PAR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4DCA4D4E-CDF3-FF93-26E6-E0DCA932EC27}"/>
              </a:ext>
            </a:extLst>
          </p:cNvPr>
          <p:cNvGrpSpPr/>
          <p:nvPr/>
        </p:nvGrpSpPr>
        <p:grpSpPr>
          <a:xfrm>
            <a:off x="802799" y="1448176"/>
            <a:ext cx="4329070" cy="769185"/>
            <a:chOff x="1012027" y="1719644"/>
            <a:chExt cx="4100791" cy="710381"/>
          </a:xfrm>
        </p:grpSpPr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89D5C494-5289-DA8B-0334-13671B8D9E6B}"/>
                </a:ext>
              </a:extLst>
            </p:cNvPr>
            <p:cNvSpPr/>
            <p:nvPr/>
          </p:nvSpPr>
          <p:spPr>
            <a:xfrm>
              <a:off x="1077913" y="1844062"/>
              <a:ext cx="3432972" cy="574560"/>
            </a:xfrm>
            <a:custGeom>
              <a:avLst/>
              <a:gdLst>
                <a:gd name="connsiteX0" fmla="*/ 35627 w 3513933"/>
                <a:gd name="connsiteY0" fmla="*/ 0 h 770965"/>
                <a:gd name="connsiteX1" fmla="*/ 250780 w 3513933"/>
                <a:gd name="connsiteY1" fmla="*/ 268942 h 770965"/>
                <a:gd name="connsiteX2" fmla="*/ 1909251 w 3513933"/>
                <a:gd name="connsiteY2" fmla="*/ 385483 h 770965"/>
                <a:gd name="connsiteX3" fmla="*/ 3244992 w 3513933"/>
                <a:gd name="connsiteY3" fmla="*/ 555812 h 770965"/>
                <a:gd name="connsiteX4" fmla="*/ 3513933 w 3513933"/>
                <a:gd name="connsiteY4" fmla="*/ 770965 h 770965"/>
                <a:gd name="connsiteX0" fmla="*/ 18181 w 3592407"/>
                <a:gd name="connsiteY0" fmla="*/ 0 h 726142"/>
                <a:gd name="connsiteX1" fmla="*/ 329254 w 3592407"/>
                <a:gd name="connsiteY1" fmla="*/ 224119 h 726142"/>
                <a:gd name="connsiteX2" fmla="*/ 1987725 w 3592407"/>
                <a:gd name="connsiteY2" fmla="*/ 340660 h 726142"/>
                <a:gd name="connsiteX3" fmla="*/ 3323466 w 3592407"/>
                <a:gd name="connsiteY3" fmla="*/ 510989 h 726142"/>
                <a:gd name="connsiteX4" fmla="*/ 3592407 w 3592407"/>
                <a:gd name="connsiteY4" fmla="*/ 726142 h 726142"/>
                <a:gd name="connsiteX0" fmla="*/ 16159 w 3609569"/>
                <a:gd name="connsiteY0" fmla="*/ 0 h 654424"/>
                <a:gd name="connsiteX1" fmla="*/ 346416 w 3609569"/>
                <a:gd name="connsiteY1" fmla="*/ 152401 h 654424"/>
                <a:gd name="connsiteX2" fmla="*/ 2004887 w 3609569"/>
                <a:gd name="connsiteY2" fmla="*/ 268942 h 654424"/>
                <a:gd name="connsiteX3" fmla="*/ 3340628 w 3609569"/>
                <a:gd name="connsiteY3" fmla="*/ 439271 h 654424"/>
                <a:gd name="connsiteX4" fmla="*/ 3609569 w 3609569"/>
                <a:gd name="connsiteY4" fmla="*/ 654424 h 654424"/>
                <a:gd name="connsiteX0" fmla="*/ 15908 w 3611956"/>
                <a:gd name="connsiteY0" fmla="*/ 0 h 663827"/>
                <a:gd name="connsiteX1" fmla="*/ 348803 w 3611956"/>
                <a:gd name="connsiteY1" fmla="*/ 161804 h 663827"/>
                <a:gd name="connsiteX2" fmla="*/ 2007274 w 3611956"/>
                <a:gd name="connsiteY2" fmla="*/ 278345 h 663827"/>
                <a:gd name="connsiteX3" fmla="*/ 3343015 w 3611956"/>
                <a:gd name="connsiteY3" fmla="*/ 448674 h 663827"/>
                <a:gd name="connsiteX4" fmla="*/ 3611956 w 3611956"/>
                <a:gd name="connsiteY4" fmla="*/ 663827 h 663827"/>
                <a:gd name="connsiteX0" fmla="*/ 0 w 3596048"/>
                <a:gd name="connsiteY0" fmla="*/ 0 h 663827"/>
                <a:gd name="connsiteX1" fmla="*/ 332895 w 3596048"/>
                <a:gd name="connsiteY1" fmla="*/ 161804 h 663827"/>
                <a:gd name="connsiteX2" fmla="*/ 1991366 w 3596048"/>
                <a:gd name="connsiteY2" fmla="*/ 278345 h 663827"/>
                <a:gd name="connsiteX3" fmla="*/ 3327107 w 3596048"/>
                <a:gd name="connsiteY3" fmla="*/ 448674 h 663827"/>
                <a:gd name="connsiteX4" fmla="*/ 3596048 w 3596048"/>
                <a:gd name="connsiteY4" fmla="*/ 663827 h 663827"/>
                <a:gd name="connsiteX0" fmla="*/ 0 w 3581974"/>
                <a:gd name="connsiteY0" fmla="*/ 0 h 670096"/>
                <a:gd name="connsiteX1" fmla="*/ 332895 w 3581974"/>
                <a:gd name="connsiteY1" fmla="*/ 161804 h 670096"/>
                <a:gd name="connsiteX2" fmla="*/ 1991366 w 3581974"/>
                <a:gd name="connsiteY2" fmla="*/ 278345 h 670096"/>
                <a:gd name="connsiteX3" fmla="*/ 3327107 w 3581974"/>
                <a:gd name="connsiteY3" fmla="*/ 448674 h 670096"/>
                <a:gd name="connsiteX4" fmla="*/ 3581974 w 3581974"/>
                <a:gd name="connsiteY4" fmla="*/ 670096 h 670096"/>
                <a:gd name="connsiteX0" fmla="*/ 0 w 3662897"/>
                <a:gd name="connsiteY0" fmla="*/ 0 h 673230"/>
                <a:gd name="connsiteX1" fmla="*/ 332895 w 3662897"/>
                <a:gd name="connsiteY1" fmla="*/ 161804 h 673230"/>
                <a:gd name="connsiteX2" fmla="*/ 1991366 w 3662897"/>
                <a:gd name="connsiteY2" fmla="*/ 278345 h 673230"/>
                <a:gd name="connsiteX3" fmla="*/ 3327107 w 3662897"/>
                <a:gd name="connsiteY3" fmla="*/ 448674 h 673230"/>
                <a:gd name="connsiteX4" fmla="*/ 3662897 w 3662897"/>
                <a:gd name="connsiteY4" fmla="*/ 673230 h 673230"/>
                <a:gd name="connsiteX0" fmla="*/ 0 w 3671407"/>
                <a:gd name="connsiteY0" fmla="*/ 0 h 673230"/>
                <a:gd name="connsiteX1" fmla="*/ 332895 w 3671407"/>
                <a:gd name="connsiteY1" fmla="*/ 161804 h 673230"/>
                <a:gd name="connsiteX2" fmla="*/ 1991366 w 3671407"/>
                <a:gd name="connsiteY2" fmla="*/ 278345 h 673230"/>
                <a:gd name="connsiteX3" fmla="*/ 3327107 w 3671407"/>
                <a:gd name="connsiteY3" fmla="*/ 448674 h 673230"/>
                <a:gd name="connsiteX4" fmla="*/ 3662897 w 3671407"/>
                <a:gd name="connsiteY4" fmla="*/ 673230 h 673230"/>
                <a:gd name="connsiteX0" fmla="*/ 0 w 3640879"/>
                <a:gd name="connsiteY0" fmla="*/ 0 h 676423"/>
                <a:gd name="connsiteX1" fmla="*/ 302367 w 3640879"/>
                <a:gd name="connsiteY1" fmla="*/ 164997 h 676423"/>
                <a:gd name="connsiteX2" fmla="*/ 1960838 w 3640879"/>
                <a:gd name="connsiteY2" fmla="*/ 281538 h 676423"/>
                <a:gd name="connsiteX3" fmla="*/ 3296579 w 3640879"/>
                <a:gd name="connsiteY3" fmla="*/ 451867 h 676423"/>
                <a:gd name="connsiteX4" fmla="*/ 3632369 w 3640879"/>
                <a:gd name="connsiteY4" fmla="*/ 676423 h 676423"/>
                <a:gd name="connsiteX0" fmla="*/ 0 w 3640879"/>
                <a:gd name="connsiteY0" fmla="*/ 0 h 676423"/>
                <a:gd name="connsiteX1" fmla="*/ 302367 w 3640879"/>
                <a:gd name="connsiteY1" fmla="*/ 164997 h 676423"/>
                <a:gd name="connsiteX2" fmla="*/ 1960838 w 3640879"/>
                <a:gd name="connsiteY2" fmla="*/ 281538 h 676423"/>
                <a:gd name="connsiteX3" fmla="*/ 3296579 w 3640879"/>
                <a:gd name="connsiteY3" fmla="*/ 451867 h 676423"/>
                <a:gd name="connsiteX4" fmla="*/ 3632369 w 3640879"/>
                <a:gd name="connsiteY4" fmla="*/ 676423 h 676423"/>
                <a:gd name="connsiteX0" fmla="*/ 0 w 3640879"/>
                <a:gd name="connsiteY0" fmla="*/ 0 h 676423"/>
                <a:gd name="connsiteX1" fmla="*/ 448221 w 3640879"/>
                <a:gd name="connsiteY1" fmla="*/ 235241 h 676423"/>
                <a:gd name="connsiteX2" fmla="*/ 1960838 w 3640879"/>
                <a:gd name="connsiteY2" fmla="*/ 281538 h 676423"/>
                <a:gd name="connsiteX3" fmla="*/ 3296579 w 3640879"/>
                <a:gd name="connsiteY3" fmla="*/ 451867 h 676423"/>
                <a:gd name="connsiteX4" fmla="*/ 3632369 w 3640879"/>
                <a:gd name="connsiteY4" fmla="*/ 676423 h 676423"/>
                <a:gd name="connsiteX0" fmla="*/ 0 w 3640879"/>
                <a:gd name="connsiteY0" fmla="*/ 0 h 676423"/>
                <a:gd name="connsiteX1" fmla="*/ 448221 w 3640879"/>
                <a:gd name="connsiteY1" fmla="*/ 235241 h 676423"/>
                <a:gd name="connsiteX2" fmla="*/ 1960838 w 3640879"/>
                <a:gd name="connsiteY2" fmla="*/ 281538 h 676423"/>
                <a:gd name="connsiteX3" fmla="*/ 3296579 w 3640879"/>
                <a:gd name="connsiteY3" fmla="*/ 451867 h 676423"/>
                <a:gd name="connsiteX4" fmla="*/ 3632369 w 3640879"/>
                <a:gd name="connsiteY4" fmla="*/ 676423 h 676423"/>
                <a:gd name="connsiteX0" fmla="*/ 0 w 3640879"/>
                <a:gd name="connsiteY0" fmla="*/ 0 h 676423"/>
                <a:gd name="connsiteX1" fmla="*/ 448221 w 3640879"/>
                <a:gd name="connsiteY1" fmla="*/ 235241 h 676423"/>
                <a:gd name="connsiteX2" fmla="*/ 1960838 w 3640879"/>
                <a:gd name="connsiteY2" fmla="*/ 281538 h 676423"/>
                <a:gd name="connsiteX3" fmla="*/ 3296579 w 3640879"/>
                <a:gd name="connsiteY3" fmla="*/ 451867 h 676423"/>
                <a:gd name="connsiteX4" fmla="*/ 3632369 w 3640879"/>
                <a:gd name="connsiteY4" fmla="*/ 676423 h 676423"/>
                <a:gd name="connsiteX0" fmla="*/ 0 w 3640879"/>
                <a:gd name="connsiteY0" fmla="*/ 0 h 676423"/>
                <a:gd name="connsiteX1" fmla="*/ 448221 w 3640879"/>
                <a:gd name="connsiteY1" fmla="*/ 235241 h 676423"/>
                <a:gd name="connsiteX2" fmla="*/ 1960838 w 3640879"/>
                <a:gd name="connsiteY2" fmla="*/ 281538 h 676423"/>
                <a:gd name="connsiteX3" fmla="*/ 3296579 w 3640879"/>
                <a:gd name="connsiteY3" fmla="*/ 451867 h 676423"/>
                <a:gd name="connsiteX4" fmla="*/ 3632369 w 3640879"/>
                <a:gd name="connsiteY4" fmla="*/ 676423 h 676423"/>
                <a:gd name="connsiteX0" fmla="*/ 0 w 3626461"/>
                <a:gd name="connsiteY0" fmla="*/ 0 h 676423"/>
                <a:gd name="connsiteX1" fmla="*/ 448221 w 3626461"/>
                <a:gd name="connsiteY1" fmla="*/ 235241 h 676423"/>
                <a:gd name="connsiteX2" fmla="*/ 1960838 w 3626461"/>
                <a:gd name="connsiteY2" fmla="*/ 281538 h 676423"/>
                <a:gd name="connsiteX3" fmla="*/ 3296579 w 3626461"/>
                <a:gd name="connsiteY3" fmla="*/ 451867 h 676423"/>
                <a:gd name="connsiteX4" fmla="*/ 3617104 w 3626461"/>
                <a:gd name="connsiteY4" fmla="*/ 676423 h 676423"/>
                <a:gd name="connsiteX0" fmla="*/ 0 w 3646378"/>
                <a:gd name="connsiteY0" fmla="*/ 0 h 676423"/>
                <a:gd name="connsiteX1" fmla="*/ 448221 w 3646378"/>
                <a:gd name="connsiteY1" fmla="*/ 235241 h 676423"/>
                <a:gd name="connsiteX2" fmla="*/ 1960838 w 3646378"/>
                <a:gd name="connsiteY2" fmla="*/ 281538 h 676423"/>
                <a:gd name="connsiteX3" fmla="*/ 3428865 w 3646378"/>
                <a:gd name="connsiteY3" fmla="*/ 415055 h 676423"/>
                <a:gd name="connsiteX4" fmla="*/ 3617104 w 3646378"/>
                <a:gd name="connsiteY4" fmla="*/ 676423 h 676423"/>
                <a:gd name="connsiteX0" fmla="*/ 0 w 3642822"/>
                <a:gd name="connsiteY0" fmla="*/ 0 h 639613"/>
                <a:gd name="connsiteX1" fmla="*/ 448221 w 3642822"/>
                <a:gd name="connsiteY1" fmla="*/ 235241 h 639613"/>
                <a:gd name="connsiteX2" fmla="*/ 1960838 w 3642822"/>
                <a:gd name="connsiteY2" fmla="*/ 281538 h 639613"/>
                <a:gd name="connsiteX3" fmla="*/ 3428865 w 3642822"/>
                <a:gd name="connsiteY3" fmla="*/ 415055 h 639613"/>
                <a:gd name="connsiteX4" fmla="*/ 3612017 w 3642822"/>
                <a:gd name="connsiteY4" fmla="*/ 639613 h 639613"/>
                <a:gd name="connsiteX0" fmla="*/ 0 w 3627177"/>
                <a:gd name="connsiteY0" fmla="*/ 0 h 639613"/>
                <a:gd name="connsiteX1" fmla="*/ 448221 w 3627177"/>
                <a:gd name="connsiteY1" fmla="*/ 235241 h 639613"/>
                <a:gd name="connsiteX2" fmla="*/ 1960838 w 3627177"/>
                <a:gd name="connsiteY2" fmla="*/ 281538 h 639613"/>
                <a:gd name="connsiteX3" fmla="*/ 3428865 w 3627177"/>
                <a:gd name="connsiteY3" fmla="*/ 415055 h 639613"/>
                <a:gd name="connsiteX4" fmla="*/ 3612017 w 3627177"/>
                <a:gd name="connsiteY4" fmla="*/ 639613 h 639613"/>
                <a:gd name="connsiteX0" fmla="*/ 0 w 3671040"/>
                <a:gd name="connsiteY0" fmla="*/ 0 h 671165"/>
                <a:gd name="connsiteX1" fmla="*/ 448221 w 3671040"/>
                <a:gd name="connsiteY1" fmla="*/ 235241 h 671165"/>
                <a:gd name="connsiteX2" fmla="*/ 1960838 w 3671040"/>
                <a:gd name="connsiteY2" fmla="*/ 281538 h 671165"/>
                <a:gd name="connsiteX3" fmla="*/ 3428865 w 3671040"/>
                <a:gd name="connsiteY3" fmla="*/ 415055 h 671165"/>
                <a:gd name="connsiteX4" fmla="*/ 3667984 w 3671040"/>
                <a:gd name="connsiteY4" fmla="*/ 671165 h 671165"/>
                <a:gd name="connsiteX0" fmla="*/ 0 w 3675351"/>
                <a:gd name="connsiteY0" fmla="*/ 0 h 671165"/>
                <a:gd name="connsiteX1" fmla="*/ 448221 w 3675351"/>
                <a:gd name="connsiteY1" fmla="*/ 235241 h 671165"/>
                <a:gd name="connsiteX2" fmla="*/ 1960838 w 3675351"/>
                <a:gd name="connsiteY2" fmla="*/ 281538 h 671165"/>
                <a:gd name="connsiteX3" fmla="*/ 3456111 w 3675351"/>
                <a:gd name="connsiteY3" fmla="*/ 337927 h 671165"/>
                <a:gd name="connsiteX4" fmla="*/ 3667984 w 3675351"/>
                <a:gd name="connsiteY4" fmla="*/ 671165 h 671165"/>
                <a:gd name="connsiteX0" fmla="*/ 0 w 3671198"/>
                <a:gd name="connsiteY0" fmla="*/ 0 h 671165"/>
                <a:gd name="connsiteX1" fmla="*/ 448221 w 3671198"/>
                <a:gd name="connsiteY1" fmla="*/ 235241 h 671165"/>
                <a:gd name="connsiteX2" fmla="*/ 1960838 w 3671198"/>
                <a:gd name="connsiteY2" fmla="*/ 281538 h 671165"/>
                <a:gd name="connsiteX3" fmla="*/ 3456111 w 3671198"/>
                <a:gd name="connsiteY3" fmla="*/ 337927 h 671165"/>
                <a:gd name="connsiteX4" fmla="*/ 3667984 w 3671198"/>
                <a:gd name="connsiteY4" fmla="*/ 671165 h 671165"/>
                <a:gd name="connsiteX0" fmla="*/ 0 w 3670059"/>
                <a:gd name="connsiteY0" fmla="*/ 0 h 671165"/>
                <a:gd name="connsiteX1" fmla="*/ 448221 w 3670059"/>
                <a:gd name="connsiteY1" fmla="*/ 235241 h 671165"/>
                <a:gd name="connsiteX2" fmla="*/ 1960838 w 3670059"/>
                <a:gd name="connsiteY2" fmla="*/ 281538 h 671165"/>
                <a:gd name="connsiteX3" fmla="*/ 3456111 w 3670059"/>
                <a:gd name="connsiteY3" fmla="*/ 337927 h 671165"/>
                <a:gd name="connsiteX4" fmla="*/ 3667984 w 3670059"/>
                <a:gd name="connsiteY4" fmla="*/ 671165 h 671165"/>
                <a:gd name="connsiteX0" fmla="*/ 0 w 3670059"/>
                <a:gd name="connsiteY0" fmla="*/ 0 h 671165"/>
                <a:gd name="connsiteX1" fmla="*/ 448221 w 3670059"/>
                <a:gd name="connsiteY1" fmla="*/ 235241 h 671165"/>
                <a:gd name="connsiteX2" fmla="*/ 1960838 w 3670059"/>
                <a:gd name="connsiteY2" fmla="*/ 281538 h 671165"/>
                <a:gd name="connsiteX3" fmla="*/ 3456111 w 3670059"/>
                <a:gd name="connsiteY3" fmla="*/ 337927 h 671165"/>
                <a:gd name="connsiteX4" fmla="*/ 3667984 w 3670059"/>
                <a:gd name="connsiteY4" fmla="*/ 671165 h 671165"/>
                <a:gd name="connsiteX0" fmla="*/ 0 w 3674562"/>
                <a:gd name="connsiteY0" fmla="*/ 0 h 684312"/>
                <a:gd name="connsiteX1" fmla="*/ 448221 w 3674562"/>
                <a:gd name="connsiteY1" fmla="*/ 235241 h 684312"/>
                <a:gd name="connsiteX2" fmla="*/ 1960838 w 3674562"/>
                <a:gd name="connsiteY2" fmla="*/ 281538 h 684312"/>
                <a:gd name="connsiteX3" fmla="*/ 3456111 w 3674562"/>
                <a:gd name="connsiteY3" fmla="*/ 337927 h 684312"/>
                <a:gd name="connsiteX4" fmla="*/ 3672823 w 3674562"/>
                <a:gd name="connsiteY4" fmla="*/ 684312 h 684312"/>
                <a:gd name="connsiteX0" fmla="*/ 0 w 3676840"/>
                <a:gd name="connsiteY0" fmla="*/ 0 h 694829"/>
                <a:gd name="connsiteX1" fmla="*/ 448221 w 3676840"/>
                <a:gd name="connsiteY1" fmla="*/ 235241 h 694829"/>
                <a:gd name="connsiteX2" fmla="*/ 1960838 w 3676840"/>
                <a:gd name="connsiteY2" fmla="*/ 281538 h 694829"/>
                <a:gd name="connsiteX3" fmla="*/ 3456111 w 3676840"/>
                <a:gd name="connsiteY3" fmla="*/ 337927 h 694829"/>
                <a:gd name="connsiteX4" fmla="*/ 3675244 w 3676840"/>
                <a:gd name="connsiteY4" fmla="*/ 694829 h 694829"/>
                <a:gd name="connsiteX0" fmla="*/ 0 w 3683752"/>
                <a:gd name="connsiteY0" fmla="*/ 0 h 686942"/>
                <a:gd name="connsiteX1" fmla="*/ 448221 w 3683752"/>
                <a:gd name="connsiteY1" fmla="*/ 235241 h 686942"/>
                <a:gd name="connsiteX2" fmla="*/ 1960838 w 3683752"/>
                <a:gd name="connsiteY2" fmla="*/ 281538 h 686942"/>
                <a:gd name="connsiteX3" fmla="*/ 3456111 w 3683752"/>
                <a:gd name="connsiteY3" fmla="*/ 337927 h 686942"/>
                <a:gd name="connsiteX4" fmla="*/ 3682503 w 3683752"/>
                <a:gd name="connsiteY4" fmla="*/ 686942 h 686942"/>
                <a:gd name="connsiteX0" fmla="*/ 0 w 3682503"/>
                <a:gd name="connsiteY0" fmla="*/ 0 h 686942"/>
                <a:gd name="connsiteX1" fmla="*/ 448221 w 3682503"/>
                <a:gd name="connsiteY1" fmla="*/ 235241 h 686942"/>
                <a:gd name="connsiteX2" fmla="*/ 1960838 w 3682503"/>
                <a:gd name="connsiteY2" fmla="*/ 281538 h 686942"/>
                <a:gd name="connsiteX3" fmla="*/ 3456111 w 3682503"/>
                <a:gd name="connsiteY3" fmla="*/ 337927 h 686942"/>
                <a:gd name="connsiteX4" fmla="*/ 3682503 w 3682503"/>
                <a:gd name="connsiteY4" fmla="*/ 686942 h 686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82503" h="686942">
                  <a:moveTo>
                    <a:pt x="0" y="0"/>
                  </a:moveTo>
                  <a:cubicBezTo>
                    <a:pt x="10254" y="143854"/>
                    <a:pt x="6088" y="233018"/>
                    <a:pt x="448221" y="235241"/>
                  </a:cubicBezTo>
                  <a:cubicBezTo>
                    <a:pt x="890354" y="237464"/>
                    <a:pt x="1459523" y="264424"/>
                    <a:pt x="1960838" y="281538"/>
                  </a:cubicBezTo>
                  <a:cubicBezTo>
                    <a:pt x="2462153" y="298652"/>
                    <a:pt x="3150349" y="302602"/>
                    <a:pt x="3456111" y="337927"/>
                  </a:cubicBezTo>
                  <a:cubicBezTo>
                    <a:pt x="3682690" y="346956"/>
                    <a:pt x="3678683" y="514813"/>
                    <a:pt x="3682503" y="686942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headEnd w="lg" len="med"/>
              <a:tailEnd type="triangle" w="lg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80816F9-6F50-84F4-0B3A-B01362EE3B38}"/>
                </a:ext>
              </a:extLst>
            </p:cNvPr>
            <p:cNvSpPr/>
            <p:nvPr/>
          </p:nvSpPr>
          <p:spPr>
            <a:xfrm>
              <a:off x="2032689" y="1730942"/>
              <a:ext cx="1884130" cy="698453"/>
            </a:xfrm>
            <a:custGeom>
              <a:avLst/>
              <a:gdLst>
                <a:gd name="connsiteX0" fmla="*/ 1461247 w 1471187"/>
                <a:gd name="connsiteY0" fmla="*/ 0 h 770965"/>
                <a:gd name="connsiteX1" fmla="*/ 1416423 w 1471187"/>
                <a:gd name="connsiteY1" fmla="*/ 71718 h 770965"/>
                <a:gd name="connsiteX2" fmla="*/ 1039906 w 1471187"/>
                <a:gd name="connsiteY2" fmla="*/ 322729 h 770965"/>
                <a:gd name="connsiteX3" fmla="*/ 268941 w 1471187"/>
                <a:gd name="connsiteY3" fmla="*/ 448235 h 770965"/>
                <a:gd name="connsiteX4" fmla="*/ 0 w 1471187"/>
                <a:gd name="connsiteY4" fmla="*/ 770965 h 770965"/>
                <a:gd name="connsiteX0" fmla="*/ 1455382 w 1465322"/>
                <a:gd name="connsiteY0" fmla="*/ 0 h 766453"/>
                <a:gd name="connsiteX1" fmla="*/ 1410558 w 1465322"/>
                <a:gd name="connsiteY1" fmla="*/ 71718 h 766453"/>
                <a:gd name="connsiteX2" fmla="*/ 1034041 w 1465322"/>
                <a:gd name="connsiteY2" fmla="*/ 322729 h 766453"/>
                <a:gd name="connsiteX3" fmla="*/ 263076 w 1465322"/>
                <a:gd name="connsiteY3" fmla="*/ 448235 h 766453"/>
                <a:gd name="connsiteX4" fmla="*/ 0 w 1465322"/>
                <a:gd name="connsiteY4" fmla="*/ 766453 h 766453"/>
                <a:gd name="connsiteX0" fmla="*/ 1455382 w 1465322"/>
                <a:gd name="connsiteY0" fmla="*/ 0 h 766453"/>
                <a:gd name="connsiteX1" fmla="*/ 1410558 w 1465322"/>
                <a:gd name="connsiteY1" fmla="*/ 71718 h 766453"/>
                <a:gd name="connsiteX2" fmla="*/ 1034041 w 1465322"/>
                <a:gd name="connsiteY2" fmla="*/ 322729 h 766453"/>
                <a:gd name="connsiteX3" fmla="*/ 263076 w 1465322"/>
                <a:gd name="connsiteY3" fmla="*/ 448235 h 766453"/>
                <a:gd name="connsiteX4" fmla="*/ 0 w 1465322"/>
                <a:gd name="connsiteY4" fmla="*/ 766453 h 766453"/>
                <a:gd name="connsiteX0" fmla="*/ 1459603 w 1469543"/>
                <a:gd name="connsiteY0" fmla="*/ 0 h 766453"/>
                <a:gd name="connsiteX1" fmla="*/ 1414779 w 1469543"/>
                <a:gd name="connsiteY1" fmla="*/ 71718 h 766453"/>
                <a:gd name="connsiteX2" fmla="*/ 1038262 w 1469543"/>
                <a:gd name="connsiteY2" fmla="*/ 322729 h 766453"/>
                <a:gd name="connsiteX3" fmla="*/ 267297 w 1469543"/>
                <a:gd name="connsiteY3" fmla="*/ 448235 h 766453"/>
                <a:gd name="connsiteX4" fmla="*/ 4221 w 1469543"/>
                <a:gd name="connsiteY4" fmla="*/ 766453 h 766453"/>
                <a:gd name="connsiteX0" fmla="*/ 1488926 w 1493345"/>
                <a:gd name="connsiteY0" fmla="*/ 0 h 809310"/>
                <a:gd name="connsiteX1" fmla="*/ 1414779 w 1493345"/>
                <a:gd name="connsiteY1" fmla="*/ 114575 h 809310"/>
                <a:gd name="connsiteX2" fmla="*/ 1038262 w 1493345"/>
                <a:gd name="connsiteY2" fmla="*/ 365586 h 809310"/>
                <a:gd name="connsiteX3" fmla="*/ 267297 w 1493345"/>
                <a:gd name="connsiteY3" fmla="*/ 491092 h 809310"/>
                <a:gd name="connsiteX4" fmla="*/ 4221 w 1493345"/>
                <a:gd name="connsiteY4" fmla="*/ 809310 h 809310"/>
                <a:gd name="connsiteX0" fmla="*/ 1488926 w 1491209"/>
                <a:gd name="connsiteY0" fmla="*/ 0 h 809310"/>
                <a:gd name="connsiteX1" fmla="*/ 1385456 w 1491209"/>
                <a:gd name="connsiteY1" fmla="*/ 173220 h 809310"/>
                <a:gd name="connsiteX2" fmla="*/ 1038262 w 1491209"/>
                <a:gd name="connsiteY2" fmla="*/ 365586 h 809310"/>
                <a:gd name="connsiteX3" fmla="*/ 267297 w 1491209"/>
                <a:gd name="connsiteY3" fmla="*/ 491092 h 809310"/>
                <a:gd name="connsiteX4" fmla="*/ 4221 w 1491209"/>
                <a:gd name="connsiteY4" fmla="*/ 809310 h 809310"/>
                <a:gd name="connsiteX0" fmla="*/ 1491024 w 1493307"/>
                <a:gd name="connsiteY0" fmla="*/ 0 h 809310"/>
                <a:gd name="connsiteX1" fmla="*/ 1387554 w 1493307"/>
                <a:gd name="connsiteY1" fmla="*/ 173220 h 809310"/>
                <a:gd name="connsiteX2" fmla="*/ 1040360 w 1493307"/>
                <a:gd name="connsiteY2" fmla="*/ 365586 h 809310"/>
                <a:gd name="connsiteX3" fmla="*/ 218159 w 1493307"/>
                <a:gd name="connsiteY3" fmla="*/ 460609 h 809310"/>
                <a:gd name="connsiteX4" fmla="*/ 6319 w 1493307"/>
                <a:gd name="connsiteY4" fmla="*/ 809310 h 809310"/>
                <a:gd name="connsiteX0" fmla="*/ 1492065 w 1494348"/>
                <a:gd name="connsiteY0" fmla="*/ 0 h 809310"/>
                <a:gd name="connsiteX1" fmla="*/ 1388595 w 1494348"/>
                <a:gd name="connsiteY1" fmla="*/ 173220 h 809310"/>
                <a:gd name="connsiteX2" fmla="*/ 1041401 w 1494348"/>
                <a:gd name="connsiteY2" fmla="*/ 365586 h 809310"/>
                <a:gd name="connsiteX3" fmla="*/ 219200 w 1494348"/>
                <a:gd name="connsiteY3" fmla="*/ 460609 h 809310"/>
                <a:gd name="connsiteX4" fmla="*/ 7360 w 1494348"/>
                <a:gd name="connsiteY4" fmla="*/ 809310 h 809310"/>
                <a:gd name="connsiteX0" fmla="*/ 1492504 w 1494787"/>
                <a:gd name="connsiteY0" fmla="*/ 0 h 809310"/>
                <a:gd name="connsiteX1" fmla="*/ 1389034 w 1494787"/>
                <a:gd name="connsiteY1" fmla="*/ 173220 h 809310"/>
                <a:gd name="connsiteX2" fmla="*/ 1041840 w 1494787"/>
                <a:gd name="connsiteY2" fmla="*/ 365586 h 809310"/>
                <a:gd name="connsiteX3" fmla="*/ 214149 w 1494787"/>
                <a:gd name="connsiteY3" fmla="*/ 511414 h 809310"/>
                <a:gd name="connsiteX4" fmla="*/ 7799 w 1494787"/>
                <a:gd name="connsiteY4" fmla="*/ 809310 h 809310"/>
                <a:gd name="connsiteX0" fmla="*/ 1490561 w 1492844"/>
                <a:gd name="connsiteY0" fmla="*/ 0 h 809310"/>
                <a:gd name="connsiteX1" fmla="*/ 1387091 w 1492844"/>
                <a:gd name="connsiteY1" fmla="*/ 173220 h 809310"/>
                <a:gd name="connsiteX2" fmla="*/ 1039897 w 1492844"/>
                <a:gd name="connsiteY2" fmla="*/ 365586 h 809310"/>
                <a:gd name="connsiteX3" fmla="*/ 212206 w 1492844"/>
                <a:gd name="connsiteY3" fmla="*/ 511414 h 809310"/>
                <a:gd name="connsiteX4" fmla="*/ 5856 w 1492844"/>
                <a:gd name="connsiteY4" fmla="*/ 809310 h 809310"/>
                <a:gd name="connsiteX0" fmla="*/ 1488986 w 1491269"/>
                <a:gd name="connsiteY0" fmla="*/ 0 h 809310"/>
                <a:gd name="connsiteX1" fmla="*/ 1385516 w 1491269"/>
                <a:gd name="connsiteY1" fmla="*/ 173220 h 809310"/>
                <a:gd name="connsiteX2" fmla="*/ 1038322 w 1491269"/>
                <a:gd name="connsiteY2" fmla="*/ 365586 h 809310"/>
                <a:gd name="connsiteX3" fmla="*/ 210631 w 1491269"/>
                <a:gd name="connsiteY3" fmla="*/ 511414 h 809310"/>
                <a:gd name="connsiteX4" fmla="*/ 4281 w 1491269"/>
                <a:gd name="connsiteY4" fmla="*/ 809310 h 809310"/>
                <a:gd name="connsiteX0" fmla="*/ 1488986 w 1491269"/>
                <a:gd name="connsiteY0" fmla="*/ 0 h 809310"/>
                <a:gd name="connsiteX1" fmla="*/ 1385516 w 1491269"/>
                <a:gd name="connsiteY1" fmla="*/ 173220 h 809310"/>
                <a:gd name="connsiteX2" fmla="*/ 1038322 w 1491269"/>
                <a:gd name="connsiteY2" fmla="*/ 365586 h 809310"/>
                <a:gd name="connsiteX3" fmla="*/ 210631 w 1491269"/>
                <a:gd name="connsiteY3" fmla="*/ 511414 h 809310"/>
                <a:gd name="connsiteX4" fmla="*/ 4281 w 1491269"/>
                <a:gd name="connsiteY4" fmla="*/ 809310 h 809310"/>
                <a:gd name="connsiteX0" fmla="*/ 1488986 w 1491125"/>
                <a:gd name="connsiteY0" fmla="*/ 0 h 809310"/>
                <a:gd name="connsiteX1" fmla="*/ 1385516 w 1491125"/>
                <a:gd name="connsiteY1" fmla="*/ 173220 h 809310"/>
                <a:gd name="connsiteX2" fmla="*/ 1062110 w 1491125"/>
                <a:gd name="connsiteY2" fmla="*/ 416391 h 809310"/>
                <a:gd name="connsiteX3" fmla="*/ 210631 w 1491125"/>
                <a:gd name="connsiteY3" fmla="*/ 511414 h 809310"/>
                <a:gd name="connsiteX4" fmla="*/ 4281 w 1491125"/>
                <a:gd name="connsiteY4" fmla="*/ 809310 h 809310"/>
                <a:gd name="connsiteX0" fmla="*/ 1488986 w 1493254"/>
                <a:gd name="connsiteY0" fmla="*/ 0 h 809310"/>
                <a:gd name="connsiteX1" fmla="*/ 1417234 w 1493254"/>
                <a:gd name="connsiteY1" fmla="*/ 281604 h 809310"/>
                <a:gd name="connsiteX2" fmla="*/ 1062110 w 1493254"/>
                <a:gd name="connsiteY2" fmla="*/ 416391 h 809310"/>
                <a:gd name="connsiteX3" fmla="*/ 210631 w 1493254"/>
                <a:gd name="connsiteY3" fmla="*/ 511414 h 809310"/>
                <a:gd name="connsiteX4" fmla="*/ 4281 w 1493254"/>
                <a:gd name="connsiteY4" fmla="*/ 809310 h 809310"/>
                <a:gd name="connsiteX0" fmla="*/ 1487984 w 1492252"/>
                <a:gd name="connsiteY0" fmla="*/ 0 h 809310"/>
                <a:gd name="connsiteX1" fmla="*/ 1416232 w 1492252"/>
                <a:gd name="connsiteY1" fmla="*/ 281604 h 809310"/>
                <a:gd name="connsiteX2" fmla="*/ 1061108 w 1492252"/>
                <a:gd name="connsiteY2" fmla="*/ 416391 h 809310"/>
                <a:gd name="connsiteX3" fmla="*/ 254003 w 1492252"/>
                <a:gd name="connsiteY3" fmla="*/ 478899 h 809310"/>
                <a:gd name="connsiteX4" fmla="*/ 3279 w 1492252"/>
                <a:gd name="connsiteY4" fmla="*/ 809310 h 809310"/>
                <a:gd name="connsiteX0" fmla="*/ 1487984 w 1500156"/>
                <a:gd name="connsiteY0" fmla="*/ 0 h 809310"/>
                <a:gd name="connsiteX1" fmla="*/ 1416232 w 1500156"/>
                <a:gd name="connsiteY1" fmla="*/ 281604 h 809310"/>
                <a:gd name="connsiteX2" fmla="*/ 822596 w 1500156"/>
                <a:gd name="connsiteY2" fmla="*/ 392005 h 809310"/>
                <a:gd name="connsiteX3" fmla="*/ 254003 w 1500156"/>
                <a:gd name="connsiteY3" fmla="*/ 478899 h 809310"/>
                <a:gd name="connsiteX4" fmla="*/ 3279 w 1500156"/>
                <a:gd name="connsiteY4" fmla="*/ 809310 h 809310"/>
                <a:gd name="connsiteX0" fmla="*/ 1488105 w 1500277"/>
                <a:gd name="connsiteY0" fmla="*/ 0 h 809310"/>
                <a:gd name="connsiteX1" fmla="*/ 1416353 w 1500277"/>
                <a:gd name="connsiteY1" fmla="*/ 281604 h 809310"/>
                <a:gd name="connsiteX2" fmla="*/ 822717 w 1500277"/>
                <a:gd name="connsiteY2" fmla="*/ 392005 h 809310"/>
                <a:gd name="connsiteX3" fmla="*/ 254124 w 1500277"/>
                <a:gd name="connsiteY3" fmla="*/ 478899 h 809310"/>
                <a:gd name="connsiteX4" fmla="*/ 3400 w 1500277"/>
                <a:gd name="connsiteY4" fmla="*/ 809310 h 809310"/>
                <a:gd name="connsiteX0" fmla="*/ 1488339 w 1500511"/>
                <a:gd name="connsiteY0" fmla="*/ 0 h 809310"/>
                <a:gd name="connsiteX1" fmla="*/ 1416587 w 1500511"/>
                <a:gd name="connsiteY1" fmla="*/ 281604 h 809310"/>
                <a:gd name="connsiteX2" fmla="*/ 822951 w 1500511"/>
                <a:gd name="connsiteY2" fmla="*/ 392005 h 809310"/>
                <a:gd name="connsiteX3" fmla="*/ 254358 w 1500511"/>
                <a:gd name="connsiteY3" fmla="*/ 478899 h 809310"/>
                <a:gd name="connsiteX4" fmla="*/ 3634 w 1500511"/>
                <a:gd name="connsiteY4" fmla="*/ 809310 h 809310"/>
                <a:gd name="connsiteX0" fmla="*/ 1500473 w 1509464"/>
                <a:gd name="connsiteY0" fmla="*/ 0 h 806770"/>
                <a:gd name="connsiteX1" fmla="*/ 1416587 w 1509464"/>
                <a:gd name="connsiteY1" fmla="*/ 279064 h 806770"/>
                <a:gd name="connsiteX2" fmla="*/ 822951 w 1509464"/>
                <a:gd name="connsiteY2" fmla="*/ 389465 h 806770"/>
                <a:gd name="connsiteX3" fmla="*/ 254358 w 1509464"/>
                <a:gd name="connsiteY3" fmla="*/ 476359 h 806770"/>
                <a:gd name="connsiteX4" fmla="*/ 3634 w 1509464"/>
                <a:gd name="connsiteY4" fmla="*/ 806770 h 806770"/>
                <a:gd name="connsiteX0" fmla="*/ 1514340 w 1520689"/>
                <a:gd name="connsiteY0" fmla="*/ 0 h 806770"/>
                <a:gd name="connsiteX1" fmla="*/ 1416587 w 1520689"/>
                <a:gd name="connsiteY1" fmla="*/ 279064 h 806770"/>
                <a:gd name="connsiteX2" fmla="*/ 822951 w 1520689"/>
                <a:gd name="connsiteY2" fmla="*/ 389465 h 806770"/>
                <a:gd name="connsiteX3" fmla="*/ 254358 w 1520689"/>
                <a:gd name="connsiteY3" fmla="*/ 476359 h 806770"/>
                <a:gd name="connsiteX4" fmla="*/ 3634 w 1520689"/>
                <a:gd name="connsiteY4" fmla="*/ 806770 h 806770"/>
                <a:gd name="connsiteX0" fmla="*/ 1514340 w 1518314"/>
                <a:gd name="connsiteY0" fmla="*/ 0 h 806770"/>
                <a:gd name="connsiteX1" fmla="*/ 1399254 w 1518314"/>
                <a:gd name="connsiteY1" fmla="*/ 286685 h 806770"/>
                <a:gd name="connsiteX2" fmla="*/ 822951 w 1518314"/>
                <a:gd name="connsiteY2" fmla="*/ 389465 h 806770"/>
                <a:gd name="connsiteX3" fmla="*/ 254358 w 1518314"/>
                <a:gd name="connsiteY3" fmla="*/ 476359 h 806770"/>
                <a:gd name="connsiteX4" fmla="*/ 3634 w 1518314"/>
                <a:gd name="connsiteY4" fmla="*/ 806770 h 806770"/>
                <a:gd name="connsiteX0" fmla="*/ 1513504 w 1517478"/>
                <a:gd name="connsiteY0" fmla="*/ 0 h 806770"/>
                <a:gd name="connsiteX1" fmla="*/ 1398418 w 1517478"/>
                <a:gd name="connsiteY1" fmla="*/ 286685 h 806770"/>
                <a:gd name="connsiteX2" fmla="*/ 822115 w 1517478"/>
                <a:gd name="connsiteY2" fmla="*/ 389465 h 806770"/>
                <a:gd name="connsiteX3" fmla="*/ 304492 w 1517478"/>
                <a:gd name="connsiteY3" fmla="*/ 461117 h 806770"/>
                <a:gd name="connsiteX4" fmla="*/ 2798 w 1517478"/>
                <a:gd name="connsiteY4" fmla="*/ 806770 h 806770"/>
                <a:gd name="connsiteX0" fmla="*/ 1513550 w 1517524"/>
                <a:gd name="connsiteY0" fmla="*/ 0 h 806770"/>
                <a:gd name="connsiteX1" fmla="*/ 1398464 w 1517524"/>
                <a:gd name="connsiteY1" fmla="*/ 286685 h 806770"/>
                <a:gd name="connsiteX2" fmla="*/ 822161 w 1517524"/>
                <a:gd name="connsiteY2" fmla="*/ 389465 h 806770"/>
                <a:gd name="connsiteX3" fmla="*/ 300897 w 1517524"/>
                <a:gd name="connsiteY3" fmla="*/ 440795 h 806770"/>
                <a:gd name="connsiteX4" fmla="*/ 2844 w 1517524"/>
                <a:gd name="connsiteY4" fmla="*/ 806770 h 806770"/>
                <a:gd name="connsiteX0" fmla="*/ 1513458 w 1517432"/>
                <a:gd name="connsiteY0" fmla="*/ 0 h 806770"/>
                <a:gd name="connsiteX1" fmla="*/ 1398372 w 1517432"/>
                <a:gd name="connsiteY1" fmla="*/ 286685 h 806770"/>
                <a:gd name="connsiteX2" fmla="*/ 822069 w 1517432"/>
                <a:gd name="connsiteY2" fmla="*/ 389465 h 806770"/>
                <a:gd name="connsiteX3" fmla="*/ 308086 w 1517432"/>
                <a:gd name="connsiteY3" fmla="*/ 468738 h 806770"/>
                <a:gd name="connsiteX4" fmla="*/ 2752 w 1517432"/>
                <a:gd name="connsiteY4" fmla="*/ 806770 h 806770"/>
                <a:gd name="connsiteX0" fmla="*/ 1514067 w 1518041"/>
                <a:gd name="connsiteY0" fmla="*/ 0 h 806770"/>
                <a:gd name="connsiteX1" fmla="*/ 1398981 w 1518041"/>
                <a:gd name="connsiteY1" fmla="*/ 286685 h 806770"/>
                <a:gd name="connsiteX2" fmla="*/ 822678 w 1518041"/>
                <a:gd name="connsiteY2" fmla="*/ 389465 h 806770"/>
                <a:gd name="connsiteX3" fmla="*/ 308695 w 1518041"/>
                <a:gd name="connsiteY3" fmla="*/ 468738 h 806770"/>
                <a:gd name="connsiteX4" fmla="*/ 3361 w 1518041"/>
                <a:gd name="connsiteY4" fmla="*/ 806770 h 806770"/>
                <a:gd name="connsiteX0" fmla="*/ 1519842 w 1523816"/>
                <a:gd name="connsiteY0" fmla="*/ 0 h 806770"/>
                <a:gd name="connsiteX1" fmla="*/ 1404756 w 1523816"/>
                <a:gd name="connsiteY1" fmla="*/ 286685 h 806770"/>
                <a:gd name="connsiteX2" fmla="*/ 828453 w 1523816"/>
                <a:gd name="connsiteY2" fmla="*/ 389465 h 806770"/>
                <a:gd name="connsiteX3" fmla="*/ 314470 w 1523816"/>
                <a:gd name="connsiteY3" fmla="*/ 468738 h 806770"/>
                <a:gd name="connsiteX4" fmla="*/ 9136 w 1523816"/>
                <a:gd name="connsiteY4" fmla="*/ 806770 h 806770"/>
                <a:gd name="connsiteX0" fmla="*/ 1516513 w 1520487"/>
                <a:gd name="connsiteY0" fmla="*/ 0 h 806770"/>
                <a:gd name="connsiteX1" fmla="*/ 1401427 w 1520487"/>
                <a:gd name="connsiteY1" fmla="*/ 286685 h 806770"/>
                <a:gd name="connsiteX2" fmla="*/ 825124 w 1520487"/>
                <a:gd name="connsiteY2" fmla="*/ 389465 h 806770"/>
                <a:gd name="connsiteX3" fmla="*/ 311141 w 1520487"/>
                <a:gd name="connsiteY3" fmla="*/ 468738 h 806770"/>
                <a:gd name="connsiteX4" fmla="*/ 5807 w 1520487"/>
                <a:gd name="connsiteY4" fmla="*/ 806770 h 806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20487" h="806770">
                  <a:moveTo>
                    <a:pt x="1516513" y="0"/>
                  </a:moveTo>
                  <a:cubicBezTo>
                    <a:pt x="1529213" y="8965"/>
                    <a:pt x="1516659" y="221774"/>
                    <a:pt x="1401427" y="286685"/>
                  </a:cubicBezTo>
                  <a:cubicBezTo>
                    <a:pt x="1286195" y="351596"/>
                    <a:pt x="1006838" y="359123"/>
                    <a:pt x="825124" y="389465"/>
                  </a:cubicBezTo>
                  <a:cubicBezTo>
                    <a:pt x="643410" y="419807"/>
                    <a:pt x="526546" y="432135"/>
                    <a:pt x="311141" y="468738"/>
                  </a:cubicBezTo>
                  <a:cubicBezTo>
                    <a:pt x="133614" y="492639"/>
                    <a:pt x="-33544" y="681072"/>
                    <a:pt x="5807" y="806770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headEnd w="lg" len="med"/>
              <a:tailEnd type="triangle" w="lg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0FD4D744-092B-695B-34BC-9F3CC2E20193}"/>
                </a:ext>
              </a:extLst>
            </p:cNvPr>
            <p:cNvSpPr/>
            <p:nvPr/>
          </p:nvSpPr>
          <p:spPr>
            <a:xfrm>
              <a:off x="4824975" y="1719644"/>
              <a:ext cx="287843" cy="703115"/>
            </a:xfrm>
            <a:custGeom>
              <a:avLst/>
              <a:gdLst>
                <a:gd name="connsiteX0" fmla="*/ 373609 w 373781"/>
                <a:gd name="connsiteY0" fmla="*/ 0 h 690283"/>
                <a:gd name="connsiteX1" fmla="*/ 319821 w 373781"/>
                <a:gd name="connsiteY1" fmla="*/ 233083 h 690283"/>
                <a:gd name="connsiteX2" fmla="*/ 41915 w 373781"/>
                <a:gd name="connsiteY2" fmla="*/ 385483 h 690283"/>
                <a:gd name="connsiteX3" fmla="*/ 6057 w 373781"/>
                <a:gd name="connsiteY3" fmla="*/ 690283 h 690283"/>
                <a:gd name="connsiteX0" fmla="*/ 369084 w 369150"/>
                <a:gd name="connsiteY0" fmla="*/ 0 h 690283"/>
                <a:gd name="connsiteX1" fmla="*/ 315296 w 369150"/>
                <a:gd name="connsiteY1" fmla="*/ 233083 h 690283"/>
                <a:gd name="connsiteX2" fmla="*/ 70728 w 369150"/>
                <a:gd name="connsiteY2" fmla="*/ 376597 h 690283"/>
                <a:gd name="connsiteX3" fmla="*/ 1532 w 369150"/>
                <a:gd name="connsiteY3" fmla="*/ 690283 h 690283"/>
                <a:gd name="connsiteX0" fmla="*/ 374875 w 375070"/>
                <a:gd name="connsiteY0" fmla="*/ 0 h 690283"/>
                <a:gd name="connsiteX1" fmla="*/ 321087 w 375070"/>
                <a:gd name="connsiteY1" fmla="*/ 233083 h 690283"/>
                <a:gd name="connsiteX2" fmla="*/ 39403 w 375070"/>
                <a:gd name="connsiteY2" fmla="*/ 398812 h 690283"/>
                <a:gd name="connsiteX3" fmla="*/ 7323 w 375070"/>
                <a:gd name="connsiteY3" fmla="*/ 690283 h 690283"/>
                <a:gd name="connsiteX0" fmla="*/ 374875 w 374886"/>
                <a:gd name="connsiteY0" fmla="*/ 0 h 690283"/>
                <a:gd name="connsiteX1" fmla="*/ 283971 w 374886"/>
                <a:gd name="connsiteY1" fmla="*/ 290845 h 690283"/>
                <a:gd name="connsiteX2" fmla="*/ 39403 w 374886"/>
                <a:gd name="connsiteY2" fmla="*/ 398812 h 690283"/>
                <a:gd name="connsiteX3" fmla="*/ 7323 w 374886"/>
                <a:gd name="connsiteY3" fmla="*/ 690283 h 690283"/>
                <a:gd name="connsiteX0" fmla="*/ 374875 w 374889"/>
                <a:gd name="connsiteY0" fmla="*/ 0 h 690283"/>
                <a:gd name="connsiteX1" fmla="*/ 290157 w 374889"/>
                <a:gd name="connsiteY1" fmla="*/ 333055 h 690283"/>
                <a:gd name="connsiteX2" fmla="*/ 39403 w 374889"/>
                <a:gd name="connsiteY2" fmla="*/ 398812 h 690283"/>
                <a:gd name="connsiteX3" fmla="*/ 7323 w 374889"/>
                <a:gd name="connsiteY3" fmla="*/ 690283 h 690283"/>
                <a:gd name="connsiteX0" fmla="*/ 389805 w 389821"/>
                <a:gd name="connsiteY0" fmla="*/ 0 h 690283"/>
                <a:gd name="connsiteX1" fmla="*/ 305087 w 389821"/>
                <a:gd name="connsiteY1" fmla="*/ 333055 h 690283"/>
                <a:gd name="connsiteX2" fmla="*/ 26496 w 389821"/>
                <a:gd name="connsiteY2" fmla="*/ 434358 h 690283"/>
                <a:gd name="connsiteX3" fmla="*/ 22253 w 389821"/>
                <a:gd name="connsiteY3" fmla="*/ 690283 h 690283"/>
                <a:gd name="connsiteX0" fmla="*/ 372135 w 372148"/>
                <a:gd name="connsiteY0" fmla="*/ 0 h 690283"/>
                <a:gd name="connsiteX1" fmla="*/ 287417 w 372148"/>
                <a:gd name="connsiteY1" fmla="*/ 333055 h 690283"/>
                <a:gd name="connsiteX2" fmla="*/ 45943 w 372148"/>
                <a:gd name="connsiteY2" fmla="*/ 432136 h 690283"/>
                <a:gd name="connsiteX3" fmla="*/ 4583 w 372148"/>
                <a:gd name="connsiteY3" fmla="*/ 690283 h 690283"/>
                <a:gd name="connsiteX0" fmla="*/ 370141 w 370153"/>
                <a:gd name="connsiteY0" fmla="*/ 0 h 690283"/>
                <a:gd name="connsiteX1" fmla="*/ 285423 w 370153"/>
                <a:gd name="connsiteY1" fmla="*/ 333055 h 690283"/>
                <a:gd name="connsiteX2" fmla="*/ 56321 w 370153"/>
                <a:gd name="connsiteY2" fmla="*/ 427693 h 690283"/>
                <a:gd name="connsiteX3" fmla="*/ 2589 w 370153"/>
                <a:gd name="connsiteY3" fmla="*/ 690283 h 690283"/>
                <a:gd name="connsiteX0" fmla="*/ 368790 w 368802"/>
                <a:gd name="connsiteY0" fmla="*/ 0 h 690283"/>
                <a:gd name="connsiteX1" fmla="*/ 284072 w 368802"/>
                <a:gd name="connsiteY1" fmla="*/ 333055 h 690283"/>
                <a:gd name="connsiteX2" fmla="*/ 54970 w 368802"/>
                <a:gd name="connsiteY2" fmla="*/ 427693 h 690283"/>
                <a:gd name="connsiteX3" fmla="*/ 1238 w 368802"/>
                <a:gd name="connsiteY3" fmla="*/ 690283 h 690283"/>
                <a:gd name="connsiteX0" fmla="*/ 369428 w 369440"/>
                <a:gd name="connsiteY0" fmla="*/ 0 h 690283"/>
                <a:gd name="connsiteX1" fmla="*/ 284710 w 369440"/>
                <a:gd name="connsiteY1" fmla="*/ 333055 h 690283"/>
                <a:gd name="connsiteX2" fmla="*/ 55608 w 369440"/>
                <a:gd name="connsiteY2" fmla="*/ 427693 h 690283"/>
                <a:gd name="connsiteX3" fmla="*/ 1876 w 369440"/>
                <a:gd name="connsiteY3" fmla="*/ 690283 h 690283"/>
                <a:gd name="connsiteX0" fmla="*/ 369428 w 369440"/>
                <a:gd name="connsiteY0" fmla="*/ 0 h 690283"/>
                <a:gd name="connsiteX1" fmla="*/ 284710 w 369440"/>
                <a:gd name="connsiteY1" fmla="*/ 333055 h 690283"/>
                <a:gd name="connsiteX2" fmla="*/ 55608 w 369440"/>
                <a:gd name="connsiteY2" fmla="*/ 427693 h 690283"/>
                <a:gd name="connsiteX3" fmla="*/ 1876 w 369440"/>
                <a:gd name="connsiteY3" fmla="*/ 690283 h 690283"/>
                <a:gd name="connsiteX0" fmla="*/ 369428 w 369444"/>
                <a:gd name="connsiteY0" fmla="*/ 0 h 690283"/>
                <a:gd name="connsiteX1" fmla="*/ 284710 w 369444"/>
                <a:gd name="connsiteY1" fmla="*/ 333055 h 690283"/>
                <a:gd name="connsiteX2" fmla="*/ 55608 w 369444"/>
                <a:gd name="connsiteY2" fmla="*/ 427693 h 690283"/>
                <a:gd name="connsiteX3" fmla="*/ 1876 w 369444"/>
                <a:gd name="connsiteY3" fmla="*/ 690283 h 690283"/>
                <a:gd name="connsiteX0" fmla="*/ 369428 w 371122"/>
                <a:gd name="connsiteY0" fmla="*/ 0 h 690283"/>
                <a:gd name="connsiteX1" fmla="*/ 321826 w 371122"/>
                <a:gd name="connsiteY1" fmla="*/ 335278 h 690283"/>
                <a:gd name="connsiteX2" fmla="*/ 55608 w 371122"/>
                <a:gd name="connsiteY2" fmla="*/ 427693 h 690283"/>
                <a:gd name="connsiteX3" fmla="*/ 1876 w 371122"/>
                <a:gd name="connsiteY3" fmla="*/ 690283 h 690283"/>
                <a:gd name="connsiteX0" fmla="*/ 372188 w 373882"/>
                <a:gd name="connsiteY0" fmla="*/ 0 h 710278"/>
                <a:gd name="connsiteX1" fmla="*/ 324586 w 373882"/>
                <a:gd name="connsiteY1" fmla="*/ 335278 h 710278"/>
                <a:gd name="connsiteX2" fmla="*/ 58368 w 373882"/>
                <a:gd name="connsiteY2" fmla="*/ 427693 h 710278"/>
                <a:gd name="connsiteX3" fmla="*/ 1707 w 373882"/>
                <a:gd name="connsiteY3" fmla="*/ 710278 h 710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3882" h="710278">
                  <a:moveTo>
                    <a:pt x="372188" y="0"/>
                  </a:moveTo>
                  <a:cubicBezTo>
                    <a:pt x="372935" y="84418"/>
                    <a:pt x="386168" y="259552"/>
                    <a:pt x="324586" y="335278"/>
                  </a:cubicBezTo>
                  <a:cubicBezTo>
                    <a:pt x="263004" y="411004"/>
                    <a:pt x="138500" y="355936"/>
                    <a:pt x="58368" y="427693"/>
                  </a:cubicBezTo>
                  <a:cubicBezTo>
                    <a:pt x="15353" y="495007"/>
                    <a:pt x="-6511" y="595978"/>
                    <a:pt x="1707" y="710278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headEnd w="lg" len="med"/>
              <a:tailEnd type="triangle" w="lg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7BBB25A7-196C-0ACC-7790-FC7D2C4D269A}"/>
                </a:ext>
              </a:extLst>
            </p:cNvPr>
            <p:cNvSpPr/>
            <p:nvPr/>
          </p:nvSpPr>
          <p:spPr>
            <a:xfrm>
              <a:off x="1012027" y="1853991"/>
              <a:ext cx="728272" cy="574017"/>
            </a:xfrm>
            <a:custGeom>
              <a:avLst/>
              <a:gdLst>
                <a:gd name="connsiteX0" fmla="*/ 0 w 586155"/>
                <a:gd name="connsiteY0" fmla="*/ 0 h 555812"/>
                <a:gd name="connsiteX1" fmla="*/ 188258 w 586155"/>
                <a:gd name="connsiteY1" fmla="*/ 215153 h 555812"/>
                <a:gd name="connsiteX2" fmla="*/ 528917 w 586155"/>
                <a:gd name="connsiteY2" fmla="*/ 233082 h 555812"/>
                <a:gd name="connsiteX3" fmla="*/ 582705 w 586155"/>
                <a:gd name="connsiteY3" fmla="*/ 555812 h 555812"/>
                <a:gd name="connsiteX0" fmla="*/ 0 w 586155"/>
                <a:gd name="connsiteY0" fmla="*/ 0 h 560936"/>
                <a:gd name="connsiteX1" fmla="*/ 188258 w 586155"/>
                <a:gd name="connsiteY1" fmla="*/ 220277 h 560936"/>
                <a:gd name="connsiteX2" fmla="*/ 528917 w 586155"/>
                <a:gd name="connsiteY2" fmla="*/ 238206 h 560936"/>
                <a:gd name="connsiteX3" fmla="*/ 582705 w 586155"/>
                <a:gd name="connsiteY3" fmla="*/ 560936 h 560936"/>
                <a:gd name="connsiteX0" fmla="*/ 107 w 586262"/>
                <a:gd name="connsiteY0" fmla="*/ 0 h 560936"/>
                <a:gd name="connsiteX1" fmla="*/ 188365 w 586262"/>
                <a:gd name="connsiteY1" fmla="*/ 220277 h 560936"/>
                <a:gd name="connsiteX2" fmla="*/ 529024 w 586262"/>
                <a:gd name="connsiteY2" fmla="*/ 238206 h 560936"/>
                <a:gd name="connsiteX3" fmla="*/ 582812 w 586262"/>
                <a:gd name="connsiteY3" fmla="*/ 560936 h 560936"/>
                <a:gd name="connsiteX0" fmla="*/ 445 w 586600"/>
                <a:gd name="connsiteY0" fmla="*/ 0 h 560936"/>
                <a:gd name="connsiteX1" fmla="*/ 105592 w 586600"/>
                <a:gd name="connsiteY1" fmla="*/ 202009 h 560936"/>
                <a:gd name="connsiteX2" fmla="*/ 529362 w 586600"/>
                <a:gd name="connsiteY2" fmla="*/ 238206 h 560936"/>
                <a:gd name="connsiteX3" fmla="*/ 583150 w 586600"/>
                <a:gd name="connsiteY3" fmla="*/ 560936 h 560936"/>
                <a:gd name="connsiteX0" fmla="*/ 455 w 587507"/>
                <a:gd name="connsiteY0" fmla="*/ 0 h 560936"/>
                <a:gd name="connsiteX1" fmla="*/ 105602 w 587507"/>
                <a:gd name="connsiteY1" fmla="*/ 202009 h 560936"/>
                <a:gd name="connsiteX2" fmla="*/ 533330 w 587507"/>
                <a:gd name="connsiteY2" fmla="*/ 293009 h 560936"/>
                <a:gd name="connsiteX3" fmla="*/ 583160 w 587507"/>
                <a:gd name="connsiteY3" fmla="*/ 560936 h 560936"/>
                <a:gd name="connsiteX0" fmla="*/ 455 w 583160"/>
                <a:gd name="connsiteY0" fmla="*/ 0 h 560936"/>
                <a:gd name="connsiteX1" fmla="*/ 105602 w 583160"/>
                <a:gd name="connsiteY1" fmla="*/ 202009 h 560936"/>
                <a:gd name="connsiteX2" fmla="*/ 533330 w 583160"/>
                <a:gd name="connsiteY2" fmla="*/ 293009 h 560936"/>
                <a:gd name="connsiteX3" fmla="*/ 583160 w 583160"/>
                <a:gd name="connsiteY3" fmla="*/ 560936 h 560936"/>
                <a:gd name="connsiteX0" fmla="*/ 455 w 584291"/>
                <a:gd name="connsiteY0" fmla="*/ 0 h 560936"/>
                <a:gd name="connsiteX1" fmla="*/ 105602 w 584291"/>
                <a:gd name="connsiteY1" fmla="*/ 202009 h 560936"/>
                <a:gd name="connsiteX2" fmla="*/ 533330 w 584291"/>
                <a:gd name="connsiteY2" fmla="*/ 293009 h 560936"/>
                <a:gd name="connsiteX3" fmla="*/ 583160 w 584291"/>
                <a:gd name="connsiteY3" fmla="*/ 560936 h 560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84291" h="560936">
                  <a:moveTo>
                    <a:pt x="455" y="0"/>
                  </a:moveTo>
                  <a:cubicBezTo>
                    <a:pt x="-3468" y="93276"/>
                    <a:pt x="16789" y="153174"/>
                    <a:pt x="105602" y="202009"/>
                  </a:cubicBezTo>
                  <a:cubicBezTo>
                    <a:pt x="194415" y="250844"/>
                    <a:pt x="467589" y="236233"/>
                    <a:pt x="533330" y="293009"/>
                  </a:cubicBezTo>
                  <a:cubicBezTo>
                    <a:pt x="599071" y="349785"/>
                    <a:pt x="581897" y="432257"/>
                    <a:pt x="583160" y="560936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headEnd w="lg" len="med"/>
              <a:tailEnd type="triangle" w="lg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84D9CE05-9B5E-2B2F-3E12-95815CC1E3C4}"/>
                </a:ext>
              </a:extLst>
            </p:cNvPr>
            <p:cNvSpPr/>
            <p:nvPr/>
          </p:nvSpPr>
          <p:spPr>
            <a:xfrm>
              <a:off x="1888346" y="1722143"/>
              <a:ext cx="455416" cy="707882"/>
            </a:xfrm>
            <a:custGeom>
              <a:avLst/>
              <a:gdLst>
                <a:gd name="connsiteX0" fmla="*/ 411881 w 446386"/>
                <a:gd name="connsiteY0" fmla="*/ 0 h 699247"/>
                <a:gd name="connsiteX1" fmla="*/ 411881 w 446386"/>
                <a:gd name="connsiteY1" fmla="*/ 313765 h 699247"/>
                <a:gd name="connsiteX2" fmla="*/ 53293 w 446386"/>
                <a:gd name="connsiteY2" fmla="*/ 546847 h 699247"/>
                <a:gd name="connsiteX3" fmla="*/ 8470 w 446386"/>
                <a:gd name="connsiteY3" fmla="*/ 699247 h 699247"/>
                <a:gd name="connsiteX0" fmla="*/ 405917 w 440422"/>
                <a:gd name="connsiteY0" fmla="*/ 0 h 697269"/>
                <a:gd name="connsiteX1" fmla="*/ 405917 w 440422"/>
                <a:gd name="connsiteY1" fmla="*/ 313765 h 697269"/>
                <a:gd name="connsiteX2" fmla="*/ 47329 w 440422"/>
                <a:gd name="connsiteY2" fmla="*/ 546847 h 697269"/>
                <a:gd name="connsiteX3" fmla="*/ 12031 w 440422"/>
                <a:gd name="connsiteY3" fmla="*/ 697269 h 697269"/>
                <a:gd name="connsiteX0" fmla="*/ 395259 w 429764"/>
                <a:gd name="connsiteY0" fmla="*/ 0 h 697269"/>
                <a:gd name="connsiteX1" fmla="*/ 395259 w 429764"/>
                <a:gd name="connsiteY1" fmla="*/ 313765 h 697269"/>
                <a:gd name="connsiteX2" fmla="*/ 36671 w 429764"/>
                <a:gd name="connsiteY2" fmla="*/ 546847 h 697269"/>
                <a:gd name="connsiteX3" fmla="*/ 1373 w 429764"/>
                <a:gd name="connsiteY3" fmla="*/ 697269 h 697269"/>
                <a:gd name="connsiteX0" fmla="*/ 402403 w 433178"/>
                <a:gd name="connsiteY0" fmla="*/ 0 h 697269"/>
                <a:gd name="connsiteX1" fmla="*/ 395259 w 433178"/>
                <a:gd name="connsiteY1" fmla="*/ 313765 h 697269"/>
                <a:gd name="connsiteX2" fmla="*/ 36671 w 433178"/>
                <a:gd name="connsiteY2" fmla="*/ 546847 h 697269"/>
                <a:gd name="connsiteX3" fmla="*/ 1373 w 433178"/>
                <a:gd name="connsiteY3" fmla="*/ 697269 h 697269"/>
                <a:gd name="connsiteX0" fmla="*/ 402403 w 427228"/>
                <a:gd name="connsiteY0" fmla="*/ 0 h 697269"/>
                <a:gd name="connsiteX1" fmla="*/ 395259 w 427228"/>
                <a:gd name="connsiteY1" fmla="*/ 313765 h 697269"/>
                <a:gd name="connsiteX2" fmla="*/ 36671 w 427228"/>
                <a:gd name="connsiteY2" fmla="*/ 546847 h 697269"/>
                <a:gd name="connsiteX3" fmla="*/ 1373 w 427228"/>
                <a:gd name="connsiteY3" fmla="*/ 697269 h 697269"/>
                <a:gd name="connsiteX0" fmla="*/ 466697 w 470318"/>
                <a:gd name="connsiteY0" fmla="*/ 0 h 697269"/>
                <a:gd name="connsiteX1" fmla="*/ 395259 w 470318"/>
                <a:gd name="connsiteY1" fmla="*/ 313765 h 697269"/>
                <a:gd name="connsiteX2" fmla="*/ 36671 w 470318"/>
                <a:gd name="connsiteY2" fmla="*/ 546847 h 697269"/>
                <a:gd name="connsiteX3" fmla="*/ 1373 w 470318"/>
                <a:gd name="connsiteY3" fmla="*/ 697269 h 697269"/>
                <a:gd name="connsiteX0" fmla="*/ 466697 w 467266"/>
                <a:gd name="connsiteY0" fmla="*/ 0 h 697269"/>
                <a:gd name="connsiteX1" fmla="*/ 259528 w 467266"/>
                <a:gd name="connsiteY1" fmla="*/ 329024 h 697269"/>
                <a:gd name="connsiteX2" fmla="*/ 36671 w 467266"/>
                <a:gd name="connsiteY2" fmla="*/ 546847 h 697269"/>
                <a:gd name="connsiteX3" fmla="*/ 1373 w 467266"/>
                <a:gd name="connsiteY3" fmla="*/ 697269 h 697269"/>
                <a:gd name="connsiteX0" fmla="*/ 466697 w 468563"/>
                <a:gd name="connsiteY0" fmla="*/ 0 h 697269"/>
                <a:gd name="connsiteX1" fmla="*/ 369066 w 468563"/>
                <a:gd name="connsiteY1" fmla="*/ 326844 h 697269"/>
                <a:gd name="connsiteX2" fmla="*/ 36671 w 468563"/>
                <a:gd name="connsiteY2" fmla="*/ 546847 h 697269"/>
                <a:gd name="connsiteX3" fmla="*/ 1373 w 468563"/>
                <a:gd name="connsiteY3" fmla="*/ 697269 h 697269"/>
                <a:gd name="connsiteX0" fmla="*/ 466697 w 467508"/>
                <a:gd name="connsiteY0" fmla="*/ 0 h 697269"/>
                <a:gd name="connsiteX1" fmla="*/ 369066 w 467508"/>
                <a:gd name="connsiteY1" fmla="*/ 326844 h 697269"/>
                <a:gd name="connsiteX2" fmla="*/ 36671 w 467508"/>
                <a:gd name="connsiteY2" fmla="*/ 546847 h 697269"/>
                <a:gd name="connsiteX3" fmla="*/ 1373 w 467508"/>
                <a:gd name="connsiteY3" fmla="*/ 697269 h 697269"/>
                <a:gd name="connsiteX0" fmla="*/ 466697 w 468011"/>
                <a:gd name="connsiteY0" fmla="*/ 0 h 697269"/>
                <a:gd name="connsiteX1" fmla="*/ 369066 w 468011"/>
                <a:gd name="connsiteY1" fmla="*/ 326844 h 697269"/>
                <a:gd name="connsiteX2" fmla="*/ 36671 w 468011"/>
                <a:gd name="connsiteY2" fmla="*/ 546847 h 697269"/>
                <a:gd name="connsiteX3" fmla="*/ 1373 w 468011"/>
                <a:gd name="connsiteY3" fmla="*/ 697269 h 697269"/>
                <a:gd name="connsiteX0" fmla="*/ 466697 w 469892"/>
                <a:gd name="connsiteY0" fmla="*/ 0 h 697269"/>
                <a:gd name="connsiteX1" fmla="*/ 369066 w 469892"/>
                <a:gd name="connsiteY1" fmla="*/ 326844 h 697269"/>
                <a:gd name="connsiteX2" fmla="*/ 36671 w 469892"/>
                <a:gd name="connsiteY2" fmla="*/ 546847 h 697269"/>
                <a:gd name="connsiteX3" fmla="*/ 1373 w 469892"/>
                <a:gd name="connsiteY3" fmla="*/ 697269 h 697269"/>
                <a:gd name="connsiteX0" fmla="*/ 466697 w 467571"/>
                <a:gd name="connsiteY0" fmla="*/ 0 h 697269"/>
                <a:gd name="connsiteX1" fmla="*/ 290485 w 467571"/>
                <a:gd name="connsiteY1" fmla="*/ 326844 h 697269"/>
                <a:gd name="connsiteX2" fmla="*/ 36671 w 467571"/>
                <a:gd name="connsiteY2" fmla="*/ 546847 h 697269"/>
                <a:gd name="connsiteX3" fmla="*/ 1373 w 467571"/>
                <a:gd name="connsiteY3" fmla="*/ 697269 h 697269"/>
                <a:gd name="connsiteX0" fmla="*/ 466697 w 470369"/>
                <a:gd name="connsiteY0" fmla="*/ 0 h 697269"/>
                <a:gd name="connsiteX1" fmla="*/ 373829 w 470369"/>
                <a:gd name="connsiteY1" fmla="*/ 383518 h 697269"/>
                <a:gd name="connsiteX2" fmla="*/ 36671 w 470369"/>
                <a:gd name="connsiteY2" fmla="*/ 546847 h 697269"/>
                <a:gd name="connsiteX3" fmla="*/ 1373 w 470369"/>
                <a:gd name="connsiteY3" fmla="*/ 697269 h 697269"/>
                <a:gd name="connsiteX0" fmla="*/ 465324 w 467334"/>
                <a:gd name="connsiteY0" fmla="*/ 0 h 697269"/>
                <a:gd name="connsiteX1" fmla="*/ 372456 w 467334"/>
                <a:gd name="connsiteY1" fmla="*/ 383518 h 697269"/>
                <a:gd name="connsiteX2" fmla="*/ 42442 w 467334"/>
                <a:gd name="connsiteY2" fmla="*/ 440039 h 697269"/>
                <a:gd name="connsiteX3" fmla="*/ 0 w 467334"/>
                <a:gd name="connsiteY3" fmla="*/ 697269 h 697269"/>
                <a:gd name="connsiteX0" fmla="*/ 465324 w 467440"/>
                <a:gd name="connsiteY0" fmla="*/ 0 h 697269"/>
                <a:gd name="connsiteX1" fmla="*/ 374837 w 467440"/>
                <a:gd name="connsiteY1" fmla="*/ 320305 h 697269"/>
                <a:gd name="connsiteX2" fmla="*/ 42442 w 467440"/>
                <a:gd name="connsiteY2" fmla="*/ 440039 h 697269"/>
                <a:gd name="connsiteX3" fmla="*/ 0 w 467440"/>
                <a:gd name="connsiteY3" fmla="*/ 697269 h 697269"/>
                <a:gd name="connsiteX0" fmla="*/ 465324 w 467440"/>
                <a:gd name="connsiteY0" fmla="*/ 0 h 697269"/>
                <a:gd name="connsiteX1" fmla="*/ 374837 w 467440"/>
                <a:gd name="connsiteY1" fmla="*/ 320305 h 697269"/>
                <a:gd name="connsiteX2" fmla="*/ 42442 w 467440"/>
                <a:gd name="connsiteY2" fmla="*/ 440039 h 697269"/>
                <a:gd name="connsiteX3" fmla="*/ 0 w 467440"/>
                <a:gd name="connsiteY3" fmla="*/ 697269 h 697269"/>
                <a:gd name="connsiteX0" fmla="*/ 465324 w 467440"/>
                <a:gd name="connsiteY0" fmla="*/ 0 h 697269"/>
                <a:gd name="connsiteX1" fmla="*/ 374837 w 467440"/>
                <a:gd name="connsiteY1" fmla="*/ 320305 h 697269"/>
                <a:gd name="connsiteX2" fmla="*/ 42442 w 467440"/>
                <a:gd name="connsiteY2" fmla="*/ 440039 h 697269"/>
                <a:gd name="connsiteX3" fmla="*/ 0 w 467440"/>
                <a:gd name="connsiteY3" fmla="*/ 697269 h 697269"/>
                <a:gd name="connsiteX0" fmla="*/ 467455 w 469571"/>
                <a:gd name="connsiteY0" fmla="*/ 0 h 697269"/>
                <a:gd name="connsiteX1" fmla="*/ 376968 w 469571"/>
                <a:gd name="connsiteY1" fmla="*/ 320305 h 697269"/>
                <a:gd name="connsiteX2" fmla="*/ 44573 w 469571"/>
                <a:gd name="connsiteY2" fmla="*/ 440039 h 697269"/>
                <a:gd name="connsiteX3" fmla="*/ 2131 w 469571"/>
                <a:gd name="connsiteY3" fmla="*/ 697269 h 697269"/>
                <a:gd name="connsiteX0" fmla="*/ 462820 w 464936"/>
                <a:gd name="connsiteY0" fmla="*/ 0 h 701628"/>
                <a:gd name="connsiteX1" fmla="*/ 372333 w 464936"/>
                <a:gd name="connsiteY1" fmla="*/ 320305 h 701628"/>
                <a:gd name="connsiteX2" fmla="*/ 39938 w 464936"/>
                <a:gd name="connsiteY2" fmla="*/ 440039 h 701628"/>
                <a:gd name="connsiteX3" fmla="*/ 9402 w 464936"/>
                <a:gd name="connsiteY3" fmla="*/ 701628 h 701628"/>
                <a:gd name="connsiteX0" fmla="*/ 453418 w 455416"/>
                <a:gd name="connsiteY0" fmla="*/ 0 h 701628"/>
                <a:gd name="connsiteX1" fmla="*/ 362931 w 455416"/>
                <a:gd name="connsiteY1" fmla="*/ 320305 h 701628"/>
                <a:gd name="connsiteX2" fmla="*/ 47204 w 455416"/>
                <a:gd name="connsiteY2" fmla="*/ 442219 h 701628"/>
                <a:gd name="connsiteX3" fmla="*/ 0 w 455416"/>
                <a:gd name="connsiteY3" fmla="*/ 701628 h 701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5416" h="701628">
                  <a:moveTo>
                    <a:pt x="453418" y="0"/>
                  </a:moveTo>
                  <a:cubicBezTo>
                    <a:pt x="464250" y="125158"/>
                    <a:pt x="430633" y="246602"/>
                    <a:pt x="362931" y="320305"/>
                  </a:cubicBezTo>
                  <a:cubicBezTo>
                    <a:pt x="295229" y="394008"/>
                    <a:pt x="114439" y="377972"/>
                    <a:pt x="47204" y="442219"/>
                  </a:cubicBezTo>
                  <a:cubicBezTo>
                    <a:pt x="-31937" y="508647"/>
                    <a:pt x="17369" y="655573"/>
                    <a:pt x="0" y="701628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headEnd w="lg" len="med"/>
              <a:tailEnd type="triangle" w="lg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F31F0014-E2E6-5DE7-EB7C-20F929EC936D}"/>
                </a:ext>
              </a:extLst>
            </p:cNvPr>
            <p:cNvSpPr/>
            <p:nvPr/>
          </p:nvSpPr>
          <p:spPr>
            <a:xfrm>
              <a:off x="3965124" y="1722366"/>
              <a:ext cx="705037" cy="698227"/>
            </a:xfrm>
            <a:custGeom>
              <a:avLst/>
              <a:gdLst>
                <a:gd name="connsiteX0" fmla="*/ 0 w 698500"/>
                <a:gd name="connsiteY0" fmla="*/ 0 h 800100"/>
                <a:gd name="connsiteX1" fmla="*/ 241300 w 698500"/>
                <a:gd name="connsiteY1" fmla="*/ 361950 h 800100"/>
                <a:gd name="connsiteX2" fmla="*/ 603250 w 698500"/>
                <a:gd name="connsiteY2" fmla="*/ 431800 h 800100"/>
                <a:gd name="connsiteX3" fmla="*/ 698500 w 698500"/>
                <a:gd name="connsiteY3" fmla="*/ 800100 h 800100"/>
                <a:gd name="connsiteX0" fmla="*/ 0 w 619125"/>
                <a:gd name="connsiteY0" fmla="*/ 0 h 796160"/>
                <a:gd name="connsiteX1" fmla="*/ 161925 w 619125"/>
                <a:gd name="connsiteY1" fmla="*/ 358010 h 796160"/>
                <a:gd name="connsiteX2" fmla="*/ 523875 w 619125"/>
                <a:gd name="connsiteY2" fmla="*/ 427860 h 796160"/>
                <a:gd name="connsiteX3" fmla="*/ 619125 w 619125"/>
                <a:gd name="connsiteY3" fmla="*/ 796160 h 796160"/>
                <a:gd name="connsiteX0" fmla="*/ 0 w 619125"/>
                <a:gd name="connsiteY0" fmla="*/ 0 h 796160"/>
                <a:gd name="connsiteX1" fmla="*/ 161925 w 619125"/>
                <a:gd name="connsiteY1" fmla="*/ 358010 h 796160"/>
                <a:gd name="connsiteX2" fmla="*/ 523875 w 619125"/>
                <a:gd name="connsiteY2" fmla="*/ 427860 h 796160"/>
                <a:gd name="connsiteX3" fmla="*/ 619125 w 619125"/>
                <a:gd name="connsiteY3" fmla="*/ 796160 h 796160"/>
                <a:gd name="connsiteX0" fmla="*/ 0 w 619125"/>
                <a:gd name="connsiteY0" fmla="*/ 0 h 847381"/>
                <a:gd name="connsiteX1" fmla="*/ 161925 w 619125"/>
                <a:gd name="connsiteY1" fmla="*/ 358010 h 847381"/>
                <a:gd name="connsiteX2" fmla="*/ 523875 w 619125"/>
                <a:gd name="connsiteY2" fmla="*/ 427860 h 847381"/>
                <a:gd name="connsiteX3" fmla="*/ 619125 w 619125"/>
                <a:gd name="connsiteY3" fmla="*/ 847381 h 847381"/>
                <a:gd name="connsiteX0" fmla="*/ 0 w 621846"/>
                <a:gd name="connsiteY0" fmla="*/ 0 h 847381"/>
                <a:gd name="connsiteX1" fmla="*/ 161925 w 621846"/>
                <a:gd name="connsiteY1" fmla="*/ 358010 h 847381"/>
                <a:gd name="connsiteX2" fmla="*/ 523875 w 621846"/>
                <a:gd name="connsiteY2" fmla="*/ 427860 h 847381"/>
                <a:gd name="connsiteX3" fmla="*/ 619125 w 621846"/>
                <a:gd name="connsiteY3" fmla="*/ 847381 h 847381"/>
                <a:gd name="connsiteX0" fmla="*/ 0 w 619416"/>
                <a:gd name="connsiteY0" fmla="*/ 0 h 847381"/>
                <a:gd name="connsiteX1" fmla="*/ 161925 w 619416"/>
                <a:gd name="connsiteY1" fmla="*/ 358010 h 847381"/>
                <a:gd name="connsiteX2" fmla="*/ 523875 w 619416"/>
                <a:gd name="connsiteY2" fmla="*/ 427860 h 847381"/>
                <a:gd name="connsiteX3" fmla="*/ 619125 w 619416"/>
                <a:gd name="connsiteY3" fmla="*/ 847381 h 847381"/>
                <a:gd name="connsiteX0" fmla="*/ 0 w 625377"/>
                <a:gd name="connsiteY0" fmla="*/ 0 h 866485"/>
                <a:gd name="connsiteX1" fmla="*/ 161925 w 625377"/>
                <a:gd name="connsiteY1" fmla="*/ 358010 h 866485"/>
                <a:gd name="connsiteX2" fmla="*/ 523875 w 625377"/>
                <a:gd name="connsiteY2" fmla="*/ 427860 h 866485"/>
                <a:gd name="connsiteX3" fmla="*/ 625139 w 625377"/>
                <a:gd name="connsiteY3" fmla="*/ 866485 h 866485"/>
                <a:gd name="connsiteX0" fmla="*/ 0 w 627707"/>
                <a:gd name="connsiteY0" fmla="*/ 0 h 866485"/>
                <a:gd name="connsiteX1" fmla="*/ 161925 w 627707"/>
                <a:gd name="connsiteY1" fmla="*/ 358010 h 866485"/>
                <a:gd name="connsiteX2" fmla="*/ 523875 w 627707"/>
                <a:gd name="connsiteY2" fmla="*/ 427860 h 866485"/>
                <a:gd name="connsiteX3" fmla="*/ 625139 w 627707"/>
                <a:gd name="connsiteY3" fmla="*/ 866485 h 866485"/>
                <a:gd name="connsiteX0" fmla="*/ 0 w 625377"/>
                <a:gd name="connsiteY0" fmla="*/ 0 h 866485"/>
                <a:gd name="connsiteX1" fmla="*/ 161925 w 625377"/>
                <a:gd name="connsiteY1" fmla="*/ 358010 h 866485"/>
                <a:gd name="connsiteX2" fmla="*/ 523875 w 625377"/>
                <a:gd name="connsiteY2" fmla="*/ 427860 h 866485"/>
                <a:gd name="connsiteX3" fmla="*/ 625139 w 625377"/>
                <a:gd name="connsiteY3" fmla="*/ 866485 h 866485"/>
                <a:gd name="connsiteX0" fmla="*/ 0 w 626599"/>
                <a:gd name="connsiteY0" fmla="*/ 0 h 866485"/>
                <a:gd name="connsiteX1" fmla="*/ 161925 w 626599"/>
                <a:gd name="connsiteY1" fmla="*/ 358010 h 866485"/>
                <a:gd name="connsiteX2" fmla="*/ 523875 w 626599"/>
                <a:gd name="connsiteY2" fmla="*/ 427860 h 866485"/>
                <a:gd name="connsiteX3" fmla="*/ 625139 w 626599"/>
                <a:gd name="connsiteY3" fmla="*/ 866485 h 866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26599" h="866485">
                  <a:moveTo>
                    <a:pt x="0" y="0"/>
                  </a:moveTo>
                  <a:cubicBezTo>
                    <a:pt x="3704" y="164692"/>
                    <a:pt x="74613" y="286700"/>
                    <a:pt x="161925" y="358010"/>
                  </a:cubicBezTo>
                  <a:cubicBezTo>
                    <a:pt x="249237" y="429320"/>
                    <a:pt x="447675" y="354835"/>
                    <a:pt x="523875" y="427860"/>
                  </a:cubicBezTo>
                  <a:cubicBezTo>
                    <a:pt x="600075" y="500885"/>
                    <a:pt x="634330" y="718847"/>
                    <a:pt x="625139" y="866485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prstDash val="dash"/>
              <a:headEnd w="lg" len="med"/>
              <a:tailEnd type="triangle" w="lg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FF01B0FE-666E-196F-B185-562381A12127}"/>
              </a:ext>
            </a:extLst>
          </p:cNvPr>
          <p:cNvSpPr txBox="1"/>
          <p:nvPr/>
        </p:nvSpPr>
        <p:spPr>
          <a:xfrm>
            <a:off x="6775269" y="494727"/>
            <a:ext cx="4787337" cy="832104"/>
          </a:xfrm>
          <a:prstGeom prst="rect">
            <a:avLst/>
          </a:prstGeom>
          <a:solidFill>
            <a:srgbClr val="A7E8FF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none" lIns="0" tIns="0" rIns="0" bIns="0" rtlCol="0" anchor="ctr" anchorCtr="0">
            <a:noAutofit/>
          </a:bodyPr>
          <a:lstStyle>
            <a:defPPr>
              <a:defRPr lang="LID4096"/>
            </a:defPPr>
            <a:lvl1pPr>
              <a:defRPr sz="360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algn="ctr"/>
            <a:r>
              <a:rPr lang="pt-BR" b="1" dirty="0"/>
              <a:t>Otimização Topográfica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Object 4">
                <a:extLst>
                  <a:ext uri="{63B3BB69-23CF-44E3-9099-C40C66FF867C}">
                    <a14:compatExt spid="_x0000_s1028"/>
                  </a:ext>
                  <a:ext uri="{FF2B5EF4-FFF2-40B4-BE49-F238E27FC236}">
                    <a16:creationId xmlns:a16="http://schemas.microsoft.com/office/drawing/2014/main" id="{A23F9CD3-ADF5-8FD9-F448-9DCBFB8FBD85}"/>
                  </a:ext>
                </a:extLst>
              </p:cNvPr>
              <p:cNvSpPr txBox="1"/>
              <p:nvPr/>
            </p:nvSpPr>
            <p:spPr>
              <a:xfrm>
                <a:off x="5822323" y="5463499"/>
                <a:ext cx="3055353" cy="980353"/>
              </a:xfrm>
              <a:prstGeom prst="rect">
                <a:avLst/>
              </a:prstGeom>
              <a:solidFill>
                <a:srgbClr val="A7E8FF"/>
              </a:solidFill>
              <a:ln w="3175">
                <a:noFill/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txBody>
              <a:bodyPr wrap="none" anchor="ctr" anchorCtr="0">
                <a:noAutofit/>
              </a:bodyPr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>
                  <a:defRPr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2200" b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𝐏</m:t>
                      </m:r>
                      <m:d>
                        <m:dPr>
                          <m:ctrlPr>
                            <a:rPr lang="pt-BR" sz="22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200" b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𝐀</m:t>
                          </m:r>
                        </m:e>
                        <m:e>
                          <m:r>
                            <a:rPr lang="pt-BR" sz="2200" b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𝐁</m:t>
                          </m:r>
                        </m:e>
                      </m:d>
                      <m:r>
                        <a:rPr lang="pt-BR" sz="2200" b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sz="2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200" b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𝐏</m:t>
                          </m:r>
                          <m:d>
                            <m:dPr>
                              <m:ctrlPr>
                                <a:rPr lang="pt-BR" sz="22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200" b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𝐁</m:t>
                              </m:r>
                            </m:e>
                            <m:e>
                              <m:r>
                                <a:rPr lang="pt-BR" sz="2200" b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𝐀</m:t>
                              </m:r>
                            </m:e>
                          </m:d>
                          <m:r>
                            <a:rPr lang="pt-BR" sz="2200" b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𝐏</m:t>
                          </m:r>
                          <m:r>
                            <a:rPr lang="pt-BR" sz="2200" b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200" b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𝐀</m:t>
                          </m:r>
                          <m:r>
                            <a:rPr lang="pt-BR" sz="2200" b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pt-BR" sz="2200" b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𝐏</m:t>
                          </m:r>
                          <m:r>
                            <a:rPr lang="pt-BR" sz="2200" b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200" b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𝐁</m:t>
                          </m:r>
                          <m:r>
                            <a:rPr lang="pt-BR" sz="2200" b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GB" sz="2200" b="1" dirty="0">
                  <a:solidFill>
                    <a:schemeClr val="tx1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7" name="Object 4">
                <a:extLst>
                  <a:ext uri="{63B3BB69-23CF-44E3-9099-C40C66FF867C}">
                    <a14:compatExt xmlns:a14="http://schemas.microsoft.com/office/drawing/2010/main" spid="_x0000_s1028"/>
                  </a:ext>
                  <a:ext uri="{FF2B5EF4-FFF2-40B4-BE49-F238E27FC236}">
                    <a16:creationId xmlns:a16="http://schemas.microsoft.com/office/drawing/2014/main" id="{A23F9CD3-ADF5-8FD9-F448-9DCBFB8FBD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2323" y="5463499"/>
                <a:ext cx="3055353" cy="980353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3175">
                <a:noFill/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TextBox 37">
            <a:extLst>
              <a:ext uri="{FF2B5EF4-FFF2-40B4-BE49-F238E27FC236}">
                <a16:creationId xmlns:a16="http://schemas.microsoft.com/office/drawing/2014/main" id="{E354EF9B-409D-61A3-D124-E8787AEB5630}"/>
              </a:ext>
            </a:extLst>
          </p:cNvPr>
          <p:cNvSpPr txBox="1"/>
          <p:nvPr/>
        </p:nvSpPr>
        <p:spPr>
          <a:xfrm>
            <a:off x="9232926" y="4861712"/>
            <a:ext cx="2329682" cy="132343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none" lIns="0" tIns="0" rIns="0" bIns="0" anchor="ctr" anchorCtr="0">
            <a:no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r>
              <a:rPr lang="pt-BR" sz="3200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Abordagem</a:t>
            </a:r>
          </a:p>
          <a:p>
            <a:r>
              <a:rPr lang="pt-BR" sz="3200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Estocástica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D4A11C5-DD16-D7A7-B4F2-D597BE4108BB}"/>
              </a:ext>
            </a:extLst>
          </p:cNvPr>
          <p:cNvSpPr txBox="1"/>
          <p:nvPr/>
        </p:nvSpPr>
        <p:spPr>
          <a:xfrm>
            <a:off x="7016883" y="2101219"/>
            <a:ext cx="925063" cy="584775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pPr algn="r"/>
            <a:r>
              <a:rPr lang="pt-BR" sz="3200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CFD</a:t>
            </a:r>
            <a:endParaRPr lang="pt-BR" sz="2400" dirty="0">
              <a:solidFill>
                <a:srgbClr val="0000FF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0CDEB97-A7B5-0354-0D5F-2B471BF5774B}"/>
              </a:ext>
            </a:extLst>
          </p:cNvPr>
          <p:cNvSpPr txBox="1"/>
          <p:nvPr/>
        </p:nvSpPr>
        <p:spPr>
          <a:xfrm>
            <a:off x="5684432" y="4929869"/>
            <a:ext cx="3435450" cy="5232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pPr algn="l"/>
            <a:r>
              <a:rPr lang="pt-BR" sz="2800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Cálculo Bayesiano 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65DAC77-4A47-8EEF-B435-5B7D0BB648F5}"/>
              </a:ext>
            </a:extLst>
          </p:cNvPr>
          <p:cNvGrpSpPr/>
          <p:nvPr/>
        </p:nvGrpSpPr>
        <p:grpSpPr>
          <a:xfrm>
            <a:off x="5603797" y="4080600"/>
            <a:ext cx="3562373" cy="807800"/>
            <a:chOff x="5603797" y="4318842"/>
            <a:chExt cx="3562373" cy="807800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C3EC18C3-3A32-2696-B83E-4B68C482D2A1}"/>
                </a:ext>
              </a:extLst>
            </p:cNvPr>
            <p:cNvSpPr txBox="1"/>
            <p:nvPr/>
          </p:nvSpPr>
          <p:spPr>
            <a:xfrm>
              <a:off x="5603797" y="4318842"/>
              <a:ext cx="3355652" cy="492443"/>
            </a:xfrm>
            <a:prstGeom prst="rect">
              <a:avLst/>
            </a:prstGeom>
            <a:noFill/>
            <a:effectLst/>
          </p:spPr>
          <p:txBody>
            <a:bodyPr wrap="square">
              <a:spAutoFit/>
            </a:bodyPr>
            <a:lstStyle>
              <a:defPPr>
                <a:defRPr lang="LID4096"/>
              </a:defPPr>
              <a:lvl1pPr algn="ctr">
                <a:defRPr b="1">
                  <a:latin typeface="Calibri" panose="020F0502020204030204" pitchFamily="34" charset="0"/>
                  <a:cs typeface="Times New Roman" panose="02020603050405020304" pitchFamily="18" charset="0"/>
                </a:defRPr>
              </a:lvl1pPr>
            </a:lstStyle>
            <a:p>
              <a:pPr algn="r"/>
              <a:r>
                <a:rPr lang="pt-BR" sz="2600" b="0" dirty="0">
                  <a:solidFill>
                    <a:srgbClr val="00B05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P</a:t>
              </a:r>
              <a:r>
                <a:rPr lang="pt-BR" sz="2600" b="0" dirty="0">
                  <a:solidFill>
                    <a:srgbClr val="00B050"/>
                  </a:solidFill>
                </a:rPr>
                <a:t>arameter </a:t>
              </a:r>
              <a:r>
                <a:rPr lang="pt-BR" sz="2600" b="0" dirty="0">
                  <a:solidFill>
                    <a:srgbClr val="00B05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EST</a:t>
              </a:r>
              <a:r>
                <a:rPr lang="pt-BR" sz="2600" b="0" dirty="0">
                  <a:solidFill>
                    <a:srgbClr val="00B050"/>
                  </a:solidFill>
                </a:rPr>
                <a:t>imation 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C29E09F7-064E-4EAC-8645-7453D785D645}"/>
                </a:ext>
              </a:extLst>
            </p:cNvPr>
            <p:cNvSpPr txBox="1"/>
            <p:nvPr/>
          </p:nvSpPr>
          <p:spPr>
            <a:xfrm>
              <a:off x="5830296" y="4634199"/>
              <a:ext cx="3335874" cy="492443"/>
            </a:xfrm>
            <a:prstGeom prst="rect">
              <a:avLst/>
            </a:prstGeom>
            <a:noFill/>
            <a:effectLst/>
          </p:spPr>
          <p:txBody>
            <a:bodyPr wrap="square">
              <a:spAutoFit/>
            </a:bodyPr>
            <a:lstStyle>
              <a:defPPr>
                <a:defRPr lang="LID4096"/>
              </a:defPPr>
              <a:lvl1pPr algn="ctr">
                <a:defRPr b="1">
                  <a:latin typeface="Calibri" panose="020F0502020204030204" pitchFamily="34" charset="0"/>
                  <a:cs typeface="Times New Roman" panose="02020603050405020304" pitchFamily="18" charset="0"/>
                </a:defRPr>
              </a:lvl1pPr>
            </a:lstStyle>
            <a:p>
              <a:pPr algn="l"/>
              <a:r>
                <a:rPr lang="pt-BR" sz="2600" b="0" dirty="0">
                  <a:solidFill>
                    <a:srgbClr val="00B050"/>
                  </a:solidFill>
                </a:rPr>
                <a:t>software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AF1CB2C5-4245-AE01-69F4-EBA5EAE896D7}"/>
                </a:ext>
              </a:extLst>
            </p:cNvPr>
            <p:cNvSpPr txBox="1"/>
            <p:nvPr/>
          </p:nvSpPr>
          <p:spPr>
            <a:xfrm>
              <a:off x="6848720" y="4631617"/>
              <a:ext cx="2097319" cy="492443"/>
            </a:xfrm>
            <a:prstGeom prst="rect">
              <a:avLst/>
            </a:prstGeom>
            <a:noFill/>
            <a:effectLst/>
          </p:spPr>
          <p:txBody>
            <a:bodyPr wrap="square">
              <a:spAutoFit/>
            </a:bodyPr>
            <a:lstStyle>
              <a:defPPr>
                <a:defRPr lang="LID4096"/>
              </a:defPPr>
              <a:lvl1pPr algn="ctr">
                <a:defRPr b="1">
                  <a:latin typeface="Calibri" panose="020F0502020204030204" pitchFamily="34" charset="0"/>
                  <a:cs typeface="Times New Roman" panose="02020603050405020304" pitchFamily="18" charset="0"/>
                </a:defRPr>
              </a:lvl1pPr>
            </a:lstStyle>
            <a:p>
              <a:pPr algn="r"/>
              <a:r>
                <a:rPr lang="pt-BR" sz="2600" dirty="0">
                  <a:solidFill>
                    <a:srgbClr val="00B05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PEST</a:t>
              </a:r>
              <a:endParaRPr lang="pt-BR" sz="2600" dirty="0">
                <a:solidFill>
                  <a:srgbClr val="00B050"/>
                </a:solidFill>
              </a:endParaRPr>
            </a:p>
          </p:txBody>
        </p:sp>
      </p:grp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09D9513B-1770-602B-B4E3-60DDB47A4036}"/>
              </a:ext>
            </a:extLst>
          </p:cNvPr>
          <p:cNvSpPr/>
          <p:nvPr/>
        </p:nvSpPr>
        <p:spPr>
          <a:xfrm>
            <a:off x="7949214" y="129872"/>
            <a:ext cx="3829129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“pausa”</a:t>
            </a:r>
          </a:p>
        </p:txBody>
      </p:sp>
    </p:spTree>
    <p:extLst>
      <p:ext uri="{BB962C8B-B14F-4D97-AF65-F5344CB8AC3E}">
        <p14:creationId xmlns:p14="http://schemas.microsoft.com/office/powerpoint/2010/main" val="4205848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B8066-97B5-71AA-F8AF-A16FEFF58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EBA8666F-DACB-D6A4-06A5-8BCF1C9830F4}"/>
              </a:ext>
            </a:extLst>
          </p:cNvPr>
          <p:cNvSpPr/>
          <p:nvPr/>
        </p:nvSpPr>
        <p:spPr>
          <a:xfrm>
            <a:off x="20996" y="0"/>
            <a:ext cx="12192000" cy="6858000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EA5FA2-383C-07C7-77EF-DD5A237C4F7A}"/>
              </a:ext>
            </a:extLst>
          </p:cNvPr>
          <p:cNvSpPr txBox="1"/>
          <p:nvPr/>
        </p:nvSpPr>
        <p:spPr>
          <a:xfrm>
            <a:off x="4458788" y="6557719"/>
            <a:ext cx="7753858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r">
              <a:defRPr sz="1200" b="1">
                <a:solidFill>
                  <a:schemeClr val="accent2"/>
                </a:solidFill>
              </a:defRPr>
            </a:lvl1pPr>
          </a:lstStyle>
          <a:p>
            <a:r>
              <a:rPr lang="LID4096" sz="1300" dirty="0"/>
              <a:t>https://betami2022.wixsite.com/betami/home-2/t01-spatial-variances/02-inversion/03-iteractive-solution</a:t>
            </a:r>
          </a:p>
        </p:txBody>
      </p:sp>
      <p:pic>
        <p:nvPicPr>
          <p:cNvPr id="3" name="Picture 2" descr="Excel - GET – Engenharia de Produção">
            <a:extLst>
              <a:ext uri="{FF2B5EF4-FFF2-40B4-BE49-F238E27FC236}">
                <a16:creationId xmlns:a16="http://schemas.microsoft.com/office/drawing/2014/main" id="{F3E7C73D-2352-2B9A-34DE-876331FF10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58601" y="6331131"/>
            <a:ext cx="831771" cy="46673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A31C697-21E1-FF29-DF9F-874264E011F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0912" t="6836" r="2004" b="5816"/>
          <a:stretch>
            <a:fillRect/>
          </a:stretch>
        </p:blipFill>
        <p:spPr>
          <a:xfrm>
            <a:off x="380618" y="250253"/>
            <a:ext cx="4163828" cy="1457060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3F7AA29-0BE6-0698-7458-D62C93D73D4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643" t="31619" r="67852" b="53270"/>
          <a:stretch>
            <a:fillRect/>
          </a:stretch>
        </p:blipFill>
        <p:spPr>
          <a:xfrm>
            <a:off x="4900814" y="250253"/>
            <a:ext cx="2432364" cy="1797067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733DF04-6607-2E39-403C-17A73F773BE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7432"/>
          <a:stretch>
            <a:fillRect/>
          </a:stretch>
        </p:blipFill>
        <p:spPr>
          <a:xfrm>
            <a:off x="7530420" y="250253"/>
            <a:ext cx="4211060" cy="1804971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EDC37B8-F704-E22C-1D8A-4A6F6FC5614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61114"/>
          <a:stretch>
            <a:fillRect/>
          </a:stretch>
        </p:blipFill>
        <p:spPr>
          <a:xfrm>
            <a:off x="380616" y="1900034"/>
            <a:ext cx="4163829" cy="1877796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910ACC8-839E-77DE-8CFA-AE2B14F7342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53597"/>
          <a:stretch>
            <a:fillRect/>
          </a:stretch>
        </p:blipFill>
        <p:spPr>
          <a:xfrm>
            <a:off x="380616" y="3890534"/>
            <a:ext cx="4163829" cy="2240815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FAECF472-CC45-2A4A-ABD6-C4015444BFF2}"/>
              </a:ext>
            </a:extLst>
          </p:cNvPr>
          <p:cNvSpPr txBox="1"/>
          <p:nvPr/>
        </p:nvSpPr>
        <p:spPr>
          <a:xfrm>
            <a:off x="4254914" y="6261708"/>
            <a:ext cx="791609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r">
              <a:defRPr sz="1300" b="1">
                <a:solidFill>
                  <a:schemeClr val="accent2"/>
                </a:solidFill>
              </a:defRPr>
            </a:lvl1pPr>
          </a:lstStyle>
          <a:p>
            <a:r>
              <a:rPr lang="LID4096" dirty="0"/>
              <a:t>Olsthoorn T. N. 1985 The power of electronic worksheet</a:t>
            </a:r>
            <a:r>
              <a:rPr lang="pt-BR" dirty="0"/>
              <a:t> </a:t>
            </a:r>
            <a:r>
              <a:rPr lang="LID4096" dirty="0"/>
              <a:t>modelling without special programs.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2800276-84F7-8F90-B60F-3B7D30A4B1CC}"/>
              </a:ext>
            </a:extLst>
          </p:cNvPr>
          <p:cNvSpPr/>
          <p:nvPr/>
        </p:nvSpPr>
        <p:spPr>
          <a:xfrm>
            <a:off x="7530419" y="258157"/>
            <a:ext cx="3381186" cy="473820"/>
          </a:xfrm>
          <a:prstGeom prst="rect">
            <a:avLst/>
          </a:prstGeom>
          <a:noFill/>
          <a:ln w="38100">
            <a:solidFill>
              <a:srgbClr val="FF000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38519A4A-141D-D171-7480-DEF7311CAFD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04065" y="2741117"/>
            <a:ext cx="3581400" cy="619125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D761A28C-46F3-F684-D7B7-702EBD04258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09423" y="3510213"/>
            <a:ext cx="6832057" cy="815443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CA3E9A9E-CD38-9566-1344-DDA2A522AE1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04065" y="4474686"/>
            <a:ext cx="6524625" cy="809625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CB87C817-D3D2-D703-247F-2F16B793F399}"/>
              </a:ext>
            </a:extLst>
          </p:cNvPr>
          <p:cNvSpPr txBox="1"/>
          <p:nvPr/>
        </p:nvSpPr>
        <p:spPr>
          <a:xfrm>
            <a:off x="5723314" y="5352573"/>
            <a:ext cx="601816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800" b="1" noProof="0" dirty="0">
                <a:solidFill>
                  <a:srgbClr val="0000FF"/>
                </a:solidFill>
                <a:latin typeface="Horley Old Style MT"/>
              </a:rPr>
              <a:t>Método de Diferenças finitas (FDM)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F1ACEC6-AB24-CFCA-457B-836701420B97}"/>
                  </a:ext>
                </a:extLst>
              </p:cNvPr>
              <p:cNvSpPr txBox="1"/>
              <p:nvPr/>
            </p:nvSpPr>
            <p:spPr>
              <a:xfrm>
                <a:off x="8870630" y="2357158"/>
                <a:ext cx="2870850" cy="876137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</a:ln>
            </p:spPr>
            <p:txBody>
              <a:bodyPr wrap="none" lIns="91440" tIns="91440" rIns="91440" bIns="9144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pt-BR" sz="2400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pt-BR" sz="24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  <m:r>
                            <a:rPr lang="pt-BR" sz="24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24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  <m:r>
                            <a:rPr lang="pt-BR" sz="24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24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𝑫</m:t>
                          </m:r>
                          <m:r>
                            <a:rPr lang="pt-BR" sz="24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24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𝑬</m:t>
                          </m:r>
                        </m:num>
                        <m:den>
                          <m:r>
                            <a:rPr lang="pt-BR" sz="24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𝟒</m:t>
                          </m:r>
                        </m:den>
                      </m:f>
                    </m:oMath>
                  </m:oMathPara>
                </a14:m>
                <a:endParaRPr lang="LID4096" sz="2400" b="1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F1ACEC6-AB24-CFCA-457B-836701420B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70630" y="2357158"/>
                <a:ext cx="2870850" cy="87613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28575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169283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8A58A-6C46-866C-0D85-59A28878F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B9457490-AF82-8A4F-4217-133C98BFD39C}"/>
              </a:ext>
            </a:extLst>
          </p:cNvPr>
          <p:cNvSpPr/>
          <p:nvPr/>
        </p:nvSpPr>
        <p:spPr>
          <a:xfrm>
            <a:off x="20996" y="0"/>
            <a:ext cx="12192000" cy="6858000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0D87D8A-63D3-DE88-AC58-65983C3CBD20}"/>
              </a:ext>
            </a:extLst>
          </p:cNvPr>
          <p:cNvSpPr txBox="1"/>
          <p:nvPr/>
        </p:nvSpPr>
        <p:spPr>
          <a:xfrm>
            <a:off x="3758601" y="6522885"/>
            <a:ext cx="845404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r">
              <a:defRPr sz="1200" b="1">
                <a:solidFill>
                  <a:schemeClr val="accent2"/>
                </a:solidFill>
              </a:defRPr>
            </a:lvl1pPr>
          </a:lstStyle>
          <a:p>
            <a:r>
              <a:rPr lang="en-GB" sz="1600" dirty="0"/>
              <a:t>Introduction to Numerical Methods for Variational Problems - Langtangen &amp; Mardal</a:t>
            </a:r>
            <a:endParaRPr lang="LID4096" sz="1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D57BD3-C764-19EA-F734-0FE64B33778E}"/>
              </a:ext>
            </a:extLst>
          </p:cNvPr>
          <p:cNvSpPr txBox="1"/>
          <p:nvPr/>
        </p:nvSpPr>
        <p:spPr>
          <a:xfrm>
            <a:off x="5723314" y="5352573"/>
            <a:ext cx="601816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800" b="1" noProof="0" dirty="0">
                <a:latin typeface="Horley Old Style MT"/>
              </a:rPr>
              <a:t>Método de Volumes finitos    (FVM)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E5F1433-02AA-1EDC-8570-831A44EEE3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974" y="1259944"/>
            <a:ext cx="3413627" cy="337279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21F7F86-E502-BFD3-8743-2969849D7261}"/>
              </a:ext>
            </a:extLst>
          </p:cNvPr>
          <p:cNvSpPr txBox="1"/>
          <p:nvPr/>
        </p:nvSpPr>
        <p:spPr>
          <a:xfrm>
            <a:off x="385885" y="594907"/>
            <a:ext cx="601816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800" b="1" noProof="0" dirty="0">
                <a:latin typeface="Horley Old Style MT"/>
              </a:rPr>
              <a:t>Malha triangular - irregular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A51EF00-3CB9-63AE-145E-DE141466D7AF}"/>
              </a:ext>
            </a:extLst>
          </p:cNvPr>
          <p:cNvGrpSpPr/>
          <p:nvPr/>
        </p:nvGrpSpPr>
        <p:grpSpPr>
          <a:xfrm>
            <a:off x="4788721" y="369670"/>
            <a:ext cx="6848475" cy="3926818"/>
            <a:chOff x="5118870" y="351029"/>
            <a:chExt cx="6848475" cy="3926818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08E7F1FA-FA45-4E27-9C92-44E6825D738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01864" y="351029"/>
              <a:ext cx="2609850" cy="123825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F9DDA495-BA6E-A1F1-A64A-8C74B43EB06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118870" y="1704265"/>
              <a:ext cx="3838575" cy="76200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71BEE937-7FF7-51AC-CCBF-60D3F104E3A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118870" y="2573835"/>
              <a:ext cx="6848475" cy="809625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303EA25C-9777-90A3-5D8E-75F0603B056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414394" y="3496797"/>
              <a:ext cx="2257425" cy="78105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30" name="Picture 29">
            <a:extLst>
              <a:ext uri="{FF2B5EF4-FFF2-40B4-BE49-F238E27FC236}">
                <a16:creationId xmlns:a16="http://schemas.microsoft.com/office/drawing/2014/main" id="{2DCA818B-6DA0-345C-BDBF-43642CF8F312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6027" t="14307" r="35724" b="19738"/>
          <a:stretch>
            <a:fillRect/>
          </a:stretch>
        </p:blipFill>
        <p:spPr>
          <a:xfrm>
            <a:off x="3901441" y="3667204"/>
            <a:ext cx="1429472" cy="282035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8581294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B372A31-4535-5889-B031-7F639D5F8DA2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9D5A93-641C-ED55-E5B0-9FA35FCBAEB8}"/>
              </a:ext>
            </a:extLst>
          </p:cNvPr>
          <p:cNvSpPr txBox="1"/>
          <p:nvPr/>
        </p:nvSpPr>
        <p:spPr>
          <a:xfrm>
            <a:off x="932749" y="493157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i="0" u="none" strike="noStrike" baseline="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IL"/>
              </a:rPr>
              <a:t>Heat Affected Zone (HAZ)</a:t>
            </a:r>
            <a:endParaRPr lang="LID4096" sz="6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6D3E41-9434-80D6-4E99-7BB9A2B55FCD}"/>
              </a:ext>
            </a:extLst>
          </p:cNvPr>
          <p:cNvSpPr txBox="1"/>
          <p:nvPr/>
        </p:nvSpPr>
        <p:spPr>
          <a:xfrm>
            <a:off x="1919770" y="1607436"/>
            <a:ext cx="5259704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i="0" u="none" strike="noStrike" baseline="0" dirty="0">
                <a:solidFill>
                  <a:srgbClr val="000000"/>
                </a:solidFill>
                <a:latin typeface="Charis SIL"/>
              </a:rPr>
              <a:t>the balance of energy equation</a:t>
            </a:r>
          </a:p>
          <a:p>
            <a:r>
              <a:rPr lang="en-GB" sz="2800" b="1" dirty="0">
                <a:solidFill>
                  <a:srgbClr val="000000"/>
                </a:solidFill>
                <a:latin typeface="Charis SIL"/>
              </a:rPr>
              <a:t>    + </a:t>
            </a:r>
            <a:r>
              <a:rPr lang="en-GB" sz="2800" b="1" i="0" u="none" strike="noStrike" baseline="0" dirty="0">
                <a:solidFill>
                  <a:srgbClr val="000000"/>
                </a:solidFill>
                <a:latin typeface="Charis SIL"/>
              </a:rPr>
              <a:t>phase change </a:t>
            </a:r>
          </a:p>
          <a:p>
            <a:r>
              <a:rPr lang="en-GB" sz="2800" b="1" dirty="0">
                <a:solidFill>
                  <a:srgbClr val="000000"/>
                </a:solidFill>
                <a:latin typeface="Charis SIL"/>
              </a:rPr>
              <a:t>    + </a:t>
            </a:r>
            <a:r>
              <a:rPr lang="en-GB" sz="2800" b="1" i="0" u="none" strike="noStrike" baseline="0" dirty="0">
                <a:solidFill>
                  <a:srgbClr val="000000"/>
                </a:solidFill>
                <a:latin typeface="Charis SIL"/>
              </a:rPr>
              <a:t>growing domain</a:t>
            </a:r>
            <a:endParaRPr lang="LID4096" sz="28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D6F1F8-B1CC-6223-0A12-E2FCBA87E2E9}"/>
              </a:ext>
            </a:extLst>
          </p:cNvPr>
          <p:cNvSpPr txBox="1"/>
          <p:nvPr/>
        </p:nvSpPr>
        <p:spPr>
          <a:xfrm>
            <a:off x="1911825" y="1022425"/>
            <a:ext cx="498927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3200" b="1" i="0" u="none" strike="noStrike" baseline="0">
                <a:solidFill>
                  <a:srgbClr val="0000FF"/>
                </a:solidFill>
                <a:latin typeface="Charis SIL"/>
              </a:defRPr>
            </a:lvl1pPr>
          </a:lstStyle>
          <a:p>
            <a:r>
              <a:rPr lang="LID4096" dirty="0"/>
              <a:t>multi-timestep</a:t>
            </a:r>
            <a:r>
              <a:rPr lang="pt-BR" dirty="0"/>
              <a:t> </a:t>
            </a:r>
            <a:r>
              <a:rPr lang="LID4096" dirty="0"/>
              <a:t>method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D2A4ADE-6940-4338-444E-1058736549F8}"/>
              </a:ext>
            </a:extLst>
          </p:cNvPr>
          <p:cNvSpPr txBox="1"/>
          <p:nvPr/>
        </p:nvSpPr>
        <p:spPr>
          <a:xfrm>
            <a:off x="1919770" y="2925463"/>
            <a:ext cx="555124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i="0" u="none" strike="noStrike" baseline="0" dirty="0">
                <a:solidFill>
                  <a:srgbClr val="0000FF"/>
                </a:solidFill>
                <a:latin typeface="Charis SIL"/>
              </a:rPr>
              <a:t>born-dead element technique</a:t>
            </a:r>
            <a:endParaRPr lang="LID4096" sz="3200" b="1" dirty="0">
              <a:solidFill>
                <a:srgbClr val="0000FF"/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36A24B8-634C-02D0-93D4-D9DF7CAD6657}"/>
              </a:ext>
            </a:extLst>
          </p:cNvPr>
          <p:cNvSpPr/>
          <p:nvPr/>
        </p:nvSpPr>
        <p:spPr>
          <a:xfrm>
            <a:off x="43544" y="-21164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EX: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2F8370-15B6-DACC-BCFC-1469ED22D519}"/>
              </a:ext>
            </a:extLst>
          </p:cNvPr>
          <p:cNvSpPr txBox="1"/>
          <p:nvPr/>
        </p:nvSpPr>
        <p:spPr>
          <a:xfrm>
            <a:off x="5529943" y="10085"/>
            <a:ext cx="6653348" cy="98488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1400" b="1" i="0" u="none" strike="noStrike" baseline="0">
                <a:solidFill>
                  <a:schemeClr val="accent2"/>
                </a:solidFill>
                <a:latin typeface="AdvOTa2fa4214.B"/>
              </a:defRPr>
            </a:lvl1pPr>
          </a:lstStyle>
          <a:p>
            <a:pPr algn="r"/>
            <a:endParaRPr lang="pt-BR" sz="600" dirty="0"/>
          </a:p>
          <a:p>
            <a:pPr algn="r"/>
            <a:r>
              <a:rPr lang="LID4096" sz="1500" dirty="0"/>
              <a:t>A Chimera method for thermal part-scale metal Additive Manufacturing simulation</a:t>
            </a:r>
            <a:endParaRPr lang="pt-BR" sz="1500" dirty="0"/>
          </a:p>
          <a:p>
            <a:pPr algn="r"/>
            <a:endParaRPr lang="pt-BR" sz="700" dirty="0"/>
          </a:p>
          <a:p>
            <a:pPr algn="r"/>
            <a:r>
              <a:rPr lang="en-GB" sz="1500" dirty="0"/>
              <a:t> Substepped and advected subdomain methods for part-scale LPBF modeling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1D1FCE-5F00-2706-314B-BE896338B840}"/>
              </a:ext>
            </a:extLst>
          </p:cNvPr>
          <p:cNvSpPr txBox="1"/>
          <p:nvPr/>
        </p:nvSpPr>
        <p:spPr>
          <a:xfrm>
            <a:off x="9379131" y="5564404"/>
            <a:ext cx="2626768" cy="954107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defPPr>
              <a:defRPr lang="LID4096"/>
            </a:defPPr>
            <a:lvl1pPr algn="r">
              <a:defRPr sz="1400" b="1" i="0" u="none" strike="noStrike" baseline="0">
                <a:solidFill>
                  <a:schemeClr val="accent2"/>
                </a:solidFill>
                <a:latin typeface="AdvOTa2fa4214.B"/>
              </a:defRPr>
            </a:lvl1pPr>
          </a:lstStyle>
          <a:p>
            <a:pPr algn="l"/>
            <a:r>
              <a:rPr lang="en-US" dirty="0"/>
              <a:t>https://github.com/ordinary-slim/moving_heat_source</a:t>
            </a:r>
          </a:p>
          <a:p>
            <a:pPr algn="l"/>
            <a:endParaRPr lang="en-US" dirty="0"/>
          </a:p>
          <a:p>
            <a:pPr algn="l"/>
            <a:r>
              <a:rPr lang="en-US" dirty="0"/>
              <a:t>https://github.com/ordinary-slim/mhs_fenicsx</a:t>
            </a:r>
            <a:endParaRPr lang="LID4096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8B6F600-1C78-7F24-F815-C3A14DCAA551}"/>
              </a:ext>
            </a:extLst>
          </p:cNvPr>
          <p:cNvGrpSpPr/>
          <p:nvPr/>
        </p:nvGrpSpPr>
        <p:grpSpPr>
          <a:xfrm>
            <a:off x="7956326" y="5581694"/>
            <a:ext cx="1267040" cy="1169552"/>
            <a:chOff x="10297180" y="4379027"/>
            <a:chExt cx="1724445" cy="1724444"/>
          </a:xfrm>
        </p:grpSpPr>
        <p:pic>
          <p:nvPicPr>
            <p:cNvPr id="1026" name="Picture 2" descr="Docker Desktop - Baixar e instalar no Windows | Microsoft Store">
              <a:extLst>
                <a:ext uri="{FF2B5EF4-FFF2-40B4-BE49-F238E27FC236}">
                  <a16:creationId xmlns:a16="http://schemas.microsoft.com/office/drawing/2014/main" id="{E439F3FD-A5F5-4B3B-082E-52EA20AA712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297180" y="4379027"/>
              <a:ext cx="1724444" cy="1724444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A16DC95-9F13-6385-859E-7BB8ABB2FD32}"/>
                </a:ext>
              </a:extLst>
            </p:cNvPr>
            <p:cNvSpPr txBox="1"/>
            <p:nvPr/>
          </p:nvSpPr>
          <p:spPr>
            <a:xfrm>
              <a:off x="10297181" y="5545754"/>
              <a:ext cx="1724444" cy="49484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GB" sz="20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haris SIL"/>
                </a:rPr>
                <a:t>docker</a:t>
              </a:r>
              <a:endParaRPr lang="LID4096" sz="2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1393058E-FCBA-836A-7AD4-4E787CCCC394}"/>
              </a:ext>
            </a:extLst>
          </p:cNvPr>
          <p:cNvSpPr txBox="1"/>
          <p:nvPr/>
        </p:nvSpPr>
        <p:spPr>
          <a:xfrm>
            <a:off x="8037839" y="1780689"/>
            <a:ext cx="361091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noProof="0" dirty="0"/>
              <a:t>moving mesh</a:t>
            </a:r>
          </a:p>
          <a:p>
            <a:r>
              <a:rPr lang="en-GB" sz="3200" noProof="0" dirty="0"/>
              <a:t>moving heat source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0656F5F-1576-55B7-719C-676633D10FD4}"/>
              </a:ext>
            </a:extLst>
          </p:cNvPr>
          <p:cNvSpPr txBox="1"/>
          <p:nvPr/>
        </p:nvSpPr>
        <p:spPr>
          <a:xfrm>
            <a:off x="7028749" y="812347"/>
            <a:ext cx="431975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noProof="0" dirty="0"/>
              <a:t>Simulação do processo 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BC5EBAF-16D2-D819-2ED6-F51AC81BB241}"/>
              </a:ext>
            </a:extLst>
          </p:cNvPr>
          <p:cNvSpPr txBox="1"/>
          <p:nvPr/>
        </p:nvSpPr>
        <p:spPr>
          <a:xfrm>
            <a:off x="7198942" y="1293596"/>
            <a:ext cx="361091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noProof="0" dirty="0"/>
              <a:t>Digital twin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2EFCAE55-6849-908E-1D20-7B0FA38E1293}"/>
              </a:ext>
            </a:extLst>
          </p:cNvPr>
          <p:cNvGrpSpPr/>
          <p:nvPr/>
        </p:nvGrpSpPr>
        <p:grpSpPr>
          <a:xfrm>
            <a:off x="374391" y="1135820"/>
            <a:ext cx="1568161" cy="2483850"/>
            <a:chOff x="374391" y="857146"/>
            <a:chExt cx="1568161" cy="248385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CA99D9C9-9B3A-C2E2-304D-58E8755D1B5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6027" t="14307" r="35724" b="19738"/>
            <a:stretch>
              <a:fillRect/>
            </a:stretch>
          </p:blipFill>
          <p:spPr>
            <a:xfrm>
              <a:off x="374391" y="857146"/>
              <a:ext cx="1383223" cy="248385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FB66D9E-A07D-480A-7599-210FB52BF78C}"/>
                </a:ext>
              </a:extLst>
            </p:cNvPr>
            <p:cNvSpPr txBox="1"/>
            <p:nvPr/>
          </p:nvSpPr>
          <p:spPr>
            <a:xfrm>
              <a:off x="494748" y="2506030"/>
              <a:ext cx="1447804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GB" sz="20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haris SIL"/>
                </a:rPr>
                <a:t>&amp; FEniCS</a:t>
              </a:r>
              <a:endParaRPr lang="LID4096" sz="2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  <p:pic>
        <p:nvPicPr>
          <p:cNvPr id="31" name="Picture 30">
            <a:extLst>
              <a:ext uri="{FF2B5EF4-FFF2-40B4-BE49-F238E27FC236}">
                <a16:creationId xmlns:a16="http://schemas.microsoft.com/office/drawing/2014/main" id="{9BE85373-BC3F-9B58-4980-C20D32520B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6326" y="3002465"/>
            <a:ext cx="4049573" cy="1869409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4BF5D71F-04B0-53C9-2924-E16E80EEB7B6}"/>
              </a:ext>
            </a:extLst>
          </p:cNvPr>
          <p:cNvSpPr txBox="1"/>
          <p:nvPr/>
        </p:nvSpPr>
        <p:spPr>
          <a:xfrm>
            <a:off x="3098074" y="3579505"/>
            <a:ext cx="621356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3200"/>
            </a:lvl1pPr>
          </a:lstStyle>
          <a:p>
            <a:r>
              <a:rPr lang="en-US" dirty="0"/>
              <a:t>Adaptive Mesh Refinement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0579068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C9222A-9492-AA17-C0D6-DC7318DCE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4740BF3-63E3-C8C6-CE42-9B97287FAA01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86CF508-4D21-04D6-D9BD-66C6D92A5576}"/>
              </a:ext>
            </a:extLst>
          </p:cNvPr>
          <p:cNvGrpSpPr/>
          <p:nvPr/>
        </p:nvGrpSpPr>
        <p:grpSpPr>
          <a:xfrm>
            <a:off x="572120" y="3379884"/>
            <a:ext cx="1892406" cy="3115100"/>
            <a:chOff x="374391" y="857146"/>
            <a:chExt cx="1568161" cy="248385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A0C1421-FE0A-BAB5-B8DE-94656253CDA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36027" t="14307" r="35724" b="19738"/>
            <a:stretch>
              <a:fillRect/>
            </a:stretch>
          </p:blipFill>
          <p:spPr>
            <a:xfrm>
              <a:off x="374391" y="857146"/>
              <a:ext cx="1383223" cy="248385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A59F902-334A-E338-A45E-05726B904658}"/>
                </a:ext>
              </a:extLst>
            </p:cNvPr>
            <p:cNvSpPr txBox="1"/>
            <p:nvPr/>
          </p:nvSpPr>
          <p:spPr>
            <a:xfrm>
              <a:off x="494748" y="2506030"/>
              <a:ext cx="1447804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GB" sz="20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haris SIL"/>
                </a:rPr>
                <a:t>&amp; FEniCS</a:t>
              </a:r>
              <a:endParaRPr lang="LID4096" sz="2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836E7166-E25A-B67F-7277-56A424F877FF}"/>
              </a:ext>
            </a:extLst>
          </p:cNvPr>
          <p:cNvSpPr txBox="1"/>
          <p:nvPr/>
        </p:nvSpPr>
        <p:spPr>
          <a:xfrm>
            <a:off x="2539530" y="5889445"/>
            <a:ext cx="300401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r">
              <a:defRPr sz="1200" b="1">
                <a:solidFill>
                  <a:schemeClr val="accent2"/>
                </a:solidFill>
              </a:defRPr>
            </a:lvl1pPr>
          </a:lstStyle>
          <a:p>
            <a:pPr algn="l"/>
            <a:r>
              <a:rPr lang="LID4096" dirty="0"/>
              <a:t>https://github.com/grossiRM/CFD_ON/blob/main/04_OpenFoam/FEniCS/01b__A%20FEniCS%20Tutorial__ii__.pdf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5CE0701-1BD0-FFB4-2EE1-C185DBB1C963}"/>
              </a:ext>
            </a:extLst>
          </p:cNvPr>
          <p:cNvSpPr txBox="1"/>
          <p:nvPr/>
        </p:nvSpPr>
        <p:spPr>
          <a:xfrm>
            <a:off x="572120" y="2596931"/>
            <a:ext cx="61961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b="1" i="0" u="none" strike="noStrike" baseline="0" dirty="0">
                <a:solidFill>
                  <a:srgbClr val="04174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XvlwhpYpshnbMyriadPro-Cond"/>
              </a:rPr>
              <a:t>Solving PDEs in Python</a:t>
            </a:r>
            <a:endParaRPr lang="LID4096" sz="3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1FE7E11-2CEA-4B92-EDB7-1E99351A1467}"/>
              </a:ext>
            </a:extLst>
          </p:cNvPr>
          <p:cNvSpPr txBox="1"/>
          <p:nvPr/>
        </p:nvSpPr>
        <p:spPr>
          <a:xfrm>
            <a:off x="2539530" y="3750704"/>
            <a:ext cx="279554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2800" b="1" i="0" u="none" strike="noStrike" baseline="0">
                <a:solidFill>
                  <a:srgbClr val="041743"/>
                </a:solidFill>
                <a:latin typeface="XvlwhpYpshnbMyriadPro-Cond"/>
              </a:defRPr>
            </a:lvl1pPr>
          </a:lstStyle>
          <a:p>
            <a:r>
              <a:rPr lang="en-US" sz="3600" spc="200" normalizeH="1" dirty="0"/>
              <a:t>Partial Differential Equations</a:t>
            </a:r>
            <a:endParaRPr lang="LID4096" sz="3600" spc="200" normalizeH="1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C577E94-F351-03B0-DB03-63A2BCB17C8A}"/>
              </a:ext>
            </a:extLst>
          </p:cNvPr>
          <p:cNvGrpSpPr/>
          <p:nvPr/>
        </p:nvGrpSpPr>
        <p:grpSpPr>
          <a:xfrm>
            <a:off x="6551024" y="1999209"/>
            <a:ext cx="4461584" cy="1024382"/>
            <a:chOff x="344381" y="5178922"/>
            <a:chExt cx="4461584" cy="102438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4CA7A9F8-F925-76FF-75B0-629C1578641C}"/>
                    </a:ext>
                  </a:extLst>
                </p:cNvPr>
                <p:cNvSpPr txBox="1"/>
                <p:nvPr/>
              </p:nvSpPr>
              <p:spPr>
                <a:xfrm>
                  <a:off x="344381" y="5178922"/>
                  <a:ext cx="3351861" cy="81926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2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𝝆</m:t>
                        </m:r>
                        <m:sSub>
                          <m:sSubPr>
                            <m:ctrlPr>
                              <a:rPr lang="pt-BR" sz="28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𝐕</m:t>
                            </m:r>
                          </m:sub>
                        </m:sSub>
                        <m:f>
                          <m:fPr>
                            <m:ctrlPr>
                              <a:rPr lang="pt-BR" sz="28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sz="2800" b="1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𝛛</m:t>
                            </m:r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𝐓</m:t>
                            </m:r>
                          </m:num>
                          <m:den>
                            <m:r>
                              <a:rPr lang="pt-BR" sz="2800" b="1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𝛛</m:t>
                            </m:r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𝐭</m:t>
                            </m:r>
                          </m:den>
                        </m:f>
                        <m:r>
                          <a:rPr lang="pt-B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𝐊</m:t>
                        </m:r>
                        <m:sSup>
                          <m:sSupPr>
                            <m:ctrlPr>
                              <a:rPr lang="el-GR" sz="28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pt-BR" sz="2800" b="1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𝛁</m:t>
                            </m:r>
                          </m:e>
                          <m:sup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  <m:r>
                          <a:rPr lang="pt-B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𝐓</m:t>
                        </m:r>
                        <m:r>
                          <a:rPr lang="pt-B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l-G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𝚽</m:t>
                        </m:r>
                      </m:oMath>
                    </m:oMathPara>
                  </a14:m>
                  <a:endParaRPr lang="LID4096" sz="2800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4CA7A9F8-F925-76FF-75B0-629C157864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381" y="5178922"/>
                  <a:ext cx="3351861" cy="819263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2F7A7F3-B9B5-C057-0C5B-F1321AA523D0}"/>
                </a:ext>
              </a:extLst>
            </p:cNvPr>
            <p:cNvSpPr txBox="1"/>
            <p:nvPr/>
          </p:nvSpPr>
          <p:spPr>
            <a:xfrm>
              <a:off x="2393134" y="5741639"/>
              <a:ext cx="24128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pPr algn="r"/>
              <a:r>
                <a:rPr lang="pt-BR" sz="2400" dirty="0"/>
                <a:t>Energia</a:t>
              </a:r>
              <a:endParaRPr lang="pt-BR" sz="3600" noProof="0" dirty="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5359375-7DDF-8F00-2640-51EE4CCB5727}"/>
              </a:ext>
            </a:extLst>
          </p:cNvPr>
          <p:cNvGrpSpPr/>
          <p:nvPr/>
        </p:nvGrpSpPr>
        <p:grpSpPr>
          <a:xfrm>
            <a:off x="6660264" y="486820"/>
            <a:ext cx="4384226" cy="461665"/>
            <a:chOff x="497166" y="3936503"/>
            <a:chExt cx="4384226" cy="461665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1DDC43F-B28A-D2AC-982A-64DF7EB773D3}"/>
                </a:ext>
              </a:extLst>
            </p:cNvPr>
            <p:cNvSpPr txBox="1"/>
            <p:nvPr/>
          </p:nvSpPr>
          <p:spPr>
            <a:xfrm>
              <a:off x="2446624" y="3936503"/>
              <a:ext cx="243476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pPr algn="r"/>
              <a:r>
                <a:rPr lang="pt-BR" sz="2400" dirty="0"/>
                <a:t>Continuidade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B20FA30E-EF5B-3FB7-B5E3-8EB4C971DB7B}"/>
                    </a:ext>
                  </a:extLst>
                </p:cNvPr>
                <p:cNvSpPr txBox="1"/>
                <p:nvPr/>
              </p:nvSpPr>
              <p:spPr>
                <a:xfrm>
                  <a:off x="497166" y="3960801"/>
                  <a:ext cx="1362232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2800" b="1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𝛁</m:t>
                        </m:r>
                        <m:r>
                          <a:rPr lang="pt-BR" sz="2800" b="1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</m:t>
                        </m:r>
                        <m:r>
                          <a:rPr lang="pt-BR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𝐕</m:t>
                        </m:r>
                        <m:r>
                          <a:rPr lang="pt-BR" sz="2800" b="1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pt-BR" sz="2800" b="1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𝟎</m:t>
                        </m:r>
                      </m:oMath>
                    </m:oMathPara>
                  </a14:m>
                  <a:endParaRPr lang="LID4096" sz="2800" b="1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071830DD-1380-76F1-6796-D0B84CB9A3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7166" y="3960801"/>
                  <a:ext cx="1362232" cy="43088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E4A8D73-4DC1-4093-7867-46F2544A3B3E}"/>
              </a:ext>
            </a:extLst>
          </p:cNvPr>
          <p:cNvGrpSpPr/>
          <p:nvPr/>
        </p:nvGrpSpPr>
        <p:grpSpPr>
          <a:xfrm>
            <a:off x="6616885" y="965878"/>
            <a:ext cx="4420480" cy="961129"/>
            <a:chOff x="453787" y="4363310"/>
            <a:chExt cx="4420480" cy="961129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BCEF011-11CB-D121-5610-80FDFB269F3C}"/>
                </a:ext>
              </a:extLst>
            </p:cNvPr>
            <p:cNvSpPr txBox="1"/>
            <p:nvPr/>
          </p:nvSpPr>
          <p:spPr>
            <a:xfrm>
              <a:off x="453787" y="4862774"/>
              <a:ext cx="442048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pPr algn="r"/>
              <a:r>
                <a:rPr lang="pt-BR" sz="2400" noProof="0" dirty="0"/>
                <a:t>Qde de movimento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59C9F6A9-D07B-3B92-FC55-5CBF287FFF50}"/>
                    </a:ext>
                  </a:extLst>
                </p:cNvPr>
                <p:cNvSpPr txBox="1"/>
                <p:nvPr/>
              </p:nvSpPr>
              <p:spPr>
                <a:xfrm>
                  <a:off x="497166" y="4363310"/>
                  <a:ext cx="3728585" cy="62946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pt-BR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𝝆</m:t>
                      </m:r>
                      <m:f>
                        <m:fPr>
                          <m:ctrlPr>
                            <a:rPr lang="pt-BR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b="1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𝛛</m:t>
                          </m:r>
                          <m:r>
                            <a:rPr lang="pt-BR" sz="2800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𝐕</m:t>
                          </m:r>
                        </m:num>
                        <m:den>
                          <m:r>
                            <a:rPr lang="pt-BR" sz="2800" b="1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𝛛</m:t>
                          </m:r>
                          <m:r>
                            <a:rPr lang="pt-BR" sz="2800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𝐭</m:t>
                          </m:r>
                        </m:den>
                      </m:f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pt-BR" sz="2800" b="1" dirty="0">
                      <a:solidFill>
                        <a:schemeClr val="tx1"/>
                      </a:solidFill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pt-BR" sz="28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𝝆</m:t>
                      </m:r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𝐠</m:t>
                      </m:r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pt-BR" sz="2800" b="1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𝛁</m:t>
                      </m:r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𝐩</m:t>
                      </m:r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l-GR" sz="2800" b="1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𝛍</m:t>
                      </m:r>
                      <m:sSup>
                        <m:sSupPr>
                          <m:ctrlPr>
                            <a:rPr lang="el-GR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800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pt-BR" sz="2800" b="1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𝛁</m:t>
                          </m:r>
                        </m:e>
                        <m:sup>
                          <m:r>
                            <a:rPr lang="pt-BR" sz="2800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𝐕</m:t>
                      </m:r>
                    </m:oMath>
                  </a14:m>
                  <a:endParaRPr lang="LID4096" sz="2800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59C9F6A9-D07B-3B92-FC55-5CBF287FFF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7166" y="4363310"/>
                  <a:ext cx="3728585" cy="629468"/>
                </a:xfrm>
                <a:prstGeom prst="rect">
                  <a:avLst/>
                </a:prstGeom>
                <a:blipFill>
                  <a:blip r:embed="rId6"/>
                  <a:stretch>
                    <a:fillRect l="-164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FB2F2C2D-8B9A-EAA9-5C65-2C212AC3B5A0}"/>
              </a:ext>
            </a:extLst>
          </p:cNvPr>
          <p:cNvCxnSpPr/>
          <p:nvPr/>
        </p:nvCxnSpPr>
        <p:spPr>
          <a:xfrm>
            <a:off x="6899229" y="948485"/>
            <a:ext cx="3657600" cy="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39058F6-F450-1C0F-AD14-FF2F89E8D6A1}"/>
              </a:ext>
            </a:extLst>
          </p:cNvPr>
          <p:cNvCxnSpPr/>
          <p:nvPr/>
        </p:nvCxnSpPr>
        <p:spPr>
          <a:xfrm>
            <a:off x="6899229" y="1927007"/>
            <a:ext cx="3657600" cy="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 descr="arXiv:1810.00674v1 [cs.MS] 1 Oct 2018">
            <a:extLst>
              <a:ext uri="{FF2B5EF4-FFF2-40B4-BE49-F238E27FC236}">
                <a16:creationId xmlns:a16="http://schemas.microsoft.com/office/drawing/2014/main" id="{1E964518-229E-996F-896B-1D5B7193E29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992" b="38661"/>
          <a:stretch>
            <a:fillRect/>
          </a:stretch>
        </p:blipFill>
        <p:spPr bwMode="auto">
          <a:xfrm>
            <a:off x="7872557" y="5197675"/>
            <a:ext cx="3840956" cy="1376327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661968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DF4E0-5D6C-B8C8-041A-DE6633FC3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E15FF410-E3BF-58D3-73A2-5083553DA828}"/>
              </a:ext>
            </a:extLst>
          </p:cNvPr>
          <p:cNvSpPr/>
          <p:nvPr/>
        </p:nvSpPr>
        <p:spPr>
          <a:xfrm>
            <a:off x="-26401" y="0"/>
            <a:ext cx="12192000" cy="6858000"/>
          </a:xfrm>
          <a:prstGeom prst="rect">
            <a:avLst/>
          </a:prstGeom>
          <a:solidFill>
            <a:srgbClr val="FFFF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EE064A5-8F7C-19C4-3433-7FA8C1048AA1}"/>
              </a:ext>
            </a:extLst>
          </p:cNvPr>
          <p:cNvSpPr/>
          <p:nvPr/>
        </p:nvSpPr>
        <p:spPr>
          <a:xfrm>
            <a:off x="7796814" y="317105"/>
            <a:ext cx="3829129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 que é um modelo?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2092BC9-E253-837A-6F34-9AC90E7C3685}"/>
              </a:ext>
            </a:extLst>
          </p:cNvPr>
          <p:cNvGrpSpPr>
            <a:grpSpLocks noChangeAspect="1"/>
          </p:cNvGrpSpPr>
          <p:nvPr/>
        </p:nvGrpSpPr>
        <p:grpSpPr>
          <a:xfrm rot="885919">
            <a:off x="9387761" y="905464"/>
            <a:ext cx="203936" cy="417936"/>
            <a:chOff x="6545656" y="3721680"/>
            <a:chExt cx="295643" cy="605875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C90785A8-BC39-9859-EB81-346EAAD7E929}"/>
                </a:ext>
              </a:extLst>
            </p:cNvPr>
            <p:cNvSpPr/>
            <p:nvPr/>
          </p:nvSpPr>
          <p:spPr>
            <a:xfrm rot="19486941">
              <a:off x="6545656" y="3947310"/>
              <a:ext cx="72427" cy="380245"/>
            </a:xfrm>
            <a:prstGeom prst="roundRect">
              <a:avLst>
                <a:gd name="adj" fmla="val 50000"/>
              </a:avLst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14DDDE7-130C-F0ED-7562-72891D2D279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4714378">
              <a:off x="6434178" y="3888393"/>
              <a:ext cx="573834" cy="240408"/>
            </a:xfrm>
            <a:prstGeom prst="rect">
              <a:avLst/>
            </a:prstGeom>
          </p:spPr>
        </p:pic>
      </p:grp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88D1910-FAE6-8AC2-8978-309CE632CD14}"/>
              </a:ext>
            </a:extLst>
          </p:cNvPr>
          <p:cNvSpPr/>
          <p:nvPr/>
        </p:nvSpPr>
        <p:spPr>
          <a:xfrm>
            <a:off x="9711378" y="809174"/>
            <a:ext cx="1999716" cy="1542127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3200" b="1" noProof="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</a:rPr>
              <a:t>Analítico</a:t>
            </a:r>
          </a:p>
          <a:p>
            <a:r>
              <a:rPr lang="pt-BR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</a:rPr>
              <a:t>Numérico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A488418-BA03-ABF3-9F8B-D2F1CBB80AE4}"/>
              </a:ext>
            </a:extLst>
          </p:cNvPr>
          <p:cNvGrpSpPr/>
          <p:nvPr/>
        </p:nvGrpSpPr>
        <p:grpSpPr>
          <a:xfrm>
            <a:off x="397946" y="347772"/>
            <a:ext cx="6464796" cy="5692869"/>
            <a:chOff x="775068" y="311509"/>
            <a:chExt cx="6464796" cy="5692869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EBB93DFF-57B2-4C00-C034-D1DF222D2F65}"/>
                </a:ext>
              </a:extLst>
            </p:cNvPr>
            <p:cNvGrpSpPr/>
            <p:nvPr/>
          </p:nvGrpSpPr>
          <p:grpSpPr>
            <a:xfrm>
              <a:off x="775068" y="311509"/>
              <a:ext cx="6464796" cy="4536130"/>
              <a:chOff x="673623" y="317105"/>
              <a:chExt cx="6464796" cy="4536130"/>
            </a:xfrm>
          </p:grpSpPr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4BADB124-49C1-754F-FBE9-24B41864428F}"/>
                  </a:ext>
                </a:extLst>
              </p:cNvPr>
              <p:cNvGrpSpPr/>
              <p:nvPr/>
            </p:nvGrpSpPr>
            <p:grpSpPr>
              <a:xfrm>
                <a:off x="673623" y="2161150"/>
                <a:ext cx="3829128" cy="1908215"/>
                <a:chOff x="408691" y="285954"/>
                <a:chExt cx="3829128" cy="1908215"/>
              </a:xfrm>
            </p:grpSpPr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1CB785D-C5A4-33BC-3DF3-6F2B57A72606}"/>
                    </a:ext>
                  </a:extLst>
                </p:cNvPr>
                <p:cNvSpPr txBox="1"/>
                <p:nvPr/>
              </p:nvSpPr>
              <p:spPr>
                <a:xfrm>
                  <a:off x="408691" y="285954"/>
                  <a:ext cx="3829128" cy="1908215"/>
                </a:xfrm>
                <a:prstGeom prst="rect">
                  <a:avLst/>
                </a:prstGeom>
                <a:solidFill>
                  <a:schemeClr val="tx1"/>
                </a:solidFill>
                <a:effectLst>
                  <a:outerShdw blurRad="76200" dir="13500000" sy="23000" kx="1200000" algn="br" rotWithShape="0">
                    <a:prstClr val="black">
                      <a:alpha val="20000"/>
                    </a:prstClr>
                  </a:outerShdw>
                </a:effectLst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>
                      <a:solidFill>
                        <a:schemeClr val="bg1"/>
                      </a:solidFill>
                    </a:rPr>
                    <a:t>   ===========                 </a:t>
                  </a:r>
                </a:p>
                <a:p>
                  <a:r>
                    <a:rPr lang="en-US" dirty="0">
                      <a:solidFill>
                        <a:schemeClr val="bg1"/>
                      </a:solidFill>
                    </a:rPr>
                    <a:t>     \ \               /     </a:t>
                  </a:r>
                  <a:r>
                    <a:rPr lang="en-US" sz="2400" b="1" dirty="0">
                      <a:solidFill>
                        <a:srgbClr val="FFFF00"/>
                      </a:solidFill>
                    </a:rPr>
                    <a:t>F</a:t>
                  </a:r>
                  <a:r>
                    <a:rPr lang="en-US" sz="2000" dirty="0">
                      <a:solidFill>
                        <a:schemeClr val="bg1"/>
                      </a:solidFill>
                    </a:rPr>
                    <a:t>   ield             </a:t>
                  </a:r>
                </a:p>
                <a:p>
                  <a:r>
                    <a:rPr lang="en-US" sz="2000" dirty="0">
                      <a:solidFill>
                        <a:schemeClr val="bg1"/>
                      </a:solidFill>
                    </a:rPr>
                    <a:t>      \ \          /      </a:t>
                  </a:r>
                  <a:r>
                    <a:rPr lang="en-US" sz="2400" b="1" dirty="0">
                      <a:solidFill>
                        <a:srgbClr val="FFFF00"/>
                      </a:solidFill>
                    </a:rPr>
                    <a:t>O</a:t>
                  </a:r>
                  <a:r>
                    <a:rPr lang="en-US" sz="2000" dirty="0">
                      <a:solidFill>
                        <a:schemeClr val="bg1"/>
                      </a:solidFill>
                    </a:rPr>
                    <a:t>  peration    </a:t>
                  </a:r>
                </a:p>
                <a:p>
                  <a:r>
                    <a:rPr lang="en-US" sz="2000" dirty="0">
                      <a:solidFill>
                        <a:schemeClr val="bg1"/>
                      </a:solidFill>
                    </a:rPr>
                    <a:t>        \ \      /        </a:t>
                  </a:r>
                  <a:r>
                    <a:rPr lang="en-US" sz="2400" b="1" dirty="0">
                      <a:solidFill>
                        <a:srgbClr val="FFFF00"/>
                      </a:solidFill>
                    </a:rPr>
                    <a:t>A</a:t>
                  </a:r>
                  <a:r>
                    <a:rPr lang="en-US" sz="2000" dirty="0">
                      <a:solidFill>
                        <a:schemeClr val="bg1"/>
                      </a:solidFill>
                    </a:rPr>
                    <a:t> </a:t>
                  </a:r>
                  <a:r>
                    <a:rPr lang="en-US" sz="2400" dirty="0">
                      <a:solidFill>
                        <a:schemeClr val="bg1"/>
                      </a:solidFill>
                    </a:rPr>
                    <a:t> </a:t>
                  </a:r>
                  <a:r>
                    <a:rPr lang="en-US" sz="2000" dirty="0">
                      <a:solidFill>
                        <a:schemeClr val="bg1"/>
                      </a:solidFill>
                    </a:rPr>
                    <a:t>nd          </a:t>
                  </a:r>
                </a:p>
                <a:p>
                  <a:r>
                    <a:rPr lang="en-US" sz="2000" dirty="0">
                      <a:solidFill>
                        <a:schemeClr val="bg1"/>
                      </a:solidFill>
                    </a:rPr>
                    <a:t>          \ \  /          </a:t>
                  </a:r>
                  <a:r>
                    <a:rPr lang="en-US" sz="2400" b="1" dirty="0">
                      <a:solidFill>
                        <a:srgbClr val="FFFF00"/>
                      </a:solidFill>
                    </a:rPr>
                    <a:t>M</a:t>
                  </a:r>
                  <a:r>
                    <a:rPr lang="en-US" sz="2000" dirty="0">
                      <a:solidFill>
                        <a:schemeClr val="bg1"/>
                      </a:solidFill>
                    </a:rPr>
                    <a:t> anipulation  </a:t>
                  </a:r>
                </a:p>
              </p:txBody>
            </p:sp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1C1EF483-E3F0-BCCF-0DA3-BE6CE9CB959B}"/>
                    </a:ext>
                  </a:extLst>
                </p:cNvPr>
                <p:cNvSpPr txBox="1"/>
                <p:nvPr/>
              </p:nvSpPr>
              <p:spPr>
                <a:xfrm>
                  <a:off x="3012792" y="285954"/>
                  <a:ext cx="1212981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r"/>
                  <a:r>
                    <a:rPr lang="en-GB" sz="2800" b="1" u="sng" dirty="0">
                      <a:solidFill>
                        <a:srgbClr val="FFFF00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  <a:latin typeface="LMRoman12-Regular"/>
                    </a:rPr>
                    <a:t>Open</a:t>
                  </a:r>
                  <a:endParaRPr lang="LID4096" sz="2800" b="1" u="sng" dirty="0">
                    <a:solidFill>
                      <a:srgbClr val="FFFF00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endParaRPr>
                </a:p>
              </p:txBody>
            </p:sp>
          </p:grpSp>
          <p:pic>
            <p:nvPicPr>
              <p:cNvPr id="2052" name="Picture 4" descr="GitHub – Wikipédia, a enciclopédia livre">
                <a:extLst>
                  <a:ext uri="{FF2B5EF4-FFF2-40B4-BE49-F238E27FC236}">
                    <a16:creationId xmlns:a16="http://schemas.microsoft.com/office/drawing/2014/main" id="{C9B531D7-215C-0597-69AC-FA6F9E96FD2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59541" y="317105"/>
                <a:ext cx="1736459" cy="1736459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76200" dir="13500000" sy="23000" kx="1200000" algn="br" rotWithShape="0">
                  <a:prstClr val="black">
                    <a:alpha val="20000"/>
                  </a:prstClr>
                </a:outerShdw>
              </a:effectLst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0" name="Picture 2" descr="Python (programming language) - Wikipedia">
                <a:extLst>
                  <a:ext uri="{FF2B5EF4-FFF2-40B4-BE49-F238E27FC236}">
                    <a16:creationId xmlns:a16="http://schemas.microsoft.com/office/drawing/2014/main" id="{CEB90D50-B677-E077-9483-76847AC3C69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443131" y="317105"/>
                <a:ext cx="1738305" cy="173830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76200" dir="13500000" sy="23000" kx="1200000" algn="br" rotWithShape="0">
                  <a:prstClr val="black">
                    <a:alpha val="20000"/>
                  </a:prstClr>
                </a:outerShdw>
              </a:effectLst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B63A9BA0-E7EC-EFB9-415B-761AEEB0BFE4}"/>
                  </a:ext>
                </a:extLst>
              </p:cNvPr>
              <p:cNvGrpSpPr/>
              <p:nvPr/>
            </p:nvGrpSpPr>
            <p:grpSpPr>
              <a:xfrm>
                <a:off x="681011" y="317105"/>
                <a:ext cx="1584015" cy="1810301"/>
                <a:chOff x="566057" y="203450"/>
                <a:chExt cx="1584015" cy="1810301"/>
              </a:xfrm>
            </p:grpSpPr>
            <p:pic>
              <p:nvPicPr>
                <p:cNvPr id="22" name="Picture 21">
                  <a:extLst>
                    <a:ext uri="{FF2B5EF4-FFF2-40B4-BE49-F238E27FC236}">
                      <a16:creationId xmlns:a16="http://schemas.microsoft.com/office/drawing/2014/main" id="{ED6BF0F9-B6E1-D861-5DFC-49FE4E001BA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66057" y="203450"/>
                  <a:ext cx="1537730" cy="1738305"/>
                </a:xfrm>
                <a:prstGeom prst="rect">
                  <a:avLst/>
                </a:prstGeom>
                <a:ln>
                  <a:solidFill>
                    <a:schemeClr val="tx1"/>
                  </a:solidFill>
                </a:ln>
                <a:effectLst>
                  <a:outerShdw blurRad="76200" dir="13500000" sy="23000" kx="1200000" algn="br" rotWithShape="0">
                    <a:prstClr val="black">
                      <a:alpha val="20000"/>
                    </a:prstClr>
                  </a:outerShdw>
                </a:effectLst>
              </p:spPr>
            </p:pic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43B92E8E-E4AB-A105-2AC9-D5AEA2927C1B}"/>
                    </a:ext>
                  </a:extLst>
                </p:cNvPr>
                <p:cNvSpPr txBox="1"/>
                <p:nvPr/>
              </p:nvSpPr>
              <p:spPr>
                <a:xfrm>
                  <a:off x="1265252" y="1490531"/>
                  <a:ext cx="884820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r"/>
                  <a:r>
                    <a:rPr lang="pt-BR" sz="2800" b="1" dirty="0"/>
                    <a:t>Fi</a:t>
                  </a:r>
                  <a:r>
                    <a:rPr lang="pt-BR" sz="2800" b="1" dirty="0">
                      <a:solidFill>
                        <a:srgbClr val="FF0000"/>
                      </a:solidFill>
                    </a:rPr>
                    <a:t>Py</a:t>
                  </a:r>
                  <a:endParaRPr lang="pt-BR" sz="2000" dirty="0">
                    <a:solidFill>
                      <a:srgbClr val="FF0000"/>
                    </a:solidFill>
                  </a:endParaRPr>
                </a:p>
              </p:txBody>
            </p:sp>
          </p:grpSp>
          <p:pic>
            <p:nvPicPr>
              <p:cNvPr id="25" name="Picture 24">
                <a:extLst>
                  <a:ext uri="{FF2B5EF4-FFF2-40B4-BE49-F238E27FC236}">
                    <a16:creationId xmlns:a16="http://schemas.microsoft.com/office/drawing/2014/main" id="{B6AE8A39-7019-D45A-36B9-B6991751D17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rcRect l="36027" t="14307" r="35724" b="19738"/>
              <a:stretch>
                <a:fillRect/>
              </a:stretch>
            </p:blipFill>
            <p:spPr>
              <a:xfrm>
                <a:off x="4596814" y="2161150"/>
                <a:ext cx="1499186" cy="269208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76200" dir="13500000" sy="23000" kx="1200000" algn="br" rotWithShape="0">
                  <a:prstClr val="black">
                    <a:alpha val="20000"/>
                  </a:prstClr>
                </a:outerShdw>
              </a:effectLst>
            </p:spPr>
          </p:pic>
          <p:sp>
            <p:nvSpPr>
              <p:cNvPr id="27" name="Rectangle: Rounded Corners 26">
                <a:extLst>
                  <a:ext uri="{FF2B5EF4-FFF2-40B4-BE49-F238E27FC236}">
                    <a16:creationId xmlns:a16="http://schemas.microsoft.com/office/drawing/2014/main" id="{DB637263-302C-D6CC-F8B9-0BEE2DE8920F}"/>
                  </a:ext>
                </a:extLst>
              </p:cNvPr>
              <p:cNvSpPr/>
              <p:nvPr/>
            </p:nvSpPr>
            <p:spPr>
              <a:xfrm>
                <a:off x="3309290" y="970008"/>
                <a:ext cx="3829129" cy="634862"/>
              </a:xfrm>
              <a:prstGeom prst="roundRect">
                <a:avLst/>
              </a:prstGeom>
              <a:noFill/>
            </p:spPr>
            <p:txBody>
              <a:bodyPr wrap="square" lIns="0" tIns="0" rIns="0" bIns="0" anchor="t" anchorCtr="0">
                <a:noAutofit/>
              </a:bodyPr>
              <a:lstStyle/>
              <a:p>
                <a:pPr algn="ctr"/>
                <a:r>
                  <a:rPr lang="pt-BR" sz="2400" b="1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Github</a:t>
                </a:r>
              </a:p>
            </p:txBody>
          </p:sp>
        </p:grpSp>
        <p:pic>
          <p:nvPicPr>
            <p:cNvPr id="2056" name="Picture 8" descr="Project Jupyter - Wikipedia">
              <a:extLst>
                <a:ext uri="{FF2B5EF4-FFF2-40B4-BE49-F238E27FC236}">
                  <a16:creationId xmlns:a16="http://schemas.microsoft.com/office/drawing/2014/main" id="{1114490E-F308-86A2-9545-F2FA48902A8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1036" y="4175578"/>
              <a:ext cx="1744803" cy="1828800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4" name="Picture 6" descr="Visual Studio Code - Baixar e instalar no Windows | Microsoft Store">
              <a:extLst>
                <a:ext uri="{FF2B5EF4-FFF2-40B4-BE49-F238E27FC236}">
                  <a16:creationId xmlns:a16="http://schemas.microsoft.com/office/drawing/2014/main" id="{295B0B8F-7087-B9AC-2768-318BA72D32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5424" y="4166436"/>
              <a:ext cx="1828800" cy="1828800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CD41B619-95AB-3A56-A5BA-271CC205E316}"/>
              </a:ext>
            </a:extLst>
          </p:cNvPr>
          <p:cNvSpPr txBox="1"/>
          <p:nvPr/>
        </p:nvSpPr>
        <p:spPr>
          <a:xfrm>
            <a:off x="6424410" y="2508983"/>
            <a:ext cx="5560029" cy="848802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anchor="ctr" anchorCtr="0">
            <a:noAutofit/>
          </a:bodyPr>
          <a:lstStyle/>
          <a:p>
            <a:pPr>
              <a:lnSpc>
                <a:spcPts val="1650"/>
              </a:lnSpc>
              <a:buNone/>
            </a:pPr>
            <a:r>
              <a:rPr lang="en-US" sz="14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numpy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np  ; </a:t>
            </a:r>
            <a:r>
              <a:rPr lang="en-US" sz="14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matplotlib.pyplot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1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plt</a:t>
            </a:r>
            <a:endParaRPr lang="en-US" sz="1400" b="1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50"/>
              </a:lnSpc>
              <a:buNone/>
            </a:pPr>
            <a:r>
              <a:rPr lang="en-US" sz="14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fipy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CellVariable, Grid2D, Viewer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pPr>
              <a:lnSpc>
                <a:spcPts val="1650"/>
              </a:lnSpc>
              <a:buNone/>
            </a:pPr>
            <a:r>
              <a:rPr lang="en-US" sz="1400" dirty="0">
                <a:solidFill>
                  <a:srgbClr val="D73A49"/>
                </a:solidFill>
                <a:latin typeface="Consolas" panose="020B0609020204030204" pitchFamily="49" charset="0"/>
              </a:rPr>
              <a:t>from</a:t>
            </a:r>
            <a:r>
              <a:rPr lang="en-US" sz="1400" dirty="0">
                <a:solidFill>
                  <a:srgbClr val="24292E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24292E"/>
                </a:solidFill>
                <a:latin typeface="Consolas" panose="020B0609020204030204" pitchFamily="49" charset="0"/>
              </a:rPr>
              <a:t>fipy</a:t>
            </a:r>
            <a:r>
              <a:rPr lang="en-US" sz="1400" dirty="0">
                <a:solidFill>
                  <a:srgbClr val="24292E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D73A49"/>
                </a:solidFill>
                <a:latin typeface="Consolas" panose="020B0609020204030204" pitchFamily="49" charset="0"/>
              </a:rPr>
              <a:t>import </a:t>
            </a:r>
            <a:r>
              <a:rPr lang="en-US" sz="1400" b="1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TransientTerm</a:t>
            </a:r>
            <a:r>
              <a:rPr lang="en-US" sz="14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1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DiffusionTerm</a:t>
            </a:r>
            <a:endParaRPr lang="en-US" sz="1400" b="1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C984CD4-2865-E38D-207C-4B41988A1C34}"/>
              </a:ext>
            </a:extLst>
          </p:cNvPr>
          <p:cNvSpPr txBox="1"/>
          <p:nvPr/>
        </p:nvSpPr>
        <p:spPr>
          <a:xfrm>
            <a:off x="6436878" y="3437238"/>
            <a:ext cx="5547562" cy="1110798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anchor="ctr" anchorCtr="0">
            <a:noAutofit/>
          </a:bodyPr>
          <a:lstStyle/>
          <a:p>
            <a:pPr>
              <a:lnSpc>
                <a:spcPts val="1650"/>
              </a:lnSpc>
              <a:buNone/>
            </a:pP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nx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 ;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ny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  ;dx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.;dy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  ;L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dx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nx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    </a:t>
            </a:r>
          </a:p>
          <a:p>
            <a:pPr>
              <a:lnSpc>
                <a:spcPts val="1650"/>
              </a:lnSpc>
              <a:buNone/>
            </a:pP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mesh 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Grid2D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36209"/>
                </a:solidFill>
                <a:effectLst/>
                <a:latin typeface="Consolas" panose="020B0609020204030204" pitchFamily="49" charset="0"/>
              </a:rPr>
              <a:t>dx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dx, </a:t>
            </a:r>
            <a:r>
              <a:rPr lang="en-US" b="0" dirty="0" err="1">
                <a:solidFill>
                  <a:srgbClr val="E36209"/>
                </a:solidFill>
                <a:effectLst/>
                <a:latin typeface="Consolas" panose="020B0609020204030204" pitchFamily="49" charset="0"/>
              </a:rPr>
              <a:t>dy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dy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E36209"/>
                </a:solidFill>
                <a:effectLst/>
                <a:latin typeface="Consolas" panose="020B0609020204030204" pitchFamily="49" charset="0"/>
              </a:rPr>
              <a:t>nx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nx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E36209"/>
                </a:solidFill>
                <a:effectLst/>
                <a:latin typeface="Consolas" panose="020B0609020204030204" pitchFamily="49" charset="0"/>
              </a:rPr>
              <a:t>ny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ny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) </a:t>
            </a:r>
          </a:p>
          <a:p>
            <a:pPr>
              <a:lnSpc>
                <a:spcPts val="1650"/>
              </a:lnSpc>
              <a:buNone/>
            </a:pP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phi  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CellVariable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36209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032F62"/>
                </a:solidFill>
                <a:effectLst/>
                <a:latin typeface="Consolas" panose="020B0609020204030204" pitchFamily="49" charset="0"/>
              </a:rPr>
              <a:t>"solution </a:t>
            </a:r>
            <a:r>
              <a:rPr lang="en-US" b="0" dirty="0" err="1">
                <a:solidFill>
                  <a:srgbClr val="032F62"/>
                </a:solidFill>
                <a:effectLst/>
                <a:latin typeface="Consolas" panose="020B0609020204030204" pitchFamily="49" charset="0"/>
              </a:rPr>
              <a:t>variable"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 err="1">
                <a:solidFill>
                  <a:srgbClr val="E36209"/>
                </a:solidFill>
                <a:effectLst/>
                <a:latin typeface="Consolas" panose="020B0609020204030204" pitchFamily="49" charset="0"/>
              </a:rPr>
              <a:t>mesh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mesh,</a:t>
            </a:r>
            <a:r>
              <a:rPr lang="en-US" b="0" dirty="0" err="1">
                <a:solidFill>
                  <a:srgbClr val="E36209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.)  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CA6F485-2BBA-FD58-1E15-931769C72033}"/>
              </a:ext>
            </a:extLst>
          </p:cNvPr>
          <p:cNvSpPr txBox="1"/>
          <p:nvPr/>
        </p:nvSpPr>
        <p:spPr>
          <a:xfrm>
            <a:off x="6438617" y="4650252"/>
            <a:ext cx="2550624" cy="830350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anchor="ctr" anchorCtr="0">
            <a:no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Grid2D </a:t>
            </a:r>
          </a:p>
          <a:p>
            <a:pPr>
              <a:buNone/>
            </a:pPr>
            <a:r>
              <a:rPr lang="en-US" sz="24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CellVariable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8164D62-DA21-F813-8181-5BC34F2080D0}"/>
              </a:ext>
            </a:extLst>
          </p:cNvPr>
          <p:cNvGrpSpPr>
            <a:grpSpLocks noChangeAspect="1"/>
          </p:cNvGrpSpPr>
          <p:nvPr/>
        </p:nvGrpSpPr>
        <p:grpSpPr>
          <a:xfrm>
            <a:off x="9620358" y="4650253"/>
            <a:ext cx="2364079" cy="1667197"/>
            <a:chOff x="10030241" y="4561557"/>
            <a:chExt cx="1805372" cy="1273185"/>
          </a:xfrm>
        </p:grpSpPr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238386CD-EDD8-3CD5-2615-C9F5CC2B5A6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038322" y="4561557"/>
              <a:ext cx="1790440" cy="830349"/>
            </a:xfrm>
            <a:prstGeom prst="rect">
              <a:avLst/>
            </a:prstGeom>
            <a:solidFill>
              <a:schemeClr val="bg1"/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2FB71C50-856C-4AC0-439F-4865B175E03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0030241" y="5443133"/>
              <a:ext cx="1805372" cy="391609"/>
            </a:xfrm>
            <a:prstGeom prst="rect">
              <a:avLst/>
            </a:prstGeom>
            <a:solidFill>
              <a:schemeClr val="bg1"/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13108E80-1069-048E-EDB9-1344559F3D02}"/>
              </a:ext>
            </a:extLst>
          </p:cNvPr>
          <p:cNvSpPr txBox="1"/>
          <p:nvPr/>
        </p:nvSpPr>
        <p:spPr>
          <a:xfrm>
            <a:off x="4901379" y="5539403"/>
            <a:ext cx="448472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Linguagem orientada a objetos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545C98D-1BBE-89E4-6C01-FD5436712F6D}"/>
              </a:ext>
            </a:extLst>
          </p:cNvPr>
          <p:cNvSpPr/>
          <p:nvPr/>
        </p:nvSpPr>
        <p:spPr>
          <a:xfrm>
            <a:off x="7863840" y="6615178"/>
            <a:ext cx="4278909" cy="210190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1200" b="1" dirty="0">
                <a:solidFill>
                  <a:schemeClr val="accent2"/>
                </a:solidFill>
              </a:rPr>
              <a:t>https://github.com/grossiRM/CFD_ON/blob/main/02_FiPy</a:t>
            </a:r>
            <a:endParaRPr lang="pt-BR" sz="1600" b="1" dirty="0">
              <a:solidFill>
                <a:srgbClr val="0000FF"/>
              </a:solidFill>
            </a:endParaRPr>
          </a:p>
        </p:txBody>
      </p:sp>
      <p:pic>
        <p:nvPicPr>
          <p:cNvPr id="161" name="Picture 160" descr="Slide #1 image">
            <a:extLst>
              <a:ext uri="{FF2B5EF4-FFF2-40B4-BE49-F238E27FC236}">
                <a16:creationId xmlns:a16="http://schemas.microsoft.com/office/drawing/2014/main" id="{299DED96-7F04-C42B-DF81-8E80096AD70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925" t="39613" r="23086" b="48741"/>
          <a:stretch/>
        </p:blipFill>
        <p:spPr bwMode="auto">
          <a:xfrm>
            <a:off x="6435359" y="951967"/>
            <a:ext cx="2760896" cy="1477563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A80D2B1-C73D-D90E-5F5B-2CA90A3046BD}"/>
              </a:ext>
            </a:extLst>
          </p:cNvPr>
          <p:cNvSpPr/>
          <p:nvPr/>
        </p:nvSpPr>
        <p:spPr>
          <a:xfrm>
            <a:off x="2367781" y="6096331"/>
            <a:ext cx="2746845" cy="792665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ctr"/>
            <a:r>
              <a:rPr lang="pt-BR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Jupyter Notebook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1E62CB7-7148-0996-B4E9-529278111396}"/>
              </a:ext>
            </a:extLst>
          </p:cNvPr>
          <p:cNvSpPr/>
          <p:nvPr/>
        </p:nvSpPr>
        <p:spPr>
          <a:xfrm>
            <a:off x="1325145" y="1195815"/>
            <a:ext cx="3829129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ctr"/>
            <a:r>
              <a:rPr lang="pt-BR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Python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CAB0A03-134E-3D0E-C037-FFACB2EE2447}"/>
              </a:ext>
            </a:extLst>
          </p:cNvPr>
          <p:cNvSpPr/>
          <p:nvPr/>
        </p:nvSpPr>
        <p:spPr>
          <a:xfrm>
            <a:off x="492864" y="6095898"/>
            <a:ext cx="2746845" cy="505040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Visual Studio</a:t>
            </a:r>
          </a:p>
          <a:p>
            <a:endParaRPr lang="pt-BR" sz="8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4293700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8D4E42-99DA-B8B5-69FA-9D786FFC5E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C7DE534B-5949-FB9B-E933-F00174A09EB5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rgbClr val="FFFF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B33A6C5-3ACB-E41E-B133-E6E6DA188638}"/>
              </a:ext>
            </a:extLst>
          </p:cNvPr>
          <p:cNvSpPr/>
          <p:nvPr/>
        </p:nvSpPr>
        <p:spPr>
          <a:xfrm>
            <a:off x="7796814" y="317105"/>
            <a:ext cx="3829129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Ecossistema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AA761F99-2476-9F45-A4CC-CEBE0DECE788}"/>
              </a:ext>
            </a:extLst>
          </p:cNvPr>
          <p:cNvSpPr/>
          <p:nvPr/>
        </p:nvSpPr>
        <p:spPr>
          <a:xfrm>
            <a:off x="3329543" y="6500940"/>
            <a:ext cx="8691871" cy="306565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1600" b="1" dirty="0">
                <a:solidFill>
                  <a:schemeClr val="accent2"/>
                </a:solidFill>
              </a:rPr>
              <a:t>https://github.com/grossiRM/CFD_ON/blob/main/02_FiPy/</a:t>
            </a:r>
            <a:r>
              <a:rPr lang="pt-BR" sz="2000" b="1" dirty="0">
                <a:solidFill>
                  <a:srgbClr val="0000FF"/>
                </a:solidFill>
              </a:rPr>
              <a:t>02_diffusion.mesh20x20.ipynb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F74E5E0-D854-BCCE-58C9-5075E40DA4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586" y="2316898"/>
            <a:ext cx="3121253" cy="433732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DFEAF43-EB15-D0F3-200F-39BF7CF51F2F}"/>
              </a:ext>
            </a:extLst>
          </p:cNvPr>
          <p:cNvSpPr txBox="1"/>
          <p:nvPr/>
        </p:nvSpPr>
        <p:spPr>
          <a:xfrm>
            <a:off x="3478903" y="2312853"/>
            <a:ext cx="3885867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anchor="ctr" anchorCtr="0">
            <a:noAutofit/>
          </a:bodyPr>
          <a:lstStyle>
            <a:defPPr>
              <a:defRPr lang="LID4096"/>
            </a:defPPr>
            <a:lvl1pPr algn="ctr">
              <a:defRPr sz="17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LID4096" dirty="0"/>
              <a:t>https://github.com/grossiRM/CFD_ON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F63F6F3-8038-D153-5BFD-A9316E3E5E98}"/>
              </a:ext>
            </a:extLst>
          </p:cNvPr>
          <p:cNvGrpSpPr>
            <a:grpSpLocks noChangeAspect="1"/>
          </p:cNvGrpSpPr>
          <p:nvPr/>
        </p:nvGrpSpPr>
        <p:grpSpPr>
          <a:xfrm>
            <a:off x="170587" y="203777"/>
            <a:ext cx="5887933" cy="2016837"/>
            <a:chOff x="170587" y="203777"/>
            <a:chExt cx="4687854" cy="1605765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683B6BCC-AF6B-F46B-6FEC-2E1C6050844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33602" b="63439"/>
            <a:stretch>
              <a:fillRect/>
            </a:stretch>
          </p:blipFill>
          <p:spPr>
            <a:xfrm>
              <a:off x="170587" y="203777"/>
              <a:ext cx="4687854" cy="634863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42B97477-9DA2-41D5-9AC9-D881CD43008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1443" t="44209" r="2159"/>
            <a:stretch>
              <a:fillRect/>
            </a:stretch>
          </p:blipFill>
          <p:spPr>
            <a:xfrm>
              <a:off x="170587" y="840758"/>
              <a:ext cx="4687854" cy="968784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31" name="Arrow: Down 30">
            <a:extLst>
              <a:ext uri="{FF2B5EF4-FFF2-40B4-BE49-F238E27FC236}">
                <a16:creationId xmlns:a16="http://schemas.microsoft.com/office/drawing/2014/main" id="{16E2746B-586D-0388-3F09-17C8DAC5E878}"/>
              </a:ext>
            </a:extLst>
          </p:cNvPr>
          <p:cNvSpPr/>
          <p:nvPr/>
        </p:nvSpPr>
        <p:spPr>
          <a:xfrm rot="16200000" flipV="1">
            <a:off x="1208386" y="3744814"/>
            <a:ext cx="312186" cy="426906"/>
          </a:xfrm>
          <a:prstGeom prst="downArrow">
            <a:avLst/>
          </a:prstGeom>
          <a:solidFill>
            <a:srgbClr val="0000FF"/>
          </a:solidFill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A63878D7-FBC5-D95F-B982-8A29D26996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1530" y="3631486"/>
            <a:ext cx="6183461" cy="279790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B569316A-6FA2-8628-4449-D948D7698896}"/>
              </a:ext>
            </a:extLst>
          </p:cNvPr>
          <p:cNvSpPr txBox="1"/>
          <p:nvPr/>
        </p:nvSpPr>
        <p:spPr>
          <a:xfrm>
            <a:off x="2917509" y="296685"/>
            <a:ext cx="2993833" cy="353943"/>
          </a:xfrm>
          <a:prstGeom prst="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>
            <a:defPPr>
              <a:defRPr lang="LID4096"/>
            </a:defPPr>
            <a:lvl1pPr>
              <a:defRPr sz="17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algn="ctr"/>
            <a:r>
              <a:rPr lang="LID4096" dirty="0"/>
              <a:t>https://github.com/usnistgov</a:t>
            </a:r>
          </a:p>
        </p:txBody>
      </p:sp>
      <p:sp>
        <p:nvSpPr>
          <p:cNvPr id="43" name="Arrow: Down 42">
            <a:extLst>
              <a:ext uri="{FF2B5EF4-FFF2-40B4-BE49-F238E27FC236}">
                <a16:creationId xmlns:a16="http://schemas.microsoft.com/office/drawing/2014/main" id="{D6E7B2E2-319B-2363-473C-F7B7A036D3E9}"/>
              </a:ext>
            </a:extLst>
          </p:cNvPr>
          <p:cNvSpPr/>
          <p:nvPr/>
        </p:nvSpPr>
        <p:spPr>
          <a:xfrm rot="16200000">
            <a:off x="4886504" y="1451602"/>
            <a:ext cx="312186" cy="472369"/>
          </a:xfrm>
          <a:prstGeom prst="downArrow">
            <a:avLst/>
          </a:prstGeom>
          <a:solidFill>
            <a:srgbClr val="0000FF"/>
          </a:solidFill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050E6FF3-DA78-01AE-0D91-A4836A9878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3097" y="1658372"/>
            <a:ext cx="3191894" cy="177062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A0FD3AA5-83C5-EF4A-B940-110383E1BE53}"/>
              </a:ext>
            </a:extLst>
          </p:cNvPr>
          <p:cNvSpPr txBox="1"/>
          <p:nvPr/>
        </p:nvSpPr>
        <p:spPr>
          <a:xfrm>
            <a:off x="8713097" y="1212074"/>
            <a:ext cx="3191894" cy="3539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anchor="ctr" anchorCtr="0">
            <a:noAutofit/>
          </a:bodyPr>
          <a:lstStyle>
            <a:defPPr>
              <a:defRPr lang="LID4096"/>
            </a:defPPr>
            <a:lvl1pPr>
              <a:defRPr sz="17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algn="ctr"/>
            <a:r>
              <a:rPr lang="LID4096" dirty="0"/>
              <a:t>https://github.com/new</a:t>
            </a:r>
          </a:p>
        </p:txBody>
      </p:sp>
      <p:pic>
        <p:nvPicPr>
          <p:cNvPr id="51" name="Picture 4" descr="GitHub – Wikipédia, a enciclopédia livre">
            <a:extLst>
              <a:ext uri="{FF2B5EF4-FFF2-40B4-BE49-F238E27FC236}">
                <a16:creationId xmlns:a16="http://schemas.microsoft.com/office/drawing/2014/main" id="{EFE2FBE7-935E-19F5-BC76-FF193AA17C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0826" y="3631486"/>
            <a:ext cx="1310883" cy="131088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2" name="Group 51">
            <a:extLst>
              <a:ext uri="{FF2B5EF4-FFF2-40B4-BE49-F238E27FC236}">
                <a16:creationId xmlns:a16="http://schemas.microsoft.com/office/drawing/2014/main" id="{F59C7B0A-CEC6-E3AD-CAEC-6FB4ED77DBB9}"/>
              </a:ext>
            </a:extLst>
          </p:cNvPr>
          <p:cNvGrpSpPr>
            <a:grpSpLocks noChangeAspect="1"/>
          </p:cNvGrpSpPr>
          <p:nvPr/>
        </p:nvGrpSpPr>
        <p:grpSpPr>
          <a:xfrm>
            <a:off x="6202762" y="907037"/>
            <a:ext cx="1196985" cy="1313577"/>
            <a:chOff x="5217406" y="1618699"/>
            <a:chExt cx="1584015" cy="1738305"/>
          </a:xfrm>
        </p:grpSpPr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3DCDB11C-71DE-44F0-4B2B-18B23508DDE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217406" y="1618699"/>
              <a:ext cx="1537730" cy="1738305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</p:spPr>
        </p:pic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79050939-4D12-E988-E1BD-950102B9F9D3}"/>
                </a:ext>
              </a:extLst>
            </p:cNvPr>
            <p:cNvSpPr txBox="1"/>
            <p:nvPr/>
          </p:nvSpPr>
          <p:spPr>
            <a:xfrm>
              <a:off x="5916601" y="2905780"/>
              <a:ext cx="88482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pt-BR" sz="2000" b="1" dirty="0"/>
                <a:t>Fi</a:t>
              </a:r>
              <a:r>
                <a:rPr lang="pt-BR" sz="2000" b="1" dirty="0">
                  <a:solidFill>
                    <a:srgbClr val="FF0000"/>
                  </a:solidFill>
                </a:rPr>
                <a:t>Py</a:t>
              </a:r>
              <a:endParaRPr lang="pt-BR" sz="1600" dirty="0">
                <a:solidFill>
                  <a:srgbClr val="FF0000"/>
                </a:solidFill>
              </a:endParaRPr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0691D91-8EA8-8308-91AA-D47C1F8CCB84}"/>
              </a:ext>
            </a:extLst>
          </p:cNvPr>
          <p:cNvSpPr/>
          <p:nvPr/>
        </p:nvSpPr>
        <p:spPr>
          <a:xfrm>
            <a:off x="7949214" y="129872"/>
            <a:ext cx="3829129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“pausa”</a:t>
            </a:r>
          </a:p>
        </p:txBody>
      </p:sp>
      <p:pic>
        <p:nvPicPr>
          <p:cNvPr id="6" name="Picture 2" descr="Mouse Click Icon SVG Vector &amp; PNG Free Download | UXWing">
            <a:extLst>
              <a:ext uri="{FF2B5EF4-FFF2-40B4-BE49-F238E27FC236}">
                <a16:creationId xmlns:a16="http://schemas.microsoft.com/office/drawing/2014/main" id="{95BAACB8-8590-8E47-FE86-531747F820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9070" y="5008844"/>
            <a:ext cx="367757" cy="412845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2340387-6FD6-C84F-9629-2F2B526B4E40}"/>
              </a:ext>
            </a:extLst>
          </p:cNvPr>
          <p:cNvSpPr/>
          <p:nvPr/>
        </p:nvSpPr>
        <p:spPr>
          <a:xfrm>
            <a:off x="4188370" y="3019347"/>
            <a:ext cx="328660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Exemplos:</a:t>
            </a:r>
          </a:p>
        </p:txBody>
      </p:sp>
    </p:spTree>
    <p:extLst>
      <p:ext uri="{BB962C8B-B14F-4D97-AF65-F5344CB8AC3E}">
        <p14:creationId xmlns:p14="http://schemas.microsoft.com/office/powerpoint/2010/main" val="15394102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D31F26F8-8FCE-76BB-4542-D64980A62662}"/>
              </a:ext>
            </a:extLst>
          </p:cNvPr>
          <p:cNvSpPr/>
          <p:nvPr/>
        </p:nvSpPr>
        <p:spPr>
          <a:xfrm>
            <a:off x="-11508" y="0"/>
            <a:ext cx="12192000" cy="6858000"/>
          </a:xfrm>
          <a:prstGeom prst="rect">
            <a:avLst/>
          </a:prstGeom>
          <a:solidFill>
            <a:srgbClr val="FFFF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BD77871E-59EB-7DAB-24E4-D3B000F9243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272" t="68014" r="59655" b="12008"/>
          <a:stretch>
            <a:fillRect/>
          </a:stretch>
        </p:blipFill>
        <p:spPr>
          <a:xfrm>
            <a:off x="4726210" y="572879"/>
            <a:ext cx="3425013" cy="166814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14897F0-BAE4-9635-542C-378FDF07959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2922" t="72641" r="13927" b="21396"/>
          <a:stretch>
            <a:fillRect/>
          </a:stretch>
        </p:blipFill>
        <p:spPr>
          <a:xfrm>
            <a:off x="7471728" y="925017"/>
            <a:ext cx="2582720" cy="65873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689B3F4-F951-0E17-26C6-7AC72F12F7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407" y="306840"/>
            <a:ext cx="3200061" cy="205718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2F4AF90-0B66-0A6E-6035-0197047C841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79329"/>
          <a:stretch>
            <a:fillRect/>
          </a:stretch>
        </p:blipFill>
        <p:spPr>
          <a:xfrm>
            <a:off x="222407" y="2428615"/>
            <a:ext cx="3844496" cy="43957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2100CC4-2015-590B-C69C-49AF00D7C31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7510"/>
          <a:stretch>
            <a:fillRect/>
          </a:stretch>
        </p:blipFill>
        <p:spPr>
          <a:xfrm>
            <a:off x="6084492" y="4367939"/>
            <a:ext cx="4100616" cy="121340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D7F6F25-AEBD-1A8F-FA4A-1E40BF251DD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9357" t="34471" r="66643" b="29016"/>
          <a:stretch>
            <a:fillRect/>
          </a:stretch>
        </p:blipFill>
        <p:spPr>
          <a:xfrm>
            <a:off x="226710" y="3439670"/>
            <a:ext cx="2120924" cy="311149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1802FCB-FF63-F555-8DDF-05094CFB69F4}"/>
              </a:ext>
            </a:extLst>
          </p:cNvPr>
          <p:cNvSpPr txBox="1"/>
          <p:nvPr/>
        </p:nvSpPr>
        <p:spPr>
          <a:xfrm>
            <a:off x="4726209" y="122243"/>
            <a:ext cx="2664069" cy="353943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anchor="ctr" anchorCtr="0">
            <a:noAutofit/>
          </a:bodyPr>
          <a:lstStyle>
            <a:defPPr>
              <a:defRPr lang="LID4096"/>
            </a:defPPr>
            <a:lvl1pPr>
              <a:defRPr sz="17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algn="ctr"/>
            <a:r>
              <a:rPr lang="LID4096" dirty="0"/>
              <a:t>https://github.com/new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B8C02BF-9837-4DC3-7A43-13B5D00BFF5A}"/>
              </a:ext>
            </a:extLst>
          </p:cNvPr>
          <p:cNvSpPr txBox="1"/>
          <p:nvPr/>
        </p:nvSpPr>
        <p:spPr>
          <a:xfrm>
            <a:off x="6084492" y="2371534"/>
            <a:ext cx="4100616" cy="138499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LID4096" sz="1400" dirty="0">
                <a:solidFill>
                  <a:schemeClr val="bg1"/>
                </a:solidFill>
              </a:rPr>
              <a:t>echo "# </a:t>
            </a:r>
            <a:r>
              <a:rPr lang="pt-BR" sz="1400" dirty="0">
                <a:solidFill>
                  <a:schemeClr val="bg1"/>
                </a:solidFill>
              </a:rPr>
              <a:t>new</a:t>
            </a:r>
            <a:r>
              <a:rPr lang="LID4096" sz="1400" dirty="0">
                <a:solidFill>
                  <a:schemeClr val="bg1"/>
                </a:solidFill>
              </a:rPr>
              <a:t>" &gt;&gt; README.md</a:t>
            </a:r>
            <a:endParaRPr lang="pt-BR" sz="1400" dirty="0">
              <a:solidFill>
                <a:schemeClr val="bg1"/>
              </a:solidFill>
            </a:endParaRPr>
          </a:p>
          <a:p>
            <a:r>
              <a:rPr lang="LID4096" sz="1400" dirty="0">
                <a:solidFill>
                  <a:schemeClr val="bg1"/>
                </a:solidFill>
              </a:rPr>
              <a:t>git initgit add README.md</a:t>
            </a:r>
            <a:endParaRPr lang="pt-BR" sz="1400" dirty="0">
              <a:solidFill>
                <a:schemeClr val="bg1"/>
              </a:solidFill>
            </a:endParaRPr>
          </a:p>
          <a:p>
            <a:r>
              <a:rPr lang="LID4096" sz="1400" dirty="0">
                <a:solidFill>
                  <a:schemeClr val="bg1"/>
                </a:solidFill>
              </a:rPr>
              <a:t>git commit -m "first commit“</a:t>
            </a:r>
            <a:endParaRPr lang="pt-BR" sz="1400" dirty="0">
              <a:solidFill>
                <a:schemeClr val="bg1"/>
              </a:solidFill>
            </a:endParaRPr>
          </a:p>
          <a:p>
            <a:r>
              <a:rPr lang="LID4096" sz="1400" dirty="0">
                <a:solidFill>
                  <a:schemeClr val="bg1"/>
                </a:solidFill>
              </a:rPr>
              <a:t>git branch -M main</a:t>
            </a:r>
            <a:endParaRPr lang="pt-BR" sz="1400" dirty="0">
              <a:solidFill>
                <a:schemeClr val="bg1"/>
              </a:solidFill>
            </a:endParaRPr>
          </a:p>
          <a:p>
            <a:r>
              <a:rPr lang="LID4096" sz="1400" dirty="0">
                <a:solidFill>
                  <a:schemeClr val="bg1"/>
                </a:solidFill>
              </a:rPr>
              <a:t>git remote add origin </a:t>
            </a:r>
            <a:r>
              <a:rPr lang="LID4096" sz="900" dirty="0">
                <a:solidFill>
                  <a:srgbClr val="FFFF00"/>
                </a:solidFill>
              </a:rPr>
              <a:t>https://github.com/</a:t>
            </a:r>
            <a:r>
              <a:rPr lang="LID4096" sz="1400" b="1" dirty="0">
                <a:solidFill>
                  <a:srgbClr val="FFFF00"/>
                </a:solidFill>
              </a:rPr>
              <a:t>grossiRM/</a:t>
            </a:r>
            <a:r>
              <a:rPr lang="pt-BR" sz="1400" b="1" dirty="0">
                <a:solidFill>
                  <a:srgbClr val="FFFF00"/>
                </a:solidFill>
              </a:rPr>
              <a:t>new</a:t>
            </a:r>
            <a:r>
              <a:rPr lang="LID4096" sz="1400" b="1" dirty="0">
                <a:solidFill>
                  <a:srgbClr val="FFFF00"/>
                </a:solidFill>
              </a:rPr>
              <a:t>.git</a:t>
            </a:r>
            <a:endParaRPr lang="pt-BR" sz="1200" b="1" dirty="0">
              <a:solidFill>
                <a:srgbClr val="FFFF00"/>
              </a:solidFill>
            </a:endParaRPr>
          </a:p>
          <a:p>
            <a:r>
              <a:rPr lang="LID4096" sz="1400" dirty="0">
                <a:solidFill>
                  <a:schemeClr val="bg1"/>
                </a:solidFill>
              </a:rPr>
              <a:t>git push -u origin main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7C7B3E8-E2EB-C244-949A-70E3E9035254}"/>
              </a:ext>
            </a:extLst>
          </p:cNvPr>
          <p:cNvGrpSpPr>
            <a:grpSpLocks noChangeAspect="1"/>
          </p:cNvGrpSpPr>
          <p:nvPr/>
        </p:nvGrpSpPr>
        <p:grpSpPr>
          <a:xfrm>
            <a:off x="2473249" y="3054745"/>
            <a:ext cx="3430153" cy="2989529"/>
            <a:chOff x="2006892" y="2868192"/>
            <a:chExt cx="3881630" cy="3383011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DDE04BA7-0F71-CADB-E003-F4F2BA89CD5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006892" y="2868192"/>
              <a:ext cx="3881630" cy="2504070"/>
            </a:xfrm>
            <a:prstGeom prst="rect">
              <a:avLst/>
            </a:prstGeom>
          </p:spPr>
        </p:pic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BC9EA845-39E6-4317-FFE8-CE4A5FB5DFC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291189" y="3551867"/>
              <a:ext cx="3597333" cy="2699336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25" name="Picture 24">
            <a:extLst>
              <a:ext uri="{FF2B5EF4-FFF2-40B4-BE49-F238E27FC236}">
                <a16:creationId xmlns:a16="http://schemas.microsoft.com/office/drawing/2014/main" id="{FAA19C45-5B13-4E05-E14D-7B36F9B1761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79329"/>
          <a:stretch>
            <a:fillRect/>
          </a:stretch>
        </p:blipFill>
        <p:spPr>
          <a:xfrm>
            <a:off x="6084492" y="3855063"/>
            <a:ext cx="4100616" cy="43957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A5D98028-1AD7-5823-BE62-9B5DF7F9553C}"/>
              </a:ext>
            </a:extLst>
          </p:cNvPr>
          <p:cNvSpPr txBox="1"/>
          <p:nvPr/>
        </p:nvSpPr>
        <p:spPr>
          <a:xfrm>
            <a:off x="6084493" y="5675741"/>
            <a:ext cx="4100615" cy="86177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</a:rPr>
              <a:t>$ git add .</a:t>
            </a:r>
          </a:p>
          <a:p>
            <a:r>
              <a:rPr lang="en-US" sz="1600" dirty="0">
                <a:solidFill>
                  <a:schemeClr val="bg1"/>
                </a:solidFill>
              </a:rPr>
              <a:t>$ git commit -m “001"</a:t>
            </a:r>
          </a:p>
          <a:p>
            <a:r>
              <a:rPr lang="en-US" sz="1600" dirty="0">
                <a:solidFill>
                  <a:schemeClr val="bg1"/>
                </a:solidFill>
              </a:rPr>
              <a:t>$ git push origin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725841A-4D36-6884-6979-403402FA0352}"/>
              </a:ext>
            </a:extLst>
          </p:cNvPr>
          <p:cNvGrpSpPr/>
          <p:nvPr/>
        </p:nvGrpSpPr>
        <p:grpSpPr>
          <a:xfrm>
            <a:off x="10396377" y="934567"/>
            <a:ext cx="1329047" cy="4793371"/>
            <a:chOff x="10535717" y="1030364"/>
            <a:chExt cx="1329047" cy="4793371"/>
          </a:xfrm>
        </p:grpSpPr>
        <p:pic>
          <p:nvPicPr>
            <p:cNvPr id="31" name="Picture 4" descr="GitHub – Wikipédia, a enciclopédia livre">
              <a:extLst>
                <a:ext uri="{FF2B5EF4-FFF2-40B4-BE49-F238E27FC236}">
                  <a16:creationId xmlns:a16="http://schemas.microsoft.com/office/drawing/2014/main" id="{6D37DA40-E63B-CF2C-8A19-697C71E0ADF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535717" y="1030364"/>
              <a:ext cx="1310883" cy="1310883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098" name="Picture 2">
              <a:extLst>
                <a:ext uri="{FF2B5EF4-FFF2-40B4-BE49-F238E27FC236}">
                  <a16:creationId xmlns:a16="http://schemas.microsoft.com/office/drawing/2014/main" id="{A3A57A76-C800-3053-8C53-2C16DB51960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535717" y="2649945"/>
              <a:ext cx="1329047" cy="1329047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0" name="Picture 4">
              <a:extLst>
                <a:ext uri="{FF2B5EF4-FFF2-40B4-BE49-F238E27FC236}">
                  <a16:creationId xmlns:a16="http://schemas.microsoft.com/office/drawing/2014/main" id="{59BB9B62-FD6A-8F40-B538-805404AB7BB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535717" y="4380533"/>
              <a:ext cx="1310883" cy="1443202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026" name="Picture 2" descr="Mouse Click Icon SVG Vector &amp; PNG Free Download | UXWing">
            <a:extLst>
              <a:ext uri="{FF2B5EF4-FFF2-40B4-BE49-F238E27FC236}">
                <a16:creationId xmlns:a16="http://schemas.microsoft.com/office/drawing/2014/main" id="{7BCA19F1-50FE-8225-2047-46B5718781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98735" y="1474290"/>
            <a:ext cx="690265" cy="774894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909F7EA-632A-44BC-5F5B-042DDC535F29}"/>
              </a:ext>
            </a:extLst>
          </p:cNvPr>
          <p:cNvSpPr txBox="1"/>
          <p:nvPr/>
        </p:nvSpPr>
        <p:spPr>
          <a:xfrm>
            <a:off x="11226296" y="2203932"/>
            <a:ext cx="5218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Git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EF2827-11B6-A67C-45C4-A3BC2E1110DF}"/>
              </a:ext>
            </a:extLst>
          </p:cNvPr>
          <p:cNvSpPr txBox="1"/>
          <p:nvPr/>
        </p:nvSpPr>
        <p:spPr>
          <a:xfrm>
            <a:off x="10547288" y="3886122"/>
            <a:ext cx="11567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Explorer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9EF953-429C-180E-B1E9-DF2EE8305AFC}"/>
              </a:ext>
            </a:extLst>
          </p:cNvPr>
          <p:cNvSpPr txBox="1"/>
          <p:nvPr/>
        </p:nvSpPr>
        <p:spPr>
          <a:xfrm>
            <a:off x="10396377" y="5760147"/>
            <a:ext cx="13076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Windows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9FFAF26-5860-5E7B-5264-297B97B5C780}"/>
              </a:ext>
            </a:extLst>
          </p:cNvPr>
          <p:cNvSpPr/>
          <p:nvPr/>
        </p:nvSpPr>
        <p:spPr>
          <a:xfrm>
            <a:off x="7796814" y="317105"/>
            <a:ext cx="3829129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Ecossistema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5EF5479-A3C0-D697-E708-00644E5E1832}"/>
              </a:ext>
            </a:extLst>
          </p:cNvPr>
          <p:cNvSpPr txBox="1"/>
          <p:nvPr/>
        </p:nvSpPr>
        <p:spPr>
          <a:xfrm>
            <a:off x="6093201" y="6584697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LID4096" sz="1200" b="1" dirty="0">
                <a:solidFill>
                  <a:schemeClr val="accent2"/>
                </a:solidFill>
              </a:rPr>
              <a:t>https://github.com/grossiRM/AM_FEG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717F490-912B-1FD9-DF56-26BCB23F9227}"/>
              </a:ext>
            </a:extLst>
          </p:cNvPr>
          <p:cNvSpPr/>
          <p:nvPr/>
        </p:nvSpPr>
        <p:spPr>
          <a:xfrm>
            <a:off x="7949214" y="129872"/>
            <a:ext cx="3829129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“pausa”</a:t>
            </a:r>
          </a:p>
        </p:txBody>
      </p:sp>
    </p:spTree>
    <p:extLst>
      <p:ext uri="{BB962C8B-B14F-4D97-AF65-F5344CB8AC3E}">
        <p14:creationId xmlns:p14="http://schemas.microsoft.com/office/powerpoint/2010/main" val="35200758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0CDA6-7D37-41F4-BB9D-3E7EEBE226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C0F9D288-4C91-332E-25FC-FDB91EDFCF9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041F38F-CFEB-2928-DB99-D6D5340652E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068"/>
          <a:stretch>
            <a:fillRect/>
          </a:stretch>
        </p:blipFill>
        <p:spPr>
          <a:xfrm>
            <a:off x="151670" y="106922"/>
            <a:ext cx="2102647" cy="6647595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8BF48F5-C1B2-72B7-5785-7820AB451F55}"/>
              </a:ext>
            </a:extLst>
          </p:cNvPr>
          <p:cNvSpPr txBox="1"/>
          <p:nvPr/>
        </p:nvSpPr>
        <p:spPr>
          <a:xfrm>
            <a:off x="2405994" y="152845"/>
            <a:ext cx="9516039" cy="4770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en-GB" sz="1600" dirty="0">
                <a:solidFill>
                  <a:srgbClr val="D73A49"/>
                </a:solidFill>
                <a:latin typeface="Consolas" panose="020B0609020204030204" pitchFamily="49" charset="0"/>
              </a:rPr>
              <a:t>from</a:t>
            </a:r>
            <a:r>
              <a:rPr lang="en-GB" sz="1600" dirty="0">
                <a:solidFill>
                  <a:srgbClr val="24292E"/>
                </a:solidFill>
                <a:latin typeface="Consolas" panose="020B0609020204030204" pitchFamily="49" charset="0"/>
              </a:rPr>
              <a:t> </a:t>
            </a:r>
            <a:r>
              <a:rPr lang="en-GB" sz="1600" b="1" dirty="0" err="1">
                <a:solidFill>
                  <a:srgbClr val="24292E"/>
                </a:solidFill>
                <a:latin typeface="Consolas" panose="020B0609020204030204" pitchFamily="49" charset="0"/>
              </a:rPr>
              <a:t>fipy</a:t>
            </a:r>
            <a:r>
              <a:rPr lang="en-GB" sz="1600" dirty="0">
                <a:solidFill>
                  <a:srgbClr val="24292E"/>
                </a:solidFill>
                <a:latin typeface="Consolas" panose="020B0609020204030204" pitchFamily="49" charset="0"/>
              </a:rPr>
              <a:t> import </a:t>
            </a:r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Grid1D     </a:t>
            </a:r>
            <a:r>
              <a:rPr lang="en-GB" sz="1600" dirty="0">
                <a:solidFill>
                  <a:srgbClr val="24292E"/>
                </a:solidFill>
                <a:latin typeface="Consolas" panose="020B0609020204030204" pitchFamily="49" charset="0"/>
              </a:rPr>
              <a:t> ;</a:t>
            </a:r>
            <a:r>
              <a:rPr lang="en-US" sz="16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nx</a:t>
            </a:r>
            <a:r>
              <a:rPr lang="en-US" sz="16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sz="16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;dx</a:t>
            </a:r>
            <a:r>
              <a:rPr lang="en-US" sz="16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        </a:t>
            </a:r>
            <a:r>
              <a:rPr lang="en-US" sz="1600" b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000" b="1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mesh </a:t>
            </a:r>
            <a:r>
              <a:rPr lang="en-US" sz="20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=Grid1D</a:t>
            </a:r>
            <a:r>
              <a:rPr lang="en-US" sz="16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nx</a:t>
            </a:r>
            <a:r>
              <a:rPr lang="en-US" sz="16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nx,dx</a:t>
            </a:r>
            <a:r>
              <a:rPr lang="en-US" sz="16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dx)</a:t>
            </a:r>
          </a:p>
          <a:p>
            <a:pPr>
              <a:buNone/>
            </a:pPr>
            <a:endParaRPr lang="en-US" sz="500" dirty="0">
              <a:solidFill>
                <a:srgbClr val="24292E"/>
              </a:solidFill>
              <a:latin typeface="Consolas" panose="020B0609020204030204" pitchFamily="49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3B78DF6-8243-1DFB-28E0-8456BBC201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5991" y="4605660"/>
            <a:ext cx="9516039" cy="63852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grpSp>
        <p:nvGrpSpPr>
          <p:cNvPr id="35" name="Group 34">
            <a:extLst>
              <a:ext uri="{FF2B5EF4-FFF2-40B4-BE49-F238E27FC236}">
                <a16:creationId xmlns:a16="http://schemas.microsoft.com/office/drawing/2014/main" id="{8147AF6F-CC5D-FEBB-C71B-0E26D393D54A}"/>
              </a:ext>
            </a:extLst>
          </p:cNvPr>
          <p:cNvGrpSpPr/>
          <p:nvPr/>
        </p:nvGrpSpPr>
        <p:grpSpPr>
          <a:xfrm>
            <a:off x="5712823" y="688752"/>
            <a:ext cx="6209209" cy="2474665"/>
            <a:chOff x="4843521" y="2968927"/>
            <a:chExt cx="7078512" cy="2715705"/>
          </a:xfrm>
        </p:grpSpPr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71CA0449-76FF-43C0-68F0-02B6311D6466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843521" y="2968927"/>
              <a:ext cx="7078512" cy="2715705"/>
              <a:chOff x="4495335" y="3075495"/>
              <a:chExt cx="7078512" cy="2715705"/>
            </a:xfrm>
          </p:grpSpPr>
          <p:pic>
            <p:nvPicPr>
              <p:cNvPr id="27" name="Picture 26">
                <a:extLst>
                  <a:ext uri="{FF2B5EF4-FFF2-40B4-BE49-F238E27FC236}">
                    <a16:creationId xmlns:a16="http://schemas.microsoft.com/office/drawing/2014/main" id="{A7DA92F0-2129-99C7-27C9-30F85BAC86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495335" y="3075495"/>
                <a:ext cx="2475607" cy="271570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</p:pic>
          <p:pic>
            <p:nvPicPr>
              <p:cNvPr id="29" name="Picture 28">
                <a:extLst>
                  <a:ext uri="{FF2B5EF4-FFF2-40B4-BE49-F238E27FC236}">
                    <a16:creationId xmlns:a16="http://schemas.microsoft.com/office/drawing/2014/main" id="{50E41F62-EE8E-4FDE-0A36-ADE72CEC24B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011535" y="3075495"/>
                <a:ext cx="2746067" cy="271570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</p:pic>
          <p:pic>
            <p:nvPicPr>
              <p:cNvPr id="32" name="Picture 31">
                <a:extLst>
                  <a:ext uri="{FF2B5EF4-FFF2-40B4-BE49-F238E27FC236}">
                    <a16:creationId xmlns:a16="http://schemas.microsoft.com/office/drawing/2014/main" id="{B80E3EC3-54F8-21AA-6457-6C0B678DC9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031207" y="3075495"/>
                <a:ext cx="2542640" cy="2215231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</p:pic>
        </p:grpSp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E085AAAC-5764-520B-5D08-8465B62488A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r="38467" b="70395"/>
            <a:stretch>
              <a:fillRect/>
            </a:stretch>
          </p:blipFill>
          <p:spPr>
            <a:xfrm>
              <a:off x="8848644" y="3139733"/>
              <a:ext cx="1870671" cy="417409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rgbClr val="0000FF"/>
              </a:solidFill>
            </a:ln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</p:spPr>
        </p:pic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1107F1A2-C964-A529-BCBD-F74C955D1D36}"/>
              </a:ext>
            </a:extLst>
          </p:cNvPr>
          <p:cNvSpPr txBox="1"/>
          <p:nvPr/>
        </p:nvSpPr>
        <p:spPr>
          <a:xfrm>
            <a:off x="2405992" y="3273974"/>
            <a:ext cx="9516039" cy="1323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000" b="0" u="sng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plt.figure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figsize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))           ;FF 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1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mesh</a:t>
            </a:r>
            <a:r>
              <a:rPr lang="en-US" sz="2000" b="0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faceCenters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()     		       ;X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1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mesh.</a:t>
            </a:r>
            <a:r>
              <a:rPr lang="en-US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faceCenters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[0]   </a:t>
            </a:r>
            <a:r>
              <a:rPr lang="en-US" sz="2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plt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xlim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FF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min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(),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FF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max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());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plt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xticks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(X)</a:t>
            </a:r>
          </a:p>
          <a:p>
            <a:pPr>
              <a:buNone/>
            </a:pPr>
            <a:endParaRPr lang="en-US" sz="600" b="0" dirty="0">
              <a:solidFill>
                <a:srgbClr val="24292E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plt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plot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  (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mesh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cellCenters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(),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zeros_like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mesh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cellCenters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()),</a:t>
            </a:r>
            <a:r>
              <a:rPr lang="en-US" sz="1400" b="0" dirty="0">
                <a:solidFill>
                  <a:srgbClr val="032F62"/>
                </a:solidFill>
                <a:effectLst/>
                <a:latin typeface="Consolas" panose="020B0609020204030204" pitchFamily="49" charset="0"/>
              </a:rPr>
              <a:t>'o-'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1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markersize</a:t>
            </a:r>
            <a:r>
              <a:rPr lang="en-US" sz="11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100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1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,color</a:t>
            </a:r>
            <a:r>
              <a:rPr lang="en-US" sz="11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100" b="0" dirty="0">
                <a:solidFill>
                  <a:srgbClr val="032F62"/>
                </a:solidFill>
                <a:effectLst/>
                <a:latin typeface="Consolas" panose="020B0609020204030204" pitchFamily="49" charset="0"/>
              </a:rPr>
              <a:t>'green'</a:t>
            </a:r>
            <a:r>
              <a:rPr lang="en-US" sz="11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6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plt</a:t>
            </a:r>
            <a:r>
              <a:rPr lang="en-US" sz="16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grid</a:t>
            </a:r>
            <a:r>
              <a:rPr lang="en-US" sz="1600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(True, axis</a:t>
            </a:r>
            <a:r>
              <a:rPr lang="en-US" sz="16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032F62"/>
                </a:solidFill>
                <a:effectLst/>
                <a:latin typeface="Consolas" panose="020B0609020204030204" pitchFamily="49" charset="0"/>
              </a:rPr>
              <a:t>'x'</a:t>
            </a:r>
            <a:r>
              <a:rPr lang="en-US" sz="16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linestyle</a:t>
            </a:r>
            <a:r>
              <a:rPr lang="en-US" sz="16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032F62"/>
                </a:solidFill>
                <a:effectLst/>
                <a:latin typeface="Consolas" panose="020B0609020204030204" pitchFamily="49" charset="0"/>
              </a:rPr>
              <a:t>'--'</a:t>
            </a:r>
            <a:r>
              <a:rPr lang="en-US" sz="16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 color</a:t>
            </a:r>
            <a:r>
              <a:rPr lang="en-US" sz="16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032F62"/>
                </a:solidFill>
                <a:effectLst/>
                <a:latin typeface="Consolas" panose="020B0609020204030204" pitchFamily="49" charset="0"/>
              </a:rPr>
              <a:t>'red'</a:t>
            </a:r>
            <a:r>
              <a:rPr lang="en-US" sz="16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) 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5A03476-F5D9-A85E-8365-6F57F65A2D42}"/>
              </a:ext>
            </a:extLst>
          </p:cNvPr>
          <p:cNvSpPr txBox="1"/>
          <p:nvPr/>
        </p:nvSpPr>
        <p:spPr>
          <a:xfrm>
            <a:off x="2405991" y="714681"/>
            <a:ext cx="1965154" cy="5203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anchor="ctr" anchorCtr="0">
            <a:noAutofit/>
          </a:bodyPr>
          <a:lstStyle/>
          <a:p>
            <a:pPr algn="ctr">
              <a:buNone/>
            </a:pP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DIFUSÃO</a:t>
            </a:r>
            <a:endParaRPr lang="en-US" sz="2400" b="1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23A842DB-3735-DEB5-7A02-5CD32D7119E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05992" y="5691783"/>
            <a:ext cx="5405598" cy="108870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F3D1AC20-FBE9-2AE7-EA52-0EE322050FE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16612" y="5691783"/>
            <a:ext cx="3905418" cy="106273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7AE89330-4CB7-8DBA-0313-9940F9B7FC86}"/>
              </a:ext>
            </a:extLst>
          </p:cNvPr>
          <p:cNvSpPr txBox="1"/>
          <p:nvPr/>
        </p:nvSpPr>
        <p:spPr>
          <a:xfrm>
            <a:off x="2405990" y="5192273"/>
            <a:ext cx="9516039" cy="52033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ctr" anchorCtr="0">
            <a:noAutofit/>
          </a:bodyPr>
          <a:lstStyle/>
          <a:p>
            <a:pPr>
              <a:buNone/>
            </a:pPr>
            <a:r>
              <a:rPr lang="pt-BR" sz="1900" b="1" spc="-160" noProof="0" dirty="0">
                <a:solidFill>
                  <a:srgbClr val="0000FF"/>
                </a:solidFill>
                <a:latin typeface="Consolas" panose="020B0609020204030204" pitchFamily="49" charset="0"/>
              </a:rPr>
              <a:t>... Condições iniciais e de contorno, solvers, equação de referência, visualização </a:t>
            </a:r>
            <a:endParaRPr lang="pt-BR" sz="1900" b="1" spc="-160" noProof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51" name="Picture 2" descr="Python (programming language) - Wikipedia">
            <a:extLst>
              <a:ext uri="{FF2B5EF4-FFF2-40B4-BE49-F238E27FC236}">
                <a16:creationId xmlns:a16="http://schemas.microsoft.com/office/drawing/2014/main" id="{5966E435-BAED-6F21-E475-8D6EAB0BA7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75320" y="2013008"/>
            <a:ext cx="1161838" cy="116183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94B57542-C920-7F0D-EE8C-DD08CB3D1EA6}"/>
              </a:ext>
            </a:extLst>
          </p:cNvPr>
          <p:cNvSpPr txBox="1"/>
          <p:nvPr/>
        </p:nvSpPr>
        <p:spPr>
          <a:xfrm>
            <a:off x="10406741" y="2719697"/>
            <a:ext cx="15152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Objeto.py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ECA791F-D4C8-BBB7-E0DF-D62348056030}"/>
                  </a:ext>
                </a:extLst>
              </p:cNvPr>
              <p:cNvSpPr txBox="1"/>
              <p:nvPr/>
            </p:nvSpPr>
            <p:spPr>
              <a:xfrm>
                <a:off x="2399515" y="1290690"/>
                <a:ext cx="1971630" cy="8889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wrap="none" lIns="91440" tIns="0" rIns="91440" bIns="91440" rtlCol="0" anchor="ctr" anchorCtr="0">
                <a:noAutofit/>
              </a:bodyPr>
              <a:lstStyle/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pt-BR" sz="2800" b="1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800" b="1" i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𝛛</m:t>
                        </m:r>
                        <m:r>
                          <a:rPr lang="pt-BR" sz="2800" b="1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∅</m:t>
                        </m:r>
                      </m:num>
                      <m:den>
                        <m:r>
                          <a:rPr lang="pt-BR" sz="2800" b="1" i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𝛛</m:t>
                        </m:r>
                        <m:r>
                          <a:rPr lang="pt-BR" sz="2800" b="1" i="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𝐭</m:t>
                        </m:r>
                      </m:den>
                    </m:f>
                  </m:oMath>
                </a14:m>
                <a:r>
                  <a:rPr lang="pt-BR" sz="2800" b="1" dirty="0">
                    <a:solidFill>
                      <a:srgbClr val="0000FF"/>
                    </a:solidFill>
                    <a:ea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r>
                      <a:rPr lang="pt-BR" sz="2800" b="1" i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𝐃</m:t>
                    </m:r>
                    <m:sSup>
                      <m:sSupPr>
                        <m:ctrlPr>
                          <a:rPr lang="pt-BR" sz="2800" b="1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b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𝛁</m:t>
                        </m:r>
                      </m:e>
                      <m:sup>
                        <m:r>
                          <a:rPr lang="pt-BR" sz="2800" b="1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pt-BR" sz="2800" b="1" i="1">
                        <a:solidFill>
                          <a:srgbClr val="0000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∅</m:t>
                    </m:r>
                  </m:oMath>
                </a14:m>
                <a:endParaRPr lang="LID4096" sz="2800" b="1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ECA791F-D4C8-BBB7-E0DF-D623480560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9515" y="1290690"/>
                <a:ext cx="1971630" cy="88891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92A7847F-08DE-65D5-C75C-1B37C54842C2}"/>
              </a:ext>
            </a:extLst>
          </p:cNvPr>
          <p:cNvSpPr txBox="1"/>
          <p:nvPr/>
        </p:nvSpPr>
        <p:spPr>
          <a:xfrm>
            <a:off x="4480703" y="1658710"/>
            <a:ext cx="15152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Python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F90961-BE53-995B-0145-22D5C130E146}"/>
              </a:ext>
            </a:extLst>
          </p:cNvPr>
          <p:cNvSpPr txBox="1"/>
          <p:nvPr/>
        </p:nvSpPr>
        <p:spPr>
          <a:xfrm>
            <a:off x="1322391" y="326498"/>
            <a:ext cx="7327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 err="1">
                <a:solidFill>
                  <a:srgbClr val="24292E"/>
                </a:solidFill>
                <a:latin typeface="Consolas" panose="020B0609020204030204" pitchFamily="49" charset="0"/>
              </a:rPr>
              <a:t>fipy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1100442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87FC7D-FA75-9960-6973-C3EED41D9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DDBA63D7-85EB-8D7E-B053-D1443FD1FF04}"/>
              </a:ext>
            </a:extLst>
          </p:cNvPr>
          <p:cNvSpPr/>
          <p:nvPr/>
        </p:nvSpPr>
        <p:spPr>
          <a:xfrm>
            <a:off x="-11508" y="0"/>
            <a:ext cx="12192000" cy="6858000"/>
          </a:xfrm>
          <a:prstGeom prst="rect">
            <a:avLst/>
          </a:prstGeom>
          <a:solidFill>
            <a:srgbClr val="FFFF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357832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C7EA140-2D21-5139-71CB-2D372176683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C28403-C001-2645-3F4C-56AE906210A5}"/>
              </a:ext>
            </a:extLst>
          </p:cNvPr>
          <p:cNvSpPr txBox="1"/>
          <p:nvPr/>
        </p:nvSpPr>
        <p:spPr>
          <a:xfrm>
            <a:off x="572120" y="363016"/>
            <a:ext cx="3829128" cy="1908215"/>
          </a:xfrm>
          <a:prstGeom prst="rect">
            <a:avLst/>
          </a:prstGeom>
          <a:solidFill>
            <a:schemeClr val="tx1"/>
          </a:solidFill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   ===========                 </a:t>
            </a:r>
          </a:p>
          <a:p>
            <a:r>
              <a:rPr lang="en-US" dirty="0">
                <a:solidFill>
                  <a:schemeClr val="bg1"/>
                </a:solidFill>
              </a:rPr>
              <a:t>     \ \               /     </a:t>
            </a:r>
            <a:r>
              <a:rPr lang="en-US" sz="2400" b="1" dirty="0">
                <a:solidFill>
                  <a:srgbClr val="FFFF00"/>
                </a:solidFill>
              </a:rPr>
              <a:t>F</a:t>
            </a:r>
            <a:r>
              <a:rPr lang="en-US" sz="2000" dirty="0">
                <a:solidFill>
                  <a:schemeClr val="bg1"/>
                </a:solidFill>
              </a:rPr>
              <a:t>   ield             </a:t>
            </a:r>
          </a:p>
          <a:p>
            <a:r>
              <a:rPr lang="en-US" sz="2000" dirty="0">
                <a:solidFill>
                  <a:schemeClr val="bg1"/>
                </a:solidFill>
              </a:rPr>
              <a:t>      \ \          /      </a:t>
            </a:r>
            <a:r>
              <a:rPr lang="en-US" sz="2400" b="1" dirty="0">
                <a:solidFill>
                  <a:srgbClr val="FFFF00"/>
                </a:solidFill>
              </a:rPr>
              <a:t>O</a:t>
            </a:r>
            <a:r>
              <a:rPr lang="en-US" sz="2000" dirty="0">
                <a:solidFill>
                  <a:schemeClr val="bg1"/>
                </a:solidFill>
              </a:rPr>
              <a:t>  peration    </a:t>
            </a:r>
          </a:p>
          <a:p>
            <a:r>
              <a:rPr lang="en-US" sz="2000" dirty="0">
                <a:solidFill>
                  <a:schemeClr val="bg1"/>
                </a:solidFill>
              </a:rPr>
              <a:t>        \ \      /        </a:t>
            </a:r>
            <a:r>
              <a:rPr lang="en-US" sz="2400" b="1" dirty="0">
                <a:solidFill>
                  <a:srgbClr val="FFFF00"/>
                </a:solidFill>
              </a:rPr>
              <a:t>A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  <a:r>
              <a:rPr lang="en-US" sz="2000" dirty="0">
                <a:solidFill>
                  <a:schemeClr val="bg1"/>
                </a:solidFill>
              </a:rPr>
              <a:t>nd          </a:t>
            </a:r>
          </a:p>
          <a:p>
            <a:r>
              <a:rPr lang="en-US" sz="2000" dirty="0">
                <a:solidFill>
                  <a:schemeClr val="bg1"/>
                </a:solidFill>
              </a:rPr>
              <a:t>          \ \  /          </a:t>
            </a:r>
            <a:r>
              <a:rPr lang="en-US" sz="2400" b="1" dirty="0">
                <a:solidFill>
                  <a:srgbClr val="FFFF00"/>
                </a:solidFill>
              </a:rPr>
              <a:t>M</a:t>
            </a:r>
            <a:r>
              <a:rPr lang="en-US" sz="2000" dirty="0">
                <a:solidFill>
                  <a:schemeClr val="bg1"/>
                </a:solidFill>
              </a:rPr>
              <a:t> anipulation  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987D2C-3F5F-BA81-3762-CB101C9FF7B9}"/>
              </a:ext>
            </a:extLst>
          </p:cNvPr>
          <p:cNvSpPr txBox="1"/>
          <p:nvPr/>
        </p:nvSpPr>
        <p:spPr>
          <a:xfrm>
            <a:off x="3176221" y="363016"/>
            <a:ext cx="121298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2800" b="1" u="sng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Open</a:t>
            </a:r>
            <a:endParaRPr lang="LID4096" sz="2800" b="1" u="sng" dirty="0">
              <a:solidFill>
                <a:srgbClr val="FFFF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7" name="Picture 2" descr="Ícone de Ubuntu simples a marca logo">
            <a:extLst>
              <a:ext uri="{FF2B5EF4-FFF2-40B4-BE49-F238E27FC236}">
                <a16:creationId xmlns:a16="http://schemas.microsoft.com/office/drawing/2014/main" id="{46B51EE5-8F08-5C01-8191-542971D6E7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05626" y="372069"/>
            <a:ext cx="1856259" cy="1856259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Linux SVG and transparent PNG icons | TechIcons">
            <a:extLst>
              <a:ext uri="{FF2B5EF4-FFF2-40B4-BE49-F238E27FC236}">
                <a16:creationId xmlns:a16="http://schemas.microsoft.com/office/drawing/2014/main" id="{18EF3775-C478-6507-4F0D-52AC7A0FDA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0873" y="372069"/>
            <a:ext cx="1560091" cy="1560091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9C63E12-8E2E-6263-15C2-2AAA6B5223B1}"/>
              </a:ext>
            </a:extLst>
          </p:cNvPr>
          <p:cNvSpPr txBox="1"/>
          <p:nvPr/>
        </p:nvSpPr>
        <p:spPr>
          <a:xfrm>
            <a:off x="4531051" y="1861615"/>
            <a:ext cx="121298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Linux</a:t>
            </a:r>
            <a:endParaRPr lang="LID4096" sz="28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5BE7CD0-9D7D-8FAF-2CE8-45B7CD73D9B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792" t="1090" b="20744"/>
          <a:stretch>
            <a:fillRect/>
          </a:stretch>
        </p:blipFill>
        <p:spPr>
          <a:xfrm>
            <a:off x="6195835" y="3379884"/>
            <a:ext cx="5510170" cy="312182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E2DCD753-2CF3-0B38-F1D3-A5F39939F30E}"/>
              </a:ext>
            </a:extLst>
          </p:cNvPr>
          <p:cNvGrpSpPr>
            <a:grpSpLocks noChangeAspect="1"/>
          </p:cNvGrpSpPr>
          <p:nvPr/>
        </p:nvGrpSpPr>
        <p:grpSpPr>
          <a:xfrm>
            <a:off x="9613943" y="3817761"/>
            <a:ext cx="1885554" cy="1959790"/>
            <a:chOff x="6630437" y="2359743"/>
            <a:chExt cx="1294361" cy="1345321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ABD2520C-C2EF-AFFC-BEF3-C31E96B4542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630437" y="2359743"/>
              <a:ext cx="1294361" cy="1345321"/>
            </a:xfrm>
            <a:prstGeom prst="rect">
              <a:avLst/>
            </a:prstGeom>
            <a:effectLst>
              <a:outerShdw blurRad="50800" dist="38100" dir="8100000" algn="tr" rotWithShape="0">
                <a:schemeClr val="bg1">
                  <a:alpha val="40000"/>
                </a:schemeClr>
              </a:outerShdw>
            </a:effectLst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DE21DE0B-F6EF-09A6-7C9E-FC10ADE0127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t="17569" r="22774" b="29231"/>
            <a:stretch>
              <a:fillRect/>
            </a:stretch>
          </p:blipFill>
          <p:spPr>
            <a:xfrm>
              <a:off x="6691982" y="2409489"/>
              <a:ext cx="1196534" cy="1159835"/>
            </a:xfrm>
            <a:prstGeom prst="rect">
              <a:avLst/>
            </a:prstGeom>
          </p:spPr>
        </p:pic>
      </p:grpSp>
      <p:pic>
        <p:nvPicPr>
          <p:cNvPr id="39" name="Picture 38">
            <a:extLst>
              <a:ext uri="{FF2B5EF4-FFF2-40B4-BE49-F238E27FC236}">
                <a16:creationId xmlns:a16="http://schemas.microsoft.com/office/drawing/2014/main" id="{1C1044D4-C7AB-6C93-7976-C69B58D4183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13943" y="353781"/>
            <a:ext cx="2092061" cy="2885601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E896EC11-0D71-17AC-4B3A-DEF10CE2FCA2}"/>
              </a:ext>
            </a:extLst>
          </p:cNvPr>
          <p:cNvSpPr txBox="1"/>
          <p:nvPr/>
        </p:nvSpPr>
        <p:spPr>
          <a:xfrm>
            <a:off x="7654834" y="6587212"/>
            <a:ext cx="454756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r">
              <a:defRPr b="1">
                <a:solidFill>
                  <a:schemeClr val="accent2"/>
                </a:solidFill>
              </a:defRPr>
            </a:lvl1pPr>
          </a:lstStyle>
          <a:p>
            <a:r>
              <a:rPr lang="LID4096" sz="1200" dirty="0"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https://github.com/grossiRM/CFD_ON/tree/main/04_OpenFoam</a:t>
            </a:r>
            <a:endParaRPr lang="LID4096" sz="1200" dirty="0"/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9169F650-745C-3684-43AA-375A0872FA20}"/>
              </a:ext>
            </a:extLst>
          </p:cNvPr>
          <p:cNvGrpSpPr/>
          <p:nvPr/>
        </p:nvGrpSpPr>
        <p:grpSpPr>
          <a:xfrm>
            <a:off x="477994" y="2423089"/>
            <a:ext cx="5932123" cy="4368779"/>
            <a:chOff x="477994" y="2440507"/>
            <a:chExt cx="5932123" cy="4368779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52F60EAB-C414-E9B6-8F84-DA483CB5A174}"/>
                </a:ext>
              </a:extLst>
            </p:cNvPr>
            <p:cNvGrpSpPr/>
            <p:nvPr/>
          </p:nvGrpSpPr>
          <p:grpSpPr>
            <a:xfrm>
              <a:off x="4759327" y="2621559"/>
              <a:ext cx="950514" cy="883294"/>
              <a:chOff x="9845949" y="5571569"/>
              <a:chExt cx="950514" cy="883294"/>
            </a:xfrm>
          </p:grpSpPr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830E9015-6308-2730-2E5B-2460429CC1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845949" y="5681017"/>
                <a:ext cx="645765" cy="773846"/>
              </a:xfrm>
              <a:prstGeom prst="straightConnector1">
                <a:avLst/>
              </a:prstGeom>
              <a:ln>
                <a:solidFill>
                  <a:srgbClr val="0000FF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ADE6537-FA2D-E505-7656-214443B94520}"/>
                  </a:ext>
                </a:extLst>
              </p:cNvPr>
              <p:cNvSpPr txBox="1"/>
              <p:nvPr/>
            </p:nvSpPr>
            <p:spPr>
              <a:xfrm>
                <a:off x="10491714" y="5571569"/>
                <a:ext cx="304749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LID4096"/>
                </a:defPPr>
                <a:lvl1pPr>
                  <a:defRPr sz="1050" b="1">
                    <a:solidFill>
                      <a:srgbClr val="0000FF"/>
                    </a:solidFill>
                  </a:defRPr>
                </a:lvl1pPr>
              </a:lstStyle>
              <a:p>
                <a:r>
                  <a:rPr lang="en-GB" sz="1100" noProof="0" dirty="0"/>
                  <a:t>0</a:t>
                </a:r>
                <a:endParaRPr lang="en-GB" sz="1400" noProof="0" dirty="0">
                  <a:solidFill>
                    <a:srgbClr val="FF0000"/>
                  </a:solidFill>
                </a:endParaRPr>
              </a:p>
            </p:txBody>
          </p:sp>
        </p:grp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D85CDA5-FA95-6C1C-63F5-4216390686B0}"/>
                </a:ext>
              </a:extLst>
            </p:cNvPr>
            <p:cNvSpPr/>
            <p:nvPr/>
          </p:nvSpPr>
          <p:spPr>
            <a:xfrm>
              <a:off x="1511152" y="2731586"/>
              <a:ext cx="1283035" cy="874287"/>
            </a:xfrm>
            <a:prstGeom prst="rect">
              <a:avLst/>
            </a:prstGeom>
            <a:noFill/>
            <a:ln>
              <a:solidFill>
                <a:srgbClr val="00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CAA055A-30BC-C2FA-4078-581546984846}"/>
                </a:ext>
              </a:extLst>
            </p:cNvPr>
            <p:cNvSpPr txBox="1"/>
            <p:nvPr/>
          </p:nvSpPr>
          <p:spPr>
            <a:xfrm>
              <a:off x="1516360" y="2440507"/>
              <a:ext cx="177191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600" noProof="0" dirty="0"/>
                <a:t>Convection</a:t>
              </a:r>
              <a:endParaRPr lang="en-GB" sz="2400" noProof="0" dirty="0">
                <a:solidFill>
                  <a:srgbClr val="FF0000"/>
                </a:solidFill>
              </a:endParaRPr>
            </a:p>
          </p:txBody>
        </p:sp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40A33C73-84AC-5683-A5C4-947ED10DF2C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58404" y="4102860"/>
              <a:ext cx="5048250" cy="638175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9036BC6B-037C-E382-EA58-A095A4736E73}"/>
                </a:ext>
              </a:extLst>
            </p:cNvPr>
            <p:cNvGrpSpPr/>
            <p:nvPr/>
          </p:nvGrpSpPr>
          <p:grpSpPr>
            <a:xfrm>
              <a:off x="4759327" y="3857741"/>
              <a:ext cx="950514" cy="883294"/>
              <a:chOff x="9845949" y="5571569"/>
              <a:chExt cx="950514" cy="883294"/>
            </a:xfrm>
          </p:grpSpPr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1F42D383-B269-275E-70EE-6DBB8A09D83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845949" y="5681017"/>
                <a:ext cx="645765" cy="773846"/>
              </a:xfrm>
              <a:prstGeom prst="straightConnector1">
                <a:avLst/>
              </a:prstGeom>
              <a:ln>
                <a:solidFill>
                  <a:srgbClr val="0000FF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8863DE5-A794-62E4-83AC-7E8A481C4DCE}"/>
                  </a:ext>
                </a:extLst>
              </p:cNvPr>
              <p:cNvSpPr txBox="1"/>
              <p:nvPr/>
            </p:nvSpPr>
            <p:spPr>
              <a:xfrm>
                <a:off x="10491714" y="5571569"/>
                <a:ext cx="304749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LID4096"/>
                </a:defPPr>
                <a:lvl1pPr>
                  <a:defRPr sz="1050" b="1">
                    <a:solidFill>
                      <a:srgbClr val="0000FF"/>
                    </a:solidFill>
                  </a:defRPr>
                </a:lvl1pPr>
              </a:lstStyle>
              <a:p>
                <a:r>
                  <a:rPr lang="en-GB" sz="1100" noProof="0" dirty="0"/>
                  <a:t>0</a:t>
                </a:r>
                <a:endParaRPr lang="en-GB" sz="1400" noProof="0" dirty="0">
                  <a:solidFill>
                    <a:srgbClr val="FF0000"/>
                  </a:solidFill>
                </a:endParaRPr>
              </a:p>
            </p:txBody>
          </p:sp>
        </p:grp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381484EC-5D3A-1183-56FB-1942CADF23EA}"/>
                </a:ext>
              </a:extLst>
            </p:cNvPr>
            <p:cNvSpPr/>
            <p:nvPr/>
          </p:nvSpPr>
          <p:spPr>
            <a:xfrm>
              <a:off x="3113710" y="3967768"/>
              <a:ext cx="1283035" cy="874287"/>
            </a:xfrm>
            <a:prstGeom prst="rect">
              <a:avLst/>
            </a:prstGeom>
            <a:noFill/>
            <a:ln>
              <a:solidFill>
                <a:srgbClr val="00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F25FB294-9D43-FE31-EF20-DC8D56250767}"/>
                </a:ext>
              </a:extLst>
            </p:cNvPr>
            <p:cNvSpPr txBox="1"/>
            <p:nvPr/>
          </p:nvSpPr>
          <p:spPr>
            <a:xfrm>
              <a:off x="3284383" y="3676689"/>
              <a:ext cx="177191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600" noProof="0" dirty="0"/>
                <a:t>Diffusion</a:t>
              </a:r>
              <a:endParaRPr lang="en-GB" sz="2400" noProof="0" dirty="0">
                <a:solidFill>
                  <a:srgbClr val="FF0000"/>
                </a:solidFill>
              </a:endParaRPr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633BF864-9904-C9AA-FD4B-C920A6E1F5F0}"/>
                </a:ext>
              </a:extLst>
            </p:cNvPr>
            <p:cNvCxnSpPr/>
            <p:nvPr/>
          </p:nvCxnSpPr>
          <p:spPr>
            <a:xfrm>
              <a:off x="3586038" y="4647562"/>
              <a:ext cx="707010" cy="0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B6AE1F50-F04C-28A0-D8C4-531CCC3AD8E5}"/>
                </a:ext>
              </a:extLst>
            </p:cNvPr>
            <p:cNvGrpSpPr/>
            <p:nvPr/>
          </p:nvGrpSpPr>
          <p:grpSpPr>
            <a:xfrm>
              <a:off x="1831715" y="5201506"/>
              <a:ext cx="3773322" cy="1607780"/>
              <a:chOff x="2931952" y="995752"/>
              <a:chExt cx="3773322" cy="1607780"/>
            </a:xfrm>
          </p:grpSpPr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CB739BC1-00C7-322B-3624-17656FF034FE}"/>
                  </a:ext>
                </a:extLst>
              </p:cNvPr>
              <p:cNvGrpSpPr/>
              <p:nvPr/>
            </p:nvGrpSpPr>
            <p:grpSpPr>
              <a:xfrm>
                <a:off x="2931952" y="995752"/>
                <a:ext cx="3765147" cy="1295400"/>
                <a:chOff x="8101480" y="5268987"/>
                <a:chExt cx="3765147" cy="1295400"/>
              </a:xfrm>
            </p:grpSpPr>
            <p:grpSp>
              <p:nvGrpSpPr>
                <p:cNvPr id="35" name="Group 34">
                  <a:extLst>
                    <a:ext uri="{FF2B5EF4-FFF2-40B4-BE49-F238E27FC236}">
                      <a16:creationId xmlns:a16="http://schemas.microsoft.com/office/drawing/2014/main" id="{789D87EC-5BCA-F593-35A3-056762118245}"/>
                    </a:ext>
                  </a:extLst>
                </p:cNvPr>
                <p:cNvGrpSpPr/>
                <p:nvPr/>
              </p:nvGrpSpPr>
              <p:grpSpPr>
                <a:xfrm>
                  <a:off x="8101480" y="5268987"/>
                  <a:ext cx="3762375" cy="1295400"/>
                  <a:chOff x="7529768" y="4495989"/>
                  <a:chExt cx="3762375" cy="1295400"/>
                </a:xfrm>
              </p:grpSpPr>
              <p:pic>
                <p:nvPicPr>
                  <p:cNvPr id="37" name="Picture 36">
                    <a:extLst>
                      <a:ext uri="{FF2B5EF4-FFF2-40B4-BE49-F238E27FC236}">
                        <a16:creationId xmlns:a16="http://schemas.microsoft.com/office/drawing/2014/main" id="{9AF28A18-3B68-676F-A22F-AAF0F7F3D7C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0"/>
                  <a:stretch>
                    <a:fillRect/>
                  </a:stretch>
                </p:blipFill>
                <p:spPr>
                  <a:xfrm>
                    <a:off x="7529768" y="4495989"/>
                    <a:ext cx="3762375" cy="1295400"/>
                  </a:xfrm>
                  <a:prstGeom prst="rect">
                    <a:avLst/>
                  </a:prstGeom>
                  <a:ln>
                    <a:solidFill>
                      <a:schemeClr val="tx1"/>
                    </a:solidFill>
                  </a:ln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p:spPr>
              </p:pic>
              <p:cxnSp>
                <p:nvCxnSpPr>
                  <p:cNvPr id="38" name="Straight Arrow Connector 37">
                    <a:extLst>
                      <a:ext uri="{FF2B5EF4-FFF2-40B4-BE49-F238E27FC236}">
                        <a16:creationId xmlns:a16="http://schemas.microsoft.com/office/drawing/2014/main" id="{835C06E5-B94A-D5F6-F52B-624451D872B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0419043" y="4929376"/>
                    <a:ext cx="645765" cy="773846"/>
                  </a:xfrm>
                  <a:prstGeom prst="straightConnector1">
                    <a:avLst/>
                  </a:prstGeom>
                  <a:ln>
                    <a:solidFill>
                      <a:srgbClr val="0000FF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CC71AB1C-70AC-5F90-7D68-886997816384}"/>
                    </a:ext>
                  </a:extLst>
                </p:cNvPr>
                <p:cNvSpPr txBox="1"/>
                <p:nvPr/>
              </p:nvSpPr>
              <p:spPr>
                <a:xfrm>
                  <a:off x="11561878" y="5655077"/>
                  <a:ext cx="304749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defPPr>
                    <a:defRPr lang="LID4096"/>
                  </a:defPPr>
                  <a:lvl1pPr>
                    <a:defRPr sz="1050" b="1">
                      <a:solidFill>
                        <a:srgbClr val="0000FF"/>
                      </a:solidFill>
                    </a:defRPr>
                  </a:lvl1pPr>
                </a:lstStyle>
                <a:p>
                  <a:r>
                    <a:rPr lang="en-GB" sz="1100" noProof="0" dirty="0"/>
                    <a:t>0</a:t>
                  </a:r>
                  <a:endParaRPr lang="en-GB" sz="1400" noProof="0" dirty="0">
                    <a:solidFill>
                      <a:srgbClr val="FF0000"/>
                    </a:solidFill>
                  </a:endParaRPr>
                </a:p>
              </p:txBody>
            </p:sp>
          </p:grp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833396D-28F7-B15E-37E4-7152F0FEA3FD}"/>
                  </a:ext>
                </a:extLst>
              </p:cNvPr>
              <p:cNvSpPr txBox="1"/>
              <p:nvPr/>
            </p:nvSpPr>
            <p:spPr>
              <a:xfrm>
                <a:off x="5662447" y="2295755"/>
                <a:ext cx="104282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LID4096"/>
                </a:defPPr>
                <a:lvl1pPr>
                  <a:defRPr sz="1050" b="1">
                    <a:solidFill>
                      <a:srgbClr val="0000FF"/>
                    </a:solidFill>
                  </a:defRPr>
                </a:lvl1pPr>
              </a:lstStyle>
              <a:p>
                <a:pPr algn="ctr"/>
                <a:r>
                  <a:rPr lang="en-GB" sz="1400" noProof="0" dirty="0"/>
                  <a:t>Diffusion</a:t>
                </a:r>
                <a:endParaRPr lang="en-GB" sz="2000" noProof="0" dirty="0">
                  <a:solidFill>
                    <a:srgbClr val="FF0000"/>
                  </a:solidFill>
                </a:endParaRP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3747334-5302-0FC6-BFF0-0672F09D5B85}"/>
                </a:ext>
              </a:extLst>
            </p:cNvPr>
            <p:cNvGrpSpPr/>
            <p:nvPr/>
          </p:nvGrpSpPr>
          <p:grpSpPr>
            <a:xfrm>
              <a:off x="558404" y="2489214"/>
              <a:ext cx="5851713" cy="1015639"/>
              <a:chOff x="558404" y="2489214"/>
              <a:chExt cx="5851713" cy="1015639"/>
            </a:xfrm>
          </p:grpSpPr>
          <p:pic>
            <p:nvPicPr>
              <p:cNvPr id="18" name="Picture 17">
                <a:extLst>
                  <a:ext uri="{FF2B5EF4-FFF2-40B4-BE49-F238E27FC236}">
                    <a16:creationId xmlns:a16="http://schemas.microsoft.com/office/drawing/2014/main" id="{9744FEA0-5E34-8E39-0C2E-60FDF6B5653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58404" y="2866678"/>
                <a:ext cx="5048250" cy="63817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</p:pic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025958C-491D-87F4-4577-E9EC1BB39419}"/>
                  </a:ext>
                </a:extLst>
              </p:cNvPr>
              <p:cNvSpPr txBox="1"/>
              <p:nvPr/>
            </p:nvSpPr>
            <p:spPr>
              <a:xfrm>
                <a:off x="4638206" y="2489214"/>
                <a:ext cx="177191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LID4096"/>
                </a:defPPr>
                <a:lvl1pPr>
                  <a:defRPr sz="1050" b="1">
                    <a:solidFill>
                      <a:srgbClr val="0000FF"/>
                    </a:solidFill>
                  </a:defRPr>
                </a:lvl1pPr>
              </a:lstStyle>
              <a:p>
                <a:r>
                  <a:rPr lang="en-GB" sz="1600" noProof="0" dirty="0">
                    <a:solidFill>
                      <a:schemeClr val="tx1"/>
                    </a:solidFill>
                  </a:rPr>
                  <a:t>source</a:t>
                </a:r>
                <a:endParaRPr lang="en-GB" sz="2400" noProof="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BC657EAA-5C3B-A5E5-3225-BE16ED66CE4E}"/>
                </a:ext>
              </a:extLst>
            </p:cNvPr>
            <p:cNvSpPr txBox="1"/>
            <p:nvPr/>
          </p:nvSpPr>
          <p:spPr>
            <a:xfrm>
              <a:off x="477994" y="4727096"/>
              <a:ext cx="177191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600" noProof="0" dirty="0">
                  <a:solidFill>
                    <a:schemeClr val="tx1"/>
                  </a:solidFill>
                </a:rPr>
                <a:t>transient</a:t>
              </a:r>
              <a:endParaRPr lang="en-GB" sz="2400" noProof="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C7B4752-972B-B4CD-0668-F3C2454A64D4}"/>
              </a:ext>
            </a:extLst>
          </p:cNvPr>
          <p:cNvGrpSpPr/>
          <p:nvPr/>
        </p:nvGrpSpPr>
        <p:grpSpPr>
          <a:xfrm>
            <a:off x="8064331" y="1929115"/>
            <a:ext cx="1771911" cy="1185110"/>
            <a:chOff x="8203670" y="2011283"/>
            <a:chExt cx="1771911" cy="1185110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2222AA1-7B88-F41A-D22D-374396CA3CB9}"/>
                </a:ext>
              </a:extLst>
            </p:cNvPr>
            <p:cNvSpPr txBox="1"/>
            <p:nvPr/>
          </p:nvSpPr>
          <p:spPr>
            <a:xfrm>
              <a:off x="8203670" y="2011283"/>
              <a:ext cx="1771911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pPr algn="ctr"/>
              <a:r>
                <a:rPr lang="en-GB" sz="1600" dirty="0"/>
                <a:t>Convection</a:t>
              </a:r>
            </a:p>
            <a:p>
              <a:pPr algn="ctr"/>
              <a:endParaRPr lang="en-GB" sz="2400" dirty="0">
                <a:solidFill>
                  <a:srgbClr val="FF0000"/>
                </a:solidFill>
              </a:endParaRPr>
            </a:p>
            <a:p>
              <a:pPr algn="ctr"/>
              <a:r>
                <a:rPr lang="en-GB" sz="1600" noProof="0" dirty="0"/>
                <a:t>Diffusion</a:t>
              </a:r>
              <a:endParaRPr lang="en-GB" sz="2400" noProof="0" dirty="0">
                <a:solidFill>
                  <a:srgbClr val="FF0000"/>
                </a:solidFill>
              </a:endParaRPr>
            </a:p>
          </p:txBody>
        </p:sp>
        <p:sp>
          <p:nvSpPr>
            <p:cNvPr id="15" name="Arrow: Right 14">
              <a:extLst>
                <a:ext uri="{FF2B5EF4-FFF2-40B4-BE49-F238E27FC236}">
                  <a16:creationId xmlns:a16="http://schemas.microsoft.com/office/drawing/2014/main" id="{7C23C4F5-EE04-8043-952A-FD01373D9A30}"/>
                </a:ext>
              </a:extLst>
            </p:cNvPr>
            <p:cNvSpPr/>
            <p:nvPr/>
          </p:nvSpPr>
          <p:spPr>
            <a:xfrm>
              <a:off x="8913669" y="2352521"/>
              <a:ext cx="419788" cy="273385"/>
            </a:xfrm>
            <a:prstGeom prst="rightArrow">
              <a:avLst/>
            </a:prstGeom>
            <a:solidFill>
              <a:srgbClr val="0000FF"/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6" name="Arrow: Left-Right 15">
              <a:extLst>
                <a:ext uri="{FF2B5EF4-FFF2-40B4-BE49-F238E27FC236}">
                  <a16:creationId xmlns:a16="http://schemas.microsoft.com/office/drawing/2014/main" id="{563142DB-D410-A5B8-FF3C-89B6F1EF943C}"/>
                </a:ext>
              </a:extLst>
            </p:cNvPr>
            <p:cNvSpPr/>
            <p:nvPr/>
          </p:nvSpPr>
          <p:spPr>
            <a:xfrm>
              <a:off x="8913668" y="2923008"/>
              <a:ext cx="419788" cy="273385"/>
            </a:xfrm>
            <a:prstGeom prst="leftRightArrow">
              <a:avLst/>
            </a:prstGeom>
            <a:solidFill>
              <a:srgbClr val="0000FF"/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3FA6950B-6802-718E-A7C0-A49214533B51}"/>
              </a:ext>
            </a:extLst>
          </p:cNvPr>
          <p:cNvSpPr/>
          <p:nvPr/>
        </p:nvSpPr>
        <p:spPr>
          <a:xfrm>
            <a:off x="4641220" y="2758087"/>
            <a:ext cx="328660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Exemplos:</a:t>
            </a:r>
          </a:p>
        </p:txBody>
      </p:sp>
    </p:spTree>
    <p:extLst>
      <p:ext uri="{BB962C8B-B14F-4D97-AF65-F5344CB8AC3E}">
        <p14:creationId xmlns:p14="http://schemas.microsoft.com/office/powerpoint/2010/main" val="23272528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D875D-67FD-9B24-B912-8EA09C7FF2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A3BE21A-7AD4-B7FC-B779-AF6E28BF597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1A2E2A1-837C-F715-7DAC-4B78CC1F8F81}"/>
              </a:ext>
            </a:extLst>
          </p:cNvPr>
          <p:cNvGrpSpPr/>
          <p:nvPr/>
        </p:nvGrpSpPr>
        <p:grpSpPr>
          <a:xfrm>
            <a:off x="572120" y="3379884"/>
            <a:ext cx="1892406" cy="3115100"/>
            <a:chOff x="374391" y="857146"/>
            <a:chExt cx="1568161" cy="248385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7245F66A-9DEC-0169-8F9B-C4C55976D4B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36027" t="14307" r="35724" b="19738"/>
            <a:stretch>
              <a:fillRect/>
            </a:stretch>
          </p:blipFill>
          <p:spPr>
            <a:xfrm>
              <a:off x="374391" y="857146"/>
              <a:ext cx="1383223" cy="248385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5308611-E753-48D1-031F-07563486DC53}"/>
                </a:ext>
              </a:extLst>
            </p:cNvPr>
            <p:cNvSpPr txBox="1"/>
            <p:nvPr/>
          </p:nvSpPr>
          <p:spPr>
            <a:xfrm>
              <a:off x="494748" y="2506030"/>
              <a:ext cx="1447804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GB" sz="20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haris SIL"/>
                </a:rPr>
                <a:t>&amp; FEniCS</a:t>
              </a:r>
              <a:endParaRPr lang="LID4096" sz="2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162ADE90-CA40-E615-19E8-D932139D6419}"/>
              </a:ext>
            </a:extLst>
          </p:cNvPr>
          <p:cNvSpPr txBox="1"/>
          <p:nvPr/>
        </p:nvSpPr>
        <p:spPr>
          <a:xfrm>
            <a:off x="572120" y="363016"/>
            <a:ext cx="3829128" cy="1908215"/>
          </a:xfrm>
          <a:prstGeom prst="rect">
            <a:avLst/>
          </a:prstGeom>
          <a:solidFill>
            <a:schemeClr val="tx1"/>
          </a:solidFill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   ===========                 </a:t>
            </a:r>
          </a:p>
          <a:p>
            <a:r>
              <a:rPr lang="en-US" dirty="0">
                <a:solidFill>
                  <a:schemeClr val="bg1"/>
                </a:solidFill>
              </a:rPr>
              <a:t>     \ \               /     </a:t>
            </a:r>
            <a:r>
              <a:rPr lang="en-US" sz="2400" b="1" dirty="0">
                <a:solidFill>
                  <a:srgbClr val="FFFF00"/>
                </a:solidFill>
              </a:rPr>
              <a:t>F</a:t>
            </a:r>
            <a:r>
              <a:rPr lang="en-US" sz="2000" dirty="0">
                <a:solidFill>
                  <a:schemeClr val="bg1"/>
                </a:solidFill>
              </a:rPr>
              <a:t>   ield             </a:t>
            </a:r>
          </a:p>
          <a:p>
            <a:r>
              <a:rPr lang="en-US" sz="2000" dirty="0">
                <a:solidFill>
                  <a:schemeClr val="bg1"/>
                </a:solidFill>
              </a:rPr>
              <a:t>      \ \          /      </a:t>
            </a:r>
            <a:r>
              <a:rPr lang="en-US" sz="2400" b="1" dirty="0">
                <a:solidFill>
                  <a:srgbClr val="FFFF00"/>
                </a:solidFill>
              </a:rPr>
              <a:t>O</a:t>
            </a:r>
            <a:r>
              <a:rPr lang="en-US" sz="2000" dirty="0">
                <a:solidFill>
                  <a:schemeClr val="bg1"/>
                </a:solidFill>
              </a:rPr>
              <a:t>  peration    </a:t>
            </a:r>
          </a:p>
          <a:p>
            <a:r>
              <a:rPr lang="en-US" sz="2000" dirty="0">
                <a:solidFill>
                  <a:schemeClr val="bg1"/>
                </a:solidFill>
              </a:rPr>
              <a:t>        \ \      /        </a:t>
            </a:r>
            <a:r>
              <a:rPr lang="en-US" sz="2400" b="1" dirty="0">
                <a:solidFill>
                  <a:srgbClr val="FFFF00"/>
                </a:solidFill>
              </a:rPr>
              <a:t>A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  <a:r>
              <a:rPr lang="en-US" sz="2000" dirty="0">
                <a:solidFill>
                  <a:schemeClr val="bg1"/>
                </a:solidFill>
              </a:rPr>
              <a:t>nd          </a:t>
            </a:r>
          </a:p>
          <a:p>
            <a:r>
              <a:rPr lang="en-US" sz="2000" dirty="0">
                <a:solidFill>
                  <a:schemeClr val="bg1"/>
                </a:solidFill>
              </a:rPr>
              <a:t>          \ \  /          </a:t>
            </a:r>
            <a:r>
              <a:rPr lang="en-US" sz="2400" b="1" dirty="0">
                <a:solidFill>
                  <a:srgbClr val="FFFF00"/>
                </a:solidFill>
              </a:rPr>
              <a:t>M</a:t>
            </a:r>
            <a:r>
              <a:rPr lang="en-US" sz="2000" dirty="0">
                <a:solidFill>
                  <a:schemeClr val="bg1"/>
                </a:solidFill>
              </a:rPr>
              <a:t> anipulation  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1E21E43-DF4B-16CA-174D-BFAAA204C31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792" t="1090" b="20744"/>
          <a:stretch>
            <a:fillRect/>
          </a:stretch>
        </p:blipFill>
        <p:spPr>
          <a:xfrm>
            <a:off x="6195835" y="3379884"/>
            <a:ext cx="5510170" cy="312182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DAE20E3A-A3B3-E7F6-CB63-5518A306DA40}"/>
              </a:ext>
            </a:extLst>
          </p:cNvPr>
          <p:cNvGrpSpPr>
            <a:grpSpLocks noChangeAspect="1"/>
          </p:cNvGrpSpPr>
          <p:nvPr/>
        </p:nvGrpSpPr>
        <p:grpSpPr>
          <a:xfrm>
            <a:off x="9613943" y="3817761"/>
            <a:ext cx="1885554" cy="1959790"/>
            <a:chOff x="6630437" y="2359743"/>
            <a:chExt cx="1294361" cy="1345321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F9A32EFC-B4A4-BF9E-2776-8EE16FCB527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630437" y="2359743"/>
              <a:ext cx="1294361" cy="1345321"/>
            </a:xfrm>
            <a:prstGeom prst="rect">
              <a:avLst/>
            </a:prstGeom>
            <a:effectLst>
              <a:outerShdw blurRad="50800" dist="38100" dir="8100000" algn="tr" rotWithShape="0">
                <a:schemeClr val="bg1">
                  <a:alpha val="40000"/>
                </a:schemeClr>
              </a:outerShdw>
            </a:effectLst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46DAC8DD-9485-EEB0-E59D-776CA206818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t="17569" r="22774" b="29231"/>
            <a:stretch>
              <a:fillRect/>
            </a:stretch>
          </p:blipFill>
          <p:spPr>
            <a:xfrm>
              <a:off x="6691982" y="2409489"/>
              <a:ext cx="1196534" cy="1159835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307A762-893C-DDE6-F894-E1C8EECFA567}"/>
              </a:ext>
            </a:extLst>
          </p:cNvPr>
          <p:cNvSpPr/>
          <p:nvPr/>
        </p:nvSpPr>
        <p:spPr>
          <a:xfrm>
            <a:off x="6120831" y="3817761"/>
            <a:ext cx="328660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Exemplos: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25AA4D-EC4A-1BC9-9C1F-C957015073F6}"/>
              </a:ext>
            </a:extLst>
          </p:cNvPr>
          <p:cNvSpPr txBox="1"/>
          <p:nvPr/>
        </p:nvSpPr>
        <p:spPr>
          <a:xfrm>
            <a:off x="2539530" y="5889445"/>
            <a:ext cx="300401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r">
              <a:defRPr sz="1200" b="1">
                <a:solidFill>
                  <a:schemeClr val="accent2"/>
                </a:solidFill>
              </a:defRPr>
            </a:lvl1pPr>
          </a:lstStyle>
          <a:p>
            <a:pPr algn="l"/>
            <a:r>
              <a:rPr lang="LID4096" dirty="0"/>
              <a:t>https://github.com/grossiRM/CFD_ON/blob/main/04_OpenFoam/FEniCS/01b__A%20FEniCS%20Tutorial__ii__.pdf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8F4BFBB-1CC9-3088-1AC9-25F5C31B01AE}"/>
              </a:ext>
            </a:extLst>
          </p:cNvPr>
          <p:cNvSpPr txBox="1"/>
          <p:nvPr/>
        </p:nvSpPr>
        <p:spPr>
          <a:xfrm>
            <a:off x="572120" y="2596931"/>
            <a:ext cx="61961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b="1" i="0" u="none" strike="noStrike" baseline="0" dirty="0">
                <a:solidFill>
                  <a:srgbClr val="04174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XvlwhpYpshnbMyriadPro-Cond"/>
              </a:rPr>
              <a:t>Solving PDEs in Python</a:t>
            </a:r>
            <a:endParaRPr lang="LID4096" sz="3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65C415E-363C-4860-8718-0E36D31E62C6}"/>
              </a:ext>
            </a:extLst>
          </p:cNvPr>
          <p:cNvSpPr txBox="1"/>
          <p:nvPr/>
        </p:nvSpPr>
        <p:spPr>
          <a:xfrm>
            <a:off x="2539530" y="3750704"/>
            <a:ext cx="279554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2800" b="1" i="0" u="none" strike="noStrike" baseline="0">
                <a:solidFill>
                  <a:srgbClr val="041743"/>
                </a:solidFill>
                <a:latin typeface="XvlwhpYpshnbMyriadPro-Cond"/>
              </a:defRPr>
            </a:lvl1pPr>
          </a:lstStyle>
          <a:p>
            <a:r>
              <a:rPr lang="en-US" sz="3600" spc="200" normalizeH="1" dirty="0"/>
              <a:t>Partial Differential Equations</a:t>
            </a:r>
            <a:endParaRPr lang="LID4096" sz="3600" spc="200" normalizeH="1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B002F90-A0B3-0035-4634-68B53EB6479F}"/>
              </a:ext>
            </a:extLst>
          </p:cNvPr>
          <p:cNvGrpSpPr/>
          <p:nvPr/>
        </p:nvGrpSpPr>
        <p:grpSpPr>
          <a:xfrm>
            <a:off x="6551024" y="1999209"/>
            <a:ext cx="4461584" cy="1024382"/>
            <a:chOff x="344381" y="5178922"/>
            <a:chExt cx="4461584" cy="102438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B7B91B55-0F6F-9EE3-9055-BA28C3136980}"/>
                    </a:ext>
                  </a:extLst>
                </p:cNvPr>
                <p:cNvSpPr txBox="1"/>
                <p:nvPr/>
              </p:nvSpPr>
              <p:spPr>
                <a:xfrm>
                  <a:off x="344381" y="5178922"/>
                  <a:ext cx="3351861" cy="81926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2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𝝆</m:t>
                        </m:r>
                        <m:sSub>
                          <m:sSubPr>
                            <m:ctrlPr>
                              <a:rPr lang="pt-BR" sz="28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𝐕</m:t>
                            </m:r>
                          </m:sub>
                        </m:sSub>
                        <m:f>
                          <m:fPr>
                            <m:ctrlPr>
                              <a:rPr lang="pt-BR" sz="28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sz="2800" b="1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𝛛</m:t>
                            </m:r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𝐓</m:t>
                            </m:r>
                          </m:num>
                          <m:den>
                            <m:r>
                              <a:rPr lang="pt-BR" sz="2800" b="1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𝛛</m:t>
                            </m:r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𝐭</m:t>
                            </m:r>
                          </m:den>
                        </m:f>
                        <m:r>
                          <a:rPr lang="pt-B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𝐊</m:t>
                        </m:r>
                        <m:sSup>
                          <m:sSupPr>
                            <m:ctrlPr>
                              <a:rPr lang="el-GR" sz="28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pt-BR" sz="2800" b="1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𝛁</m:t>
                            </m:r>
                          </m:e>
                          <m:sup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  <m:r>
                          <a:rPr lang="pt-B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𝐓</m:t>
                        </m:r>
                        <m:r>
                          <a:rPr lang="pt-B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l-G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𝚽</m:t>
                        </m:r>
                      </m:oMath>
                    </m:oMathPara>
                  </a14:m>
                  <a:endParaRPr lang="LID4096" sz="2800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B7B91B55-0F6F-9EE3-9055-BA28C31369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381" y="5178922"/>
                  <a:ext cx="3351861" cy="81926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54D8DA1-6611-11DD-379F-B2D7435B9B4B}"/>
                </a:ext>
              </a:extLst>
            </p:cNvPr>
            <p:cNvSpPr txBox="1"/>
            <p:nvPr/>
          </p:nvSpPr>
          <p:spPr>
            <a:xfrm>
              <a:off x="2393134" y="5741639"/>
              <a:ext cx="24128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pPr algn="r"/>
              <a:r>
                <a:rPr lang="pt-BR" sz="2400" dirty="0"/>
                <a:t>Energia</a:t>
              </a:r>
              <a:endParaRPr lang="pt-BR" sz="3600" noProof="0" dirty="0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EA04D87-4B50-C084-712B-3B43805AB039}"/>
              </a:ext>
            </a:extLst>
          </p:cNvPr>
          <p:cNvGrpSpPr/>
          <p:nvPr/>
        </p:nvGrpSpPr>
        <p:grpSpPr>
          <a:xfrm>
            <a:off x="6660264" y="486820"/>
            <a:ext cx="4384226" cy="461665"/>
            <a:chOff x="497166" y="3936503"/>
            <a:chExt cx="4384226" cy="461665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7D1A05D-C64F-6499-0CA6-09CFCBAEFF65}"/>
                </a:ext>
              </a:extLst>
            </p:cNvPr>
            <p:cNvSpPr txBox="1"/>
            <p:nvPr/>
          </p:nvSpPr>
          <p:spPr>
            <a:xfrm>
              <a:off x="2446624" y="3936503"/>
              <a:ext cx="243476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pPr algn="r"/>
              <a:r>
                <a:rPr lang="pt-BR" sz="2400" dirty="0"/>
                <a:t>Continuidade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05D19B56-30CF-C12D-83DE-A252FFCB9FA7}"/>
                    </a:ext>
                  </a:extLst>
                </p:cNvPr>
                <p:cNvSpPr txBox="1"/>
                <p:nvPr/>
              </p:nvSpPr>
              <p:spPr>
                <a:xfrm>
                  <a:off x="497166" y="3960801"/>
                  <a:ext cx="1362232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2800" b="1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𝛁</m:t>
                        </m:r>
                        <m:r>
                          <a:rPr lang="pt-BR" sz="2800" b="1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</m:t>
                        </m:r>
                        <m:r>
                          <a:rPr lang="pt-BR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𝐕</m:t>
                        </m:r>
                        <m:r>
                          <a:rPr lang="pt-BR" sz="2800" b="1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pt-BR" sz="2800" b="1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𝟎</m:t>
                        </m:r>
                      </m:oMath>
                    </m:oMathPara>
                  </a14:m>
                  <a:endParaRPr lang="LID4096" sz="2800" b="1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071830DD-1380-76F1-6796-D0B84CB9A3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7166" y="3960801"/>
                  <a:ext cx="1362232" cy="43088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73C092D-4B0A-2458-2B3B-5C3466C9CE98}"/>
              </a:ext>
            </a:extLst>
          </p:cNvPr>
          <p:cNvGrpSpPr/>
          <p:nvPr/>
        </p:nvGrpSpPr>
        <p:grpSpPr>
          <a:xfrm>
            <a:off x="6616885" y="965878"/>
            <a:ext cx="4420480" cy="961129"/>
            <a:chOff x="453787" y="4363310"/>
            <a:chExt cx="4420480" cy="961129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51652DF-135A-35F9-7448-374E521E7B74}"/>
                </a:ext>
              </a:extLst>
            </p:cNvPr>
            <p:cNvSpPr txBox="1"/>
            <p:nvPr/>
          </p:nvSpPr>
          <p:spPr>
            <a:xfrm>
              <a:off x="453787" y="4862774"/>
              <a:ext cx="442048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pPr algn="r"/>
              <a:r>
                <a:rPr lang="pt-BR" sz="2400" noProof="0" dirty="0"/>
                <a:t>Qde de movimento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DF0B2FFC-B66B-2426-1D38-85F84B9B3EFB}"/>
                    </a:ext>
                  </a:extLst>
                </p:cNvPr>
                <p:cNvSpPr txBox="1"/>
                <p:nvPr/>
              </p:nvSpPr>
              <p:spPr>
                <a:xfrm>
                  <a:off x="497166" y="4363310"/>
                  <a:ext cx="3728585" cy="62946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pt-BR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𝝆</m:t>
                      </m:r>
                      <m:f>
                        <m:fPr>
                          <m:ctrlPr>
                            <a:rPr lang="pt-BR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b="1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𝛛</m:t>
                          </m:r>
                          <m:r>
                            <a:rPr lang="pt-BR" sz="2800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𝐕</m:t>
                          </m:r>
                        </m:num>
                        <m:den>
                          <m:r>
                            <a:rPr lang="pt-BR" sz="2800" b="1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𝛛</m:t>
                          </m:r>
                          <m:r>
                            <a:rPr lang="pt-BR" sz="2800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𝐭</m:t>
                          </m:r>
                        </m:den>
                      </m:f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pt-BR" sz="2800" b="1" dirty="0">
                      <a:solidFill>
                        <a:schemeClr val="tx1"/>
                      </a:solidFill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pt-BR" sz="28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𝝆</m:t>
                      </m:r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𝐠</m:t>
                      </m:r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pt-BR" sz="2800" b="1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𝛁</m:t>
                      </m:r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𝐩</m:t>
                      </m:r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l-GR" sz="2800" b="1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𝛍</m:t>
                      </m:r>
                      <m:sSup>
                        <m:sSupPr>
                          <m:ctrlPr>
                            <a:rPr lang="el-GR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800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pt-BR" sz="2800" b="1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𝛁</m:t>
                          </m:r>
                        </m:e>
                        <m:sup>
                          <m:r>
                            <a:rPr lang="pt-BR" sz="2800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𝐕</m:t>
                      </m:r>
                    </m:oMath>
                  </a14:m>
                  <a:endParaRPr lang="LID4096" sz="2800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DF0B2FFC-B66B-2426-1D38-85F84B9B3E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7166" y="4363310"/>
                  <a:ext cx="3728585" cy="629468"/>
                </a:xfrm>
                <a:prstGeom prst="rect">
                  <a:avLst/>
                </a:prstGeom>
                <a:blipFill>
                  <a:blip r:embed="rId8"/>
                  <a:stretch>
                    <a:fillRect l="-164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E6AA54-0F5B-302D-5CF2-ED74A57BC7D6}"/>
              </a:ext>
            </a:extLst>
          </p:cNvPr>
          <p:cNvCxnSpPr/>
          <p:nvPr/>
        </p:nvCxnSpPr>
        <p:spPr>
          <a:xfrm>
            <a:off x="6899229" y="948485"/>
            <a:ext cx="3657600" cy="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00E13B1-A7E2-56E7-DC22-1684209FA68D}"/>
              </a:ext>
            </a:extLst>
          </p:cNvPr>
          <p:cNvCxnSpPr/>
          <p:nvPr/>
        </p:nvCxnSpPr>
        <p:spPr>
          <a:xfrm>
            <a:off x="6899229" y="1927007"/>
            <a:ext cx="3657600" cy="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5A876CA4-1D9D-EA73-0176-6BF234BF5D64}"/>
              </a:ext>
            </a:extLst>
          </p:cNvPr>
          <p:cNvSpPr txBox="1"/>
          <p:nvPr/>
        </p:nvSpPr>
        <p:spPr>
          <a:xfrm>
            <a:off x="5094195" y="6582883"/>
            <a:ext cx="70982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r">
              <a:defRPr sz="1200" b="1">
                <a:solidFill>
                  <a:schemeClr val="accent2"/>
                </a:solidFill>
              </a:defRPr>
            </a:lvl1pPr>
          </a:lstStyle>
          <a:p>
            <a:r>
              <a:rPr lang="LID4096" dirty="0"/>
              <a:t>https://github.com/grossiRM/CFD_ON/blob/main/04_OpenFoam/03_NOTES-on-CFD_OpenFoam.pdf</a:t>
            </a:r>
          </a:p>
        </p:txBody>
      </p:sp>
    </p:spTree>
    <p:extLst>
      <p:ext uri="{BB962C8B-B14F-4D97-AF65-F5344CB8AC3E}">
        <p14:creationId xmlns:p14="http://schemas.microsoft.com/office/powerpoint/2010/main" val="41359395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701A74-F5A5-16F0-F1BF-66E372199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93766BC-03E2-9BD8-569C-E6C042905C32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16" name="Picture 2" descr="Development phase">
            <a:extLst>
              <a:ext uri="{FF2B5EF4-FFF2-40B4-BE49-F238E27FC236}">
                <a16:creationId xmlns:a16="http://schemas.microsoft.com/office/drawing/2014/main" id="{14D74540-E379-CFE4-7D31-130239E683E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944" r="37082" b="29005"/>
          <a:stretch>
            <a:fillRect/>
          </a:stretch>
        </p:blipFill>
        <p:spPr bwMode="auto">
          <a:xfrm>
            <a:off x="393544" y="315915"/>
            <a:ext cx="5851492" cy="277598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EAF2CD72-C7D1-A28B-A201-E4BC34BF78B4}"/>
              </a:ext>
            </a:extLst>
          </p:cNvPr>
          <p:cNvSpPr txBox="1"/>
          <p:nvPr/>
        </p:nvSpPr>
        <p:spPr>
          <a:xfrm>
            <a:off x="2612571" y="6586841"/>
            <a:ext cx="957942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r">
              <a:defRPr sz="1200" b="1">
                <a:solidFill>
                  <a:schemeClr val="accent2"/>
                </a:solidFill>
              </a:defRPr>
            </a:lvl1pPr>
          </a:lstStyle>
          <a:p>
            <a:r>
              <a:rPr lang="LID4096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https://formnext.mesago.com/frankfurt/en/industry-insights/am-field-guide/process_in_general.html</a:t>
            </a:r>
            <a:endParaRPr lang="LID4096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93643FC-C13D-2DCF-C53B-CE201BB988FF}"/>
              </a:ext>
            </a:extLst>
          </p:cNvPr>
          <p:cNvGrpSpPr/>
          <p:nvPr/>
        </p:nvGrpSpPr>
        <p:grpSpPr>
          <a:xfrm>
            <a:off x="333332" y="3644329"/>
            <a:ext cx="4367732" cy="2705302"/>
            <a:chOff x="434246" y="3370024"/>
            <a:chExt cx="4367732" cy="270530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7226F45-96C5-5790-AA40-656947B1114D}"/>
                </a:ext>
              </a:extLst>
            </p:cNvPr>
            <p:cNvSpPr txBox="1"/>
            <p:nvPr/>
          </p:nvSpPr>
          <p:spPr>
            <a:xfrm>
              <a:off x="434246" y="4907442"/>
              <a:ext cx="2180776" cy="116788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GB" sz="2400" b="1" u="sng" kern="1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CAM</a:t>
              </a:r>
              <a:r>
                <a:rPr lang="en-GB" b="1" kern="100" dirty="0">
                  <a:effectLst/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 </a:t>
              </a:r>
            </a:p>
            <a:p>
              <a:pPr algn="r">
                <a:lnSpc>
                  <a:spcPct val="107000"/>
                </a:lnSpc>
                <a:spcAft>
                  <a:spcPts val="800"/>
                </a:spcAft>
              </a:pPr>
              <a:r>
                <a:rPr lang="en-GB" b="1" kern="100" dirty="0">
                  <a:effectLst/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Computer-Aided Manufacturing</a:t>
              </a:r>
              <a:endParaRPr lang="en-GB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22C074CF-8F7A-5F3A-6BF1-C90ED073E49C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48438" y="3370024"/>
              <a:ext cx="4053540" cy="2559167"/>
              <a:chOff x="182831" y="3131184"/>
              <a:chExt cx="3789317" cy="2392353"/>
            </a:xfrm>
          </p:grpSpPr>
          <p:pic>
            <p:nvPicPr>
              <p:cNvPr id="21" name="Picture 2" descr="Development phase">
                <a:extLst>
                  <a:ext uri="{FF2B5EF4-FFF2-40B4-BE49-F238E27FC236}">
                    <a16:creationId xmlns:a16="http://schemas.microsoft.com/office/drawing/2014/main" id="{086B03E6-F34E-1145-3D09-B0CE1E95E3F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797" t="23507" r="7142" b="28567"/>
              <a:stretch>
                <a:fillRect/>
              </a:stretch>
            </p:blipFill>
            <p:spPr bwMode="auto">
              <a:xfrm>
                <a:off x="182831" y="3131184"/>
                <a:ext cx="1451202" cy="122056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3" name="Picture 4" descr="AM production phase">
                <a:extLst>
                  <a:ext uri="{FF2B5EF4-FFF2-40B4-BE49-F238E27FC236}">
                    <a16:creationId xmlns:a16="http://schemas.microsoft.com/office/drawing/2014/main" id="{7B2EC496-F5F2-A9D6-BCB3-5E9621F219C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3819" t="18312" r="40994" b="24811"/>
              <a:stretch>
                <a:fillRect/>
              </a:stretch>
            </p:blipFill>
            <p:spPr bwMode="auto">
              <a:xfrm>
                <a:off x="2089196" y="3131184"/>
                <a:ext cx="1882952" cy="2392353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3CA16F-7AC3-758D-A398-DE541F6AAC38}"/>
              </a:ext>
            </a:extLst>
          </p:cNvPr>
          <p:cNvGrpSpPr/>
          <p:nvPr/>
        </p:nvGrpSpPr>
        <p:grpSpPr>
          <a:xfrm>
            <a:off x="6574343" y="963500"/>
            <a:ext cx="5304147" cy="2143912"/>
            <a:chOff x="6763177" y="796305"/>
            <a:chExt cx="5304147" cy="214391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8EBFE5E-1B50-4B85-6981-545C9D574D42}"/>
                </a:ext>
              </a:extLst>
            </p:cNvPr>
            <p:cNvSpPr txBox="1"/>
            <p:nvPr/>
          </p:nvSpPr>
          <p:spPr>
            <a:xfrm>
              <a:off x="6763177" y="796305"/>
              <a:ext cx="4005035" cy="10670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en-GB" sz="2400" b="1" u="sng" kern="1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CAD</a:t>
              </a:r>
              <a:r>
                <a:rPr lang="en-GB" b="1" kern="100" dirty="0">
                  <a:effectLst/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 (Computer-Aided Design)</a:t>
              </a:r>
              <a:r>
                <a:rPr lang="en-GB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 shapes </a:t>
              </a:r>
              <a:r>
                <a:rPr lang="en-GB" kern="100" dirty="0">
                  <a:solidFill>
                    <a:srgbClr val="EE0000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- parametric 3D models (length, width, angles + Rules + History Tree)</a:t>
              </a:r>
              <a:endParaRPr lang="en-GB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577DA59-FD78-1502-E621-7079958E1B61}"/>
                </a:ext>
              </a:extLst>
            </p:cNvPr>
            <p:cNvSpPr txBox="1"/>
            <p:nvPr/>
          </p:nvSpPr>
          <p:spPr>
            <a:xfrm>
              <a:off x="6763177" y="1874925"/>
              <a:ext cx="5304147" cy="106529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GB" sz="2400" b="1" u="sng" kern="1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CAE</a:t>
              </a:r>
              <a:r>
                <a:rPr lang="en-GB" b="1" kern="100" dirty="0">
                  <a:effectLst/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 (Computer-Aided Engineering)</a:t>
              </a:r>
              <a:r>
                <a:rPr lang="en-GB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 </a:t>
              </a:r>
              <a:r>
                <a:rPr lang="en-GB" kern="100" dirty="0"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– </a:t>
              </a:r>
              <a:r>
                <a:rPr lang="en-GB" kern="100" dirty="0">
                  <a:latin typeface="Calibri" panose="020F0502020204030204" pitchFamily="34" charset="0"/>
                  <a:cs typeface="Arial" panose="020B0604020202020204" pitchFamily="34" charset="0"/>
                </a:rPr>
                <a:t>data harvesting </a:t>
              </a:r>
              <a:r>
                <a:rPr lang="en-GB" kern="100" dirty="0">
                  <a:solidFill>
                    <a:srgbClr val="0000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- structural stresses, deformations, </a:t>
              </a:r>
              <a:r>
                <a:rPr lang="en-GB" kern="100" dirty="0">
                  <a:solidFill>
                    <a:srgbClr val="0000FF"/>
                  </a:solidFill>
                  <a:latin typeface="Calibri" panose="020F0502020204030204" pitchFamily="34" charset="0"/>
                  <a:cs typeface="Arial" panose="020B0604020202020204" pitchFamily="34" charset="0"/>
                </a:rPr>
                <a:t>displacement, </a:t>
              </a:r>
              <a:r>
                <a:rPr lang="en-GB" kern="100" dirty="0">
                  <a:solidFill>
                    <a:srgbClr val="0000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and failures – </a:t>
              </a:r>
              <a:r>
                <a:rPr lang="en-GB" b="1" kern="100" dirty="0">
                  <a:solidFill>
                    <a:srgbClr val="0000FF"/>
                  </a:solidFill>
                  <a:effectLst/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FEA - CFD</a:t>
              </a:r>
              <a:endParaRPr lang="en-GB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5" name="Picture 2" descr="Development phase">
              <a:extLst>
                <a:ext uri="{FF2B5EF4-FFF2-40B4-BE49-F238E27FC236}">
                  <a16:creationId xmlns:a16="http://schemas.microsoft.com/office/drawing/2014/main" id="{1F419332-9E0B-3D4F-FD43-722D617EAB6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481" t="38669" r="65218" b="48355"/>
            <a:stretch>
              <a:fillRect/>
            </a:stretch>
          </p:blipFill>
          <p:spPr bwMode="auto">
            <a:xfrm>
              <a:off x="10768212" y="1114044"/>
              <a:ext cx="962796" cy="9627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545CA32-B555-00D8-C431-C7D7060516EB}"/>
              </a:ext>
            </a:extLst>
          </p:cNvPr>
          <p:cNvGrpSpPr/>
          <p:nvPr/>
        </p:nvGrpSpPr>
        <p:grpSpPr>
          <a:xfrm>
            <a:off x="5735426" y="5706256"/>
            <a:ext cx="5682866" cy="656087"/>
            <a:chOff x="5591803" y="5690247"/>
            <a:chExt cx="5682866" cy="65608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E5E8F990-D7E2-4864-AC68-D0069658B8A4}"/>
                </a:ext>
              </a:extLst>
            </p:cNvPr>
            <p:cNvSpPr txBox="1"/>
            <p:nvPr/>
          </p:nvSpPr>
          <p:spPr>
            <a:xfrm>
              <a:off x="5591803" y="5690247"/>
              <a:ext cx="185386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b="1" noProof="0" dirty="0"/>
                <a:t>Pós Processamento</a:t>
              </a:r>
              <a:endParaRPr lang="pt-BR" noProof="0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2FE72C2-4D8E-82EB-10F4-F6EEF285DD8E}"/>
                </a:ext>
              </a:extLst>
            </p:cNvPr>
            <p:cNvSpPr txBox="1"/>
            <p:nvPr/>
          </p:nvSpPr>
          <p:spPr>
            <a:xfrm>
              <a:off x="8390919" y="5700003"/>
              <a:ext cx="2883750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b="1" noProof="0" dirty="0"/>
                <a:t>Testes, Medições </a:t>
              </a:r>
            </a:p>
            <a:p>
              <a:r>
                <a:rPr lang="pt-BR" b="1" noProof="0" dirty="0"/>
                <a:t>&amp; controle de qualidade</a:t>
              </a:r>
              <a:endParaRPr lang="pt-BR" noProof="0" dirty="0"/>
            </a:p>
          </p:txBody>
        </p:sp>
      </p:grp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452C720-64B6-BF56-5FCE-1E9507F4538D}"/>
              </a:ext>
            </a:extLst>
          </p:cNvPr>
          <p:cNvCxnSpPr>
            <a:cxnSpLocks/>
          </p:cNvCxnSpPr>
          <p:nvPr/>
        </p:nvCxnSpPr>
        <p:spPr>
          <a:xfrm>
            <a:off x="5110467" y="3553097"/>
            <a:ext cx="0" cy="2781029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8EC38D7A-B395-A54D-499A-69264F12F803}"/>
              </a:ext>
            </a:extLst>
          </p:cNvPr>
          <p:cNvCxnSpPr>
            <a:cxnSpLocks/>
          </p:cNvCxnSpPr>
          <p:nvPr/>
        </p:nvCxnSpPr>
        <p:spPr>
          <a:xfrm flipH="1">
            <a:off x="513806" y="3429000"/>
            <a:ext cx="10934876" cy="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6" descr="Post-processing phase">
            <a:extLst>
              <a:ext uri="{FF2B5EF4-FFF2-40B4-BE49-F238E27FC236}">
                <a16:creationId xmlns:a16="http://schemas.microsoft.com/office/drawing/2014/main" id="{61DC19E1-F7C6-0430-4B2C-A59B1C8B116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243" r="8917" b="31349"/>
          <a:stretch>
            <a:fillRect/>
          </a:stretch>
        </p:blipFill>
        <p:spPr bwMode="auto">
          <a:xfrm>
            <a:off x="5536053" y="3644329"/>
            <a:ext cx="6081613" cy="193129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39894B7-E229-5711-B9E9-38F156B4385C}"/>
              </a:ext>
            </a:extLst>
          </p:cNvPr>
          <p:cNvSpPr/>
          <p:nvPr/>
        </p:nvSpPr>
        <p:spPr>
          <a:xfrm>
            <a:off x="7796814" y="317105"/>
            <a:ext cx="3829129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 que modelar?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99112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4FED2-8C2D-CBC5-EC1D-3E5674743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C1D18262-79C3-97F3-7608-04C239CF9BEE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1931FF7F-D890-000A-DBE8-01F406BEC642}"/>
              </a:ext>
            </a:extLst>
          </p:cNvPr>
          <p:cNvGrpSpPr>
            <a:grpSpLocks noChangeAspect="1"/>
          </p:cNvGrpSpPr>
          <p:nvPr/>
        </p:nvGrpSpPr>
        <p:grpSpPr>
          <a:xfrm>
            <a:off x="699788" y="2562897"/>
            <a:ext cx="10792424" cy="2244475"/>
            <a:chOff x="1022745" y="1409461"/>
            <a:chExt cx="10669753" cy="228584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5A93156-15E9-6FCC-08A2-D16608D8EB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17529" b="51086"/>
            <a:stretch>
              <a:fillRect/>
            </a:stretch>
          </p:blipFill>
          <p:spPr>
            <a:xfrm>
              <a:off x="1022745" y="1409461"/>
              <a:ext cx="10669753" cy="2210431"/>
            </a:xfrm>
            <a:prstGeom prst="rect">
              <a:avLst/>
            </a:prstGeom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700BA0A-1C05-83BB-E2E6-874CF37D9164}"/>
                </a:ext>
              </a:extLst>
            </p:cNvPr>
            <p:cNvSpPr/>
            <p:nvPr/>
          </p:nvSpPr>
          <p:spPr>
            <a:xfrm>
              <a:off x="4694548" y="3381865"/>
              <a:ext cx="3073139" cy="31344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1579ACB3-1D08-3FBB-935E-915DB5103E55}"/>
              </a:ext>
            </a:extLst>
          </p:cNvPr>
          <p:cNvSpPr txBox="1"/>
          <p:nvPr/>
        </p:nvSpPr>
        <p:spPr>
          <a:xfrm>
            <a:off x="532889" y="1335393"/>
            <a:ext cx="34093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b="1" i="0" u="sng" strike="noStrike" baseline="0" dirty="0">
                <a:solidFill>
                  <a:srgbClr val="FF0000"/>
                </a:solidFill>
                <a:latin typeface="Times New Roman" panose="02020603050405020304" pitchFamily="18" charset="0"/>
              </a:rPr>
              <a:t>Macro-scale</a:t>
            </a:r>
            <a:r>
              <a:rPr lang="en-GB" sz="1800" b="1" i="0" u="sng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 models</a:t>
            </a:r>
            <a:r>
              <a:rPr lang="en-GB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</a:p>
          <a:p>
            <a:r>
              <a:rPr lang="en-GB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heat flow and structural (stress) deformation &amp; </a:t>
            </a:r>
            <a:r>
              <a:rPr lang="en-GB" dirty="0">
                <a:solidFill>
                  <a:srgbClr val="000000"/>
                </a:solidFill>
                <a:latin typeface="Times New Roman" panose="02020603050405020304" pitchFamily="18" charset="0"/>
              </a:rPr>
              <a:t>interlayer bonding,</a:t>
            </a:r>
            <a:endParaRPr lang="LID4096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9585BF-3078-B5E5-DCD6-6FC3D4B4C024}"/>
              </a:ext>
            </a:extLst>
          </p:cNvPr>
          <p:cNvSpPr txBox="1"/>
          <p:nvPr/>
        </p:nvSpPr>
        <p:spPr>
          <a:xfrm>
            <a:off x="508200" y="4942141"/>
            <a:ext cx="352087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/>
              <a:t>Distorção, stress residual</a:t>
            </a:r>
          </a:p>
          <a:p>
            <a:endParaRPr lang="pt-BR" sz="1600" b="1" dirty="0"/>
          </a:p>
          <a:p>
            <a:r>
              <a:rPr lang="pt-BR" sz="1400" b="1" u="sng" dirty="0"/>
              <a:t>Métodos</a:t>
            </a:r>
            <a:r>
              <a:rPr lang="pt-BR" sz="1400" b="1" dirty="0"/>
              <a:t>:</a:t>
            </a:r>
            <a:r>
              <a:rPr lang="pt-BR" sz="2400" b="1" dirty="0"/>
              <a:t> FEM, FVM</a:t>
            </a:r>
            <a:endParaRPr lang="LID4096" sz="24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F793E5-19E5-D29C-D284-048AAFC498D3}"/>
              </a:ext>
            </a:extLst>
          </p:cNvPr>
          <p:cNvSpPr txBox="1"/>
          <p:nvPr/>
        </p:nvSpPr>
        <p:spPr>
          <a:xfrm>
            <a:off x="4532480" y="4942142"/>
            <a:ext cx="3343155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/>
              <a:t>Fluxo, </a:t>
            </a:r>
            <a:r>
              <a:rPr lang="pt-PT" sz="2400" b="1" dirty="0"/>
              <a:t>poça de fusão</a:t>
            </a:r>
          </a:p>
          <a:p>
            <a:endParaRPr lang="pt-BR" sz="1400" b="1" dirty="0"/>
          </a:p>
          <a:p>
            <a:r>
              <a:rPr lang="pt-BR" sz="1600" b="1" u="sng" dirty="0"/>
              <a:t>Métodos</a:t>
            </a:r>
            <a:r>
              <a:rPr lang="pt-BR" sz="1600" b="1" dirty="0"/>
              <a:t>: </a:t>
            </a:r>
            <a:r>
              <a:rPr lang="pt-BR" sz="2400" b="1" dirty="0"/>
              <a:t>CFD, SPH, LBM</a:t>
            </a:r>
            <a:endParaRPr lang="LID4096" sz="24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21A13F-E240-B758-DA48-9CB20B91F2D0}"/>
              </a:ext>
            </a:extLst>
          </p:cNvPr>
          <p:cNvSpPr txBox="1"/>
          <p:nvPr/>
        </p:nvSpPr>
        <p:spPr>
          <a:xfrm>
            <a:off x="8070678" y="4942142"/>
            <a:ext cx="334315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/>
              <a:t>Grãos, nucleação, vazios  </a:t>
            </a:r>
          </a:p>
          <a:p>
            <a:endParaRPr lang="pt-BR" sz="1200" b="1" dirty="0"/>
          </a:p>
          <a:p>
            <a:r>
              <a:rPr lang="pt-BR" sz="1600" b="1" u="sng" dirty="0"/>
              <a:t>Métodos</a:t>
            </a:r>
            <a:r>
              <a:rPr lang="pt-BR" sz="1600" b="1" dirty="0"/>
              <a:t>:</a:t>
            </a:r>
            <a:r>
              <a:rPr lang="pt-BR" sz="2400" b="1" dirty="0"/>
              <a:t> CA, MC, PF</a:t>
            </a:r>
            <a:endParaRPr lang="LID4096" sz="2400" b="1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0D92701-2C39-7EB4-A46C-F1AD49A526C1}"/>
              </a:ext>
            </a:extLst>
          </p:cNvPr>
          <p:cNvGrpSpPr/>
          <p:nvPr/>
        </p:nvGrpSpPr>
        <p:grpSpPr>
          <a:xfrm>
            <a:off x="8128401" y="1274828"/>
            <a:ext cx="3363811" cy="1107996"/>
            <a:chOff x="6653058" y="732502"/>
            <a:chExt cx="3363811" cy="1107996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B12F553-9E88-0BC5-7CE8-BADD93E0B0F8}"/>
                </a:ext>
              </a:extLst>
            </p:cNvPr>
            <p:cNvSpPr txBox="1"/>
            <p:nvPr/>
          </p:nvSpPr>
          <p:spPr>
            <a:xfrm>
              <a:off x="6673714" y="1194167"/>
              <a:ext cx="334315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LID4096" dirty="0"/>
                <a:t>grain growth, microstructural transitions, solidification kinetics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C812636-A4FB-E46F-694E-EE55083C9D34}"/>
                </a:ext>
              </a:extLst>
            </p:cNvPr>
            <p:cNvSpPr txBox="1"/>
            <p:nvPr/>
          </p:nvSpPr>
          <p:spPr>
            <a:xfrm>
              <a:off x="6653058" y="732502"/>
              <a:ext cx="306941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i="0" u="sng" strike="noStrike" baseline="0" dirty="0">
                  <a:solidFill>
                    <a:srgbClr val="FF0000"/>
                  </a:solidFill>
                  <a:latin typeface="Times New Roman" panose="02020603050405020304" pitchFamily="18" charset="0"/>
                </a:rPr>
                <a:t>Micro-scale</a:t>
              </a:r>
              <a:r>
                <a:rPr lang="en-GB" sz="1800" b="1" i="0" u="sng" strike="noStrike" baseline="0" dirty="0">
                  <a:solidFill>
                    <a:srgbClr val="000000"/>
                  </a:solidFill>
                  <a:latin typeface="Times New Roman" panose="02020603050405020304" pitchFamily="18" charset="0"/>
                </a:rPr>
                <a:t> phase-field</a:t>
              </a:r>
              <a:endParaRPr lang="LID4096" dirty="0"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24EBBB04-CED1-CA15-A508-9EEC5791E0AF}"/>
              </a:ext>
            </a:extLst>
          </p:cNvPr>
          <p:cNvSpPr txBox="1"/>
          <p:nvPr/>
        </p:nvSpPr>
        <p:spPr>
          <a:xfrm>
            <a:off x="4578282" y="1320995"/>
            <a:ext cx="294399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1" i="0" u="sng" strike="noStrike" baseline="0" dirty="0">
                <a:solidFill>
                  <a:srgbClr val="FF0000"/>
                </a:solidFill>
                <a:latin typeface="Times New Roman" panose="02020603050405020304" pitchFamily="18" charset="0"/>
              </a:rPr>
              <a:t>Meso-scale</a:t>
            </a:r>
            <a:r>
              <a:rPr lang="en-GB" sz="1800" b="1" i="0" u="sng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 models</a:t>
            </a:r>
            <a:r>
              <a:rPr lang="en-GB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</a:p>
          <a:p>
            <a:r>
              <a:rPr lang="en-GB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pool geometry, bead formation, and dilution. </a:t>
            </a:r>
            <a:endParaRPr lang="LID4096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A6E7739-B156-5FE7-31E7-3EC340D9E0CF}"/>
              </a:ext>
            </a:extLst>
          </p:cNvPr>
          <p:cNvCxnSpPr>
            <a:cxnSpLocks/>
          </p:cNvCxnSpPr>
          <p:nvPr/>
        </p:nvCxnSpPr>
        <p:spPr>
          <a:xfrm>
            <a:off x="4154277" y="973999"/>
            <a:ext cx="0" cy="13716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2973B47-50DE-DA68-A410-F1ABE21EDF32}"/>
              </a:ext>
            </a:extLst>
          </p:cNvPr>
          <p:cNvCxnSpPr>
            <a:cxnSpLocks/>
          </p:cNvCxnSpPr>
          <p:nvPr/>
        </p:nvCxnSpPr>
        <p:spPr>
          <a:xfrm>
            <a:off x="7692476" y="973998"/>
            <a:ext cx="0" cy="13716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4C115BA8-7EB1-9D87-ECF4-114E0CA95B6D}"/>
              </a:ext>
            </a:extLst>
          </p:cNvPr>
          <p:cNvCxnSpPr>
            <a:cxnSpLocks/>
          </p:cNvCxnSpPr>
          <p:nvPr/>
        </p:nvCxnSpPr>
        <p:spPr>
          <a:xfrm>
            <a:off x="4154277" y="4818833"/>
            <a:ext cx="0" cy="13716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632C9D7-49BC-51C2-3E0C-82CDC84270CC}"/>
              </a:ext>
            </a:extLst>
          </p:cNvPr>
          <p:cNvCxnSpPr>
            <a:cxnSpLocks/>
          </p:cNvCxnSpPr>
          <p:nvPr/>
        </p:nvCxnSpPr>
        <p:spPr>
          <a:xfrm>
            <a:off x="7692476" y="4818832"/>
            <a:ext cx="0" cy="13716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E83482A-51B4-C9C8-5B2B-9A3F5760AC2E}"/>
              </a:ext>
            </a:extLst>
          </p:cNvPr>
          <p:cNvSpPr/>
          <p:nvPr/>
        </p:nvSpPr>
        <p:spPr>
          <a:xfrm>
            <a:off x="3176725" y="317105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6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Escalas de modelagem</a:t>
            </a:r>
            <a:endParaRPr lang="pt-BR" sz="3600" noProof="0" dirty="0">
              <a:solidFill>
                <a:srgbClr val="0000FF"/>
              </a:solidFill>
              <a:latin typeface="Times New Roman" panose="02020603050405020304" pitchFamily="18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689CD8D-4B1D-099E-72FE-E4A9D8A4FE3D}"/>
              </a:ext>
            </a:extLst>
          </p:cNvPr>
          <p:cNvSpPr/>
          <p:nvPr/>
        </p:nvSpPr>
        <p:spPr>
          <a:xfrm>
            <a:off x="8372475" y="317105"/>
            <a:ext cx="3253468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 que modelar?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D505BF1-A086-DBA7-1C0E-52B01E52FC86}"/>
              </a:ext>
            </a:extLst>
          </p:cNvPr>
          <p:cNvSpPr txBox="1"/>
          <p:nvPr/>
        </p:nvSpPr>
        <p:spPr>
          <a:xfrm>
            <a:off x="2612571" y="6586841"/>
            <a:ext cx="957942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r">
              <a:defRPr sz="1200" b="1">
                <a:solidFill>
                  <a:schemeClr val="accent2"/>
                </a:solidFill>
              </a:defRPr>
            </a:lvl1pPr>
          </a:lstStyle>
          <a:p>
            <a:r>
              <a:rPr lang="LID4096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https://formnext.mesago.com/frankfurt/en/industry-insights/am-field-guide/process_in_general.html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9613236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BC27728-C905-B009-3AA3-FD5D0FA2B162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A16FEA9-7EF3-C277-8E36-C7669F63E5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791"/>
          <a:stretch>
            <a:fillRect/>
          </a:stretch>
        </p:blipFill>
        <p:spPr>
          <a:xfrm>
            <a:off x="276720" y="2335731"/>
            <a:ext cx="4085603" cy="273256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A6D91F9-C9A0-ABDD-E36F-6420C1DADA46}"/>
              </a:ext>
            </a:extLst>
          </p:cNvPr>
          <p:cNvSpPr txBox="1"/>
          <p:nvPr/>
        </p:nvSpPr>
        <p:spPr>
          <a:xfrm>
            <a:off x="212135" y="185056"/>
            <a:ext cx="8862196" cy="130805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pPr lvl="0" algn="l">
              <a:defRPr/>
            </a:pPr>
            <a:r>
              <a:rPr lang="pt-BR" sz="3200" dirty="0">
                <a:solidFill>
                  <a:srgbClr val="0000FF"/>
                </a:solidFill>
                <a:latin typeface="Segoe UI" panose="020B0502040204020203" pitchFamily="34" charset="0"/>
                <a:ea typeface="Cambria Math" panose="02040503050406030204" pitchFamily="18" charset="0"/>
                <a:cs typeface="Segoe UI" panose="020B0502040204020203" pitchFamily="34" charset="0"/>
              </a:rPr>
              <a:t>FEA – Análise de Elementos Finitos  </a:t>
            </a:r>
          </a:p>
          <a:p>
            <a:pPr lvl="0" algn="l">
              <a:defRPr/>
            </a:pPr>
            <a:endParaRPr lang="pt-BR" sz="1100" dirty="0">
              <a:solidFill>
                <a:srgbClr val="0000FF"/>
              </a:solidFill>
              <a:latin typeface="Segoe UI" panose="020B0502040204020203" pitchFamily="34" charset="0"/>
              <a:ea typeface="Cambria Math" panose="02040503050406030204" pitchFamily="18" charset="0"/>
              <a:cs typeface="Segoe UI" panose="020B0502040204020203" pitchFamily="34" charset="0"/>
            </a:endParaRPr>
          </a:p>
          <a:p>
            <a:pPr lvl="0" algn="l">
              <a:defRPr/>
            </a:pPr>
            <a:r>
              <a:rPr lang="pt-BR" dirty="0">
                <a:latin typeface="Segoe UI" panose="020B0502040204020203" pitchFamily="34" charset="0"/>
                <a:ea typeface="Cambria Math" panose="02040503050406030204" pitchFamily="18" charset="0"/>
                <a:cs typeface="Segoe UI" panose="020B0502040204020203" pitchFamily="34" charset="0"/>
              </a:rPr>
              <a:t>- Decompõe um objeto 3D complexo em milhares de pequenas partes gerenciáveis ​​("elementos"); - Calcula tensões estruturais, falhas e deformações.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F40DB6-C404-19BC-9D0F-ECB805C01817}"/>
              </a:ext>
            </a:extLst>
          </p:cNvPr>
          <p:cNvSpPr txBox="1"/>
          <p:nvPr/>
        </p:nvSpPr>
        <p:spPr>
          <a:xfrm>
            <a:off x="4814543" y="4237295"/>
            <a:ext cx="1568770" cy="83099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pt-BR" sz="2400" b="1" i="0" u="none" strike="noStrike" baseline="0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Peça de Suporte</a:t>
            </a:r>
            <a:endParaRPr lang="pt-BR" sz="2400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CD7B3F9-F49D-8161-28CC-53F9CF4C1625}"/>
              </a:ext>
            </a:extLst>
          </p:cNvPr>
          <p:cNvSpPr/>
          <p:nvPr/>
        </p:nvSpPr>
        <p:spPr>
          <a:xfrm>
            <a:off x="6513187" y="1524000"/>
            <a:ext cx="5466680" cy="52494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01319E9-D6B9-8AE1-F641-877AEAD80FDB}"/>
              </a:ext>
            </a:extLst>
          </p:cNvPr>
          <p:cNvGrpSpPr>
            <a:grpSpLocks noChangeAspect="1"/>
          </p:cNvGrpSpPr>
          <p:nvPr/>
        </p:nvGrpSpPr>
        <p:grpSpPr>
          <a:xfrm>
            <a:off x="6665587" y="1609725"/>
            <a:ext cx="5249693" cy="5112462"/>
            <a:chOff x="4964461" y="288938"/>
            <a:chExt cx="6855569" cy="6676360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B1D5FCEF-AF2B-7018-FF25-444431D1822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5284872" y="288938"/>
              <a:ext cx="4558587" cy="5974983"/>
            </a:xfrm>
            <a:prstGeom prst="rect">
              <a:avLst/>
            </a:prstGeom>
          </p:spPr>
        </p:pic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D40453F9-7876-B5D9-A9E4-12F46EA5BE2E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10378909" y="878366"/>
              <a:ext cx="1441121" cy="5943659"/>
              <a:chOff x="11076678" y="3429000"/>
              <a:chExt cx="822685" cy="3393024"/>
            </a:xfrm>
          </p:grpSpPr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7A4CDDEC-3E2D-61DF-2E45-44983BE668E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>
                <a:off x="11076678" y="3429000"/>
                <a:ext cx="822685" cy="3393024"/>
              </a:xfrm>
              <a:prstGeom prst="rect">
                <a:avLst/>
              </a:prstGeom>
            </p:spPr>
          </p:pic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2348DBEB-5B21-9AB1-912B-82C28516B5B0}"/>
                  </a:ext>
                </a:extLst>
              </p:cNvPr>
              <p:cNvSpPr/>
              <p:nvPr/>
            </p:nvSpPr>
            <p:spPr>
              <a:xfrm>
                <a:off x="11582492" y="3429000"/>
                <a:ext cx="316871" cy="6518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 sz="1600"/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43AE0F8-07E5-A686-8BD7-FE8564A80116}"/>
                </a:ext>
              </a:extLst>
            </p:cNvPr>
            <p:cNvSpPr txBox="1"/>
            <p:nvPr/>
          </p:nvSpPr>
          <p:spPr>
            <a:xfrm>
              <a:off x="4964461" y="6347118"/>
              <a:ext cx="6659546" cy="61818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txBody>
            <a:bodyPr wrap="square" lIns="182880" tIns="91440" rIns="182880" bIns="91440" anchor="ctr" anchorCtr="0">
              <a:noAutofit/>
            </a:bodyPr>
            <a:lstStyle>
              <a:defPPr>
                <a:defRPr lang="LID4096"/>
              </a:defPPr>
              <a:lvl1pPr indent="0" algn="ctr">
                <a:spcAft>
                  <a:spcPts val="600"/>
                </a:spcAft>
                <a:defRPr sz="2000" b="1" i="1"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indent="0">
                <a:defRPr sz="1100"/>
              </a:lvl2pPr>
              <a:lvl3pPr indent="0">
                <a:defRPr sz="1100"/>
              </a:lvl3pPr>
              <a:lvl4pPr indent="0">
                <a:defRPr sz="1100"/>
              </a:lvl4pPr>
              <a:lvl5pPr indent="0">
                <a:defRPr sz="1100"/>
              </a:lvl5pPr>
              <a:lvl6pPr indent="0">
                <a:defRPr sz="1100"/>
              </a:lvl6pPr>
              <a:lvl7pPr indent="0">
                <a:defRPr sz="1100"/>
              </a:lvl7pPr>
              <a:lvl8pPr indent="0">
                <a:defRPr sz="1100"/>
              </a:lvl8pPr>
              <a:lvl9pPr indent="0">
                <a:defRPr sz="1100"/>
              </a:lvl9pPr>
            </a:lstStyle>
            <a:p>
              <a:r>
                <a:rPr lang="en-US" sz="2400" i="0" dirty="0">
                  <a:solidFill>
                    <a:srgbClr val="0000FF"/>
                  </a:solidFill>
                </a:rPr>
                <a:t>FSI –</a:t>
              </a:r>
              <a:r>
                <a:rPr lang="en-US" sz="2400" dirty="0">
                  <a:solidFill>
                    <a:srgbClr val="0000FF"/>
                  </a:solidFill>
                </a:rPr>
                <a:t> Fluid</a:t>
              </a:r>
              <a:r>
                <a:rPr lang="en-US" sz="1100" dirty="0">
                  <a:solidFill>
                    <a:srgbClr val="0000FF"/>
                  </a:solidFill>
                </a:rPr>
                <a:t> </a:t>
              </a:r>
              <a:r>
                <a:rPr lang="en-US" sz="2400" dirty="0">
                  <a:solidFill>
                    <a:srgbClr val="0000FF"/>
                  </a:solidFill>
                </a:rPr>
                <a:t>-</a:t>
              </a:r>
              <a:r>
                <a:rPr lang="en-US" sz="1100" dirty="0">
                  <a:solidFill>
                    <a:srgbClr val="0000FF"/>
                  </a:solidFill>
                </a:rPr>
                <a:t> </a:t>
              </a:r>
              <a:r>
                <a:rPr lang="en-US" sz="2400" dirty="0">
                  <a:solidFill>
                    <a:srgbClr val="0000FF"/>
                  </a:solidFill>
                </a:rPr>
                <a:t>Structure Interaction</a:t>
              </a:r>
              <a:endParaRPr lang="LID4096" sz="2800" dirty="0">
                <a:solidFill>
                  <a:srgbClr val="0000FF"/>
                </a:solidFill>
              </a:endParaRPr>
            </a:p>
          </p:txBody>
        </p:sp>
      </p:grpSp>
      <p:pic>
        <p:nvPicPr>
          <p:cNvPr id="22" name="Picture 4">
            <a:extLst>
              <a:ext uri="{FF2B5EF4-FFF2-40B4-BE49-F238E27FC236}">
                <a16:creationId xmlns:a16="http://schemas.microsoft.com/office/drawing/2014/main" id="{3187604D-67DE-972C-8C65-C7C1994884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7889" y="2331893"/>
            <a:ext cx="1865424" cy="156153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08072DCC-E31C-2B39-5872-F434A53FDAD9}"/>
              </a:ext>
            </a:extLst>
          </p:cNvPr>
          <p:cNvSpPr txBox="1"/>
          <p:nvPr/>
        </p:nvSpPr>
        <p:spPr>
          <a:xfrm>
            <a:off x="2726458" y="5194043"/>
            <a:ext cx="3535368" cy="126188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pPr lvl="0" algn="r">
              <a:defRPr/>
            </a:pPr>
            <a:r>
              <a:rPr lang="pt-BR" sz="2800" noProof="0" dirty="0">
                <a:solidFill>
                  <a:srgbClr val="0000FF"/>
                </a:solidFill>
                <a:latin typeface="Segoe UI" panose="020B0502040204020203" pitchFamily="34" charset="0"/>
                <a:ea typeface="Cambria Math" panose="02040503050406030204" pitchFamily="18" charset="0"/>
                <a:cs typeface="Segoe UI" panose="020B0502040204020203" pitchFamily="34" charset="0"/>
              </a:rPr>
              <a:t>CFD  </a:t>
            </a:r>
          </a:p>
          <a:p>
            <a:pPr lvl="0" algn="r">
              <a:defRPr/>
            </a:pPr>
            <a:r>
              <a:rPr lang="pt-BR" sz="2400" noProof="0" dirty="0">
                <a:solidFill>
                  <a:srgbClr val="0000FF"/>
                </a:solidFill>
                <a:latin typeface="Segoe UI" panose="020B0502040204020203" pitchFamily="34" charset="0"/>
                <a:ea typeface="Cambria Math" panose="02040503050406030204" pitchFamily="18" charset="0"/>
                <a:cs typeface="Segoe UI" panose="020B0502040204020203" pitchFamily="34" charset="0"/>
              </a:rPr>
              <a:t>- Fluidodinâmica Computacional</a:t>
            </a:r>
            <a:endParaRPr lang="pt-BR" sz="2400" dirty="0">
              <a:solidFill>
                <a:srgbClr val="0000FF"/>
              </a:solidFill>
              <a:latin typeface="Segoe UI" panose="020B0502040204020203" pitchFamily="34" charset="0"/>
              <a:ea typeface="Cambria Math" panose="02040503050406030204" pitchFamily="18" charset="0"/>
              <a:cs typeface="Segoe UI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59D2E8-8EE9-1D79-6CA1-CB86AE4CE007}"/>
              </a:ext>
            </a:extLst>
          </p:cNvPr>
          <p:cNvSpPr txBox="1"/>
          <p:nvPr/>
        </p:nvSpPr>
        <p:spPr>
          <a:xfrm>
            <a:off x="92649" y="1650270"/>
            <a:ext cx="4043382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BR" sz="1900" noProof="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pt-BR" sz="1900" b="1" noProof="0" dirty="0"/>
              <a:t> </a:t>
            </a:r>
            <a:r>
              <a:rPr lang="pt-BR" sz="1900" b="1" noProof="0" dirty="0">
                <a:solidFill>
                  <a:srgbClr val="0000FF"/>
                </a:solidFill>
              </a:rPr>
              <a:t>Stress, Deformação, Vibração, Fadiga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5AACB8-6577-8ADD-6ECA-ACC088CBEB3F}"/>
              </a:ext>
            </a:extLst>
          </p:cNvPr>
          <p:cNvSpPr txBox="1"/>
          <p:nvPr/>
        </p:nvSpPr>
        <p:spPr>
          <a:xfrm>
            <a:off x="264386" y="1962561"/>
            <a:ext cx="41612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1" noProof="0" dirty="0">
                <a:solidFill>
                  <a:srgbClr val="FF0000"/>
                </a:solidFill>
              </a:rPr>
              <a:t>Análise Estrutural 	</a:t>
            </a:r>
            <a:endParaRPr lang="pt-BR" sz="1400" b="1" i="1" noProof="0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5B1CBB-EEA5-8A49-7ABE-340A99B5BA07}"/>
              </a:ext>
            </a:extLst>
          </p:cNvPr>
          <p:cNvSpPr txBox="1"/>
          <p:nvPr/>
        </p:nvSpPr>
        <p:spPr>
          <a:xfrm>
            <a:off x="562643" y="5260688"/>
            <a:ext cx="291180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400" b="1" noProof="0" dirty="0">
                <a:solidFill>
                  <a:srgbClr val="0000FF"/>
                </a:solidFill>
              </a:rPr>
              <a:t>Fluxo, pressão, </a:t>
            </a:r>
            <a:r>
              <a:rPr lang="pt-BR" sz="2400" b="1" noProof="0" dirty="0">
                <a:solidFill>
                  <a:srgbClr val="FF0000"/>
                </a:solidFill>
              </a:rPr>
              <a:t>temperatura, momento, energia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3495001-3623-55B3-48B9-EB838E208526}"/>
              </a:ext>
            </a:extLst>
          </p:cNvPr>
          <p:cNvSpPr/>
          <p:nvPr/>
        </p:nvSpPr>
        <p:spPr>
          <a:xfrm>
            <a:off x="6958150" y="317105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Como modelar?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A35248-ED5C-2F1C-D049-43AF15EF8757}"/>
              </a:ext>
            </a:extLst>
          </p:cNvPr>
          <p:cNvSpPr txBox="1"/>
          <p:nvPr/>
        </p:nvSpPr>
        <p:spPr>
          <a:xfrm>
            <a:off x="1" y="6611815"/>
            <a:ext cx="666631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r">
              <a:defRPr sz="1200" b="1">
                <a:solidFill>
                  <a:schemeClr val="accent2"/>
                </a:solidFill>
              </a:defRPr>
            </a:lvl1pPr>
          </a:lstStyle>
          <a:p>
            <a:pPr algn="l"/>
            <a:r>
              <a:rPr lang="LID4096" sz="1000" dirty="0"/>
              <a:t>Hybridization of generative design and TPMS lattices: A statistical approach for lightweight aeronautical components</a:t>
            </a:r>
          </a:p>
        </p:txBody>
      </p:sp>
    </p:spTree>
    <p:extLst>
      <p:ext uri="{BB962C8B-B14F-4D97-AF65-F5344CB8AC3E}">
        <p14:creationId xmlns:p14="http://schemas.microsoft.com/office/powerpoint/2010/main" val="38173298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70ECFE3-2D41-9A4D-2CA6-79E475C15769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CA5D1E5-5971-C9EF-56F5-6D0A4BEE46C2}"/>
              </a:ext>
            </a:extLst>
          </p:cNvPr>
          <p:cNvSpPr txBox="1"/>
          <p:nvPr/>
        </p:nvSpPr>
        <p:spPr>
          <a:xfrm>
            <a:off x="375220" y="799481"/>
            <a:ext cx="3289422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800" b="1" noProof="0" dirty="0">
                <a:solidFill>
                  <a:srgbClr val="0000FF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FEM</a:t>
            </a:r>
            <a:r>
              <a:rPr lang="pt-BR" sz="1800" b="1" noProof="0" dirty="0">
                <a:solidFill>
                  <a:srgbClr val="0000FF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| Finite Element Method</a:t>
            </a:r>
            <a:br>
              <a:rPr lang="pt-BR" sz="1800" b="1" noProof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</a:br>
            <a:r>
              <a:rPr lang="pt-BR" sz="2400" b="1" noProof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Material contínuo  </a:t>
            </a:r>
          </a:p>
          <a:p>
            <a:pPr algn="ctr"/>
            <a:r>
              <a:rPr lang="pt-BR" sz="2400" b="1" noProof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stress e deformação</a:t>
            </a:r>
            <a:endParaRPr lang="pt-BR" sz="2400" b="1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6BA448-BEA9-CB97-9C7B-3E7B90052A24}"/>
              </a:ext>
            </a:extLst>
          </p:cNvPr>
          <p:cNvSpPr txBox="1"/>
          <p:nvPr/>
        </p:nvSpPr>
        <p:spPr>
          <a:xfrm>
            <a:off x="3927287" y="903985"/>
            <a:ext cx="3375300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800" b="1" noProof="0" dirty="0">
                <a:solidFill>
                  <a:srgbClr val="0000FF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DEM | Discrete Element Method</a:t>
            </a:r>
          </a:p>
          <a:p>
            <a:br>
              <a:rPr lang="pt-BR" sz="600" b="1" noProof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</a:br>
            <a:r>
              <a:rPr lang="pt-BR" sz="2400" b="1" noProof="0" dirty="0">
                <a:solidFill>
                  <a:srgbClr val="FF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Interação de partículas</a:t>
            </a:r>
          </a:p>
          <a:p>
            <a:r>
              <a:rPr lang="pt-BR" sz="2000" b="1" noProof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Escorregamento, aberturas</a:t>
            </a:r>
            <a:endParaRPr lang="pt-BR" sz="2000" b="1" noProof="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3C8C27-44E0-0546-F931-E45EBA93BD19}"/>
              </a:ext>
            </a:extLst>
          </p:cNvPr>
          <p:cNvSpPr txBox="1"/>
          <p:nvPr/>
        </p:nvSpPr>
        <p:spPr>
          <a:xfrm>
            <a:off x="7271818" y="912694"/>
            <a:ext cx="451310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800" b="1" noProof="0" dirty="0">
                <a:solidFill>
                  <a:srgbClr val="0000FF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FDEM | Finite-Discrete Element Method</a:t>
            </a:r>
          </a:p>
          <a:p>
            <a:br>
              <a:rPr lang="pt-BR" sz="400" b="1" noProof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</a:br>
            <a:endParaRPr lang="pt-BR" sz="200" b="1" noProof="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r>
              <a:rPr lang="pt-BR" sz="2400" b="1" noProof="0" dirty="0">
                <a:solidFill>
                  <a:srgbClr val="FF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 Combinação:</a:t>
            </a:r>
            <a:endParaRPr lang="pt-BR" sz="2000" b="1" noProof="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F1ADC83-C321-1E01-AEA0-82953A101F7A}"/>
              </a:ext>
            </a:extLst>
          </p:cNvPr>
          <p:cNvSpPr/>
          <p:nvPr/>
        </p:nvSpPr>
        <p:spPr>
          <a:xfrm>
            <a:off x="6958150" y="317105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Como modelar?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1BF80DB-5FB3-F14F-9A5F-2C1AD5896DD2}"/>
              </a:ext>
            </a:extLst>
          </p:cNvPr>
          <p:cNvGrpSpPr/>
          <p:nvPr/>
        </p:nvGrpSpPr>
        <p:grpSpPr>
          <a:xfrm>
            <a:off x="7540367" y="4577292"/>
            <a:ext cx="3818361" cy="2020728"/>
            <a:chOff x="-442821" y="4638065"/>
            <a:chExt cx="3818361" cy="2020728"/>
          </a:xfrm>
        </p:grpSpPr>
        <p:sp>
          <p:nvSpPr>
            <p:cNvPr id="24" name="Object 4">
              <a:extLst>
                <a:ext uri="{63B3BB69-23CF-44E3-9099-C40C66FF867C}">
                  <a14:compatExt xmlns:a14="http://schemas.microsoft.com/office/drawing/2010/main" spid="_x0000_s1028"/>
                </a:ext>
                <a:ext uri="{FF2B5EF4-FFF2-40B4-BE49-F238E27FC236}">
                  <a16:creationId xmlns:a16="http://schemas.microsoft.com/office/drawing/2014/main" id="{2386D903-222E-8DAB-32FC-FECE345707C8}"/>
                </a:ext>
              </a:extLst>
            </p:cNvPr>
            <p:cNvSpPr txBox="1"/>
            <p:nvPr/>
          </p:nvSpPr>
          <p:spPr>
            <a:xfrm>
              <a:off x="529486" y="4800187"/>
              <a:ext cx="2846054" cy="1858606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3175">
              <a:noFill/>
            </a:ln>
            <a:effectLst>
              <a:outerShdw blurRad="50800" dist="38100" dir="8100000" sx="101000" sy="101000" algn="tr" rotWithShape="0">
                <a:prstClr val="black">
                  <a:alpha val="40000"/>
                </a:prstClr>
              </a:outerShdw>
            </a:effectLst>
          </p:spPr>
          <p:txBody>
            <a:bodyPr wrap="none" lIns="274320" tIns="137160" rIns="182880" bIns="91440" anchor="t" anchorCtr="0">
              <a:no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GB" sz="2400" b="1" u="sng" dirty="0">
                  <a:solidFill>
                    <a:srgbClr val="0000FF"/>
                  </a:solidFill>
                  <a:latin typeface="Calibri (Body)"/>
                </a:rPr>
                <a:t>Finite-difference</a:t>
              </a:r>
            </a:p>
            <a:p>
              <a:r>
                <a:rPr lang="en-GB" sz="2400" b="1" dirty="0">
                  <a:solidFill>
                    <a:srgbClr val="0000FF"/>
                  </a:solidFill>
                  <a:latin typeface="Calibri (Body)"/>
                </a:rPr>
                <a:t>  </a:t>
              </a:r>
              <a:r>
                <a:rPr lang="en-GB" sz="2800" b="1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libri (Body)"/>
                </a:rPr>
                <a:t>MODFLOW</a:t>
              </a:r>
            </a:p>
            <a:p>
              <a:endParaRPr lang="en-GB" sz="1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 (Body)"/>
              </a:endParaRPr>
            </a:p>
            <a:p>
              <a:r>
                <a:rPr lang="en-GB" sz="2400" b="1" u="sng" dirty="0">
                  <a:solidFill>
                    <a:srgbClr val="FF0000"/>
                  </a:solidFill>
                  <a:latin typeface="Calibri (Body)"/>
                </a:rPr>
                <a:t>Finite-volume</a:t>
              </a:r>
            </a:p>
            <a:p>
              <a:r>
                <a:rPr lang="en-US" sz="2400" dirty="0">
                  <a:solidFill>
                    <a:srgbClr val="FF0000"/>
                  </a:solidFill>
                  <a:latin typeface="Calibri (Body)"/>
                </a:rPr>
                <a:t>   </a:t>
              </a:r>
              <a:r>
                <a:rPr lang="en-US" sz="24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libri (Body)"/>
                </a:rPr>
                <a:t>OpenFOAM, </a:t>
              </a:r>
              <a:r>
                <a:rPr lang="pt-BR" sz="24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libri (Body)"/>
                </a:rPr>
                <a:t>Fi</a:t>
              </a:r>
              <a:r>
                <a:rPr lang="pt-BR" sz="24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libri (Body)"/>
                </a:rPr>
                <a:t>Py</a:t>
              </a:r>
            </a:p>
          </p:txBody>
        </p:sp>
        <p:sp>
          <p:nvSpPr>
            <p:cNvPr id="2" name="Object 4">
              <a:extLst>
                <a:ext uri="{63B3BB69-23CF-44E3-9099-C40C66FF867C}">
                  <a14:compatExt xmlns:a14="http://schemas.microsoft.com/office/drawing/2010/main" spid="_x0000_s1028"/>
                </a:ext>
                <a:ext uri="{FF2B5EF4-FFF2-40B4-BE49-F238E27FC236}">
                  <a16:creationId xmlns:a16="http://schemas.microsoft.com/office/drawing/2014/main" id="{F88326D3-A093-B7BE-2E82-E620740886C1}"/>
                </a:ext>
              </a:extLst>
            </p:cNvPr>
            <p:cNvSpPr txBox="1"/>
            <p:nvPr/>
          </p:nvSpPr>
          <p:spPr>
            <a:xfrm>
              <a:off x="-442821" y="4638065"/>
              <a:ext cx="731520" cy="36576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3175"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txBody>
            <a:bodyPr wrap="none" lIns="0" tIns="0" rIns="0" bIns="0" anchor="ctr" anchorCtr="0">
              <a:no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spcAft>
                  <a:spcPts val="600"/>
                </a:spcAft>
              </a:pPr>
              <a:r>
                <a:rPr lang="pt-BR" sz="2800" b="1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libri (Body)"/>
                </a:rPr>
                <a:t>FDM</a:t>
              </a:r>
              <a:endParaRPr lang="en-GB" sz="28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 Math" panose="02040503050406030204" pitchFamily="18" charset="0"/>
                <a:ea typeface="Cambria Math" panose="02040503050406030204" pitchFamily="18" charset="0"/>
              </a:endParaRPr>
            </a:p>
          </p:txBody>
        </p:sp>
        <p:sp>
          <p:nvSpPr>
            <p:cNvPr id="4" name="Object 4">
              <a:extLst>
                <a:ext uri="{63B3BB69-23CF-44E3-9099-C40C66FF867C}">
                  <a14:compatExt xmlns:a14="http://schemas.microsoft.com/office/drawing/2010/main" spid="_x0000_s1028"/>
                </a:ext>
                <a:ext uri="{FF2B5EF4-FFF2-40B4-BE49-F238E27FC236}">
                  <a16:creationId xmlns:a16="http://schemas.microsoft.com/office/drawing/2014/main" id="{DCE87608-81A5-9AD5-9DFE-0B3859404E17}"/>
                </a:ext>
              </a:extLst>
            </p:cNvPr>
            <p:cNvSpPr txBox="1"/>
            <p:nvPr/>
          </p:nvSpPr>
          <p:spPr>
            <a:xfrm>
              <a:off x="-434110" y="5658637"/>
              <a:ext cx="731520" cy="36576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3175"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txBody>
            <a:bodyPr wrap="none" lIns="0" tIns="0" rIns="0" bIns="0" anchor="ctr" anchorCtr="0">
              <a:no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spcAft>
                  <a:spcPts val="600"/>
                </a:spcAft>
              </a:pPr>
              <a:r>
                <a:rPr lang="pt-BR" sz="28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libri (Body)"/>
                </a:rPr>
                <a:t>FVM</a:t>
              </a:r>
              <a:endParaRPr lang="en-GB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 Math" panose="02040503050406030204" pitchFamily="18" charset="0"/>
                <a:ea typeface="Cambria Math" panose="02040503050406030204" pitchFamily="18" charset="0"/>
              </a:endParaRPr>
            </a:p>
          </p:txBody>
        </p:sp>
      </p:grpSp>
      <p:sp>
        <p:nvSpPr>
          <p:cNvPr id="15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A1EF7ECF-C30D-E333-D069-C30EF80C5E46}"/>
              </a:ext>
            </a:extLst>
          </p:cNvPr>
          <p:cNvSpPr txBox="1"/>
          <p:nvPr/>
        </p:nvSpPr>
        <p:spPr>
          <a:xfrm>
            <a:off x="501167" y="869149"/>
            <a:ext cx="822960" cy="36576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175"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none" lIns="0" tIns="0" rIns="0" bIns="0" anchor="ctr" anchorCtr="0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>
              <a:spcAft>
                <a:spcPts val="600"/>
              </a:spcAft>
            </a:pPr>
            <a:r>
              <a:rPr lang="pt-BR" sz="28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 (Body)"/>
              </a:rPr>
              <a:t>FEM</a:t>
            </a:r>
            <a:endParaRPr lang="en-GB" sz="2800" b="1" dirty="0">
              <a:solidFill>
                <a:srgbClr val="0000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6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50A98748-6229-F7E8-302B-574D864C98BC}"/>
              </a:ext>
            </a:extLst>
          </p:cNvPr>
          <p:cNvSpPr txBox="1"/>
          <p:nvPr/>
        </p:nvSpPr>
        <p:spPr>
          <a:xfrm>
            <a:off x="3858331" y="873504"/>
            <a:ext cx="822960" cy="36576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175"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none" lIns="0" tIns="0" rIns="0" bIns="0" anchor="ctr" anchorCtr="0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>
              <a:spcAft>
                <a:spcPts val="600"/>
              </a:spcAft>
            </a:pPr>
            <a:r>
              <a:rPr lang="pt-BR" sz="28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 (Body)"/>
              </a:rPr>
              <a:t>DEM</a:t>
            </a:r>
            <a:endParaRPr lang="en-GB" sz="2800" b="1" dirty="0">
              <a:solidFill>
                <a:srgbClr val="0000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7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DB3C6D52-327D-F57A-A3A1-A45EC551CBF1}"/>
              </a:ext>
            </a:extLst>
          </p:cNvPr>
          <p:cNvSpPr txBox="1"/>
          <p:nvPr/>
        </p:nvSpPr>
        <p:spPr>
          <a:xfrm>
            <a:off x="7468042" y="886566"/>
            <a:ext cx="914400" cy="36576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175"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none" lIns="0" tIns="0" rIns="0" bIns="0" anchor="ctr" anchorCtr="0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>
              <a:spcAft>
                <a:spcPts val="600"/>
              </a:spcAft>
            </a:pPr>
            <a:r>
              <a:rPr lang="pt-BR" sz="28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 (Body)"/>
              </a:rPr>
              <a:t>FDEM</a:t>
            </a:r>
            <a:endParaRPr lang="en-GB" sz="2800" b="1" dirty="0">
              <a:solidFill>
                <a:srgbClr val="0000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4758915-2B77-10F0-4246-FFAE7042588D}"/>
              </a:ext>
            </a:extLst>
          </p:cNvPr>
          <p:cNvGrpSpPr>
            <a:grpSpLocks noChangeAspect="1"/>
          </p:cNvGrpSpPr>
          <p:nvPr/>
        </p:nvGrpSpPr>
        <p:grpSpPr>
          <a:xfrm>
            <a:off x="484691" y="4263451"/>
            <a:ext cx="3406383" cy="2089381"/>
            <a:chOff x="4371703" y="4937760"/>
            <a:chExt cx="2995748" cy="1837509"/>
          </a:xfrm>
        </p:grpSpPr>
        <p:pic>
          <p:nvPicPr>
            <p:cNvPr id="7" name="Picture 2" descr="Coupling of FEM and DEM simulations to consider dynamic deformations under  particle load | Granular Matter | Springer Nature Link">
              <a:extLst>
                <a:ext uri="{FF2B5EF4-FFF2-40B4-BE49-F238E27FC236}">
                  <a16:creationId xmlns:a16="http://schemas.microsoft.com/office/drawing/2014/main" id="{BBAD27A5-9D7B-6DED-DBD5-72193CC6392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clrChange>
                <a:clrFrom>
                  <a:srgbClr val="FEFEFE"/>
                </a:clrFrom>
                <a:clrTo>
                  <a:srgbClr val="FEFEFE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437" r="59286"/>
            <a:stretch>
              <a:fillRect/>
            </a:stretch>
          </p:blipFill>
          <p:spPr bwMode="auto">
            <a:xfrm>
              <a:off x="4600321" y="5225143"/>
              <a:ext cx="2357829" cy="1453518"/>
            </a:xfrm>
            <a:prstGeom prst="rect">
              <a:avLst/>
            </a:prstGeom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87FF3CC0-6B83-C8A9-35D8-52064A3C9EE6}"/>
                </a:ext>
              </a:extLst>
            </p:cNvPr>
            <p:cNvSpPr/>
            <p:nvPr/>
          </p:nvSpPr>
          <p:spPr>
            <a:xfrm>
              <a:off x="4371703" y="4937760"/>
              <a:ext cx="2995748" cy="1837509"/>
            </a:xfrm>
            <a:custGeom>
              <a:avLst/>
              <a:gdLst>
                <a:gd name="connsiteX0" fmla="*/ 0 w 2995748"/>
                <a:gd name="connsiteY0" fmla="*/ 269966 h 1837509"/>
                <a:gd name="connsiteX1" fmla="*/ 731520 w 2995748"/>
                <a:gd name="connsiteY1" fmla="*/ 304800 h 1837509"/>
                <a:gd name="connsiteX2" fmla="*/ 1166948 w 2995748"/>
                <a:gd name="connsiteY2" fmla="*/ 644434 h 1837509"/>
                <a:gd name="connsiteX3" fmla="*/ 1698171 w 2995748"/>
                <a:gd name="connsiteY3" fmla="*/ 896983 h 1837509"/>
                <a:gd name="connsiteX4" fmla="*/ 1828800 w 2995748"/>
                <a:gd name="connsiteY4" fmla="*/ 957943 h 1837509"/>
                <a:gd name="connsiteX5" fmla="*/ 2142308 w 2995748"/>
                <a:gd name="connsiteY5" fmla="*/ 1045029 h 1837509"/>
                <a:gd name="connsiteX6" fmla="*/ 2272937 w 2995748"/>
                <a:gd name="connsiteY6" fmla="*/ 1140823 h 1837509"/>
                <a:gd name="connsiteX7" fmla="*/ 2629988 w 2995748"/>
                <a:gd name="connsiteY7" fmla="*/ 1306286 h 1837509"/>
                <a:gd name="connsiteX8" fmla="*/ 2725783 w 2995748"/>
                <a:gd name="connsiteY8" fmla="*/ 1349829 h 1837509"/>
                <a:gd name="connsiteX9" fmla="*/ 2577737 w 2995748"/>
                <a:gd name="connsiteY9" fmla="*/ 1550126 h 1837509"/>
                <a:gd name="connsiteX10" fmla="*/ 2429691 w 2995748"/>
                <a:gd name="connsiteY10" fmla="*/ 1820091 h 1837509"/>
                <a:gd name="connsiteX11" fmla="*/ 2751908 w 2995748"/>
                <a:gd name="connsiteY11" fmla="*/ 1837509 h 1837509"/>
                <a:gd name="connsiteX12" fmla="*/ 2987040 w 2995748"/>
                <a:gd name="connsiteY12" fmla="*/ 1166949 h 1837509"/>
                <a:gd name="connsiteX13" fmla="*/ 2899954 w 2995748"/>
                <a:gd name="connsiteY13" fmla="*/ 1184366 h 1837509"/>
                <a:gd name="connsiteX14" fmla="*/ 2995748 w 2995748"/>
                <a:gd name="connsiteY14" fmla="*/ 0 h 1837509"/>
                <a:gd name="connsiteX15" fmla="*/ 0 w 2995748"/>
                <a:gd name="connsiteY15" fmla="*/ 43543 h 1837509"/>
                <a:gd name="connsiteX16" fmla="*/ 0 w 2995748"/>
                <a:gd name="connsiteY16" fmla="*/ 269966 h 18375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995748" h="1837509">
                  <a:moveTo>
                    <a:pt x="0" y="269966"/>
                  </a:moveTo>
                  <a:lnTo>
                    <a:pt x="731520" y="304800"/>
                  </a:lnTo>
                  <a:lnTo>
                    <a:pt x="1166948" y="644434"/>
                  </a:lnTo>
                  <a:lnTo>
                    <a:pt x="1698171" y="896983"/>
                  </a:lnTo>
                  <a:cubicBezTo>
                    <a:pt x="1796407" y="929729"/>
                    <a:pt x="1753634" y="907833"/>
                    <a:pt x="1828800" y="957943"/>
                  </a:cubicBezTo>
                  <a:lnTo>
                    <a:pt x="2142308" y="1045029"/>
                  </a:lnTo>
                  <a:lnTo>
                    <a:pt x="2272937" y="1140823"/>
                  </a:lnTo>
                  <a:lnTo>
                    <a:pt x="2629988" y="1306286"/>
                  </a:lnTo>
                  <a:lnTo>
                    <a:pt x="2725783" y="1349829"/>
                  </a:lnTo>
                  <a:lnTo>
                    <a:pt x="2577737" y="1550126"/>
                  </a:lnTo>
                  <a:lnTo>
                    <a:pt x="2429691" y="1820091"/>
                  </a:lnTo>
                  <a:lnTo>
                    <a:pt x="2751908" y="1837509"/>
                  </a:lnTo>
                  <a:lnTo>
                    <a:pt x="2987040" y="1166949"/>
                  </a:lnTo>
                  <a:lnTo>
                    <a:pt x="2899954" y="1184366"/>
                  </a:lnTo>
                  <a:lnTo>
                    <a:pt x="2995748" y="0"/>
                  </a:lnTo>
                  <a:lnTo>
                    <a:pt x="0" y="43543"/>
                  </a:lnTo>
                  <a:lnTo>
                    <a:pt x="0" y="269966"/>
                  </a:lnTo>
                  <a:close/>
                </a:path>
              </a:pathLst>
            </a:cu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05F2F3C-BB55-2C53-EEE2-47627CB437F2}"/>
              </a:ext>
            </a:extLst>
          </p:cNvPr>
          <p:cNvGrpSpPr>
            <a:grpSpLocks noChangeAspect="1"/>
          </p:cNvGrpSpPr>
          <p:nvPr/>
        </p:nvGrpSpPr>
        <p:grpSpPr>
          <a:xfrm>
            <a:off x="3346537" y="3999782"/>
            <a:ext cx="3975155" cy="2743200"/>
            <a:chOff x="8012784" y="4694472"/>
            <a:chExt cx="2718515" cy="1876010"/>
          </a:xfrm>
        </p:grpSpPr>
        <p:pic>
          <p:nvPicPr>
            <p:cNvPr id="19" name="Picture 2" descr="Coupling of FEM and DEM simulations to consider dynamic deformations under  particle load | Granular Matter | Springer Nature Link">
              <a:extLst>
                <a:ext uri="{FF2B5EF4-FFF2-40B4-BE49-F238E27FC236}">
                  <a16:creationId xmlns:a16="http://schemas.microsoft.com/office/drawing/2014/main" id="{65216146-BBD5-5BDD-F2BD-D21B3BD3B8A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clrChange>
                <a:clrFrom>
                  <a:srgbClr val="FEFEFE"/>
                </a:clrFrom>
                <a:clrTo>
                  <a:srgbClr val="FEFEFE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2173" t="61992"/>
            <a:stretch>
              <a:fillRect/>
            </a:stretch>
          </p:blipFill>
          <p:spPr bwMode="auto">
            <a:xfrm>
              <a:off x="8540684" y="5112653"/>
              <a:ext cx="2190615" cy="1329217"/>
            </a:xfrm>
            <a:prstGeom prst="rect">
              <a:avLst/>
            </a:prstGeom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EDC31478-3B19-1FBD-9845-CA5B221A367B}"/>
                </a:ext>
              </a:extLst>
            </p:cNvPr>
            <p:cNvSpPr/>
            <p:nvPr/>
          </p:nvSpPr>
          <p:spPr>
            <a:xfrm>
              <a:off x="8012784" y="4694472"/>
              <a:ext cx="2714919" cy="1876010"/>
            </a:xfrm>
            <a:custGeom>
              <a:avLst/>
              <a:gdLst>
                <a:gd name="connsiteX0" fmla="*/ 490193 w 2714919"/>
                <a:gd name="connsiteY0" fmla="*/ 1687474 h 1876010"/>
                <a:gd name="connsiteX1" fmla="*/ 509047 w 2714919"/>
                <a:gd name="connsiteY1" fmla="*/ 773074 h 1876010"/>
                <a:gd name="connsiteX2" fmla="*/ 1414020 w 2714919"/>
                <a:gd name="connsiteY2" fmla="*/ 678806 h 1876010"/>
                <a:gd name="connsiteX3" fmla="*/ 1791092 w 2714919"/>
                <a:gd name="connsiteY3" fmla="*/ 584538 h 1876010"/>
                <a:gd name="connsiteX4" fmla="*/ 2714919 w 2714919"/>
                <a:gd name="connsiteY4" fmla="*/ 348868 h 1876010"/>
                <a:gd name="connsiteX5" fmla="*/ 2639505 w 2714919"/>
                <a:gd name="connsiteY5" fmla="*/ 28357 h 1876010"/>
                <a:gd name="connsiteX6" fmla="*/ 2526383 w 2714919"/>
                <a:gd name="connsiteY6" fmla="*/ 76 h 1876010"/>
                <a:gd name="connsiteX7" fmla="*/ 28280 w 2714919"/>
                <a:gd name="connsiteY7" fmla="*/ 122625 h 1876010"/>
                <a:gd name="connsiteX8" fmla="*/ 0 w 2714919"/>
                <a:gd name="connsiteY8" fmla="*/ 1706328 h 1876010"/>
                <a:gd name="connsiteX9" fmla="*/ 461913 w 2714919"/>
                <a:gd name="connsiteY9" fmla="*/ 1876010 h 1876010"/>
                <a:gd name="connsiteX10" fmla="*/ 490193 w 2714919"/>
                <a:gd name="connsiteY10" fmla="*/ 1687474 h 1876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714919" h="1876010">
                  <a:moveTo>
                    <a:pt x="490193" y="1687474"/>
                  </a:moveTo>
                  <a:lnTo>
                    <a:pt x="509047" y="773074"/>
                  </a:lnTo>
                  <a:lnTo>
                    <a:pt x="1414020" y="678806"/>
                  </a:lnTo>
                  <a:lnTo>
                    <a:pt x="1791092" y="584538"/>
                  </a:lnTo>
                  <a:lnTo>
                    <a:pt x="2714919" y="348868"/>
                  </a:lnTo>
                  <a:lnTo>
                    <a:pt x="2639505" y="28357"/>
                  </a:lnTo>
                  <a:cubicBezTo>
                    <a:pt x="2545720" y="-2905"/>
                    <a:pt x="2584473" y="76"/>
                    <a:pt x="2526383" y="76"/>
                  </a:cubicBezTo>
                  <a:lnTo>
                    <a:pt x="28280" y="122625"/>
                  </a:lnTo>
                  <a:lnTo>
                    <a:pt x="0" y="1706328"/>
                  </a:lnTo>
                  <a:lnTo>
                    <a:pt x="461913" y="1876010"/>
                  </a:lnTo>
                  <a:lnTo>
                    <a:pt x="490193" y="1687474"/>
                  </a:lnTo>
                  <a:close/>
                </a:path>
              </a:pathLst>
            </a:cu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A7C8487-1AFC-2168-812A-03A580DB6F7F}"/>
              </a:ext>
            </a:extLst>
          </p:cNvPr>
          <p:cNvGrpSpPr>
            <a:grpSpLocks noChangeAspect="1"/>
          </p:cNvGrpSpPr>
          <p:nvPr/>
        </p:nvGrpSpPr>
        <p:grpSpPr>
          <a:xfrm>
            <a:off x="1247775" y="2102874"/>
            <a:ext cx="9143746" cy="2391566"/>
            <a:chOff x="779140" y="1831005"/>
            <a:chExt cx="9926706" cy="2970242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C75D0D32-EAAA-3652-EBC3-78978633F3F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0181" t="16117" b="48462"/>
            <a:stretch>
              <a:fillRect/>
            </a:stretch>
          </p:blipFill>
          <p:spPr>
            <a:xfrm>
              <a:off x="8369951" y="1831005"/>
              <a:ext cx="2335895" cy="2960691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45C040F1-2E46-8BAC-ABB0-2B5C1C32C8E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775" t="16117" r="33465" b="48462"/>
            <a:stretch>
              <a:fillRect/>
            </a:stretch>
          </p:blipFill>
          <p:spPr>
            <a:xfrm>
              <a:off x="4410092" y="1840555"/>
              <a:ext cx="2409690" cy="296069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1092686D-5195-F561-F218-0FCD3B83C44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57" t="16117" r="67064" b="48462"/>
            <a:stretch>
              <a:fillRect/>
            </a:stretch>
          </p:blipFill>
          <p:spPr>
            <a:xfrm>
              <a:off x="779140" y="1840556"/>
              <a:ext cx="2481582" cy="2960691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BA525A11-A703-66E5-4AF9-60AB3F156C64}"/>
              </a:ext>
            </a:extLst>
          </p:cNvPr>
          <p:cNvSpPr txBox="1"/>
          <p:nvPr/>
        </p:nvSpPr>
        <p:spPr>
          <a:xfrm>
            <a:off x="8382442" y="1177115"/>
            <a:ext cx="330839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BR" sz="2800" b="1" u="sng" noProof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= fraturas</a:t>
            </a:r>
            <a:endParaRPr lang="pt-BR" sz="2800" b="1" u="sng" noProof="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9FF0A1A-F0F9-7072-0AB3-560843CFD2D6}"/>
              </a:ext>
            </a:extLst>
          </p:cNvPr>
          <p:cNvSpPr txBox="1"/>
          <p:nvPr/>
        </p:nvSpPr>
        <p:spPr>
          <a:xfrm>
            <a:off x="7344584" y="1625575"/>
            <a:ext cx="405017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000" b="1" noProof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deformação + interação de blocos</a:t>
            </a:r>
            <a:endParaRPr lang="pt-BR" sz="2000" b="1" noProof="0" dirty="0"/>
          </a:p>
        </p:txBody>
      </p:sp>
    </p:spTree>
    <p:extLst>
      <p:ext uri="{BB962C8B-B14F-4D97-AF65-F5344CB8AC3E}">
        <p14:creationId xmlns:p14="http://schemas.microsoft.com/office/powerpoint/2010/main" val="276480735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5224F62-85DE-5919-A7A4-4EC5D1F01FE7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7E4FBC-3E05-436A-43A3-0267366B00A8}"/>
              </a:ext>
            </a:extLst>
          </p:cNvPr>
          <p:cNvSpPr txBox="1"/>
          <p:nvPr/>
        </p:nvSpPr>
        <p:spPr>
          <a:xfrm>
            <a:off x="-1" y="6491538"/>
            <a:ext cx="93630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1000" b="1" i="0" u="none" strike="noStrike" baseline="0">
                <a:solidFill>
                  <a:schemeClr val="accent2"/>
                </a:solidFill>
                <a:latin typeface="AdvOTa2fa4214.B"/>
              </a:defRPr>
            </a:lvl1pPr>
          </a:lstStyle>
          <a:p>
            <a:r>
              <a:rPr lang="en-GB" sz="1600" dirty="0"/>
              <a:t>  Modelling and simulation of metal additive manufacturing processes </a:t>
            </a:r>
            <a:r>
              <a:rPr lang="en-GB" sz="1800" u="sng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with particle methods</a:t>
            </a:r>
            <a:r>
              <a:rPr lang="en-GB" sz="1600" u="sng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.</a:t>
            </a:r>
            <a:endParaRPr lang="LID4096" sz="1600" dirty="0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914472BB-24B5-FFD0-70FD-00E7E49A772B}"/>
              </a:ext>
            </a:extLst>
          </p:cNvPr>
          <p:cNvGrpSpPr/>
          <p:nvPr/>
        </p:nvGrpSpPr>
        <p:grpSpPr>
          <a:xfrm>
            <a:off x="7267080" y="3488585"/>
            <a:ext cx="4777212" cy="1118298"/>
            <a:chOff x="7276605" y="3717185"/>
            <a:chExt cx="4777212" cy="1118298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F3FBDAC9-8C53-45F9-5A4A-32D1EEBC4BCA}"/>
                </a:ext>
              </a:extLst>
            </p:cNvPr>
            <p:cNvSpPr/>
            <p:nvPr/>
          </p:nvSpPr>
          <p:spPr>
            <a:xfrm>
              <a:off x="7276605" y="3738145"/>
              <a:ext cx="4777212" cy="1097338"/>
            </a:xfrm>
            <a:prstGeom prst="rect">
              <a:avLst/>
            </a:prstGeom>
            <a:solidFill>
              <a:srgbClr val="E5FFF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F3B4C5E1-8721-4AAF-60A1-3B843C65F5A1}"/>
                </a:ext>
              </a:extLst>
            </p:cNvPr>
            <p:cNvGrpSpPr/>
            <p:nvPr/>
          </p:nvGrpSpPr>
          <p:grpSpPr>
            <a:xfrm>
              <a:off x="7383388" y="3717185"/>
              <a:ext cx="4584703" cy="1087315"/>
              <a:chOff x="7312398" y="3950366"/>
              <a:chExt cx="4584703" cy="1087315"/>
            </a:xfrm>
          </p:grpSpPr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735A3EF-D08A-12CC-3C13-206EE46C92C4}"/>
                  </a:ext>
                </a:extLst>
              </p:cNvPr>
              <p:cNvSpPr txBox="1"/>
              <p:nvPr/>
            </p:nvSpPr>
            <p:spPr>
              <a:xfrm>
                <a:off x="7459308" y="3950366"/>
                <a:ext cx="2531415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LID4096" sz="3200" b="1" u="sng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ML</a:t>
                </a:r>
                <a:r>
                  <a:rPr lang="LID4096" sz="2800" b="1" u="sng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 algorithms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213B0C6-69EB-AA10-8CF9-B16BCBEFDD77}"/>
                  </a:ext>
                </a:extLst>
              </p:cNvPr>
              <p:cNvSpPr txBox="1"/>
              <p:nvPr/>
            </p:nvSpPr>
            <p:spPr>
              <a:xfrm>
                <a:off x="7312398" y="4576016"/>
                <a:ext cx="458470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LID4096" sz="2400" b="1" dirty="0"/>
                  <a:t>physics-based </a:t>
                </a:r>
                <a:r>
                  <a:rPr lang="pt-BR" sz="2400" b="1" dirty="0">
                    <a:solidFill>
                      <a:srgbClr val="FFFF00"/>
                    </a:solidFill>
                    <a:highlight>
                      <a:srgbClr val="FFFF00"/>
                    </a:highlight>
                  </a:rPr>
                  <a:t>. </a:t>
                </a:r>
                <a:r>
                  <a:rPr lang="LID4096" sz="2400" b="1" dirty="0">
                    <a:highlight>
                      <a:srgbClr val="FFFF00"/>
                    </a:highlight>
                  </a:rPr>
                  <a:t>surrogate </a:t>
                </a:r>
                <a:r>
                  <a:rPr lang="pt-BR" sz="2400" b="1" dirty="0">
                    <a:highlight>
                      <a:srgbClr val="FFFF00"/>
                    </a:highlight>
                  </a:rPr>
                  <a:t>models</a:t>
                </a:r>
                <a:r>
                  <a:rPr lang="pt-BR" sz="2400" b="1" dirty="0">
                    <a:solidFill>
                      <a:srgbClr val="FFFF00"/>
                    </a:solidFill>
                    <a:highlight>
                      <a:srgbClr val="FFFF00"/>
                    </a:highlight>
                  </a:rPr>
                  <a:t>.</a:t>
                </a:r>
                <a:endParaRPr lang="LID4096" sz="2400" b="1" dirty="0">
                  <a:highlight>
                    <a:srgbClr val="FFFF00"/>
                  </a:highlight>
                </a:endParaRPr>
              </a:p>
            </p:txBody>
          </p:sp>
        </p:grp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625D0F46-1BE3-348C-2B9F-5D969114A4EB}"/>
              </a:ext>
            </a:extLst>
          </p:cNvPr>
          <p:cNvGrpSpPr/>
          <p:nvPr/>
        </p:nvGrpSpPr>
        <p:grpSpPr>
          <a:xfrm>
            <a:off x="291509" y="1378598"/>
            <a:ext cx="11762308" cy="3226958"/>
            <a:chOff x="291509" y="1386415"/>
            <a:chExt cx="11762308" cy="322695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2BA07D8-C7C9-80CC-0A01-BE98DDA9DEB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24576" r="43519"/>
            <a:stretch>
              <a:fillRect/>
            </a:stretch>
          </p:blipFill>
          <p:spPr>
            <a:xfrm>
              <a:off x="291509" y="1386415"/>
              <a:ext cx="6730766" cy="3226958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68F8D699-4DF7-7CFB-7149-7E681B67440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0405" t="24662" b="28137"/>
            <a:stretch>
              <a:fillRect/>
            </a:stretch>
          </p:blipFill>
          <p:spPr>
            <a:xfrm>
              <a:off x="7276605" y="1403275"/>
              <a:ext cx="4777212" cy="2044568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68293B0-7326-CC9E-F851-418B49E9161C}"/>
                </a:ext>
              </a:extLst>
            </p:cNvPr>
            <p:cNvSpPr txBox="1"/>
            <p:nvPr/>
          </p:nvSpPr>
          <p:spPr>
            <a:xfrm>
              <a:off x="5697447" y="3556749"/>
              <a:ext cx="77511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b="1" dirty="0">
                  <a:solidFill>
                    <a:srgbClr val="0000FF"/>
                  </a:solidFill>
                  <a:latin typeface="Horley Old Style MT"/>
                </a:rPr>
                <a:t>PFEM</a:t>
              </a:r>
              <a:endParaRPr lang="LID4096" b="1" dirty="0">
                <a:solidFill>
                  <a:srgbClr val="0000FF"/>
                </a:solidFill>
                <a:latin typeface="Horley Old Style MT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E334FD4-B42D-E93C-250F-A58DC83CFC26}"/>
                </a:ext>
              </a:extLst>
            </p:cNvPr>
            <p:cNvSpPr txBox="1"/>
            <p:nvPr/>
          </p:nvSpPr>
          <p:spPr>
            <a:xfrm>
              <a:off x="403897" y="1394652"/>
              <a:ext cx="23685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LID4096" b="1" dirty="0">
                  <a:solidFill>
                    <a:srgbClr val="FF0000"/>
                  </a:solidFill>
                </a:rPr>
                <a:t>Massive parallelisation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A1C09256-4C1E-62D9-E0A7-A0C3AC614B27}"/>
                </a:ext>
              </a:extLst>
            </p:cNvPr>
            <p:cNvSpPr/>
            <p:nvPr/>
          </p:nvSpPr>
          <p:spPr>
            <a:xfrm>
              <a:off x="407405" y="1852989"/>
              <a:ext cx="2034833" cy="289713"/>
            </a:xfrm>
            <a:prstGeom prst="roundRect">
              <a:avLst/>
            </a:prstGeom>
            <a:solidFill>
              <a:schemeClr val="bg1"/>
            </a:solidFill>
          </p:spPr>
          <p:txBody>
            <a:bodyPr wrap="square" lIns="0" tIns="0" rIns="0" bIns="0" anchor="ctr" anchorCtr="0">
              <a:noAutofit/>
            </a:bodyPr>
            <a:lstStyle/>
            <a:p>
              <a:pPr algn="ctr"/>
              <a:r>
                <a:rPr lang="pt-BR" sz="20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Horley Old Style MT"/>
                </a:rPr>
                <a:t>Particle based</a:t>
              </a:r>
              <a:endParaRPr lang="LID4096" sz="20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endParaRPr>
            </a:p>
          </p:txBody>
        </p:sp>
      </p:grp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DCE38427-47BD-60F9-EFE1-816AAC792B33}"/>
              </a:ext>
            </a:extLst>
          </p:cNvPr>
          <p:cNvSpPr/>
          <p:nvPr/>
        </p:nvSpPr>
        <p:spPr>
          <a:xfrm>
            <a:off x="6958150" y="317105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Como modelar?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A2E1C13F-BF03-2A7B-DB0D-D1A9AD5EDE8B}"/>
              </a:ext>
            </a:extLst>
          </p:cNvPr>
          <p:cNvSpPr/>
          <p:nvPr/>
        </p:nvSpPr>
        <p:spPr>
          <a:xfrm>
            <a:off x="4586200" y="2100204"/>
            <a:ext cx="501157" cy="365760"/>
          </a:xfrm>
          <a:prstGeom prst="triangle">
            <a:avLst>
              <a:gd name="adj" fmla="val 48501"/>
            </a:avLst>
          </a:prstGeom>
          <a:solidFill>
            <a:srgbClr val="0000FF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91440" rtlCol="0" anchor="ctr"/>
          <a:lstStyle/>
          <a:p>
            <a:pPr algn="ct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</a:t>
            </a:r>
            <a:endParaRPr lang="LID4096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B4A3FA29-3C4D-906A-3C33-FB0E63523A03}"/>
              </a:ext>
            </a:extLst>
          </p:cNvPr>
          <p:cNvSpPr/>
          <p:nvPr/>
        </p:nvSpPr>
        <p:spPr>
          <a:xfrm>
            <a:off x="2557757" y="1836822"/>
            <a:ext cx="2034833" cy="289713"/>
          </a:xfrm>
          <a:prstGeom prst="roundRect">
            <a:avLst/>
          </a:prstGeom>
          <a:solidFill>
            <a:schemeClr val="bg1"/>
          </a:solidFill>
        </p:spPr>
        <p:txBody>
          <a:bodyPr wrap="square" lIns="0" tIns="0" rIns="0" bIns="0" anchor="ctr" anchorCtr="0">
            <a:noAutofit/>
          </a:bodyPr>
          <a:lstStyle/>
          <a:p>
            <a:pPr algn="ctr"/>
            <a:r>
              <a:rPr lang="pt-BR" sz="20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Grid based</a:t>
            </a:r>
            <a:endParaRPr lang="LID4096" sz="2000" b="1" dirty="0">
              <a:solidFill>
                <a:srgbClr val="0000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orley Old Style MT"/>
            </a:endParaRPr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140BBDA6-9A25-E367-8650-1FC54D6F0E2D}"/>
              </a:ext>
            </a:extLst>
          </p:cNvPr>
          <p:cNvSpPr/>
          <p:nvPr/>
        </p:nvSpPr>
        <p:spPr>
          <a:xfrm>
            <a:off x="4575667" y="2684112"/>
            <a:ext cx="501157" cy="365760"/>
          </a:xfrm>
          <a:prstGeom prst="triangle">
            <a:avLst>
              <a:gd name="adj" fmla="val 48501"/>
            </a:avLst>
          </a:prstGeom>
          <a:solidFill>
            <a:srgbClr val="0000FF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91440" rtlCol="0" anchor="ctr"/>
          <a:lstStyle/>
          <a:p>
            <a:pPr algn="ct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</a:t>
            </a:r>
            <a:endParaRPr lang="LID4096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9" name="Isosceles Triangle 8">
            <a:extLst>
              <a:ext uri="{FF2B5EF4-FFF2-40B4-BE49-F238E27FC236}">
                <a16:creationId xmlns:a16="http://schemas.microsoft.com/office/drawing/2014/main" id="{797BDB67-1204-ADD4-BB75-EAF0FA40D622}"/>
              </a:ext>
            </a:extLst>
          </p:cNvPr>
          <p:cNvSpPr/>
          <p:nvPr/>
        </p:nvSpPr>
        <p:spPr>
          <a:xfrm>
            <a:off x="4575667" y="3228921"/>
            <a:ext cx="501157" cy="365760"/>
          </a:xfrm>
          <a:prstGeom prst="triangle">
            <a:avLst>
              <a:gd name="adj" fmla="val 48501"/>
            </a:avLst>
          </a:prstGeom>
          <a:solidFill>
            <a:srgbClr val="0000FF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91440" rtlCol="0" anchor="ctr"/>
          <a:lstStyle/>
          <a:p>
            <a:pPr algn="ct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3</a:t>
            </a:r>
            <a:endParaRPr lang="LID4096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B3A00913-5101-9C13-56E5-BE037B499771}"/>
              </a:ext>
            </a:extLst>
          </p:cNvPr>
          <p:cNvSpPr/>
          <p:nvPr/>
        </p:nvSpPr>
        <p:spPr>
          <a:xfrm>
            <a:off x="7221850" y="2097327"/>
            <a:ext cx="457200" cy="365760"/>
          </a:xfrm>
          <a:prstGeom prst="triangle">
            <a:avLst>
              <a:gd name="adj" fmla="val 48501"/>
            </a:avLst>
          </a:prstGeom>
          <a:solidFill>
            <a:srgbClr val="0000FF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91440" rtlCol="0" anchor="ctr"/>
          <a:lstStyle/>
          <a:p>
            <a:pPr algn="ct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</a:t>
            </a:r>
            <a:endParaRPr lang="LID4096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082ED7DD-8A99-8411-C77E-318D2B85AB8E}"/>
              </a:ext>
            </a:extLst>
          </p:cNvPr>
          <p:cNvGrpSpPr>
            <a:grpSpLocks noChangeAspect="1"/>
          </p:cNvGrpSpPr>
          <p:nvPr/>
        </p:nvGrpSpPr>
        <p:grpSpPr>
          <a:xfrm>
            <a:off x="1538445" y="915782"/>
            <a:ext cx="10313066" cy="420727"/>
            <a:chOff x="1538445" y="998464"/>
            <a:chExt cx="10313066" cy="299945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A9A5AB33-B365-06CE-7250-B8D2207B27E2}"/>
                </a:ext>
              </a:extLst>
            </p:cNvPr>
            <p:cNvSpPr/>
            <p:nvPr/>
          </p:nvSpPr>
          <p:spPr>
            <a:xfrm>
              <a:off x="4807965" y="1008696"/>
              <a:ext cx="2034833" cy="289713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lIns="0" tIns="0" rIns="0" bIns="0" anchor="ctr" anchorCtr="0">
              <a:noAutofit/>
            </a:bodyPr>
            <a:lstStyle/>
            <a:p>
              <a:pPr algn="ctr"/>
              <a:r>
                <a:rPr lang="en-US" sz="2400" b="1" noProof="0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Horley Old Style MT"/>
                </a:rPr>
                <a:t>Mesh based</a:t>
              </a:r>
            </a:p>
          </p:txBody>
        </p:sp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F84CEBBE-8D0D-63C1-55BF-D225E705E803}"/>
                </a:ext>
              </a:extLst>
            </p:cNvPr>
            <p:cNvSpPr/>
            <p:nvPr/>
          </p:nvSpPr>
          <p:spPr>
            <a:xfrm>
              <a:off x="1538445" y="1008696"/>
              <a:ext cx="2034833" cy="289713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lIns="0" tIns="0" rIns="0" bIns="0" anchor="ctr" anchorCtr="0">
              <a:noAutofit/>
            </a:bodyPr>
            <a:lstStyle/>
            <a:p>
              <a:pPr algn="ctr"/>
              <a:r>
                <a:rPr lang="en-US" sz="2400" b="1" noProof="0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Horley Old Style MT"/>
                </a:rPr>
                <a:t>Mesh-free</a:t>
              </a:r>
            </a:p>
          </p:txBody>
        </p:sp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9A68D285-DE6B-1E43-C3D9-6A6151C672D7}"/>
                </a:ext>
              </a:extLst>
            </p:cNvPr>
            <p:cNvSpPr/>
            <p:nvPr/>
          </p:nvSpPr>
          <p:spPr>
            <a:xfrm>
              <a:off x="7469113" y="998464"/>
              <a:ext cx="2034833" cy="289713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lIns="0" tIns="0" rIns="0" bIns="0" anchor="ctr" anchorCtr="0">
              <a:noAutofit/>
            </a:bodyPr>
            <a:lstStyle/>
            <a:p>
              <a:pPr algn="ctr"/>
              <a:r>
                <a:rPr lang="en-US" sz="2400" b="1" noProof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Horley Old Style MT"/>
                </a:rPr>
                <a:t>Deterministic</a:t>
              </a:r>
              <a:endParaRPr lang="en-US" sz="2400" b="1" noProof="0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endParaRPr>
            </a:p>
          </p:txBody>
        </p:sp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247005E6-D948-34E4-6290-F72D65977635}"/>
                </a:ext>
              </a:extLst>
            </p:cNvPr>
            <p:cNvSpPr/>
            <p:nvPr/>
          </p:nvSpPr>
          <p:spPr>
            <a:xfrm>
              <a:off x="9816678" y="998464"/>
              <a:ext cx="2034833" cy="289713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lIns="0" tIns="0" rIns="0" bIns="0" anchor="ctr" anchorCtr="0">
              <a:noAutofit/>
            </a:bodyPr>
            <a:lstStyle/>
            <a:p>
              <a:pPr algn="ctr"/>
              <a:r>
                <a:rPr lang="en-US" sz="2400" b="1" noProof="0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Horley Old Style MT"/>
                </a:rPr>
                <a:t>Stochastic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91C58329-7D7D-9D56-4419-07ABFDC624CF}"/>
              </a:ext>
            </a:extLst>
          </p:cNvPr>
          <p:cNvSpPr txBox="1"/>
          <p:nvPr/>
        </p:nvSpPr>
        <p:spPr>
          <a:xfrm>
            <a:off x="252520" y="4745337"/>
            <a:ext cx="4734543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i="0" u="none" strike="noStrike" baseline="0" dirty="0">
                <a:solidFill>
                  <a:srgbClr val="FF0000"/>
                </a:solidFill>
                <a:latin typeface="AdvOT46dcae81"/>
              </a:rPr>
              <a:t>simulation-informed </a:t>
            </a:r>
          </a:p>
          <a:p>
            <a:r>
              <a:rPr lang="en-US" sz="2800" b="1" i="0" u="none" strike="noStrike" baseline="0" dirty="0">
                <a:solidFill>
                  <a:srgbClr val="FF0000"/>
                </a:solidFill>
                <a:latin typeface="AdvOT46dcae81"/>
              </a:rPr>
              <a:t>closed-loop control feedback </a:t>
            </a:r>
            <a:r>
              <a:rPr lang="en-GB" sz="2800" b="1" i="0" u="none" strike="noStrike" baseline="0" dirty="0">
                <a:solidFill>
                  <a:srgbClr val="FF0000"/>
                </a:solidFill>
                <a:latin typeface="AdvOT46dcae81"/>
              </a:rPr>
              <a:t>real-time monitoring systems</a:t>
            </a:r>
            <a:endParaRPr lang="LID4096" sz="2800" b="1" dirty="0">
              <a:solidFill>
                <a:srgbClr val="FF0000"/>
              </a:solidFill>
            </a:endParaRPr>
          </a:p>
        </p:txBody>
      </p:sp>
      <p:sp>
        <p:nvSpPr>
          <p:cNvPr id="40" name="Isosceles Triangle 39">
            <a:extLst>
              <a:ext uri="{FF2B5EF4-FFF2-40B4-BE49-F238E27FC236}">
                <a16:creationId xmlns:a16="http://schemas.microsoft.com/office/drawing/2014/main" id="{CD19762E-1D12-FE12-D6A0-3E4046329B3E}"/>
              </a:ext>
            </a:extLst>
          </p:cNvPr>
          <p:cNvSpPr/>
          <p:nvPr/>
        </p:nvSpPr>
        <p:spPr>
          <a:xfrm>
            <a:off x="252520" y="3926918"/>
            <a:ext cx="457200" cy="365760"/>
          </a:xfrm>
          <a:prstGeom prst="triangle">
            <a:avLst>
              <a:gd name="adj" fmla="val 48501"/>
            </a:avLst>
          </a:prstGeom>
          <a:solidFill>
            <a:srgbClr val="FF00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91440" rtlCol="0" anchor="ctr"/>
          <a:lstStyle/>
          <a:p>
            <a:pPr algn="ct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</a:t>
            </a:r>
            <a:endParaRPr lang="LID4096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41" name="Isosceles Triangle 40">
            <a:extLst>
              <a:ext uri="{FF2B5EF4-FFF2-40B4-BE49-F238E27FC236}">
                <a16:creationId xmlns:a16="http://schemas.microsoft.com/office/drawing/2014/main" id="{2CD8C851-703D-BC14-E36E-33D56EEBCB80}"/>
              </a:ext>
            </a:extLst>
          </p:cNvPr>
          <p:cNvSpPr/>
          <p:nvPr/>
        </p:nvSpPr>
        <p:spPr>
          <a:xfrm>
            <a:off x="221461" y="2108444"/>
            <a:ext cx="457200" cy="365760"/>
          </a:xfrm>
          <a:prstGeom prst="triangle">
            <a:avLst>
              <a:gd name="adj" fmla="val 48501"/>
            </a:avLst>
          </a:prstGeom>
          <a:solidFill>
            <a:srgbClr val="FF00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91440" rtlCol="0" anchor="ctr"/>
          <a:lstStyle/>
          <a:p>
            <a:pPr algn="ct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</a:t>
            </a:r>
            <a:endParaRPr lang="LID4096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42" name="Isosceles Triangle 41">
            <a:extLst>
              <a:ext uri="{FF2B5EF4-FFF2-40B4-BE49-F238E27FC236}">
                <a16:creationId xmlns:a16="http://schemas.microsoft.com/office/drawing/2014/main" id="{C99EC9EE-22F1-364E-BF5D-932FF000DA59}"/>
              </a:ext>
            </a:extLst>
          </p:cNvPr>
          <p:cNvSpPr/>
          <p:nvPr/>
        </p:nvSpPr>
        <p:spPr>
          <a:xfrm>
            <a:off x="2364640" y="2097327"/>
            <a:ext cx="457200" cy="365760"/>
          </a:xfrm>
          <a:prstGeom prst="triangle">
            <a:avLst>
              <a:gd name="adj" fmla="val 48501"/>
            </a:avLst>
          </a:prstGeom>
          <a:solidFill>
            <a:srgbClr val="00B05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91440" rtlCol="0" anchor="ctr"/>
          <a:lstStyle/>
          <a:p>
            <a:pPr algn="ct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</a:t>
            </a:r>
            <a:endParaRPr lang="LID4096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8F295761-EECA-B3D1-EDA7-E11A7AAEE1C7}"/>
              </a:ext>
            </a:extLst>
          </p:cNvPr>
          <p:cNvGrpSpPr/>
          <p:nvPr/>
        </p:nvGrpSpPr>
        <p:grpSpPr>
          <a:xfrm>
            <a:off x="4962525" y="4738626"/>
            <a:ext cx="7091293" cy="1723255"/>
            <a:chOff x="-108132" y="4740421"/>
            <a:chExt cx="7091293" cy="1723255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FEADCAF4-653D-AAB8-F5D7-F15732EEDAA3}"/>
                </a:ext>
              </a:extLst>
            </p:cNvPr>
            <p:cNvSpPr/>
            <p:nvPr/>
          </p:nvSpPr>
          <p:spPr>
            <a:xfrm>
              <a:off x="-108132" y="4740421"/>
              <a:ext cx="7086516" cy="1723255"/>
            </a:xfrm>
            <a:prstGeom prst="rect">
              <a:avLst/>
            </a:prstGeom>
            <a:solidFill>
              <a:srgbClr val="E5FFF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1FF4B0D7-6BB9-1323-2A86-D6C9CA2D9D06}"/>
                </a:ext>
              </a:extLst>
            </p:cNvPr>
            <p:cNvGrpSpPr/>
            <p:nvPr/>
          </p:nvGrpSpPr>
          <p:grpSpPr>
            <a:xfrm>
              <a:off x="281984" y="4755936"/>
              <a:ext cx="6701177" cy="1647114"/>
              <a:chOff x="3960177" y="3941471"/>
              <a:chExt cx="6701177" cy="1647114"/>
            </a:xfrm>
          </p:grpSpPr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A030490-DB93-F4DC-BB3A-9280CD14D85B}"/>
                  </a:ext>
                </a:extLst>
              </p:cNvPr>
              <p:cNvSpPr txBox="1"/>
              <p:nvPr/>
            </p:nvSpPr>
            <p:spPr>
              <a:xfrm>
                <a:off x="5629811" y="3941471"/>
                <a:ext cx="5031543" cy="8925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pt-BR" sz="2400" b="1" dirty="0"/>
                  <a:t>01 - </a:t>
                </a:r>
                <a:r>
                  <a:rPr lang="LID4096" sz="2400" b="1" dirty="0"/>
                  <a:t>finite element analysis </a:t>
                </a:r>
                <a:r>
                  <a:rPr lang="LID4096" sz="2800" b="1" u="sng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(FEA)</a:t>
                </a:r>
                <a:endParaRPr lang="pt-BR" sz="3200" b="1" dirty="0"/>
              </a:p>
              <a:p>
                <a:r>
                  <a:rPr lang="pt-BR" sz="2400" b="1" dirty="0"/>
                  <a:t>02 - </a:t>
                </a:r>
                <a:r>
                  <a:rPr lang="LID4096" sz="2400" b="1" u="sng" dirty="0">
                    <a:solidFill>
                      <a:srgbClr val="FF0000"/>
                    </a:solidFill>
                  </a:rPr>
                  <a:t>phase-field modeling</a:t>
                </a:r>
                <a:r>
                  <a:rPr lang="LID4096" sz="2400" b="1" dirty="0"/>
                  <a:t> techniques</a:t>
                </a: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CD4E9B6-2A00-FB75-CE18-635A77908225}"/>
                  </a:ext>
                </a:extLst>
              </p:cNvPr>
              <p:cNvSpPr txBox="1"/>
              <p:nvPr/>
            </p:nvSpPr>
            <p:spPr>
              <a:xfrm>
                <a:off x="3960177" y="5203864"/>
                <a:ext cx="6498870" cy="3847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LID4096" sz="1900" b="1" dirty="0">
                    <a:solidFill>
                      <a:srgbClr val="0000FF"/>
                    </a:solidFill>
                  </a:rPr>
                  <a:t>heat flow, temperature,</a:t>
                </a:r>
                <a:r>
                  <a:rPr lang="pt-BR" sz="1900" b="1" dirty="0">
                    <a:solidFill>
                      <a:srgbClr val="0000FF"/>
                    </a:solidFill>
                  </a:rPr>
                  <a:t> </a:t>
                </a:r>
                <a:r>
                  <a:rPr lang="LID4096" sz="1900" b="1" dirty="0">
                    <a:solidFill>
                      <a:srgbClr val="0000FF"/>
                    </a:solidFill>
                  </a:rPr>
                  <a:t>and stress evolution during deposition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02E9AB0-1B66-2B81-8AA7-7E094D7F3C7E}"/>
                  </a:ext>
                </a:extLst>
              </p:cNvPr>
              <p:cNvSpPr txBox="1"/>
              <p:nvPr/>
            </p:nvSpPr>
            <p:spPr>
              <a:xfrm>
                <a:off x="4481246" y="3945738"/>
                <a:ext cx="111018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2400" b="1" i="0" strike="noStrike" baseline="0" dirty="0">
                    <a:solidFill>
                      <a:srgbClr val="FF0000"/>
                    </a:solidFill>
                    <a:latin typeface="Calibri (Body)"/>
                  </a:rPr>
                  <a:t>Macro</a:t>
                </a:r>
                <a:endParaRPr lang="LID4096" dirty="0">
                  <a:latin typeface="Calibri (Body)"/>
                </a:endParaRPr>
              </a:p>
            </p:txBody>
          </p:sp>
        </p:grpSp>
      </p:grp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DD3F4970-4AFF-7764-2D24-7C73ECF0502E}"/>
              </a:ext>
            </a:extLst>
          </p:cNvPr>
          <p:cNvSpPr/>
          <p:nvPr/>
        </p:nvSpPr>
        <p:spPr>
          <a:xfrm>
            <a:off x="5125245" y="5234440"/>
            <a:ext cx="1036163" cy="515491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32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CFD</a:t>
            </a:r>
            <a:endParaRPr lang="pt-BR" sz="3200" noProof="0" dirty="0">
              <a:solidFill>
                <a:srgbClr val="0000FF"/>
              </a:solidFill>
              <a:latin typeface="Times New Roman" panose="02020603050405020304" pitchFamily="18" charset="0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B6B12A4C-502A-255B-CB45-FCB1C7AB3335}"/>
              </a:ext>
            </a:extLst>
          </p:cNvPr>
          <p:cNvSpPr/>
          <p:nvPr/>
        </p:nvSpPr>
        <p:spPr>
          <a:xfrm>
            <a:off x="5404423" y="5675031"/>
            <a:ext cx="2666540" cy="515491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Design optimization</a:t>
            </a:r>
            <a:endParaRPr lang="pt-BR" sz="2400" noProof="0" dirty="0">
              <a:solidFill>
                <a:srgbClr val="0000FF"/>
              </a:solidFill>
              <a:latin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89EF21B-F05E-F693-E152-311013C7D9EE}"/>
              </a:ext>
            </a:extLst>
          </p:cNvPr>
          <p:cNvSpPr txBox="1"/>
          <p:nvPr/>
        </p:nvSpPr>
        <p:spPr>
          <a:xfrm>
            <a:off x="5575322" y="2959305"/>
            <a:ext cx="126747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 err="1">
                <a:solidFill>
                  <a:srgbClr val="0000FF"/>
                </a:solidFill>
                <a:latin typeface="Horley Old Style MT"/>
              </a:rPr>
              <a:t>openFOAM</a:t>
            </a:r>
            <a:endParaRPr lang="LID4096" sz="1600" b="1" dirty="0">
              <a:solidFill>
                <a:srgbClr val="0000FF"/>
              </a:solidFill>
              <a:latin typeface="Horley Old Style M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82A58A2-38F2-43FA-1EED-8B82E6E12765}"/>
              </a:ext>
            </a:extLst>
          </p:cNvPr>
          <p:cNvSpPr txBox="1"/>
          <p:nvPr/>
        </p:nvSpPr>
        <p:spPr>
          <a:xfrm>
            <a:off x="5600974" y="2369325"/>
            <a:ext cx="126747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rgbClr val="0000FF"/>
                </a:solidFill>
                <a:latin typeface="Horley Old Style MT"/>
              </a:rPr>
              <a:t>MODFLOW</a:t>
            </a:r>
            <a:endParaRPr lang="LID4096" sz="1600" b="1" dirty="0">
              <a:solidFill>
                <a:srgbClr val="0000FF"/>
              </a:solidFill>
              <a:latin typeface="Horley Old Style MT"/>
            </a:endParaRPr>
          </a:p>
        </p:txBody>
      </p:sp>
    </p:spTree>
    <p:extLst>
      <p:ext uri="{BB962C8B-B14F-4D97-AF65-F5344CB8AC3E}">
        <p14:creationId xmlns:p14="http://schemas.microsoft.com/office/powerpoint/2010/main" val="17474374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Rectangle 126">
            <a:extLst>
              <a:ext uri="{FF2B5EF4-FFF2-40B4-BE49-F238E27FC236}">
                <a16:creationId xmlns:a16="http://schemas.microsoft.com/office/drawing/2014/main" id="{18CE85FB-A242-D04F-AC29-7D2493967477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40F914-8543-38E7-3BAF-80DD6923599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8042" b="2867"/>
          <a:stretch>
            <a:fillRect/>
          </a:stretch>
        </p:blipFill>
        <p:spPr>
          <a:xfrm>
            <a:off x="8530744" y="709776"/>
            <a:ext cx="3108650" cy="158537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E70E2A7A-5EC8-5C3E-FC23-664973C83279}"/>
              </a:ext>
            </a:extLst>
          </p:cNvPr>
          <p:cNvGrpSpPr/>
          <p:nvPr/>
        </p:nvGrpSpPr>
        <p:grpSpPr>
          <a:xfrm>
            <a:off x="5450169" y="709776"/>
            <a:ext cx="2930034" cy="1585372"/>
            <a:chOff x="151039" y="766708"/>
            <a:chExt cx="2930034" cy="1585372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648F848E-4CC5-DB14-6EA7-DC47870E8A7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1039" y="766708"/>
              <a:ext cx="2930034" cy="1585372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4929432-8D1B-4356-0E04-A757695F1E01}"/>
                </a:ext>
              </a:extLst>
            </p:cNvPr>
            <p:cNvSpPr txBox="1"/>
            <p:nvPr/>
          </p:nvSpPr>
          <p:spPr>
            <a:xfrm>
              <a:off x="211999" y="2077236"/>
              <a:ext cx="177191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100" noProof="0"/>
                <a:t>Finite Volume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EBFFEAC2-4B1A-5E35-CBEE-88725ADFD890}"/>
              </a:ext>
            </a:extLst>
          </p:cNvPr>
          <p:cNvGrpSpPr/>
          <p:nvPr/>
        </p:nvGrpSpPr>
        <p:grpSpPr>
          <a:xfrm>
            <a:off x="311836" y="3565677"/>
            <a:ext cx="3126171" cy="2893632"/>
            <a:chOff x="5782638" y="3435325"/>
            <a:chExt cx="2424418" cy="2404173"/>
          </a:xfrm>
        </p:grpSpPr>
        <p:pic>
          <p:nvPicPr>
            <p:cNvPr id="49" name="Imagem 150">
              <a:extLst>
                <a:ext uri="{FF2B5EF4-FFF2-40B4-BE49-F238E27FC236}">
                  <a16:creationId xmlns:a16="http://schemas.microsoft.com/office/drawing/2014/main" id="{9136375A-A24B-C080-937A-F45AC82EB5D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789892" y="3435325"/>
              <a:ext cx="2409911" cy="2404173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9784D8D7-4D49-DBA3-AF86-EA475574DF92}"/>
                </a:ext>
              </a:extLst>
            </p:cNvPr>
            <p:cNvGrpSpPr/>
            <p:nvPr/>
          </p:nvGrpSpPr>
          <p:grpSpPr>
            <a:xfrm>
              <a:off x="5782638" y="3441535"/>
              <a:ext cx="2424418" cy="2365695"/>
              <a:chOff x="5908166" y="1237410"/>
              <a:chExt cx="2424418" cy="2365695"/>
            </a:xfrm>
          </p:grpSpPr>
          <p:grpSp>
            <p:nvGrpSpPr>
              <p:cNvPr id="51" name="Agrupar 164">
                <a:extLst>
                  <a:ext uri="{FF2B5EF4-FFF2-40B4-BE49-F238E27FC236}">
                    <a16:creationId xmlns:a16="http://schemas.microsoft.com/office/drawing/2014/main" id="{FCC13C66-A1A3-6CEC-2F3A-624032F558A9}"/>
                  </a:ext>
                </a:extLst>
              </p:cNvPr>
              <p:cNvGrpSpPr/>
              <p:nvPr/>
            </p:nvGrpSpPr>
            <p:grpSpPr>
              <a:xfrm>
                <a:off x="5908166" y="1237410"/>
                <a:ext cx="2424418" cy="2365695"/>
                <a:chOff x="5469622" y="1107347"/>
                <a:chExt cx="2424418" cy="2365695"/>
              </a:xfrm>
            </p:grpSpPr>
            <p:sp>
              <p:nvSpPr>
                <p:cNvPr id="56" name="Forma Livre: Forma 158">
                  <a:extLst>
                    <a:ext uri="{FF2B5EF4-FFF2-40B4-BE49-F238E27FC236}">
                      <a16:creationId xmlns:a16="http://schemas.microsoft.com/office/drawing/2014/main" id="{66FC9AE8-78FF-684E-DDA3-288EB1EFDC7E}"/>
                    </a:ext>
                  </a:extLst>
                </p:cNvPr>
                <p:cNvSpPr/>
                <p:nvPr/>
              </p:nvSpPr>
              <p:spPr>
                <a:xfrm>
                  <a:off x="5494789" y="2474752"/>
                  <a:ext cx="1275127" cy="998290"/>
                </a:xfrm>
                <a:custGeom>
                  <a:avLst/>
                  <a:gdLst>
                    <a:gd name="connsiteX0" fmla="*/ 0 w 1275127"/>
                    <a:gd name="connsiteY0" fmla="*/ 0 h 998290"/>
                    <a:gd name="connsiteX1" fmla="*/ 234892 w 1275127"/>
                    <a:gd name="connsiteY1" fmla="*/ 134224 h 998290"/>
                    <a:gd name="connsiteX2" fmla="*/ 444617 w 1275127"/>
                    <a:gd name="connsiteY2" fmla="*/ 268448 h 998290"/>
                    <a:gd name="connsiteX3" fmla="*/ 679508 w 1275127"/>
                    <a:gd name="connsiteY3" fmla="*/ 453006 h 998290"/>
                    <a:gd name="connsiteX4" fmla="*/ 729842 w 1275127"/>
                    <a:gd name="connsiteY4" fmla="*/ 536896 h 998290"/>
                    <a:gd name="connsiteX5" fmla="*/ 880844 w 1275127"/>
                    <a:gd name="connsiteY5" fmla="*/ 729842 h 998290"/>
                    <a:gd name="connsiteX6" fmla="*/ 1082180 w 1275127"/>
                    <a:gd name="connsiteY6" fmla="*/ 864066 h 998290"/>
                    <a:gd name="connsiteX7" fmla="*/ 1275127 w 1275127"/>
                    <a:gd name="connsiteY7" fmla="*/ 998290 h 998290"/>
                    <a:gd name="connsiteX8" fmla="*/ 1275127 w 1275127"/>
                    <a:gd name="connsiteY8" fmla="*/ 998290 h 9982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275127" h="998290">
                      <a:moveTo>
                        <a:pt x="0" y="0"/>
                      </a:moveTo>
                      <a:lnTo>
                        <a:pt x="234892" y="134224"/>
                      </a:lnTo>
                      <a:lnTo>
                        <a:pt x="444617" y="268448"/>
                      </a:lnTo>
                      <a:lnTo>
                        <a:pt x="679508" y="453006"/>
                      </a:lnTo>
                      <a:lnTo>
                        <a:pt x="729842" y="536896"/>
                      </a:lnTo>
                      <a:lnTo>
                        <a:pt x="880844" y="729842"/>
                      </a:lnTo>
                      <a:lnTo>
                        <a:pt x="1082180" y="864066"/>
                      </a:lnTo>
                      <a:lnTo>
                        <a:pt x="1275127" y="998290"/>
                      </a:lnTo>
                      <a:lnTo>
                        <a:pt x="1275127" y="998290"/>
                      </a:lnTo>
                    </a:path>
                  </a:pathLst>
                </a:custGeom>
                <a:noFill/>
                <a:ln>
                  <a:solidFill>
                    <a:srgbClr val="0000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57" name="Forma Livre: Forma 159">
                  <a:extLst>
                    <a:ext uri="{FF2B5EF4-FFF2-40B4-BE49-F238E27FC236}">
                      <a16:creationId xmlns:a16="http://schemas.microsoft.com/office/drawing/2014/main" id="{91C30E61-B4AA-C56E-C482-5171D302BA92}"/>
                    </a:ext>
                  </a:extLst>
                </p:cNvPr>
                <p:cNvSpPr/>
                <p:nvPr/>
              </p:nvSpPr>
              <p:spPr>
                <a:xfrm>
                  <a:off x="5511567" y="2189527"/>
                  <a:ext cx="1820411" cy="1283515"/>
                </a:xfrm>
                <a:custGeom>
                  <a:avLst/>
                  <a:gdLst>
                    <a:gd name="connsiteX0" fmla="*/ 0 w 1820411"/>
                    <a:gd name="connsiteY0" fmla="*/ 0 h 1283515"/>
                    <a:gd name="connsiteX1" fmla="*/ 0 w 1820411"/>
                    <a:gd name="connsiteY1" fmla="*/ 0 h 1283515"/>
                    <a:gd name="connsiteX2" fmla="*/ 67112 w 1820411"/>
                    <a:gd name="connsiteY2" fmla="*/ 41945 h 1283515"/>
                    <a:gd name="connsiteX3" fmla="*/ 427839 w 1820411"/>
                    <a:gd name="connsiteY3" fmla="*/ 226502 h 1283515"/>
                    <a:gd name="connsiteX4" fmla="*/ 713064 w 1820411"/>
                    <a:gd name="connsiteY4" fmla="*/ 394282 h 1283515"/>
                    <a:gd name="connsiteX5" fmla="*/ 771787 w 1820411"/>
                    <a:gd name="connsiteY5" fmla="*/ 503339 h 1283515"/>
                    <a:gd name="connsiteX6" fmla="*/ 939567 w 1820411"/>
                    <a:gd name="connsiteY6" fmla="*/ 687897 h 1283515"/>
                    <a:gd name="connsiteX7" fmla="*/ 1048624 w 1820411"/>
                    <a:gd name="connsiteY7" fmla="*/ 771787 h 1283515"/>
                    <a:gd name="connsiteX8" fmla="*/ 1233182 w 1820411"/>
                    <a:gd name="connsiteY8" fmla="*/ 880844 h 1283515"/>
                    <a:gd name="connsiteX9" fmla="*/ 1308683 w 1820411"/>
                    <a:gd name="connsiteY9" fmla="*/ 931178 h 1283515"/>
                    <a:gd name="connsiteX10" fmla="*/ 1409350 w 1820411"/>
                    <a:gd name="connsiteY10" fmla="*/ 998290 h 1283515"/>
                    <a:gd name="connsiteX11" fmla="*/ 1459684 w 1820411"/>
                    <a:gd name="connsiteY11" fmla="*/ 1057012 h 1283515"/>
                    <a:gd name="connsiteX12" fmla="*/ 1820411 w 1820411"/>
                    <a:gd name="connsiteY12" fmla="*/ 1283515 h 12835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820411" h="1283515">
                      <a:moveTo>
                        <a:pt x="0" y="0"/>
                      </a:moveTo>
                      <a:lnTo>
                        <a:pt x="0" y="0"/>
                      </a:lnTo>
                      <a:lnTo>
                        <a:pt x="67112" y="41945"/>
                      </a:lnTo>
                      <a:lnTo>
                        <a:pt x="427839" y="226502"/>
                      </a:lnTo>
                      <a:lnTo>
                        <a:pt x="713064" y="394282"/>
                      </a:lnTo>
                      <a:cubicBezTo>
                        <a:pt x="773196" y="497365"/>
                        <a:pt x="771787" y="456102"/>
                        <a:pt x="771787" y="503339"/>
                      </a:cubicBezTo>
                      <a:lnTo>
                        <a:pt x="939567" y="687897"/>
                      </a:lnTo>
                      <a:lnTo>
                        <a:pt x="1048624" y="771787"/>
                      </a:lnTo>
                      <a:lnTo>
                        <a:pt x="1233182" y="880844"/>
                      </a:lnTo>
                      <a:cubicBezTo>
                        <a:pt x="1296993" y="926423"/>
                        <a:pt x="1270390" y="912031"/>
                        <a:pt x="1308683" y="931178"/>
                      </a:cubicBezTo>
                      <a:lnTo>
                        <a:pt x="1409350" y="998290"/>
                      </a:lnTo>
                      <a:lnTo>
                        <a:pt x="1459684" y="1057012"/>
                      </a:lnTo>
                      <a:lnTo>
                        <a:pt x="1820411" y="1283515"/>
                      </a:lnTo>
                    </a:path>
                  </a:pathLst>
                </a:custGeom>
                <a:noFill/>
                <a:ln>
                  <a:solidFill>
                    <a:srgbClr val="0000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58" name="Forma Livre: Forma 160">
                  <a:extLst>
                    <a:ext uri="{FF2B5EF4-FFF2-40B4-BE49-F238E27FC236}">
                      <a16:creationId xmlns:a16="http://schemas.microsoft.com/office/drawing/2014/main" id="{DA6EA826-928D-72E0-1B32-394D4151E05F}"/>
                    </a:ext>
                  </a:extLst>
                </p:cNvPr>
                <p:cNvSpPr/>
                <p:nvPr/>
              </p:nvSpPr>
              <p:spPr>
                <a:xfrm>
                  <a:off x="5511567" y="1887523"/>
                  <a:ext cx="2248250" cy="1577130"/>
                </a:xfrm>
                <a:custGeom>
                  <a:avLst/>
                  <a:gdLst>
                    <a:gd name="connsiteX0" fmla="*/ 0 w 2248250"/>
                    <a:gd name="connsiteY0" fmla="*/ 0 h 1577130"/>
                    <a:gd name="connsiteX1" fmla="*/ 0 w 2248250"/>
                    <a:gd name="connsiteY1" fmla="*/ 0 h 1577130"/>
                    <a:gd name="connsiteX2" fmla="*/ 234892 w 2248250"/>
                    <a:gd name="connsiteY2" fmla="*/ 167780 h 1577130"/>
                    <a:gd name="connsiteX3" fmla="*/ 528506 w 2248250"/>
                    <a:gd name="connsiteY3" fmla="*/ 335560 h 1577130"/>
                    <a:gd name="connsiteX4" fmla="*/ 922789 w 2248250"/>
                    <a:gd name="connsiteY4" fmla="*/ 553673 h 1577130"/>
                    <a:gd name="connsiteX5" fmla="*/ 981512 w 2248250"/>
                    <a:gd name="connsiteY5" fmla="*/ 629174 h 1577130"/>
                    <a:gd name="connsiteX6" fmla="*/ 1140903 w 2248250"/>
                    <a:gd name="connsiteY6" fmla="*/ 763398 h 1577130"/>
                    <a:gd name="connsiteX7" fmla="*/ 1434517 w 2248250"/>
                    <a:gd name="connsiteY7" fmla="*/ 956345 h 1577130"/>
                    <a:gd name="connsiteX8" fmla="*/ 1803633 w 2248250"/>
                    <a:gd name="connsiteY8" fmla="*/ 1208015 h 1577130"/>
                    <a:gd name="connsiteX9" fmla="*/ 2248250 w 2248250"/>
                    <a:gd name="connsiteY9" fmla="*/ 1577130 h 15771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2248250" h="1577130">
                      <a:moveTo>
                        <a:pt x="0" y="0"/>
                      </a:moveTo>
                      <a:lnTo>
                        <a:pt x="0" y="0"/>
                      </a:lnTo>
                      <a:lnTo>
                        <a:pt x="234892" y="167780"/>
                      </a:lnTo>
                      <a:lnTo>
                        <a:pt x="528506" y="335560"/>
                      </a:lnTo>
                      <a:lnTo>
                        <a:pt x="922789" y="553673"/>
                      </a:lnTo>
                      <a:lnTo>
                        <a:pt x="981512" y="629174"/>
                      </a:lnTo>
                      <a:lnTo>
                        <a:pt x="1140903" y="763398"/>
                      </a:lnTo>
                      <a:lnTo>
                        <a:pt x="1434517" y="956345"/>
                      </a:lnTo>
                      <a:lnTo>
                        <a:pt x="1803633" y="1208015"/>
                      </a:lnTo>
                      <a:lnTo>
                        <a:pt x="2248250" y="1577130"/>
                      </a:lnTo>
                    </a:path>
                  </a:pathLst>
                </a:custGeom>
                <a:noFill/>
                <a:ln>
                  <a:solidFill>
                    <a:srgbClr val="0000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59" name="Forma Livre: Forma 161">
                  <a:extLst>
                    <a:ext uri="{FF2B5EF4-FFF2-40B4-BE49-F238E27FC236}">
                      <a16:creationId xmlns:a16="http://schemas.microsoft.com/office/drawing/2014/main" id="{2AF1AC79-5655-45E8-7962-DB17565C2296}"/>
                    </a:ext>
                  </a:extLst>
                </p:cNvPr>
                <p:cNvSpPr/>
                <p:nvPr/>
              </p:nvSpPr>
              <p:spPr>
                <a:xfrm>
                  <a:off x="5503178" y="1602297"/>
                  <a:ext cx="2365695" cy="1342239"/>
                </a:xfrm>
                <a:custGeom>
                  <a:avLst/>
                  <a:gdLst>
                    <a:gd name="connsiteX0" fmla="*/ 0 w 2365695"/>
                    <a:gd name="connsiteY0" fmla="*/ 25167 h 1342239"/>
                    <a:gd name="connsiteX1" fmla="*/ 0 w 2365695"/>
                    <a:gd name="connsiteY1" fmla="*/ 25167 h 1342239"/>
                    <a:gd name="connsiteX2" fmla="*/ 134224 w 2365695"/>
                    <a:gd name="connsiteY2" fmla="*/ 0 h 1342239"/>
                    <a:gd name="connsiteX3" fmla="*/ 746620 w 2365695"/>
                    <a:gd name="connsiteY3" fmla="*/ 176169 h 1342239"/>
                    <a:gd name="connsiteX4" fmla="*/ 813732 w 2365695"/>
                    <a:gd name="connsiteY4" fmla="*/ 218114 h 1342239"/>
                    <a:gd name="connsiteX5" fmla="*/ 1283516 w 2365695"/>
                    <a:gd name="connsiteY5" fmla="*/ 578841 h 1342239"/>
                    <a:gd name="connsiteX6" fmla="*/ 1367405 w 2365695"/>
                    <a:gd name="connsiteY6" fmla="*/ 645953 h 1342239"/>
                    <a:gd name="connsiteX7" fmla="*/ 1577130 w 2365695"/>
                    <a:gd name="connsiteY7" fmla="*/ 931178 h 1342239"/>
                    <a:gd name="connsiteX8" fmla="*/ 1652631 w 2365695"/>
                    <a:gd name="connsiteY8" fmla="*/ 989901 h 1342239"/>
                    <a:gd name="connsiteX9" fmla="*/ 1904301 w 2365695"/>
                    <a:gd name="connsiteY9" fmla="*/ 1140903 h 1342239"/>
                    <a:gd name="connsiteX10" fmla="*/ 2181138 w 2365695"/>
                    <a:gd name="connsiteY10" fmla="*/ 1266738 h 1342239"/>
                    <a:gd name="connsiteX11" fmla="*/ 2365695 w 2365695"/>
                    <a:gd name="connsiteY11" fmla="*/ 1342239 h 13422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365695" h="1342239">
                      <a:moveTo>
                        <a:pt x="0" y="25167"/>
                      </a:moveTo>
                      <a:lnTo>
                        <a:pt x="0" y="25167"/>
                      </a:lnTo>
                      <a:lnTo>
                        <a:pt x="134224" y="0"/>
                      </a:lnTo>
                      <a:lnTo>
                        <a:pt x="746620" y="176169"/>
                      </a:lnTo>
                      <a:lnTo>
                        <a:pt x="813732" y="218114"/>
                      </a:lnTo>
                      <a:lnTo>
                        <a:pt x="1283516" y="578841"/>
                      </a:lnTo>
                      <a:lnTo>
                        <a:pt x="1367405" y="645953"/>
                      </a:lnTo>
                      <a:lnTo>
                        <a:pt x="1577130" y="931178"/>
                      </a:lnTo>
                      <a:cubicBezTo>
                        <a:pt x="1642289" y="977720"/>
                        <a:pt x="1618844" y="956114"/>
                        <a:pt x="1652631" y="989901"/>
                      </a:cubicBezTo>
                      <a:lnTo>
                        <a:pt x="1904301" y="1140903"/>
                      </a:lnTo>
                      <a:lnTo>
                        <a:pt x="2181138" y="1266738"/>
                      </a:lnTo>
                      <a:lnTo>
                        <a:pt x="2365695" y="1342239"/>
                      </a:lnTo>
                    </a:path>
                  </a:pathLst>
                </a:custGeom>
                <a:noFill/>
                <a:ln>
                  <a:solidFill>
                    <a:srgbClr val="0000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60" name="Forma Livre: Forma 162">
                  <a:extLst>
                    <a:ext uri="{FF2B5EF4-FFF2-40B4-BE49-F238E27FC236}">
                      <a16:creationId xmlns:a16="http://schemas.microsoft.com/office/drawing/2014/main" id="{D741632A-A725-B2B9-AAC6-240B4B5132D9}"/>
                    </a:ext>
                  </a:extLst>
                </p:cNvPr>
                <p:cNvSpPr/>
                <p:nvPr/>
              </p:nvSpPr>
              <p:spPr>
                <a:xfrm>
                  <a:off x="5469622" y="1283516"/>
                  <a:ext cx="2399251" cy="1199625"/>
                </a:xfrm>
                <a:custGeom>
                  <a:avLst/>
                  <a:gdLst>
                    <a:gd name="connsiteX0" fmla="*/ 0 w 2399251"/>
                    <a:gd name="connsiteY0" fmla="*/ 0 h 1199625"/>
                    <a:gd name="connsiteX1" fmla="*/ 411061 w 2399251"/>
                    <a:gd name="connsiteY1" fmla="*/ 125834 h 1199625"/>
                    <a:gd name="connsiteX2" fmla="*/ 486561 w 2399251"/>
                    <a:gd name="connsiteY2" fmla="*/ 125834 h 1199625"/>
                    <a:gd name="connsiteX3" fmla="*/ 738231 w 2399251"/>
                    <a:gd name="connsiteY3" fmla="*/ 109056 h 1199625"/>
                    <a:gd name="connsiteX4" fmla="*/ 1065402 w 2399251"/>
                    <a:gd name="connsiteY4" fmla="*/ 50334 h 1199625"/>
                    <a:gd name="connsiteX5" fmla="*/ 1182848 w 2399251"/>
                    <a:gd name="connsiteY5" fmla="*/ 58723 h 1199625"/>
                    <a:gd name="connsiteX6" fmla="*/ 1501629 w 2399251"/>
                    <a:gd name="connsiteY6" fmla="*/ 310392 h 1199625"/>
                    <a:gd name="connsiteX7" fmla="*/ 1543574 w 2399251"/>
                    <a:gd name="connsiteY7" fmla="*/ 394282 h 1199625"/>
                    <a:gd name="connsiteX8" fmla="*/ 1644242 w 2399251"/>
                    <a:gd name="connsiteY8" fmla="*/ 696286 h 1199625"/>
                    <a:gd name="connsiteX9" fmla="*/ 1770077 w 2399251"/>
                    <a:gd name="connsiteY9" fmla="*/ 864066 h 1199625"/>
                    <a:gd name="connsiteX10" fmla="*/ 1845578 w 2399251"/>
                    <a:gd name="connsiteY10" fmla="*/ 889233 h 1199625"/>
                    <a:gd name="connsiteX11" fmla="*/ 2013358 w 2399251"/>
                    <a:gd name="connsiteY11" fmla="*/ 981512 h 1199625"/>
                    <a:gd name="connsiteX12" fmla="*/ 2399251 w 2399251"/>
                    <a:gd name="connsiteY12" fmla="*/ 1199625 h 11996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2399251" h="1199625">
                      <a:moveTo>
                        <a:pt x="0" y="0"/>
                      </a:moveTo>
                      <a:lnTo>
                        <a:pt x="411061" y="125834"/>
                      </a:lnTo>
                      <a:lnTo>
                        <a:pt x="486561" y="125834"/>
                      </a:lnTo>
                      <a:lnTo>
                        <a:pt x="738231" y="109056"/>
                      </a:lnTo>
                      <a:lnTo>
                        <a:pt x="1065402" y="50334"/>
                      </a:lnTo>
                      <a:lnTo>
                        <a:pt x="1182848" y="58723"/>
                      </a:lnTo>
                      <a:lnTo>
                        <a:pt x="1501629" y="310392"/>
                      </a:lnTo>
                      <a:lnTo>
                        <a:pt x="1543574" y="394282"/>
                      </a:lnTo>
                      <a:lnTo>
                        <a:pt x="1644242" y="696286"/>
                      </a:lnTo>
                      <a:lnTo>
                        <a:pt x="1770077" y="864066"/>
                      </a:lnTo>
                      <a:lnTo>
                        <a:pt x="1845578" y="889233"/>
                      </a:lnTo>
                      <a:lnTo>
                        <a:pt x="2013358" y="981512"/>
                      </a:lnTo>
                      <a:lnTo>
                        <a:pt x="2399251" y="1199625"/>
                      </a:lnTo>
                    </a:path>
                  </a:pathLst>
                </a:custGeom>
                <a:noFill/>
                <a:ln>
                  <a:solidFill>
                    <a:srgbClr val="0000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61" name="Forma Livre: Forma 163">
                  <a:extLst>
                    <a:ext uri="{FF2B5EF4-FFF2-40B4-BE49-F238E27FC236}">
                      <a16:creationId xmlns:a16="http://schemas.microsoft.com/office/drawing/2014/main" id="{74CE5B29-6694-9008-2C4D-18C7A65A567D}"/>
                    </a:ext>
                  </a:extLst>
                </p:cNvPr>
                <p:cNvSpPr/>
                <p:nvPr/>
              </p:nvSpPr>
              <p:spPr>
                <a:xfrm>
                  <a:off x="6878972" y="1107347"/>
                  <a:ext cx="1015068" cy="1006679"/>
                </a:xfrm>
                <a:custGeom>
                  <a:avLst/>
                  <a:gdLst>
                    <a:gd name="connsiteX0" fmla="*/ 0 w 1015068"/>
                    <a:gd name="connsiteY0" fmla="*/ 0 h 1006679"/>
                    <a:gd name="connsiteX1" fmla="*/ 201336 w 1015068"/>
                    <a:gd name="connsiteY1" fmla="*/ 142613 h 1006679"/>
                    <a:gd name="connsiteX2" fmla="*/ 335560 w 1015068"/>
                    <a:gd name="connsiteY2" fmla="*/ 209725 h 1006679"/>
                    <a:gd name="connsiteX3" fmla="*/ 520118 w 1015068"/>
                    <a:gd name="connsiteY3" fmla="*/ 444616 h 1006679"/>
                    <a:gd name="connsiteX4" fmla="*/ 595619 w 1015068"/>
                    <a:gd name="connsiteY4" fmla="*/ 578840 h 1006679"/>
                    <a:gd name="connsiteX5" fmla="*/ 696287 w 1015068"/>
                    <a:gd name="connsiteY5" fmla="*/ 780176 h 1006679"/>
                    <a:gd name="connsiteX6" fmla="*/ 1015068 w 1015068"/>
                    <a:gd name="connsiteY6" fmla="*/ 1006679 h 10066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015068" h="1006679">
                      <a:moveTo>
                        <a:pt x="0" y="0"/>
                      </a:moveTo>
                      <a:lnTo>
                        <a:pt x="201336" y="142613"/>
                      </a:lnTo>
                      <a:cubicBezTo>
                        <a:pt x="300391" y="202046"/>
                        <a:pt x="254289" y="182635"/>
                        <a:pt x="335560" y="209725"/>
                      </a:cubicBezTo>
                      <a:lnTo>
                        <a:pt x="520118" y="444616"/>
                      </a:lnTo>
                      <a:cubicBezTo>
                        <a:pt x="575424" y="564445"/>
                        <a:pt x="542141" y="525362"/>
                        <a:pt x="595619" y="578840"/>
                      </a:cubicBezTo>
                      <a:lnTo>
                        <a:pt x="696287" y="780176"/>
                      </a:lnTo>
                      <a:lnTo>
                        <a:pt x="1015068" y="1006679"/>
                      </a:lnTo>
                    </a:path>
                  </a:pathLst>
                </a:custGeom>
                <a:noFill/>
                <a:ln>
                  <a:solidFill>
                    <a:srgbClr val="0000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</p:grpSp>
          <p:cxnSp>
            <p:nvCxnSpPr>
              <p:cNvPr id="52" name="Conector de Seta Reta 166">
                <a:extLst>
                  <a:ext uri="{FF2B5EF4-FFF2-40B4-BE49-F238E27FC236}">
                    <a16:creationId xmlns:a16="http://schemas.microsoft.com/office/drawing/2014/main" id="{0C057D96-9E23-4882-2785-9590EBDE2A2D}"/>
                  </a:ext>
                </a:extLst>
              </p:cNvPr>
              <p:cNvCxnSpPr/>
              <p:nvPr/>
            </p:nvCxnSpPr>
            <p:spPr>
              <a:xfrm flipV="1">
                <a:off x="6534544" y="3071658"/>
                <a:ext cx="378202" cy="48740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Conector de Seta Reta 167">
                <a:extLst>
                  <a:ext uri="{FF2B5EF4-FFF2-40B4-BE49-F238E27FC236}">
                    <a16:creationId xmlns:a16="http://schemas.microsoft.com/office/drawing/2014/main" id="{8076419C-BEA1-97EB-20A8-983DB0D3D417}"/>
                  </a:ext>
                </a:extLst>
              </p:cNvPr>
              <p:cNvCxnSpPr/>
              <p:nvPr/>
            </p:nvCxnSpPr>
            <p:spPr>
              <a:xfrm flipV="1">
                <a:off x="7315417" y="2821982"/>
                <a:ext cx="378202" cy="48740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Conector de Seta Reta 168">
                <a:extLst>
                  <a:ext uri="{FF2B5EF4-FFF2-40B4-BE49-F238E27FC236}">
                    <a16:creationId xmlns:a16="http://schemas.microsoft.com/office/drawing/2014/main" id="{6D79C43A-8243-27E3-A924-A83217AECF6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89162" y="1823007"/>
                <a:ext cx="503889" cy="9213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Conector de Seta Reta 170">
                <a:extLst>
                  <a:ext uri="{FF2B5EF4-FFF2-40B4-BE49-F238E27FC236}">
                    <a16:creationId xmlns:a16="http://schemas.microsoft.com/office/drawing/2014/main" id="{5E6113F4-CDB6-2AA2-E837-F6A25016BF0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87165" y="2544134"/>
                <a:ext cx="513322" cy="236916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2" name="TextBox 61">
            <a:extLst>
              <a:ext uri="{FF2B5EF4-FFF2-40B4-BE49-F238E27FC236}">
                <a16:creationId xmlns:a16="http://schemas.microsoft.com/office/drawing/2014/main" id="{CCBE5EB5-E547-C889-6B3E-F103E2E307AD}"/>
              </a:ext>
            </a:extLst>
          </p:cNvPr>
          <p:cNvSpPr txBox="1"/>
          <p:nvPr/>
        </p:nvSpPr>
        <p:spPr>
          <a:xfrm>
            <a:off x="740567" y="200466"/>
            <a:ext cx="404298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b="1" noProof="0" dirty="0">
                <a:solidFill>
                  <a:srgbClr val="0000FF"/>
                </a:solidFill>
                <a:latin typeface="Horley Old Style MT"/>
              </a:rPr>
              <a:t>Método de Diferenças finitas (FDM)</a:t>
            </a:r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341086DE-BCE1-F960-5A34-70C3A32FD987}"/>
              </a:ext>
            </a:extLst>
          </p:cNvPr>
          <p:cNvGrpSpPr/>
          <p:nvPr/>
        </p:nvGrpSpPr>
        <p:grpSpPr>
          <a:xfrm>
            <a:off x="6659681" y="2488157"/>
            <a:ext cx="5254261" cy="1024710"/>
            <a:chOff x="470263" y="210586"/>
            <a:chExt cx="5254261" cy="1024710"/>
          </a:xfrm>
          <a:noFill/>
        </p:grpSpPr>
        <p:pic>
          <p:nvPicPr>
            <p:cNvPr id="68" name="Picture 67">
              <a:extLst>
                <a:ext uri="{FF2B5EF4-FFF2-40B4-BE49-F238E27FC236}">
                  <a16:creationId xmlns:a16="http://schemas.microsoft.com/office/drawing/2014/main" id="{A7A76B2C-0A87-4CEA-B425-4C5239D88F1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2193"/>
            <a:stretch>
              <a:fillRect/>
            </a:stretch>
          </p:blipFill>
          <p:spPr>
            <a:xfrm>
              <a:off x="470263" y="210586"/>
              <a:ext cx="5254261" cy="981075"/>
            </a:xfrm>
            <a:prstGeom prst="rect">
              <a:avLst/>
            </a:prstGeom>
            <a:grpFill/>
          </p:spPr>
        </p:pic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AD1B1C90-9B7C-6BB2-9F6D-13164E769A51}"/>
                </a:ext>
              </a:extLst>
            </p:cNvPr>
            <p:cNvSpPr txBox="1"/>
            <p:nvPr/>
          </p:nvSpPr>
          <p:spPr>
            <a:xfrm>
              <a:off x="5240693" y="927519"/>
              <a:ext cx="450053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pPr algn="ctr"/>
              <a:r>
                <a:rPr lang="en-GB" sz="1400" noProof="0" dirty="0">
                  <a:solidFill>
                    <a:schemeClr val="tx1"/>
                  </a:solidFill>
                </a:rPr>
                <a:t>2.3</a:t>
              </a:r>
              <a:endParaRPr lang="en-GB" sz="2000" noProof="0" dirty="0">
                <a:solidFill>
                  <a:schemeClr val="tx1"/>
                </a:solidFill>
              </a:endParaRPr>
            </a:p>
          </p:txBody>
        </p: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D4950264-0E5E-E77B-3700-DBB028544F12}"/>
                </a:ext>
              </a:extLst>
            </p:cNvPr>
            <p:cNvCxnSpPr>
              <a:cxnSpLocks/>
            </p:cNvCxnSpPr>
            <p:nvPr/>
          </p:nvCxnSpPr>
          <p:spPr>
            <a:xfrm>
              <a:off x="1887085" y="1019532"/>
              <a:ext cx="1255638" cy="0"/>
            </a:xfrm>
            <a:prstGeom prst="line">
              <a:avLst/>
            </a:prstGeom>
            <a:grpFill/>
            <a:ln>
              <a:solidFill>
                <a:srgbClr val="0000FF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5AF6530-3361-DC33-2F11-129BC5E81E78}"/>
                </a:ext>
              </a:extLst>
            </p:cNvPr>
            <p:cNvCxnSpPr>
              <a:cxnSpLocks/>
            </p:cNvCxnSpPr>
            <p:nvPr/>
          </p:nvCxnSpPr>
          <p:spPr>
            <a:xfrm>
              <a:off x="3359925" y="1018884"/>
              <a:ext cx="1185440" cy="648"/>
            </a:xfrm>
            <a:prstGeom prst="line">
              <a:avLst/>
            </a:prstGeom>
            <a:grpFill/>
            <a:ln>
              <a:solidFill>
                <a:srgbClr val="FF0000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2" name="Rectangle 71">
            <a:extLst>
              <a:ext uri="{FF2B5EF4-FFF2-40B4-BE49-F238E27FC236}">
                <a16:creationId xmlns:a16="http://schemas.microsoft.com/office/drawing/2014/main" id="{A39ED101-9B75-90F6-5077-CA8FA336BF7C}"/>
              </a:ext>
            </a:extLst>
          </p:cNvPr>
          <p:cNvSpPr/>
          <p:nvPr/>
        </p:nvSpPr>
        <p:spPr>
          <a:xfrm>
            <a:off x="7913868" y="2473213"/>
            <a:ext cx="1418273" cy="996019"/>
          </a:xfrm>
          <a:prstGeom prst="rect">
            <a:avLst/>
          </a:prstGeom>
          <a:solidFill>
            <a:schemeClr val="accent2">
              <a:lumMod val="60000"/>
              <a:lumOff val="4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CA971F67-2402-6093-50A2-A11C721E0257}"/>
              </a:ext>
            </a:extLst>
          </p:cNvPr>
          <p:cNvSpPr/>
          <p:nvPr/>
        </p:nvSpPr>
        <p:spPr>
          <a:xfrm>
            <a:off x="9546728" y="2479575"/>
            <a:ext cx="1255639" cy="985303"/>
          </a:xfrm>
          <a:prstGeom prst="rect">
            <a:avLst/>
          </a:prstGeom>
          <a:solidFill>
            <a:schemeClr val="accent1">
              <a:lumMod val="60000"/>
              <a:lumOff val="4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52003DB-5F44-C79E-497C-23BEE609ABDE}"/>
              </a:ext>
            </a:extLst>
          </p:cNvPr>
          <p:cNvSpPr txBox="1"/>
          <p:nvPr/>
        </p:nvSpPr>
        <p:spPr>
          <a:xfrm>
            <a:off x="4839199" y="6528029"/>
            <a:ext cx="738309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1600" b="1" i="0" u="none" strike="noStrike" baseline="0">
                <a:solidFill>
                  <a:schemeClr val="accent2"/>
                </a:solidFill>
                <a:latin typeface="AdvOTa2fa4214.B"/>
              </a:defRPr>
            </a:lvl1pPr>
          </a:lstStyle>
          <a:p>
            <a:pPr algn="r"/>
            <a:r>
              <a:rPr lang="en-GB" dirty="0"/>
              <a:t>Notes on CFD: General Principles - 3.22 Bounded advection discretisation</a:t>
            </a:r>
            <a:endParaRPr lang="LID4096" dirty="0"/>
          </a:p>
        </p:txBody>
      </p:sp>
      <p:pic>
        <p:nvPicPr>
          <p:cNvPr id="81" name="Picture 80">
            <a:extLst>
              <a:ext uri="{FF2B5EF4-FFF2-40B4-BE49-F238E27FC236}">
                <a16:creationId xmlns:a16="http://schemas.microsoft.com/office/drawing/2014/main" id="{E8A8A50E-616D-0344-A761-40CC3271643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4288"/>
          <a:stretch>
            <a:fillRect/>
          </a:stretch>
        </p:blipFill>
        <p:spPr>
          <a:xfrm>
            <a:off x="3942205" y="3581525"/>
            <a:ext cx="3137848" cy="256290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83" name="Group 82">
            <a:extLst>
              <a:ext uri="{FF2B5EF4-FFF2-40B4-BE49-F238E27FC236}">
                <a16:creationId xmlns:a16="http://schemas.microsoft.com/office/drawing/2014/main" id="{72BF1B16-7E05-F956-D747-46B0C57F560F}"/>
              </a:ext>
            </a:extLst>
          </p:cNvPr>
          <p:cNvGrpSpPr/>
          <p:nvPr/>
        </p:nvGrpSpPr>
        <p:grpSpPr>
          <a:xfrm>
            <a:off x="7494135" y="3644803"/>
            <a:ext cx="4143285" cy="2418100"/>
            <a:chOff x="6995820" y="3729443"/>
            <a:chExt cx="4143285" cy="2418100"/>
          </a:xfrm>
        </p:grpSpPr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50F587A5-DBA8-5C67-E5DC-80FAC2A4E1C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3502" r="54516"/>
            <a:stretch>
              <a:fillRect/>
            </a:stretch>
          </p:blipFill>
          <p:spPr>
            <a:xfrm>
              <a:off x="6995820" y="3731937"/>
              <a:ext cx="3490970" cy="876300"/>
            </a:xfrm>
            <a:prstGeom prst="rect">
              <a:avLst/>
            </a:prstGeom>
          </p:spPr>
        </p:pic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0E9E7150-D64A-727C-E048-4CBCAF728FBF}"/>
                </a:ext>
              </a:extLst>
            </p:cNvPr>
            <p:cNvSpPr/>
            <p:nvPr/>
          </p:nvSpPr>
          <p:spPr>
            <a:xfrm>
              <a:off x="6995820" y="3729443"/>
              <a:ext cx="1835772" cy="8763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98B168AA-2F30-B2B2-A17C-DC33FFDF7CC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45152" r="27105"/>
            <a:stretch>
              <a:fillRect/>
            </a:stretch>
          </p:blipFill>
          <p:spPr>
            <a:xfrm>
              <a:off x="8832174" y="4482552"/>
              <a:ext cx="2306931" cy="876300"/>
            </a:xfrm>
            <a:prstGeom prst="rect">
              <a:avLst/>
            </a:prstGeom>
          </p:spPr>
        </p:pic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9BC8388D-4AAF-4E59-484A-56A5897D641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72298" r="9365"/>
            <a:stretch>
              <a:fillRect/>
            </a:stretch>
          </p:blipFill>
          <p:spPr>
            <a:xfrm>
              <a:off x="8831592" y="5271243"/>
              <a:ext cx="1524791" cy="876300"/>
            </a:xfrm>
            <a:prstGeom prst="rect">
              <a:avLst/>
            </a:prstGeom>
          </p:spPr>
        </p:pic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407971AD-A62D-28BF-C953-C86AA7D01D0B}"/>
                </a:ext>
              </a:extLst>
            </p:cNvPr>
            <p:cNvSpPr txBox="1"/>
            <p:nvPr/>
          </p:nvSpPr>
          <p:spPr>
            <a:xfrm>
              <a:off x="9686704" y="5731001"/>
              <a:ext cx="70719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pPr algn="ctr"/>
              <a:r>
                <a:rPr lang="en-GB" sz="1400" noProof="0" dirty="0">
                  <a:solidFill>
                    <a:schemeClr val="tx1"/>
                  </a:solidFill>
                </a:rPr>
                <a:t>2.12</a:t>
              </a:r>
              <a:endParaRPr lang="en-GB" sz="2000" noProof="0" dirty="0">
                <a:solidFill>
                  <a:schemeClr val="tx1"/>
                </a:solidFill>
              </a:endParaRPr>
            </a:p>
          </p:txBody>
        </p:sp>
      </p:grpSp>
      <p:sp>
        <p:nvSpPr>
          <p:cNvPr id="84" name="TextBox 83">
            <a:extLst>
              <a:ext uri="{FF2B5EF4-FFF2-40B4-BE49-F238E27FC236}">
                <a16:creationId xmlns:a16="http://schemas.microsoft.com/office/drawing/2014/main" id="{C560536F-0B6F-FFA2-8A75-BDCCA5CFD960}"/>
              </a:ext>
            </a:extLst>
          </p:cNvPr>
          <p:cNvSpPr txBox="1"/>
          <p:nvPr/>
        </p:nvSpPr>
        <p:spPr>
          <a:xfrm>
            <a:off x="6659681" y="205704"/>
            <a:ext cx="446329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BR" sz="2000" b="1" dirty="0">
                <a:latin typeface="Horley Old Style MT"/>
              </a:rPr>
              <a:t>Método de Volumes </a:t>
            </a:r>
            <a:r>
              <a:rPr lang="pt-BR" sz="2000" b="1" noProof="0" dirty="0">
                <a:latin typeface="Horley Old Style MT"/>
              </a:rPr>
              <a:t>finitos    (FVM)</a:t>
            </a:r>
          </a:p>
        </p:txBody>
      </p:sp>
      <p:grpSp>
        <p:nvGrpSpPr>
          <p:cNvPr id="87" name="Grupo 10">
            <a:extLst>
              <a:ext uri="{FF2B5EF4-FFF2-40B4-BE49-F238E27FC236}">
                <a16:creationId xmlns:a16="http://schemas.microsoft.com/office/drawing/2014/main" id="{DD8656C2-6880-892C-A528-D8D9D47095CF}"/>
              </a:ext>
            </a:extLst>
          </p:cNvPr>
          <p:cNvGrpSpPr>
            <a:grpSpLocks noChangeAspect="1"/>
          </p:cNvGrpSpPr>
          <p:nvPr/>
        </p:nvGrpSpPr>
        <p:grpSpPr>
          <a:xfrm>
            <a:off x="415562" y="691496"/>
            <a:ext cx="1697791" cy="1037706"/>
            <a:chOff x="7551799" y="3880749"/>
            <a:chExt cx="1792685" cy="1055366"/>
          </a:xfrm>
        </p:grpSpPr>
        <p:sp>
          <p:nvSpPr>
            <p:cNvPr id="88" name="Seta para a direita 12">
              <a:extLst>
                <a:ext uri="{FF2B5EF4-FFF2-40B4-BE49-F238E27FC236}">
                  <a16:creationId xmlns:a16="http://schemas.microsoft.com/office/drawing/2014/main" id="{2AC3DF96-BC3C-12EA-1765-A2BF3B5DAEEB}"/>
                </a:ext>
              </a:extLst>
            </p:cNvPr>
            <p:cNvSpPr/>
            <p:nvPr/>
          </p:nvSpPr>
          <p:spPr>
            <a:xfrm rot="2573740">
              <a:off x="7603764" y="4134921"/>
              <a:ext cx="288000" cy="108000"/>
            </a:xfrm>
            <a:prstGeom prst="rightArrow">
              <a:avLst/>
            </a:prstGeom>
            <a:solidFill>
              <a:schemeClr val="accent2"/>
            </a:solidFill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89" name="Grupo 13">
              <a:extLst>
                <a:ext uri="{FF2B5EF4-FFF2-40B4-BE49-F238E27FC236}">
                  <a16:creationId xmlns:a16="http://schemas.microsoft.com/office/drawing/2014/main" id="{D81DEE47-165C-1447-D2B0-B69647B68093}"/>
                </a:ext>
              </a:extLst>
            </p:cNvPr>
            <p:cNvGrpSpPr/>
            <p:nvPr/>
          </p:nvGrpSpPr>
          <p:grpSpPr>
            <a:xfrm>
              <a:off x="7551799" y="3880749"/>
              <a:ext cx="1792685" cy="1055366"/>
              <a:chOff x="6308874" y="4003609"/>
              <a:chExt cx="1792685" cy="1055366"/>
            </a:xfrm>
          </p:grpSpPr>
          <p:sp>
            <p:nvSpPr>
              <p:cNvPr id="91" name="Seta para a direita 15">
                <a:extLst>
                  <a:ext uri="{FF2B5EF4-FFF2-40B4-BE49-F238E27FC236}">
                    <a16:creationId xmlns:a16="http://schemas.microsoft.com/office/drawing/2014/main" id="{74EA86B1-EB11-D28D-1DEA-95E4B4107271}"/>
                  </a:ext>
                </a:extLst>
              </p:cNvPr>
              <p:cNvSpPr/>
              <p:nvPr/>
            </p:nvSpPr>
            <p:spPr>
              <a:xfrm rot="16166615">
                <a:off x="6618727" y="4743355"/>
                <a:ext cx="288000" cy="108000"/>
              </a:xfrm>
              <a:prstGeom prst="rightArrow">
                <a:avLst/>
              </a:prstGeom>
              <a:solidFill>
                <a:schemeClr val="accent2"/>
              </a:solidFill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grpSp>
            <p:nvGrpSpPr>
              <p:cNvPr id="92" name="Grupo 16">
                <a:extLst>
                  <a:ext uri="{FF2B5EF4-FFF2-40B4-BE49-F238E27FC236}">
                    <a16:creationId xmlns:a16="http://schemas.microsoft.com/office/drawing/2014/main" id="{7EE65652-AD52-203C-6F3A-9CDF93D15E1A}"/>
                  </a:ext>
                </a:extLst>
              </p:cNvPr>
              <p:cNvGrpSpPr/>
              <p:nvPr/>
            </p:nvGrpSpPr>
            <p:grpSpPr>
              <a:xfrm>
                <a:off x="6308874" y="4003609"/>
                <a:ext cx="1792685" cy="1055366"/>
                <a:chOff x="5618130" y="5251772"/>
                <a:chExt cx="1792685" cy="1055366"/>
              </a:xfrm>
            </p:grpSpPr>
            <p:grpSp>
              <p:nvGrpSpPr>
                <p:cNvPr id="94" name="Grupo 18">
                  <a:extLst>
                    <a:ext uri="{FF2B5EF4-FFF2-40B4-BE49-F238E27FC236}">
                      <a16:creationId xmlns:a16="http://schemas.microsoft.com/office/drawing/2014/main" id="{2AD9506D-BBA2-EA11-EB21-E4BC4F2B0937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6416287" y="5251772"/>
                  <a:ext cx="994528" cy="1055366"/>
                  <a:chOff x="7015665" y="3769107"/>
                  <a:chExt cx="2095099" cy="2554882"/>
                </a:xfrm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</p:grpSpPr>
              <p:sp>
                <p:nvSpPr>
                  <p:cNvPr id="98" name="Cubo 854">
                    <a:extLst>
                      <a:ext uri="{FF2B5EF4-FFF2-40B4-BE49-F238E27FC236}">
                        <a16:creationId xmlns:a16="http://schemas.microsoft.com/office/drawing/2014/main" id="{89EAC39C-A3DE-0D30-358A-B93722B53D6E}"/>
                      </a:ext>
                    </a:extLst>
                  </p:cNvPr>
                  <p:cNvSpPr/>
                  <p:nvPr/>
                </p:nvSpPr>
                <p:spPr>
                  <a:xfrm flipH="1">
                    <a:off x="7285076" y="5243990"/>
                    <a:ext cx="1079999" cy="1079999"/>
                  </a:xfrm>
                  <a:prstGeom prst="cube">
                    <a:avLst>
                      <a:gd name="adj" fmla="val 32078"/>
                    </a:avLst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99" name="Cubo 855">
                    <a:extLst>
                      <a:ext uri="{FF2B5EF4-FFF2-40B4-BE49-F238E27FC236}">
                        <a16:creationId xmlns:a16="http://schemas.microsoft.com/office/drawing/2014/main" id="{53E3672F-8B25-EEC5-6430-792FB42FE206}"/>
                      </a:ext>
                    </a:extLst>
                  </p:cNvPr>
                  <p:cNvSpPr/>
                  <p:nvPr/>
                </p:nvSpPr>
                <p:spPr>
                  <a:xfrm flipH="1">
                    <a:off x="7015665" y="4123701"/>
                    <a:ext cx="1080000" cy="1080000"/>
                  </a:xfrm>
                  <a:prstGeom prst="cube">
                    <a:avLst>
                      <a:gd name="adj" fmla="val 32078"/>
                    </a:avLst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100" name="Cubo 856">
                    <a:extLst>
                      <a:ext uri="{FF2B5EF4-FFF2-40B4-BE49-F238E27FC236}">
                        <a16:creationId xmlns:a16="http://schemas.microsoft.com/office/drawing/2014/main" id="{7C9C0A81-DE56-9610-B984-A0CC7A24F4D0}"/>
                      </a:ext>
                    </a:extLst>
                  </p:cNvPr>
                  <p:cNvSpPr/>
                  <p:nvPr/>
                </p:nvSpPr>
                <p:spPr>
                  <a:xfrm flipH="1">
                    <a:off x="8030765" y="4498395"/>
                    <a:ext cx="1079999" cy="1079999"/>
                  </a:xfrm>
                  <a:prstGeom prst="cube">
                    <a:avLst>
                      <a:gd name="adj" fmla="val 32078"/>
                    </a:avLst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101" name="Cubo 857">
                    <a:extLst>
                      <a:ext uri="{FF2B5EF4-FFF2-40B4-BE49-F238E27FC236}">
                        <a16:creationId xmlns:a16="http://schemas.microsoft.com/office/drawing/2014/main" id="{514671CE-AD65-1775-7EA8-5FB9026F22A1}"/>
                      </a:ext>
                    </a:extLst>
                  </p:cNvPr>
                  <p:cNvSpPr/>
                  <p:nvPr/>
                </p:nvSpPr>
                <p:spPr>
                  <a:xfrm flipH="1">
                    <a:off x="7285461" y="4504733"/>
                    <a:ext cx="1079999" cy="1079999"/>
                  </a:xfrm>
                  <a:prstGeom prst="cube">
                    <a:avLst>
                      <a:gd name="adj" fmla="val 32078"/>
                    </a:avLst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102" name="Cubo 858">
                    <a:extLst>
                      <a:ext uri="{FF2B5EF4-FFF2-40B4-BE49-F238E27FC236}">
                        <a16:creationId xmlns:a16="http://schemas.microsoft.com/office/drawing/2014/main" id="{F970F86F-188D-5111-5CD5-FAD7052B0075}"/>
                      </a:ext>
                    </a:extLst>
                  </p:cNvPr>
                  <p:cNvSpPr/>
                  <p:nvPr/>
                </p:nvSpPr>
                <p:spPr>
                  <a:xfrm flipH="1">
                    <a:off x="7288823" y="3769107"/>
                    <a:ext cx="1079999" cy="1079999"/>
                  </a:xfrm>
                  <a:prstGeom prst="cube">
                    <a:avLst>
                      <a:gd name="adj" fmla="val 32078"/>
                    </a:avLst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103" name="Cubo 859">
                    <a:extLst>
                      <a:ext uri="{FF2B5EF4-FFF2-40B4-BE49-F238E27FC236}">
                        <a16:creationId xmlns:a16="http://schemas.microsoft.com/office/drawing/2014/main" id="{363AF450-DE3F-7A87-4DFB-D6ECF9B068CF}"/>
                      </a:ext>
                    </a:extLst>
                  </p:cNvPr>
                  <p:cNvSpPr/>
                  <p:nvPr/>
                </p:nvSpPr>
                <p:spPr>
                  <a:xfrm flipH="1">
                    <a:off x="7609327" y="4854685"/>
                    <a:ext cx="1080000" cy="1080002"/>
                  </a:xfrm>
                  <a:prstGeom prst="cube">
                    <a:avLst>
                      <a:gd name="adj" fmla="val 32078"/>
                    </a:avLst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</p:grpSp>
            <p:sp>
              <p:nvSpPr>
                <p:cNvPr id="95" name="Seta para a direita 19">
                  <a:extLst>
                    <a:ext uri="{FF2B5EF4-FFF2-40B4-BE49-F238E27FC236}">
                      <a16:creationId xmlns:a16="http://schemas.microsoft.com/office/drawing/2014/main" id="{BF664AB9-3517-1DC3-BD28-435151DF1750}"/>
                    </a:ext>
                  </a:extLst>
                </p:cNvPr>
                <p:cNvSpPr/>
                <p:nvPr/>
              </p:nvSpPr>
              <p:spPr>
                <a:xfrm>
                  <a:off x="6062205" y="5705476"/>
                  <a:ext cx="576000" cy="180000"/>
                </a:xfrm>
                <a:prstGeom prst="rightArrow">
                  <a:avLst/>
                </a:prstGeom>
                <a:solidFill>
                  <a:schemeClr val="accent2"/>
                </a:solidFill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sp>
              <p:nvSpPr>
                <p:cNvPr id="96" name="Cubo 852">
                  <a:extLst>
                    <a:ext uri="{FF2B5EF4-FFF2-40B4-BE49-F238E27FC236}">
                      <a16:creationId xmlns:a16="http://schemas.microsoft.com/office/drawing/2014/main" id="{B0EC1108-ACB9-8F61-136C-A7DE5476D19E}"/>
                    </a:ext>
                  </a:extLst>
                </p:cNvPr>
                <p:cNvSpPr/>
                <p:nvPr/>
              </p:nvSpPr>
              <p:spPr>
                <a:xfrm flipH="1">
                  <a:off x="5811644" y="5563045"/>
                  <a:ext cx="512668" cy="446124"/>
                </a:xfrm>
                <a:prstGeom prst="cube">
                  <a:avLst>
                    <a:gd name="adj" fmla="val 32078"/>
                  </a:avLst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sp>
              <p:nvSpPr>
                <p:cNvPr id="97" name="Seta para a direita 24">
                  <a:extLst>
                    <a:ext uri="{FF2B5EF4-FFF2-40B4-BE49-F238E27FC236}">
                      <a16:creationId xmlns:a16="http://schemas.microsoft.com/office/drawing/2014/main" id="{D8D5BD3D-FF4C-3A2C-DC06-DE0889BC19F8}"/>
                    </a:ext>
                  </a:extLst>
                </p:cNvPr>
                <p:cNvSpPr/>
                <p:nvPr/>
              </p:nvSpPr>
              <p:spPr>
                <a:xfrm>
                  <a:off x="5618130" y="5734051"/>
                  <a:ext cx="288000" cy="108000"/>
                </a:xfrm>
                <a:prstGeom prst="rightArrow">
                  <a:avLst/>
                </a:prstGeom>
                <a:solidFill>
                  <a:schemeClr val="accent2"/>
                </a:solidFill>
                <a:effectLst>
                  <a:outerShdw blurRad="50800" dist="139700" dir="8100000" algn="tr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</p:grpSp>
          <p:sp>
            <p:nvSpPr>
              <p:cNvPr id="93" name="Seta para a direita 17">
                <a:extLst>
                  <a:ext uri="{FF2B5EF4-FFF2-40B4-BE49-F238E27FC236}">
                    <a16:creationId xmlns:a16="http://schemas.microsoft.com/office/drawing/2014/main" id="{3032DEA9-CE8B-3E44-5429-1362E103FDAE}"/>
                  </a:ext>
                </a:extLst>
              </p:cNvPr>
              <p:cNvSpPr/>
              <p:nvPr/>
            </p:nvSpPr>
            <p:spPr>
              <a:xfrm rot="5400000">
                <a:off x="6612548" y="4194806"/>
                <a:ext cx="288000" cy="108000"/>
              </a:xfrm>
              <a:prstGeom prst="rightArrow">
                <a:avLst/>
              </a:prstGeom>
              <a:solidFill>
                <a:schemeClr val="accent2"/>
              </a:solidFill>
              <a:effectLst>
                <a:outerShdw blurRad="50800" dist="139700" dir="8100000" algn="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90" name="Seta para a direita 14">
              <a:extLst>
                <a:ext uri="{FF2B5EF4-FFF2-40B4-BE49-F238E27FC236}">
                  <a16:creationId xmlns:a16="http://schemas.microsoft.com/office/drawing/2014/main" id="{A5C3EAE3-D921-94BA-4776-F89BA46136C6}"/>
                </a:ext>
              </a:extLst>
            </p:cNvPr>
            <p:cNvSpPr/>
            <p:nvPr/>
          </p:nvSpPr>
          <p:spPr>
            <a:xfrm rot="13276495">
              <a:off x="8046776" y="4538294"/>
              <a:ext cx="288000" cy="108000"/>
            </a:xfrm>
            <a:prstGeom prst="rightArrow">
              <a:avLst/>
            </a:prstGeom>
            <a:solidFill>
              <a:schemeClr val="accent2"/>
            </a:solidFill>
            <a:effectLst>
              <a:outerShdw blurRad="50800" dist="1397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</p:grpSp>
      <p:grpSp>
        <p:nvGrpSpPr>
          <p:cNvPr id="104" name="Agrupar 221">
            <a:extLst>
              <a:ext uri="{FF2B5EF4-FFF2-40B4-BE49-F238E27FC236}">
                <a16:creationId xmlns:a16="http://schemas.microsoft.com/office/drawing/2014/main" id="{49736AF9-AA57-707A-CFE0-EAA387B7FD66}"/>
              </a:ext>
            </a:extLst>
          </p:cNvPr>
          <p:cNvGrpSpPr/>
          <p:nvPr/>
        </p:nvGrpSpPr>
        <p:grpSpPr>
          <a:xfrm>
            <a:off x="381470" y="2229319"/>
            <a:ext cx="3120386" cy="1197745"/>
            <a:chOff x="8805611" y="2854336"/>
            <a:chExt cx="2942277" cy="1017208"/>
          </a:xfrm>
        </p:grpSpPr>
        <p:cxnSp>
          <p:nvCxnSpPr>
            <p:cNvPr id="105" name="Conector de Seta Reta 98">
              <a:extLst>
                <a:ext uri="{FF2B5EF4-FFF2-40B4-BE49-F238E27FC236}">
                  <a16:creationId xmlns:a16="http://schemas.microsoft.com/office/drawing/2014/main" id="{A27248B7-E47E-F2D7-CAD3-5503B36925C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912400" y="3533610"/>
              <a:ext cx="4759" cy="275267"/>
            </a:xfrm>
            <a:prstGeom prst="straightConnector1">
              <a:avLst/>
            </a:prstGeom>
            <a:ln w="28575">
              <a:solidFill>
                <a:srgbClr val="0000FF"/>
              </a:solidFill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6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B3F48217-F1AF-EF0E-3987-AE36DF527AC2}"/>
                    </a:ext>
                  </a:extLst>
                </p:cNvPr>
                <p:cNvSpPr txBox="1"/>
                <p:nvPr/>
              </p:nvSpPr>
              <p:spPr>
                <a:xfrm>
                  <a:off x="11119645" y="3359970"/>
                  <a:ext cx="628243" cy="511574"/>
                </a:xfrm>
                <a:prstGeom prst="rect">
                  <a:avLst/>
                </a:prstGeom>
                <a:noFill/>
                <a:ln w="38100">
                  <a:noFill/>
                </a:ln>
              </p:spPr>
              <p:txBody>
                <a:bodyPr wrap="square" anchor="ctr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lvl="0" algn="ctr"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3200" b="1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𝑯</m:t>
                        </m:r>
                        <m:r>
                          <a:rPr lang="pt-BR" sz="3200" b="1" i="1" baseline="-2500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pt-BR" sz="3200" b="1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GB" sz="3200" b="1" dirty="0">
                    <a:solidFill>
                      <a:srgbClr val="0000FF"/>
                    </a:solidFill>
                  </a:endParaRPr>
                </a:p>
              </p:txBody>
            </p:sp>
          </mc:Choice>
          <mc:Fallback xmlns="">
            <p:sp>
              <p:nvSpPr>
                <p:cNvPr id="124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3F9C59A4-257B-D9F2-5DD4-058337E238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19645" y="3359970"/>
                  <a:ext cx="628243" cy="511574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  <a:ln w="38100">
                  <a:noFill/>
                </a:ln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7" name="Conector reto 191">
              <a:extLst>
                <a:ext uri="{FF2B5EF4-FFF2-40B4-BE49-F238E27FC236}">
                  <a16:creationId xmlns:a16="http://schemas.microsoft.com/office/drawing/2014/main" id="{0C45EA55-0990-720B-489C-D17D8D5DAB18}"/>
                </a:ext>
              </a:extLst>
            </p:cNvPr>
            <p:cNvCxnSpPr>
              <a:cxnSpLocks/>
            </p:cNvCxnSpPr>
            <p:nvPr/>
          </p:nvCxnSpPr>
          <p:spPr>
            <a:xfrm>
              <a:off x="8805611" y="3231347"/>
              <a:ext cx="229436" cy="227965"/>
            </a:xfrm>
            <a:prstGeom prst="line">
              <a:avLst/>
            </a:prstGeom>
            <a:noFill/>
            <a:ln w="28575"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8" name="Conector reto 196">
              <a:extLst>
                <a:ext uri="{FF2B5EF4-FFF2-40B4-BE49-F238E27FC236}">
                  <a16:creationId xmlns:a16="http://schemas.microsoft.com/office/drawing/2014/main" id="{1D0895A7-A6F1-3533-2016-B9497AEC656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51032" y="3391830"/>
              <a:ext cx="738000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09" name="Agrupar 207">
              <a:extLst>
                <a:ext uri="{FF2B5EF4-FFF2-40B4-BE49-F238E27FC236}">
                  <a16:creationId xmlns:a16="http://schemas.microsoft.com/office/drawing/2014/main" id="{10CB4660-507A-F205-6310-AA780FA7C8E4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8809159" y="2854336"/>
              <a:ext cx="1941029" cy="948588"/>
              <a:chOff x="8673239" y="3288564"/>
              <a:chExt cx="1261022" cy="616267"/>
            </a:xfrm>
          </p:grpSpPr>
          <p:grpSp>
            <p:nvGrpSpPr>
              <p:cNvPr id="119" name="Agrupar 87">
                <a:extLst>
                  <a:ext uri="{FF2B5EF4-FFF2-40B4-BE49-F238E27FC236}">
                    <a16:creationId xmlns:a16="http://schemas.microsoft.com/office/drawing/2014/main" id="{0D5D8ABA-1548-656B-D436-2BF9DA3FDED8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8673239" y="3288564"/>
                <a:ext cx="798508" cy="616267"/>
                <a:chOff x="8741399" y="2617366"/>
                <a:chExt cx="1364715" cy="1053253"/>
              </a:xfrm>
            </p:grpSpPr>
            <p:sp>
              <p:nvSpPr>
                <p:cNvPr id="123" name="Cubo 79">
                  <a:extLst>
                    <a:ext uri="{FF2B5EF4-FFF2-40B4-BE49-F238E27FC236}">
                      <a16:creationId xmlns:a16="http://schemas.microsoft.com/office/drawing/2014/main" id="{5A45638A-572E-FED8-062B-86E4B5522F84}"/>
                    </a:ext>
                  </a:extLst>
                </p:cNvPr>
                <p:cNvSpPr/>
                <p:nvPr/>
              </p:nvSpPr>
              <p:spPr>
                <a:xfrm flipH="1">
                  <a:off x="8741399" y="2617366"/>
                  <a:ext cx="1073719" cy="791634"/>
                </a:xfrm>
                <a:prstGeom prst="cube">
                  <a:avLst>
                    <a:gd name="adj" fmla="val 32078"/>
                  </a:avLst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sp>
              <p:nvSpPr>
                <p:cNvPr id="124" name="Cubo 85">
                  <a:extLst>
                    <a:ext uri="{FF2B5EF4-FFF2-40B4-BE49-F238E27FC236}">
                      <a16:creationId xmlns:a16="http://schemas.microsoft.com/office/drawing/2014/main" id="{052019AE-2DA9-5625-3FA0-161459021843}"/>
                    </a:ext>
                  </a:extLst>
                </p:cNvPr>
                <p:cNvSpPr/>
                <p:nvPr/>
              </p:nvSpPr>
              <p:spPr>
                <a:xfrm flipH="1">
                  <a:off x="9032395" y="2878985"/>
                  <a:ext cx="1073719" cy="791634"/>
                </a:xfrm>
                <a:prstGeom prst="cube">
                  <a:avLst>
                    <a:gd name="adj" fmla="val 32078"/>
                  </a:avLst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</p:grpSp>
          <p:grpSp>
            <p:nvGrpSpPr>
              <p:cNvPr id="120" name="Agrupar 204">
                <a:extLst>
                  <a:ext uri="{FF2B5EF4-FFF2-40B4-BE49-F238E27FC236}">
                    <a16:creationId xmlns:a16="http://schemas.microsoft.com/office/drawing/2014/main" id="{1A460D1A-D6A3-886F-1070-8423C6A27886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9135756" y="3290794"/>
                <a:ext cx="798505" cy="611266"/>
                <a:chOff x="8712967" y="2617366"/>
                <a:chExt cx="1364711" cy="1044702"/>
              </a:xfrm>
            </p:grpSpPr>
            <p:sp>
              <p:nvSpPr>
                <p:cNvPr id="121" name="Cubo 205">
                  <a:extLst>
                    <a:ext uri="{FF2B5EF4-FFF2-40B4-BE49-F238E27FC236}">
                      <a16:creationId xmlns:a16="http://schemas.microsoft.com/office/drawing/2014/main" id="{B5DE31E3-8820-8635-CE7C-BA0B8AF86219}"/>
                    </a:ext>
                  </a:extLst>
                </p:cNvPr>
                <p:cNvSpPr/>
                <p:nvPr/>
              </p:nvSpPr>
              <p:spPr>
                <a:xfrm flipH="1">
                  <a:off x="8712967" y="2617366"/>
                  <a:ext cx="1073719" cy="791634"/>
                </a:xfrm>
                <a:prstGeom prst="cube">
                  <a:avLst>
                    <a:gd name="adj" fmla="val 32078"/>
                  </a:avLst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sp>
              <p:nvSpPr>
                <p:cNvPr id="122" name="Cubo 206">
                  <a:extLst>
                    <a:ext uri="{FF2B5EF4-FFF2-40B4-BE49-F238E27FC236}">
                      <a16:creationId xmlns:a16="http://schemas.microsoft.com/office/drawing/2014/main" id="{C1ED98BB-D25F-7A2F-A039-8A4FD7112D03}"/>
                    </a:ext>
                  </a:extLst>
                </p:cNvPr>
                <p:cNvSpPr/>
                <p:nvPr/>
              </p:nvSpPr>
              <p:spPr>
                <a:xfrm flipH="1">
                  <a:off x="9003959" y="2870434"/>
                  <a:ext cx="1073719" cy="791634"/>
                </a:xfrm>
                <a:prstGeom prst="cube">
                  <a:avLst>
                    <a:gd name="adj" fmla="val 32078"/>
                  </a:avLst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</p:grpSp>
        </p:grpSp>
        <p:cxnSp>
          <p:nvCxnSpPr>
            <p:cNvPr id="110" name="Conector reto 210">
              <a:extLst>
                <a:ext uri="{FF2B5EF4-FFF2-40B4-BE49-F238E27FC236}">
                  <a16:creationId xmlns:a16="http://schemas.microsoft.com/office/drawing/2014/main" id="{AF9EA45E-6E95-B2D6-24CB-25D8339D15AA}"/>
                </a:ext>
              </a:extLst>
            </p:cNvPr>
            <p:cNvCxnSpPr>
              <a:cxnSpLocks/>
            </p:cNvCxnSpPr>
            <p:nvPr/>
          </p:nvCxnSpPr>
          <p:spPr>
            <a:xfrm>
              <a:off x="9033852" y="3172458"/>
              <a:ext cx="229436" cy="227965"/>
            </a:xfrm>
            <a:prstGeom prst="line">
              <a:avLst/>
            </a:prstGeom>
            <a:noFill/>
            <a:ln w="28575"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1" name="Conector reto 211">
              <a:extLst>
                <a:ext uri="{FF2B5EF4-FFF2-40B4-BE49-F238E27FC236}">
                  <a16:creationId xmlns:a16="http://schemas.microsoft.com/office/drawing/2014/main" id="{5897E07D-5AFF-AB4E-28DA-777DD1591F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004097" y="3691515"/>
              <a:ext cx="738000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2" name="Conector reto 212">
              <a:extLst>
                <a:ext uri="{FF2B5EF4-FFF2-40B4-BE49-F238E27FC236}">
                  <a16:creationId xmlns:a16="http://schemas.microsoft.com/office/drawing/2014/main" id="{6C6D3458-5DCC-5DAC-58D7-8474652C9C6F}"/>
                </a:ext>
              </a:extLst>
            </p:cNvPr>
            <p:cNvCxnSpPr>
              <a:cxnSpLocks/>
            </p:cNvCxnSpPr>
            <p:nvPr/>
          </p:nvCxnSpPr>
          <p:spPr>
            <a:xfrm>
              <a:off x="9777961" y="3466898"/>
              <a:ext cx="229436" cy="227965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3" name="Conector reto 213">
              <a:extLst>
                <a:ext uri="{FF2B5EF4-FFF2-40B4-BE49-F238E27FC236}">
                  <a16:creationId xmlns:a16="http://schemas.microsoft.com/office/drawing/2014/main" id="{9390849F-6DA7-D426-866F-2D202B0B98F8}"/>
                </a:ext>
              </a:extLst>
            </p:cNvPr>
            <p:cNvCxnSpPr>
              <a:cxnSpLocks/>
            </p:cNvCxnSpPr>
            <p:nvPr/>
          </p:nvCxnSpPr>
          <p:spPr>
            <a:xfrm>
              <a:off x="10505504" y="3466898"/>
              <a:ext cx="229436" cy="227965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4" name="Conector reto 214">
              <a:extLst>
                <a:ext uri="{FF2B5EF4-FFF2-40B4-BE49-F238E27FC236}">
                  <a16:creationId xmlns:a16="http://schemas.microsoft.com/office/drawing/2014/main" id="{1D5DCCA3-32BD-ED3A-452B-92CA2BD4E6B8}"/>
                </a:ext>
              </a:extLst>
            </p:cNvPr>
            <p:cNvCxnSpPr>
              <a:cxnSpLocks/>
            </p:cNvCxnSpPr>
            <p:nvPr/>
          </p:nvCxnSpPr>
          <p:spPr>
            <a:xfrm>
              <a:off x="10506614" y="3565845"/>
              <a:ext cx="236576" cy="2375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5" name="Conector reto 215">
              <a:extLst>
                <a:ext uri="{FF2B5EF4-FFF2-40B4-BE49-F238E27FC236}">
                  <a16:creationId xmlns:a16="http://schemas.microsoft.com/office/drawing/2014/main" id="{4FE25118-52BA-EFE3-B3B0-BFA6B4B933B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67504" y="3459538"/>
              <a:ext cx="738000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prstDash val="dash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6" name="Conector reto 216">
              <a:extLst>
                <a:ext uri="{FF2B5EF4-FFF2-40B4-BE49-F238E27FC236}">
                  <a16:creationId xmlns:a16="http://schemas.microsoft.com/office/drawing/2014/main" id="{E70EEEDF-605C-D726-342E-6AB72D3B235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46552" y="3171246"/>
              <a:ext cx="738000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prstDash val="dash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7" name="Conector reto 217">
              <a:extLst>
                <a:ext uri="{FF2B5EF4-FFF2-40B4-BE49-F238E27FC236}">
                  <a16:creationId xmlns:a16="http://schemas.microsoft.com/office/drawing/2014/main" id="{DBAD32B6-D372-0630-3EC0-80FEA8980245}"/>
                </a:ext>
              </a:extLst>
            </p:cNvPr>
            <p:cNvCxnSpPr>
              <a:cxnSpLocks/>
            </p:cNvCxnSpPr>
            <p:nvPr/>
          </p:nvCxnSpPr>
          <p:spPr>
            <a:xfrm>
              <a:off x="9774708" y="3165277"/>
              <a:ext cx="229436" cy="227965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8" name="Conector reto 219">
              <a:extLst>
                <a:ext uri="{FF2B5EF4-FFF2-40B4-BE49-F238E27FC236}">
                  <a16:creationId xmlns:a16="http://schemas.microsoft.com/office/drawing/2014/main" id="{6754E2D2-8678-373D-834D-E2A3B3E2F47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813267" y="3231347"/>
              <a:ext cx="216000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prstDash val="dash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25" name="TextBox 124">
            <a:extLst>
              <a:ext uri="{FF2B5EF4-FFF2-40B4-BE49-F238E27FC236}">
                <a16:creationId xmlns:a16="http://schemas.microsoft.com/office/drawing/2014/main" id="{A3F9722D-EC69-534C-AF62-6F9A547B9653}"/>
              </a:ext>
            </a:extLst>
          </p:cNvPr>
          <p:cNvSpPr txBox="1"/>
          <p:nvPr/>
        </p:nvSpPr>
        <p:spPr>
          <a:xfrm>
            <a:off x="2317811" y="1866370"/>
            <a:ext cx="194077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b="1" dirty="0">
                <a:solidFill>
                  <a:srgbClr val="0000FF"/>
                </a:solidFill>
                <a:latin typeface="Horley Old Style MT"/>
              </a:rPr>
              <a:t>Séries de Taylor</a:t>
            </a:r>
            <a:endParaRPr lang="pt-BR" sz="2000" b="1" noProof="0" dirty="0">
              <a:solidFill>
                <a:srgbClr val="0000FF"/>
              </a:solidFill>
              <a:latin typeface="Horley Old Style M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EAAAB91C-3ECC-11EB-A050-7CD436CDD34A}"/>
                  </a:ext>
                </a:extLst>
              </p:cNvPr>
              <p:cNvSpPr txBox="1"/>
              <p:nvPr/>
            </p:nvSpPr>
            <p:spPr>
              <a:xfrm>
                <a:off x="2302386" y="897636"/>
                <a:ext cx="1971630" cy="888914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 lIns="91440" tIns="0" rIns="91440" bIns="91440" rtlCol="0" anchor="ctr" anchorCtr="0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000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d>
                        <m:dPr>
                          <m:ctrlPr>
                            <a:rPr lang="pt-BR" sz="20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sz="2000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=                   </m:t>
                      </m:r>
                    </m:oMath>
                  </m:oMathPara>
                </a14:m>
                <a:endParaRPr lang="pt-BR" sz="2000" b="1" i="1" dirty="0">
                  <a:solidFill>
                    <a:srgbClr val="0000FF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limLoc m:val="subSup"/>
                          <m:ctrlPr>
                            <a:rPr lang="pt-BR" sz="20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5"/>
                            </m:rPr>
                            <a:rPr lang="pt-BR" sz="20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  <m:r>
                            <a:rPr lang="pt-BR" sz="20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sz="20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  <m:sup>
                          <m:r>
                            <a:rPr lang="pt-BR" sz="20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pt-BR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pt-BR" sz="2000" b="1" i="1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sz="2000" b="1" i="1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𝒇</m:t>
                                  </m:r>
                                </m:e>
                                <m:sup>
                                  <m:d>
                                    <m:dPr>
                                      <m:ctrlPr>
                                        <a:rPr lang="pt-BR" sz="2000" b="1" i="1">
                                          <a:solidFill>
                                            <a:srgbClr val="0000FF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000" b="1" i="1">
                                          <a:solidFill>
                                            <a:srgbClr val="0000FF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𝒏</m:t>
                                      </m:r>
                                    </m:e>
                                  </m:d>
                                </m:sup>
                              </m:sSup>
                              <m:r>
                                <a:rPr lang="pt-BR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a:rPr lang="pt-BR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pt-BR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  <m:r>
                                <a:rPr lang="pt-BR" sz="2000" b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!</m:t>
                              </m:r>
                            </m:den>
                          </m:f>
                          <m:r>
                            <m:rPr>
                              <m:nor/>
                            </m:rPr>
                            <a:rPr lang="pt-BR" sz="2000" b="1" dirty="0">
                              <a:solidFill>
                                <a:srgbClr val="0000FF"/>
                              </a:solidFill>
                              <a:ea typeface="Cambria Math" panose="020405030504060302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pt-BR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a:rPr lang="pt-BR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pt-BR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𝒏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LID4096" sz="2000" b="1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EAAAB91C-3ECC-11EB-A050-7CD436CDD3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2386" y="897636"/>
                <a:ext cx="1971630" cy="888914"/>
              </a:xfrm>
              <a:prstGeom prst="rect">
                <a:avLst/>
              </a:prstGeom>
              <a:blipFill>
                <a:blip r:embed="rId25"/>
                <a:stretch>
                  <a:fillRect l="-1548" t="-8219" r="-35294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390917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9400A28-C32A-D2D7-ACF9-31E3343BACE8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txBody>
          <a:bodyPr wrap="square" lIns="0" tIns="0" rIns="182880" bIns="0" anchor="ctr" anchorCtr="0">
            <a:noAutofit/>
          </a:bodyPr>
          <a:lstStyle/>
          <a:p>
            <a:pPr algn="r"/>
            <a:endParaRPr lang="LID4096" sz="1900" b="1">
              <a:solidFill>
                <a:srgbClr val="00B05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89B5CFE-A429-A8E9-E961-AA1723B8FA8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866" t="51938" r="20133" b="2447"/>
          <a:stretch>
            <a:fillRect/>
          </a:stretch>
        </p:blipFill>
        <p:spPr>
          <a:xfrm>
            <a:off x="235390" y="199176"/>
            <a:ext cx="6498785" cy="310587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CB06E78-E635-0AE0-00E0-BED4328EBC3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95" t="5552" r="1319" b="14870"/>
          <a:stretch>
            <a:fillRect/>
          </a:stretch>
        </p:blipFill>
        <p:spPr>
          <a:xfrm>
            <a:off x="5229225" y="3167451"/>
            <a:ext cx="6727386" cy="343026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F3CF2BD-C67F-5ACC-D491-17626E9EAB52}"/>
              </a:ext>
            </a:extLst>
          </p:cNvPr>
          <p:cNvSpPr txBox="1"/>
          <p:nvPr/>
        </p:nvSpPr>
        <p:spPr>
          <a:xfrm>
            <a:off x="6734175" y="199176"/>
            <a:ext cx="224245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sz="2000">
                <a:solidFill>
                  <a:srgbClr val="0000FF"/>
                </a:solidFill>
              </a:defRPr>
            </a:lvl1pPr>
          </a:lstStyle>
          <a:p>
            <a:r>
              <a:rPr lang="en-GB" sz="2800" b="1" noProof="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Meso-scale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30EE05-7867-89D0-799C-C63BC7F1966C}"/>
              </a:ext>
            </a:extLst>
          </p:cNvPr>
          <p:cNvSpPr txBox="1"/>
          <p:nvPr/>
        </p:nvSpPr>
        <p:spPr>
          <a:xfrm>
            <a:off x="7123362" y="1126485"/>
            <a:ext cx="388874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u="none" strike="noStrike" dirty="0">
                <a:latin typeface="Google Sans"/>
              </a:rPr>
              <a:t>Mult—physics </a:t>
            </a:r>
          </a:p>
          <a:p>
            <a:r>
              <a:rPr lang="en-GB" sz="2800" b="1" dirty="0">
                <a:latin typeface="Google Sans"/>
              </a:rPr>
              <a:t>Mult—dimensional</a:t>
            </a:r>
            <a:endParaRPr lang="LID4096" sz="2800" b="1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4417CE8-36E9-3720-C1B4-76DC5D032122}"/>
              </a:ext>
            </a:extLst>
          </p:cNvPr>
          <p:cNvGrpSpPr/>
          <p:nvPr/>
        </p:nvGrpSpPr>
        <p:grpSpPr>
          <a:xfrm>
            <a:off x="453787" y="5614812"/>
            <a:ext cx="4298491" cy="1003017"/>
            <a:chOff x="410242" y="5675772"/>
            <a:chExt cx="4298491" cy="100301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D10F4C06-3CA2-A363-7A2C-191C0AF7A05F}"/>
                    </a:ext>
                  </a:extLst>
                </p:cNvPr>
                <p:cNvSpPr txBox="1"/>
                <p:nvPr/>
              </p:nvSpPr>
              <p:spPr>
                <a:xfrm>
                  <a:off x="410242" y="5675772"/>
                  <a:ext cx="3351861" cy="81926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2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𝝆</m:t>
                        </m:r>
                        <m:sSub>
                          <m:sSubPr>
                            <m:ctrlPr>
                              <a:rPr lang="pt-BR" sz="28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𝐕</m:t>
                            </m:r>
                          </m:sub>
                        </m:sSub>
                        <m:f>
                          <m:fPr>
                            <m:ctrlPr>
                              <a:rPr lang="pt-BR" sz="28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sz="2800" b="1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𝛛</m:t>
                            </m:r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𝐓</m:t>
                            </m:r>
                          </m:num>
                          <m:den>
                            <m:r>
                              <a:rPr lang="pt-BR" sz="2800" b="1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𝛛</m:t>
                            </m:r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𝐭</m:t>
                            </m:r>
                          </m:den>
                        </m:f>
                        <m:r>
                          <a:rPr lang="pt-B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𝐊</m:t>
                        </m:r>
                        <m:sSup>
                          <m:sSupPr>
                            <m:ctrlPr>
                              <a:rPr lang="el-GR" sz="28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pt-BR" sz="2800" b="1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𝛁</m:t>
                            </m:r>
                          </m:e>
                          <m:sup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  <m:r>
                          <a:rPr lang="pt-B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𝐓</m:t>
                        </m:r>
                        <m:r>
                          <a:rPr lang="pt-B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l-G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𝚽</m:t>
                        </m:r>
                      </m:oMath>
                    </m:oMathPara>
                  </a14:m>
                  <a:endParaRPr lang="LID4096" sz="2800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D10F4C06-3CA2-A363-7A2C-191C0AF7A0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0242" y="5675772"/>
                  <a:ext cx="3351861" cy="819263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C9ACD7C-41F1-5A32-5126-DC3A746A5BE9}"/>
                </a:ext>
              </a:extLst>
            </p:cNvPr>
            <p:cNvSpPr txBox="1"/>
            <p:nvPr/>
          </p:nvSpPr>
          <p:spPr>
            <a:xfrm>
              <a:off x="2295902" y="6217124"/>
              <a:ext cx="24128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pPr algn="r"/>
              <a:r>
                <a:rPr lang="pt-BR" sz="2400" dirty="0"/>
                <a:t>Energia</a:t>
              </a:r>
              <a:endParaRPr lang="pt-BR" sz="3600" noProof="0" dirty="0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8E2FDB2-7415-BFF2-FC3B-3C654EC03C58}"/>
              </a:ext>
            </a:extLst>
          </p:cNvPr>
          <p:cNvGrpSpPr/>
          <p:nvPr/>
        </p:nvGrpSpPr>
        <p:grpSpPr>
          <a:xfrm>
            <a:off x="497166" y="3605573"/>
            <a:ext cx="4384226" cy="461665"/>
            <a:chOff x="497166" y="3936503"/>
            <a:chExt cx="4384226" cy="461665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1712775-DC6B-D77D-4604-068B196824F0}"/>
                </a:ext>
              </a:extLst>
            </p:cNvPr>
            <p:cNvSpPr txBox="1"/>
            <p:nvPr/>
          </p:nvSpPr>
          <p:spPr>
            <a:xfrm>
              <a:off x="2446624" y="3936503"/>
              <a:ext cx="243476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pPr algn="r"/>
              <a:r>
                <a:rPr lang="pt-BR" sz="2400" dirty="0"/>
                <a:t>Continuidade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071830DD-1380-76F1-6796-D0B84CB9A3F5}"/>
                    </a:ext>
                  </a:extLst>
                </p:cNvPr>
                <p:cNvSpPr txBox="1"/>
                <p:nvPr/>
              </p:nvSpPr>
              <p:spPr>
                <a:xfrm>
                  <a:off x="497166" y="3960801"/>
                  <a:ext cx="1362232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2800" b="1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𝛁</m:t>
                        </m:r>
                        <m:r>
                          <a:rPr lang="pt-BR" sz="2800" b="1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</m:t>
                        </m:r>
                        <m:r>
                          <a:rPr lang="pt-BR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𝐕</m:t>
                        </m:r>
                        <m:r>
                          <a:rPr lang="pt-BR" sz="2800" b="1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pt-BR" sz="2800" b="1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𝟎</m:t>
                        </m:r>
                      </m:oMath>
                    </m:oMathPara>
                  </a14:m>
                  <a:endParaRPr lang="LID4096" sz="2800" b="1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071830DD-1380-76F1-6796-D0B84CB9A3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7166" y="3960801"/>
                  <a:ext cx="1362232" cy="43088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D902CB6-7244-ED69-F7F8-385B19DBC413}"/>
              </a:ext>
            </a:extLst>
          </p:cNvPr>
          <p:cNvGrpSpPr/>
          <p:nvPr/>
        </p:nvGrpSpPr>
        <p:grpSpPr>
          <a:xfrm>
            <a:off x="453787" y="4363358"/>
            <a:ext cx="4420480" cy="995965"/>
            <a:chOff x="453787" y="4642037"/>
            <a:chExt cx="4420480" cy="995965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8EC9B11-0753-3A0B-C1F7-30438CA0A2D0}"/>
                </a:ext>
              </a:extLst>
            </p:cNvPr>
            <p:cNvSpPr txBox="1"/>
            <p:nvPr/>
          </p:nvSpPr>
          <p:spPr>
            <a:xfrm>
              <a:off x="453787" y="5176337"/>
              <a:ext cx="442048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pPr algn="r"/>
              <a:r>
                <a:rPr lang="pt-BR" sz="2400" noProof="0" dirty="0"/>
                <a:t>Qde de movimento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00310D1-2DFF-0C5E-A5EC-38D986885A99}"/>
                    </a:ext>
                  </a:extLst>
                </p:cNvPr>
                <p:cNvSpPr txBox="1"/>
                <p:nvPr/>
              </p:nvSpPr>
              <p:spPr>
                <a:xfrm>
                  <a:off x="497166" y="4642037"/>
                  <a:ext cx="3728585" cy="62946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pt-BR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𝝆</m:t>
                      </m:r>
                      <m:f>
                        <m:fPr>
                          <m:ctrlPr>
                            <a:rPr lang="pt-BR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b="1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𝛛</m:t>
                          </m:r>
                          <m:r>
                            <a:rPr lang="pt-BR" sz="2800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𝐕</m:t>
                          </m:r>
                        </m:num>
                        <m:den>
                          <m:r>
                            <a:rPr lang="pt-BR" sz="2800" b="1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𝛛</m:t>
                          </m:r>
                          <m:r>
                            <a:rPr lang="pt-BR" sz="2800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𝐭</m:t>
                          </m:r>
                        </m:den>
                      </m:f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pt-BR" sz="2800" b="1" dirty="0">
                      <a:solidFill>
                        <a:schemeClr val="tx1"/>
                      </a:solidFill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pt-BR" sz="28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𝝆</m:t>
                      </m:r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𝐠</m:t>
                      </m:r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pt-BR" sz="2800" b="1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𝛁</m:t>
                      </m:r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𝐩</m:t>
                      </m:r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l-GR" sz="2800" b="1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𝛍</m:t>
                      </m:r>
                      <m:sSup>
                        <m:sSupPr>
                          <m:ctrlPr>
                            <a:rPr lang="el-GR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800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pt-BR" sz="2800" b="1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𝛁</m:t>
                          </m:r>
                        </m:e>
                        <m:sup>
                          <m:r>
                            <a:rPr lang="pt-BR" sz="2800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𝐕</m:t>
                      </m:r>
                    </m:oMath>
                  </a14:m>
                  <a:endParaRPr lang="LID4096" sz="2800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00310D1-2DFF-0C5E-A5EC-38D986885A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7166" y="4642037"/>
                  <a:ext cx="3728585" cy="629468"/>
                </a:xfrm>
                <a:prstGeom prst="rect">
                  <a:avLst/>
                </a:prstGeom>
                <a:blipFill>
                  <a:blip r:embed="rId6"/>
                  <a:stretch>
                    <a:fillRect l="-164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2DAB984-B41E-FF65-877E-EA55802C5BE5}"/>
              </a:ext>
            </a:extLst>
          </p:cNvPr>
          <p:cNvCxnSpPr/>
          <p:nvPr/>
        </p:nvCxnSpPr>
        <p:spPr>
          <a:xfrm>
            <a:off x="757903" y="4310738"/>
            <a:ext cx="3657600" cy="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2B13FFA-E6BD-B252-137B-57D3CCF8BE54}"/>
              </a:ext>
            </a:extLst>
          </p:cNvPr>
          <p:cNvCxnSpPr/>
          <p:nvPr/>
        </p:nvCxnSpPr>
        <p:spPr>
          <a:xfrm>
            <a:off x="736131" y="5490752"/>
            <a:ext cx="3657600" cy="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51ED484-E472-3C15-2E9C-355E8F3372A4}"/>
              </a:ext>
            </a:extLst>
          </p:cNvPr>
          <p:cNvSpPr txBox="1"/>
          <p:nvPr/>
        </p:nvSpPr>
        <p:spPr>
          <a:xfrm>
            <a:off x="5371967" y="6617829"/>
            <a:ext cx="682003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1600" b="1" i="0" u="none" strike="noStrike" baseline="0">
                <a:solidFill>
                  <a:schemeClr val="accent2"/>
                </a:solidFill>
                <a:latin typeface="AdvOTa2fa4214.B"/>
              </a:defRPr>
            </a:lvl1pPr>
          </a:lstStyle>
          <a:p>
            <a:pPr algn="r"/>
            <a:r>
              <a:rPr lang="LID4096" sz="1050" dirty="0"/>
              <a:t>A review of multi-scale and multi-physics simulations of metal AM processes with focus on modeling strategies</a:t>
            </a:r>
          </a:p>
        </p:txBody>
      </p:sp>
    </p:spTree>
    <p:extLst>
      <p:ext uri="{BB962C8B-B14F-4D97-AF65-F5344CB8AC3E}">
        <p14:creationId xmlns:p14="http://schemas.microsoft.com/office/powerpoint/2010/main" val="17546871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BC748D-1483-DC28-F4CA-B168F1AE1E83}"/>
              </a:ext>
            </a:extLst>
          </p:cNvPr>
          <p:cNvSpPr txBox="1"/>
          <p:nvPr/>
        </p:nvSpPr>
        <p:spPr>
          <a:xfrm>
            <a:off x="0" y="0"/>
            <a:ext cx="12191999" cy="2635582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txBody>
          <a:bodyPr wrap="square" lIns="0" tIns="0" rIns="182880" bIns="0" anchor="ctr" anchorCtr="0">
            <a:noAutofit/>
          </a:bodyPr>
          <a:lstStyle/>
          <a:p>
            <a:pPr algn="r"/>
            <a:endParaRPr lang="LID4096" sz="1900" b="1" dirty="0">
              <a:solidFill>
                <a:srgbClr val="00B050"/>
              </a:solidFill>
            </a:endParaRPr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3875C080-361E-0623-F0F2-42B93ECE40B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9708" b="3135"/>
          <a:stretch>
            <a:fillRect/>
          </a:stretch>
        </p:blipFill>
        <p:spPr>
          <a:xfrm>
            <a:off x="296363" y="4923098"/>
            <a:ext cx="11616517" cy="976879"/>
          </a:xfrm>
          <a:prstGeom prst="rect">
            <a:avLst/>
          </a:prstGeom>
          <a:noFill/>
          <a:ln>
            <a:noFill/>
          </a:ln>
          <a:effectLst/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D5A4F41C-7B9C-8F0B-ED94-16CEA8C41DB9}"/>
              </a:ext>
            </a:extLst>
          </p:cNvPr>
          <p:cNvGrpSpPr/>
          <p:nvPr/>
        </p:nvGrpSpPr>
        <p:grpSpPr>
          <a:xfrm>
            <a:off x="465460" y="250003"/>
            <a:ext cx="11318793" cy="5331932"/>
            <a:chOff x="765017" y="565429"/>
            <a:chExt cx="10573543" cy="5053001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DC42CEF-AD24-C393-6ED0-35BE5728F938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65017" y="565429"/>
              <a:ext cx="10573543" cy="5053001"/>
              <a:chOff x="765017" y="565429"/>
              <a:chExt cx="10573543" cy="5053001"/>
            </a:xfrm>
          </p:grpSpPr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4601D0C4-AB71-192A-6BAE-2D32411C5691}"/>
                  </a:ext>
                </a:extLst>
              </p:cNvPr>
              <p:cNvCxnSpPr/>
              <p:nvPr/>
            </p:nvCxnSpPr>
            <p:spPr>
              <a:xfrm>
                <a:off x="878186" y="2598345"/>
                <a:ext cx="2770361" cy="0"/>
              </a:xfrm>
              <a:prstGeom prst="line">
                <a:avLst/>
              </a:prstGeom>
              <a:ln w="38100"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5EAF8CEC-4854-3856-02CD-A95D3AB85367}"/>
                  </a:ext>
                </a:extLst>
              </p:cNvPr>
              <p:cNvCxnSpPr/>
              <p:nvPr/>
            </p:nvCxnSpPr>
            <p:spPr>
              <a:xfrm>
                <a:off x="765017" y="5472065"/>
                <a:ext cx="2194560" cy="0"/>
              </a:xfrm>
              <a:prstGeom prst="line">
                <a:avLst/>
              </a:prstGeom>
              <a:ln w="38100"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1AA139EA-9305-9CAD-BBCE-A72932AD9499}"/>
                  </a:ext>
                </a:extLst>
              </p:cNvPr>
              <p:cNvCxnSpPr/>
              <p:nvPr/>
            </p:nvCxnSpPr>
            <p:spPr>
              <a:xfrm>
                <a:off x="3238122" y="5618430"/>
                <a:ext cx="2194560" cy="0"/>
              </a:xfrm>
              <a:prstGeom prst="line">
                <a:avLst/>
              </a:prstGeom>
              <a:ln w="38100"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2EAE0F0-62B5-17B4-5D8A-18633E1A3D31}"/>
                  </a:ext>
                </a:extLst>
              </p:cNvPr>
              <p:cNvSpPr txBox="1"/>
              <p:nvPr/>
            </p:nvSpPr>
            <p:spPr>
              <a:xfrm>
                <a:off x="10702141" y="565429"/>
                <a:ext cx="636419" cy="40011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2000" b="1" u="none" strike="noStrike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Google Sans"/>
                  </a:rPr>
                  <a:t>CFD</a:t>
                </a:r>
                <a:endParaRPr lang="LID4096" sz="20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</p:txBody>
          </p:sp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7AF0705-8CE9-94F0-E953-8CD5B4245D40}"/>
                </a:ext>
              </a:extLst>
            </p:cNvPr>
            <p:cNvSpPr txBox="1"/>
            <p:nvPr/>
          </p:nvSpPr>
          <p:spPr>
            <a:xfrm>
              <a:off x="7624961" y="582488"/>
              <a:ext cx="3072746" cy="40011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LID4096" sz="1200" dirty="0">
                  <a:hlinkClick r:id="rId3"/>
                </a:rPr>
                <a:t>https://github.com/DLR-RY/</a:t>
              </a:r>
              <a:r>
                <a:rPr lang="LID4096" sz="2000" b="1" dirty="0">
                  <a:hlinkClick r:id="rId3"/>
                </a:rPr>
                <a:t>VoFLibrary</a:t>
              </a:r>
              <a:endParaRPr lang="LID4096" sz="1600" b="1" dirty="0"/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0CEE5D95-2C59-C92D-77B7-C154AE597321}"/>
              </a:ext>
            </a:extLst>
          </p:cNvPr>
          <p:cNvSpPr txBox="1"/>
          <p:nvPr/>
        </p:nvSpPr>
        <p:spPr>
          <a:xfrm>
            <a:off x="410325" y="763996"/>
            <a:ext cx="1127766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600" b="1" u="sng" strike="noStrike" dirty="0">
                <a:latin typeface="Calibri (Body)"/>
              </a:rPr>
              <a:t>Incompressible</a:t>
            </a:r>
            <a:r>
              <a:rPr lang="en-GB" sz="2600" b="1" u="sng" dirty="0">
                <a:latin typeface="Calibri (Body)"/>
              </a:rPr>
              <a:t>, multiphase flow with surface tension and phase change</a:t>
            </a:r>
            <a:endParaRPr lang="LID4096" sz="2600" b="1" u="sng" dirty="0">
              <a:latin typeface="Calibri (Body)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CD14E93-E4BC-DA6E-3AE7-A2F89653A9C9}"/>
                  </a:ext>
                </a:extLst>
              </p:cNvPr>
              <p:cNvSpPr txBox="1"/>
              <p:nvPr/>
            </p:nvSpPr>
            <p:spPr>
              <a:xfrm>
                <a:off x="5068502" y="1667255"/>
                <a:ext cx="2471382" cy="6294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pt-BR" sz="2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800" b="1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𝛛</m:t>
                        </m:r>
                        <m:r>
                          <a:rPr lang="pt-BR" sz="2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𝛂</m:t>
                        </m:r>
                      </m:num>
                      <m:den>
                        <m:r>
                          <a:rPr lang="pt-BR" sz="2800" b="1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𝛛</m:t>
                        </m:r>
                        <m:r>
                          <a:rPr lang="pt-B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𝐭</m:t>
                        </m:r>
                      </m:den>
                    </m:f>
                  </m:oMath>
                </a14:m>
                <a:r>
                  <a:rPr lang="pt-BR" sz="2800" b="1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+ </a:t>
                </a:r>
                <a14:m>
                  <m:oMath xmlns:m="http://schemas.openxmlformats.org/officeDocument/2006/math">
                    <m:r>
                      <a:rPr lang="pt-BR" sz="2800" b="1" i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𝛁</m:t>
                    </m:r>
                    <m:r>
                      <a:rPr lang="pt-BR" sz="2800" b="1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pt-BR" sz="2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𝛂</m:t>
                        </m:r>
                        <m:r>
                          <a:rPr lang="pt-BR" sz="28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𝒖</m:t>
                        </m:r>
                      </m:e>
                    </m:d>
                    <m:r>
                      <a:rPr lang="pt-BR" sz="28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pt-BR" sz="28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</m:t>
                    </m:r>
                  </m:oMath>
                </a14:m>
                <a:endParaRPr lang="LID4096" sz="28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CD14E93-E4BC-DA6E-3AE7-A2F89653A9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68502" y="1667255"/>
                <a:ext cx="2471382" cy="629468"/>
              </a:xfrm>
              <a:prstGeom prst="rect">
                <a:avLst/>
              </a:prstGeom>
              <a:blipFill>
                <a:blip r:embed="rId4"/>
                <a:stretch>
                  <a:fillRect b="-20192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Box 30">
            <a:extLst>
              <a:ext uri="{FF2B5EF4-FFF2-40B4-BE49-F238E27FC236}">
                <a16:creationId xmlns:a16="http://schemas.microsoft.com/office/drawing/2014/main" id="{AC9FB577-F992-4E60-14EB-5332DB8C4422}"/>
              </a:ext>
            </a:extLst>
          </p:cNvPr>
          <p:cNvSpPr txBox="1"/>
          <p:nvPr/>
        </p:nvSpPr>
        <p:spPr>
          <a:xfrm>
            <a:off x="296363" y="1755019"/>
            <a:ext cx="4277654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500" b="1" u="none" strike="noStrike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ogle Sans"/>
              </a:rPr>
              <a:t>Volum</a:t>
            </a:r>
            <a:r>
              <a:rPr lang="en-GB" sz="25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ogle Sans"/>
              </a:rPr>
              <a:t>e of fluid method (VOF)</a:t>
            </a:r>
            <a:endParaRPr lang="LID4096" sz="25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02AB36E-013F-5602-1199-4DB686E5A4CE}"/>
                  </a:ext>
                </a:extLst>
              </p:cNvPr>
              <p:cNvSpPr txBox="1"/>
              <p:nvPr/>
            </p:nvSpPr>
            <p:spPr>
              <a:xfrm>
                <a:off x="7583384" y="1532237"/>
                <a:ext cx="1675243" cy="1077218"/>
              </a:xfrm>
              <a:prstGeom prst="rect">
                <a:avLst/>
              </a:prstGeom>
              <a:noFill/>
              <a:effectLst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2000" dirty="0">
                    <a:solidFill>
                      <a:srgbClr val="FF0000"/>
                    </a:solidFill>
                    <a:latin typeface="Google Sans"/>
                  </a:rPr>
                  <a:t>Volume of</a:t>
                </a:r>
              </a:p>
              <a:p>
                <a:pPr algn="ctr"/>
                <a:r>
                  <a:rPr lang="en-GB" sz="2000" dirty="0">
                    <a:solidFill>
                      <a:srgbClr val="FF0000"/>
                    </a:solidFill>
                    <a:latin typeface="Google Sans"/>
                  </a:rPr>
                  <a:t>fraction 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pt-BR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GB" sz="2400" b="1" dirty="0">
                    <a:solidFill>
                      <a:srgbClr val="FF0000"/>
                    </a:solidFill>
                    <a:latin typeface="Google Sans"/>
                  </a:rPr>
                  <a:t> = V</a:t>
                </a:r>
                <a:r>
                  <a:rPr lang="en-GB" sz="2400" b="1" baseline="-25000" dirty="0">
                    <a:solidFill>
                      <a:srgbClr val="FF0000"/>
                    </a:solidFill>
                    <a:latin typeface="Google Sans"/>
                  </a:rPr>
                  <a:t>i </a:t>
                </a:r>
                <a:r>
                  <a:rPr lang="en-GB" sz="2400" b="1" dirty="0">
                    <a:solidFill>
                      <a:srgbClr val="FF0000"/>
                    </a:solidFill>
                    <a:latin typeface="Google Sans"/>
                  </a:rPr>
                  <a:t>/ V</a:t>
                </a:r>
                <a:endParaRPr lang="LID4096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02AB36E-013F-5602-1199-4DB686E5A4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3384" y="1532237"/>
                <a:ext cx="1675243" cy="1077218"/>
              </a:xfrm>
              <a:prstGeom prst="rect">
                <a:avLst/>
              </a:prstGeom>
              <a:blipFill>
                <a:blip r:embed="rId5"/>
                <a:stretch>
                  <a:fillRect t="-2825" b="-11864"/>
                </a:stretch>
              </a:blipFill>
              <a:effectLst/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extBox 34">
            <a:extLst>
              <a:ext uri="{FF2B5EF4-FFF2-40B4-BE49-F238E27FC236}">
                <a16:creationId xmlns:a16="http://schemas.microsoft.com/office/drawing/2014/main" id="{E66D263D-FFFF-06AA-141B-E74D0F87AFD0}"/>
              </a:ext>
            </a:extLst>
          </p:cNvPr>
          <p:cNvSpPr txBox="1"/>
          <p:nvPr/>
        </p:nvSpPr>
        <p:spPr>
          <a:xfrm>
            <a:off x="270961" y="2854601"/>
            <a:ext cx="5800529" cy="4001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GB" sz="2000" b="1" u="none" strike="noStrike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ogle Sans"/>
              </a:rPr>
              <a:t>Continuity Equation (mass conservation)</a:t>
            </a:r>
            <a:endParaRPr lang="LID4096" sz="2000" b="1" dirty="0">
              <a:solidFill>
                <a:srgbClr val="0000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34DD6D9-35C5-F891-8CFE-3959BB5F9F6F}"/>
                  </a:ext>
                </a:extLst>
              </p:cNvPr>
              <p:cNvSpPr txBox="1"/>
              <p:nvPr/>
            </p:nvSpPr>
            <p:spPr>
              <a:xfrm>
                <a:off x="5864142" y="2855627"/>
                <a:ext cx="136223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pt-BR" sz="2800" b="1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pt-BR" sz="2800" b="1" i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𝛁</m:t>
                    </m:r>
                    <m:r>
                      <a:rPr lang="pt-BR" sz="2800" b="1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pt-BR" sz="28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𝒖</m:t>
                    </m:r>
                    <m:r>
                      <a:rPr lang="pt-BR" sz="28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pt-BR" sz="28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</m:t>
                    </m:r>
                  </m:oMath>
                </a14:m>
                <a:endParaRPr lang="LID4096" sz="28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34DD6D9-35C5-F891-8CFE-3959BB5F9F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4142" y="2855627"/>
                <a:ext cx="1362232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TextBox 38">
            <a:extLst>
              <a:ext uri="{FF2B5EF4-FFF2-40B4-BE49-F238E27FC236}">
                <a16:creationId xmlns:a16="http://schemas.microsoft.com/office/drawing/2014/main" id="{A5957222-A3DB-85F2-F22A-343ED12BEC06}"/>
              </a:ext>
            </a:extLst>
          </p:cNvPr>
          <p:cNvSpPr txBox="1"/>
          <p:nvPr/>
        </p:nvSpPr>
        <p:spPr>
          <a:xfrm>
            <a:off x="7895507" y="4521202"/>
            <a:ext cx="3888746" cy="40011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GB" sz="2000" b="1" u="none" strike="noStrike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ogle Sans"/>
              </a:rPr>
              <a:t>Laser heat input       latent input </a:t>
            </a:r>
            <a:endParaRPr lang="LID4096" sz="2000" b="1" dirty="0">
              <a:solidFill>
                <a:srgbClr val="0000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644A6B13-4CA8-CE52-D5EE-CC8C23BE7FDF}"/>
                  </a:ext>
                </a:extLst>
              </p:cNvPr>
              <p:cNvSpPr txBox="1"/>
              <p:nvPr/>
            </p:nvSpPr>
            <p:spPr>
              <a:xfrm>
                <a:off x="9410765" y="1588721"/>
                <a:ext cx="2265797" cy="923330"/>
              </a:xfrm>
              <a:prstGeom prst="rect">
                <a:avLst/>
              </a:prstGeom>
              <a:noFill/>
              <a:effectLst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GB" b="1" dirty="0">
                    <a:solidFill>
                      <a:srgbClr val="FF0000"/>
                    </a:solidFill>
                    <a:latin typeface="Google Sans"/>
                  </a:rPr>
                  <a:t> = 0 (solid)</a:t>
                </a:r>
              </a:p>
              <a:p>
                <a14:m>
                  <m:oMath xmlns:m="http://schemas.openxmlformats.org/officeDocument/2006/math">
                    <m:r>
                      <a:rPr lang="pt-BR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GB" b="1" dirty="0">
                    <a:solidFill>
                      <a:srgbClr val="FF0000"/>
                    </a:solidFill>
                    <a:latin typeface="Google Sans"/>
                  </a:rPr>
                  <a:t> = 1 (liquid)</a:t>
                </a:r>
                <a:endParaRPr lang="LID4096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</m:t>
                    </m:r>
                    <m:r>
                      <a:rPr lang="pt-BR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pt-BR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GB" b="1" dirty="0">
                    <a:solidFill>
                      <a:srgbClr val="FF0000"/>
                    </a:solidFill>
                    <a:latin typeface="Google Sans"/>
                  </a:rPr>
                  <a:t> &lt; 0 (interface)</a:t>
                </a:r>
                <a:endParaRPr lang="LID4096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644A6B13-4CA8-CE52-D5EE-CC8C23BE7F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10765" y="1588721"/>
                <a:ext cx="2265797" cy="923330"/>
              </a:xfrm>
              <a:prstGeom prst="rect">
                <a:avLst/>
              </a:prstGeom>
              <a:blipFill>
                <a:blip r:embed="rId7"/>
                <a:stretch>
                  <a:fillRect t="-3974" b="-9934"/>
                </a:stretch>
              </a:blipFill>
              <a:effectLst/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TextBox 43">
            <a:extLst>
              <a:ext uri="{FF2B5EF4-FFF2-40B4-BE49-F238E27FC236}">
                <a16:creationId xmlns:a16="http://schemas.microsoft.com/office/drawing/2014/main" id="{E46C37BF-E976-8AA5-2002-7B282F7CB412}"/>
              </a:ext>
            </a:extLst>
          </p:cNvPr>
          <p:cNvSpPr txBox="1"/>
          <p:nvPr/>
        </p:nvSpPr>
        <p:spPr>
          <a:xfrm>
            <a:off x="383670" y="226880"/>
            <a:ext cx="49312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b="1" u="sng" strike="noStrike" dirty="0">
                <a:latin typeface="Calibri (Body)"/>
              </a:rPr>
              <a:t>CFD Methodology</a:t>
            </a:r>
            <a:endParaRPr lang="LID4096" sz="3200" b="1" u="sng" dirty="0">
              <a:latin typeface="Calibri (Body)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D135F60-F138-044C-DEEB-BE10A10F14B1}"/>
              </a:ext>
            </a:extLst>
          </p:cNvPr>
          <p:cNvSpPr txBox="1"/>
          <p:nvPr/>
        </p:nvSpPr>
        <p:spPr>
          <a:xfrm>
            <a:off x="383670" y="5266443"/>
            <a:ext cx="2693595" cy="307777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anchor="ctr" anchorCtr="0">
            <a:noAutofit/>
          </a:bodyPr>
          <a:lstStyle/>
          <a:p>
            <a:r>
              <a:rPr lang="en-GB" sz="2000" b="1" u="none" strike="noStrike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ogle Sans"/>
              </a:rPr>
              <a:t>Energy conservation</a:t>
            </a:r>
            <a:endParaRPr lang="LID4096" sz="2000" b="1" dirty="0">
              <a:solidFill>
                <a:srgbClr val="0000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B07E8784-62C9-8E9E-031E-8672EBE9D17A}"/>
              </a:ext>
            </a:extLst>
          </p:cNvPr>
          <p:cNvGrpSpPr/>
          <p:nvPr/>
        </p:nvGrpSpPr>
        <p:grpSpPr>
          <a:xfrm>
            <a:off x="296363" y="2724299"/>
            <a:ext cx="11616517" cy="1707082"/>
            <a:chOff x="296363" y="2519645"/>
            <a:chExt cx="11616517" cy="1707082"/>
          </a:xfrm>
        </p:grpSpPr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82EBD62A-9AA4-2364-9DB5-A2E80B72F20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59089" b="22256"/>
            <a:stretch>
              <a:fillRect/>
            </a:stretch>
          </p:blipFill>
          <p:spPr>
            <a:xfrm>
              <a:off x="296363" y="3164572"/>
              <a:ext cx="11616517" cy="1062155"/>
            </a:xfrm>
            <a:prstGeom prst="rect">
              <a:avLst/>
            </a:prstGeom>
            <a:noFill/>
            <a:ln>
              <a:noFill/>
            </a:ln>
            <a:effectLst/>
          </p:spPr>
        </p:pic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23B91431-B75F-3489-710F-E4303CA16694}"/>
                </a:ext>
              </a:extLst>
            </p:cNvPr>
            <p:cNvSpPr txBox="1"/>
            <p:nvPr/>
          </p:nvSpPr>
          <p:spPr>
            <a:xfrm>
              <a:off x="314505" y="3400569"/>
              <a:ext cx="2807896" cy="453826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anchor="ctr" anchorCtr="0">
              <a:noAutofit/>
            </a:bodyPr>
            <a:lstStyle/>
            <a:p>
              <a:pPr algn="ctr"/>
              <a:r>
                <a:rPr lang="en-GB" sz="2000" b="1" u="none" strike="noStrike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Google Sans"/>
                </a:rPr>
                <a:t>Momentum conservation</a:t>
              </a:r>
              <a:endParaRPr lang="LID4096" sz="20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7F1E3B3D-BF74-FBBD-5231-49BE03323EE8}"/>
                </a:ext>
              </a:extLst>
            </p:cNvPr>
            <p:cNvSpPr txBox="1"/>
            <p:nvPr/>
          </p:nvSpPr>
          <p:spPr>
            <a:xfrm>
              <a:off x="9467850" y="2519645"/>
              <a:ext cx="2265796" cy="707886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>
              <a:spAutoFit/>
            </a:bodyPr>
            <a:lstStyle/>
            <a:p>
              <a:pPr algn="ctr"/>
              <a:r>
                <a:rPr lang="en-GB" sz="2000" b="1" u="none" strike="noStrike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Google Sans"/>
                </a:rPr>
                <a:t>Surface tension </a:t>
              </a:r>
            </a:p>
            <a:p>
              <a:pPr algn="ctr"/>
              <a:r>
                <a:rPr lang="en-GB" sz="2000" b="1" u="none" strike="noStrike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Google Sans"/>
                </a:rPr>
                <a:t>Marangoni force</a:t>
              </a:r>
              <a:endParaRPr lang="LID4096" sz="20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E1C57D7A-52BC-3883-3AB1-1894146B1700}"/>
              </a:ext>
            </a:extLst>
          </p:cNvPr>
          <p:cNvGrpSpPr/>
          <p:nvPr/>
        </p:nvGrpSpPr>
        <p:grpSpPr>
          <a:xfrm>
            <a:off x="9224223" y="4967978"/>
            <a:ext cx="2141838" cy="187824"/>
            <a:chOff x="9224223" y="4686319"/>
            <a:chExt cx="2141838" cy="286597"/>
          </a:xfrm>
        </p:grpSpPr>
        <p:sp>
          <p:nvSpPr>
            <p:cNvPr id="3" name="Arrow: Down 2">
              <a:extLst>
                <a:ext uri="{FF2B5EF4-FFF2-40B4-BE49-F238E27FC236}">
                  <a16:creationId xmlns:a16="http://schemas.microsoft.com/office/drawing/2014/main" id="{FA345EE5-1FBC-C64A-AA9E-36628533B164}"/>
                </a:ext>
              </a:extLst>
            </p:cNvPr>
            <p:cNvSpPr/>
            <p:nvPr/>
          </p:nvSpPr>
          <p:spPr>
            <a:xfrm>
              <a:off x="9224223" y="4686319"/>
              <a:ext cx="339205" cy="286597"/>
            </a:xfrm>
            <a:prstGeom prst="downArrow">
              <a:avLst/>
            </a:prstGeom>
            <a:solidFill>
              <a:srgbClr val="0033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  <p:sp>
          <p:nvSpPr>
            <p:cNvPr id="5" name="Arrow: Down 4">
              <a:extLst>
                <a:ext uri="{FF2B5EF4-FFF2-40B4-BE49-F238E27FC236}">
                  <a16:creationId xmlns:a16="http://schemas.microsoft.com/office/drawing/2014/main" id="{68520981-5B4A-BFEB-72E1-C0718E35858C}"/>
                </a:ext>
              </a:extLst>
            </p:cNvPr>
            <p:cNvSpPr/>
            <p:nvPr/>
          </p:nvSpPr>
          <p:spPr>
            <a:xfrm>
              <a:off x="11026856" y="4686319"/>
              <a:ext cx="339205" cy="286597"/>
            </a:xfrm>
            <a:prstGeom prst="downArrow">
              <a:avLst/>
            </a:prstGeom>
            <a:solidFill>
              <a:srgbClr val="0033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431F4CE9-F311-EE29-6519-1396E63DC8DB}"/>
              </a:ext>
            </a:extLst>
          </p:cNvPr>
          <p:cNvSpPr txBox="1"/>
          <p:nvPr/>
        </p:nvSpPr>
        <p:spPr>
          <a:xfrm>
            <a:off x="0" y="5872105"/>
            <a:ext cx="12202463" cy="976877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txBody>
          <a:bodyPr wrap="square" lIns="0" tIns="0" rIns="182880" bIns="0" anchor="ctr" anchorCtr="0">
            <a:noAutofit/>
          </a:bodyPr>
          <a:lstStyle/>
          <a:p>
            <a:pPr algn="r"/>
            <a:r>
              <a:rPr lang="en-GB" sz="1900" b="1" u="none" strike="noStrike" dirty="0">
                <a:solidFill>
                  <a:srgbClr val="0000FF"/>
                </a:solidFill>
                <a:effectLst/>
                <a:latin typeface="Google Sans"/>
              </a:rPr>
              <a:t>“… the basis of how the simulation solver is modelled and </a:t>
            </a:r>
          </a:p>
          <a:p>
            <a:pPr algn="r"/>
            <a:r>
              <a:rPr lang="en-GB" sz="1900" b="1" u="none" strike="noStrike" dirty="0">
                <a:solidFill>
                  <a:srgbClr val="FF0000"/>
                </a:solidFill>
                <a:effectLst/>
                <a:latin typeface="Google Sans"/>
              </a:rPr>
              <a:t>how we can rely on the data that has been predicted </a:t>
            </a:r>
            <a:r>
              <a:rPr lang="en-GB" sz="1900" b="1" u="none" strike="noStrike" dirty="0">
                <a:solidFill>
                  <a:srgbClr val="00B050"/>
                </a:solidFill>
                <a:effectLst/>
                <a:latin typeface="Google Sans"/>
              </a:rPr>
              <a:t>… based on this robust physic equations that are provided ” </a:t>
            </a:r>
          </a:p>
          <a:p>
            <a:pPr algn="r"/>
            <a:endParaRPr lang="LID4096" sz="1400" b="1" dirty="0">
              <a:solidFill>
                <a:srgbClr val="00B05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0E8FB94-86F6-2C05-AADA-342736A2CDC8}"/>
              </a:ext>
            </a:extLst>
          </p:cNvPr>
          <p:cNvSpPr txBox="1"/>
          <p:nvPr/>
        </p:nvSpPr>
        <p:spPr>
          <a:xfrm>
            <a:off x="9897626" y="6504376"/>
            <a:ext cx="23048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1400" b="1" i="0" u="none" strike="noStrike" baseline="0">
                <a:solidFill>
                  <a:schemeClr val="accent2"/>
                </a:solidFill>
                <a:latin typeface="AdvOTa2fa4214.B"/>
              </a:defRPr>
            </a:lvl1pPr>
          </a:lstStyle>
          <a:p>
            <a:pPr algn="r"/>
            <a:r>
              <a:rPr lang="LID4096" sz="1800" dirty="0"/>
              <a:t>AM PravaH®</a:t>
            </a:r>
          </a:p>
        </p:txBody>
      </p:sp>
    </p:spTree>
    <p:extLst>
      <p:ext uri="{BB962C8B-B14F-4D97-AF65-F5344CB8AC3E}">
        <p14:creationId xmlns:p14="http://schemas.microsoft.com/office/powerpoint/2010/main" val="11727442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F138DA-AD81-0282-9C11-F23B1B583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2171260-EB76-CA4B-243D-37924966B69A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351F313-CDCA-58BB-8BD2-FF282BB3FC95}"/>
              </a:ext>
            </a:extLst>
          </p:cNvPr>
          <p:cNvSpPr/>
          <p:nvPr/>
        </p:nvSpPr>
        <p:spPr>
          <a:xfrm>
            <a:off x="6421922" y="201481"/>
            <a:ext cx="5071603" cy="318411"/>
          </a:xfrm>
          <a:prstGeom prst="roundRect">
            <a:avLst/>
          </a:prstGeom>
          <a:solidFill>
            <a:schemeClr val="bg1"/>
          </a:solidFill>
        </p:spPr>
        <p:txBody>
          <a:bodyPr wrap="square" lIns="0" tIns="0" rIns="0" bIns="0" anchor="ctr" anchorCtr="0">
            <a:noAutofit/>
          </a:bodyPr>
          <a:lstStyle/>
          <a:p>
            <a:r>
              <a:rPr lang="en-US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Directed Energy Deposition (DED - </a:t>
            </a:r>
            <a:r>
              <a:rPr lang="en-US" sz="24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ARC</a:t>
            </a:r>
            <a:r>
              <a:rPr lang="en-US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)</a:t>
            </a:r>
            <a:endParaRPr lang="LID4096" sz="24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orley Old Style MT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8C70260-0027-6F19-2E23-7B17D61F949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587"/>
          <a:stretch>
            <a:fillRect/>
          </a:stretch>
        </p:blipFill>
        <p:spPr>
          <a:xfrm>
            <a:off x="6318648" y="697078"/>
            <a:ext cx="4707798" cy="353084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91E2041-643C-7461-CAB6-1FABB2F6DD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562" y="697078"/>
            <a:ext cx="5638392" cy="180022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A49131F-7BC5-1788-F128-F560ABDEEE8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277" r="53402" b="72066"/>
          <a:stretch>
            <a:fillRect/>
          </a:stretch>
        </p:blipFill>
        <p:spPr>
          <a:xfrm>
            <a:off x="4366517" y="3689352"/>
            <a:ext cx="1201540" cy="37782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34A704C-E8A1-A87D-AE5A-EAA60B8C5BF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122" t="11952" r="3891" b="9751"/>
          <a:stretch>
            <a:fillRect/>
          </a:stretch>
        </p:blipFill>
        <p:spPr>
          <a:xfrm>
            <a:off x="309562" y="4605168"/>
            <a:ext cx="5589918" cy="1209675"/>
          </a:xfrm>
          <a:prstGeom prst="rect">
            <a:avLst/>
          </a:prstGeom>
          <a:ln w="38100">
            <a:solidFill>
              <a:srgbClr val="FF000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17FA0806-70A3-4910-06CF-170AAEDF582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277" t="38368"/>
          <a:stretch>
            <a:fillRect/>
          </a:stretch>
        </p:blipFill>
        <p:spPr>
          <a:xfrm>
            <a:off x="1371736" y="3689352"/>
            <a:ext cx="2833384" cy="833604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B24E538B-A9C6-7696-6587-F44F87DA13D0}"/>
              </a:ext>
            </a:extLst>
          </p:cNvPr>
          <p:cNvSpPr txBox="1"/>
          <p:nvPr/>
        </p:nvSpPr>
        <p:spPr>
          <a:xfrm>
            <a:off x="4386095" y="2669752"/>
            <a:ext cx="181468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LID4096" dirty="0"/>
              <a:t>new </a:t>
            </a:r>
            <a:r>
              <a:rPr lang="pt-BR" dirty="0"/>
              <a:t>(</a:t>
            </a:r>
            <a:r>
              <a:rPr lang="LID4096" dirty="0"/>
              <a:t>x</a:t>
            </a:r>
            <a:r>
              <a:rPr lang="pt-BR" dirty="0"/>
              <a:t>) </a:t>
            </a:r>
            <a:r>
              <a:rPr lang="LID4096" dirty="0"/>
              <a:t>coordinate system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99061413-9D3E-67F9-AA5E-5FB998882026}"/>
              </a:ext>
            </a:extLst>
          </p:cNvPr>
          <p:cNvGrpSpPr/>
          <p:nvPr/>
        </p:nvGrpSpPr>
        <p:grpSpPr>
          <a:xfrm>
            <a:off x="309562" y="2586206"/>
            <a:ext cx="4272499" cy="1050542"/>
            <a:chOff x="309562" y="2586206"/>
            <a:chExt cx="4272499" cy="1050542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C70DCF73-A2E1-5797-7CD7-A93E4548113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09562" y="2586206"/>
              <a:ext cx="4272499" cy="1014243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9EF701A-C34B-76DB-2B0D-E041B1D4143D}"/>
                </a:ext>
              </a:extLst>
            </p:cNvPr>
            <p:cNvSpPr txBox="1"/>
            <p:nvPr/>
          </p:nvSpPr>
          <p:spPr>
            <a:xfrm>
              <a:off x="2792488" y="3288197"/>
              <a:ext cx="177191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600" noProof="0" dirty="0"/>
                <a:t>Diffusion</a:t>
              </a:r>
              <a:endParaRPr lang="en-GB" sz="2400" noProof="0" dirty="0">
                <a:solidFill>
                  <a:srgbClr val="FF0000"/>
                </a:solidFill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5EFEEA19-3E4A-5432-85F1-84C82AC62A8B}"/>
                </a:ext>
              </a:extLst>
            </p:cNvPr>
            <p:cNvSpPr txBox="1"/>
            <p:nvPr/>
          </p:nvSpPr>
          <p:spPr>
            <a:xfrm>
              <a:off x="1352933" y="3298194"/>
              <a:ext cx="177191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600" noProof="0" dirty="0"/>
                <a:t>Convection</a:t>
              </a:r>
              <a:endParaRPr lang="en-GB" sz="2400" noProof="0" dirty="0">
                <a:solidFill>
                  <a:srgbClr val="FF0000"/>
                </a:solidFill>
              </a:endParaRPr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410A54E0-5241-8461-3BAE-45E25250626C}"/>
              </a:ext>
            </a:extLst>
          </p:cNvPr>
          <p:cNvSpPr txBox="1"/>
          <p:nvPr/>
        </p:nvSpPr>
        <p:spPr>
          <a:xfrm>
            <a:off x="6292521" y="4418449"/>
            <a:ext cx="5482503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/>
              <a:t>k    Heat conductivity</a:t>
            </a:r>
          </a:p>
          <a:p>
            <a:r>
              <a:rPr lang="en-GB" sz="20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    Distance - moving heat source and pt </a:t>
            </a:r>
            <a:r>
              <a:rPr lang="en-US" sz="20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interest</a:t>
            </a:r>
          </a:p>
          <a:p>
            <a:r>
              <a:rPr lang="en-US" sz="2000" b="1" dirty="0"/>
              <a:t>c    Specific heat</a:t>
            </a:r>
            <a:endParaRPr lang="en-US" sz="2000" b="1" i="0" u="none" strike="noStrike" baseline="0" dirty="0">
              <a:solidFill>
                <a:srgbClr val="131413"/>
              </a:solidFill>
              <a:latin typeface="NywgqrAdvTT3713a231"/>
            </a:endParaRPr>
          </a:p>
          <a:p>
            <a:r>
              <a:rPr lang="en-US" sz="2000" b="1" i="0" u="none" strike="noStrike" baseline="0" dirty="0">
                <a:solidFill>
                  <a:srgbClr val="0000FF"/>
                </a:solidFill>
                <a:latin typeface="NywgqrAdvTT3713a231"/>
              </a:rPr>
              <a:t>v    Welding speed</a:t>
            </a:r>
          </a:p>
          <a:p>
            <a:r>
              <a:rPr lang="en-GB" sz="2000" b="1" dirty="0"/>
              <a:t>ξ    Moving coordinate parallel to the welding</a:t>
            </a:r>
            <a:endParaRPr lang="LID4096" sz="2000" b="1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327AA450-EBB1-0E43-D94C-41FBC8B539E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9562" y="5967073"/>
            <a:ext cx="2400300" cy="77152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C8D96BD0-77D9-B321-9870-DD6DB5FD7C00}"/>
              </a:ext>
            </a:extLst>
          </p:cNvPr>
          <p:cNvSpPr/>
          <p:nvPr/>
        </p:nvSpPr>
        <p:spPr>
          <a:xfrm>
            <a:off x="784339" y="201481"/>
            <a:ext cx="5508182" cy="318411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r>
              <a:rPr lang="en-GB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arc welding –  </a:t>
            </a:r>
            <a:r>
              <a:rPr lang="en-GB" sz="3200" b="1" u="sng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0000"/>
                </a:highlight>
                <a:latin typeface="Horley Old Style MT"/>
              </a:rPr>
              <a:t> analytical solution</a:t>
            </a:r>
            <a:r>
              <a:rPr lang="en-GB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0000"/>
                </a:highlight>
                <a:latin typeface="Horley Old Style MT"/>
              </a:rPr>
              <a:t>.</a:t>
            </a:r>
            <a:r>
              <a:rPr lang="en-GB" sz="3200" b="1" u="sng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0000"/>
                </a:highlight>
                <a:latin typeface="Horley Old Style MT"/>
              </a:rPr>
              <a:t>  </a:t>
            </a:r>
            <a:endParaRPr lang="LID4096" sz="2400" b="1" u="sng" dirty="0">
              <a:solidFill>
                <a:srgbClr val="FFFF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ighlight>
                <a:srgbClr val="000000"/>
              </a:highlight>
              <a:latin typeface="Horley Old Style MT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3D436DD5-2366-DE73-7DE7-B4FDAECD5428}"/>
              </a:ext>
            </a:extLst>
          </p:cNvPr>
          <p:cNvSpPr/>
          <p:nvPr/>
        </p:nvSpPr>
        <p:spPr>
          <a:xfrm rot="18866954" flipV="1">
            <a:off x="3661686" y="5601391"/>
            <a:ext cx="312186" cy="426906"/>
          </a:xfrm>
          <a:prstGeom prst="downArrow">
            <a:avLst/>
          </a:prstGeom>
          <a:solidFill>
            <a:srgbClr val="0000FF"/>
          </a:solidFill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4362881-7FEA-40EF-4D68-6B7D66F95C04}"/>
              </a:ext>
            </a:extLst>
          </p:cNvPr>
          <p:cNvSpPr txBox="1"/>
          <p:nvPr/>
        </p:nvSpPr>
        <p:spPr>
          <a:xfrm>
            <a:off x="6078582" y="6274457"/>
            <a:ext cx="611777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1400" b="1" i="0" u="none" strike="noStrike" baseline="0">
                <a:solidFill>
                  <a:schemeClr val="accent2"/>
                </a:solidFill>
                <a:latin typeface="AdvOTa2fa4214.B"/>
              </a:defRPr>
            </a:lvl1pPr>
          </a:lstStyle>
          <a:p>
            <a:pPr algn="r"/>
            <a:r>
              <a:rPr lang="LID4096" sz="1600" dirty="0"/>
              <a:t>An analytical solution for temperature distribution in fillet arc welding based on an adaptive function </a:t>
            </a:r>
            <a:r>
              <a:rPr lang="LID4096" sz="1600" u="sng" dirty="0"/>
              <a:t>Bagher &amp; Norbert Enzinger</a:t>
            </a:r>
          </a:p>
        </p:txBody>
      </p:sp>
      <p:pic>
        <p:nvPicPr>
          <p:cNvPr id="1026" name="Picture 2" descr="Excel - GET – Engenharia de Produção">
            <a:extLst>
              <a:ext uri="{FF2B5EF4-FFF2-40B4-BE49-F238E27FC236}">
                <a16:creationId xmlns:a16="http://schemas.microsoft.com/office/drawing/2014/main" id="{363B5D60-D89D-9982-4ED5-65BEEF31E8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4344" y="5967073"/>
            <a:ext cx="1308954" cy="73450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6E25E82-46D3-D672-1627-3689257B9AC4}"/>
              </a:ext>
            </a:extLst>
          </p:cNvPr>
          <p:cNvSpPr/>
          <p:nvPr/>
        </p:nvSpPr>
        <p:spPr>
          <a:xfrm>
            <a:off x="43544" y="-21164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EX: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52589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B9BBA-DD77-1E52-FBB7-D61941D6A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C68CEFAF-0C2B-6506-BC6C-CF0D0E471333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3D4D445-F5BB-D09D-A239-D5CD9383BB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9294" y="3846680"/>
            <a:ext cx="4941256" cy="290096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79D3651-4C86-DC7F-D8FA-3E4956568DDA}"/>
              </a:ext>
            </a:extLst>
          </p:cNvPr>
          <p:cNvSpPr/>
          <p:nvPr/>
        </p:nvSpPr>
        <p:spPr>
          <a:xfrm>
            <a:off x="6421922" y="201481"/>
            <a:ext cx="5071603" cy="318411"/>
          </a:xfrm>
          <a:prstGeom prst="roundRect">
            <a:avLst/>
          </a:prstGeom>
          <a:solidFill>
            <a:schemeClr val="bg1"/>
          </a:solidFill>
        </p:spPr>
        <p:txBody>
          <a:bodyPr wrap="square" lIns="0" tIns="0" rIns="0" bIns="0" anchor="ctr" anchorCtr="0">
            <a:noAutofit/>
          </a:bodyPr>
          <a:lstStyle/>
          <a:p>
            <a:r>
              <a:rPr lang="en-US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Directed Energy Deposition (DED - </a:t>
            </a:r>
            <a:r>
              <a:rPr lang="en-US" sz="24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ARC</a:t>
            </a:r>
            <a:r>
              <a:rPr lang="en-US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)</a:t>
            </a:r>
            <a:endParaRPr lang="LID4096" sz="24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orley Old Style MT"/>
            </a:endParaRPr>
          </a:p>
        </p:txBody>
      </p:sp>
      <p:pic>
        <p:nvPicPr>
          <p:cNvPr id="60" name="Picture 59">
            <a:extLst>
              <a:ext uri="{FF2B5EF4-FFF2-40B4-BE49-F238E27FC236}">
                <a16:creationId xmlns:a16="http://schemas.microsoft.com/office/drawing/2014/main" id="{C1AABF47-842A-954E-6FAF-D0D832F517B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42" t="2493" r="2462" b="7363"/>
          <a:stretch>
            <a:fillRect/>
          </a:stretch>
        </p:blipFill>
        <p:spPr>
          <a:xfrm>
            <a:off x="264798" y="697078"/>
            <a:ext cx="7661670" cy="433422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516D5B8-4C72-758D-883A-7F4B221F9BC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6592" t="9679" b="40870"/>
          <a:stretch>
            <a:fillRect/>
          </a:stretch>
        </p:blipFill>
        <p:spPr>
          <a:xfrm>
            <a:off x="8029305" y="697078"/>
            <a:ext cx="3915315" cy="1743074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6CD3B99-9019-1FF2-15D2-F9BEA0B6BF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7639" t="3661" r="3662" b="74669"/>
          <a:stretch>
            <a:fillRect/>
          </a:stretch>
        </p:blipFill>
        <p:spPr>
          <a:xfrm>
            <a:off x="10117602" y="3935930"/>
            <a:ext cx="1820792" cy="123888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94B4011-DB36-3320-7851-E4E0A12D60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305" y="2507162"/>
            <a:ext cx="2225945" cy="127065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5C1781B-E4FF-3C69-CF52-DEE891F79F3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94" t="2494" r="69754" b="74167"/>
          <a:stretch>
            <a:fillRect/>
          </a:stretch>
        </p:blipFill>
        <p:spPr>
          <a:xfrm>
            <a:off x="249883" y="5102182"/>
            <a:ext cx="3365894" cy="164546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F93B32D-0090-DE0D-9E76-FCB6FA3DB95D}"/>
              </a:ext>
            </a:extLst>
          </p:cNvPr>
          <p:cNvSpPr/>
          <p:nvPr/>
        </p:nvSpPr>
        <p:spPr>
          <a:xfrm>
            <a:off x="784339" y="201481"/>
            <a:ext cx="5018605" cy="318411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r>
              <a:rPr lang="en-GB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arc welding - </a:t>
            </a:r>
            <a:r>
              <a:rPr lang="en-GB" sz="3200" b="1" u="sng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analytical solution</a:t>
            </a:r>
            <a:endParaRPr lang="LID4096" sz="2400" b="1" u="sng" dirty="0">
              <a:solidFill>
                <a:srgbClr val="0000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orley Old Style MT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632BEE6-3F62-796F-6587-F305A89F64E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122" t="11952" r="3891" b="9751"/>
          <a:stretch>
            <a:fillRect/>
          </a:stretch>
        </p:blipFill>
        <p:spPr>
          <a:xfrm>
            <a:off x="3879501" y="5260781"/>
            <a:ext cx="3054033" cy="713299"/>
          </a:xfrm>
          <a:prstGeom prst="rect">
            <a:avLst/>
          </a:prstGeom>
          <a:ln w="38100">
            <a:solidFill>
              <a:srgbClr val="FF000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12" name="Arrow: Down 11">
            <a:extLst>
              <a:ext uri="{FF2B5EF4-FFF2-40B4-BE49-F238E27FC236}">
                <a16:creationId xmlns:a16="http://schemas.microsoft.com/office/drawing/2014/main" id="{CBBE9048-2207-D7A2-E34D-CD1860E9E343}"/>
              </a:ext>
            </a:extLst>
          </p:cNvPr>
          <p:cNvSpPr/>
          <p:nvPr/>
        </p:nvSpPr>
        <p:spPr>
          <a:xfrm rot="18866954" flipV="1">
            <a:off x="5754261" y="6139671"/>
            <a:ext cx="312186" cy="426906"/>
          </a:xfrm>
          <a:prstGeom prst="downArrow">
            <a:avLst/>
          </a:prstGeom>
          <a:solidFill>
            <a:srgbClr val="0000FF"/>
          </a:solidFill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F36A0B8-6E90-3466-00EA-64BB7EEBE27C}"/>
              </a:ext>
            </a:extLst>
          </p:cNvPr>
          <p:cNvSpPr/>
          <p:nvPr/>
        </p:nvSpPr>
        <p:spPr>
          <a:xfrm>
            <a:off x="3650876" y="6243113"/>
            <a:ext cx="1095375" cy="318268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pPr algn="ctr"/>
            <a:r>
              <a:rPr lang="en-US" sz="2400" b="1" dirty="0">
                <a:latin typeface="Horley Old Style MT"/>
              </a:rPr>
              <a:t>Part 01</a:t>
            </a:r>
            <a:endParaRPr lang="LID4096" sz="2400" b="1" dirty="0">
              <a:latin typeface="Horley Old Style MT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8D0980C-988E-7936-5450-9AC89CDB9278}"/>
              </a:ext>
            </a:extLst>
          </p:cNvPr>
          <p:cNvSpPr/>
          <p:nvPr/>
        </p:nvSpPr>
        <p:spPr>
          <a:xfrm>
            <a:off x="43544" y="-21164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EX: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434664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807E47-36F7-A14D-6D3D-105D701B6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741018B7-70D0-A75A-CF22-A7EC1BF464C2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7809736-CF39-A5D8-B764-CA2C086D07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467" y="2038909"/>
            <a:ext cx="4033694" cy="1038484"/>
          </a:xfrm>
          <a:prstGeom prst="rect">
            <a:avLst/>
          </a:prstGeom>
          <a:ln w="19050">
            <a:solidFill>
              <a:srgbClr val="0000FF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3DA7D50B-C9B4-2452-B129-12632D37ECD8}"/>
              </a:ext>
            </a:extLst>
          </p:cNvPr>
          <p:cNvGrpSpPr>
            <a:grpSpLocks noChangeAspect="1"/>
          </p:cNvGrpSpPr>
          <p:nvPr/>
        </p:nvGrpSpPr>
        <p:grpSpPr>
          <a:xfrm>
            <a:off x="8192913" y="1763555"/>
            <a:ext cx="3279461" cy="1486255"/>
            <a:chOff x="8782077" y="4405112"/>
            <a:chExt cx="3020812" cy="1369035"/>
          </a:xfrm>
        </p:grpSpPr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15D8380C-F3FF-A0B3-4D46-48662A3B8B0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6025" r="71901" b="49372"/>
            <a:stretch>
              <a:fillRect/>
            </a:stretch>
          </p:blipFill>
          <p:spPr>
            <a:xfrm>
              <a:off x="9836961" y="5118084"/>
              <a:ext cx="1965928" cy="656063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82DCF1E5-C5DA-46F3-BA72-AABE5CBEAA0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9408" t="24331" b="13075"/>
            <a:stretch>
              <a:fillRect/>
            </a:stretch>
          </p:blipFill>
          <p:spPr>
            <a:xfrm>
              <a:off x="8782077" y="4405112"/>
              <a:ext cx="3020812" cy="656064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04BD2D46-8A5F-898A-1862-BF818BA338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3465" y="345741"/>
            <a:ext cx="7105650" cy="423862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766A1B12-A203-0DC6-2A3E-3E3CB83FEE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6525" y="3220132"/>
            <a:ext cx="4314512" cy="981340"/>
          </a:xfrm>
          <a:prstGeom prst="rect">
            <a:avLst/>
          </a:prstGeom>
          <a:ln w="38100">
            <a:solidFill>
              <a:srgbClr val="FF000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81F4DC11-8CBF-BADA-997B-252CF2FFC42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122" t="11952" r="3891" b="9751"/>
          <a:stretch>
            <a:fillRect/>
          </a:stretch>
        </p:blipFill>
        <p:spPr>
          <a:xfrm>
            <a:off x="507235" y="614258"/>
            <a:ext cx="3724926" cy="869993"/>
          </a:xfrm>
          <a:prstGeom prst="rect">
            <a:avLst/>
          </a:prstGeom>
          <a:ln w="38100">
            <a:solidFill>
              <a:srgbClr val="FF000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D4101EAB-05C3-0D3A-3E8C-874D69C869E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6526" y="4370375"/>
            <a:ext cx="4314512" cy="556417"/>
          </a:xfrm>
          <a:prstGeom prst="rect">
            <a:avLst/>
          </a:prstGeom>
          <a:ln w="19050">
            <a:solidFill>
              <a:srgbClr val="0000FF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63B3247C-A186-71FB-2E21-FFB4C7F8625F}"/>
              </a:ext>
            </a:extLst>
          </p:cNvPr>
          <p:cNvSpPr/>
          <p:nvPr/>
        </p:nvSpPr>
        <p:spPr>
          <a:xfrm>
            <a:off x="3650876" y="6243113"/>
            <a:ext cx="1095375" cy="318268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pPr algn="ctr"/>
            <a:r>
              <a:rPr lang="en-US" sz="2400" b="1" dirty="0">
                <a:latin typeface="Horley Old Style MT"/>
              </a:rPr>
              <a:t>Part 02</a:t>
            </a:r>
            <a:endParaRPr lang="LID4096" sz="2400" b="1" dirty="0">
              <a:latin typeface="Horley Old Style M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6D3408-F51D-70BF-D232-DF79ECF04FA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9053" b="71810"/>
          <a:stretch>
            <a:fillRect/>
          </a:stretch>
        </p:blipFill>
        <p:spPr>
          <a:xfrm>
            <a:off x="203642" y="5102182"/>
            <a:ext cx="3412135" cy="163268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13" name="Arrow: Down 12">
            <a:extLst>
              <a:ext uri="{FF2B5EF4-FFF2-40B4-BE49-F238E27FC236}">
                <a16:creationId xmlns:a16="http://schemas.microsoft.com/office/drawing/2014/main" id="{EE29EFDE-2F13-B64F-18BF-359815E8FE2C}"/>
              </a:ext>
            </a:extLst>
          </p:cNvPr>
          <p:cNvSpPr/>
          <p:nvPr/>
        </p:nvSpPr>
        <p:spPr>
          <a:xfrm rot="18866954" flipV="1">
            <a:off x="2885934" y="1342167"/>
            <a:ext cx="312186" cy="426906"/>
          </a:xfrm>
          <a:prstGeom prst="downArrow">
            <a:avLst/>
          </a:prstGeom>
          <a:solidFill>
            <a:srgbClr val="0000FF"/>
          </a:solidFill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20581281-120F-F693-980F-DF586C6C96DD}"/>
              </a:ext>
            </a:extLst>
          </p:cNvPr>
          <p:cNvSpPr/>
          <p:nvPr/>
        </p:nvSpPr>
        <p:spPr>
          <a:xfrm rot="18866954" flipV="1">
            <a:off x="2269426" y="4031940"/>
            <a:ext cx="177754" cy="191373"/>
          </a:xfrm>
          <a:prstGeom prst="downArrow">
            <a:avLst/>
          </a:prstGeom>
          <a:solidFill>
            <a:srgbClr val="0000FF"/>
          </a:solidFill>
          <a:ln w="127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07C0B4A-B477-129E-051E-7AF8DE64FFFC}"/>
              </a:ext>
            </a:extLst>
          </p:cNvPr>
          <p:cNvGrpSpPr>
            <a:grpSpLocks noChangeAspect="1"/>
          </p:cNvGrpSpPr>
          <p:nvPr/>
        </p:nvGrpSpPr>
        <p:grpSpPr>
          <a:xfrm>
            <a:off x="5218135" y="4677679"/>
            <a:ext cx="6802419" cy="2072388"/>
            <a:chOff x="6370926" y="5028883"/>
            <a:chExt cx="5649624" cy="1721184"/>
          </a:xfrm>
          <a:effectLst/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6695ADC-18CD-4C20-3A03-0C1D80224B8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t="5045" r="2663" b="10307"/>
            <a:stretch>
              <a:fillRect/>
            </a:stretch>
          </p:blipFill>
          <p:spPr>
            <a:xfrm>
              <a:off x="6370926" y="5028884"/>
              <a:ext cx="2595388" cy="1721183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AC716D59-AA1A-8777-8F03-711FBBA2511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085597" y="5028883"/>
              <a:ext cx="2934953" cy="1721184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F8D5F67A-2646-69E2-2787-402F89BB1BF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 l="69735" t="21527" r="3221" b="40870"/>
            <a:stretch>
              <a:fillRect/>
            </a:stretch>
          </p:blipFill>
          <p:spPr>
            <a:xfrm>
              <a:off x="10985542" y="5059383"/>
              <a:ext cx="1006363" cy="798774"/>
            </a:xfrm>
            <a:prstGeom prst="rect">
              <a:avLst/>
            </a:prstGeom>
            <a:ln>
              <a:noFill/>
            </a:ln>
            <a:effectLst/>
          </p:spPr>
        </p:pic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074E6F56-9AC3-F4AB-F231-891BD530F74A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l="77639" t="3661" r="3662" b="74669"/>
          <a:stretch>
            <a:fillRect/>
          </a:stretch>
        </p:blipFill>
        <p:spPr>
          <a:xfrm>
            <a:off x="7117237" y="4715386"/>
            <a:ext cx="1179373" cy="802459"/>
          </a:xfrm>
          <a:prstGeom prst="rect">
            <a:avLst/>
          </a:prstGeom>
          <a:ln>
            <a:noFill/>
          </a:ln>
          <a:effectLst/>
        </p:spPr>
      </p:pic>
      <p:sp>
        <p:nvSpPr>
          <p:cNvPr id="23" name="Arrow: Down 22">
            <a:extLst>
              <a:ext uri="{FF2B5EF4-FFF2-40B4-BE49-F238E27FC236}">
                <a16:creationId xmlns:a16="http://schemas.microsoft.com/office/drawing/2014/main" id="{15B385FE-7139-45E5-3EC8-81E4510607AB}"/>
              </a:ext>
            </a:extLst>
          </p:cNvPr>
          <p:cNvSpPr/>
          <p:nvPr/>
        </p:nvSpPr>
        <p:spPr>
          <a:xfrm rot="18866954" flipV="1">
            <a:off x="1584057" y="4031704"/>
            <a:ext cx="177754" cy="191373"/>
          </a:xfrm>
          <a:prstGeom prst="downArrow">
            <a:avLst/>
          </a:prstGeom>
          <a:solidFill>
            <a:srgbClr val="0000FF"/>
          </a:solidFill>
          <a:ln w="127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25" name="Arrow: Down 24">
            <a:extLst>
              <a:ext uri="{FF2B5EF4-FFF2-40B4-BE49-F238E27FC236}">
                <a16:creationId xmlns:a16="http://schemas.microsoft.com/office/drawing/2014/main" id="{AA2C53FD-BC72-9C09-413B-4BB95C73E50E}"/>
              </a:ext>
            </a:extLst>
          </p:cNvPr>
          <p:cNvSpPr/>
          <p:nvPr/>
        </p:nvSpPr>
        <p:spPr>
          <a:xfrm rot="18866954" flipV="1">
            <a:off x="2954797" y="4031703"/>
            <a:ext cx="177754" cy="191373"/>
          </a:xfrm>
          <a:prstGeom prst="downArrow">
            <a:avLst/>
          </a:prstGeom>
          <a:solidFill>
            <a:srgbClr val="0000FF"/>
          </a:solidFill>
          <a:ln w="127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6DCA200-0A44-EF4D-AE38-9B8E7C9478EB}"/>
              </a:ext>
            </a:extLst>
          </p:cNvPr>
          <p:cNvSpPr/>
          <p:nvPr/>
        </p:nvSpPr>
        <p:spPr>
          <a:xfrm>
            <a:off x="43544" y="-21164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EX: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780709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749B1-5A5E-7128-529A-5C4C374D0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2E7D890-2D50-52C1-2F4B-C4C1E67D24A4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8213537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51E93-D7AA-3DC0-B98C-6CE8ACD86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CA59159-463A-4515-3BBE-CC0F1379AAB3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689BD5-7F8D-3E07-9C24-2FB7427632BD}"/>
              </a:ext>
            </a:extLst>
          </p:cNvPr>
          <p:cNvSpPr txBox="1"/>
          <p:nvPr/>
        </p:nvSpPr>
        <p:spPr>
          <a:xfrm>
            <a:off x="254049" y="1965842"/>
            <a:ext cx="566492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LID4096" sz="2000" b="1" dirty="0"/>
              <a:t>insight into the solute transport process</a:t>
            </a:r>
            <a:r>
              <a:rPr lang="pt-BR" sz="2000" b="1" dirty="0"/>
              <a:t>;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b="1" dirty="0"/>
              <a:t>high-fidelity physics-based numerical modelling;</a:t>
            </a:r>
            <a:endParaRPr lang="LID4096" sz="2000" b="1" dirty="0"/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GB" sz="2000" b="1" dirty="0"/>
              <a:t>effect of melt convection and solute partition.</a:t>
            </a:r>
            <a:endParaRPr lang="LID4096" sz="20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4895958-1321-34DA-5B5D-A7B298E0B9D9}"/>
              </a:ext>
            </a:extLst>
          </p:cNvPr>
          <p:cNvSpPr txBox="1"/>
          <p:nvPr/>
        </p:nvSpPr>
        <p:spPr>
          <a:xfrm>
            <a:off x="2695714" y="5239373"/>
            <a:ext cx="3154683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sz="2000" b="1" dirty="0">
                <a:solidFill>
                  <a:srgbClr val="0000FF"/>
                </a:solidFill>
              </a:rPr>
              <a:t>Temperature,</a:t>
            </a:r>
            <a:r>
              <a:rPr lang="pt-BR" sz="2000" b="1" dirty="0">
                <a:solidFill>
                  <a:srgbClr val="0000FF"/>
                </a:solidFill>
              </a:rPr>
              <a:t> </a:t>
            </a:r>
            <a:r>
              <a:rPr lang="LID4096" sz="2000" b="1" dirty="0">
                <a:solidFill>
                  <a:srgbClr val="0000FF"/>
                </a:solidFill>
              </a:rPr>
              <a:t>flow velocity, solute concentration, and microstructure </a:t>
            </a:r>
            <a:endParaRPr lang="pt-BR" sz="2000" b="1" dirty="0">
              <a:solidFill>
                <a:srgbClr val="FF0000"/>
              </a:solidFill>
            </a:endParaRPr>
          </a:p>
          <a:p>
            <a:r>
              <a:rPr lang="pt-BR" sz="2000" b="1" dirty="0">
                <a:solidFill>
                  <a:srgbClr val="FF0000"/>
                </a:solidFill>
              </a:rPr>
              <a:t>... d</a:t>
            </a:r>
            <a:r>
              <a:rPr lang="LID4096" sz="2000" b="1" dirty="0">
                <a:solidFill>
                  <a:srgbClr val="FF0000"/>
                </a:solidFill>
              </a:rPr>
              <a:t>irectly coupled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F00EEF1-2CBF-2E01-3442-D944A50E0CBA}"/>
              </a:ext>
            </a:extLst>
          </p:cNvPr>
          <p:cNvGrpSpPr/>
          <p:nvPr/>
        </p:nvGrpSpPr>
        <p:grpSpPr>
          <a:xfrm>
            <a:off x="2229808" y="343023"/>
            <a:ext cx="4295542" cy="1360750"/>
            <a:chOff x="326574" y="239486"/>
            <a:chExt cx="4295542" cy="1360750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58865A81-25FD-EFFC-EE19-89AA2169286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6574" y="239486"/>
              <a:ext cx="4295542" cy="1360750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FA1F596-C0A1-D18B-4C5E-F58FDD4668E1}"/>
                </a:ext>
              </a:extLst>
            </p:cNvPr>
            <p:cNvSpPr txBox="1"/>
            <p:nvPr/>
          </p:nvSpPr>
          <p:spPr>
            <a:xfrm>
              <a:off x="1916158" y="270558"/>
              <a:ext cx="224245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LID4096"/>
              </a:defPPr>
              <a:lvl1pPr algn="ctr">
                <a:defRPr sz="2000">
                  <a:solidFill>
                    <a:srgbClr val="0000FF"/>
                  </a:solidFill>
                </a:defRPr>
              </a:lvl1pPr>
            </a:lstStyle>
            <a:p>
              <a:r>
                <a:rPr lang="en-GB" sz="2800" b="1" noProof="0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Micro-scale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DF613F02-D1CC-C2FD-E558-4F90E83774E5}"/>
              </a:ext>
            </a:extLst>
          </p:cNvPr>
          <p:cNvSpPr txBox="1"/>
          <p:nvPr/>
        </p:nvSpPr>
        <p:spPr>
          <a:xfrm>
            <a:off x="10118272" y="5085050"/>
            <a:ext cx="1502231" cy="1400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LID4096" sz="1700" b="1" dirty="0"/>
              <a:t>210 ×</a:t>
            </a:r>
            <a:r>
              <a:rPr lang="pt-BR" sz="1700" b="1" dirty="0"/>
              <a:t> </a:t>
            </a:r>
            <a:r>
              <a:rPr lang="LID4096" sz="1700" b="1" dirty="0"/>
              <a:t>400 µm computational domain</a:t>
            </a:r>
            <a:r>
              <a:rPr lang="pt-BR" sz="1700" b="1" dirty="0"/>
              <a:t> (2D)</a:t>
            </a:r>
          </a:p>
          <a:p>
            <a:pPr algn="r"/>
            <a:r>
              <a:rPr lang="en-GB" sz="1700" b="1" dirty="0">
                <a:latin typeface="AdvOTdd63dae3"/>
              </a:rPr>
              <a:t>1,341,561 </a:t>
            </a:r>
          </a:p>
          <a:p>
            <a:pPr algn="r"/>
            <a:r>
              <a:rPr lang="en-GB" sz="1700" b="1" dirty="0">
                <a:latin typeface="AdvOTdd63dae3"/>
              </a:rPr>
              <a:t>grid 0.25 </a:t>
            </a:r>
            <a:r>
              <a:rPr lang="en-GB" sz="1700" b="1" dirty="0">
                <a:latin typeface="AdvOTdd63dae3+03"/>
              </a:rPr>
              <a:t>μ</a:t>
            </a:r>
            <a:r>
              <a:rPr lang="en-GB" sz="1700" b="1" dirty="0">
                <a:latin typeface="AdvOTdd63dae3"/>
              </a:rPr>
              <a:t>m</a:t>
            </a:r>
            <a:endParaRPr lang="LID4096" sz="1700" b="1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E93FDDD3-7330-406D-9099-4460C47A936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5717" b="60600"/>
          <a:stretch>
            <a:fillRect/>
          </a:stretch>
        </p:blipFill>
        <p:spPr>
          <a:xfrm>
            <a:off x="6705600" y="337154"/>
            <a:ext cx="4974773" cy="179581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3511BDF1-0BF2-0125-5C1A-2CF5CA83533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5717" t="45003" b="4034"/>
          <a:stretch>
            <a:fillRect/>
          </a:stretch>
        </p:blipFill>
        <p:spPr>
          <a:xfrm>
            <a:off x="6204457" y="2314575"/>
            <a:ext cx="5475915" cy="255688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8F5D7BA6-F9DA-5A65-FB31-92FFA294A66A}"/>
              </a:ext>
            </a:extLst>
          </p:cNvPr>
          <p:cNvSpPr txBox="1"/>
          <p:nvPr/>
        </p:nvSpPr>
        <p:spPr>
          <a:xfrm>
            <a:off x="10029832" y="316354"/>
            <a:ext cx="162196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sz="2000">
                <a:solidFill>
                  <a:srgbClr val="0000FF"/>
                </a:solidFill>
              </a:defRPr>
            </a:lvl1pPr>
          </a:lstStyle>
          <a:p>
            <a:r>
              <a:rPr lang="en-GB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Printed</a:t>
            </a:r>
            <a:endParaRPr lang="en-GB" sz="2800" b="1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9F1AEB8-61A7-BB22-36CA-C87A2B7D8FA8}"/>
              </a:ext>
            </a:extLst>
          </p:cNvPr>
          <p:cNvSpPr txBox="1"/>
          <p:nvPr/>
        </p:nvSpPr>
        <p:spPr>
          <a:xfrm rot="16200000">
            <a:off x="5134136" y="3325923"/>
            <a:ext cx="149570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sz="2000">
                <a:solidFill>
                  <a:srgbClr val="0000FF"/>
                </a:solidFill>
              </a:defRPr>
            </a:lvl1pPr>
          </a:lstStyle>
          <a:p>
            <a:r>
              <a:rPr lang="en-GB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Model</a:t>
            </a:r>
            <a:endParaRPr lang="en-GB" sz="2800" b="1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F61D8B2-1561-C685-7297-740D867F16C1}"/>
              </a:ext>
            </a:extLst>
          </p:cNvPr>
          <p:cNvGrpSpPr>
            <a:grpSpLocks noChangeAspect="1"/>
          </p:cNvGrpSpPr>
          <p:nvPr/>
        </p:nvGrpSpPr>
        <p:grpSpPr>
          <a:xfrm>
            <a:off x="250059" y="3153724"/>
            <a:ext cx="5331535" cy="3216127"/>
            <a:chOff x="322216" y="3019052"/>
            <a:chExt cx="5519474" cy="3329497"/>
          </a:xfrm>
        </p:grpSpPr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9E9D78FC-A9F0-161A-B5C7-ABA7352AFC8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748" t="9050" r="67184" b="66061"/>
            <a:stretch>
              <a:fillRect/>
            </a:stretch>
          </p:blipFill>
          <p:spPr>
            <a:xfrm>
              <a:off x="322216" y="3019053"/>
              <a:ext cx="2420984" cy="1107142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D094B13F-A5E0-E8CD-CE8D-3ACAA9BB04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946" t="48903" r="60805" b="2231"/>
            <a:stretch>
              <a:fillRect/>
            </a:stretch>
          </p:blipFill>
          <p:spPr>
            <a:xfrm>
              <a:off x="2910840" y="3019052"/>
              <a:ext cx="2930850" cy="2079709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2A2FEBC7-5E88-737D-62CE-9613783756C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7767" y="4268840"/>
              <a:ext cx="2402948" cy="2079709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35" name="Picture 34">
            <a:extLst>
              <a:ext uri="{FF2B5EF4-FFF2-40B4-BE49-F238E27FC236}">
                <a16:creationId xmlns:a16="http://schemas.microsoft.com/office/drawing/2014/main" id="{90BF4C24-79E7-B909-2D48-F842675B41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85030" y="5077211"/>
            <a:ext cx="4349575" cy="139300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C87012C3-282F-FEBE-C4B0-B50DEB4B2630}"/>
              </a:ext>
            </a:extLst>
          </p:cNvPr>
          <p:cNvSpPr txBox="1"/>
          <p:nvPr/>
        </p:nvSpPr>
        <p:spPr>
          <a:xfrm>
            <a:off x="8708" y="6551411"/>
            <a:ext cx="840377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i="0" u="none" strike="noStrike" baseline="0" dirty="0">
                <a:solidFill>
                  <a:schemeClr val="accent2"/>
                </a:solidFill>
                <a:latin typeface="AdvOTa2fa4214.B"/>
              </a:rPr>
              <a:t>Solute trapping and non-equilibrium microstructure </a:t>
            </a:r>
            <a:r>
              <a:rPr lang="en-GB" sz="1400" b="1" i="0" u="none" strike="noStrike" baseline="0" dirty="0">
                <a:solidFill>
                  <a:schemeClr val="accent2"/>
                </a:solidFill>
                <a:latin typeface="AdvOTa2fa4214.B"/>
              </a:rPr>
              <a:t>during rapid solidi</a:t>
            </a:r>
            <a:r>
              <a:rPr lang="en-GB" sz="1400" b="1" i="0" u="none" strike="noStrike" baseline="0" dirty="0">
                <a:solidFill>
                  <a:schemeClr val="accent2"/>
                </a:solidFill>
                <a:latin typeface="AdvOTa2fa4214.B+fb"/>
              </a:rPr>
              <a:t>fi</a:t>
            </a:r>
            <a:r>
              <a:rPr lang="en-GB" sz="1400" b="1" i="0" u="none" strike="noStrike" baseline="0" dirty="0">
                <a:solidFill>
                  <a:schemeClr val="accent2"/>
                </a:solidFill>
                <a:latin typeface="AdvOTa2fa4214.B"/>
              </a:rPr>
              <a:t>cation of additive </a:t>
            </a:r>
            <a:r>
              <a:rPr lang="en-US" sz="1400" b="1" i="0" u="none" strike="noStrike" baseline="0" dirty="0">
                <a:solidFill>
                  <a:schemeClr val="accent2"/>
                </a:solidFill>
                <a:latin typeface="AdvOTa2fa4214.B"/>
              </a:rPr>
              <a:t>manufacturing</a:t>
            </a:r>
            <a:endParaRPr lang="LID4096" sz="1400" b="1" dirty="0">
              <a:solidFill>
                <a:schemeClr val="accent2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248A28C-04CA-5432-7115-335E104ADF21}"/>
              </a:ext>
            </a:extLst>
          </p:cNvPr>
          <p:cNvSpPr/>
          <p:nvPr/>
        </p:nvSpPr>
        <p:spPr>
          <a:xfrm>
            <a:off x="357897" y="688420"/>
            <a:ext cx="1559713" cy="889008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pPr algn="ctr"/>
            <a:r>
              <a:rPr lang="pt-BR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Laser</a:t>
            </a:r>
          </a:p>
          <a:p>
            <a:pPr algn="ctr"/>
            <a:r>
              <a:rPr lang="LID4096" sz="2400" b="1" u="sng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Powder</a:t>
            </a:r>
            <a:r>
              <a:rPr lang="pt-BR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 </a:t>
            </a:r>
            <a:r>
              <a:rPr lang="LID4096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Bed Fusion (</a:t>
            </a:r>
            <a:r>
              <a:rPr lang="pt-BR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L </a:t>
            </a:r>
            <a:r>
              <a:rPr lang="LID4096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PBF)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2C12347-0F5A-8559-3DCF-88CB0A23E200}"/>
              </a:ext>
            </a:extLst>
          </p:cNvPr>
          <p:cNvSpPr/>
          <p:nvPr/>
        </p:nvSpPr>
        <p:spPr>
          <a:xfrm>
            <a:off x="43544" y="-21164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EX: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70258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7410</TotalTime>
  <Words>1999</Words>
  <Application>Microsoft Office PowerPoint</Application>
  <PresentationFormat>Widescreen</PresentationFormat>
  <Paragraphs>423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51" baseType="lpstr">
      <vt:lpstr>AdvOT46dcae81</vt:lpstr>
      <vt:lpstr>AdvOTa2fa4214.B</vt:lpstr>
      <vt:lpstr>AdvOTa2fa4214.B+fb</vt:lpstr>
      <vt:lpstr>AdvOTdd63dae3</vt:lpstr>
      <vt:lpstr>AdvOTdd63dae3+03</vt:lpstr>
      <vt:lpstr>Arial</vt:lpstr>
      <vt:lpstr>Calibri</vt:lpstr>
      <vt:lpstr>Calibri (Body)</vt:lpstr>
      <vt:lpstr>Calibri Light</vt:lpstr>
      <vt:lpstr>Cambria Math</vt:lpstr>
      <vt:lpstr>Charis SIL</vt:lpstr>
      <vt:lpstr>Consolas</vt:lpstr>
      <vt:lpstr>Google Sans</vt:lpstr>
      <vt:lpstr>Horley Old Style MT</vt:lpstr>
      <vt:lpstr>LMRoman12-Regular</vt:lpstr>
      <vt:lpstr>NywgqrAdvTT3713a231</vt:lpstr>
      <vt:lpstr>Segoe UI</vt:lpstr>
      <vt:lpstr>Symbol</vt:lpstr>
      <vt:lpstr>Times New Roman</vt:lpstr>
      <vt:lpstr>Wingdings</vt:lpstr>
      <vt:lpstr>XvlwhpYpshnbMyriadPro-Cond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grossi</dc:creator>
  <cp:lastModifiedBy>grossi</cp:lastModifiedBy>
  <cp:revision>362</cp:revision>
  <dcterms:created xsi:type="dcterms:W3CDTF">2026-09-30T17:20:39Z</dcterms:created>
  <dcterms:modified xsi:type="dcterms:W3CDTF">2026-10-23T18:29:11Z</dcterms:modified>
</cp:coreProperties>
</file>