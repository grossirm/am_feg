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76" r:id="rId5"/>
    <p:sldId id="284" r:id="rId6"/>
    <p:sldId id="285" r:id="rId7"/>
    <p:sldId id="287" r:id="rId8"/>
    <p:sldId id="288" r:id="rId9"/>
    <p:sldId id="289" r:id="rId10"/>
    <p:sldId id="273" r:id="rId11"/>
    <p:sldId id="270" r:id="rId12"/>
    <p:sldId id="282" r:id="rId13"/>
    <p:sldId id="281" r:id="rId14"/>
    <p:sldId id="266" r:id="rId15"/>
    <p:sldId id="265" r:id="rId16"/>
    <p:sldId id="257" r:id="rId17"/>
    <p:sldId id="268" r:id="rId18"/>
    <p:sldId id="277" r:id="rId19"/>
    <p:sldId id="278" r:id="rId20"/>
    <p:sldId id="260" r:id="rId21"/>
    <p:sldId id="272" r:id="rId22"/>
    <p:sldId id="271" r:id="rId2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FF6"/>
    <a:srgbClr val="BDFFE9"/>
    <a:srgbClr val="0000FF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ossiRM/qwee.git" TargetMode="External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5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jpeg"/><Relationship Id="rId5" Type="http://schemas.openxmlformats.org/officeDocument/2006/relationships/image" Target="../media/image20.png"/><Relationship Id="rId10" Type="http://schemas.openxmlformats.org/officeDocument/2006/relationships/image" Target="../media/image5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6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jpe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hyperlink" Target="https://github.com/grossiRM/CFD_ON/tree/main/04_OpenFoam" TargetMode="External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3" Type="http://schemas.openxmlformats.org/officeDocument/2006/relationships/image" Target="../media/image44.png"/><Relationship Id="rId21" Type="http://schemas.openxmlformats.org/officeDocument/2006/relationships/image" Target="../media/image100.png"/><Relationship Id="rId7" Type="http://schemas.openxmlformats.org/officeDocument/2006/relationships/image" Target="../media/image48.png"/><Relationship Id="rId17" Type="http://schemas.openxmlformats.org/officeDocument/2006/relationships/image" Target="../media/image190.png"/><Relationship Id="rId2" Type="http://schemas.openxmlformats.org/officeDocument/2006/relationships/image" Target="../media/image43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jpe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7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7.png"/><Relationship Id="rId7" Type="http://schemas.openxmlformats.org/officeDocument/2006/relationships/image" Target="../media/image8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3.png"/><Relationship Id="rId5" Type="http://schemas.openxmlformats.org/officeDocument/2006/relationships/image" Target="../media/image79.png"/><Relationship Id="rId10" Type="http://schemas.openxmlformats.org/officeDocument/2006/relationships/image" Target="../media/image75.png"/><Relationship Id="rId4" Type="http://schemas.openxmlformats.org/officeDocument/2006/relationships/image" Target="../media/image78.png"/><Relationship Id="rId9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674384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 </a:t>
              </a:r>
              <a:r>
                <a:rPr lang="en-US" sz="2400" b="1" dirty="0">
                  <a:latin typeface="Horley Old Style MT"/>
                </a:rPr>
                <a:t>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458909" y="260685"/>
            <a:ext cx="5464360" cy="6336630"/>
            <a:chOff x="775068" y="311509"/>
            <a:chExt cx="5464360" cy="63366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5422377" cy="4536130"/>
              <a:chOff x="673623" y="317105"/>
              <a:chExt cx="5422377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697352" y="4175344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8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Python, 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83123" y="4770122"/>
              <a:ext cx="157786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CAB0A03-134E-3D0E-C037-FFACB2EE2447}"/>
                </a:ext>
              </a:extLst>
            </p:cNvPr>
            <p:cNvSpPr/>
            <p:nvPr/>
          </p:nvSpPr>
          <p:spPr>
            <a:xfrm>
              <a:off x="4740241" y="4911680"/>
              <a:ext cx="1499187" cy="1736459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Visual Studio</a:t>
              </a:r>
            </a:p>
            <a:p>
              <a:pPr algn="ctr"/>
              <a:endParaRPr lang="pt-BR" sz="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Jupyter Notebook</a:t>
              </a:r>
            </a:p>
          </p:txBody>
        </p:sp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8" y="4770122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358088"/>
            <a:ext cx="5560029" cy="1365463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</a:t>
            </a: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5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fp</a:t>
            </a:r>
            <a:endParaRPr lang="en-US" sz="15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5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5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5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5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5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76816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955055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955056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6573231" y="5844206"/>
            <a:ext cx="28128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1577934" y="2349289"/>
            <a:ext cx="3604010" cy="461665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LID4096" sz="1700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79" y="2907238"/>
            <a:ext cx="7768046" cy="3514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2748" y="1001164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377838" y="1687786"/>
            <a:ext cx="3191894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558" y="1460909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10742983" y="2138013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2407" y="2932784"/>
            <a:ext cx="1706880" cy="250406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E04BA7-0F71-CADB-E003-F4F2BA89CD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6892" y="2868192"/>
            <a:ext cx="3881630" cy="250407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/>
              <a:t>echo "# </a:t>
            </a:r>
            <a:r>
              <a:rPr lang="pt-BR" sz="1400" dirty="0"/>
              <a:t>new</a:t>
            </a:r>
            <a:r>
              <a:rPr lang="LID4096" sz="1400" dirty="0"/>
              <a:t>" &gt;&gt; README.md</a:t>
            </a:r>
            <a:endParaRPr lang="pt-BR" sz="1400" dirty="0"/>
          </a:p>
          <a:p>
            <a:r>
              <a:rPr lang="LID4096" sz="1400" dirty="0"/>
              <a:t>git initgit add README.md</a:t>
            </a:r>
            <a:endParaRPr lang="pt-BR" sz="1400" dirty="0"/>
          </a:p>
          <a:p>
            <a:r>
              <a:rPr lang="LID4096" sz="1400" dirty="0"/>
              <a:t>git commit -m "first commit“</a:t>
            </a:r>
            <a:endParaRPr lang="pt-BR" sz="1400" dirty="0"/>
          </a:p>
          <a:p>
            <a:r>
              <a:rPr lang="LID4096" sz="1400" dirty="0"/>
              <a:t>git branch -M main</a:t>
            </a:r>
            <a:endParaRPr lang="pt-BR" sz="1400" dirty="0"/>
          </a:p>
          <a:p>
            <a:r>
              <a:rPr lang="LID4096" sz="1400" dirty="0"/>
              <a:t>git remote add origin </a:t>
            </a:r>
            <a:r>
              <a:rPr lang="LID4096" sz="900" dirty="0">
                <a:hlinkClick r:id="rId8"/>
              </a:rPr>
              <a:t>https://github.com/</a:t>
            </a:r>
            <a:r>
              <a:rPr lang="LID4096" sz="1400" b="1" dirty="0">
                <a:hlinkClick r:id="rId8"/>
              </a:rPr>
              <a:t>grossiRM/</a:t>
            </a:r>
            <a:r>
              <a:rPr lang="pt-BR" sz="1400" b="1" dirty="0">
                <a:hlinkClick r:id="rId8"/>
              </a:rPr>
              <a:t>new</a:t>
            </a:r>
            <a:r>
              <a:rPr lang="LID4096" sz="1400" b="1" dirty="0">
                <a:hlinkClick r:id="rId8"/>
              </a:rPr>
              <a:t>.git</a:t>
            </a:r>
            <a:endParaRPr lang="pt-BR" sz="1200" b="1" dirty="0"/>
          </a:p>
          <a:p>
            <a:r>
              <a:rPr lang="LID4096" sz="1400" dirty="0"/>
              <a:t>git push -u origin main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C9EA845-39E6-4317-FFE8-CE4A5FB5DF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91189" y="3551867"/>
            <a:ext cx="3597333" cy="269933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39D8B4C-1CE8-CEE5-B342-8792120B11B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/>
              <a:t>$ git add .</a:t>
            </a:r>
          </a:p>
          <a:p>
            <a:r>
              <a:rPr lang="en-US" sz="1600" dirty="0"/>
              <a:t>$ git commit -m “001"</a:t>
            </a:r>
          </a:p>
          <a:p>
            <a:r>
              <a:rPr lang="en-US" sz="1600" dirty="0"/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223008"/>
            <a:chOff x="10535717" y="1030364"/>
            <a:chExt cx="1329047" cy="4223008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405504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3810170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4" y="13638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AD00659-CEB2-13E0-9DB5-55F5AB1EE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477" y="1325178"/>
            <a:ext cx="1937668" cy="769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38467" b="70395"/>
            <a:stretch>
              <a:fillRect/>
            </a:stretch>
          </p:blipFill>
          <p:spPr>
            <a:xfrm>
              <a:off x="6424386" y="3984098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2618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; 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82748"/>
            <a:ext cx="9516039" cy="52033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600" b="1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600" b="1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7531" y="1859044"/>
            <a:ext cx="1325327" cy="1325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133" y="363016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153" y="363016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791876" y="1791601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155589" y="3817761"/>
            <a:ext cx="2343910" cy="1670981"/>
            <a:chOff x="6075190" y="2359743"/>
            <a:chExt cx="1849609" cy="131859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A9E6FEC-9EA8-E309-CAF0-A7A4E2D9C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9744FEA0-5E34-8E39-0C2E-60FDF6B56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404" y="2901514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60EAB-C414-E9B6-8F84-DA483CB5A174}"/>
              </a:ext>
            </a:extLst>
          </p:cNvPr>
          <p:cNvGrpSpPr/>
          <p:nvPr/>
        </p:nvGrpSpPr>
        <p:grpSpPr>
          <a:xfrm>
            <a:off x="4759327" y="2656395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E9015-6308-2730-2E5B-2460429CC1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DE6537-FA2D-E505-7656-214443B9452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D85CDA5-FA95-6C1C-63F5-4216390686B0}"/>
              </a:ext>
            </a:extLst>
          </p:cNvPr>
          <p:cNvSpPr/>
          <p:nvPr/>
        </p:nvSpPr>
        <p:spPr>
          <a:xfrm>
            <a:off x="1511152" y="2766422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A055A-30BC-C2FA-4078-581546984846}"/>
              </a:ext>
            </a:extLst>
          </p:cNvPr>
          <p:cNvSpPr txBox="1"/>
          <p:nvPr/>
        </p:nvSpPr>
        <p:spPr>
          <a:xfrm>
            <a:off x="1516360" y="2475343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Convection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0A33C73-84AC-5683-A5C4-947ED10DF2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404" y="4137696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036BC6B-037C-E382-EA58-A095A4736E73}"/>
              </a:ext>
            </a:extLst>
          </p:cNvPr>
          <p:cNvGrpSpPr/>
          <p:nvPr/>
        </p:nvGrpSpPr>
        <p:grpSpPr>
          <a:xfrm>
            <a:off x="4759327" y="3892577"/>
            <a:ext cx="950514" cy="883294"/>
            <a:chOff x="9845949" y="5571569"/>
            <a:chExt cx="950514" cy="883294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F42D383-B269-275E-70EE-6DBB8A09D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8863DE5-A794-62E4-83AC-7E8A481C4DCE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381484EC-5D3A-1183-56FB-1942CADF23EA}"/>
              </a:ext>
            </a:extLst>
          </p:cNvPr>
          <p:cNvSpPr/>
          <p:nvPr/>
        </p:nvSpPr>
        <p:spPr>
          <a:xfrm>
            <a:off x="3113710" y="4002604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5FB294-9D43-FE31-EF20-DC8D56250767}"/>
              </a:ext>
            </a:extLst>
          </p:cNvPr>
          <p:cNvSpPr txBox="1"/>
          <p:nvPr/>
        </p:nvSpPr>
        <p:spPr>
          <a:xfrm>
            <a:off x="3284383" y="3711525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Diffusion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33BF864-9904-C9AA-FD4B-C920A6E1F5F0}"/>
              </a:ext>
            </a:extLst>
          </p:cNvPr>
          <p:cNvCxnSpPr/>
          <p:nvPr/>
        </p:nvCxnSpPr>
        <p:spPr>
          <a:xfrm>
            <a:off x="3586038" y="4682398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6AE1F50-F04C-28A0-D8C4-531CCC3AD8E5}"/>
              </a:ext>
            </a:extLst>
          </p:cNvPr>
          <p:cNvGrpSpPr/>
          <p:nvPr/>
        </p:nvGrpSpPr>
        <p:grpSpPr>
          <a:xfrm>
            <a:off x="1831715" y="5201506"/>
            <a:ext cx="3773322" cy="1607780"/>
            <a:chOff x="2931952" y="995752"/>
            <a:chExt cx="3773322" cy="160778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B739BC1-00C7-322B-3624-17656FF034FE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789D87EC-5BCA-F593-35A3-056762118245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9AF28A18-3B68-676F-A22F-AAF0F7F3D7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835C06E5-B94A-D5F6-F52B-624451D87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C71AB1C-70AC-5F90-7D68-886997816384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33396D-28F7-B15E-37E4-7152F0FEA3FD}"/>
                </a:ext>
              </a:extLst>
            </p:cNvPr>
            <p:cNvSpPr txBox="1"/>
            <p:nvPr/>
          </p:nvSpPr>
          <p:spPr>
            <a:xfrm>
              <a:off x="5662447" y="2295755"/>
              <a:ext cx="1042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/>
                <a:t>Diffusion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31965" y="240707"/>
            <a:ext cx="2174040" cy="299867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8424588" y="6177907"/>
            <a:ext cx="32814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900" dirty="0">
                <a:solidFill>
                  <a:srgbClr val="0563C1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</a:t>
            </a:r>
            <a:r>
              <a:rPr lang="LID4096" sz="900" dirty="0">
                <a:solidFill>
                  <a:schemeClr val="bg1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OpenFoam</a:t>
            </a:r>
            <a:endParaRPr lang="LID4096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8B0C35-EC16-7DC5-183F-B6BE09583CCD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712305" y="3094262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686524" y="471591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668418" y="2699045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5873992" y="905113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802712" y="1049003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763296" y="1930422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706C778E-79E1-8319-FEF5-F5DB8DE20DA1}"/>
                  </a:ext>
                </a:extLst>
              </p:cNvPr>
              <p:cNvSpPr txBox="1"/>
              <p:nvPr/>
            </p:nvSpPr>
            <p:spPr>
              <a:xfrm>
                <a:off x="10661031" y="3751732"/>
                <a:ext cx="901577" cy="25213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𝐓</m:t>
                      </m:r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𝐤𝐛</m:t>
                      </m:r>
                    </m:oMath>
                  </m:oMathPara>
                </a14:m>
                <a:endParaRPr lang="en-GB" sz="1600" b="1" dirty="0">
                  <a:solidFill>
                    <a:srgbClr val="0000FF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706C778E-79E1-8319-FEF5-F5DB8DE20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1031" y="3751732"/>
                <a:ext cx="901577" cy="2521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175"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05F1084B-FC58-64A3-D366-B64BA7CE9F48}"/>
                  </a:ext>
                </a:extLst>
              </p:cNvPr>
              <p:cNvSpPr txBox="1"/>
              <p:nvPr/>
            </p:nvSpPr>
            <p:spPr>
              <a:xfrm>
                <a:off x="9315024" y="3623047"/>
                <a:ext cx="2250031" cy="116767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>
                  <a:defRPr/>
                </a:pPr>
                <a:endParaRPr lang="pt-BR" sz="400" b="1" i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0" dirty="0" smtClean="0"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𝐡</m:t>
                      </m:r>
                    </m:oMath>
                  </m:oMathPara>
                </a14:m>
                <a:endParaRPr lang="en-GB" sz="32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endParaRPr lang="pt-BR" sz="9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r>
                  <a:rPr lang="pt-BR" sz="2400" b="1" dirty="0">
                    <a:solidFill>
                      <a:srgbClr val="00B05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Carga </a:t>
                </a:r>
                <a:r>
                  <a:rPr lang="pt-BR" sz="2000" b="1" dirty="0">
                    <a:solidFill>
                      <a:srgbClr val="00B05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(hidráulica)</a:t>
                </a:r>
                <a:endParaRPr lang="pt-BR" sz="24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05F1084B-FC58-64A3-D366-B64BA7CE9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024" y="3623047"/>
                <a:ext cx="2250031" cy="1167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3FD5CF55-4D23-969F-FDF5-E64563D73725}"/>
                  </a:ext>
                </a:extLst>
              </p:cNvPr>
              <p:cNvSpPr txBox="1"/>
              <p:nvPr/>
            </p:nvSpPr>
            <p:spPr>
              <a:xfrm>
                <a:off x="9320296" y="990039"/>
                <a:ext cx="2250031" cy="16952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0" noProof="0" smtClean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𝐤</m:t>
                      </m:r>
                    </m:oMath>
                  </m:oMathPara>
                </a14:m>
                <a:endParaRPr lang="pt-BR" sz="32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r>
                  <a:rPr lang="pt-BR" sz="2200" b="1" noProof="0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Condutividade</a:t>
                </a:r>
              </a:p>
              <a:p>
                <a:pPr lvl="0">
                  <a:defRPr/>
                </a:pPr>
                <a:endParaRPr lang="pt-BR" sz="1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  <a:ea typeface="Cambria Math" panose="02040503050406030204" pitchFamily="18" charset="0"/>
                </a:endParaRPr>
              </a:p>
              <a:p>
                <a:pPr lvl="0">
                  <a:defRPr/>
                </a:pPr>
                <a:r>
                  <a:rPr lang="pt-BR" sz="2200" b="1" noProof="0" dirty="0">
                    <a:effectLst/>
                    <a:latin typeface="Calibri (Body)"/>
                    <a:ea typeface="Cambria Math" panose="02040503050406030204" pitchFamily="18" charset="0"/>
                  </a:rPr>
                  <a:t>... Resistência</a:t>
                </a:r>
              </a:p>
              <a:p>
                <a:pPr lvl="0">
                  <a:defRPr/>
                </a:pPr>
                <a:r>
                  <a:rPr lang="pt-BR" sz="2200" b="1" noProof="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... Topologia (!)</a:t>
                </a:r>
              </a:p>
            </p:txBody>
          </p:sp>
        </mc:Choice>
        <mc:Fallback xmlns="">
          <p:sp>
            <p:nvSpPr>
              <p:cNvPr id="2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3FD5CF55-4D23-969F-FDF5-E64563D73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296" y="990039"/>
                <a:ext cx="2250031" cy="16952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19469C-F406-4872-DBE5-1A1D04048490}"/>
              </a:ext>
            </a:extLst>
          </p:cNvPr>
          <p:cNvSpPr txBox="1"/>
          <p:nvPr/>
        </p:nvSpPr>
        <p:spPr>
          <a:xfrm>
            <a:off x="9015566" y="4980231"/>
            <a:ext cx="2547041" cy="1371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t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3200" spc="-100" dirty="0">
                <a:solidFill>
                  <a:srgbClr val="00B050"/>
                </a:solidFill>
              </a:rPr>
              <a:t>Inversão</a:t>
            </a:r>
          </a:p>
          <a:p>
            <a:r>
              <a:rPr lang="pt-BR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 Loop ” de </a:t>
            </a:r>
          </a:p>
          <a:p>
            <a:r>
              <a:rPr lang="pt-BR" sz="2700" u="sng" spc="-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retroalimentação</a:t>
            </a:r>
            <a:endParaRPr lang="pt-BR" sz="2700" u="sng" spc="-100" dirty="0"/>
          </a:p>
        </p:txBody>
      </p:sp>
      <p:pic>
        <p:nvPicPr>
          <p:cNvPr id="55" name="Picture 2" descr="Loop - Free interface icons">
            <a:extLst>
              <a:ext uri="{FF2B5EF4-FFF2-40B4-BE49-F238E27FC236}">
                <a16:creationId xmlns:a16="http://schemas.microsoft.com/office/drawing/2014/main" id="{0D935917-2307-B4F7-361B-59C66D255B20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9237" y="2765010"/>
            <a:ext cx="1589638" cy="1589638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A4B77BDA-0B52-5B69-A2C1-71512DFDB038}"/>
                  </a:ext>
                </a:extLst>
              </p:cNvPr>
              <p:cNvSpPr txBox="1"/>
              <p:nvPr/>
            </p:nvSpPr>
            <p:spPr>
              <a:xfrm>
                <a:off x="5822323" y="5372427"/>
                <a:ext cx="3055353" cy="980353"/>
              </a:xfrm>
              <a:prstGeom prst="rect">
                <a:avLst/>
              </a:prstGeom>
              <a:solidFill>
                <a:srgbClr val="A7E8FF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</m:t>
                      </m:r>
                      <m:d>
                        <m:dPr>
                          <m:ctrlPr>
                            <a:rPr lang="pt-BR" sz="2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</m:e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d>
                            <m:dPr>
                              <m:ctrlPr>
                                <a:rPr lang="pt-BR" sz="2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</m:d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sz="22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A4B77BDA-0B52-5B69-A2C1-71512DFDB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323" y="5372427"/>
                <a:ext cx="3055353" cy="9803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CDBB5BAF-936E-64C5-28B6-58ECF22CB89B}"/>
              </a:ext>
            </a:extLst>
          </p:cNvPr>
          <p:cNvSpPr txBox="1"/>
          <p:nvPr/>
        </p:nvSpPr>
        <p:spPr>
          <a:xfrm>
            <a:off x="5684432" y="4881201"/>
            <a:ext cx="3435450" cy="5232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8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Cálculo Bayesiano </a:t>
            </a: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624119" y="5770072"/>
            <a:ext cx="1810525" cy="46166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14314"/>
            <a:ext cx="157365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9" name="CaixaDeTexto 141">
            <a:extLst>
              <a:ext uri="{FF2B5EF4-FFF2-40B4-BE49-F238E27FC236}">
                <a16:creationId xmlns:a16="http://schemas.microsoft.com/office/drawing/2014/main" id="{CC9668F8-A1A2-A573-0AF4-EB545F4B34B3}"/>
              </a:ext>
            </a:extLst>
          </p:cNvPr>
          <p:cNvSpPr txBox="1"/>
          <p:nvPr/>
        </p:nvSpPr>
        <p:spPr>
          <a:xfrm>
            <a:off x="10826626" y="1075049"/>
            <a:ext cx="682126" cy="36933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BC</a:t>
            </a:r>
            <a:endParaRPr lang="LID4096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8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E95A734E-86CD-8B21-9037-0CDCE2649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b="-8621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5669568" y="6734889"/>
            <a:ext cx="6522432" cy="123111"/>
          </a:xfrm>
          <a:prstGeom prst="rect">
            <a:avLst/>
          </a:prstGeom>
          <a:noFill/>
        </p:spPr>
        <p:txBody>
          <a:bodyPr wrap="square" lIns="0" tIns="0" rIns="0" bIns="0" anchor="b" anchorCtr="0">
            <a:no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999928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570864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472428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567026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44659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885403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2197694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565492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BB43C45-BCE6-0075-4D8D-D98305C57F83}"/>
              </a:ext>
            </a:extLst>
          </p:cNvPr>
          <p:cNvGrpSpPr/>
          <p:nvPr/>
        </p:nvGrpSpPr>
        <p:grpSpPr>
          <a:xfrm>
            <a:off x="481115" y="4743855"/>
            <a:ext cx="2951033" cy="1858606"/>
            <a:chOff x="481115" y="4743855"/>
            <a:chExt cx="2951033" cy="1858606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481115" y="4743855"/>
              <a:ext cx="2951033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18288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Aft>
                  <a:spcPts val="600"/>
                </a:spcAft>
              </a:pPr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pPr>
                <a:spcAft>
                  <a:spcPts val="600"/>
                </a:spcAft>
              </a:pPr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400" dirty="0">
                  <a:solidFill>
                    <a:srgbClr val="0000FF"/>
                  </a:solidFill>
                  <a:latin typeface="Calibri (Body)"/>
                </a:rPr>
                <a:t>MODFLOW</a:t>
              </a:r>
            </a:p>
            <a:p>
              <a:pPr>
                <a:spcAft>
                  <a:spcPts val="600"/>
                </a:spcAft>
              </a:pPr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OpenFOAM, </a:t>
              </a:r>
              <a:r>
                <a:rPr lang="pt-BR" sz="2400" b="1" dirty="0"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latin typeface="Calibri (Body)"/>
                </a:rPr>
                <a:t>Py</a:t>
              </a:r>
            </a:p>
          </p:txBody>
        </p:sp>
        <p:sp>
          <p:nvSpPr>
            <p:cNvPr id="25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2496947" y="5553969"/>
              <a:ext cx="822960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903985"/>
            <a:ext cx="32894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 | </a:t>
            </a:r>
            <a:r>
              <a:rPr lang="pt-BR" sz="1800" b="1" noProof="0" dirty="0" err="1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Finite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– stress e deformação</a:t>
            </a:r>
            <a:endParaRPr lang="pt-BR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</a:t>
            </a:r>
            <a:r>
              <a:rPr lang="pt-BR" sz="1800" b="1" noProof="0" dirty="0" err="1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Discrete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pPr algn="ctr"/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157518" y="912694"/>
            <a:ext cx="4513109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</a:t>
            </a:r>
            <a:r>
              <a:rPr lang="pt-BR" sz="1800" b="1" noProof="0" dirty="0" err="1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Finite-Discrete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Combinação: </a:t>
            </a:r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</a:t>
            </a:r>
          </a:p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+ interação de blocos = fraturas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779140" y="2022596"/>
            <a:ext cx="9802881" cy="2596351"/>
            <a:chOff x="779140" y="1831005"/>
            <a:chExt cx="9802881" cy="297024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246126" y="1831005"/>
              <a:ext cx="2335895" cy="296069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FBDAC9-8C53-45F9-5A4A-32D1EEBC4BCA}"/>
              </a:ext>
            </a:extLst>
          </p:cNvPr>
          <p:cNvSpPr/>
          <p:nvPr/>
        </p:nvSpPr>
        <p:spPr>
          <a:xfrm>
            <a:off x="7276605" y="3595269"/>
            <a:ext cx="4777212" cy="279066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ADCAF4-653D-AAB8-F5D7-F15732EEDAA3}"/>
              </a:ext>
            </a:extLst>
          </p:cNvPr>
          <p:cNvSpPr/>
          <p:nvPr/>
        </p:nvSpPr>
        <p:spPr>
          <a:xfrm>
            <a:off x="311742" y="4740422"/>
            <a:ext cx="6666641" cy="1640086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F4B0D7-6BB9-1323-2A86-D6C9CA2D9D06}"/>
              </a:ext>
            </a:extLst>
          </p:cNvPr>
          <p:cNvGrpSpPr/>
          <p:nvPr/>
        </p:nvGrpSpPr>
        <p:grpSpPr>
          <a:xfrm>
            <a:off x="539159" y="4749453"/>
            <a:ext cx="6832398" cy="1356002"/>
            <a:chOff x="4217352" y="3944513"/>
            <a:chExt cx="6832398" cy="135600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030490-DB93-F4DC-BB3A-9280CD14D85B}"/>
                </a:ext>
              </a:extLst>
            </p:cNvPr>
            <p:cNvSpPr txBox="1"/>
            <p:nvPr/>
          </p:nvSpPr>
          <p:spPr>
            <a:xfrm>
              <a:off x="6450589" y="3977076"/>
              <a:ext cx="459916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dirty="0"/>
                <a:t>01 - </a:t>
              </a:r>
              <a:r>
                <a:rPr lang="LID4096" b="1" dirty="0"/>
                <a:t>finite element analysis </a:t>
              </a:r>
              <a:r>
                <a:rPr lang="LID4096" sz="2000" b="1" u="sng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(FEA)</a:t>
              </a:r>
              <a:endParaRPr lang="pt-BR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r>
                <a:rPr lang="pt-BR" b="1" dirty="0"/>
                <a:t>02 - </a:t>
              </a:r>
              <a:r>
                <a:rPr lang="LID4096" b="1" dirty="0"/>
                <a:t>thermal–mechanical simulations</a:t>
              </a:r>
              <a:endParaRPr lang="pt-BR" b="1" dirty="0"/>
            </a:p>
            <a:p>
              <a:endParaRPr lang="pt-BR" sz="2400" b="1" dirty="0"/>
            </a:p>
            <a:p>
              <a:r>
                <a:rPr lang="pt-BR" b="1" dirty="0"/>
                <a:t>03 - </a:t>
              </a:r>
              <a:r>
                <a:rPr lang="LID4096" b="1" dirty="0"/>
                <a:t>phase-field modeling techniques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D4E9B6-2A00-FB75-CE18-635A77908225}"/>
                </a:ext>
              </a:extLst>
            </p:cNvPr>
            <p:cNvSpPr txBox="1"/>
            <p:nvPr/>
          </p:nvSpPr>
          <p:spPr>
            <a:xfrm>
              <a:off x="4217352" y="4622839"/>
              <a:ext cx="5623516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700" b="1" dirty="0">
                  <a:solidFill>
                    <a:srgbClr val="0000FF"/>
                  </a:solidFill>
                </a:rPr>
                <a:t>heat flow, temperature distribution,</a:t>
              </a:r>
              <a:r>
                <a:rPr lang="pt-BR" sz="1700" b="1" dirty="0">
                  <a:solidFill>
                    <a:srgbClr val="0000FF"/>
                  </a:solidFill>
                </a:rPr>
                <a:t> </a:t>
              </a:r>
              <a:r>
                <a:rPr lang="LID4096" sz="1700" b="1" dirty="0">
                  <a:solidFill>
                    <a:srgbClr val="0000FF"/>
                  </a:solidFill>
                </a:rPr>
                <a:t>and stress evolution during deposition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02E9AB0-1B66-2B81-8AA7-7E094D7F3C7E}"/>
                </a:ext>
              </a:extLst>
            </p:cNvPr>
            <p:cNvSpPr txBox="1"/>
            <p:nvPr/>
          </p:nvSpPr>
          <p:spPr>
            <a:xfrm>
              <a:off x="9745021" y="3944513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Modelling and simulation of metal additive manufacturing processes </a:t>
            </a:r>
            <a:r>
              <a:rPr lang="en-GB" sz="18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dirty="0"/>
              <a:t>: </a:t>
            </a:r>
            <a:r>
              <a:rPr lang="en-US" sz="1600" dirty="0"/>
              <a:t>A review</a:t>
            </a:r>
            <a:endParaRPr lang="LID4096" sz="16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3B4C5E1-8721-4AAF-60A1-3B843C65F5A1}"/>
              </a:ext>
            </a:extLst>
          </p:cNvPr>
          <p:cNvGrpSpPr/>
          <p:nvPr/>
        </p:nvGrpSpPr>
        <p:grpSpPr>
          <a:xfrm>
            <a:off x="7304719" y="3736235"/>
            <a:ext cx="4613042" cy="2491717"/>
            <a:chOff x="7233729" y="4121816"/>
            <a:chExt cx="4613042" cy="2491717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735A3EF-D08A-12CC-3C13-206EE46C92C4}"/>
                </a:ext>
              </a:extLst>
            </p:cNvPr>
            <p:cNvSpPr txBox="1"/>
            <p:nvPr/>
          </p:nvSpPr>
          <p:spPr>
            <a:xfrm>
              <a:off x="7459308" y="4121816"/>
              <a:ext cx="253141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3200" b="1" u="sng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ML</a:t>
              </a:r>
              <a:r>
                <a:rPr lang="LID4096" sz="2800" b="1" u="sng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algorithms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13B0C6-69EB-AA10-8CF9-B16BCBEFDD77}"/>
                </a:ext>
              </a:extLst>
            </p:cNvPr>
            <p:cNvSpPr txBox="1"/>
            <p:nvPr/>
          </p:nvSpPr>
          <p:spPr>
            <a:xfrm>
              <a:off x="7834760" y="4690316"/>
              <a:ext cx="397450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2000" b="1" dirty="0"/>
                <a:t>physics-based </a:t>
              </a:r>
              <a:r>
                <a:rPr lang="pt-BR" sz="2000" b="1" dirty="0">
                  <a:solidFill>
                    <a:srgbClr val="FFFF00"/>
                  </a:solidFill>
                  <a:highlight>
                    <a:srgbClr val="FFFF00"/>
                  </a:highlight>
                </a:rPr>
                <a:t>. </a:t>
              </a:r>
              <a:r>
                <a:rPr lang="LID4096" sz="2000" b="1" dirty="0">
                  <a:highlight>
                    <a:srgbClr val="FFFF00"/>
                  </a:highlight>
                </a:rPr>
                <a:t>surrogate </a:t>
              </a:r>
              <a:r>
                <a:rPr lang="pt-BR" sz="2000" b="1" dirty="0">
                  <a:highlight>
                    <a:srgbClr val="FFFF00"/>
                  </a:highlight>
                </a:rPr>
                <a:t>models</a:t>
              </a:r>
              <a:r>
                <a:rPr lang="pt-BR" sz="2000" b="1" dirty="0">
                  <a:solidFill>
                    <a:srgbClr val="FFFF00"/>
                  </a:solidFill>
                  <a:highlight>
                    <a:srgbClr val="FFFF00"/>
                  </a:highlight>
                </a:rPr>
                <a:t>.</a:t>
              </a:r>
              <a:endParaRPr lang="LID4096" sz="2000" b="1" dirty="0">
                <a:highlight>
                  <a:srgbClr val="FFFF00"/>
                </a:highlight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C58329-7D7D-9D56-4419-07ABFDC624CF}"/>
                </a:ext>
              </a:extLst>
            </p:cNvPr>
            <p:cNvSpPr txBox="1"/>
            <p:nvPr/>
          </p:nvSpPr>
          <p:spPr>
            <a:xfrm>
              <a:off x="7233729" y="5150082"/>
              <a:ext cx="4613042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000" b="1" i="0" u="none" strike="noStrike" baseline="0" dirty="0">
                  <a:solidFill>
                    <a:srgbClr val="0000FF"/>
                  </a:solidFill>
                  <a:latin typeface="AdvOT46dcae81"/>
                </a:rPr>
                <a:t>simulation-informed closed-loop control feedback </a:t>
              </a:r>
              <a:r>
                <a:rPr lang="en-GB" sz="2000" b="1" i="0" u="none" strike="noStrike" baseline="0" dirty="0">
                  <a:solidFill>
                    <a:srgbClr val="0000FF"/>
                  </a:solidFill>
                  <a:latin typeface="AdvOT46dcae81"/>
                </a:rPr>
                <a:t>real-time monitoring systems.</a:t>
              </a:r>
              <a:endParaRPr lang="LID4096" sz="2000" b="1" dirty="0">
                <a:solidFill>
                  <a:srgbClr val="0000FF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F9DBC01-6522-104F-1BF5-C21E79F8FC87}"/>
                </a:ext>
              </a:extLst>
            </p:cNvPr>
            <p:cNvSpPr txBox="1"/>
            <p:nvPr/>
          </p:nvSpPr>
          <p:spPr>
            <a:xfrm>
              <a:off x="9432956" y="6207307"/>
              <a:ext cx="219275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dirty="0">
                  <a:highlight>
                    <a:srgbClr val="FFFF00"/>
                  </a:highlight>
                </a:rPr>
                <a:t> | Probabilistic ?</a:t>
              </a:r>
              <a:r>
                <a:rPr lang="pt-BR" sz="2000" b="1" dirty="0">
                  <a:solidFill>
                    <a:srgbClr val="FFFF00"/>
                  </a:solidFill>
                  <a:highlight>
                    <a:srgbClr val="FFFF00"/>
                  </a:highlight>
                </a:rPr>
                <a:t> .</a:t>
              </a:r>
              <a:endParaRPr lang="LID4096" sz="2000" b="1" dirty="0">
                <a:highlight>
                  <a:srgbClr val="FFFF00"/>
                </a:highlight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C45E0D0-F3E7-5164-4D15-019B805FE65B}"/>
                </a:ext>
              </a:extLst>
            </p:cNvPr>
            <p:cNvSpPr txBox="1"/>
            <p:nvPr/>
          </p:nvSpPr>
          <p:spPr>
            <a:xfrm>
              <a:off x="7459309" y="5905647"/>
              <a:ext cx="2054491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dirty="0">
                  <a:highlight>
                    <a:srgbClr val="FFFF00"/>
                  </a:highlight>
                </a:rPr>
                <a:t> </a:t>
              </a:r>
              <a:r>
                <a:rPr lang="LID4096" sz="2000" b="1" dirty="0">
                  <a:highlight>
                    <a:srgbClr val="FFFF00"/>
                  </a:highlight>
                </a:rPr>
                <a:t>meshfree</a:t>
              </a:r>
              <a:r>
                <a:rPr lang="pt-BR" sz="2000" b="1" dirty="0">
                  <a:solidFill>
                    <a:srgbClr val="FFFF00"/>
                  </a:solidFill>
                  <a:highlight>
                    <a:srgbClr val="FFFF00"/>
                  </a:highlight>
                </a:rPr>
                <a:t>.</a:t>
              </a:r>
              <a:r>
                <a:rPr lang="pt-BR" sz="2000" b="1" dirty="0">
                  <a:highlight>
                    <a:srgbClr val="FFFF00"/>
                  </a:highlight>
                </a:rPr>
                <a:t> </a:t>
              </a:r>
              <a:endParaRPr lang="LID4096" sz="2000" b="1" dirty="0">
                <a:highlight>
                  <a:srgbClr val="FFFF00"/>
                </a:highlight>
              </a:endParaRPr>
            </a:p>
            <a:p>
              <a:r>
                <a:rPr lang="pt-BR" sz="2000" b="1" dirty="0">
                  <a:highlight>
                    <a:srgbClr val="FFFF00"/>
                  </a:highlight>
                </a:rPr>
                <a:t> </a:t>
              </a:r>
              <a:r>
                <a:rPr lang="LID4096" sz="2000" b="1" dirty="0">
                  <a:highlight>
                    <a:srgbClr val="FFFF00"/>
                  </a:highlight>
                </a:rPr>
                <a:t>particle-based</a:t>
              </a:r>
              <a:r>
                <a:rPr lang="pt-BR" sz="2000" b="1" dirty="0">
                  <a:solidFill>
                    <a:srgbClr val="FFFF00"/>
                  </a:solidFill>
                  <a:highlight>
                    <a:srgbClr val="FFFF00"/>
                  </a:highlight>
                </a:rPr>
                <a:t> .</a:t>
              </a:r>
              <a:endParaRPr lang="LID4096" sz="2000" b="1" dirty="0">
                <a:highlight>
                  <a:srgbClr val="FFFF0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928822"/>
            <a:ext cx="11762308" cy="3676734"/>
            <a:chOff x="291509" y="936639"/>
            <a:chExt cx="11762308" cy="367673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063" r="43519"/>
            <a:stretch>
              <a:fillRect/>
            </a:stretch>
          </p:blipFill>
          <p:spPr>
            <a:xfrm>
              <a:off x="291509" y="936639"/>
              <a:ext cx="6730766" cy="367673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14188" b="28137"/>
            <a:stretch>
              <a:fillRect/>
            </a:stretch>
          </p:blipFill>
          <p:spPr>
            <a:xfrm>
              <a:off x="7276605" y="949559"/>
              <a:ext cx="4777212" cy="249828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78397" y="353769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811C4D-E9AC-FB91-F169-B9F9EDA76D4C}"/>
                </a:ext>
              </a:extLst>
            </p:cNvPr>
            <p:cNvSpPr txBox="1"/>
            <p:nvPr/>
          </p:nvSpPr>
          <p:spPr>
            <a:xfrm>
              <a:off x="3427248" y="2329320"/>
              <a:ext cx="837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6">
                      <a:lumMod val="75000"/>
                    </a:schemeClr>
                  </a:solidFill>
                  <a:latin typeface="Horley Old Style MT"/>
                </a:rPr>
                <a:t>MPM</a:t>
              </a:r>
              <a:endParaRPr lang="LID4096" b="1" dirty="0">
                <a:solidFill>
                  <a:schemeClr val="accent6">
                    <a:lumMod val="75000"/>
                  </a:schemeClr>
                </a:solidFill>
                <a:latin typeface="Horley Old Style MT"/>
              </a:endParaRPr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FB12A99E-F642-C3C4-09FF-AB3F0E3AD670}"/>
                </a:ext>
              </a:extLst>
            </p:cNvPr>
            <p:cNvSpPr/>
            <p:nvPr/>
          </p:nvSpPr>
          <p:spPr>
            <a:xfrm rot="5400000">
              <a:off x="304198" y="2112000"/>
              <a:ext cx="365760" cy="365760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CC981C6F-7E8F-06C4-71F7-917E40965B82}"/>
                </a:ext>
              </a:extLst>
            </p:cNvPr>
            <p:cNvSpPr/>
            <p:nvPr/>
          </p:nvSpPr>
          <p:spPr>
            <a:xfrm rot="5400000">
              <a:off x="311742" y="3977865"/>
              <a:ext cx="365760" cy="365760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5454E6CE-7475-CCA3-2291-F75D6B45E648}"/>
                </a:ext>
              </a:extLst>
            </p:cNvPr>
            <p:cNvSpPr/>
            <p:nvPr/>
          </p:nvSpPr>
          <p:spPr>
            <a:xfrm rot="5400000">
              <a:off x="7429469" y="2198045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29F3C6C-7D9D-04BE-8C7E-1DF3597777DF}"/>
                </a:ext>
              </a:extLst>
            </p:cNvPr>
            <p:cNvSpPr/>
            <p:nvPr/>
          </p:nvSpPr>
          <p:spPr>
            <a:xfrm rot="5400000">
              <a:off x="4691018" y="3311564"/>
              <a:ext cx="369331" cy="372653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F07E096-B2F5-EDCE-5B45-0B2FD2E1C2C8}"/>
                </a:ext>
              </a:extLst>
            </p:cNvPr>
            <p:cNvSpPr/>
            <p:nvPr/>
          </p:nvSpPr>
          <p:spPr>
            <a:xfrm rot="5400000">
              <a:off x="2459255" y="2119321"/>
              <a:ext cx="365760" cy="365760"/>
            </a:xfrm>
            <a:prstGeom prst="triangle">
              <a:avLst>
                <a:gd name="adj" fmla="val 48501"/>
              </a:avLst>
            </a:prstGeom>
            <a:solidFill>
              <a:srgbClr val="00B05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6" y="1375602"/>
              <a:ext cx="272513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 rot="5400000">
            <a:off x="4695803" y="2095368"/>
            <a:ext cx="369331" cy="372653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795131" y="277561"/>
            <a:ext cx="6047667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 (FDM, FEM, FEA)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4524375" y="3167451"/>
            <a:ext cx="743223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525350" y="132782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73FC9EB-D831-720E-53EC-3AED9D64BA4C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182881" y="156754"/>
            <a:ext cx="11625224" cy="6441774"/>
            <a:chOff x="598919" y="495112"/>
            <a:chExt cx="10859799" cy="61047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98919" y="495112"/>
              <a:ext cx="10859799" cy="6104783"/>
              <a:chOff x="598919" y="495112"/>
              <a:chExt cx="10859799" cy="610478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2EBD62A-9AA4-2364-9DB5-A2E80B72F2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3135"/>
              <a:stretch>
                <a:fillRect/>
              </a:stretch>
            </p:blipFill>
            <p:spPr>
              <a:xfrm>
                <a:off x="607054" y="495112"/>
                <a:ext cx="10851664" cy="522667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57222-A3DB-85F2-F22A-343ED12BEC06}"/>
                  </a:ext>
                </a:extLst>
              </p:cNvPr>
              <p:cNvSpPr txBox="1"/>
              <p:nvPr/>
            </p:nvSpPr>
            <p:spPr>
              <a:xfrm>
                <a:off x="6326109" y="2786174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Laser heat input … latent input 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598919" y="5832550"/>
                <a:ext cx="10859799" cy="767345"/>
              </a:xfrm>
              <a:prstGeom prst="rect">
                <a:avLst/>
              </a:prstGeom>
              <a:solidFill>
                <a:srgbClr val="E5FFF6"/>
              </a:solidFill>
            </p:spPr>
            <p:txBody>
              <a:bodyPr wrap="square" anchor="ctr" anchorCtr="0">
                <a:noAutofit/>
              </a:bodyPr>
              <a:lstStyle/>
              <a:p>
                <a:pPr algn="r"/>
                <a:r>
                  <a:rPr lang="en-GB" b="0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“This gives you the basis of how the simulation solver is modelled and </a:t>
                </a:r>
                <a:r>
                  <a:rPr lang="en-GB" b="0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provided” </a:t>
                </a:r>
                <a:endParaRPr lang="LID4096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solidFill>
                  <a:srgbClr val="00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51581D6-050B-AB35-E91D-BE6723F29376}"/>
                  </a:ext>
                </a:extLst>
              </p:cNvPr>
              <p:cNvCxnSpPr/>
              <p:nvPr/>
            </p:nvCxnSpPr>
            <p:spPr>
              <a:xfrm>
                <a:off x="2687370" y="342900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3735AB-302F-C9AE-3FF8-46C47F14FFAA}"/>
                  </a:ext>
                </a:extLst>
              </p:cNvPr>
              <p:cNvCxnSpPr/>
              <p:nvPr/>
            </p:nvCxnSpPr>
            <p:spPr>
              <a:xfrm>
                <a:off x="956649" y="4441479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row: Down 12">
                <a:extLst>
                  <a:ext uri="{FF2B5EF4-FFF2-40B4-BE49-F238E27FC236}">
                    <a16:creationId xmlns:a16="http://schemas.microsoft.com/office/drawing/2014/main" id="{1A9F3B76-7F9F-DA46-531F-9DF3B645F5B1}"/>
                  </a:ext>
                </a:extLst>
              </p:cNvPr>
              <p:cNvSpPr/>
              <p:nvPr/>
            </p:nvSpPr>
            <p:spPr>
              <a:xfrm>
                <a:off x="6096000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Arrow: Down 13">
                <a:extLst>
                  <a:ext uri="{FF2B5EF4-FFF2-40B4-BE49-F238E27FC236}">
                    <a16:creationId xmlns:a16="http://schemas.microsoft.com/office/drawing/2014/main" id="{C36CF552-73B3-9AF1-3656-6D52BC8B12E6}"/>
                  </a:ext>
                </a:extLst>
              </p:cNvPr>
              <p:cNvSpPr/>
              <p:nvPr/>
            </p:nvSpPr>
            <p:spPr>
              <a:xfrm>
                <a:off x="7119796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9FB577-F992-4E60-14EB-5332DB8C4422}"/>
                  </a:ext>
                </a:extLst>
              </p:cNvPr>
              <p:cNvSpPr txBox="1"/>
              <p:nvPr/>
            </p:nvSpPr>
            <p:spPr>
              <a:xfrm>
                <a:off x="956649" y="2583479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Volum</a:t>
                </a:r>
                <a:r>
                  <a:rPr lang="en-GB" sz="20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e of fluid method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1E3B3D-BF74-FBBD-5231-49BE03323EE8}"/>
                  </a:ext>
                </a:extLst>
              </p:cNvPr>
              <p:cNvSpPr txBox="1"/>
              <p:nvPr/>
            </p:nvSpPr>
            <p:spPr>
              <a:xfrm>
                <a:off x="9406550" y="3175122"/>
                <a:ext cx="1721328" cy="554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Surface tension </a:t>
                </a:r>
              </a:p>
              <a:p>
                <a:pPr algn="ct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Marangoni force</a:t>
                </a:r>
                <a:endParaRPr lang="LID4096" sz="16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8265814" y="951544"/>
              <a:ext cx="3072746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1909" y="6557446"/>
            <a:ext cx="23048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ctr"/>
            <a:r>
              <a:rPr lang="LID4096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520749" y="2156342"/>
            <a:ext cx="56649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b="1" dirty="0"/>
              <a:t>insight into the solute transport process</a:t>
            </a:r>
            <a:r>
              <a:rPr lang="pt-BR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high-fidelity physics-based numerical modelling;</a:t>
            </a:r>
            <a:endParaRPr lang="LID4096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b="1" dirty="0"/>
              <a:t>effect of melt convection and solute partition.</a:t>
            </a:r>
            <a:endParaRPr lang="LID4096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771914" y="5096498"/>
            <a:ext cx="31546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Temperature,</a:t>
            </a:r>
            <a:r>
              <a:rPr lang="pt-BR" dirty="0">
                <a:solidFill>
                  <a:srgbClr val="0000FF"/>
                </a:solidFill>
              </a:rPr>
              <a:t> </a:t>
            </a:r>
            <a:r>
              <a:rPr lang="LID4096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dirty="0">
              <a:solidFill>
                <a:srgbClr val="0000FF"/>
              </a:solidFill>
            </a:endParaRPr>
          </a:p>
          <a:p>
            <a:pPr algn="ctr"/>
            <a:r>
              <a:rPr lang="pt-BR" dirty="0">
                <a:solidFill>
                  <a:srgbClr val="0000FF"/>
                </a:solidFill>
              </a:rPr>
              <a:t>... d</a:t>
            </a:r>
            <a:r>
              <a:rPr lang="LID4096" dirty="0">
                <a:solidFill>
                  <a:srgbClr val="0000FF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132782"/>
            <a:ext cx="6538000" cy="1885316"/>
            <a:chOff x="326574" y="-285080"/>
            <a:chExt cx="6538000" cy="188531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4622116" y="-285080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170775"/>
            <a:ext cx="15022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600" dirty="0"/>
              <a:t>210 ×</a:t>
            </a:r>
            <a:r>
              <a:rPr lang="pt-BR" sz="1600" dirty="0"/>
              <a:t> </a:t>
            </a:r>
            <a:r>
              <a:rPr lang="LID4096" sz="1600" dirty="0"/>
              <a:t>400 µm computational domain</a:t>
            </a:r>
            <a:r>
              <a:rPr lang="pt-BR" sz="1600" dirty="0"/>
              <a:t> (2D)</a:t>
            </a:r>
          </a:p>
          <a:p>
            <a:pPr algn="r"/>
            <a:r>
              <a:rPr lang="en-GB" sz="1600" dirty="0">
                <a:latin typeface="AdvOTdd63dae3"/>
              </a:rPr>
              <a:t>1,341,561 </a:t>
            </a:r>
          </a:p>
          <a:p>
            <a:pPr algn="r"/>
            <a:r>
              <a:rPr lang="en-GB" sz="1600" dirty="0">
                <a:latin typeface="AdvOTdd63dae3"/>
              </a:rPr>
              <a:t>grid 0.25 </a:t>
            </a:r>
            <a:r>
              <a:rPr lang="en-GB" sz="1600" dirty="0" err="1">
                <a:latin typeface="AdvOTdd63dae3+03"/>
              </a:rPr>
              <a:t>μ</a:t>
            </a:r>
            <a:r>
              <a:rPr lang="en-GB" sz="1600" dirty="0" err="1">
                <a:latin typeface="AdvOTdd63dae3"/>
              </a:rPr>
              <a:t>m</a:t>
            </a:r>
            <a:endParaRPr lang="LID4096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651479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705600" y="2615250"/>
            <a:ext cx="4974772" cy="2322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687829"/>
            <a:ext cx="1621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4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606981" y="3018515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678684" y="3210875"/>
            <a:ext cx="4877353" cy="2942152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482503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482503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335417"/>
            <a:ext cx="61177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LID4096" dirty="0"/>
              <a:t>An analytical solution for temperature distribution in fillet arc welding based on an adaptive function 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90" y="598558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462993" y="59600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i="0" u="none" strike="noStrike" baseline="0" dirty="0">
                <a:solidFill>
                  <a:srgbClr val="000000"/>
                </a:solidFill>
                <a:latin typeface="Charis SIL"/>
              </a:rPr>
              <a:t>Heat Affected Zone (HAZ)</a:t>
            </a:r>
            <a:endParaRPr lang="LID4096" sz="5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99D9C9-9B3A-C2E2-304D-58E8755D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27" t="14307" r="35724" b="19738"/>
          <a:stretch>
            <a:fillRect/>
          </a:stretch>
        </p:blipFill>
        <p:spPr>
          <a:xfrm>
            <a:off x="567497" y="978344"/>
            <a:ext cx="1207572" cy="21684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7F73E3-2BEF-B067-FE2A-2954DDD86B8D}"/>
              </a:ext>
            </a:extLst>
          </p:cNvPr>
          <p:cNvSpPr txBox="1"/>
          <p:nvPr/>
        </p:nvSpPr>
        <p:spPr>
          <a:xfrm>
            <a:off x="1847655" y="978344"/>
            <a:ext cx="18636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0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r>
              <a:rPr lang="LID4096" dirty="0"/>
              <a:t>phase change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847655" y="1946449"/>
            <a:ext cx="4389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4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4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879573" y="1378949"/>
            <a:ext cx="33992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multi-timestep</a:t>
            </a:r>
            <a:r>
              <a:rPr lang="pt-BR" sz="2400" b="1" dirty="0">
                <a:solidFill>
                  <a:srgbClr val="0000FF"/>
                </a:solidFill>
              </a:rPr>
              <a:t> </a:t>
            </a:r>
            <a:r>
              <a:rPr lang="LID4096" sz="2400" b="1" dirty="0">
                <a:solidFill>
                  <a:srgbClr val="0000FF"/>
                </a:solidFill>
              </a:rPr>
              <a:t>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B9153-75B0-027B-C081-E78A1381EC58}"/>
              </a:ext>
            </a:extLst>
          </p:cNvPr>
          <p:cNvSpPr txBox="1"/>
          <p:nvPr/>
        </p:nvSpPr>
        <p:spPr>
          <a:xfrm>
            <a:off x="6357260" y="564188"/>
            <a:ext cx="16894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pPr algn="ctr"/>
            <a:r>
              <a:rPr lang="LID4096" dirty="0"/>
              <a:t>latent heat treatment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8046720" y="1940841"/>
            <a:ext cx="2995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haris SIL"/>
              </a:rPr>
              <a:t>born-dead element technique</a:t>
            </a:r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5A2E344-759F-7698-5C8C-5B37EF03C37A}"/>
              </a:ext>
            </a:extLst>
          </p:cNvPr>
          <p:cNvGrpSpPr/>
          <p:nvPr/>
        </p:nvGrpSpPr>
        <p:grpSpPr>
          <a:xfrm>
            <a:off x="216372" y="3511424"/>
            <a:ext cx="8805708" cy="3207555"/>
            <a:chOff x="216372" y="3511424"/>
            <a:chExt cx="8805708" cy="320755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F72EBC-F7DC-34D1-9A2F-C0455CBFC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470" y="3625497"/>
              <a:ext cx="7977050" cy="164918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2D4601-15DD-F79C-B8C9-2B4871CC5FD0}"/>
                </a:ext>
              </a:extLst>
            </p:cNvPr>
            <p:cNvSpPr txBox="1"/>
            <p:nvPr/>
          </p:nvSpPr>
          <p:spPr>
            <a:xfrm>
              <a:off x="375906" y="4066856"/>
              <a:ext cx="2454380" cy="150810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GB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𝜌,𝑐</a:t>
              </a:r>
              <a:r>
                <a:rPr lang="en-GB" sz="900" b="1" i="1" u="none" strike="noStrike" baseline="0" dirty="0">
                  <a:solidFill>
                    <a:srgbClr val="0000FF"/>
                  </a:solidFill>
                  <a:latin typeface="STIXMath"/>
                </a:rPr>
                <a:t>𝑝</a:t>
              </a:r>
              <a:r>
                <a:rPr lang="en-GB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,𝐿,𝑓</a:t>
              </a:r>
              <a:r>
                <a:rPr lang="en-GB" sz="900" b="1" i="1" u="none" strike="noStrike" baseline="0" dirty="0">
                  <a:solidFill>
                    <a:srgbClr val="0000FF"/>
                  </a:solidFill>
                  <a:latin typeface="STIXMath"/>
                </a:rPr>
                <a:t>𝑙 </a:t>
              </a:r>
              <a:r>
                <a:rPr lang="en-GB" sz="2000" b="1" i="1" dirty="0">
                  <a:solidFill>
                    <a:srgbClr val="0000FF"/>
                  </a:solidFill>
                  <a:latin typeface="STIXMath"/>
                </a:rPr>
                <a:t>,𝑟 </a:t>
              </a:r>
              <a:r>
                <a:rPr lang="en-GB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density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specific and latent heats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liquid fraction and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power density </a:t>
              </a:r>
              <a:endParaRPr lang="LID4096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4614344-6462-498D-3537-B52335A1FEBA}"/>
                </a:ext>
              </a:extLst>
            </p:cNvPr>
            <p:cNvSpPr txBox="1"/>
            <p:nvPr/>
          </p:nvSpPr>
          <p:spPr>
            <a:xfrm>
              <a:off x="375906" y="5487873"/>
              <a:ext cx="3805646" cy="123110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2000" b="1" i="1" u="none" strike="noStrike" baseline="0" dirty="0" err="1">
                  <a:solidFill>
                    <a:srgbClr val="0000FF"/>
                  </a:solidFill>
                  <a:latin typeface="STIXMath"/>
                </a:rPr>
                <a:t>ℎ</a:t>
              </a:r>
              <a:r>
                <a:rPr lang="en-US" sz="900" b="1" i="0" u="none" strike="noStrike" baseline="0" dirty="0" err="1">
                  <a:solidFill>
                    <a:srgbClr val="0000FF"/>
                  </a:solidFill>
                  <a:latin typeface="Charis SIL"/>
                </a:rPr>
                <a:t>conv</a:t>
              </a:r>
              <a:r>
                <a:rPr lang="en-US" sz="2000" b="1" i="0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𝜀</a:t>
              </a:r>
              <a:r>
                <a:rPr lang="en-US" sz="2000" b="1" i="0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𝜎</a:t>
              </a:r>
              <a:r>
                <a:rPr lang="en-US" sz="2000" b="1" i="0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900" b="1" i="0" u="none" strike="noStrike" baseline="0" dirty="0">
                  <a:solidFill>
                    <a:srgbClr val="0000FF"/>
                  </a:solidFill>
                  <a:latin typeface="Charis SIL"/>
                </a:rPr>
                <a:t>env</a:t>
              </a:r>
              <a:r>
                <a:rPr lang="en-US" sz="2000" b="1" i="0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000" b="1" i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900" b="1" i="0" u="none" strike="noStrike" baseline="0" dirty="0">
                  <a:solidFill>
                    <a:srgbClr val="0000FF"/>
                  </a:solidFill>
                  <a:latin typeface="STIXMath"/>
                </a:rPr>
                <a:t>0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convection heat transfer coefficient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emissivity, Stefan–Boltzmann constant 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environment &amp; initial temperatures </a:t>
              </a:r>
              <a:endParaRPr lang="LID4096" dirty="0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36FED32-B15F-C3A2-EB56-288A7F0E87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372" y="3511424"/>
              <a:ext cx="8805708" cy="0"/>
            </a:xfrm>
            <a:prstGeom prst="line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E651B0-B3B9-A010-8E1E-4114FB97C730}"/>
                </a:ext>
              </a:extLst>
            </p:cNvPr>
            <p:cNvSpPr txBox="1"/>
            <p:nvPr/>
          </p:nvSpPr>
          <p:spPr>
            <a:xfrm>
              <a:off x="2830286" y="5205629"/>
              <a:ext cx="135126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383AFA05-AE80-CBF4-788E-F2994CD23B67}"/>
              </a:ext>
            </a:extLst>
          </p:cNvPr>
          <p:cNvSpPr txBox="1"/>
          <p:nvPr/>
        </p:nvSpPr>
        <p:spPr>
          <a:xfrm>
            <a:off x="79760" y="5709780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sng" strike="noStrike" baseline="0" dirty="0">
                <a:latin typeface="MyriadPro-SemiboldSemiCn"/>
              </a:rPr>
              <a:t>- A multi‑criteria </a:t>
            </a:r>
            <a:r>
              <a:rPr lang="en-US" sz="1600" b="1" i="1" u="sng" strike="noStrike" baseline="0" dirty="0">
                <a:latin typeface="MyriadPro-SemiboldSemiCnIt"/>
              </a:rPr>
              <a:t>h</a:t>
            </a:r>
            <a:r>
              <a:rPr lang="en-US" sz="1600" b="1" i="0" u="sng" strike="noStrike" baseline="0" dirty="0">
                <a:latin typeface="MyriadPro-SemiboldSemiCn"/>
              </a:rPr>
              <a:t>‑adaptive finite‑element framework</a:t>
            </a:r>
            <a:r>
              <a:rPr lang="en-US" sz="1200" b="0" i="0" u="none" strike="noStrike" baseline="0" dirty="0">
                <a:latin typeface="MyriadPro-SemiboldSemiCn"/>
              </a:rPr>
              <a:t> for industrial </a:t>
            </a:r>
            <a:r>
              <a:rPr lang="en-GB" sz="1200" b="0" i="0" u="none" strike="noStrike" baseline="0" dirty="0">
                <a:latin typeface="MyriadPro-SemiboldSemiCn"/>
              </a:rPr>
              <a:t>part‑scale thermal analysis in additive manufacturing processes – </a:t>
            </a:r>
            <a:r>
              <a:rPr lang="en-US" sz="1200" dirty="0"/>
              <a:t>Moreira &amp;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r>
              <a:rPr lang="en-US" sz="1200" dirty="0">
                <a:highlight>
                  <a:srgbClr val="FFFF00"/>
                </a:highlight>
              </a:rPr>
              <a:t> </a:t>
            </a:r>
            <a:r>
              <a:rPr lang="en-US" sz="1200" dirty="0"/>
              <a:t>(2021)</a:t>
            </a:r>
          </a:p>
          <a:p>
            <a:r>
              <a:rPr lang="en-GB" sz="1200" dirty="0"/>
              <a:t>- Numerical simulation and experimental calibration of Additive Manufacturing by blown powder technology. </a:t>
            </a:r>
            <a:r>
              <a:rPr lang="en-US" sz="1200" dirty="0"/>
              <a:t>Part I: thermal analysis 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GB" sz="1200" dirty="0"/>
              <a:t>- Residual stress and distortion of rectangular and S-shaped Ti-6Al-4V parts </a:t>
            </a:r>
            <a:r>
              <a:rPr lang="en-US" sz="1200" dirty="0"/>
              <a:t>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LID4096" sz="1200" dirty="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B78473-A7F0-914B-C99C-1BF327B3FDA8}"/>
              </a:ext>
            </a:extLst>
          </p:cNvPr>
          <p:cNvSpPr txBox="1"/>
          <p:nvPr/>
        </p:nvSpPr>
        <p:spPr>
          <a:xfrm>
            <a:off x="507223" y="698995"/>
            <a:ext cx="48088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h-adaptive finite-element (FE) strategy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b="1" dirty="0"/>
              <a:t>mesh coarsening and refinement</a:t>
            </a: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FF0000"/>
                </a:solidFill>
              </a:rPr>
              <a:t>common layer interface (CLI)  </a:t>
            </a:r>
            <a:r>
              <a:rPr lang="en-US" b="1" dirty="0">
                <a:solidFill>
                  <a:srgbClr val="0000FF"/>
                </a:solidFill>
              </a:rPr>
              <a:t>x </a:t>
            </a:r>
            <a:r>
              <a:rPr lang="en-US" b="1" dirty="0" err="1">
                <a:solidFill>
                  <a:srgbClr val="0000FF"/>
                </a:solidFill>
              </a:rPr>
              <a:t>GCode</a:t>
            </a:r>
            <a:endParaRPr lang="LID4096" b="1" dirty="0">
              <a:solidFill>
                <a:srgbClr val="0000FF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D4AE64D-142C-C5A6-6B1E-B80609B23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23" y="2062144"/>
            <a:ext cx="4760272" cy="338452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F20649-871F-C592-E74E-004711043AA6}"/>
              </a:ext>
            </a:extLst>
          </p:cNvPr>
          <p:cNvSpPr txBox="1"/>
          <p:nvPr/>
        </p:nvSpPr>
        <p:spPr>
          <a:xfrm>
            <a:off x="7340531" y="6063723"/>
            <a:ext cx="2484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Caicedo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9CEB4DE-F19B-25D2-D69C-0FB7DBF81CC8}"/>
              </a:ext>
            </a:extLst>
          </p:cNvPr>
          <p:cNvGrpSpPr/>
          <p:nvPr/>
        </p:nvGrpSpPr>
        <p:grpSpPr>
          <a:xfrm>
            <a:off x="5905794" y="2062144"/>
            <a:ext cx="5641879" cy="3330812"/>
            <a:chOff x="5870960" y="1834785"/>
            <a:chExt cx="5641879" cy="333081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2884BF6-7107-207F-BD5F-B4C5C233DF35}"/>
                </a:ext>
              </a:extLst>
            </p:cNvPr>
            <p:cNvGrpSpPr/>
            <p:nvPr/>
          </p:nvGrpSpPr>
          <p:grpSpPr>
            <a:xfrm>
              <a:off x="5870960" y="1834785"/>
              <a:ext cx="5641879" cy="3258752"/>
              <a:chOff x="5564776" y="1514854"/>
              <a:chExt cx="5641879" cy="3258752"/>
            </a:xfrm>
          </p:grpSpPr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6E57E60B-F3DF-524A-8F29-346395CE70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56742"/>
              <a:stretch>
                <a:fillRect/>
              </a:stretch>
            </p:blipFill>
            <p:spPr>
              <a:xfrm>
                <a:off x="6253655" y="4077260"/>
                <a:ext cx="4953000" cy="696346"/>
              </a:xfrm>
              <a:prstGeom prst="rect">
                <a:avLst/>
              </a:prstGeom>
            </p:spPr>
          </p:pic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6DAC0AD-FD90-EDDD-759F-9EB4DA08F0A4}"/>
                  </a:ext>
                </a:extLst>
              </p:cNvPr>
              <p:cNvGrpSpPr/>
              <p:nvPr/>
            </p:nvGrpSpPr>
            <p:grpSpPr>
              <a:xfrm>
                <a:off x="5564776" y="1514854"/>
                <a:ext cx="5357427" cy="2563504"/>
                <a:chOff x="676003" y="334423"/>
                <a:chExt cx="5357427" cy="2563504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5E0877E-0A06-E5B1-0B43-BBC1749C3A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8051" y="419236"/>
                  <a:ext cx="1676400" cy="428625"/>
                </a:xfrm>
                <a:prstGeom prst="rect">
                  <a:avLst/>
                </a:prstGeom>
              </p:spPr>
            </p:pic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26787-2279-F854-B987-63CF4E26EB9C}"/>
                    </a:ext>
                  </a:extLst>
                </p:cNvPr>
                <p:cNvSpPr txBox="1"/>
                <p:nvPr/>
              </p:nvSpPr>
              <p:spPr>
                <a:xfrm>
                  <a:off x="3721053" y="334424"/>
                  <a:ext cx="2312377" cy="11849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Math-Italic"/>
                    </a:rPr>
                    <a:t>̇</a:t>
                  </a:r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General-Italic2"/>
                    </a:rPr>
                    <a:t>H 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rate of enthalpy</a:t>
                  </a:r>
                  <a:endParaRPr lang="en-US" sz="1400" b="0" i="1" u="none" strike="noStrike" baseline="0" dirty="0">
                    <a:solidFill>
                      <a:srgbClr val="0000FF"/>
                    </a:solidFill>
                    <a:latin typeface="STIXGeneral-Italic2"/>
                  </a:endParaRPr>
                </a:p>
                <a:p>
                  <a:r>
                    <a:rPr lang="en-GB" sz="1400" b="1" i="1" u="none" strike="noStrike" baseline="0" dirty="0">
                      <a:solidFill>
                        <a:srgbClr val="0000FF"/>
                      </a:solidFill>
                      <a:latin typeface="STIXGeneral-BoldItalic"/>
                    </a:rPr>
                    <a:t>q   </a:t>
                  </a:r>
                  <a:r>
                    <a:rPr lang="en-GB" sz="1400" b="0" i="0" u="none" strike="noStrike" baseline="0" dirty="0">
                      <a:solidFill>
                        <a:srgbClr val="0000FF"/>
                      </a:solidFill>
                      <a:latin typeface="STIX-Regular"/>
                    </a:rPr>
                    <a:t>heat-flux per unit volume</a:t>
                  </a:r>
                </a:p>
                <a:p>
                  <a:r>
                    <a:rPr lang="en-GB" sz="1400" i="1" dirty="0">
                      <a:solidFill>
                        <a:srgbClr val="0000FF"/>
                      </a:solidFill>
                      <a:latin typeface="STIXGeneral-Italic3"/>
                    </a:rPr>
                    <a:t>r</a:t>
                  </a:r>
                  <a:r>
                    <a:rPr lang="en-GB" sz="1400" i="1" dirty="0">
                      <a:solidFill>
                        <a:srgbClr val="0000FF"/>
                      </a:solidFill>
                      <a:latin typeface="STIXMath-Italic"/>
                    </a:rPr>
                    <a:t>̇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  rate of heat source</a:t>
                  </a:r>
                  <a:endParaRPr lang="en-GB" sz="1400" i="1" dirty="0">
                    <a:solidFill>
                      <a:srgbClr val="0000FF"/>
                    </a:solidFill>
                    <a:latin typeface="STIXMath-Italic"/>
                  </a:endParaRPr>
                </a:p>
                <a:p>
                  <a:endParaRPr lang="en-GB" sz="100" b="0" i="0" u="none" strike="noStrike" baseline="0" dirty="0">
                    <a:solidFill>
                      <a:srgbClr val="0000FF"/>
                    </a:solidFill>
                    <a:latin typeface="STIX-Regular"/>
                  </a:endParaRPr>
                </a:p>
                <a:p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C   </a:t>
                  </a:r>
                  <a:r>
                    <a:rPr lang="en-GB" sz="1400" dirty="0">
                      <a:solidFill>
                        <a:srgbClr val="0000FF"/>
                      </a:solidFill>
                    </a:rPr>
                    <a:t>(temperature dependent) heat capacity</a:t>
                  </a:r>
                  <a:endParaRPr lang="LID4096" sz="1400" dirty="0">
                    <a:solidFill>
                      <a:srgbClr val="0000FF"/>
                    </a:solidFill>
                  </a:endParaRPr>
                </a:p>
              </p:txBody>
            </p:sp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0233BAAB-ABE6-5897-4FB7-A0AF4988C8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8000" b="13963"/>
                <a:stretch>
                  <a:fillRect/>
                </a:stretch>
              </p:blipFill>
              <p:spPr>
                <a:xfrm>
                  <a:off x="1738992" y="796115"/>
                  <a:ext cx="1285875" cy="324024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41D14760-1E87-0A6F-3873-6AD13A5FCC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8051" y="997075"/>
                  <a:ext cx="1009650" cy="390525"/>
                </a:xfrm>
                <a:prstGeom prst="rect">
                  <a:avLst/>
                </a:prstGeom>
              </p:spPr>
            </p:pic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2164C09-3E45-EAB5-94A0-D52A6CAFF7B3}"/>
                    </a:ext>
                  </a:extLst>
                </p:cNvPr>
                <p:cNvGrpSpPr/>
                <p:nvPr/>
              </p:nvGrpSpPr>
              <p:grpSpPr>
                <a:xfrm>
                  <a:off x="771889" y="1561596"/>
                  <a:ext cx="2848519" cy="476250"/>
                  <a:chOff x="771889" y="1474509"/>
                  <a:chExt cx="2848519" cy="476250"/>
                </a:xfrm>
              </p:grpSpPr>
              <p:pic>
                <p:nvPicPr>
                  <p:cNvPr id="13" name="Picture 12">
                    <a:extLst>
                      <a:ext uri="{FF2B5EF4-FFF2-40B4-BE49-F238E27FC236}">
                        <a16:creationId xmlns:a16="http://schemas.microsoft.com/office/drawing/2014/main" id="{03048724-9AC1-2634-3030-559A1647CE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t="-2041" r="20544"/>
                  <a:stretch>
                    <a:fillRect/>
                  </a:stretch>
                </p:blipFill>
                <p:spPr>
                  <a:xfrm>
                    <a:off x="771889" y="1474509"/>
                    <a:ext cx="2066108" cy="476250"/>
                  </a:xfrm>
                  <a:prstGeom prst="rect">
                    <a:avLst/>
                  </a:prstGeom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CAA6090C-5358-9B70-4C86-B31AA578B2F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l="78954"/>
                  <a:stretch>
                    <a:fillRect/>
                  </a:stretch>
                </p:blipFill>
                <p:spPr>
                  <a:xfrm>
                    <a:off x="3073129" y="1479271"/>
                    <a:ext cx="547279" cy="466725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7A8DCB8C-179F-7DC5-2651-1DB79A1984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" b="49340"/>
                <a:stretch>
                  <a:fillRect/>
                </a:stretch>
              </p:blipFill>
              <p:spPr>
                <a:xfrm>
                  <a:off x="1000980" y="2082468"/>
                  <a:ext cx="4953000" cy="815459"/>
                </a:xfrm>
                <a:prstGeom prst="rect">
                  <a:avLst/>
                </a:prstGeom>
              </p:spPr>
            </p:pic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752B941-3E23-0EEE-3C03-4FAF44369101}"/>
                    </a:ext>
                  </a:extLst>
                </p:cNvPr>
                <p:cNvSpPr/>
                <p:nvPr/>
              </p:nvSpPr>
              <p:spPr>
                <a:xfrm>
                  <a:off x="676003" y="334423"/>
                  <a:ext cx="2824842" cy="118254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F3F83B-A6CA-28F1-E03A-7B349F665D43}"/>
                </a:ext>
              </a:extLst>
            </p:cNvPr>
            <p:cNvSpPr txBox="1"/>
            <p:nvPr/>
          </p:nvSpPr>
          <p:spPr>
            <a:xfrm>
              <a:off x="7279369" y="4850526"/>
              <a:ext cx="12192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0000FF"/>
                  </a:solidFill>
                </a:rPr>
                <a:t>heat losses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A3E7AF0-73B5-4CC6-9427-4896A57CAA4B}"/>
                </a:ext>
              </a:extLst>
            </p:cNvPr>
            <p:cNvSpPr txBox="1"/>
            <p:nvPr/>
          </p:nvSpPr>
          <p:spPr>
            <a:xfrm>
              <a:off x="8695802" y="4857820"/>
              <a:ext cx="275279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>
                <a:defRPr>
                  <a:solidFill>
                    <a:srgbClr val="0000FF"/>
                  </a:solidFill>
                </a:defRPr>
              </a:lvl1pPr>
            </a:lstStyle>
            <a:p>
              <a:r>
                <a:rPr lang="LID4096" sz="1400" dirty="0"/>
                <a:t>external work of the thermal loads</a:t>
              </a: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F9E4C3-CBA3-6E42-B4D0-628D34F56B7C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790EF8-A016-39E0-D82C-D70338D4258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2693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4196</TotalTime>
  <Words>1540</Words>
  <Application>Microsoft Office PowerPoint</Application>
  <PresentationFormat>Widescreen</PresentationFormat>
  <Paragraphs>300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MyriadPro-SemiboldSemiCn</vt:lpstr>
      <vt:lpstr>MyriadPro-SemiboldSemiCnIt</vt:lpstr>
      <vt:lpstr>NywgqrAdvTT3713a231</vt:lpstr>
      <vt:lpstr>Segoe UI</vt:lpstr>
      <vt:lpstr>STIXGeneral-BoldItalic</vt:lpstr>
      <vt:lpstr>STIXGeneral-Italic2</vt:lpstr>
      <vt:lpstr>STIXGeneral-Italic3</vt:lpstr>
      <vt:lpstr>STIXMath</vt:lpstr>
      <vt:lpstr>STIXMath-Italic</vt:lpstr>
      <vt:lpstr>STIX-Regular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236</cp:revision>
  <dcterms:created xsi:type="dcterms:W3CDTF">2026-09-30T17:20:39Z</dcterms:created>
  <dcterms:modified xsi:type="dcterms:W3CDTF">2026-10-19T14:36:25Z</dcterms:modified>
</cp:coreProperties>
</file>