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9" r:id="rId3"/>
    <p:sldId id="263" r:id="rId4"/>
    <p:sldId id="260" r:id="rId5"/>
    <p:sldId id="270" r:id="rId6"/>
    <p:sldId id="266" r:id="rId7"/>
    <p:sldId id="268" r:id="rId8"/>
    <p:sldId id="264" r:id="rId9"/>
    <p:sldId id="271" r:id="rId10"/>
    <p:sldId id="258" r:id="rId11"/>
    <p:sldId id="261" r:id="rId12"/>
    <p:sldId id="257" r:id="rId13"/>
    <p:sldId id="265" r:id="rId1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28921-5049-2E32-25A4-86F65610A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8C54D-5AEE-839C-E6CE-1CBBACA45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35BE-C74C-CB6A-2B3A-763F6D31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BB9B-E6B7-AB9D-291F-299AABC9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DC91E-CD3E-36EF-0845-6EAE8937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358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7D1C-F319-72E2-9ADA-D91D0A1E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CDC5-F031-8865-C1B3-15A3AAD6E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8A3C3-35B0-0245-783F-E1D2295E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B5C52-A3F0-8838-8AE5-DC29946D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6FA7B-93B4-7B06-EB54-C87EECEE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512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FD5D-8C2D-47C9-F784-D71D6C99D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A3644-D5D7-639D-9D01-47ADEF79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7BC99-1286-48D3-90FB-10CC7DA1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7651-21C8-1EE2-9B79-BB8017B8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11145-94A9-10EB-063F-1B221B67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6143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DD21-43A1-10C1-3651-871BCCB0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32DD-14B2-A15A-D2A1-AE2297F82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3FE99-E72B-9244-7EFB-C60EE1AF8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4D93A-4972-F498-6313-8CD04CD8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BF39C-ED62-2D11-0F4C-739C2509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26EF5-B03A-255C-2AA0-0E0F94A1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803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DD20D-092D-A734-2227-98DBAC15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B66FA-ED88-86AB-4998-A266CC8DA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BCE67-A9D1-C824-1A0C-4D0B2EEF1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F5106-4821-0BA4-2A24-5ACDA9815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1F419F-06FF-BE02-F0F5-5279F1BC0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0294E-7236-2751-0FBB-8408E34B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7FF2BE-B79E-CBEF-1F90-9BB0D58C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957DA-9932-5F90-3C6B-110E650F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296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B9A1-A865-C17A-18A1-8D9423F2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2FA0B-0456-19AB-C82E-85FAE831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35560-35B7-033F-8002-88AE8FBC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48C5D-7CDC-90A0-B7BE-0B413E51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596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CFCFB-D5E3-1EBB-0813-5525914B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7FED4-FD0E-4038-C245-9C42D33BF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2338A-5F42-05CD-688E-6235921A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730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402A-1B0E-19F5-4F43-61DA5EF2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5FC5-D1B1-6B16-0C4A-D5B9C9DEC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356E4-A0AB-2182-EC2A-312898C84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A5BF0-567A-36EE-9770-251B1098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92492-1424-5EC0-7797-DCD14F90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B43C3-D0BE-17BE-258A-D2095F03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398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BD9E-3C35-7CE6-C397-02CAB9CE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81586-3DE7-1CED-A6FA-516F32DC9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83911-9CA4-91CC-A2D5-74E33EB36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B73AF-257F-4AB4-4438-B5F82E03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D3FD0-2C0F-2D84-53E7-202C71E3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82C7F-0CEB-AF03-1866-F3FAD42C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7213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5A0D-E1E8-F181-8213-2B452845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580F6-16D9-4C8A-4D3E-2C67E9F8A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FA7D0-F549-C4AD-CA87-A769E218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9DD54-320A-040C-9CEB-DB00F45E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B8D1B-8549-922B-2420-31F98FD7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379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A5A027-C698-463D-495A-D7085AE74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5A546-1999-B8F8-7674-248D56D08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B8244-F6AE-3BFA-0CD4-70293E6F9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82EAB-7A87-22ED-E19C-E146064A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3936B-53D2-50CB-D565-BBC7F103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975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A41BD9-EA3F-C372-285F-0E39B54A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9B9AB-C7EC-E7BA-13DB-1B474E0B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6A62A-CFD7-80AA-9B44-CBD28EA44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2F609-7128-42D8-8672-4D6F16D38DEE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750B6-8239-FB0A-429F-C1C3D106C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FF734-DC96-1ACA-B5C3-248A9D54B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5168A-5BCC-42BF-B9FA-DE211AE2E4A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479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next.mesago.com/frankfurt/en/industry-insights/am-field-guide/process_in_general.html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LR-RY/VoFLibrary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037BCBA-444F-A065-9520-D96B0388A2B9}"/>
              </a:ext>
            </a:extLst>
          </p:cNvPr>
          <p:cNvCxnSpPr/>
          <p:nvPr/>
        </p:nvCxnSpPr>
        <p:spPr>
          <a:xfrm>
            <a:off x="567652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80FE23-DB89-9CAC-5DE4-80E598169ABA}"/>
              </a:ext>
            </a:extLst>
          </p:cNvPr>
          <p:cNvSpPr/>
          <p:nvPr/>
        </p:nvSpPr>
        <p:spPr>
          <a:xfrm>
            <a:off x="6421922" y="201481"/>
            <a:ext cx="5071603" cy="318411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Directed Energy Deposition (DED)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1717DC-E08A-F153-F093-47FAB12A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453" t="1979" r="3871" b="55847"/>
          <a:stretch>
            <a:fillRect/>
          </a:stretch>
        </p:blipFill>
        <p:spPr>
          <a:xfrm>
            <a:off x="6331768" y="697116"/>
            <a:ext cx="4705992" cy="30691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64638C-E3C1-B05C-2A60-DC9970BE6F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44" t="52481"/>
          <a:stretch>
            <a:fillRect/>
          </a:stretch>
        </p:blipFill>
        <p:spPr>
          <a:xfrm>
            <a:off x="6705176" y="3943465"/>
            <a:ext cx="4332584" cy="2768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5E4821-3A2C-49A0-D61A-EF6CBAC77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0" t="1979" r="52120" b="55847"/>
          <a:stretch>
            <a:fillRect/>
          </a:stretch>
        </p:blipFill>
        <p:spPr>
          <a:xfrm>
            <a:off x="585177" y="697116"/>
            <a:ext cx="4704696" cy="30691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1418AD-8511-5108-6887-B0645A1BE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91" r="50044"/>
          <a:stretch>
            <a:fillRect/>
          </a:stretch>
        </p:blipFill>
        <p:spPr>
          <a:xfrm>
            <a:off x="707853" y="3905993"/>
            <a:ext cx="4332584" cy="275052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794F47-B59C-8DC5-E51E-9257C60CD17A}"/>
              </a:ext>
            </a:extLst>
          </p:cNvPr>
          <p:cNvSpPr/>
          <p:nvPr/>
        </p:nvSpPr>
        <p:spPr>
          <a:xfrm>
            <a:off x="784340" y="201481"/>
            <a:ext cx="3380256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LID4096" sz="24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Powder</a:t>
            </a:r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 </a:t>
            </a:r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Bed Fusion (PBF)</a:t>
            </a:r>
          </a:p>
        </p:txBody>
      </p:sp>
    </p:spTree>
    <p:extLst>
      <p:ext uri="{BB962C8B-B14F-4D97-AF65-F5344CB8AC3E}">
        <p14:creationId xmlns:p14="http://schemas.microsoft.com/office/powerpoint/2010/main" val="204689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47A7-35CA-C242-B76D-83DA96D6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FE7A7C-03EC-0F16-903D-BFF5517595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30"/>
          <a:stretch>
            <a:fillRect/>
          </a:stretch>
        </p:blipFill>
        <p:spPr>
          <a:xfrm>
            <a:off x="8908610" y="4405154"/>
            <a:ext cx="2117835" cy="215012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EBB0BD-7342-CEEC-C6FC-434A548652F7}"/>
              </a:ext>
            </a:extLst>
          </p:cNvPr>
          <p:cNvSpPr/>
          <p:nvPr/>
        </p:nvSpPr>
        <p:spPr>
          <a:xfrm>
            <a:off x="6421922" y="201481"/>
            <a:ext cx="5071603" cy="318411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Directed Energy Deposition (DED -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)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B8D4F16C-1F71-CD67-F7B1-035A0F996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647" y="697120"/>
            <a:ext cx="4707798" cy="35308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9DBE22-0C4C-95E4-AABC-C64DD76A297F}"/>
              </a:ext>
            </a:extLst>
          </p:cNvPr>
          <p:cNvSpPr txBox="1"/>
          <p:nvPr/>
        </p:nvSpPr>
        <p:spPr>
          <a:xfrm>
            <a:off x="6318647" y="4522849"/>
            <a:ext cx="245416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srgbClr val="0000FF"/>
                </a:solidFill>
              </a:rPr>
              <a:t>Wire Arc  </a:t>
            </a:r>
          </a:p>
          <a:p>
            <a:pPr algn="ctr"/>
            <a:r>
              <a:rPr lang="en-GB" sz="3600" b="1" dirty="0">
                <a:solidFill>
                  <a:srgbClr val="0000FF"/>
                </a:solidFill>
              </a:rPr>
              <a:t>WAAM</a:t>
            </a:r>
          </a:p>
          <a:p>
            <a:pPr algn="ctr"/>
            <a:r>
              <a:rPr lang="en-GB" sz="3600" b="1" dirty="0">
                <a:solidFill>
                  <a:srgbClr val="0000FF"/>
                </a:solidFill>
              </a:rPr>
              <a:t>Wire DED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C6E52-701D-9A04-C61F-B318F5709B32}"/>
              </a:ext>
            </a:extLst>
          </p:cNvPr>
          <p:cNvSpPr txBox="1"/>
          <p:nvPr/>
        </p:nvSpPr>
        <p:spPr>
          <a:xfrm>
            <a:off x="6486810" y="6093611"/>
            <a:ext cx="21178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noProof="0" dirty="0"/>
              <a:t>Arco Voltaico</a:t>
            </a:r>
            <a:endParaRPr lang="pt-BR" sz="2400" noProof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1DC266-B0C6-7AD9-4BB8-8ADFB9064D9E}"/>
              </a:ext>
            </a:extLst>
          </p:cNvPr>
          <p:cNvSpPr/>
          <p:nvPr/>
        </p:nvSpPr>
        <p:spPr>
          <a:xfrm>
            <a:off x="2955489" y="658496"/>
            <a:ext cx="980423" cy="318411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- </a:t>
            </a:r>
            <a:r>
              <a:rPr lang="en-US" sz="2400" b="1" dirty="0">
                <a:latin typeface="Horley Old Style MT"/>
              </a:rPr>
              <a:t>EBM </a:t>
            </a:r>
            <a:endParaRPr lang="LID4096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E35006-F1A4-F82E-9FA6-576C303FC24C}"/>
              </a:ext>
            </a:extLst>
          </p:cNvPr>
          <p:cNvSpPr txBox="1"/>
          <p:nvPr/>
        </p:nvSpPr>
        <p:spPr>
          <a:xfrm>
            <a:off x="4158559" y="583267"/>
            <a:ext cx="19374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Horley Old Style MT"/>
              </a:rPr>
              <a:t>Electron Beam </a:t>
            </a:r>
            <a:r>
              <a:rPr lang="en-US" sz="2400" b="1" dirty="0">
                <a:latin typeface="Horley Old Style MT"/>
              </a:rPr>
              <a:t>Melting</a:t>
            </a:r>
            <a:endParaRPr lang="LID4096" sz="2400" b="1" dirty="0">
              <a:latin typeface="Horley Old Style M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E1CCE9-6D2A-0BD7-3430-CB907C3B0A37}"/>
              </a:ext>
            </a:extLst>
          </p:cNvPr>
          <p:cNvSpPr txBox="1"/>
          <p:nvPr/>
        </p:nvSpPr>
        <p:spPr>
          <a:xfrm>
            <a:off x="596436" y="2095294"/>
            <a:ext cx="51312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u="none" strike="noStrike" dirty="0">
                <a:effectLst/>
                <a:latin typeface="Google Sans"/>
              </a:rPr>
              <a:t>Vat </a:t>
            </a:r>
            <a:r>
              <a:rPr lang="en-GB" sz="2400" b="1" u="sng" strike="noStrike" dirty="0">
                <a:effectLst/>
                <a:latin typeface="Google Sans"/>
              </a:rPr>
              <a:t>Photo</a:t>
            </a:r>
            <a:r>
              <a:rPr lang="en-GB" sz="2400" b="1" u="none" strike="noStrike" dirty="0">
                <a:effectLst/>
                <a:latin typeface="Google Sans"/>
              </a:rPr>
              <a:t>polymerization      VPP</a:t>
            </a:r>
            <a:r>
              <a:rPr lang="en-GB" sz="2400" b="1" dirty="0"/>
              <a:t> </a:t>
            </a:r>
          </a:p>
          <a:p>
            <a:r>
              <a:rPr lang="en-GB" sz="2400" b="1" u="sng" dirty="0">
                <a:latin typeface="Google Sans"/>
              </a:rPr>
              <a:t>Binder</a:t>
            </a:r>
            <a:r>
              <a:rPr lang="en-GB" sz="2400" b="1" dirty="0">
                <a:latin typeface="Google Sans"/>
              </a:rPr>
              <a:t> Jetting 	(glue)	            BJ</a:t>
            </a:r>
            <a:r>
              <a:rPr lang="en-GB" sz="2400" b="1" dirty="0"/>
              <a:t> </a:t>
            </a:r>
          </a:p>
          <a:p>
            <a:r>
              <a:rPr lang="en-GB" sz="2400" b="1" dirty="0"/>
              <a:t>Material Jetting 	            MJ</a:t>
            </a:r>
          </a:p>
          <a:p>
            <a:r>
              <a:rPr lang="en-US" sz="2400" b="1" dirty="0">
                <a:latin typeface="Horley Old Style MT"/>
              </a:rPr>
              <a:t>Sheet Lamination (cut)          SHL</a:t>
            </a:r>
            <a:endParaRPr lang="LID4096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15A883-323F-D825-8070-C7FA0739707D}"/>
              </a:ext>
            </a:extLst>
          </p:cNvPr>
          <p:cNvSpPr txBox="1"/>
          <p:nvPr/>
        </p:nvSpPr>
        <p:spPr>
          <a:xfrm>
            <a:off x="596436" y="4225905"/>
            <a:ext cx="3124391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u="sng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Classificações:</a:t>
            </a:r>
          </a:p>
          <a:p>
            <a:endParaRPr lang="pt-BR" sz="1600" b="1" u="sng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Tx/>
              <a:buChar char="-"/>
            </a:pPr>
            <a:r>
              <a:rPr lang="pt-BR" sz="2400" dirty="0"/>
              <a:t>Fonte de energia</a:t>
            </a:r>
          </a:p>
          <a:p>
            <a:pPr marL="342900" indent="-342900">
              <a:buFontTx/>
              <a:buChar char="-"/>
            </a:pPr>
            <a:endParaRPr lang="pt-BR" sz="900" dirty="0"/>
          </a:p>
          <a:p>
            <a:pPr marL="342900" indent="-342900">
              <a:buFontTx/>
              <a:buChar char="-"/>
            </a:pPr>
            <a:r>
              <a:rPr lang="pt-BR" sz="2400" noProof="0" dirty="0"/>
              <a:t>Tipo de material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47E3A2-4DD7-7204-6E35-8ACDC72ADD98}"/>
              </a:ext>
            </a:extLst>
          </p:cNvPr>
          <p:cNvSpPr txBox="1"/>
          <p:nvPr/>
        </p:nvSpPr>
        <p:spPr>
          <a:xfrm>
            <a:off x="0" y="6597824"/>
            <a:ext cx="3437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b="1" dirty="0"/>
              <a:t>Modelling and simulation of metal additive manufacturing processes with particle methods: </a:t>
            </a:r>
            <a:r>
              <a:rPr lang="en-US" sz="600" b="1" dirty="0"/>
              <a:t>A review h</a:t>
            </a:r>
            <a:r>
              <a:rPr lang="en-US" sz="600" b="0" i="0" u="none" strike="noStrike" baseline="0" dirty="0">
                <a:latin typeface="OpenSans"/>
              </a:rPr>
              <a:t>ttps://doi.org/10.1080/17452759.2023.2274494</a:t>
            </a:r>
            <a:endParaRPr lang="LID4096" sz="6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8CC822-50A7-BA08-8FEC-28D3FD8AAC40}"/>
              </a:ext>
            </a:extLst>
          </p:cNvPr>
          <p:cNvCxnSpPr/>
          <p:nvPr/>
        </p:nvCxnSpPr>
        <p:spPr>
          <a:xfrm>
            <a:off x="567652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6B5466-651A-4813-52DC-98E73BD34022}"/>
              </a:ext>
            </a:extLst>
          </p:cNvPr>
          <p:cNvSpPr/>
          <p:nvPr/>
        </p:nvSpPr>
        <p:spPr>
          <a:xfrm>
            <a:off x="784340" y="201481"/>
            <a:ext cx="3380256" cy="318411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Powder</a:t>
            </a:r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 </a:t>
            </a:r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Bed Fusion (PBF)</a:t>
            </a:r>
          </a:p>
        </p:txBody>
      </p:sp>
    </p:spTree>
    <p:extLst>
      <p:ext uri="{BB962C8B-B14F-4D97-AF65-F5344CB8AC3E}">
        <p14:creationId xmlns:p14="http://schemas.microsoft.com/office/powerpoint/2010/main" val="426625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DEEDCB32-CF64-7112-0D63-B14A703B72F5}"/>
              </a:ext>
            </a:extLst>
          </p:cNvPr>
          <p:cNvSpPr txBox="1"/>
          <p:nvPr/>
        </p:nvSpPr>
        <p:spPr>
          <a:xfrm>
            <a:off x="322120" y="108030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MODELAGEM</a:t>
            </a:r>
            <a:endParaRPr lang="LID4096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78646D-4E92-EA17-AB94-8E5ACEB2D355}"/>
              </a:ext>
            </a:extLst>
          </p:cNvPr>
          <p:cNvSpPr txBox="1"/>
          <p:nvPr/>
        </p:nvSpPr>
        <p:spPr>
          <a:xfrm>
            <a:off x="439815" y="4392008"/>
            <a:ext cx="609442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</a:t>
            </a:r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FABRICAÇÂO</a:t>
            </a:r>
          </a:p>
          <a:p>
            <a:endParaRPr lang="LID4096" sz="900" b="1" dirty="0"/>
          </a:p>
          <a:p>
            <a:r>
              <a:rPr lang="pt-BR" sz="2400" dirty="0"/>
              <a:t>1- </a:t>
            </a:r>
            <a:r>
              <a:rPr lang="LID4096" sz="2400" dirty="0"/>
              <a:t>Orientação </a:t>
            </a:r>
            <a:r>
              <a:rPr lang="pt-BR" sz="2400" dirty="0"/>
              <a:t>– intensidade</a:t>
            </a:r>
            <a:endParaRPr lang="LID4096" sz="2400" dirty="0"/>
          </a:p>
          <a:p>
            <a:r>
              <a:rPr lang="pt-BR" sz="2400" dirty="0"/>
              <a:t>2- D</a:t>
            </a:r>
            <a:r>
              <a:rPr lang="LID4096" sz="2400" dirty="0"/>
              <a:t>escontínuidades</a:t>
            </a:r>
            <a:r>
              <a:rPr lang="pt-BR" sz="2400" dirty="0"/>
              <a:t> 	(</a:t>
            </a:r>
            <a:r>
              <a:rPr lang="LID4096" sz="2400" i="1" dirty="0"/>
              <a:t>balling</a:t>
            </a:r>
            <a:r>
              <a:rPr lang="pt-BR" sz="2400" dirty="0"/>
              <a:t>)</a:t>
            </a:r>
            <a:endParaRPr lang="LID4096" sz="2400" dirty="0"/>
          </a:p>
          <a:p>
            <a:r>
              <a:rPr lang="pt-BR" sz="2400" dirty="0"/>
              <a:t>3- </a:t>
            </a:r>
            <a:r>
              <a:rPr lang="LID4096" sz="2400" dirty="0"/>
              <a:t>Keyholes (espaços vazios - vapor)</a:t>
            </a:r>
          </a:p>
          <a:p>
            <a:r>
              <a:rPr lang="pt-BR" sz="2400" dirty="0"/>
              <a:t>4- </a:t>
            </a:r>
            <a:r>
              <a:rPr lang="LID4096" sz="2400" dirty="0"/>
              <a:t>Degradação química e oxidação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4802523-39A9-93CD-3D5D-F72290DAC1F3}"/>
              </a:ext>
            </a:extLst>
          </p:cNvPr>
          <p:cNvSpPr/>
          <p:nvPr/>
        </p:nvSpPr>
        <p:spPr>
          <a:xfrm>
            <a:off x="7950508" y="108030"/>
            <a:ext cx="3739128" cy="3626024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noProof="0" dirty="0">
                <a:latin typeface="Times New Roman" panose="02020603050405020304" pitchFamily="18" charset="0"/>
              </a:rPr>
              <a:t>Para que modelar?</a:t>
            </a:r>
          </a:p>
          <a:p>
            <a:r>
              <a:rPr lang="pt-BR" sz="1100" b="1" noProof="0" dirty="0">
                <a:latin typeface="Times New Roman" panose="02020603050405020304" pitchFamily="18" charset="0"/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pt-BR" sz="3200" b="1" noProof="0" dirty="0">
                <a:solidFill>
                  <a:srgbClr val="0000FF"/>
                </a:solidFill>
                <a:latin typeface="Times New Roman" panose="02020603050405020304" pitchFamily="18" charset="0"/>
              </a:rPr>
              <a:t>Racionalizar o problema</a:t>
            </a:r>
          </a:p>
          <a:p>
            <a:pPr marL="457200" indent="-457200">
              <a:buFontTx/>
              <a:buChar char="-"/>
            </a:pPr>
            <a:r>
              <a:rPr lang="pt-BR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Controlar o processo de fabricação</a:t>
            </a:r>
            <a:endParaRPr lang="pt-BR" sz="3200" noProof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019BE4-CB18-C951-E020-CD095DBEA79B}"/>
              </a:ext>
            </a:extLst>
          </p:cNvPr>
          <p:cNvSpPr txBox="1"/>
          <p:nvPr/>
        </p:nvSpPr>
        <p:spPr>
          <a:xfrm>
            <a:off x="5257861" y="4530507"/>
            <a:ext cx="37391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5- </a:t>
            </a:r>
            <a:r>
              <a:rPr lang="LID4096" sz="2400" dirty="0"/>
              <a:t>Partículas residuais</a:t>
            </a:r>
          </a:p>
          <a:p>
            <a:r>
              <a:rPr lang="pt-BR" sz="2400" dirty="0"/>
              <a:t>6- </a:t>
            </a:r>
            <a:r>
              <a:rPr lang="LID4096" sz="2400" dirty="0"/>
              <a:t>Trincas</a:t>
            </a:r>
          </a:p>
          <a:p>
            <a:r>
              <a:rPr lang="pt-BR" sz="2400" dirty="0"/>
              <a:t>7- </a:t>
            </a:r>
            <a:r>
              <a:rPr lang="LID4096" sz="2400" dirty="0"/>
              <a:t>Delaminação</a:t>
            </a:r>
            <a:r>
              <a:rPr lang="pt-BR" sz="2400" dirty="0"/>
              <a:t> / </a:t>
            </a:r>
            <a:r>
              <a:rPr lang="LID4096" sz="2400" dirty="0"/>
              <a:t>Distorção</a:t>
            </a:r>
          </a:p>
          <a:p>
            <a:r>
              <a:rPr lang="pt-BR" sz="2400" dirty="0"/>
              <a:t>8- </a:t>
            </a:r>
            <a:r>
              <a:rPr lang="LID4096" sz="2400" dirty="0"/>
              <a:t>Acabamento superficial</a:t>
            </a:r>
          </a:p>
          <a:p>
            <a:r>
              <a:rPr lang="pt-BR" sz="2400" dirty="0"/>
              <a:t>9- </a:t>
            </a:r>
            <a:r>
              <a:rPr lang="LID4096" sz="2400" dirty="0"/>
              <a:t>Porosidade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F34C84-B521-4465-5ABE-19053F4AEFEF}"/>
              </a:ext>
            </a:extLst>
          </p:cNvPr>
          <p:cNvSpPr txBox="1"/>
          <p:nvPr/>
        </p:nvSpPr>
        <p:spPr>
          <a:xfrm>
            <a:off x="9936481" y="6686377"/>
            <a:ext cx="228875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LID4096" sz="500" dirty="0">
                <a:solidFill>
                  <a:srgbClr val="FF0000"/>
                </a:solidFill>
              </a:rPr>
              <a:t>Aula 3 - ED_Deposicao_por_energia_direcionada___e___p86__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126066-2354-2130-32C5-10AC28739FB2}"/>
              </a:ext>
            </a:extLst>
          </p:cNvPr>
          <p:cNvSpPr txBox="1"/>
          <p:nvPr/>
        </p:nvSpPr>
        <p:spPr>
          <a:xfrm>
            <a:off x="9260556" y="4060024"/>
            <a:ext cx="2429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Grande quantidade de variáveis !</a:t>
            </a:r>
            <a:endParaRPr lang="LID4096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622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7E47-36F7-A14D-6D3D-105D701B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Development phase">
            <a:extLst>
              <a:ext uri="{FF2B5EF4-FFF2-40B4-BE49-F238E27FC236}">
                <a16:creationId xmlns:a16="http://schemas.microsoft.com/office/drawing/2014/main" id="{35D7A2E0-954B-9FC7-F438-A822C183C3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44" r="37082" b="29005"/>
          <a:stretch>
            <a:fillRect/>
          </a:stretch>
        </p:blipFill>
        <p:spPr bwMode="auto">
          <a:xfrm>
            <a:off x="393544" y="315915"/>
            <a:ext cx="5851492" cy="277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282876-79F6-C840-EA8B-483AC43A7882}"/>
              </a:ext>
            </a:extLst>
          </p:cNvPr>
          <p:cNvSpPr txBox="1"/>
          <p:nvPr/>
        </p:nvSpPr>
        <p:spPr>
          <a:xfrm>
            <a:off x="5669568" y="6611716"/>
            <a:ext cx="6522432" cy="246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LID4096" sz="800" dirty="0">
                <a:hlinkClick r:id="rId3"/>
              </a:rPr>
              <a:t>https://formnext.mesago.com/frankfurt/en/industry-insights/am-field-guide/process_in_general.html</a:t>
            </a:r>
            <a:endParaRPr lang="LID4096" sz="8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CB7E259-5FB8-37B3-3B6C-24429FB5D4FA}"/>
              </a:ext>
            </a:extLst>
          </p:cNvPr>
          <p:cNvGrpSpPr/>
          <p:nvPr/>
        </p:nvGrpSpPr>
        <p:grpSpPr>
          <a:xfrm>
            <a:off x="423087" y="3905588"/>
            <a:ext cx="4074804" cy="2559167"/>
            <a:chOff x="524001" y="3370024"/>
            <a:chExt cx="4074804" cy="255916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B0DD8C0-F3E7-A2FA-4BD9-F6BC8E9F8872}"/>
                </a:ext>
              </a:extLst>
            </p:cNvPr>
            <p:cNvSpPr txBox="1"/>
            <p:nvPr/>
          </p:nvSpPr>
          <p:spPr>
            <a:xfrm>
              <a:off x="524001" y="4817862"/>
              <a:ext cx="3268718" cy="10690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CAM </a:t>
              </a:r>
              <a:endParaRPr lang="en-GB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Computer-Aided Manufacturing</a:t>
              </a:r>
              <a:endPara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18D2898-3314-BEC3-C11A-2AD8ED4B9E3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8438" y="3370024"/>
              <a:ext cx="3850367" cy="2559167"/>
              <a:chOff x="182831" y="3131184"/>
              <a:chExt cx="3599388" cy="2392353"/>
            </a:xfrm>
          </p:grpSpPr>
          <p:pic>
            <p:nvPicPr>
              <p:cNvPr id="21" name="Picture 2" descr="Development phase">
                <a:extLst>
                  <a:ext uri="{FF2B5EF4-FFF2-40B4-BE49-F238E27FC236}">
                    <a16:creationId xmlns:a16="http://schemas.microsoft.com/office/drawing/2014/main" id="{72089134-FE66-3314-8690-0A8EFA58A3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797" t="23507" r="7142" b="28567"/>
              <a:stretch>
                <a:fillRect/>
              </a:stretch>
            </p:blipFill>
            <p:spPr bwMode="auto">
              <a:xfrm>
                <a:off x="182831" y="3131184"/>
                <a:ext cx="1451202" cy="12205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4" descr="AM production phase">
                <a:extLst>
                  <a:ext uri="{FF2B5EF4-FFF2-40B4-BE49-F238E27FC236}">
                    <a16:creationId xmlns:a16="http://schemas.microsoft.com/office/drawing/2014/main" id="{D02F545D-17CA-87BD-C82E-206506D10C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819" t="18312" r="40994" b="24811"/>
              <a:stretch>
                <a:fillRect/>
              </a:stretch>
            </p:blipFill>
            <p:spPr bwMode="auto">
              <a:xfrm>
                <a:off x="1942659" y="3186315"/>
                <a:ext cx="1839560" cy="23372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68E9F0D-175C-08D1-B1D0-370E0DDAD7B1}"/>
              </a:ext>
            </a:extLst>
          </p:cNvPr>
          <p:cNvGrpSpPr/>
          <p:nvPr/>
        </p:nvGrpSpPr>
        <p:grpSpPr>
          <a:xfrm>
            <a:off x="6696263" y="806745"/>
            <a:ext cx="5304147" cy="2384740"/>
            <a:chOff x="6763176" y="421834"/>
            <a:chExt cx="5304147" cy="238474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000837-68E0-5F00-F46E-941727C30660}"/>
                </a:ext>
              </a:extLst>
            </p:cNvPr>
            <p:cNvSpPr txBox="1"/>
            <p:nvPr/>
          </p:nvSpPr>
          <p:spPr>
            <a:xfrm>
              <a:off x="6763177" y="421834"/>
              <a:ext cx="4005035" cy="968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CAD (Computer-Aided Design)</a:t>
              </a:r>
              <a:r>
                <a: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shapes </a:t>
              </a:r>
              <a:r>
                <a:rPr lang="en-GB" kern="100" dirty="0">
                  <a:solidFill>
                    <a:srgbClr val="EE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- parametric 3D models (length, width, angles + Rules + History Tree)</a:t>
              </a:r>
              <a:endPara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1A4AEB-AF61-BC41-7116-FDB99479DD88}"/>
                </a:ext>
              </a:extLst>
            </p:cNvPr>
            <p:cNvSpPr txBox="1"/>
            <p:nvPr/>
          </p:nvSpPr>
          <p:spPr>
            <a:xfrm>
              <a:off x="6763176" y="1840091"/>
              <a:ext cx="5304147" cy="966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kern="1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CAE (Computer-Aided Engineering)</a:t>
              </a:r>
              <a:r>
                <a: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en-GB" kern="1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– </a:t>
              </a:r>
              <a:r>
                <a:rPr lang="en-GB" kern="100" dirty="0">
                  <a:latin typeface="Calibri" panose="020F0502020204030204" pitchFamily="34" charset="0"/>
                  <a:cs typeface="Arial" panose="020B0604020202020204" pitchFamily="34" charset="0"/>
                </a:rPr>
                <a:t>data harvesting </a:t>
              </a:r>
              <a:r>
                <a:rPr lang="en-GB" kern="100" dirty="0">
                  <a:solidFill>
                    <a:srgbClr val="0000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- structural stresses, deformations, </a:t>
              </a:r>
              <a:r>
                <a:rPr lang="en-GB" kern="100" dirty="0">
                  <a:solidFill>
                    <a:srgbClr val="0000FF"/>
                  </a:solidFill>
                  <a:latin typeface="Calibri" panose="020F0502020204030204" pitchFamily="34" charset="0"/>
                  <a:cs typeface="Arial" panose="020B0604020202020204" pitchFamily="34" charset="0"/>
                </a:rPr>
                <a:t>displacement, </a:t>
              </a:r>
              <a:r>
                <a:rPr lang="en-GB" kern="100" dirty="0">
                  <a:solidFill>
                    <a:srgbClr val="0000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and failures – </a:t>
              </a:r>
              <a:r>
                <a:rPr lang="en-GB" b="1" kern="100" dirty="0">
                  <a:solidFill>
                    <a:srgbClr val="0000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FEA - CFD</a:t>
              </a:r>
              <a:endParaRPr lang="en-GB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" name="Picture 2" descr="Development phase">
              <a:extLst>
                <a:ext uri="{FF2B5EF4-FFF2-40B4-BE49-F238E27FC236}">
                  <a16:creationId xmlns:a16="http://schemas.microsoft.com/office/drawing/2014/main" id="{5A0F89AB-5B99-0C28-1BBA-5D97BED4FC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81" t="38669" r="65218" b="48355"/>
            <a:stretch>
              <a:fillRect/>
            </a:stretch>
          </p:blipFill>
          <p:spPr bwMode="auto">
            <a:xfrm>
              <a:off x="10768212" y="739573"/>
              <a:ext cx="962796" cy="9627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05F142F-BCC8-277B-418C-50A67EE160F6}"/>
              </a:ext>
            </a:extLst>
          </p:cNvPr>
          <p:cNvGrpSpPr/>
          <p:nvPr/>
        </p:nvGrpSpPr>
        <p:grpSpPr>
          <a:xfrm>
            <a:off x="5367069" y="3766104"/>
            <a:ext cx="6081613" cy="2468572"/>
            <a:chOff x="5350113" y="3877762"/>
            <a:chExt cx="6081613" cy="2468572"/>
          </a:xfrm>
        </p:grpSpPr>
        <p:pic>
          <p:nvPicPr>
            <p:cNvPr id="22" name="Picture 6" descr="Post-processing phase">
              <a:extLst>
                <a:ext uri="{FF2B5EF4-FFF2-40B4-BE49-F238E27FC236}">
                  <a16:creationId xmlns:a16="http://schemas.microsoft.com/office/drawing/2014/main" id="{F40CE1EE-DDDC-94C6-39C9-819555C43DF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243" r="8917" b="31349"/>
            <a:stretch>
              <a:fillRect/>
            </a:stretch>
          </p:blipFill>
          <p:spPr bwMode="auto">
            <a:xfrm>
              <a:off x="5350113" y="3877762"/>
              <a:ext cx="6081613" cy="193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82C1B9D-F9EE-1767-46EB-57F6AA4D8CD9}"/>
                </a:ext>
              </a:extLst>
            </p:cNvPr>
            <p:cNvSpPr txBox="1"/>
            <p:nvPr/>
          </p:nvSpPr>
          <p:spPr>
            <a:xfrm>
              <a:off x="5591803" y="5690247"/>
              <a:ext cx="18538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b="1" noProof="0" dirty="0"/>
                <a:t>Pós Processamento</a:t>
              </a:r>
              <a:endParaRPr lang="pt-BR" noProof="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C452BD-289C-362D-702C-140A022C37AE}"/>
                </a:ext>
              </a:extLst>
            </p:cNvPr>
            <p:cNvSpPr txBox="1"/>
            <p:nvPr/>
          </p:nvSpPr>
          <p:spPr>
            <a:xfrm>
              <a:off x="8390919" y="5700003"/>
              <a:ext cx="28837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b="1" noProof="0" dirty="0"/>
                <a:t>Testes, Medições </a:t>
              </a:r>
            </a:p>
            <a:p>
              <a:r>
                <a:rPr lang="pt-BR" b="1" noProof="0" dirty="0"/>
                <a:t>&amp; controle de qualidade</a:t>
              </a:r>
              <a:endParaRPr lang="pt-BR" noProof="0" dirty="0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6614C7-6139-B1AE-139E-291D99CA0B4D}"/>
              </a:ext>
            </a:extLst>
          </p:cNvPr>
          <p:cNvCxnSpPr>
            <a:cxnSpLocks/>
          </p:cNvCxnSpPr>
          <p:nvPr/>
        </p:nvCxnSpPr>
        <p:spPr>
          <a:xfrm>
            <a:off x="5110467" y="3683726"/>
            <a:ext cx="0" cy="2781029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3977457-6D3C-948E-950B-6C983A6C9B62}"/>
              </a:ext>
            </a:extLst>
          </p:cNvPr>
          <p:cNvCxnSpPr>
            <a:cxnSpLocks/>
          </p:cNvCxnSpPr>
          <p:nvPr/>
        </p:nvCxnSpPr>
        <p:spPr>
          <a:xfrm flipH="1">
            <a:off x="513806" y="3429000"/>
            <a:ext cx="10934876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807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FED2-8C2D-CBC5-EC1D-3E567474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931FF7F-D890-000A-DBE8-01F406BEC642}"/>
              </a:ext>
            </a:extLst>
          </p:cNvPr>
          <p:cNvGrpSpPr>
            <a:grpSpLocks noChangeAspect="1"/>
          </p:cNvGrpSpPr>
          <p:nvPr/>
        </p:nvGrpSpPr>
        <p:grpSpPr>
          <a:xfrm>
            <a:off x="699788" y="2240676"/>
            <a:ext cx="10792424" cy="2244475"/>
            <a:chOff x="1022745" y="1409461"/>
            <a:chExt cx="10669753" cy="22858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A93156-15E9-6FCC-08A2-D16608D8E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7529" b="51086"/>
            <a:stretch>
              <a:fillRect/>
            </a:stretch>
          </p:blipFill>
          <p:spPr>
            <a:xfrm>
              <a:off x="1022745" y="1409461"/>
              <a:ext cx="10669753" cy="221043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00BA0A-1C05-83BB-E2E6-874CF37D9164}"/>
                </a:ext>
              </a:extLst>
            </p:cNvPr>
            <p:cNvSpPr/>
            <p:nvPr/>
          </p:nvSpPr>
          <p:spPr>
            <a:xfrm>
              <a:off x="4694548" y="3381865"/>
              <a:ext cx="3073139" cy="3134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579ACB3-1D08-3FBB-935E-915DB5103E55}"/>
              </a:ext>
            </a:extLst>
          </p:cNvPr>
          <p:cNvSpPr txBox="1"/>
          <p:nvPr/>
        </p:nvSpPr>
        <p:spPr>
          <a:xfrm>
            <a:off x="532889" y="908670"/>
            <a:ext cx="34093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i="0" u="sng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Macro-scale</a:t>
            </a:r>
            <a:r>
              <a:rPr lang="en-GB" sz="1800" b="1" i="0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models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heat flow and structural (stress) deformation &amp;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</a:rPr>
              <a:t>interlayer bonding,</a:t>
            </a:r>
            <a:endParaRPr lang="LID4096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690474-BDEF-D3E4-E001-BF8A037259C1}"/>
              </a:ext>
            </a:extLst>
          </p:cNvPr>
          <p:cNvSpPr txBox="1"/>
          <p:nvPr/>
        </p:nvSpPr>
        <p:spPr>
          <a:xfrm>
            <a:off x="322120" y="108030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MODELAGEM</a:t>
            </a:r>
            <a:endParaRPr lang="LID4096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585BF-3078-B5E5-DCD6-6FC3D4B4C024}"/>
              </a:ext>
            </a:extLst>
          </p:cNvPr>
          <p:cNvSpPr txBox="1"/>
          <p:nvPr/>
        </p:nvSpPr>
        <p:spPr>
          <a:xfrm>
            <a:off x="508200" y="4741842"/>
            <a:ext cx="35208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u="sng" dirty="0"/>
              <a:t>Foco</a:t>
            </a:r>
            <a:r>
              <a:rPr lang="pt-BR" sz="2000" b="1" dirty="0"/>
              <a:t>: </a:t>
            </a:r>
            <a:r>
              <a:rPr lang="pt-BR" sz="2000" dirty="0"/>
              <a:t>Distorção, stress residual</a:t>
            </a:r>
          </a:p>
          <a:p>
            <a:endParaRPr lang="pt-BR" sz="2000" dirty="0"/>
          </a:p>
          <a:p>
            <a:r>
              <a:rPr lang="pt-BR" sz="2000" b="1" u="sng" dirty="0"/>
              <a:t>Métodos</a:t>
            </a:r>
            <a:r>
              <a:rPr lang="pt-BR" sz="2000" b="1" dirty="0"/>
              <a:t>:</a:t>
            </a:r>
            <a:r>
              <a:rPr lang="pt-BR" sz="2000" dirty="0"/>
              <a:t> FEM, FVM</a:t>
            </a:r>
            <a:endParaRPr lang="LID4096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793E5-19E5-D29C-D284-048AAFC498D3}"/>
              </a:ext>
            </a:extLst>
          </p:cNvPr>
          <p:cNvSpPr txBox="1"/>
          <p:nvPr/>
        </p:nvSpPr>
        <p:spPr>
          <a:xfrm>
            <a:off x="4532480" y="4741843"/>
            <a:ext cx="33431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u="sng" dirty="0"/>
              <a:t>Foco</a:t>
            </a:r>
            <a:r>
              <a:rPr lang="pt-BR" sz="2000" b="1" dirty="0"/>
              <a:t>: </a:t>
            </a:r>
            <a:r>
              <a:rPr lang="pt-BR" sz="2000" dirty="0"/>
              <a:t>Fluxo, </a:t>
            </a:r>
            <a:r>
              <a:rPr lang="pt-PT" sz="2000" dirty="0"/>
              <a:t>poça de fusão</a:t>
            </a:r>
          </a:p>
          <a:p>
            <a:endParaRPr lang="pt-BR" sz="2000" dirty="0"/>
          </a:p>
          <a:p>
            <a:r>
              <a:rPr lang="pt-BR" sz="2000" b="1" u="sng" dirty="0"/>
              <a:t>Métodos</a:t>
            </a:r>
            <a:r>
              <a:rPr lang="pt-BR" sz="2000" b="1" dirty="0"/>
              <a:t>:</a:t>
            </a:r>
            <a:r>
              <a:rPr lang="pt-BR" sz="2000" dirty="0"/>
              <a:t> CFD, SPH, LBM</a:t>
            </a:r>
            <a:endParaRPr lang="LID4096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1A13F-E240-B758-DA48-9CB20B91F2D0}"/>
              </a:ext>
            </a:extLst>
          </p:cNvPr>
          <p:cNvSpPr txBox="1"/>
          <p:nvPr/>
        </p:nvSpPr>
        <p:spPr>
          <a:xfrm>
            <a:off x="8070678" y="4741843"/>
            <a:ext cx="33431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u="sng" dirty="0"/>
              <a:t>Foco</a:t>
            </a:r>
            <a:r>
              <a:rPr lang="pt-BR" sz="2000" b="1" dirty="0"/>
              <a:t>: </a:t>
            </a:r>
            <a:r>
              <a:rPr lang="pt-BR" sz="2000" dirty="0"/>
              <a:t>Grãos, nucleação, vazios  </a:t>
            </a:r>
          </a:p>
          <a:p>
            <a:endParaRPr lang="pt-BR" sz="2000" dirty="0"/>
          </a:p>
          <a:p>
            <a:r>
              <a:rPr lang="pt-BR" sz="2000" b="1" u="sng" dirty="0"/>
              <a:t>Métodos</a:t>
            </a:r>
            <a:r>
              <a:rPr lang="pt-BR" sz="2000" b="1" dirty="0"/>
              <a:t>:</a:t>
            </a:r>
            <a:r>
              <a:rPr lang="pt-BR" sz="2000" dirty="0"/>
              <a:t> CA, MC, PF</a:t>
            </a:r>
            <a:endParaRPr lang="LID4096" sz="20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D92701-2C39-7EB4-A46C-F1AD49A526C1}"/>
              </a:ext>
            </a:extLst>
          </p:cNvPr>
          <p:cNvGrpSpPr/>
          <p:nvPr/>
        </p:nvGrpSpPr>
        <p:grpSpPr>
          <a:xfrm>
            <a:off x="8128401" y="848105"/>
            <a:ext cx="3363811" cy="1107996"/>
            <a:chOff x="6653058" y="732502"/>
            <a:chExt cx="3363811" cy="110799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12F553-9E88-0BC5-7CE8-BADD93E0B0F8}"/>
                </a:ext>
              </a:extLst>
            </p:cNvPr>
            <p:cNvSpPr txBox="1"/>
            <p:nvPr/>
          </p:nvSpPr>
          <p:spPr>
            <a:xfrm>
              <a:off x="6673714" y="1194167"/>
              <a:ext cx="334315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dirty="0"/>
                <a:t>grain growth, microstructural transitions, solidification kinetics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812636-A4FB-E46F-694E-EE55083C9D34}"/>
                </a:ext>
              </a:extLst>
            </p:cNvPr>
            <p:cNvSpPr txBox="1"/>
            <p:nvPr/>
          </p:nvSpPr>
          <p:spPr>
            <a:xfrm>
              <a:off x="6653058" y="732502"/>
              <a:ext cx="30694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i="0" u="sng" strike="noStrike" baseline="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Micro-scale</a:t>
              </a:r>
              <a:r>
                <a:rPr lang="en-GB" sz="1800" b="1" i="0" u="sng" strike="noStrike" baseline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phase-field</a:t>
              </a:r>
              <a:endParaRPr lang="LID4096" dirty="0"/>
            </a:p>
          </p:txBody>
        </p:sp>
      </p:grp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D99E177-98AB-1609-405B-9D306F0BC69F}"/>
              </a:ext>
            </a:extLst>
          </p:cNvPr>
          <p:cNvSpPr/>
          <p:nvPr/>
        </p:nvSpPr>
        <p:spPr>
          <a:xfrm rot="19318681">
            <a:off x="5533143" y="5799629"/>
            <a:ext cx="426720" cy="3388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BBB04-CED1-CA15-A508-9EEC5791E0AF}"/>
              </a:ext>
            </a:extLst>
          </p:cNvPr>
          <p:cNvSpPr txBox="1"/>
          <p:nvPr/>
        </p:nvSpPr>
        <p:spPr>
          <a:xfrm>
            <a:off x="4578282" y="894272"/>
            <a:ext cx="29439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sng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Meso-scale</a:t>
            </a:r>
            <a:r>
              <a:rPr lang="en-GB" sz="1800" b="1" i="0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models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pool geometry, bead formation, and dilution. </a:t>
            </a:r>
            <a:endParaRPr lang="LID4096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6E7739-B156-5FE7-31E7-3EC340D9E0CF}"/>
              </a:ext>
            </a:extLst>
          </p:cNvPr>
          <p:cNvCxnSpPr>
            <a:cxnSpLocks/>
          </p:cNvCxnSpPr>
          <p:nvPr/>
        </p:nvCxnSpPr>
        <p:spPr>
          <a:xfrm>
            <a:off x="4154277" y="547276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2973B47-50DE-DA68-A410-F1ABE21EDF32}"/>
              </a:ext>
            </a:extLst>
          </p:cNvPr>
          <p:cNvCxnSpPr>
            <a:cxnSpLocks/>
          </p:cNvCxnSpPr>
          <p:nvPr/>
        </p:nvCxnSpPr>
        <p:spPr>
          <a:xfrm>
            <a:off x="7692476" y="547275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115BA8-7EB1-9D87-ECF4-114E0CA95B6D}"/>
              </a:ext>
            </a:extLst>
          </p:cNvPr>
          <p:cNvCxnSpPr>
            <a:cxnSpLocks/>
          </p:cNvCxnSpPr>
          <p:nvPr/>
        </p:nvCxnSpPr>
        <p:spPr>
          <a:xfrm>
            <a:off x="4154277" y="4618534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32C9D7-49BC-51C2-3E0C-82CDC84270CC}"/>
              </a:ext>
            </a:extLst>
          </p:cNvPr>
          <p:cNvCxnSpPr>
            <a:cxnSpLocks/>
          </p:cNvCxnSpPr>
          <p:nvPr/>
        </p:nvCxnSpPr>
        <p:spPr>
          <a:xfrm>
            <a:off x="7692476" y="4618533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323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BA07D8-C7C9-80CC-0A01-BE98DDA9DE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519"/>
          <a:stretch>
            <a:fillRect/>
          </a:stretch>
        </p:blipFill>
        <p:spPr>
          <a:xfrm>
            <a:off x="291509" y="334978"/>
            <a:ext cx="6730766" cy="42783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F8D699-4DF7-7CFB-7149-7E681B6744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05" b="28137"/>
          <a:stretch>
            <a:fillRect/>
          </a:stretch>
        </p:blipFill>
        <p:spPr>
          <a:xfrm>
            <a:off x="7276605" y="334978"/>
            <a:ext cx="4777212" cy="31128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8293B0-7326-CC9E-F851-418B49E9161C}"/>
              </a:ext>
            </a:extLst>
          </p:cNvPr>
          <p:cNvSpPr txBox="1"/>
          <p:nvPr/>
        </p:nvSpPr>
        <p:spPr>
          <a:xfrm>
            <a:off x="5678397" y="3537699"/>
            <a:ext cx="775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  <a:latin typeface="Horley Old Style MT"/>
              </a:rPr>
              <a:t>PFEM</a:t>
            </a:r>
            <a:endParaRPr lang="LID4096" b="1" dirty="0">
              <a:solidFill>
                <a:srgbClr val="0000FF"/>
              </a:solidFill>
              <a:latin typeface="Horley Old Style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811C4D-E9AC-FB91-F169-B9F9EDA76D4C}"/>
              </a:ext>
            </a:extLst>
          </p:cNvPr>
          <p:cNvSpPr txBox="1"/>
          <p:nvPr/>
        </p:nvSpPr>
        <p:spPr>
          <a:xfrm>
            <a:off x="3427248" y="2329320"/>
            <a:ext cx="837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Horley Old Style MT"/>
              </a:rPr>
              <a:t>MPM</a:t>
            </a:r>
            <a:endParaRPr lang="LID4096" b="1" dirty="0">
              <a:solidFill>
                <a:schemeClr val="accent6">
                  <a:lumMod val="75000"/>
                </a:schemeClr>
              </a:solidFill>
              <a:latin typeface="Horley Old Style MT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FB12A99E-F642-C3C4-09FF-AB3F0E3AD670}"/>
              </a:ext>
            </a:extLst>
          </p:cNvPr>
          <p:cNvSpPr/>
          <p:nvPr/>
        </p:nvSpPr>
        <p:spPr>
          <a:xfrm rot="5400000">
            <a:off x="393826" y="2173206"/>
            <a:ext cx="289712" cy="262551"/>
          </a:xfrm>
          <a:prstGeom prst="triangle">
            <a:avLst>
              <a:gd name="adj" fmla="val 48501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CC981C6F-7E8F-06C4-71F7-917E40965B82}"/>
              </a:ext>
            </a:extLst>
          </p:cNvPr>
          <p:cNvSpPr/>
          <p:nvPr/>
        </p:nvSpPr>
        <p:spPr>
          <a:xfrm rot="5400000">
            <a:off x="401370" y="3991446"/>
            <a:ext cx="289712" cy="262551"/>
          </a:xfrm>
          <a:prstGeom prst="triangle">
            <a:avLst>
              <a:gd name="adj" fmla="val 48501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454E6CE-7475-CCA3-2291-F75D6B45E648}"/>
              </a:ext>
            </a:extLst>
          </p:cNvPr>
          <p:cNvSpPr/>
          <p:nvPr/>
        </p:nvSpPr>
        <p:spPr>
          <a:xfrm rot="5400000">
            <a:off x="7429469" y="2198045"/>
            <a:ext cx="289712" cy="262551"/>
          </a:xfrm>
          <a:prstGeom prst="triangle">
            <a:avLst>
              <a:gd name="adj" fmla="val 48501"/>
            </a:avLst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29F3C6C-7D9D-04BE-8C7E-1DF3597777DF}"/>
              </a:ext>
            </a:extLst>
          </p:cNvPr>
          <p:cNvSpPr/>
          <p:nvPr/>
        </p:nvSpPr>
        <p:spPr>
          <a:xfrm rot="5400000">
            <a:off x="4833504" y="3406424"/>
            <a:ext cx="289712" cy="262551"/>
          </a:xfrm>
          <a:prstGeom prst="triangle">
            <a:avLst>
              <a:gd name="adj" fmla="val 48501"/>
            </a:avLst>
          </a:prstGeom>
          <a:solidFill>
            <a:srgbClr val="0000FF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F07E096-B2F5-EDCE-5B45-0B2FD2E1C2C8}"/>
              </a:ext>
            </a:extLst>
          </p:cNvPr>
          <p:cNvSpPr/>
          <p:nvPr/>
        </p:nvSpPr>
        <p:spPr>
          <a:xfrm rot="5400000">
            <a:off x="2567933" y="2171002"/>
            <a:ext cx="289712" cy="262551"/>
          </a:xfrm>
          <a:prstGeom prst="triangle">
            <a:avLst>
              <a:gd name="adj" fmla="val 48501"/>
            </a:avLst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484A3B-94F0-F7AC-0C67-7C75E7ADA09E}"/>
              </a:ext>
            </a:extLst>
          </p:cNvPr>
          <p:cNvSpPr/>
          <p:nvPr/>
        </p:nvSpPr>
        <p:spPr>
          <a:xfrm>
            <a:off x="384957" y="4980839"/>
            <a:ext cx="2057282" cy="638342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t" anchorCtr="0">
            <a:noAutofit/>
          </a:bodyPr>
          <a:lstStyle/>
          <a:p>
            <a:r>
              <a:rPr lang="pt-BR" sz="3200" b="1" noProof="0" dirty="0">
                <a:solidFill>
                  <a:srgbClr val="0000FF"/>
                </a:solidFill>
                <a:latin typeface="Times New Roman" panose="02020603050405020304" pitchFamily="18" charset="0"/>
              </a:rPr>
              <a:t>Como modelar? </a:t>
            </a:r>
            <a:endParaRPr lang="pt-BR" sz="3200" noProof="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FF4B0D7-6BB9-1323-2A86-D6C9CA2D9D06}"/>
              </a:ext>
            </a:extLst>
          </p:cNvPr>
          <p:cNvGrpSpPr/>
          <p:nvPr/>
        </p:nvGrpSpPr>
        <p:grpSpPr>
          <a:xfrm>
            <a:off x="2233440" y="4903219"/>
            <a:ext cx="5366828" cy="1586550"/>
            <a:chOff x="5682922" y="3763079"/>
            <a:chExt cx="5366828" cy="158655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A030490-DB93-F4DC-BB3A-9280CD14D85B}"/>
                </a:ext>
              </a:extLst>
            </p:cNvPr>
            <p:cNvSpPr txBox="1"/>
            <p:nvPr/>
          </p:nvSpPr>
          <p:spPr>
            <a:xfrm>
              <a:off x="6450589" y="3872301"/>
              <a:ext cx="459916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b="1" dirty="0"/>
                <a:t>01 - </a:t>
              </a:r>
              <a:r>
                <a:rPr lang="LID4096" b="1" dirty="0"/>
                <a:t>finite element analysis (FEA)</a:t>
              </a:r>
              <a:endParaRPr lang="pt-BR" b="1" dirty="0"/>
            </a:p>
            <a:p>
              <a:r>
                <a:rPr lang="pt-BR" b="1" dirty="0"/>
                <a:t>02 - </a:t>
              </a:r>
              <a:r>
                <a:rPr lang="LID4096" b="1" dirty="0"/>
                <a:t>thermal–mechanical simulations</a:t>
              </a:r>
              <a:endParaRPr lang="pt-BR" b="1" dirty="0"/>
            </a:p>
            <a:p>
              <a:endParaRPr lang="pt-BR" b="1" dirty="0"/>
            </a:p>
            <a:p>
              <a:endParaRPr lang="pt-BR" b="1" dirty="0"/>
            </a:p>
            <a:p>
              <a:r>
                <a:rPr lang="pt-BR" b="1" dirty="0"/>
                <a:t>03 - </a:t>
              </a:r>
              <a:r>
                <a:rPr lang="LID4096" b="1" dirty="0"/>
                <a:t>phase-field modeling techniques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7A38B8-8CDB-714B-C148-7AA5E8549FBE}"/>
                </a:ext>
              </a:extLst>
            </p:cNvPr>
            <p:cNvSpPr txBox="1"/>
            <p:nvPr/>
          </p:nvSpPr>
          <p:spPr>
            <a:xfrm>
              <a:off x="5682922" y="3763079"/>
              <a:ext cx="10313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b="1" i="0" strike="noStrike" baseline="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Macro</a:t>
              </a:r>
              <a:endParaRPr lang="LID4096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D4E9B6-2A00-FB75-CE18-635A77908225}"/>
                </a:ext>
              </a:extLst>
            </p:cNvPr>
            <p:cNvSpPr txBox="1"/>
            <p:nvPr/>
          </p:nvSpPr>
          <p:spPr>
            <a:xfrm>
              <a:off x="6578511" y="4510171"/>
              <a:ext cx="422645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400" dirty="0">
                  <a:solidFill>
                    <a:srgbClr val="FF0000"/>
                  </a:solidFill>
                </a:rPr>
                <a:t>global heat flow, temperature distribution,</a:t>
              </a:r>
            </a:p>
            <a:p>
              <a:r>
                <a:rPr lang="LID4096" sz="1400" dirty="0">
                  <a:solidFill>
                    <a:srgbClr val="FF0000"/>
                  </a:solidFill>
                </a:rPr>
                <a:t>and stress evolution during deposition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02E9AB0-1B66-2B81-8AA7-7E094D7F3C7E}"/>
                </a:ext>
              </a:extLst>
            </p:cNvPr>
            <p:cNvSpPr txBox="1"/>
            <p:nvPr/>
          </p:nvSpPr>
          <p:spPr>
            <a:xfrm>
              <a:off x="5713100" y="4023156"/>
              <a:ext cx="10313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b="1" i="0" strike="noStrike" baseline="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Macro</a:t>
              </a:r>
              <a:endParaRPr lang="LID4096" sz="14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C7E4FBC-3E05-436A-43A3-0267366B00A8}"/>
              </a:ext>
            </a:extLst>
          </p:cNvPr>
          <p:cNvSpPr txBox="1"/>
          <p:nvPr/>
        </p:nvSpPr>
        <p:spPr>
          <a:xfrm>
            <a:off x="0" y="6597824"/>
            <a:ext cx="34372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" b="1" dirty="0"/>
              <a:t>Modelling and simulation of metal additive manufacturing processes with particle methods: </a:t>
            </a:r>
            <a:r>
              <a:rPr lang="en-US" sz="600" b="1" dirty="0"/>
              <a:t>A review h</a:t>
            </a:r>
            <a:r>
              <a:rPr lang="en-US" sz="600" b="0" i="0" u="none" strike="noStrike" baseline="0" dirty="0">
                <a:latin typeface="OpenSans"/>
              </a:rPr>
              <a:t>ttps://doi.org/10.1080/17452759.2023.2274494</a:t>
            </a:r>
            <a:endParaRPr lang="LID4096" sz="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34FD4-B42D-E93C-250F-A58DC83CFC26}"/>
              </a:ext>
            </a:extLst>
          </p:cNvPr>
          <p:cNvSpPr txBox="1"/>
          <p:nvPr/>
        </p:nvSpPr>
        <p:spPr>
          <a:xfrm>
            <a:off x="275969" y="4516965"/>
            <a:ext cx="2725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Massive parallelisation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A0F6DE-D4F2-E92F-0D04-2037AAA6CA43}"/>
              </a:ext>
            </a:extLst>
          </p:cNvPr>
          <p:cNvCxnSpPr>
            <a:cxnSpLocks/>
          </p:cNvCxnSpPr>
          <p:nvPr/>
        </p:nvCxnSpPr>
        <p:spPr>
          <a:xfrm>
            <a:off x="7161253" y="120555"/>
            <a:ext cx="0" cy="59436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735A3EF-D08A-12CC-3C13-206EE46C92C4}"/>
              </a:ext>
            </a:extLst>
          </p:cNvPr>
          <p:cNvSpPr txBox="1"/>
          <p:nvPr/>
        </p:nvSpPr>
        <p:spPr>
          <a:xfrm>
            <a:off x="7705601" y="3925852"/>
            <a:ext cx="2579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2400" b="1" dirty="0">
                <a:solidFill>
                  <a:srgbClr val="0000FF"/>
                </a:solidFill>
              </a:rPr>
              <a:t>ML algorithms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9B3D21-4A4D-CCA8-11EA-77CCAC0305E1}"/>
              </a:ext>
            </a:extLst>
          </p:cNvPr>
          <p:cNvCxnSpPr>
            <a:cxnSpLocks/>
          </p:cNvCxnSpPr>
          <p:nvPr/>
        </p:nvCxnSpPr>
        <p:spPr>
          <a:xfrm flipH="1" flipV="1">
            <a:off x="7443049" y="3644143"/>
            <a:ext cx="4426734" cy="338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213B0C6-69EB-AA10-8CF9-B16BCBEFDD77}"/>
              </a:ext>
            </a:extLst>
          </p:cNvPr>
          <p:cNvSpPr txBox="1"/>
          <p:nvPr/>
        </p:nvSpPr>
        <p:spPr>
          <a:xfrm>
            <a:off x="8031678" y="4253232"/>
            <a:ext cx="3137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0000FF"/>
                </a:solidFill>
              </a:rPr>
              <a:t>physics-based </a:t>
            </a:r>
            <a:r>
              <a:rPr lang="LID4096" dirty="0">
                <a:solidFill>
                  <a:srgbClr val="0000FF"/>
                </a:solidFill>
                <a:highlight>
                  <a:srgbClr val="FFFF00"/>
                </a:highlight>
              </a:rPr>
              <a:t>surrogate 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C58329-7D7D-9D56-4419-07ABFDC624CF}"/>
              </a:ext>
            </a:extLst>
          </p:cNvPr>
          <p:cNvSpPr txBox="1"/>
          <p:nvPr/>
        </p:nvSpPr>
        <p:spPr>
          <a:xfrm>
            <a:off x="8043697" y="4771509"/>
            <a:ext cx="327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AdvOT46dcae81"/>
              </a:rPr>
              <a:t>simulation-informed closed-loop control feedback</a:t>
            </a:r>
          </a:p>
          <a:p>
            <a:pPr algn="l"/>
            <a:r>
              <a:rPr lang="en-GB" sz="1800" b="0" i="0" u="none" strike="noStrike" baseline="0" dirty="0">
                <a:latin typeface="AdvOT46dcae81"/>
              </a:rPr>
              <a:t>real-time monitoring systems.</a:t>
            </a:r>
            <a:endParaRPr lang="LID4096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9DBC01-6522-104F-1BF5-C21E79F8FC87}"/>
              </a:ext>
            </a:extLst>
          </p:cNvPr>
          <p:cNvSpPr txBox="1"/>
          <p:nvPr/>
        </p:nvSpPr>
        <p:spPr>
          <a:xfrm>
            <a:off x="9439217" y="5846555"/>
            <a:ext cx="1690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| Probabilistic ?</a:t>
            </a:r>
            <a:endParaRPr lang="LID4096" dirty="0">
              <a:highlight>
                <a:srgbClr val="FFFF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45E0D0-F3E7-5164-4D15-019B805FE65B}"/>
              </a:ext>
            </a:extLst>
          </p:cNvPr>
          <p:cNvSpPr txBox="1"/>
          <p:nvPr/>
        </p:nvSpPr>
        <p:spPr>
          <a:xfrm>
            <a:off x="7951350" y="5708055"/>
            <a:ext cx="1606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highlight>
                  <a:srgbClr val="FFFF00"/>
                </a:highlight>
              </a:rPr>
              <a:t>meshfree</a:t>
            </a:r>
          </a:p>
          <a:p>
            <a:r>
              <a:rPr lang="LID4096" dirty="0">
                <a:highlight>
                  <a:srgbClr val="FFFF00"/>
                </a:highlight>
              </a:rPr>
              <a:t>particle-based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C09256-4C1E-62D9-E0A7-A0C3AC614B27}"/>
              </a:ext>
            </a:extLst>
          </p:cNvPr>
          <p:cNvSpPr/>
          <p:nvPr/>
        </p:nvSpPr>
        <p:spPr>
          <a:xfrm>
            <a:off x="407405" y="1852989"/>
            <a:ext cx="2034833" cy="289713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Particle based</a:t>
            </a:r>
            <a:endParaRPr lang="LID4096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</p:spTree>
    <p:extLst>
      <p:ext uri="{BB962C8B-B14F-4D97-AF65-F5344CB8AC3E}">
        <p14:creationId xmlns:p14="http://schemas.microsoft.com/office/powerpoint/2010/main" val="1747437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51E93-D7AA-3DC0-B98C-6CE8ACD8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689BD5-7F8D-3E07-9C24-2FB7427632BD}"/>
              </a:ext>
            </a:extLst>
          </p:cNvPr>
          <p:cNvSpPr txBox="1"/>
          <p:nvPr/>
        </p:nvSpPr>
        <p:spPr>
          <a:xfrm>
            <a:off x="326574" y="1829970"/>
            <a:ext cx="56649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LID4096" sz="2000" b="1" dirty="0"/>
              <a:t>insight into the solute transport process</a:t>
            </a:r>
            <a:r>
              <a:rPr lang="pt-BR" sz="2000" b="1" dirty="0"/>
              <a:t>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high-fidelity physics-based numerical modelling;</a:t>
            </a:r>
            <a:endParaRPr lang="LID4096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/>
              <a:t>effect of melt convection and solute partition.</a:t>
            </a:r>
            <a:endParaRPr lang="LID4096" sz="2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865A81-25FD-EFFC-EE19-89AA21692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4" y="239486"/>
            <a:ext cx="4295542" cy="13607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895958-1321-34DA-5B5D-A7B298E0B9D9}"/>
              </a:ext>
            </a:extLst>
          </p:cNvPr>
          <p:cNvSpPr txBox="1"/>
          <p:nvPr/>
        </p:nvSpPr>
        <p:spPr>
          <a:xfrm>
            <a:off x="2832333" y="5163464"/>
            <a:ext cx="31546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LID4096" sz="2000" dirty="0">
                <a:solidFill>
                  <a:srgbClr val="0000FF"/>
                </a:solidFill>
              </a:rPr>
              <a:t>Temperature,</a:t>
            </a:r>
            <a:r>
              <a:rPr lang="pt-BR" sz="2000" dirty="0">
                <a:solidFill>
                  <a:srgbClr val="0000FF"/>
                </a:solidFill>
              </a:rPr>
              <a:t> </a:t>
            </a:r>
            <a:r>
              <a:rPr lang="LID4096" sz="2000" dirty="0">
                <a:solidFill>
                  <a:srgbClr val="0000FF"/>
                </a:solidFill>
              </a:rPr>
              <a:t>flow velocity, solute concentration, and microstructure </a:t>
            </a:r>
            <a:endParaRPr lang="pt-BR" sz="2000" dirty="0">
              <a:solidFill>
                <a:srgbClr val="0000FF"/>
              </a:solidFill>
            </a:endParaRPr>
          </a:p>
          <a:p>
            <a:pPr algn="ctr"/>
            <a:r>
              <a:rPr lang="pt-BR" sz="2000" dirty="0">
                <a:solidFill>
                  <a:srgbClr val="0000FF"/>
                </a:solidFill>
              </a:rPr>
              <a:t>... d</a:t>
            </a:r>
            <a:r>
              <a:rPr lang="LID4096" sz="2000" dirty="0">
                <a:solidFill>
                  <a:srgbClr val="0000FF"/>
                </a:solidFill>
              </a:rPr>
              <a:t>irectly coupled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A1F596-C0A1-D18B-4C5E-F58FDD4668E1}"/>
              </a:ext>
            </a:extLst>
          </p:cNvPr>
          <p:cNvSpPr txBox="1"/>
          <p:nvPr/>
        </p:nvSpPr>
        <p:spPr>
          <a:xfrm>
            <a:off x="1780905" y="251368"/>
            <a:ext cx="22424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>
                <a:solidFill>
                  <a:srgbClr val="0000FF"/>
                </a:solidFill>
              </a:defRPr>
            </a:lvl1pPr>
          </a:lstStyle>
          <a:p>
            <a:r>
              <a:rPr lang="en-GB" b="1" noProof="0" dirty="0">
                <a:solidFill>
                  <a:srgbClr val="FF0000"/>
                </a:solidFill>
              </a:rPr>
              <a:t>Micro-scale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13F02-D1CC-C2FD-E558-4F90E83774E5}"/>
              </a:ext>
            </a:extLst>
          </p:cNvPr>
          <p:cNvSpPr txBox="1"/>
          <p:nvPr/>
        </p:nvSpPr>
        <p:spPr>
          <a:xfrm>
            <a:off x="10118272" y="5170775"/>
            <a:ext cx="15022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LID4096" sz="1600" dirty="0"/>
              <a:t>210 ×</a:t>
            </a:r>
            <a:r>
              <a:rPr lang="pt-BR" sz="1600" dirty="0"/>
              <a:t> </a:t>
            </a:r>
            <a:r>
              <a:rPr lang="LID4096" sz="1600" dirty="0"/>
              <a:t>400 µm computational domain</a:t>
            </a:r>
            <a:r>
              <a:rPr lang="pt-BR" sz="1600" dirty="0"/>
              <a:t> (2D)</a:t>
            </a:r>
          </a:p>
          <a:p>
            <a:pPr algn="r"/>
            <a:r>
              <a:rPr lang="en-GB" sz="1600" dirty="0">
                <a:latin typeface="AdvOTdd63dae3"/>
              </a:rPr>
              <a:t>1,341,561 </a:t>
            </a:r>
          </a:p>
          <a:p>
            <a:pPr algn="r"/>
            <a:r>
              <a:rPr lang="en-GB" sz="1600" dirty="0">
                <a:latin typeface="AdvOTdd63dae3"/>
              </a:rPr>
              <a:t>grid 0.25 </a:t>
            </a:r>
            <a:r>
              <a:rPr lang="en-GB" sz="1600" dirty="0" err="1">
                <a:latin typeface="AdvOTdd63dae3+03"/>
              </a:rPr>
              <a:t>μ</a:t>
            </a:r>
            <a:r>
              <a:rPr lang="en-GB" sz="1600" dirty="0" err="1">
                <a:latin typeface="AdvOTdd63dae3"/>
              </a:rPr>
              <a:t>m</a:t>
            </a:r>
            <a:endParaRPr lang="LID4096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93FDDD3-7330-406D-9099-4460C47A93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17" b="60600"/>
          <a:stretch>
            <a:fillRect/>
          </a:stretch>
        </p:blipFill>
        <p:spPr>
          <a:xfrm>
            <a:off x="6457406" y="239487"/>
            <a:ext cx="5222966" cy="18854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E9D78FC-A9F0-161A-B5C7-ABA7352AFC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48" t="9050" r="67184" b="66061"/>
          <a:stretch>
            <a:fillRect/>
          </a:stretch>
        </p:blipFill>
        <p:spPr>
          <a:xfrm>
            <a:off x="322216" y="3019053"/>
            <a:ext cx="2420984" cy="110714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94B13F-A5E0-E8CD-CE8D-3ACAA9BB04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6" t="48903" r="60805" b="2231"/>
          <a:stretch>
            <a:fillRect/>
          </a:stretch>
        </p:blipFill>
        <p:spPr>
          <a:xfrm>
            <a:off x="2910840" y="3019052"/>
            <a:ext cx="2930850" cy="207970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511BDF1-0BF2-0125-5C1A-2CF5CA835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717" t="45003" b="4034"/>
          <a:stretch>
            <a:fillRect/>
          </a:stretch>
        </p:blipFill>
        <p:spPr>
          <a:xfrm>
            <a:off x="6457406" y="2499360"/>
            <a:ext cx="5222966" cy="24387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F5D7BA6-F9DA-5A65-FB31-92FFA294A66A}"/>
              </a:ext>
            </a:extLst>
          </p:cNvPr>
          <p:cNvSpPr txBox="1"/>
          <p:nvPr/>
        </p:nvSpPr>
        <p:spPr>
          <a:xfrm>
            <a:off x="10058405" y="317806"/>
            <a:ext cx="16219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>
                <a:solidFill>
                  <a:srgbClr val="0000FF"/>
                </a:solidFill>
              </a:defRPr>
            </a:lvl1pPr>
          </a:lstStyle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A.M (3D)</a:t>
            </a:r>
            <a:endParaRPr lang="en-GB" sz="24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F1AEB8-61A7-BB22-36CA-C87A2B7D8FA8}"/>
              </a:ext>
            </a:extLst>
          </p:cNvPr>
          <p:cNvSpPr txBox="1"/>
          <p:nvPr/>
        </p:nvSpPr>
        <p:spPr>
          <a:xfrm>
            <a:off x="10058405" y="2090813"/>
            <a:ext cx="14957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 algn="ctr">
              <a:defRPr sz="2000">
                <a:solidFill>
                  <a:srgbClr val="0000FF"/>
                </a:solidFill>
              </a:defRPr>
            </a:lvl1pPr>
          </a:lstStyle>
          <a:p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</a:t>
            </a:r>
            <a:endParaRPr lang="en-GB" sz="2400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A2FEBC7-5E88-737D-62CE-961378375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67" y="4268840"/>
            <a:ext cx="2402948" cy="207970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0BF4C24-79E7-B909-2D48-F842675B4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841" y="5209731"/>
            <a:ext cx="3846564" cy="12319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87012C3-282F-FEBE-C4B0-B50DEB4B2630}"/>
              </a:ext>
            </a:extLst>
          </p:cNvPr>
          <p:cNvSpPr txBox="1"/>
          <p:nvPr/>
        </p:nvSpPr>
        <p:spPr>
          <a:xfrm>
            <a:off x="8709" y="6673334"/>
            <a:ext cx="60960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600" b="0" i="0" u="none" strike="noStrike" baseline="0" dirty="0">
                <a:latin typeface="AdvOTa2fa4214.B"/>
              </a:rPr>
              <a:t>Solute trapping and non-equilibrium microstructure </a:t>
            </a:r>
            <a:r>
              <a:rPr lang="en-GB" sz="600" b="0" i="0" u="none" strike="noStrike" baseline="0" dirty="0">
                <a:latin typeface="AdvOTa2fa4214.B"/>
              </a:rPr>
              <a:t>during rapid solidi</a:t>
            </a:r>
            <a:r>
              <a:rPr lang="en-GB" sz="600" b="0" i="0" u="none" strike="noStrike" baseline="0" dirty="0">
                <a:latin typeface="AdvOTa2fa4214.B+fb"/>
              </a:rPr>
              <a:t>fi</a:t>
            </a:r>
            <a:r>
              <a:rPr lang="en-GB" sz="600" b="0" i="0" u="none" strike="noStrike" baseline="0" dirty="0">
                <a:latin typeface="AdvOTa2fa4214.B"/>
              </a:rPr>
              <a:t>cation of additive </a:t>
            </a:r>
            <a:r>
              <a:rPr lang="en-US" sz="600" b="0" i="0" u="none" strike="noStrike" baseline="0" dirty="0">
                <a:latin typeface="AdvOTa2fa4214.B"/>
              </a:rPr>
              <a:t>manufacturing</a:t>
            </a:r>
            <a:endParaRPr lang="LID4096" sz="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48A28C-04CA-5432-7115-335E104ADF21}"/>
              </a:ext>
            </a:extLst>
          </p:cNvPr>
          <p:cNvSpPr/>
          <p:nvPr/>
        </p:nvSpPr>
        <p:spPr>
          <a:xfrm>
            <a:off x="4759904" y="501803"/>
            <a:ext cx="1559713" cy="555335"/>
          </a:xfrm>
          <a:prstGeom prst="round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LID4096" sz="24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Powder</a:t>
            </a:r>
            <a:r>
              <a:rPr lang="pt-BR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 </a:t>
            </a:r>
            <a:r>
              <a:rPr lang="LID4096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Bed Fusion (PBF)</a:t>
            </a:r>
          </a:p>
        </p:txBody>
      </p:sp>
    </p:spTree>
    <p:extLst>
      <p:ext uri="{BB962C8B-B14F-4D97-AF65-F5344CB8AC3E}">
        <p14:creationId xmlns:p14="http://schemas.microsoft.com/office/powerpoint/2010/main" val="96702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EBB2E8-9439-BB93-A6EF-551B9FC807B7}"/>
              </a:ext>
            </a:extLst>
          </p:cNvPr>
          <p:cNvGrpSpPr>
            <a:grpSpLocks noChangeAspect="1"/>
          </p:cNvGrpSpPr>
          <p:nvPr/>
        </p:nvGrpSpPr>
        <p:grpSpPr>
          <a:xfrm>
            <a:off x="380554" y="116232"/>
            <a:ext cx="7388241" cy="3390539"/>
            <a:chOff x="132785" y="116232"/>
            <a:chExt cx="6926142" cy="3178477"/>
          </a:xfrm>
          <a:effectLst>
            <a:outerShdw blurRad="50800" dist="50800" dir="5400000" sx="110000" sy="110000" algn="ctr" rotWithShape="0">
              <a:srgbClr val="000000">
                <a:alpha val="43137"/>
              </a:srgbClr>
            </a:outerShd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AAB7011-D8CA-8C95-9920-2427E29C6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8640" y="116232"/>
              <a:ext cx="4690287" cy="181215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51FCD5-6DD4-8F2E-A175-A75B503BF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785" y="116232"/>
              <a:ext cx="2235855" cy="317847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DABE4C5-CE48-2FCC-B2AF-C39F279E1B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42" t="2493" r="2462" b="7363"/>
          <a:stretch>
            <a:fillRect/>
          </a:stretch>
        </p:blipFill>
        <p:spPr>
          <a:xfrm>
            <a:off x="3534936" y="2181885"/>
            <a:ext cx="8524280" cy="45598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FD66E51-4094-5727-6754-C37B58D0D33A}"/>
              </a:ext>
            </a:extLst>
          </p:cNvPr>
          <p:cNvGrpSpPr/>
          <p:nvPr/>
        </p:nvGrpSpPr>
        <p:grpSpPr>
          <a:xfrm>
            <a:off x="208230" y="4036934"/>
            <a:ext cx="3209925" cy="2637511"/>
            <a:chOff x="208230" y="4036934"/>
            <a:chExt cx="3209925" cy="26375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D9108D-075C-D25C-4C85-D3AF9D8C1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8230" y="4036934"/>
              <a:ext cx="3209925" cy="76200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33E7CCF-1FCF-7E2A-834A-D4BDC8B3E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8230" y="4876362"/>
              <a:ext cx="2152650" cy="99060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E6ED72A-85CE-824F-8C3F-318FC7CED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8230" y="5941020"/>
              <a:ext cx="2628900" cy="73342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776201B-C8EF-4845-8B14-13D831AB862E}"/>
              </a:ext>
            </a:extLst>
          </p:cNvPr>
          <p:cNvSpPr txBox="1"/>
          <p:nvPr/>
        </p:nvSpPr>
        <p:spPr>
          <a:xfrm>
            <a:off x="8166655" y="253558"/>
            <a:ext cx="347879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400" b="1" i="0" u="sng" strike="noStrike" baseline="0" dirty="0">
                <a:solidFill>
                  <a:srgbClr val="131413"/>
                </a:solidFill>
                <a:latin typeface="LhlvjmAdvTT577c760c"/>
              </a:rPr>
              <a:t>An analytical solution </a:t>
            </a:r>
            <a:r>
              <a:rPr lang="en-GB" sz="2000" b="0" i="0" u="none" strike="noStrike" baseline="0" dirty="0">
                <a:solidFill>
                  <a:srgbClr val="131413"/>
                </a:solidFill>
                <a:latin typeface="LhlvjmAdvTT577c760c"/>
              </a:rPr>
              <a:t>for temperature distribution in fillet arc welding</a:t>
            </a:r>
          </a:p>
          <a:p>
            <a:pPr algn="r"/>
            <a:r>
              <a:rPr lang="en-GB" sz="2000" b="0" i="0" u="none" strike="noStrike" baseline="0" dirty="0">
                <a:solidFill>
                  <a:srgbClr val="131413"/>
                </a:solidFill>
                <a:latin typeface="LhlvjmAdvTT577c760c"/>
              </a:rPr>
              <a:t>based on an adaptive function</a:t>
            </a:r>
          </a:p>
          <a:p>
            <a:pPr algn="r"/>
            <a:r>
              <a:rPr lang="en-US" dirty="0"/>
              <a:t>Nasiri &amp; </a:t>
            </a:r>
            <a:r>
              <a:rPr lang="en-US" dirty="0" err="1"/>
              <a:t>Enzinger</a:t>
            </a:r>
            <a:r>
              <a:rPr lang="en-US" dirty="0"/>
              <a:t> - 2018</a:t>
            </a:r>
            <a:endParaRPr lang="LID4096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6251A2-D638-571D-DCE9-8C044896874B}"/>
              </a:ext>
            </a:extLst>
          </p:cNvPr>
          <p:cNvSpPr txBox="1"/>
          <p:nvPr/>
        </p:nvSpPr>
        <p:spPr>
          <a:xfrm>
            <a:off x="4571302" y="189798"/>
            <a:ext cx="13917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 DED</a:t>
            </a:r>
            <a:endParaRPr lang="en-GB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5938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D28AE1-8658-9FB3-A277-187BDA0FE874}"/>
              </a:ext>
            </a:extLst>
          </p:cNvPr>
          <p:cNvSpPr/>
          <p:nvPr/>
        </p:nvSpPr>
        <p:spPr>
          <a:xfrm>
            <a:off x="6421922" y="201481"/>
            <a:ext cx="5071603" cy="318411"/>
          </a:xfrm>
          <a:prstGeom prst="round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Directed Energy Deposition (DED -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ARC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rley Old Style MT"/>
              </a:rPr>
              <a:t>)</a:t>
            </a:r>
            <a:endParaRPr lang="LID4096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orley Old Style 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7B8671-692C-2B83-C5B5-A3AEFD36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647" y="703935"/>
            <a:ext cx="5327657" cy="35308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DC0F4A-BF83-1FBC-10AA-B32F537FE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82" y="703935"/>
            <a:ext cx="5450372" cy="201603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297AC9-BEDB-F1E3-489F-0C86E947A993}"/>
              </a:ext>
            </a:extLst>
          </p:cNvPr>
          <p:cNvSpPr txBox="1"/>
          <p:nvPr/>
        </p:nvSpPr>
        <p:spPr>
          <a:xfrm>
            <a:off x="10254532" y="703935"/>
            <a:ext cx="13917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 DED</a:t>
            </a:r>
            <a:endParaRPr lang="en-GB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4118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C14BD59-47E8-C5D9-8AFC-F148706527C2}"/>
              </a:ext>
            </a:extLst>
          </p:cNvPr>
          <p:cNvGrpSpPr/>
          <p:nvPr/>
        </p:nvGrpSpPr>
        <p:grpSpPr>
          <a:xfrm>
            <a:off x="6788830" y="187420"/>
            <a:ext cx="5203690" cy="2662450"/>
            <a:chOff x="6132884" y="979900"/>
            <a:chExt cx="5203690" cy="26624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DC87A80-0346-D31E-5F26-94BFDB010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81999" y="979900"/>
              <a:ext cx="2766876" cy="71938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388581-7A19-8817-C767-1F2F45EF0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85137" y="1855632"/>
              <a:ext cx="5048250" cy="63817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EB1FFF9-4A2C-4F64-2C16-40E9E2F400B9}"/>
                </a:ext>
              </a:extLst>
            </p:cNvPr>
            <p:cNvGrpSpPr/>
            <p:nvPr/>
          </p:nvGrpSpPr>
          <p:grpSpPr>
            <a:xfrm>
              <a:off x="10386060" y="1610513"/>
              <a:ext cx="950514" cy="883294"/>
              <a:chOff x="9845949" y="5571569"/>
              <a:chExt cx="950514" cy="883294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2913BAFA-4C54-7AF2-E37F-24D9D13296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45949" y="5681017"/>
                <a:ext cx="645765" cy="7738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CA9137-AEED-FCFC-4410-E8FF1DC97D60}"/>
                  </a:ext>
                </a:extLst>
              </p:cNvPr>
              <p:cNvSpPr txBox="1"/>
              <p:nvPr/>
            </p:nvSpPr>
            <p:spPr>
              <a:xfrm>
                <a:off x="10491714" y="5571569"/>
                <a:ext cx="30474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GB" sz="1100" noProof="0" dirty="0"/>
                  <a:t>0</a:t>
                </a:r>
                <a:endParaRPr lang="en-GB" sz="1400" noProof="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EA9833-85F6-500A-7CCC-9E8A31F33D11}"/>
                </a:ext>
              </a:extLst>
            </p:cNvPr>
            <p:cNvSpPr/>
            <p:nvPr/>
          </p:nvSpPr>
          <p:spPr>
            <a:xfrm>
              <a:off x="8740443" y="1720540"/>
              <a:ext cx="1283035" cy="874287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D0B6F7-A108-10F7-EDC5-DFD9017F2E0F}"/>
                </a:ext>
              </a:extLst>
            </p:cNvPr>
            <p:cNvSpPr txBox="1"/>
            <p:nvPr/>
          </p:nvSpPr>
          <p:spPr>
            <a:xfrm>
              <a:off x="9137522" y="1381407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/>
                <a:t>Diffusion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F637DB3-C5A4-EE4A-ECFA-867DC6814BD2}"/>
                </a:ext>
              </a:extLst>
            </p:cNvPr>
            <p:cNvCxnSpPr/>
            <p:nvPr/>
          </p:nvCxnSpPr>
          <p:spPr>
            <a:xfrm>
              <a:off x="9212771" y="2400334"/>
              <a:ext cx="70701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13677D-D828-F4A5-9E84-AADFF3629640}"/>
                </a:ext>
              </a:extLst>
            </p:cNvPr>
            <p:cNvGrpSpPr/>
            <p:nvPr/>
          </p:nvGrpSpPr>
          <p:grpSpPr>
            <a:xfrm>
              <a:off x="7304054" y="1610513"/>
              <a:ext cx="950514" cy="883294"/>
              <a:chOff x="9845949" y="5571569"/>
              <a:chExt cx="950514" cy="883294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1FBC4EF-D541-0D8F-364C-27324D330E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45949" y="5681017"/>
                <a:ext cx="645765" cy="77384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D380E6-43B8-2CC5-69A1-37F15B1E25EC}"/>
                  </a:ext>
                </a:extLst>
              </p:cNvPr>
              <p:cNvSpPr txBox="1"/>
              <p:nvPr/>
            </p:nvSpPr>
            <p:spPr>
              <a:xfrm>
                <a:off x="10491714" y="5571569"/>
                <a:ext cx="304749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GB" sz="1100" noProof="0" dirty="0">
                    <a:solidFill>
                      <a:srgbClr val="FF0000"/>
                    </a:solidFill>
                  </a:rPr>
                  <a:t>0</a:t>
                </a:r>
                <a:endParaRPr lang="en-GB" sz="1400" noProof="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0E35160-F9B2-5986-AF3C-19E52912E109}"/>
                </a:ext>
              </a:extLst>
            </p:cNvPr>
            <p:cNvGrpSpPr/>
            <p:nvPr/>
          </p:nvGrpSpPr>
          <p:grpSpPr>
            <a:xfrm>
              <a:off x="6132884" y="2594064"/>
              <a:ext cx="1576251" cy="1048286"/>
              <a:chOff x="6063657" y="3023858"/>
              <a:chExt cx="1576251" cy="1048286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24F183D-C502-8636-6FF8-26FD76DAF0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7406" t="11705" b="67943"/>
              <a:stretch>
                <a:fillRect/>
              </a:stretch>
            </p:blipFill>
            <p:spPr>
              <a:xfrm>
                <a:off x="6112772" y="3023858"/>
                <a:ext cx="1483995" cy="40514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249F1059-0003-0D55-3A13-DB52AED51F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207" t="65732" r="57173" b="3646"/>
              <a:stretch>
                <a:fillRect/>
              </a:stretch>
            </p:blipFill>
            <p:spPr>
              <a:xfrm>
                <a:off x="6063657" y="3462544"/>
                <a:ext cx="1576251" cy="609600"/>
              </a:xfrm>
              <a:prstGeom prst="rect">
                <a:avLst/>
              </a:prstGeom>
            </p:spPr>
          </p:pic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2877E64-6625-A4EC-FBDE-10C59026951A}"/>
              </a:ext>
            </a:extLst>
          </p:cNvPr>
          <p:cNvGrpSpPr/>
          <p:nvPr/>
        </p:nvGrpSpPr>
        <p:grpSpPr>
          <a:xfrm>
            <a:off x="3981996" y="3101502"/>
            <a:ext cx="7956007" cy="3074926"/>
            <a:chOff x="3990331" y="3540188"/>
            <a:chExt cx="7956007" cy="307492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D2BEF95-69B0-064C-A5E7-2EC89B79D477}"/>
                </a:ext>
              </a:extLst>
            </p:cNvPr>
            <p:cNvGrpSpPr/>
            <p:nvPr/>
          </p:nvGrpSpPr>
          <p:grpSpPr>
            <a:xfrm>
              <a:off x="3990331" y="3540188"/>
              <a:ext cx="7956007" cy="3074926"/>
              <a:chOff x="3754261" y="3279578"/>
              <a:chExt cx="7956007" cy="3074926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CAC372F-1AD2-75FA-87E0-A15ED3A38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1946" y="3279578"/>
                <a:ext cx="1381125" cy="381000"/>
              </a:xfrm>
              <a:prstGeom prst="rect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235EA163-5A44-CB13-AF5A-082E5F493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8874"/>
              <a:stretch>
                <a:fillRect/>
              </a:stretch>
            </p:blipFill>
            <p:spPr>
              <a:xfrm>
                <a:off x="6991946" y="3739891"/>
                <a:ext cx="4695825" cy="720418"/>
              </a:xfrm>
              <a:prstGeom prst="rect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707436EC-DAC3-05BB-B16A-A5125C0E0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t="5183" b="14643"/>
              <a:stretch>
                <a:fillRect/>
              </a:stretch>
            </p:blipFill>
            <p:spPr>
              <a:xfrm>
                <a:off x="9563696" y="5382357"/>
                <a:ext cx="2124075" cy="664370"/>
              </a:xfrm>
              <a:prstGeom prst="rect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4F47EBA-CA9D-6848-00AB-41E7FC21B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24901" t="62166" r="1990" b="23492"/>
              <a:stretch>
                <a:fillRect/>
              </a:stretch>
            </p:blipFill>
            <p:spPr>
              <a:xfrm>
                <a:off x="3754261" y="4534410"/>
                <a:ext cx="7933510" cy="77384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049E6A-CFBC-ABB4-DDBA-DD657CCB78C5}"/>
                  </a:ext>
                </a:extLst>
              </p:cNvPr>
              <p:cNvSpPr txBox="1"/>
              <p:nvPr/>
            </p:nvSpPr>
            <p:spPr>
              <a:xfrm>
                <a:off x="9586193" y="6046727"/>
                <a:ext cx="21240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ctr"/>
                <a:r>
                  <a:rPr lang="en-US" sz="1400" dirty="0"/>
                  <a:t>Marangoni shear stress </a:t>
                </a:r>
                <a:endParaRPr lang="en-GB" sz="3600" noProof="0" dirty="0">
                  <a:solidFill>
                    <a:srgbClr val="FF0000"/>
                  </a:solidFill>
                </a:endParaRPr>
              </a:p>
            </p:txBody>
          </p: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7D41F92-A924-BFE8-BD64-102B9933C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58062" y="5892329"/>
              <a:ext cx="2333625" cy="295275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5DB4A8B6-CC82-25CF-7DA4-95451A5454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480" y="4911924"/>
            <a:ext cx="1857375" cy="84772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E2E764C-A418-858D-47E7-014D877AD9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825" y="5759649"/>
            <a:ext cx="3219450" cy="10953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6CEBFC-4EAE-21F5-9CD2-72568EF52188}"/>
              </a:ext>
            </a:extLst>
          </p:cNvPr>
          <p:cNvSpPr txBox="1"/>
          <p:nvPr/>
        </p:nvSpPr>
        <p:spPr>
          <a:xfrm>
            <a:off x="8968504" y="6606609"/>
            <a:ext cx="32194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500" i="0" u="none" strike="noStrike" baseline="0" dirty="0">
                <a:solidFill>
                  <a:srgbClr val="000000"/>
                </a:solidFill>
                <a:latin typeface="Myriad Pro"/>
              </a:rPr>
              <a:t>Multi-scale modeling approaches in wire arc additive manufacturing: from melt pool dynamics to residual stress prediction </a:t>
            </a:r>
            <a:r>
              <a:rPr lang="en-GB" sz="500" dirty="0">
                <a:solidFill>
                  <a:srgbClr val="000000"/>
                </a:solidFill>
                <a:latin typeface="Myriad Pro"/>
              </a:rPr>
              <a:t>&amp; </a:t>
            </a:r>
            <a:r>
              <a:rPr lang="LID4096" sz="500" dirty="0"/>
              <a:t>AM PravaH®</a:t>
            </a:r>
          </a:p>
        </p:txBody>
      </p:sp>
    </p:spTree>
    <p:extLst>
      <p:ext uri="{BB962C8B-B14F-4D97-AF65-F5344CB8AC3E}">
        <p14:creationId xmlns:p14="http://schemas.microsoft.com/office/powerpoint/2010/main" val="345337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7DF188-F017-C769-7AD1-5A6D9484570D}"/>
              </a:ext>
            </a:extLst>
          </p:cNvPr>
          <p:cNvSpPr txBox="1"/>
          <p:nvPr/>
        </p:nvSpPr>
        <p:spPr>
          <a:xfrm>
            <a:off x="254101" y="5179900"/>
            <a:ext cx="77339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Contatar:</a:t>
            </a:r>
          </a:p>
          <a:p>
            <a:endParaRPr lang="pt-BR" dirty="0"/>
          </a:p>
          <a:p>
            <a:r>
              <a:rPr lang="pt-BR" dirty="0"/>
              <a:t>Prof. Carlos Henrique Marchi		UFPR	– CFD – Computação</a:t>
            </a:r>
          </a:p>
          <a:p>
            <a:r>
              <a:rPr lang="pt-BR" dirty="0"/>
              <a:t>Guilherme Ferreira Gomes		UNIFEI 	– A.M. – CFD</a:t>
            </a:r>
          </a:p>
          <a:p>
            <a:r>
              <a:rPr lang="en-US" dirty="0"/>
              <a:t>Diego </a:t>
            </a:r>
            <a:r>
              <a:rPr lang="en-US" dirty="0" err="1"/>
              <a:t>Raimundi</a:t>
            </a:r>
            <a:r>
              <a:rPr lang="en-US" dirty="0"/>
              <a:t> Corradi </a:t>
            </a:r>
            <a:r>
              <a:rPr lang="pt-BR" dirty="0"/>
              <a:t>(WAAM)	UFMG  	– OSCILAÇÃO MAGNÉTICA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0B3A0-BFB2-AA01-579D-FC29D1EA9A68}"/>
              </a:ext>
            </a:extLst>
          </p:cNvPr>
          <p:cNvSpPr txBox="1"/>
          <p:nvPr/>
        </p:nvSpPr>
        <p:spPr>
          <a:xfrm>
            <a:off x="1473302" y="2227694"/>
            <a:ext cx="7733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MODELO:</a:t>
            </a:r>
          </a:p>
          <a:p>
            <a:r>
              <a:rPr lang="pt-BR" dirty="0"/>
              <a:t>Fonte (externa) de calor x Material - Condução, convecção, radiação</a:t>
            </a:r>
            <a:endParaRPr lang="LID4096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A9585D2-D4E1-83FD-62F8-A5A9F54980A6}"/>
              </a:ext>
            </a:extLst>
          </p:cNvPr>
          <p:cNvGrpSpPr/>
          <p:nvPr/>
        </p:nvGrpSpPr>
        <p:grpSpPr>
          <a:xfrm>
            <a:off x="199480" y="333784"/>
            <a:ext cx="3305981" cy="1708802"/>
            <a:chOff x="199480" y="333784"/>
            <a:chExt cx="3305981" cy="1708802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67BFDFB-E4FE-7C3D-65ED-F5647DF4B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480" y="333784"/>
              <a:ext cx="2181581" cy="170880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011AAB3-B5AB-5D3D-DB2C-556F79E7A69D}"/>
                </a:ext>
              </a:extLst>
            </p:cNvPr>
            <p:cNvSpPr txBox="1"/>
            <p:nvPr/>
          </p:nvSpPr>
          <p:spPr>
            <a:xfrm>
              <a:off x="1733550" y="1145127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/>
                <a:t>FVM</a:t>
              </a:r>
              <a:endParaRPr lang="en-GB" sz="2400" noProof="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8604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5A4F41C-7B9C-8F0B-ED94-16CEA8C41DB9}"/>
              </a:ext>
            </a:extLst>
          </p:cNvPr>
          <p:cNvGrpSpPr/>
          <p:nvPr/>
        </p:nvGrpSpPr>
        <p:grpSpPr>
          <a:xfrm>
            <a:off x="191589" y="156754"/>
            <a:ext cx="11695611" cy="6467900"/>
            <a:chOff x="607054" y="495112"/>
            <a:chExt cx="10925552" cy="61295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DC42CEF-AD24-C393-6ED0-35BE5728F9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7054" y="495112"/>
              <a:ext cx="10925552" cy="6129542"/>
              <a:chOff x="607054" y="495112"/>
              <a:chExt cx="10925552" cy="612954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2EBD62A-9AA4-2364-9DB5-A2E80B72F2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3135"/>
              <a:stretch>
                <a:fillRect/>
              </a:stretch>
            </p:blipFill>
            <p:spPr>
              <a:xfrm>
                <a:off x="607054" y="495112"/>
                <a:ext cx="10851664" cy="522667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957222-A3DB-85F2-F22A-343ED12BEC06}"/>
                  </a:ext>
                </a:extLst>
              </p:cNvPr>
              <p:cNvSpPr txBox="1"/>
              <p:nvPr/>
            </p:nvSpPr>
            <p:spPr>
              <a:xfrm>
                <a:off x="6326109" y="2786174"/>
                <a:ext cx="36327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Laser heat input … latent input </a:t>
                </a:r>
                <a:endParaRPr lang="LID4096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1F4CE9-F311-EE29-6519-1396E63DC8DB}"/>
                  </a:ext>
                </a:extLst>
              </p:cNvPr>
              <p:cNvSpPr txBox="1"/>
              <p:nvPr/>
            </p:nvSpPr>
            <p:spPr>
              <a:xfrm>
                <a:off x="976264" y="5916768"/>
                <a:ext cx="10556342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2000" b="0" u="none" strike="noStrike" dirty="0">
                    <a:solidFill>
                      <a:srgbClr val="0000FF"/>
                    </a:solidFill>
                    <a:effectLst/>
                    <a:latin typeface="Google Sans"/>
                  </a:rPr>
                  <a:t>“This gives you the basis of how the simulation solver is modelled and </a:t>
                </a:r>
                <a:r>
                  <a:rPr lang="en-GB" sz="2000" b="0" u="none" strike="noStrike" dirty="0">
                    <a:solidFill>
                      <a:srgbClr val="FF0000"/>
                    </a:solidFill>
                    <a:effectLst/>
                    <a:latin typeface="Google Sans"/>
                  </a:rPr>
                  <a:t>how we can rely on the data that has been predicted </a:t>
                </a:r>
                <a:r>
                  <a:rPr lang="en-GB" sz="2000" b="1" u="none" strike="noStrike" dirty="0">
                    <a:solidFill>
                      <a:srgbClr val="00B050"/>
                    </a:solidFill>
                    <a:effectLst/>
                    <a:latin typeface="Google Sans"/>
                  </a:rPr>
                  <a:t>… based on this robust physic equations that are provided” </a:t>
                </a:r>
                <a:endParaRPr lang="LID4096" sz="2000" b="1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601D0C4-AB71-192A-6BAE-2D32411C5691}"/>
                  </a:ext>
                </a:extLst>
              </p:cNvPr>
              <p:cNvCxnSpPr/>
              <p:nvPr/>
            </p:nvCxnSpPr>
            <p:spPr>
              <a:xfrm>
                <a:off x="878186" y="2598345"/>
                <a:ext cx="2770361" cy="0"/>
              </a:xfrm>
              <a:prstGeom prst="line">
                <a:avLst/>
              </a:prstGeom>
              <a:ln w="38100">
                <a:solidFill>
                  <a:srgbClr val="00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51581D6-050B-AB35-E91D-BE6723F29376}"/>
                  </a:ext>
                </a:extLst>
              </p:cNvPr>
              <p:cNvCxnSpPr/>
              <p:nvPr/>
            </p:nvCxnSpPr>
            <p:spPr>
              <a:xfrm>
                <a:off x="2687370" y="3429000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83735AB-302F-C9AE-3FF8-46C47F14FFAA}"/>
                  </a:ext>
                </a:extLst>
              </p:cNvPr>
              <p:cNvCxnSpPr/>
              <p:nvPr/>
            </p:nvCxnSpPr>
            <p:spPr>
              <a:xfrm>
                <a:off x="956649" y="4441479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EAF8CEC-4854-3856-02CD-A95D3AB85367}"/>
                  </a:ext>
                </a:extLst>
              </p:cNvPr>
              <p:cNvCxnSpPr/>
              <p:nvPr/>
            </p:nvCxnSpPr>
            <p:spPr>
              <a:xfrm>
                <a:off x="765017" y="5472065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Arrow: Down 12">
                <a:extLst>
                  <a:ext uri="{FF2B5EF4-FFF2-40B4-BE49-F238E27FC236}">
                    <a16:creationId xmlns:a16="http://schemas.microsoft.com/office/drawing/2014/main" id="{1A9F3B76-7F9F-DA46-531F-9DF3B645F5B1}"/>
                  </a:ext>
                </a:extLst>
              </p:cNvPr>
              <p:cNvSpPr/>
              <p:nvPr/>
            </p:nvSpPr>
            <p:spPr>
              <a:xfrm>
                <a:off x="6096000" y="3612333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" name="Arrow: Down 13">
                <a:extLst>
                  <a:ext uri="{FF2B5EF4-FFF2-40B4-BE49-F238E27FC236}">
                    <a16:creationId xmlns:a16="http://schemas.microsoft.com/office/drawing/2014/main" id="{C36CF552-73B3-9AF1-3656-6D52BC8B12E6}"/>
                  </a:ext>
                </a:extLst>
              </p:cNvPr>
              <p:cNvSpPr/>
              <p:nvPr/>
            </p:nvSpPr>
            <p:spPr>
              <a:xfrm>
                <a:off x="7119796" y="3612333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" name="Arrow: Down 14">
                <a:extLst>
                  <a:ext uri="{FF2B5EF4-FFF2-40B4-BE49-F238E27FC236}">
                    <a16:creationId xmlns:a16="http://schemas.microsoft.com/office/drawing/2014/main" id="{FA345EE5-1FBC-C64A-AA9E-36628533B164}"/>
                  </a:ext>
                </a:extLst>
              </p:cNvPr>
              <p:cNvSpPr/>
              <p:nvPr/>
            </p:nvSpPr>
            <p:spPr>
              <a:xfrm>
                <a:off x="8947087" y="4769667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" name="Arrow: Down 15">
                <a:extLst>
                  <a:ext uri="{FF2B5EF4-FFF2-40B4-BE49-F238E27FC236}">
                    <a16:creationId xmlns:a16="http://schemas.microsoft.com/office/drawing/2014/main" id="{68520981-5B4A-BFEB-72E1-C0718E35858C}"/>
                  </a:ext>
                </a:extLst>
              </p:cNvPr>
              <p:cNvSpPr/>
              <p:nvPr/>
            </p:nvSpPr>
            <p:spPr>
              <a:xfrm>
                <a:off x="10631031" y="4769667"/>
                <a:ext cx="316871" cy="271604"/>
              </a:xfrm>
              <a:prstGeom prst="downArrow">
                <a:avLst/>
              </a:prstGeom>
              <a:solidFill>
                <a:srgbClr val="0033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AA139EA-9305-9CAD-BBCE-A72932AD9499}"/>
                  </a:ext>
                </a:extLst>
              </p:cNvPr>
              <p:cNvCxnSpPr/>
              <p:nvPr/>
            </p:nvCxnSpPr>
            <p:spPr>
              <a:xfrm>
                <a:off x="3238122" y="5618430"/>
                <a:ext cx="219456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C9FB577-F992-4E60-14EB-5332DB8C4422}"/>
                  </a:ext>
                </a:extLst>
              </p:cNvPr>
              <p:cNvSpPr txBox="1"/>
              <p:nvPr/>
            </p:nvSpPr>
            <p:spPr>
              <a:xfrm>
                <a:off x="956649" y="2583479"/>
                <a:ext cx="36327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Volum</a:t>
                </a:r>
                <a:r>
                  <a:rPr lang="en-GB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e of fluid method</a:t>
                </a:r>
                <a:endParaRPr lang="LID4096" sz="20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EAE0F0-62B5-17B4-5D8A-18633E1A3D31}"/>
                  </a:ext>
                </a:extLst>
              </p:cNvPr>
              <p:cNvSpPr txBox="1"/>
              <p:nvPr/>
            </p:nvSpPr>
            <p:spPr>
              <a:xfrm>
                <a:off x="10702141" y="565429"/>
                <a:ext cx="636419" cy="40011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none" strike="noStrike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CFD</a:t>
                </a:r>
                <a:endParaRPr lang="LID4096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1E3B3D-BF74-FBBD-5231-49BE03323EE8}"/>
                  </a:ext>
                </a:extLst>
              </p:cNvPr>
              <p:cNvSpPr txBox="1"/>
              <p:nvPr/>
            </p:nvSpPr>
            <p:spPr>
              <a:xfrm>
                <a:off x="9406550" y="3175122"/>
                <a:ext cx="1721328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6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Surface tension </a:t>
                </a:r>
              </a:p>
              <a:p>
                <a:pPr algn="r"/>
                <a:r>
                  <a:rPr lang="en-GB" sz="1600" b="1" u="none" strike="noStrike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oogle Sans"/>
                  </a:rPr>
                  <a:t>Marangoni force</a:t>
                </a:r>
                <a:endParaRPr lang="LID4096" sz="16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7AF0705-8CE9-94F0-E953-8CD5B4245D40}"/>
                </a:ext>
              </a:extLst>
            </p:cNvPr>
            <p:cNvSpPr txBox="1"/>
            <p:nvPr/>
          </p:nvSpPr>
          <p:spPr>
            <a:xfrm>
              <a:off x="8265814" y="951544"/>
              <a:ext cx="3072746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LID4096" sz="1200" dirty="0">
                  <a:hlinkClick r:id="rId3"/>
                </a:rPr>
                <a:t>https://github.com/DLR-RY/</a:t>
              </a:r>
              <a:r>
                <a:rPr lang="LID4096" sz="2000" b="1" dirty="0">
                  <a:hlinkClick r:id="rId3"/>
                </a:rPr>
                <a:t>VoFLibrary</a:t>
              </a:r>
              <a:endParaRPr lang="LID4096" sz="1600" b="1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0E8FB94-86F6-2C05-AADA-342736A2CDC8}"/>
              </a:ext>
            </a:extLst>
          </p:cNvPr>
          <p:cNvSpPr txBox="1"/>
          <p:nvPr/>
        </p:nvSpPr>
        <p:spPr>
          <a:xfrm>
            <a:off x="9888371" y="6690465"/>
            <a:ext cx="2304838" cy="16158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defPPr>
              <a:defRPr lang="LID4096"/>
            </a:defPPr>
            <a:lvl1pPr algn="r">
              <a:defRPr sz="2800" b="1" u="none" strike="noStrike">
                <a:solidFill>
                  <a:srgbClr val="FF0000"/>
                </a:solidFill>
                <a:effectLst/>
                <a:latin typeface="Google Sans"/>
              </a:defRPr>
            </a:lvl1pPr>
          </a:lstStyle>
          <a:p>
            <a:r>
              <a:rPr lang="LID4096" sz="1050" dirty="0"/>
              <a:t>AM PravaH®</a:t>
            </a:r>
          </a:p>
        </p:txBody>
      </p:sp>
    </p:spTree>
    <p:extLst>
      <p:ext uri="{BB962C8B-B14F-4D97-AF65-F5344CB8AC3E}">
        <p14:creationId xmlns:p14="http://schemas.microsoft.com/office/powerpoint/2010/main" val="1172744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9B5CFE-A429-A8E9-E961-AA1723B8FA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66" t="51938" r="20133" b="2447"/>
          <a:stretch>
            <a:fillRect/>
          </a:stretch>
        </p:blipFill>
        <p:spPr>
          <a:xfrm>
            <a:off x="235390" y="199177"/>
            <a:ext cx="5432079" cy="25960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B06E78-E635-0AE0-00E0-BED4328EBC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5" t="5552" r="1319" b="14870"/>
          <a:stretch>
            <a:fillRect/>
          </a:stretch>
        </p:blipFill>
        <p:spPr>
          <a:xfrm>
            <a:off x="3548959" y="2717259"/>
            <a:ext cx="8407652" cy="38804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4F73C1-A697-9027-7856-54AEADFDE094}"/>
              </a:ext>
            </a:extLst>
          </p:cNvPr>
          <p:cNvSpPr txBox="1"/>
          <p:nvPr/>
        </p:nvSpPr>
        <p:spPr>
          <a:xfrm>
            <a:off x="5963462" y="133781"/>
            <a:ext cx="29439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sng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Meso-scale</a:t>
            </a:r>
            <a:r>
              <a:rPr lang="en-GB" sz="1800" b="1" i="0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models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pool geometry, bead formation, and dilution.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54687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3299</TotalTime>
  <Words>665</Words>
  <Application>Microsoft Office PowerPoint</Application>
  <PresentationFormat>Widescreen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AdvOT46dcae81</vt:lpstr>
      <vt:lpstr>AdvOTa2fa4214.B</vt:lpstr>
      <vt:lpstr>AdvOTa2fa4214.B+fb</vt:lpstr>
      <vt:lpstr>AdvOTdd63dae3</vt:lpstr>
      <vt:lpstr>AdvOTdd63dae3+03</vt:lpstr>
      <vt:lpstr>Arial</vt:lpstr>
      <vt:lpstr>Calibri</vt:lpstr>
      <vt:lpstr>Calibri Light</vt:lpstr>
      <vt:lpstr>Google Sans</vt:lpstr>
      <vt:lpstr>Horley Old Style MT</vt:lpstr>
      <vt:lpstr>LhlvjmAdvTT577c760c</vt:lpstr>
      <vt:lpstr>Myriad Pro</vt:lpstr>
      <vt:lpstr>OpenSans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88</cp:revision>
  <dcterms:created xsi:type="dcterms:W3CDTF">2026-09-30T17:20:39Z</dcterms:created>
  <dcterms:modified xsi:type="dcterms:W3CDTF">2026-10-05T18:44:54Z</dcterms:modified>
</cp:coreProperties>
</file>