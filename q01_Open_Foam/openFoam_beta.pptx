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E7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D61-E0E5-6C72-C54F-7628B0F0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2186D-C881-9373-1998-342384F1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1D0A-EF62-285D-9183-65966AA4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5C0A-264B-01D6-C9EE-B5CF742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D4BD-37AF-ECAC-43E7-EBA6276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4E9C-37E5-C451-30FE-57F941EC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8DD0-929E-5524-E292-0D67AF6F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DC0C-3DEC-D6A0-C747-5D264982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A0B-F63C-87F2-1818-20FC3B87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E64-C8F3-E549-A522-AB53B8D8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45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187-C830-6EC9-2F9C-57EE7EF8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355B-5837-559F-0C62-BE8137F8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5A62-9FD1-43AF-5BB6-DD4EEE2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CC27-CB3D-C5E0-B2E7-54885B35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110E-B2BB-5AF3-1E85-194A80B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9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DA8-6400-5744-5B0E-F16C12F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0E0E-E08A-BB9F-67F0-9DC9B677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095A8-9B5D-6503-FBBB-5AA1E45B3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78AA-D7C3-06C3-1312-6E4AE3F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2628-24CB-5C9A-373C-086B52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631-EAEB-2498-6B81-8A16F7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0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50CB-0CCD-0344-DA7D-906CE26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643C-66E8-8188-1C7A-D30D4EC6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75E80-CD44-F8AE-4D08-B065D021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8B0C4-D33D-82E4-379C-AA5510AF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C3E1-2ABB-7DA9-308D-46B6D1A83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0E15-CC1F-4523-43BA-5EB26CFE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CA21-DB4C-1D0F-9C98-7B19CC5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9FEFD-5C23-06F3-8415-9CA79630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95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254-56B4-E122-B071-9AAAA6C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792F3-89DE-DCC4-8940-C1BC35D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72E0B-1915-463E-8D77-582F849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7BB10-7AA7-F13F-ECC4-1C3955CF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82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E4944-B874-CB00-7F5B-D9366F1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6A870-DF66-8291-6BE4-8B326AE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30FE-B4DF-2BCD-0659-F362BD2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64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871-9BF2-8AC9-C213-7B3FBD7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457D-B644-ADF2-1719-2F6DE118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A7A3F-C2B5-AB32-3955-D57273D8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E3201-1425-77FC-2190-154B84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2529-4051-6BE1-1A8B-5C5FAB01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B76-2937-C5EE-1D1F-9A7DC4E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7D7-4133-7659-80BA-7809F2C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A0E90-DD7E-EC6A-4635-8E2C7A488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488B-41A4-D683-4735-EE7231C87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A442-CA3D-DA99-ED43-510E7EE1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CDBE1-E250-F438-FC01-C7EFB503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B16D9-C319-E976-E573-77200E6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24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A14D-1925-799F-3060-4D025AFA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00ED-E441-7A1A-A3C8-7F594EB0B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FB6C-19C3-686A-B427-D0FA27EB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511-C983-37CE-12A7-5E757C0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466F-0AE7-4B18-582D-155846CE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28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C23B1-CC57-4AA7-1404-8F12F792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5EED-0C59-B74D-3B0D-D8443287C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8E20-2C3C-5DFD-0DF6-2107B86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F950-1EC5-B858-83E8-ECAA42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305C-B816-E5B9-7931-FC4DCBF1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34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E029C-018F-A872-5F6F-36A65D81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4F39-8059-F351-237E-C5D4AB0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7534-6C95-8156-4758-F655ACB0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86FF-3DC0-4D03-9102-64E826D8EE6E}" type="datetimeFigureOut">
              <a:rPr lang="LID4096" smtClean="0"/>
              <a:t>09/14/2026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5FFD-A04D-B66E-4D58-AED7887A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79332-3623-35DD-6626-8EF3F020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7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www.youtube.com/watch?v=PaDDplpAJJ0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hyperlink" Target="file:///\\wsl.localhost\Ubuntu\mnt\wslg\distro\usr\lib\openfoam\openfoam2412\applications\solvers" TargetMode="Externa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36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5F85A9-FF1B-56FF-B4F8-080257483BDE}"/>
              </a:ext>
            </a:extLst>
          </p:cNvPr>
          <p:cNvSpPr txBox="1"/>
          <p:nvPr/>
        </p:nvSpPr>
        <p:spPr>
          <a:xfrm>
            <a:off x="408691" y="2373934"/>
            <a:ext cx="53225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F</a:t>
            </a:r>
            <a:r>
              <a:rPr lang="en-GB" sz="2800" b="1" i="0" u="none" strike="noStrike" baseline="0" dirty="0">
                <a:latin typeface="LMRoman12-Regular"/>
              </a:rPr>
              <a:t>ield </a:t>
            </a:r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O</a:t>
            </a:r>
            <a:r>
              <a:rPr lang="en-GB" sz="2800" b="1" i="0" u="none" strike="noStrike" baseline="0" dirty="0">
                <a:latin typeface="LMRoman12-Regular"/>
              </a:rPr>
              <a:t>peration </a:t>
            </a:r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A</a:t>
            </a:r>
            <a:r>
              <a:rPr lang="en-GB" sz="2800" b="1" i="0" u="none" strike="noStrike" baseline="0" dirty="0">
                <a:latin typeface="LMRoman12-Regular"/>
              </a:rPr>
              <a:t>nd </a:t>
            </a:r>
            <a:r>
              <a:rPr lang="en-GB" sz="2800" b="1" i="0" u="sng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M</a:t>
            </a:r>
            <a:r>
              <a:rPr lang="en-GB" sz="2800" b="1" i="0" u="none" strike="noStrike" baseline="0" dirty="0">
                <a:latin typeface="LMRoman12-Regular"/>
              </a:rPr>
              <a:t>anipulation </a:t>
            </a:r>
            <a:endParaRPr lang="LID4096" sz="2800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AE8BF9E-F9BA-B702-A493-5025E9CC8625}"/>
              </a:ext>
            </a:extLst>
          </p:cNvPr>
          <p:cNvGrpSpPr>
            <a:grpSpLocks noChangeAspect="1"/>
          </p:cNvGrpSpPr>
          <p:nvPr/>
        </p:nvGrpSpPr>
        <p:grpSpPr>
          <a:xfrm>
            <a:off x="565019" y="3166449"/>
            <a:ext cx="3478797" cy="2896389"/>
            <a:chOff x="570368" y="3228186"/>
            <a:chExt cx="2453773" cy="204297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A4510B1-08AD-722C-2323-BF07527EC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6539" y="3228186"/>
              <a:ext cx="1747602" cy="204297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38E16340-B04A-BD7E-C439-B2F0D2752FF4}"/>
                </a:ext>
              </a:extLst>
            </p:cNvPr>
            <p:cNvSpPr/>
            <p:nvPr/>
          </p:nvSpPr>
          <p:spPr>
            <a:xfrm>
              <a:off x="570368" y="4721351"/>
              <a:ext cx="491402" cy="461665"/>
            </a:xfrm>
            <a:prstGeom prst="rightArrow">
              <a:avLst/>
            </a:prstGeom>
            <a:solidFill>
              <a:srgbClr val="0000FF"/>
            </a:solidFill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152A27A-57FB-DE69-67B1-731C23C8C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92" t="1090"/>
          <a:stretch>
            <a:fillRect/>
          </a:stretch>
        </p:blipFill>
        <p:spPr>
          <a:xfrm>
            <a:off x="6116811" y="2373934"/>
            <a:ext cx="5510170" cy="395032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7FB053-56FD-2B57-6107-3979686561C6}"/>
              </a:ext>
            </a:extLst>
          </p:cNvPr>
          <p:cNvSpPr txBox="1"/>
          <p:nvPr/>
        </p:nvSpPr>
        <p:spPr>
          <a:xfrm>
            <a:off x="408691" y="1850714"/>
            <a:ext cx="1212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Open</a:t>
            </a:r>
            <a:endParaRPr lang="LID4096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135D20-BB5B-6452-A701-2E4A2634173B}"/>
              </a:ext>
            </a:extLst>
          </p:cNvPr>
          <p:cNvSpPr txBox="1"/>
          <p:nvPr/>
        </p:nvSpPr>
        <p:spPr>
          <a:xfrm>
            <a:off x="408691" y="285954"/>
            <a:ext cx="3325110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 ==========                 </a:t>
            </a:r>
          </a:p>
          <a:p>
            <a:r>
              <a:rPr lang="en-US" dirty="0">
                <a:solidFill>
                  <a:schemeClr val="bg1"/>
                </a:solidFill>
              </a:rPr>
              <a:t>    \ \              /    </a:t>
            </a:r>
            <a:r>
              <a:rPr lang="en-US" b="1" dirty="0">
                <a:solidFill>
                  <a:schemeClr val="bg1"/>
                </a:solidFill>
              </a:rPr>
              <a:t>F</a:t>
            </a:r>
            <a:r>
              <a:rPr lang="en-US" dirty="0">
                <a:solidFill>
                  <a:schemeClr val="bg1"/>
                </a:solidFill>
              </a:rPr>
              <a:t>    ield             </a:t>
            </a:r>
          </a:p>
          <a:p>
            <a:r>
              <a:rPr lang="en-US" dirty="0">
                <a:solidFill>
                  <a:schemeClr val="bg1"/>
                </a:solidFill>
              </a:rPr>
              <a:t>      \ \          /      </a:t>
            </a:r>
            <a:r>
              <a:rPr lang="en-US" b="1" dirty="0">
                <a:solidFill>
                  <a:schemeClr val="bg1"/>
                </a:solidFill>
              </a:rPr>
              <a:t>O</a:t>
            </a:r>
            <a:r>
              <a:rPr lang="en-US" dirty="0">
                <a:solidFill>
                  <a:schemeClr val="bg1"/>
                </a:solidFill>
              </a:rPr>
              <a:t>   peration    </a:t>
            </a:r>
          </a:p>
          <a:p>
            <a:r>
              <a:rPr lang="en-US" dirty="0">
                <a:solidFill>
                  <a:schemeClr val="bg1"/>
                </a:solidFill>
              </a:rPr>
              <a:t>        \ \      /        </a:t>
            </a:r>
            <a:r>
              <a:rPr lang="en-US" b="1" dirty="0">
                <a:solidFill>
                  <a:schemeClr val="bg1"/>
                </a:solidFill>
              </a:rPr>
              <a:t>A</a:t>
            </a:r>
            <a:r>
              <a:rPr lang="en-US" dirty="0">
                <a:solidFill>
                  <a:schemeClr val="bg1"/>
                </a:solidFill>
              </a:rPr>
              <a:t>   nd          </a:t>
            </a:r>
          </a:p>
          <a:p>
            <a:r>
              <a:rPr lang="en-US" dirty="0">
                <a:solidFill>
                  <a:schemeClr val="bg1"/>
                </a:solidFill>
              </a:rPr>
              <a:t>          \ \  /          </a:t>
            </a:r>
            <a:r>
              <a:rPr lang="en-US" b="1" dirty="0">
                <a:solidFill>
                  <a:schemeClr val="bg1"/>
                </a:solidFill>
              </a:rPr>
              <a:t>M</a:t>
            </a:r>
            <a:r>
              <a:rPr lang="en-US" dirty="0">
                <a:solidFill>
                  <a:schemeClr val="bg1"/>
                </a:solidFill>
              </a:rPr>
              <a:t>  anipulation  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802686F-573C-322B-B9DD-69BC1B5F0469}"/>
              </a:ext>
            </a:extLst>
          </p:cNvPr>
          <p:cNvGrpSpPr>
            <a:grpSpLocks noChangeAspect="1"/>
          </p:cNvGrpSpPr>
          <p:nvPr/>
        </p:nvGrpSpPr>
        <p:grpSpPr>
          <a:xfrm>
            <a:off x="9076565" y="2811811"/>
            <a:ext cx="2343910" cy="1670981"/>
            <a:chOff x="6075190" y="2359743"/>
            <a:chExt cx="1849609" cy="131859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DA89C75-DA8C-3F5F-A6CE-A84B712EC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75190" y="2359743"/>
              <a:ext cx="1849609" cy="1318592"/>
            </a:xfrm>
            <a:prstGeom prst="rect">
              <a:avLst/>
            </a:prstGeom>
            <a:effectLst>
              <a:outerShdw blurRad="50800" dist="38100" dir="8100000" algn="tr" rotWithShape="0">
                <a:schemeClr val="bg1">
                  <a:alpha val="40000"/>
                </a:scheme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D16CCE9-3DD1-9E06-AFE2-FB4DCA464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7569"/>
            <a:stretch>
              <a:fillRect/>
            </a:stretch>
          </p:blipFill>
          <p:spPr>
            <a:xfrm>
              <a:off x="6807319" y="2389809"/>
              <a:ext cx="1076325" cy="12483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FF0315E-7ABF-83DB-3C2F-F182D1653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33131"/>
            <a:stretch>
              <a:fillRect/>
            </a:stretch>
          </p:blipFill>
          <p:spPr>
            <a:xfrm>
              <a:off x="6157657" y="2389809"/>
              <a:ext cx="649662" cy="190500"/>
            </a:xfrm>
            <a:prstGeom prst="rect">
              <a:avLst/>
            </a:prstGeom>
          </p:spPr>
        </p:pic>
      </p:grpSp>
      <p:pic>
        <p:nvPicPr>
          <p:cNvPr id="1026" name="Picture 2" descr="Ícone de Ubuntu simples a marca logo">
            <a:extLst>
              <a:ext uri="{FF2B5EF4-FFF2-40B4-BE49-F238E27FC236}">
                <a16:creationId xmlns:a16="http://schemas.microsoft.com/office/drawing/2014/main" id="{A52461A6-8019-39A8-06C3-26D37783F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0722" y="203191"/>
            <a:ext cx="1856259" cy="185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ux SVG and transparent PNG icons | TechIcons">
            <a:extLst>
              <a:ext uri="{FF2B5EF4-FFF2-40B4-BE49-F238E27FC236}">
                <a16:creationId xmlns:a16="http://schemas.microsoft.com/office/drawing/2014/main" id="{EF388739-051E-7521-CCE5-B5D99084E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742" y="203191"/>
            <a:ext cx="1560091" cy="1560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4184A7-4084-6542-F0A6-FDDC628F01DF}"/>
              </a:ext>
            </a:extLst>
          </p:cNvPr>
          <p:cNvSpPr txBox="1"/>
          <p:nvPr/>
        </p:nvSpPr>
        <p:spPr>
          <a:xfrm>
            <a:off x="8031465" y="1631776"/>
            <a:ext cx="1212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MRoman12-Regular"/>
              </a:rPr>
              <a:t>Linux</a:t>
            </a:r>
            <a:endParaRPr lang="LID4096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3031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99A8-A3DA-DDB6-30C5-62ECBA5B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BABC49D-0846-6BBC-19D9-FFA53216CBDE}"/>
              </a:ext>
            </a:extLst>
          </p:cNvPr>
          <p:cNvGrpSpPr>
            <a:grpSpLocks noChangeAspect="1"/>
          </p:cNvGrpSpPr>
          <p:nvPr/>
        </p:nvGrpSpPr>
        <p:grpSpPr>
          <a:xfrm>
            <a:off x="9459737" y="2759467"/>
            <a:ext cx="2343910" cy="1670981"/>
            <a:chOff x="6075190" y="2359743"/>
            <a:chExt cx="1849609" cy="131859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86D22FC-F8F5-EB1B-36D6-5FE1ECCFE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75190" y="2359743"/>
              <a:ext cx="1849609" cy="131859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F73980A-3587-01AD-C696-FA4F833B0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7569"/>
            <a:stretch>
              <a:fillRect/>
            </a:stretch>
          </p:blipFill>
          <p:spPr>
            <a:xfrm>
              <a:off x="6807319" y="2389809"/>
              <a:ext cx="1076325" cy="1248396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EC9010F-2180-515B-61C5-F7D462676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33131"/>
            <a:stretch>
              <a:fillRect/>
            </a:stretch>
          </p:blipFill>
          <p:spPr>
            <a:xfrm>
              <a:off x="6157657" y="2389809"/>
              <a:ext cx="649662" cy="190500"/>
            </a:xfrm>
            <a:prstGeom prst="rect">
              <a:avLst/>
            </a:prstGeom>
            <a:ln>
              <a:noFill/>
            </a:ln>
            <a:effectLst/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F7A361F-9089-D98A-C37A-05722B93D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692" y="3091322"/>
            <a:ext cx="2437602" cy="35365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471398-07A8-FD1D-C296-A0D2529491BD}"/>
              </a:ext>
            </a:extLst>
          </p:cNvPr>
          <p:cNvSpPr txBox="1"/>
          <p:nvPr/>
        </p:nvSpPr>
        <p:spPr>
          <a:xfrm>
            <a:off x="423692" y="2460477"/>
            <a:ext cx="2346130" cy="510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05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US" sz="105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volScalarField</a:t>
            </a:r>
            <a:r>
              <a: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sz="105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     p;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C34288-46DC-41EF-1393-B36D867C70CB}"/>
              </a:ext>
            </a:extLst>
          </p:cNvPr>
          <p:cNvSpPr txBox="1"/>
          <p:nvPr/>
        </p:nvSpPr>
        <p:spPr>
          <a:xfrm>
            <a:off x="3115437" y="2698744"/>
            <a:ext cx="2705942" cy="75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GB" sz="11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GB" sz="11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      </a:t>
            </a:r>
            <a:r>
              <a:rPr lang="en-GB" sz="110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polyBoundaryMesh</a:t>
            </a:r>
            <a:r>
              <a:rPr lang="en-GB" sz="11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GB" sz="11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location    </a:t>
            </a:r>
            <a:r>
              <a:rPr lang="en-GB" sz="1100" b="0" dirty="0">
                <a:solidFill>
                  <a:srgbClr val="032F62"/>
                </a:solidFill>
                <a:effectLst/>
                <a:latin typeface="Consolas" panose="020B0609020204030204" pitchFamily="49" charset="0"/>
              </a:rPr>
              <a:t>"constant/polyMesh"</a:t>
            </a:r>
            <a:r>
              <a:rPr lang="en-GB" sz="11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GB" sz="11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en-GB" sz="11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     boundary;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96C745B-D7FA-E8CC-0965-31B8E0B81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5436" y="3612332"/>
            <a:ext cx="2451915" cy="30146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C9C64F6-C7ED-5EF3-88B1-27F4C7F7C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6069" y="1099164"/>
            <a:ext cx="2994881" cy="553619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4DA6038-DDA0-A0DB-05C3-E065C86A4E83}"/>
              </a:ext>
            </a:extLst>
          </p:cNvPr>
          <p:cNvSpPr txBox="1"/>
          <p:nvPr/>
        </p:nvSpPr>
        <p:spPr>
          <a:xfrm>
            <a:off x="5736069" y="827787"/>
            <a:ext cx="2346130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sz="105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Source code</a:t>
            </a:r>
            <a:endParaRPr lang="en-US" sz="105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3FDB98F-C48A-775F-9F2D-3D3BC8DD6B6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51767"/>
          <a:stretch>
            <a:fillRect/>
          </a:stretch>
        </p:blipFill>
        <p:spPr>
          <a:xfrm>
            <a:off x="8899667" y="300488"/>
            <a:ext cx="2900987" cy="23427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405BBD46-3506-28CF-4029-FEC23A35D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279" y="315182"/>
            <a:ext cx="2924175" cy="7905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F5EDB72-2A50-C5A8-6E36-00510CDBC827}"/>
              </a:ext>
            </a:extLst>
          </p:cNvPr>
          <p:cNvSpPr txBox="1"/>
          <p:nvPr/>
        </p:nvSpPr>
        <p:spPr>
          <a:xfrm>
            <a:off x="497941" y="320927"/>
            <a:ext cx="1729211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200" b="1" dirty="0"/>
              <a:t>solve</a:t>
            </a:r>
          </a:p>
          <a:p>
            <a:r>
              <a:rPr lang="en-US" sz="1200" b="1" dirty="0"/>
              <a:t>(</a:t>
            </a:r>
          </a:p>
          <a:p>
            <a:r>
              <a:rPr lang="en-US" sz="1200" b="1" dirty="0"/>
              <a:t>    </a:t>
            </a:r>
            <a:r>
              <a:rPr lang="en-US" sz="1200" b="1" dirty="0" err="1"/>
              <a:t>fvm</a:t>
            </a:r>
            <a:r>
              <a:rPr lang="en-US" sz="1200" b="1" dirty="0"/>
              <a:t>::</a:t>
            </a:r>
            <a:r>
              <a:rPr lang="en-US" sz="1200" b="1" dirty="0" err="1"/>
              <a:t>ddt</a:t>
            </a:r>
            <a:r>
              <a:rPr lang="en-US" sz="1200" b="1" dirty="0"/>
              <a:t>(rho, U)</a:t>
            </a:r>
          </a:p>
          <a:p>
            <a:r>
              <a:rPr lang="en-US" sz="1200" b="1" dirty="0"/>
              <a:t>  + </a:t>
            </a:r>
            <a:r>
              <a:rPr lang="en-US" sz="1200" b="1" dirty="0" err="1"/>
              <a:t>fvm</a:t>
            </a:r>
            <a:r>
              <a:rPr lang="en-US" sz="1200" b="1" dirty="0"/>
              <a:t>::div(phi, U)</a:t>
            </a:r>
          </a:p>
          <a:p>
            <a:r>
              <a:rPr lang="en-US" sz="1200" b="1" dirty="0"/>
              <a:t>  - </a:t>
            </a:r>
            <a:r>
              <a:rPr lang="en-US" sz="1200" b="1" dirty="0" err="1"/>
              <a:t>fvm</a:t>
            </a:r>
            <a:r>
              <a:rPr lang="en-US" sz="1200" b="1" dirty="0"/>
              <a:t>::</a:t>
            </a:r>
            <a:r>
              <a:rPr lang="en-US" sz="1200" b="1" dirty="0" err="1"/>
              <a:t>laplacian</a:t>
            </a:r>
            <a:r>
              <a:rPr lang="en-US" sz="1200" b="1" dirty="0"/>
              <a:t>(nu, U)</a:t>
            </a:r>
          </a:p>
          <a:p>
            <a:r>
              <a:rPr lang="en-US" sz="1200" b="1" dirty="0"/>
              <a:t>    ==</a:t>
            </a:r>
          </a:p>
          <a:p>
            <a:r>
              <a:rPr lang="en-US" sz="1200" b="1" dirty="0"/>
              <a:t>  - </a:t>
            </a:r>
            <a:r>
              <a:rPr lang="en-US" sz="1200" b="1" dirty="0" err="1"/>
              <a:t>fvc</a:t>
            </a:r>
            <a:r>
              <a:rPr lang="en-US" sz="1200" b="1" dirty="0"/>
              <a:t>::grad(p)</a:t>
            </a:r>
          </a:p>
          <a:p>
            <a:r>
              <a:rPr lang="en-US" sz="1200" b="1" dirty="0"/>
              <a:t>)</a:t>
            </a:r>
            <a:endParaRPr lang="LID4096" sz="1200" b="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0550F9F-390C-0CA4-69F7-6E6A0C13A1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3326" y="3984307"/>
            <a:ext cx="2907327" cy="265946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654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CEC6D2-00C6-D441-D1F4-22D0E2106FE8}"/>
              </a:ext>
            </a:extLst>
          </p:cNvPr>
          <p:cNvSpPr txBox="1"/>
          <p:nvPr/>
        </p:nvSpPr>
        <p:spPr>
          <a:xfrm>
            <a:off x="132806" y="0"/>
            <a:ext cx="1243148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vertices</a:t>
            </a:r>
          </a:p>
          <a:p>
            <a:r>
              <a:rPr lang="en-US" sz="1050" dirty="0"/>
              <a:t>(</a:t>
            </a:r>
          </a:p>
          <a:p>
            <a:r>
              <a:rPr lang="en-US" sz="1050" dirty="0"/>
              <a:t>    (0 0 -0.05)</a:t>
            </a:r>
          </a:p>
          <a:p>
            <a:r>
              <a:rPr lang="en-US" sz="1050" dirty="0"/>
              <a:t>    (0.6 0 -0.05)</a:t>
            </a:r>
          </a:p>
          <a:p>
            <a:r>
              <a:rPr lang="en-US" sz="1050" dirty="0"/>
              <a:t>    (0 0.2 -0.05)</a:t>
            </a:r>
          </a:p>
          <a:p>
            <a:r>
              <a:rPr lang="en-US" sz="1050" dirty="0"/>
              <a:t>    (0.6 0.2 -0.05)</a:t>
            </a:r>
          </a:p>
          <a:p>
            <a:r>
              <a:rPr lang="en-US" sz="1050" dirty="0"/>
              <a:t>    (3 0.2 -0.05)</a:t>
            </a:r>
          </a:p>
          <a:p>
            <a:r>
              <a:rPr lang="en-US" sz="1050" dirty="0"/>
              <a:t>    (0 1 -0.05)</a:t>
            </a:r>
          </a:p>
          <a:p>
            <a:r>
              <a:rPr lang="en-US" sz="1050" dirty="0"/>
              <a:t>    (0.6 1 -0.05)</a:t>
            </a:r>
          </a:p>
          <a:p>
            <a:r>
              <a:rPr lang="en-US" sz="1050" dirty="0"/>
              <a:t>    (3 1 -0.05)</a:t>
            </a:r>
          </a:p>
          <a:p>
            <a:r>
              <a:rPr lang="en-US" sz="1050" dirty="0"/>
              <a:t>    (0 0 0.05)</a:t>
            </a:r>
          </a:p>
          <a:p>
            <a:r>
              <a:rPr lang="en-US" sz="1050" dirty="0"/>
              <a:t>    (0.6 0 0.05)</a:t>
            </a:r>
          </a:p>
          <a:p>
            <a:r>
              <a:rPr lang="en-US" sz="1050" dirty="0"/>
              <a:t>    (0 0.2 0.05)</a:t>
            </a:r>
          </a:p>
          <a:p>
            <a:r>
              <a:rPr lang="en-US" sz="1050" dirty="0"/>
              <a:t>    (0.6 0.2 0.05)</a:t>
            </a:r>
          </a:p>
          <a:p>
            <a:r>
              <a:rPr lang="en-US" sz="1050" dirty="0"/>
              <a:t>    (3 0.2 0.05)</a:t>
            </a:r>
          </a:p>
          <a:p>
            <a:r>
              <a:rPr lang="en-US" sz="1050" dirty="0"/>
              <a:t>    (0 1 0.05)</a:t>
            </a:r>
          </a:p>
          <a:p>
            <a:r>
              <a:rPr lang="en-US" sz="1050" dirty="0"/>
              <a:t>    (0.6 1 0.05)</a:t>
            </a:r>
          </a:p>
          <a:p>
            <a:r>
              <a:rPr lang="en-US" sz="1050" dirty="0"/>
              <a:t>    (3 1 0.05)</a:t>
            </a:r>
          </a:p>
          <a:p>
            <a:r>
              <a:rPr lang="en-US" sz="1050" dirty="0"/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F627E-339E-533D-9471-545A08AE73E6}"/>
              </a:ext>
            </a:extLst>
          </p:cNvPr>
          <p:cNvSpPr txBox="1"/>
          <p:nvPr/>
        </p:nvSpPr>
        <p:spPr>
          <a:xfrm>
            <a:off x="1375954" y="0"/>
            <a:ext cx="371856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blocks</a:t>
            </a:r>
          </a:p>
          <a:p>
            <a:r>
              <a:rPr lang="en-US" sz="1050" dirty="0"/>
              <a:t>(</a:t>
            </a:r>
          </a:p>
          <a:p>
            <a:r>
              <a:rPr lang="en-US" sz="1050" dirty="0"/>
              <a:t>    hex (0 1 3 2 8 9 11 10) </a:t>
            </a:r>
            <a:r>
              <a:rPr lang="en-US" sz="1050" dirty="0">
                <a:solidFill>
                  <a:srgbClr val="0000FF"/>
                </a:solidFill>
              </a:rPr>
              <a:t>(25 10 1)</a:t>
            </a:r>
            <a:r>
              <a:rPr lang="en-US" sz="1050" dirty="0"/>
              <a:t> </a:t>
            </a:r>
            <a:r>
              <a:rPr lang="en-US" sz="1050" dirty="0" err="1"/>
              <a:t>simpleGrading</a:t>
            </a:r>
            <a:r>
              <a:rPr lang="en-US" sz="1050" dirty="0"/>
              <a:t> (1 1 1)</a:t>
            </a:r>
          </a:p>
          <a:p>
            <a:r>
              <a:rPr lang="en-US" sz="1050" dirty="0"/>
              <a:t>    hex (2 3 6 5 10 11 14 13) (25 40 1) </a:t>
            </a:r>
            <a:r>
              <a:rPr lang="en-US" sz="1050" dirty="0" err="1"/>
              <a:t>simpleGrading</a:t>
            </a:r>
            <a:r>
              <a:rPr lang="en-US" sz="1050" dirty="0"/>
              <a:t> (1 1 1)</a:t>
            </a:r>
          </a:p>
          <a:p>
            <a:r>
              <a:rPr lang="en-US" sz="1050" dirty="0"/>
              <a:t>    hex (3 4 7 6 11 12 15 14) (100 40 1) </a:t>
            </a:r>
            <a:r>
              <a:rPr lang="en-US" sz="1050" dirty="0" err="1"/>
              <a:t>simpleGrading</a:t>
            </a:r>
            <a:r>
              <a:rPr lang="en-US" sz="1050" dirty="0"/>
              <a:t> (1 1 1)</a:t>
            </a:r>
          </a:p>
          <a:p>
            <a:r>
              <a:rPr lang="en-US" sz="1050" dirty="0"/>
              <a:t>);</a:t>
            </a:r>
          </a:p>
          <a:p>
            <a:endParaRPr lang="en-US" sz="1050" dirty="0"/>
          </a:p>
          <a:p>
            <a:r>
              <a:rPr lang="en-US" sz="1050" dirty="0"/>
              <a:t>edges</a:t>
            </a:r>
          </a:p>
          <a:p>
            <a:r>
              <a:rPr lang="en-US" sz="1050" dirty="0"/>
              <a:t>(</a:t>
            </a:r>
          </a:p>
          <a:p>
            <a:r>
              <a:rPr lang="en-US" sz="1050"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390098-F73D-3BA8-1B5C-A54E9D6EA111}"/>
              </a:ext>
            </a:extLst>
          </p:cNvPr>
          <p:cNvSpPr txBox="1"/>
          <p:nvPr/>
        </p:nvSpPr>
        <p:spPr>
          <a:xfrm>
            <a:off x="4850674" y="22368"/>
            <a:ext cx="160237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boundary</a:t>
            </a:r>
          </a:p>
          <a:p>
            <a:r>
              <a:rPr lang="en-US" sz="1050" dirty="0"/>
              <a:t>(</a:t>
            </a:r>
          </a:p>
          <a:p>
            <a:r>
              <a:rPr lang="en-US" sz="1050" dirty="0"/>
              <a:t>    inlet</a:t>
            </a:r>
          </a:p>
          <a:p>
            <a:r>
              <a:rPr lang="en-US" sz="1050" dirty="0"/>
              <a:t>    {</a:t>
            </a:r>
          </a:p>
          <a:p>
            <a:r>
              <a:rPr lang="en-US" sz="1050" dirty="0"/>
              <a:t>        type patch;</a:t>
            </a:r>
          </a:p>
          <a:p>
            <a:r>
              <a:rPr lang="en-US" sz="1050" dirty="0"/>
              <a:t>        faces</a:t>
            </a:r>
          </a:p>
          <a:p>
            <a:r>
              <a:rPr lang="en-US" sz="1050" dirty="0"/>
              <a:t>        (</a:t>
            </a:r>
          </a:p>
          <a:p>
            <a:r>
              <a:rPr lang="en-US" sz="1050" dirty="0"/>
              <a:t>            (0 8 10 2)</a:t>
            </a:r>
          </a:p>
          <a:p>
            <a:r>
              <a:rPr lang="en-US" sz="1050" dirty="0"/>
              <a:t>            (2 10 13 5)</a:t>
            </a:r>
          </a:p>
          <a:p>
            <a:r>
              <a:rPr lang="en-US" sz="1050" dirty="0"/>
              <a:t>        );</a:t>
            </a:r>
          </a:p>
          <a:p>
            <a:r>
              <a:rPr lang="en-US" sz="1050" dirty="0"/>
              <a:t>    }</a:t>
            </a:r>
          </a:p>
          <a:p>
            <a:r>
              <a:rPr lang="en-US" sz="1050" dirty="0">
                <a:solidFill>
                  <a:srgbClr val="0000FF"/>
                </a:solidFill>
              </a:rPr>
              <a:t>    outlet</a:t>
            </a:r>
          </a:p>
          <a:p>
            <a:r>
              <a:rPr lang="en-US" sz="1050" dirty="0">
                <a:solidFill>
                  <a:srgbClr val="0000FF"/>
                </a:solidFill>
              </a:rPr>
              <a:t>    {</a:t>
            </a:r>
          </a:p>
          <a:p>
            <a:r>
              <a:rPr lang="en-US" sz="1050" dirty="0">
                <a:solidFill>
                  <a:srgbClr val="0000FF"/>
                </a:solidFill>
              </a:rPr>
              <a:t>        type patch;</a:t>
            </a:r>
          </a:p>
          <a:p>
            <a:r>
              <a:rPr lang="en-US" sz="1050" dirty="0">
                <a:solidFill>
                  <a:srgbClr val="0000FF"/>
                </a:solidFill>
              </a:rPr>
              <a:t>        faces</a:t>
            </a:r>
          </a:p>
          <a:p>
            <a:r>
              <a:rPr lang="en-US" sz="1050" dirty="0">
                <a:solidFill>
                  <a:srgbClr val="0000FF"/>
                </a:solidFill>
              </a:rPr>
              <a:t>        (</a:t>
            </a:r>
          </a:p>
          <a:p>
            <a:r>
              <a:rPr lang="en-US" sz="1050" dirty="0">
                <a:solidFill>
                  <a:srgbClr val="0000FF"/>
                </a:solidFill>
              </a:rPr>
              <a:t>            (4 7 15 12)</a:t>
            </a:r>
          </a:p>
          <a:p>
            <a:r>
              <a:rPr lang="en-US" sz="1050" dirty="0">
                <a:solidFill>
                  <a:srgbClr val="0000FF"/>
                </a:solidFill>
              </a:rPr>
              <a:t>        );</a:t>
            </a:r>
          </a:p>
          <a:p>
            <a:r>
              <a:rPr lang="en-US" sz="1050" dirty="0">
                <a:solidFill>
                  <a:srgbClr val="0000FF"/>
                </a:solidFill>
              </a:rPr>
              <a:t>    }</a:t>
            </a:r>
          </a:p>
          <a:p>
            <a:r>
              <a:rPr lang="en-US" sz="1050" dirty="0"/>
              <a:t>    bottom</a:t>
            </a:r>
          </a:p>
          <a:p>
            <a:r>
              <a:rPr lang="en-US" sz="1050" dirty="0"/>
              <a:t>    {</a:t>
            </a:r>
          </a:p>
          <a:p>
            <a:r>
              <a:rPr lang="en-US" sz="1050" dirty="0"/>
              <a:t>        type </a:t>
            </a:r>
            <a:r>
              <a:rPr lang="en-US" sz="1050" dirty="0" err="1"/>
              <a:t>symmetryPlane</a:t>
            </a:r>
            <a:r>
              <a:rPr lang="en-US" sz="1050" dirty="0"/>
              <a:t>;</a:t>
            </a:r>
          </a:p>
          <a:p>
            <a:r>
              <a:rPr lang="en-US" sz="1050" dirty="0"/>
              <a:t>        faces</a:t>
            </a:r>
          </a:p>
          <a:p>
            <a:r>
              <a:rPr lang="en-US" sz="1050" dirty="0"/>
              <a:t>        (</a:t>
            </a:r>
          </a:p>
          <a:p>
            <a:r>
              <a:rPr lang="en-US" sz="1050" dirty="0"/>
              <a:t>            (0 1 9 8)</a:t>
            </a:r>
          </a:p>
          <a:p>
            <a:r>
              <a:rPr lang="en-US" sz="1050" dirty="0"/>
              <a:t>        );</a:t>
            </a:r>
          </a:p>
          <a:p>
            <a:r>
              <a:rPr lang="en-US" sz="1050" dirty="0"/>
              <a:t>    }</a:t>
            </a:r>
          </a:p>
          <a:p>
            <a:r>
              <a:rPr lang="en-US" sz="1050" dirty="0"/>
              <a:t>    top</a:t>
            </a:r>
          </a:p>
          <a:p>
            <a:r>
              <a:rPr lang="en-US" sz="1050" dirty="0"/>
              <a:t>    {</a:t>
            </a:r>
          </a:p>
          <a:p>
            <a:r>
              <a:rPr lang="en-US" sz="1050" dirty="0"/>
              <a:t>        type </a:t>
            </a:r>
            <a:r>
              <a:rPr lang="en-US" sz="1050" dirty="0" err="1"/>
              <a:t>symmetryPlane</a:t>
            </a:r>
            <a:r>
              <a:rPr lang="en-US" sz="1050" dirty="0"/>
              <a:t>;</a:t>
            </a:r>
          </a:p>
          <a:p>
            <a:r>
              <a:rPr lang="en-US" sz="1050" dirty="0"/>
              <a:t>        faces</a:t>
            </a:r>
          </a:p>
          <a:p>
            <a:r>
              <a:rPr lang="en-US" sz="1050" dirty="0"/>
              <a:t>        (</a:t>
            </a:r>
          </a:p>
          <a:p>
            <a:r>
              <a:rPr lang="en-US" sz="1050" dirty="0"/>
              <a:t>            (5 13 14 6)</a:t>
            </a:r>
          </a:p>
          <a:p>
            <a:r>
              <a:rPr lang="en-US" sz="1050" dirty="0"/>
              <a:t>            (6 14 15 7)</a:t>
            </a:r>
          </a:p>
          <a:p>
            <a:r>
              <a:rPr lang="en-US" sz="1050" dirty="0"/>
              <a:t>        );</a:t>
            </a:r>
          </a:p>
          <a:p>
            <a:r>
              <a:rPr lang="en-US" sz="1050" dirty="0"/>
              <a:t>    }</a:t>
            </a:r>
            <a:endParaRPr lang="LID4096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A9D77A-19B6-B8B3-F42E-392909C893EF}"/>
              </a:ext>
            </a:extLst>
          </p:cNvPr>
          <p:cNvSpPr txBox="1"/>
          <p:nvPr/>
        </p:nvSpPr>
        <p:spPr>
          <a:xfrm>
            <a:off x="6709954" y="22368"/>
            <a:ext cx="185928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boundary</a:t>
            </a:r>
          </a:p>
          <a:p>
            <a:r>
              <a:rPr lang="en-US" sz="1050" dirty="0"/>
              <a:t>(</a:t>
            </a:r>
          </a:p>
          <a:p>
            <a:endParaRPr lang="en-US" sz="1050" dirty="0"/>
          </a:p>
          <a:p>
            <a:pPr lvl="1"/>
            <a:r>
              <a:rPr lang="en-US" sz="1050" dirty="0"/>
              <a:t>obstacle</a:t>
            </a:r>
          </a:p>
          <a:p>
            <a:pPr lvl="1"/>
            <a:r>
              <a:rPr lang="en-US" sz="1050" dirty="0"/>
              <a:t>    {</a:t>
            </a:r>
          </a:p>
          <a:p>
            <a:pPr lvl="1"/>
            <a:r>
              <a:rPr lang="en-US" sz="1050" dirty="0"/>
              <a:t>        type </a:t>
            </a:r>
            <a:r>
              <a:rPr lang="en-US" sz="1050" dirty="0">
                <a:solidFill>
                  <a:srgbClr val="0000FF"/>
                </a:solidFill>
              </a:rPr>
              <a:t>wall</a:t>
            </a:r>
            <a:r>
              <a:rPr lang="en-US" sz="1050" dirty="0"/>
              <a:t>;</a:t>
            </a:r>
          </a:p>
          <a:p>
            <a:pPr lvl="1"/>
            <a:r>
              <a:rPr lang="en-US" sz="1050" dirty="0"/>
              <a:t>        faces</a:t>
            </a:r>
          </a:p>
          <a:p>
            <a:pPr lvl="1"/>
            <a:r>
              <a:rPr lang="en-US" sz="1050" dirty="0"/>
              <a:t>        (</a:t>
            </a:r>
          </a:p>
          <a:p>
            <a:pPr lvl="1"/>
            <a:r>
              <a:rPr lang="en-US" sz="1050" dirty="0"/>
              <a:t>            (1 3 11 9)</a:t>
            </a:r>
          </a:p>
          <a:p>
            <a:pPr lvl="1"/>
            <a:r>
              <a:rPr lang="en-US" sz="1050" dirty="0"/>
              <a:t>            (3 4 12 11)</a:t>
            </a:r>
          </a:p>
          <a:p>
            <a:pPr lvl="1"/>
            <a:r>
              <a:rPr lang="en-US" sz="1050" dirty="0"/>
              <a:t>        );</a:t>
            </a:r>
          </a:p>
          <a:p>
            <a:pPr lvl="1"/>
            <a:r>
              <a:rPr lang="en-US" sz="1050" dirty="0"/>
              <a:t>    }</a:t>
            </a:r>
          </a:p>
          <a:p>
            <a:pPr lvl="1"/>
            <a:r>
              <a:rPr lang="en-US" sz="1050" dirty="0"/>
              <a:t>);</a:t>
            </a:r>
          </a:p>
          <a:p>
            <a:pPr lvl="1"/>
            <a:endParaRPr lang="en-US" sz="1050" dirty="0"/>
          </a:p>
          <a:p>
            <a:pPr lvl="1"/>
            <a:r>
              <a:rPr lang="en-US" sz="1050" dirty="0" err="1"/>
              <a:t>mergePatchPairs</a:t>
            </a:r>
            <a:endParaRPr lang="en-US" sz="1050" dirty="0"/>
          </a:p>
          <a:p>
            <a:pPr lvl="1"/>
            <a:r>
              <a:rPr lang="en-US" sz="1050" dirty="0"/>
              <a:t>(</a:t>
            </a:r>
          </a:p>
          <a:p>
            <a:pPr lvl="1"/>
            <a:r>
              <a:rPr lang="en-US" sz="1050" dirty="0"/>
              <a:t>);</a:t>
            </a:r>
          </a:p>
          <a:p>
            <a:pPr lvl="1"/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2BEF24-0035-6C2F-84E6-B0A681C00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678" y="1772979"/>
            <a:ext cx="2742406" cy="13894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C14CCF-4BFF-313D-AD9B-7312714FA942}"/>
              </a:ext>
            </a:extLst>
          </p:cNvPr>
          <p:cNvSpPr txBox="1"/>
          <p:nvPr/>
        </p:nvSpPr>
        <p:spPr>
          <a:xfrm>
            <a:off x="2887521" y="22368"/>
            <a:ext cx="470262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mesh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F999FE-4044-9898-FF95-9FD88133F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63" y="3695597"/>
            <a:ext cx="3626032" cy="17570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B76521-C922-6CA1-DA66-70DB9D07B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978" y="4507363"/>
            <a:ext cx="4061791" cy="210611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D97666-6249-9FEA-B07B-32171F4B9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1679" y="244523"/>
            <a:ext cx="2302329" cy="382938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E546A47-D3CE-97B8-C716-942FC2F6C28E}"/>
              </a:ext>
            </a:extLst>
          </p:cNvPr>
          <p:cNvSpPr/>
          <p:nvPr/>
        </p:nvSpPr>
        <p:spPr>
          <a:xfrm>
            <a:off x="9196251" y="1010194"/>
            <a:ext cx="2862943" cy="161979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4332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4E5850-3319-7F84-45CA-A4DA3E494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64" y="493589"/>
            <a:ext cx="5040963" cy="229704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85472F-B9E9-AEBF-9212-FBA7EEF1960C}"/>
              </a:ext>
            </a:extLst>
          </p:cNvPr>
          <p:cNvSpPr txBox="1"/>
          <p:nvPr/>
        </p:nvSpPr>
        <p:spPr>
          <a:xfrm>
            <a:off x="2764972" y="117565"/>
            <a:ext cx="28433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>
                <a:solidFill>
                  <a:srgbClr val="0000FF"/>
                </a:solidFill>
              </a:rPr>
              <a:t>Understanding grid convergence - Part 1 </a:t>
            </a:r>
            <a:endParaRPr lang="en-US" sz="1050" b="1" dirty="0">
              <a:solidFill>
                <a:srgbClr val="0000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5CB4DA-5746-94BF-3557-EF4321938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0" y="493589"/>
            <a:ext cx="5683823" cy="30810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B23A55-86C3-42DD-E2FD-1965C0B4BFF4}"/>
              </a:ext>
            </a:extLst>
          </p:cNvPr>
          <p:cNvSpPr txBox="1"/>
          <p:nvPr/>
        </p:nvSpPr>
        <p:spPr>
          <a:xfrm>
            <a:off x="5608320" y="117565"/>
            <a:ext cx="5817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b="1" dirty="0">
                <a:solidFill>
                  <a:srgbClr val="0000FF"/>
                </a:solidFill>
                <a:hlinkClick r:id="rId4"/>
              </a:rPr>
              <a:t>https://www.youtube.com/watch?v=PaDDplpAJJ0</a:t>
            </a:r>
            <a:endParaRPr lang="en-US" sz="1050" b="1" dirty="0">
              <a:solidFill>
                <a:srgbClr val="0000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BDCF9C-C1D7-DBFC-3F6A-5C6B97C1C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5949" y="4008000"/>
            <a:ext cx="1400793" cy="8312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EDFECB-13AA-A014-E4C3-FB50C12FB86E}"/>
              </a:ext>
            </a:extLst>
          </p:cNvPr>
          <p:cNvSpPr txBox="1"/>
          <p:nvPr/>
        </p:nvSpPr>
        <p:spPr>
          <a:xfrm>
            <a:off x="11066078" y="4649504"/>
            <a:ext cx="4479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</a:rPr>
              <a:t>(T)</a:t>
            </a:r>
            <a:endParaRPr lang="en-US" sz="1050" b="1" dirty="0">
              <a:solidFill>
                <a:srgbClr val="0000FF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D63DFC-9A32-D50C-F4BC-557EA9EBBC6A}"/>
              </a:ext>
            </a:extLst>
          </p:cNvPr>
          <p:cNvGrpSpPr/>
          <p:nvPr/>
        </p:nvGrpSpPr>
        <p:grpSpPr>
          <a:xfrm>
            <a:off x="8101480" y="5268987"/>
            <a:ext cx="3765147" cy="1295400"/>
            <a:chOff x="8101480" y="5268987"/>
            <a:chExt cx="3765147" cy="12954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FC3274E-A6B2-64D6-FEF2-A93837096A9D}"/>
                </a:ext>
              </a:extLst>
            </p:cNvPr>
            <p:cNvGrpSpPr/>
            <p:nvPr/>
          </p:nvGrpSpPr>
          <p:grpSpPr>
            <a:xfrm>
              <a:off x="8101480" y="5268987"/>
              <a:ext cx="3762375" cy="1295400"/>
              <a:chOff x="7529768" y="4495989"/>
              <a:chExt cx="3762375" cy="1295400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B0A45C1-FC16-A9FD-A71D-7E31E0D59D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29768" y="4495989"/>
                <a:ext cx="3762375" cy="1295400"/>
              </a:xfrm>
              <a:prstGeom prst="rect">
                <a:avLst/>
              </a:prstGeom>
            </p:spPr>
          </p:pic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EAA29B9-D35A-3491-4D21-F48BC40CCA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74237" y="4908019"/>
                <a:ext cx="645765" cy="7738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EF31A2C-0D85-BD22-7746-DCD0D90F6D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19043" y="4929376"/>
                <a:ext cx="645765" cy="773846"/>
              </a:xfrm>
              <a:prstGeom prst="straightConnector1">
                <a:avLst/>
              </a:prstGeom>
              <a:ln>
                <a:solidFill>
                  <a:srgbClr val="0000FF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C021B1C-98B0-2413-D28F-54F306DFD790}"/>
                </a:ext>
              </a:extLst>
            </p:cNvPr>
            <p:cNvSpPr txBox="1"/>
            <p:nvPr/>
          </p:nvSpPr>
          <p:spPr>
            <a:xfrm>
              <a:off x="10491714" y="5571569"/>
              <a:ext cx="304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0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02CAE2C-3F78-A2F3-F490-DA9C16E574AF}"/>
                </a:ext>
              </a:extLst>
            </p:cNvPr>
            <p:cNvSpPr txBox="1"/>
            <p:nvPr/>
          </p:nvSpPr>
          <p:spPr>
            <a:xfrm>
              <a:off x="11561878" y="5655077"/>
              <a:ext cx="304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0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7437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8396AA-5669-AE18-94C7-8F91674FE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805" y="2838652"/>
            <a:ext cx="5353050" cy="22479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5A46ED8-CC33-92DA-BB5F-BA0AADDCAD63}"/>
              </a:ext>
            </a:extLst>
          </p:cNvPr>
          <p:cNvGrpSpPr/>
          <p:nvPr/>
        </p:nvGrpSpPr>
        <p:grpSpPr>
          <a:xfrm>
            <a:off x="8101480" y="5268987"/>
            <a:ext cx="3762375" cy="1295400"/>
            <a:chOff x="7529768" y="4495989"/>
            <a:chExt cx="3762375" cy="12954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758A133-EE8F-9362-75B0-C499C60AB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29768" y="4495989"/>
              <a:ext cx="3762375" cy="1295400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178E529-1F46-85DF-FF3F-2704BD0624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74237" y="4908019"/>
              <a:ext cx="645765" cy="7738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E771427-CE94-EE53-199F-12CC2DDC4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19043" y="4929376"/>
              <a:ext cx="645765" cy="77384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D070E2-6E9E-803B-4F64-6D755CF6030B}"/>
              </a:ext>
            </a:extLst>
          </p:cNvPr>
          <p:cNvGrpSpPr/>
          <p:nvPr/>
        </p:nvGrpSpPr>
        <p:grpSpPr>
          <a:xfrm>
            <a:off x="-787541" y="0"/>
            <a:ext cx="8386978" cy="4655175"/>
            <a:chOff x="-608432" y="573115"/>
            <a:chExt cx="8386978" cy="465517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8C8FF30-8E66-BCA9-E401-E700FCA0EBA2}"/>
                </a:ext>
              </a:extLst>
            </p:cNvPr>
            <p:cNvSpPr txBox="1"/>
            <p:nvPr/>
          </p:nvSpPr>
          <p:spPr>
            <a:xfrm>
              <a:off x="221127" y="573115"/>
              <a:ext cx="2346130" cy="2688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volScalarField T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IOobject</a:t>
              </a:r>
              <a:endPara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( 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>
                  <a:solidFill>
                    <a:srgbClr val="032F62"/>
                  </a:solidFill>
                  <a:effectLst/>
                  <a:latin typeface="Consolas" panose="020B0609020204030204" pitchFamily="49" charset="0"/>
                </a:rPr>
                <a:t>"T"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runTime.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timeName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(),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mesh,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::MUST_READ,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::AUTO_WRITE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),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mesh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BEFBD7-903C-101D-5E2B-81BBAA9AA59F}"/>
                </a:ext>
              </a:extLst>
            </p:cNvPr>
            <p:cNvSpPr txBox="1"/>
            <p:nvPr/>
          </p:nvSpPr>
          <p:spPr>
            <a:xfrm>
              <a:off x="2192901" y="595315"/>
              <a:ext cx="2346130" cy="2688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volVectorField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U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IOobject</a:t>
              </a:r>
              <a:endPara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>
                  <a:solidFill>
                    <a:srgbClr val="032F62"/>
                  </a:solidFill>
                  <a:effectLst/>
                  <a:latin typeface="Consolas" panose="020B0609020204030204" pitchFamily="49" charset="0"/>
                </a:rPr>
                <a:t>"U"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runTime.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timeName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(),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mesh,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::MUST_READ,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::AUTO_WRITE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),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mesh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1B6FB4-2E45-7835-EEAF-CB7B2A2B7253}"/>
                </a:ext>
              </a:extLst>
            </p:cNvPr>
            <p:cNvSpPr txBox="1"/>
            <p:nvPr/>
          </p:nvSpPr>
          <p:spPr>
            <a:xfrm>
              <a:off x="4413453" y="595315"/>
              <a:ext cx="3365093" cy="24705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GB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IOdictionary</a:t>
              </a: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GB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transportProperties</a:t>
              </a:r>
              <a:endParaRPr lang="en-GB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GB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IOobject</a:t>
              </a:r>
              <a:endParaRPr lang="en-GB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GB" sz="1050" b="0" dirty="0">
                  <a:solidFill>
                    <a:srgbClr val="032F62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GB" sz="1050" b="0" dirty="0" err="1">
                  <a:solidFill>
                    <a:srgbClr val="032F62"/>
                  </a:solidFill>
                  <a:effectLst/>
                  <a:latin typeface="Consolas" panose="020B0609020204030204" pitchFamily="49" charset="0"/>
                </a:rPr>
                <a:t>transportProperties</a:t>
              </a:r>
              <a:r>
                <a:rPr lang="en-GB" sz="1050" b="0" dirty="0">
                  <a:solidFill>
                    <a:srgbClr val="032F62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GB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runTime.</a:t>
              </a:r>
              <a:r>
                <a:rPr lang="en-GB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constant</a:t>
              </a: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(),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mesh,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GB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::MUST_READ_IF_MODIFIED,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GB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IOobject</a:t>
              </a: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::NO_WRITE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)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GB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B78CB83-EE8B-F339-32C9-9EA631A0DA31}"/>
                </a:ext>
              </a:extLst>
            </p:cNvPr>
            <p:cNvSpPr txBox="1"/>
            <p:nvPr/>
          </p:nvSpPr>
          <p:spPr>
            <a:xfrm>
              <a:off x="-608432" y="3411767"/>
              <a:ext cx="3309488" cy="18165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fvScalarMatrix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50" b="0" dirty="0" err="1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TEqn</a:t>
              </a:r>
              <a:endPara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(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fvm</a:t>
              </a:r>
              <a:r>
                <a:rPr lang="en-US" sz="1050" b="0" dirty="0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ddt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(T)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  </a:t>
              </a:r>
              <a:r>
                <a:rPr lang="en-US" sz="1050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+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fvm</a:t>
              </a:r>
              <a:r>
                <a:rPr lang="en-US" sz="1050" b="0" dirty="0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::div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(phi, T)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  </a:t>
              </a:r>
              <a:r>
                <a:rPr lang="en-US" sz="1050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-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fvm</a:t>
              </a:r>
              <a:r>
                <a:rPr lang="en-US" sz="1050" b="0" dirty="0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::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laplacian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(DT, T)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 </a:t>
              </a:r>
              <a:r>
                <a:rPr lang="en-US" sz="1050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==</a:t>
              </a:r>
              <a:endParaRPr lang="en-US" sz="105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    </a:t>
              </a:r>
              <a:r>
                <a:rPr lang="en-US" sz="1050" b="0" dirty="0" err="1">
                  <a:solidFill>
                    <a:srgbClr val="6F42C1"/>
                  </a:solidFill>
                  <a:effectLst/>
                  <a:latin typeface="Consolas" panose="020B0609020204030204" pitchFamily="49" charset="0"/>
                </a:rPr>
                <a:t>fvOptions</a:t>
              </a: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(T)</a:t>
              </a:r>
            </a:p>
            <a:p>
              <a:pPr>
                <a:lnSpc>
                  <a:spcPts val="1650"/>
                </a:lnSpc>
                <a:buNone/>
              </a:pPr>
              <a:r>
                <a:rPr lang="en-US" sz="105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            );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B81080-C2A4-5B08-3130-8F203C27E0E5}"/>
              </a:ext>
            </a:extLst>
          </p:cNvPr>
          <p:cNvGrpSpPr/>
          <p:nvPr/>
        </p:nvGrpSpPr>
        <p:grpSpPr>
          <a:xfrm>
            <a:off x="3608590" y="3223369"/>
            <a:ext cx="1796521" cy="3439570"/>
            <a:chOff x="3608590" y="3223369"/>
            <a:chExt cx="1796521" cy="3439570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1030C96-F7CB-61B3-73EA-030F82390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8590" y="3510164"/>
              <a:ext cx="1609725" cy="315277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C736726-467D-1444-A798-95B3F9A87A85}"/>
                </a:ext>
              </a:extLst>
            </p:cNvPr>
            <p:cNvSpPr txBox="1"/>
            <p:nvPr/>
          </p:nvSpPr>
          <p:spPr>
            <a:xfrm>
              <a:off x="3764082" y="3223369"/>
              <a:ext cx="883332" cy="2489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0000FF"/>
                  </a:solidFill>
                </a:rPr>
                <a:t>Solvers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74E1941-22E8-3E8C-4C4F-3212FD8FE45B}"/>
                </a:ext>
              </a:extLst>
            </p:cNvPr>
            <p:cNvSpPr txBox="1"/>
            <p:nvPr/>
          </p:nvSpPr>
          <p:spPr>
            <a:xfrm>
              <a:off x="4903914" y="3429000"/>
              <a:ext cx="501197" cy="31624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050" dirty="0">
                  <a:hlinkClick r:id="rId5" action="ppaction://hlinkfile"/>
                </a:rPr>
                <a:t>\\wsl.localhost\Ubuntu\mnt\wslg\distro\usr\lib\openfoam\openfoam2412\applications\solvers</a:t>
              </a:r>
              <a:endParaRPr lang="LID4096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0117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6443082-D3B0-1E4F-9F16-288A4E61A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109" y="2636243"/>
            <a:ext cx="7175141" cy="400016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0F5CDC-D8C9-A45E-C734-E821A819C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179" y="869404"/>
            <a:ext cx="8582025" cy="1304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9BE0FB-EA74-4E50-DA38-0125403C5F12}"/>
              </a:ext>
            </a:extLst>
          </p:cNvPr>
          <p:cNvSpPr txBox="1"/>
          <p:nvPr/>
        </p:nvSpPr>
        <p:spPr>
          <a:xfrm>
            <a:off x="11032148" y="5059929"/>
            <a:ext cx="355431" cy="2489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D84E6D-1468-38DC-7E78-073CA7302840}"/>
              </a:ext>
            </a:extLst>
          </p:cNvPr>
          <p:cNvSpPr txBox="1"/>
          <p:nvPr/>
        </p:nvSpPr>
        <p:spPr>
          <a:xfrm>
            <a:off x="9459443" y="3304533"/>
            <a:ext cx="242310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A424D7-D130-2A2D-9B15-860106949817}"/>
              </a:ext>
            </a:extLst>
          </p:cNvPr>
          <p:cNvSpPr txBox="1"/>
          <p:nvPr/>
        </p:nvSpPr>
        <p:spPr>
          <a:xfrm>
            <a:off x="4766173" y="3347835"/>
            <a:ext cx="242310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DAA5CD-C886-301F-44B9-0C3D0E65AFAD}"/>
              </a:ext>
            </a:extLst>
          </p:cNvPr>
          <p:cNvSpPr txBox="1"/>
          <p:nvPr/>
        </p:nvSpPr>
        <p:spPr>
          <a:xfrm>
            <a:off x="3409005" y="1684694"/>
            <a:ext cx="1342103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D2335F-70B3-1966-07DD-0998E721DC82}"/>
              </a:ext>
            </a:extLst>
          </p:cNvPr>
          <p:cNvSpPr txBox="1"/>
          <p:nvPr/>
        </p:nvSpPr>
        <p:spPr>
          <a:xfrm>
            <a:off x="8201319" y="5070488"/>
            <a:ext cx="284374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DE4700-3D82-2E2A-9DE6-549BB5F06143}"/>
              </a:ext>
            </a:extLst>
          </p:cNvPr>
          <p:cNvSpPr txBox="1"/>
          <p:nvPr/>
        </p:nvSpPr>
        <p:spPr>
          <a:xfrm>
            <a:off x="4766173" y="4221758"/>
            <a:ext cx="242310" cy="2489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40A6C-D3FB-18C2-4BFE-62C2D1C23660}"/>
              </a:ext>
            </a:extLst>
          </p:cNvPr>
          <p:cNvSpPr txBox="1"/>
          <p:nvPr/>
        </p:nvSpPr>
        <p:spPr>
          <a:xfrm>
            <a:off x="10854432" y="4387390"/>
            <a:ext cx="863086" cy="2489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BBC925-F3BD-99A1-FEEB-20183EBFB522}"/>
              </a:ext>
            </a:extLst>
          </p:cNvPr>
          <p:cNvSpPr txBox="1"/>
          <p:nvPr/>
        </p:nvSpPr>
        <p:spPr>
          <a:xfrm>
            <a:off x="4780669" y="4683672"/>
            <a:ext cx="227814" cy="2489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1A8869-2423-8A78-C72A-28388487BCF6}"/>
              </a:ext>
            </a:extLst>
          </p:cNvPr>
          <p:cNvSpPr txBox="1"/>
          <p:nvPr/>
        </p:nvSpPr>
        <p:spPr>
          <a:xfrm>
            <a:off x="4766173" y="3809749"/>
            <a:ext cx="242310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087809-4C44-51A1-C90B-385D7C6C4B50}"/>
              </a:ext>
            </a:extLst>
          </p:cNvPr>
          <p:cNvSpPr txBox="1"/>
          <p:nvPr/>
        </p:nvSpPr>
        <p:spPr>
          <a:xfrm>
            <a:off x="9030701" y="6295972"/>
            <a:ext cx="1342103" cy="2489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0000FF"/>
                </a:solidFill>
              </a:rPr>
              <a:t> / density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0CBBD3-84C5-FF6B-4885-8E74898EC8CF}"/>
              </a:ext>
            </a:extLst>
          </p:cNvPr>
          <p:cNvSpPr txBox="1"/>
          <p:nvPr/>
        </p:nvSpPr>
        <p:spPr>
          <a:xfrm>
            <a:off x="151064" y="3256950"/>
            <a:ext cx="26139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04_b_shockTube_pitzDaily</a:t>
            </a:r>
          </a:p>
          <a:p>
            <a:r>
              <a:rPr lang="en-GB" dirty="0"/>
              <a:t>           </a:t>
            </a:r>
            <a:r>
              <a:rPr lang="en-GB" noProof="0" dirty="0"/>
              <a:t>Transport Case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D9AB0BA-EB4A-DC50-4FC5-39337222092A}"/>
              </a:ext>
            </a:extLst>
          </p:cNvPr>
          <p:cNvGrpSpPr>
            <a:grpSpLocks noChangeAspect="1"/>
          </p:cNvGrpSpPr>
          <p:nvPr/>
        </p:nvGrpSpPr>
        <p:grpSpPr>
          <a:xfrm>
            <a:off x="555480" y="3839950"/>
            <a:ext cx="3743891" cy="2524461"/>
            <a:chOff x="98414" y="3464699"/>
            <a:chExt cx="4637671" cy="312712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11D64A66-2894-2D05-9155-B9473B124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2858" y="3565962"/>
              <a:ext cx="1993227" cy="302586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402645B-C0BA-9772-632F-162271B05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414" y="3464699"/>
              <a:ext cx="2476394" cy="3127126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48BE00F-1C02-9BF9-767A-0C46B0487C56}"/>
              </a:ext>
            </a:extLst>
          </p:cNvPr>
          <p:cNvSpPr txBox="1"/>
          <p:nvPr/>
        </p:nvSpPr>
        <p:spPr>
          <a:xfrm>
            <a:off x="2872084" y="4307500"/>
            <a:ext cx="1771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sz="1100" noProof="0" dirty="0"/>
              <a:t>Numerical </a:t>
            </a:r>
            <a:r>
              <a:rPr lang="en-GB" sz="1400" noProof="0" dirty="0">
                <a:solidFill>
                  <a:srgbClr val="FF0000"/>
                </a:solidFill>
              </a:rPr>
              <a:t>Diffusion</a:t>
            </a:r>
          </a:p>
          <a:p>
            <a:r>
              <a:rPr lang="en-GB" sz="1100" dirty="0"/>
              <a:t>Physical     </a:t>
            </a:r>
            <a:r>
              <a:rPr lang="en-GB" sz="1400" dirty="0">
                <a:solidFill>
                  <a:srgbClr val="FF0000"/>
                </a:solidFill>
              </a:rPr>
              <a:t>Diffusion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2496B6C-EDE2-BED2-E76E-CAC4B12E3B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6" y="368183"/>
            <a:ext cx="1909609" cy="26339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1946CD6-16C3-46D4-4122-48ED8291A4A3}"/>
              </a:ext>
            </a:extLst>
          </p:cNvPr>
          <p:cNvSpPr txBox="1"/>
          <p:nvPr/>
        </p:nvSpPr>
        <p:spPr>
          <a:xfrm>
            <a:off x="3043702" y="3670115"/>
            <a:ext cx="142867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Convection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7F76B21E-E363-8BCB-E340-004449049A6E}"/>
              </a:ext>
            </a:extLst>
          </p:cNvPr>
          <p:cNvSpPr/>
          <p:nvPr/>
        </p:nvSpPr>
        <p:spPr>
          <a:xfrm>
            <a:off x="470780" y="368183"/>
            <a:ext cx="362139" cy="1460617"/>
          </a:xfrm>
          <a:prstGeom prst="lef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F9BD9146-2B61-FE7E-B413-E00289C30892}"/>
              </a:ext>
            </a:extLst>
          </p:cNvPr>
          <p:cNvSpPr/>
          <p:nvPr/>
        </p:nvSpPr>
        <p:spPr>
          <a:xfrm>
            <a:off x="469271" y="1887219"/>
            <a:ext cx="362139" cy="1114908"/>
          </a:xfrm>
          <a:prstGeom prst="lef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3D9C32-9072-10E8-1D27-3C26D52A28B1}"/>
              </a:ext>
            </a:extLst>
          </p:cNvPr>
          <p:cNvSpPr txBox="1"/>
          <p:nvPr/>
        </p:nvSpPr>
        <p:spPr>
          <a:xfrm>
            <a:off x="3023747" y="5220887"/>
            <a:ext cx="17719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Convection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0025FF3-1AF6-FD7F-190F-2251626DB42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3059"/>
          <a:stretch>
            <a:fillRect/>
          </a:stretch>
        </p:blipFill>
        <p:spPr>
          <a:xfrm>
            <a:off x="2749823" y="2508036"/>
            <a:ext cx="1540470" cy="130492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F1ECC0E-FF07-4F7C-E791-C5EEB05F5CEE}"/>
              </a:ext>
            </a:extLst>
          </p:cNvPr>
          <p:cNvSpPr/>
          <p:nvPr/>
        </p:nvSpPr>
        <p:spPr>
          <a:xfrm>
            <a:off x="3068179" y="5911913"/>
            <a:ext cx="1141682" cy="253916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D84043-7FAC-A4C3-8A39-59D592E32B57}"/>
              </a:ext>
            </a:extLst>
          </p:cNvPr>
          <p:cNvSpPr txBox="1"/>
          <p:nvPr/>
        </p:nvSpPr>
        <p:spPr>
          <a:xfrm>
            <a:off x="4732967" y="214998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dirty="0">
                <a:solidFill>
                  <a:srgbClr val="FF0000"/>
                </a:solidFill>
              </a:rPr>
              <a:t>scalarTransportFoam</a:t>
            </a:r>
          </a:p>
        </p:txBody>
      </p:sp>
    </p:spTree>
    <p:extLst>
      <p:ext uri="{BB962C8B-B14F-4D97-AF65-F5344CB8AC3E}">
        <p14:creationId xmlns:p14="http://schemas.microsoft.com/office/powerpoint/2010/main" val="2240159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3EC8E5-3E6B-6D65-34D0-781331A9C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82" y="784478"/>
            <a:ext cx="5048250" cy="6381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C7319B-1B38-8435-F587-FC016BE7B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392" y="1713732"/>
            <a:ext cx="2686050" cy="9525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76CA7-EF47-6C5B-B07B-A53F8498E692}"/>
                  </a:ext>
                </a:extLst>
              </p:cNvPr>
              <p:cNvSpPr txBox="1"/>
              <p:nvPr/>
            </p:nvSpPr>
            <p:spPr>
              <a:xfrm>
                <a:off x="846782" y="1800672"/>
                <a:ext cx="6716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pt-BR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LID4096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F76CA7-EF47-6C5B-B07B-A53F8498E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782" y="1800672"/>
                <a:ext cx="671658" cy="276999"/>
              </a:xfrm>
              <a:prstGeom prst="rect">
                <a:avLst/>
              </a:prstGeom>
              <a:blipFill>
                <a:blip r:embed="rId4"/>
                <a:stretch>
                  <a:fillRect l="-8182" r="-8182" b="-652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5D5367-EE13-35B6-217A-6F6EC9EE4545}"/>
                  </a:ext>
                </a:extLst>
              </p:cNvPr>
              <p:cNvSpPr txBox="1"/>
              <p:nvPr/>
            </p:nvSpPr>
            <p:spPr>
              <a:xfrm>
                <a:off x="912505" y="1523673"/>
                <a:ext cx="6059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ρ</m:t>
                    </m:r>
                    <m:r>
                      <a:rPr lang="pt-BR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>
                    <a:solidFill>
                      <a:srgbClr val="0000FF"/>
                    </a:solidFill>
                  </a:rPr>
                  <a:t> </a:t>
                </a:r>
                <a:endParaRPr lang="LID4096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5D5367-EE13-35B6-217A-6F6EC9EE4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05" y="1523673"/>
                <a:ext cx="605935" cy="276999"/>
              </a:xfrm>
              <a:prstGeom prst="rect">
                <a:avLst/>
              </a:prstGeom>
              <a:blipFill>
                <a:blip r:embed="rId5"/>
                <a:stretch>
                  <a:fillRect l="-14141" r="-4040" b="-2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6D0CAC-811B-5969-CEAD-69D929761E5E}"/>
                  </a:ext>
                </a:extLst>
              </p:cNvPr>
              <p:cNvSpPr txBox="1"/>
              <p:nvPr/>
            </p:nvSpPr>
            <p:spPr>
              <a:xfrm>
                <a:off x="830751" y="2142900"/>
                <a:ext cx="7037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m:rPr>
                          <m:sty m:val="p"/>
                        </m:rPr>
                        <a:rPr lang="el-GR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pt-BR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LID4096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6D0CAC-811B-5969-CEAD-69D929761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51" y="2142900"/>
                <a:ext cx="703719" cy="276999"/>
              </a:xfrm>
              <a:prstGeom prst="rect">
                <a:avLst/>
              </a:prstGeom>
              <a:blipFill>
                <a:blip r:embed="rId6"/>
                <a:stretch>
                  <a:fillRect l="-6897" r="-7759" b="-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DF84D48B-968C-F7C8-F7CC-9FC4CA8AEB7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5975" b="38440"/>
          <a:stretch>
            <a:fillRect/>
          </a:stretch>
        </p:blipFill>
        <p:spPr>
          <a:xfrm>
            <a:off x="830751" y="2821020"/>
            <a:ext cx="5445049" cy="874287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F1F819D-C7A7-6BF9-CC76-B8B70DE964C3}"/>
              </a:ext>
            </a:extLst>
          </p:cNvPr>
          <p:cNvGrpSpPr/>
          <p:nvPr/>
        </p:nvGrpSpPr>
        <p:grpSpPr>
          <a:xfrm>
            <a:off x="8971865" y="4658748"/>
            <a:ext cx="2930034" cy="1846982"/>
            <a:chOff x="8698488" y="4135955"/>
            <a:chExt cx="2930034" cy="184698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C180BB-6CCB-3188-B7DE-AA65ECF6D112}"/>
                </a:ext>
              </a:extLst>
            </p:cNvPr>
            <p:cNvSpPr txBox="1"/>
            <p:nvPr/>
          </p:nvSpPr>
          <p:spPr>
            <a:xfrm>
              <a:off x="8698488" y="4135955"/>
              <a:ext cx="17719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Finite Volumes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036FFF1-FF1E-B898-C859-A25DDFFC2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98488" y="4397565"/>
              <a:ext cx="2930034" cy="158537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1CD196F-CCAE-2D37-FF4D-73F1DF0DB2D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319" t="61232" r="26376"/>
          <a:stretch>
            <a:fillRect/>
          </a:stretch>
        </p:blipFill>
        <p:spPr>
          <a:xfrm>
            <a:off x="6353666" y="2966694"/>
            <a:ext cx="3120272" cy="952500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976B8C2F-9F0C-CE77-D8D0-8A49C7ABB78F}"/>
              </a:ext>
            </a:extLst>
          </p:cNvPr>
          <p:cNvGrpSpPr/>
          <p:nvPr/>
        </p:nvGrpSpPr>
        <p:grpSpPr>
          <a:xfrm>
            <a:off x="5047705" y="539359"/>
            <a:ext cx="950514" cy="883294"/>
            <a:chOff x="9845949" y="5571569"/>
            <a:chExt cx="950514" cy="883294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1CE4B0A-84F0-0F39-D988-55A682B62B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5949" y="5681017"/>
              <a:ext cx="645765" cy="773846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D8BB45-0E13-5097-42E6-18021157EDB6}"/>
                </a:ext>
              </a:extLst>
            </p:cNvPr>
            <p:cNvSpPr txBox="1"/>
            <p:nvPr/>
          </p:nvSpPr>
          <p:spPr>
            <a:xfrm>
              <a:off x="10491714" y="5571569"/>
              <a:ext cx="304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0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CF898667-60C3-5709-9A78-EC3EF596D130}"/>
              </a:ext>
            </a:extLst>
          </p:cNvPr>
          <p:cNvSpPr/>
          <p:nvPr/>
        </p:nvSpPr>
        <p:spPr>
          <a:xfrm>
            <a:off x="3412502" y="2938413"/>
            <a:ext cx="2816163" cy="87428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416105-32AC-03CD-3B15-8C1CCCBA24FC}"/>
              </a:ext>
            </a:extLst>
          </p:cNvPr>
          <p:cNvSpPr/>
          <p:nvPr/>
        </p:nvSpPr>
        <p:spPr>
          <a:xfrm>
            <a:off x="1799530" y="649386"/>
            <a:ext cx="1283035" cy="87428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9CD027C-106B-FFC6-7A94-950AAE00276B}"/>
              </a:ext>
            </a:extLst>
          </p:cNvPr>
          <p:cNvGrpSpPr/>
          <p:nvPr/>
        </p:nvGrpSpPr>
        <p:grpSpPr>
          <a:xfrm>
            <a:off x="4095995" y="3945127"/>
            <a:ext cx="3181497" cy="874287"/>
            <a:chOff x="4095995" y="3454933"/>
            <a:chExt cx="3181497" cy="874287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9E54072-3367-DF3D-0A98-A9C3C4FF7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95995" y="3606234"/>
              <a:ext cx="3038475" cy="476250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3239A9D-0ADF-220B-93D2-B20EA6866E6D}"/>
                </a:ext>
              </a:extLst>
            </p:cNvPr>
            <p:cNvSpPr/>
            <p:nvPr/>
          </p:nvSpPr>
          <p:spPr>
            <a:xfrm>
              <a:off x="5895031" y="3454933"/>
              <a:ext cx="1382461" cy="874287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3E836440-1885-9916-775F-15351BF768F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6356"/>
          <a:stretch>
            <a:fillRect/>
          </a:stretch>
        </p:blipFill>
        <p:spPr>
          <a:xfrm>
            <a:off x="2111604" y="4965537"/>
            <a:ext cx="5194170" cy="98186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320B2D9-0B18-99EB-4450-0DCD50A6C253}"/>
              </a:ext>
            </a:extLst>
          </p:cNvPr>
          <p:cNvSpPr/>
          <p:nvPr/>
        </p:nvSpPr>
        <p:spPr>
          <a:xfrm>
            <a:off x="1970203" y="4951841"/>
            <a:ext cx="2017336" cy="87428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2F37BB-EBB3-B690-4D63-9EF3801FD4FF}"/>
              </a:ext>
            </a:extLst>
          </p:cNvPr>
          <p:cNvCxnSpPr/>
          <p:nvPr/>
        </p:nvCxnSpPr>
        <p:spPr>
          <a:xfrm>
            <a:off x="4854804" y="3572759"/>
            <a:ext cx="7070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C466EE2-0666-50D7-F1D1-0750255D46FB}"/>
              </a:ext>
            </a:extLst>
          </p:cNvPr>
          <p:cNvCxnSpPr/>
          <p:nvPr/>
        </p:nvCxnSpPr>
        <p:spPr>
          <a:xfrm>
            <a:off x="3206685" y="5582239"/>
            <a:ext cx="7070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4AFD2EB-4866-46EA-8E2C-6ABE5350C327}"/>
              </a:ext>
            </a:extLst>
          </p:cNvPr>
          <p:cNvSpPr txBox="1"/>
          <p:nvPr/>
        </p:nvSpPr>
        <p:spPr>
          <a:xfrm>
            <a:off x="1970203" y="358307"/>
            <a:ext cx="17719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Convection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C4F52FC-4718-60D6-8C12-56947616F8AE}"/>
              </a:ext>
            </a:extLst>
          </p:cNvPr>
          <p:cNvCxnSpPr/>
          <p:nvPr/>
        </p:nvCxnSpPr>
        <p:spPr>
          <a:xfrm>
            <a:off x="1799530" y="1622982"/>
            <a:ext cx="128016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3BF3BD-D68B-3A37-1440-C08D0488C911}"/>
              </a:ext>
            </a:extLst>
          </p:cNvPr>
          <p:cNvCxnSpPr/>
          <p:nvPr/>
        </p:nvCxnSpPr>
        <p:spPr>
          <a:xfrm>
            <a:off x="924409" y="3862632"/>
            <a:ext cx="530352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49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6931C3-AC31-1BE2-11C7-79F8735FD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82" y="784478"/>
            <a:ext cx="5048250" cy="6381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664F5E4-1E7F-D5E7-AB89-8D00400B1EB8}"/>
              </a:ext>
            </a:extLst>
          </p:cNvPr>
          <p:cNvGrpSpPr/>
          <p:nvPr/>
        </p:nvGrpSpPr>
        <p:grpSpPr>
          <a:xfrm>
            <a:off x="5047705" y="539359"/>
            <a:ext cx="950514" cy="883294"/>
            <a:chOff x="9845949" y="5571569"/>
            <a:chExt cx="950514" cy="883294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67D4B1E-0A1B-A511-BB91-166C8CFED3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5949" y="5681017"/>
              <a:ext cx="645765" cy="773846"/>
            </a:xfrm>
            <a:prstGeom prst="straightConnector1">
              <a:avLst/>
            </a:prstGeom>
            <a:ln>
              <a:solidFill>
                <a:srgbClr val="00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DD2ADE-DFF6-2F45-1C70-EA45354F6391}"/>
                </a:ext>
              </a:extLst>
            </p:cNvPr>
            <p:cNvSpPr txBox="1"/>
            <p:nvPr/>
          </p:nvSpPr>
          <p:spPr>
            <a:xfrm>
              <a:off x="10491714" y="5571569"/>
              <a:ext cx="3047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 dirty="0"/>
                <a:t>0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2C84A507-2C5B-BE89-858C-DEBE19E4313C}"/>
              </a:ext>
            </a:extLst>
          </p:cNvPr>
          <p:cNvSpPr/>
          <p:nvPr/>
        </p:nvSpPr>
        <p:spPr>
          <a:xfrm>
            <a:off x="3402088" y="649386"/>
            <a:ext cx="1283035" cy="874287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3444D-50EB-3830-9FAA-70F42E5FA7F6}"/>
              </a:ext>
            </a:extLst>
          </p:cNvPr>
          <p:cNvSpPr txBox="1"/>
          <p:nvPr/>
        </p:nvSpPr>
        <p:spPr>
          <a:xfrm>
            <a:off x="3572761" y="358307"/>
            <a:ext cx="17719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Diffusion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2E92E0-772C-6B76-9AC6-C4B3999E1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842" y="1779145"/>
            <a:ext cx="3133725" cy="7048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0D950D-AE96-AF64-6A09-6F4158FB7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278" y="2631158"/>
            <a:ext cx="7105650" cy="11620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747FC6-A564-4BC6-3A3E-FBD7EEF114E7}"/>
              </a:ext>
            </a:extLst>
          </p:cNvPr>
          <p:cNvCxnSpPr/>
          <p:nvPr/>
        </p:nvCxnSpPr>
        <p:spPr>
          <a:xfrm>
            <a:off x="3874416" y="1329180"/>
            <a:ext cx="7070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4623F5-7BD6-0B42-91E1-5DEC35AD8A93}"/>
              </a:ext>
            </a:extLst>
          </p:cNvPr>
          <p:cNvCxnSpPr/>
          <p:nvPr/>
        </p:nvCxnSpPr>
        <p:spPr>
          <a:xfrm>
            <a:off x="4347329" y="3357513"/>
            <a:ext cx="7070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00FE23-0953-99DF-DD2C-9129EE6A5B5E}"/>
              </a:ext>
            </a:extLst>
          </p:cNvPr>
          <p:cNvCxnSpPr/>
          <p:nvPr/>
        </p:nvCxnSpPr>
        <p:spPr>
          <a:xfrm>
            <a:off x="6997832" y="3351228"/>
            <a:ext cx="70701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17BFC32-6F67-1314-824E-5825AC785078}"/>
              </a:ext>
            </a:extLst>
          </p:cNvPr>
          <p:cNvSpPr txBox="1"/>
          <p:nvPr/>
        </p:nvSpPr>
        <p:spPr>
          <a:xfrm>
            <a:off x="4484631" y="3401290"/>
            <a:ext cx="17719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Volume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352C05-E550-8F4B-C1B4-C837040A45B0}"/>
              </a:ext>
            </a:extLst>
          </p:cNvPr>
          <p:cNvSpPr txBox="1"/>
          <p:nvPr/>
        </p:nvSpPr>
        <p:spPr>
          <a:xfrm>
            <a:off x="7025786" y="3401290"/>
            <a:ext cx="17719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Surfaces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1A4F126-79CC-9470-CEE1-AAC1DFBF342F}"/>
              </a:ext>
            </a:extLst>
          </p:cNvPr>
          <p:cNvSpPr txBox="1"/>
          <p:nvPr/>
        </p:nvSpPr>
        <p:spPr>
          <a:xfrm>
            <a:off x="7281486" y="3553404"/>
            <a:ext cx="177191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Cell Faces 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E50773-6072-A483-4C21-EF9803BBBD36}"/>
              </a:ext>
            </a:extLst>
          </p:cNvPr>
          <p:cNvGrpSpPr/>
          <p:nvPr/>
        </p:nvGrpSpPr>
        <p:grpSpPr>
          <a:xfrm>
            <a:off x="8971865" y="4658748"/>
            <a:ext cx="2930034" cy="1846982"/>
            <a:chOff x="8698488" y="4135955"/>
            <a:chExt cx="2930034" cy="184698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061000-0B9E-8D93-1FB8-29BFEB41643B}"/>
                </a:ext>
              </a:extLst>
            </p:cNvPr>
            <p:cNvSpPr txBox="1"/>
            <p:nvPr/>
          </p:nvSpPr>
          <p:spPr>
            <a:xfrm>
              <a:off x="8698488" y="4135955"/>
              <a:ext cx="17719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/>
                <a:t>f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C657C97-6A00-6014-6F32-DCCC2A922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98488" y="4397565"/>
              <a:ext cx="2930034" cy="158537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4713ACFA-F30E-E7AD-8B0F-54C4985020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006" y="3429000"/>
            <a:ext cx="2174436" cy="28440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9BBF5A9-FFF4-B368-32FF-9EE698DCE633}"/>
              </a:ext>
            </a:extLst>
          </p:cNvPr>
          <p:cNvSpPr/>
          <p:nvPr/>
        </p:nvSpPr>
        <p:spPr>
          <a:xfrm>
            <a:off x="1252408" y="5053275"/>
            <a:ext cx="284162" cy="12198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1E635D1-FA99-7912-AD48-8F929537BD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3321" y="4220290"/>
            <a:ext cx="3563604" cy="229430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D1E03B5-D275-8D14-4D15-610AEEA150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1124" y="4158136"/>
            <a:ext cx="3308995" cy="53290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BED347C-1B45-47A2-0696-3FF866CA0F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5341" y="129975"/>
            <a:ext cx="4893768" cy="21362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B346058-FEFA-FD1E-4CAE-90EE118F97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1957" y="2339838"/>
            <a:ext cx="2809941" cy="50705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69C587C-911A-1A63-96B2-148E71B17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006" y="1709667"/>
            <a:ext cx="2174436" cy="1540225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0E4E47D-D5B8-C141-16D5-C39B3CB0F06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0848" t="8857" b="79704"/>
          <a:stretch>
            <a:fillRect/>
          </a:stretch>
        </p:blipFill>
        <p:spPr>
          <a:xfrm>
            <a:off x="325343" y="177197"/>
            <a:ext cx="2668857" cy="439962"/>
          </a:xfrm>
          <a:prstGeom prst="rect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ED467F5-D444-1A41-D334-718CE46F9493}"/>
              </a:ext>
            </a:extLst>
          </p:cNvPr>
          <p:cNvSpPr txBox="1"/>
          <p:nvPr/>
        </p:nvSpPr>
        <p:spPr>
          <a:xfrm>
            <a:off x="6556542" y="4827260"/>
            <a:ext cx="23468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FF0000"/>
                </a:solidFill>
                <a:latin typeface="CMBX12"/>
              </a:rPr>
              <a:t>4.4.1 Interpolation schemes</a:t>
            </a:r>
            <a:endParaRPr lang="LID4096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6FF3E7-C7CB-41FC-B157-7E7B92557382}"/>
              </a:ext>
            </a:extLst>
          </p:cNvPr>
          <p:cNvSpPr txBox="1"/>
          <p:nvPr/>
        </p:nvSpPr>
        <p:spPr>
          <a:xfrm>
            <a:off x="1571" y="6556041"/>
            <a:ext cx="10028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400" dirty="0"/>
              <a:t>E:\15_REPOS\a___________________\09_CFD_ON\04_OpenFoam</a:t>
            </a:r>
            <a:r>
              <a:rPr lang="pt-BR" sz="1400" dirty="0"/>
              <a:t>\</a:t>
            </a:r>
            <a:r>
              <a:rPr lang="pt-BR" sz="1400" b="1" dirty="0" err="1">
                <a:solidFill>
                  <a:srgbClr val="FF0000"/>
                </a:solidFill>
              </a:rPr>
              <a:t>UserGuide_Version</a:t>
            </a:r>
            <a:r>
              <a:rPr lang="pt-BR" sz="1400" b="1" dirty="0">
                <a:solidFill>
                  <a:srgbClr val="FF0000"/>
                </a:solidFill>
              </a:rPr>
              <a:t> 2.3.1.pdf</a:t>
            </a:r>
            <a:endParaRPr lang="LID4096" sz="1400" b="1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A3EF1DB-6E83-6370-F797-933367EDED79}"/>
              </a:ext>
            </a:extLst>
          </p:cNvPr>
          <p:cNvSpPr txBox="1"/>
          <p:nvPr/>
        </p:nvSpPr>
        <p:spPr>
          <a:xfrm>
            <a:off x="6550297" y="5437818"/>
            <a:ext cx="610385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100" dirty="0">
                <a:solidFill>
                  <a:srgbClr val="0000FF"/>
                </a:solidFill>
              </a:rPr>
              <a:t>4.4.1.2 Schemes for vector fields</a:t>
            </a:r>
          </a:p>
          <a:p>
            <a:r>
              <a:rPr lang="LID4096" sz="1100" dirty="0">
                <a:solidFill>
                  <a:srgbClr val="0000FF"/>
                </a:solidFill>
              </a:rPr>
              <a:t>4.4.2 Surface normal gradient schemes</a:t>
            </a:r>
          </a:p>
          <a:p>
            <a:r>
              <a:rPr lang="LID4096" sz="1100" dirty="0">
                <a:solidFill>
                  <a:srgbClr val="0000FF"/>
                </a:solidFill>
              </a:rPr>
              <a:t>4.4.3 Gradient schemes</a:t>
            </a:r>
          </a:p>
          <a:p>
            <a:r>
              <a:rPr lang="LID4096" sz="1100" dirty="0">
                <a:solidFill>
                  <a:srgbClr val="0000FF"/>
                </a:solidFill>
              </a:rPr>
              <a:t>4.4.4 Laplacian schemes</a:t>
            </a:r>
          </a:p>
          <a:p>
            <a:r>
              <a:rPr lang="LID4096" sz="1100" dirty="0">
                <a:solidFill>
                  <a:srgbClr val="0000FF"/>
                </a:solidFill>
              </a:rPr>
              <a:t>4.4.5 Divergence schemes</a:t>
            </a:r>
          </a:p>
        </p:txBody>
      </p:sp>
      <p:sp>
        <p:nvSpPr>
          <p:cNvPr id="44" name="Arrow: Down 43">
            <a:extLst>
              <a:ext uri="{FF2B5EF4-FFF2-40B4-BE49-F238E27FC236}">
                <a16:creationId xmlns:a16="http://schemas.microsoft.com/office/drawing/2014/main" id="{33CCCBE2-B6DC-C6ED-85FD-D9EB35015757}"/>
              </a:ext>
            </a:extLst>
          </p:cNvPr>
          <p:cNvSpPr/>
          <p:nvPr/>
        </p:nvSpPr>
        <p:spPr>
          <a:xfrm rot="7696881">
            <a:off x="2302398" y="415177"/>
            <a:ext cx="175414" cy="203496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26B9055-2D10-DD8B-6D09-969CE855DC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87593" y="3304383"/>
            <a:ext cx="1903901" cy="143627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9F3E7CE-CE71-FB2D-C7E0-724B97BE9424}"/>
              </a:ext>
            </a:extLst>
          </p:cNvPr>
          <p:cNvSpPr txBox="1"/>
          <p:nvPr/>
        </p:nvSpPr>
        <p:spPr>
          <a:xfrm>
            <a:off x="2670963" y="3813029"/>
            <a:ext cx="4431096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LID4096" sz="1200" dirty="0"/>
              <a:t>|| _upwind || _linear || _linearUpwind || _quick || _cubic ||</a:t>
            </a:r>
          </a:p>
        </p:txBody>
      </p:sp>
    </p:spTree>
    <p:extLst>
      <p:ext uri="{BB962C8B-B14F-4D97-AF65-F5344CB8AC3E}">
        <p14:creationId xmlns:p14="http://schemas.microsoft.com/office/powerpoint/2010/main" val="3640730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3803</TotalTime>
  <Words>734</Words>
  <Application>Microsoft Office PowerPoint</Application>
  <PresentationFormat>Widescreen</PresentationFormat>
  <Paragraphs>192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CMBX12</vt:lpstr>
      <vt:lpstr>Consolas</vt:lpstr>
      <vt:lpstr>LMRoman12-Regular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69</cp:revision>
  <dcterms:created xsi:type="dcterms:W3CDTF">2026-05-20T13:22:55Z</dcterms:created>
  <dcterms:modified xsi:type="dcterms:W3CDTF">2026-09-14T12:18:32Z</dcterms:modified>
</cp:coreProperties>
</file>