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hyperlink" Target="file:///\\wsl.localhost\Ubuntu\mnt\wslg\distro\usr\lib\openfoam\openfoam2412\applications\solvers" TargetMode="External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36.png"/><Relationship Id="rId10" Type="http://schemas.openxmlformats.org/officeDocument/2006/relationships/image" Target="../media/image45.png"/><Relationship Id="rId4" Type="http://schemas.openxmlformats.org/officeDocument/2006/relationships/image" Target="../media/image40.png"/><Relationship Id="rId9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vertices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(0 0 -0.05)</a:t>
            </a:r>
          </a:p>
          <a:p>
            <a:r>
              <a:rPr lang="en-US" sz="1050" dirty="0"/>
              <a:t>    (0.6 0 -0.05)</a:t>
            </a:r>
          </a:p>
          <a:p>
            <a:r>
              <a:rPr lang="en-US" sz="1050" dirty="0"/>
              <a:t>    (0 0.2 -0.05)</a:t>
            </a:r>
          </a:p>
          <a:p>
            <a:r>
              <a:rPr lang="en-US" sz="1050" dirty="0"/>
              <a:t>    (0.6 0.2 -0.05)</a:t>
            </a:r>
          </a:p>
          <a:p>
            <a:r>
              <a:rPr lang="en-US" sz="1050" dirty="0"/>
              <a:t>    (3 0.2 -0.05)</a:t>
            </a:r>
          </a:p>
          <a:p>
            <a:r>
              <a:rPr lang="en-US" sz="1050" dirty="0"/>
              <a:t>    (0 1 -0.05)</a:t>
            </a:r>
          </a:p>
          <a:p>
            <a:r>
              <a:rPr lang="en-US" sz="1050" dirty="0"/>
              <a:t>    (0.6 1 -0.05)</a:t>
            </a:r>
          </a:p>
          <a:p>
            <a:r>
              <a:rPr lang="en-US" sz="1050" dirty="0"/>
              <a:t>    (3 1 -0.05)</a:t>
            </a:r>
          </a:p>
          <a:p>
            <a:r>
              <a:rPr lang="en-US" sz="1050" dirty="0"/>
              <a:t>    (0 0 0.05)</a:t>
            </a:r>
          </a:p>
          <a:p>
            <a:r>
              <a:rPr lang="en-US" sz="1050" dirty="0"/>
              <a:t>    (0.6 0 0.05)</a:t>
            </a:r>
          </a:p>
          <a:p>
            <a:r>
              <a:rPr lang="en-US" sz="1050" dirty="0"/>
              <a:t>    (0 0.2 0.05)</a:t>
            </a:r>
          </a:p>
          <a:p>
            <a:r>
              <a:rPr lang="en-US" sz="1050" dirty="0"/>
              <a:t>    (0.6 0.2 0.05)</a:t>
            </a:r>
          </a:p>
          <a:p>
            <a:r>
              <a:rPr lang="en-US" sz="1050" dirty="0"/>
              <a:t>    (3 0.2 0.05)</a:t>
            </a:r>
          </a:p>
          <a:p>
            <a:r>
              <a:rPr lang="en-US" sz="1050" dirty="0"/>
              <a:t>    (0 1 0.05)</a:t>
            </a:r>
          </a:p>
          <a:p>
            <a:r>
              <a:rPr lang="en-US" sz="1050" dirty="0"/>
              <a:t>    (0.6 1 0.05)</a:t>
            </a:r>
          </a:p>
          <a:p>
            <a:r>
              <a:rPr lang="en-US" sz="1050" dirty="0"/>
              <a:t>    (3 1 0.05)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F627E-339E-533D-9471-545A08AE73E6}"/>
              </a:ext>
            </a:extLst>
          </p:cNvPr>
          <p:cNvSpPr txBox="1"/>
          <p:nvPr/>
        </p:nvSpPr>
        <p:spPr>
          <a:xfrm>
            <a:off x="1375954" y="0"/>
            <a:ext cx="37185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blocks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hex (0 1 3 2 8 9 11 10) </a:t>
            </a:r>
            <a:r>
              <a:rPr lang="en-US" sz="1050" dirty="0">
                <a:solidFill>
                  <a:srgbClr val="0000FF"/>
                </a:solidFill>
              </a:rPr>
              <a:t>(25 10 1)</a:t>
            </a:r>
            <a:r>
              <a:rPr lang="en-US" sz="1050" dirty="0"/>
              <a:t>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(2 3 6 5 10 11 14 13) (25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(3 4 7 6 11 12 15 14) (100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edges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90098-F73D-3BA8-1B5C-A54E9D6EA111}"/>
              </a:ext>
            </a:extLst>
          </p:cNvPr>
          <p:cNvSpPr txBox="1"/>
          <p:nvPr/>
        </p:nvSpPr>
        <p:spPr>
          <a:xfrm>
            <a:off x="4850674" y="22368"/>
            <a:ext cx="160237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inlet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patch;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(0 8 10 2)</a:t>
            </a:r>
          </a:p>
          <a:p>
            <a:r>
              <a:rPr lang="en-US" sz="1050" dirty="0"/>
              <a:t>            (2 10 13 5)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outlet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{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type patch;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faces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(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    (4 7 15 12)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);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}</a:t>
            </a:r>
          </a:p>
          <a:p>
            <a:r>
              <a:rPr lang="en-US" sz="1050" dirty="0"/>
              <a:t>    bottom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(0 1 9 8)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top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(5 13 14 6)</a:t>
            </a:r>
          </a:p>
          <a:p>
            <a:r>
              <a:rPr lang="en-US" sz="1050" dirty="0"/>
              <a:t>            (6 14 15 7)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  <a:endParaRPr lang="LID4096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A9D77A-19B6-B8B3-F42E-392909C893EF}"/>
              </a:ext>
            </a:extLst>
          </p:cNvPr>
          <p:cNvSpPr txBox="1"/>
          <p:nvPr/>
        </p:nvSpPr>
        <p:spPr>
          <a:xfrm>
            <a:off x="6709954" y="22368"/>
            <a:ext cx="185928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endParaRPr lang="en-US" sz="1050" dirty="0"/>
          </a:p>
          <a:p>
            <a:pPr lvl="1"/>
            <a:r>
              <a:rPr lang="en-US" sz="1050" dirty="0"/>
              <a:t>obstacle</a:t>
            </a:r>
          </a:p>
          <a:p>
            <a:pPr lvl="1"/>
            <a:r>
              <a:rPr lang="en-US" sz="1050" dirty="0"/>
              <a:t>    {</a:t>
            </a:r>
          </a:p>
          <a:p>
            <a:pPr lvl="1"/>
            <a:r>
              <a:rPr lang="en-US" sz="1050" dirty="0"/>
              <a:t>        type </a:t>
            </a:r>
            <a:r>
              <a:rPr lang="en-US" sz="1050" dirty="0">
                <a:solidFill>
                  <a:srgbClr val="0000FF"/>
                </a:solidFill>
              </a:rPr>
              <a:t>wall</a:t>
            </a:r>
            <a:r>
              <a:rPr lang="en-US" sz="1050" dirty="0"/>
              <a:t>;</a:t>
            </a:r>
          </a:p>
          <a:p>
            <a:pPr lvl="1"/>
            <a:r>
              <a:rPr lang="en-US" sz="1050" dirty="0"/>
              <a:t>        faces</a:t>
            </a:r>
          </a:p>
          <a:p>
            <a:pPr lvl="1"/>
            <a:r>
              <a:rPr lang="en-US" sz="1050" dirty="0"/>
              <a:t>        (</a:t>
            </a:r>
          </a:p>
          <a:p>
            <a:pPr lvl="1"/>
            <a:r>
              <a:rPr lang="en-US" sz="1050" dirty="0"/>
              <a:t>            (1 3 11 9)</a:t>
            </a:r>
          </a:p>
          <a:p>
            <a:pPr lvl="1"/>
            <a:r>
              <a:rPr lang="en-US" sz="1050" dirty="0"/>
              <a:t>            (3 4 12 11)</a:t>
            </a:r>
          </a:p>
          <a:p>
            <a:pPr lvl="1"/>
            <a:r>
              <a:rPr lang="en-US" sz="1050" dirty="0"/>
              <a:t>        );</a:t>
            </a:r>
          </a:p>
          <a:p>
            <a:pPr lvl="1"/>
            <a:r>
              <a:rPr lang="en-US" sz="1050" dirty="0"/>
              <a:t>    }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  <a:p>
            <a:pPr lvl="1"/>
            <a:r>
              <a:rPr lang="en-US" sz="1050" dirty="0" err="1"/>
              <a:t>mergePatchPairs</a:t>
            </a:r>
            <a:endParaRPr lang="en-US" sz="1050" dirty="0"/>
          </a:p>
          <a:p>
            <a:pPr lvl="1"/>
            <a:r>
              <a:rPr lang="en-US" sz="1050" dirty="0"/>
              <a:t>(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2BEF24-0035-6C2F-84E6-B0A681C00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78" y="1772979"/>
            <a:ext cx="2742406" cy="13894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C14CCF-4BFF-313D-AD9B-7312714FA942}"/>
              </a:ext>
            </a:extLst>
          </p:cNvPr>
          <p:cNvSpPr txBox="1"/>
          <p:nvPr/>
        </p:nvSpPr>
        <p:spPr>
          <a:xfrm>
            <a:off x="2887521" y="22368"/>
            <a:ext cx="470262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mesh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F999FE-4044-9898-FF95-9FD88133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63" y="3695597"/>
            <a:ext cx="3626032" cy="17570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B76521-C922-6CA1-DA66-70DB9D07B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978" y="4507363"/>
            <a:ext cx="4061791" cy="210611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6D97666-6249-9FEA-B07B-32171F4B9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79" y="244523"/>
            <a:ext cx="2302329" cy="382938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E546A47-D3CE-97B8-C716-942FC2F6C28E}"/>
              </a:ext>
            </a:extLst>
          </p:cNvPr>
          <p:cNvSpPr/>
          <p:nvPr/>
        </p:nvSpPr>
        <p:spPr>
          <a:xfrm>
            <a:off x="9196251" y="1010194"/>
            <a:ext cx="2862943" cy="161979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608320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BDCF9C-C1D7-DBFC-3F6A-5C6B97C1C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5949" y="4008000"/>
            <a:ext cx="1400793" cy="8312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EDFECB-13AA-A014-E4C3-FB50C12FB86E}"/>
              </a:ext>
            </a:extLst>
          </p:cNvPr>
          <p:cNvSpPr txBox="1"/>
          <p:nvPr/>
        </p:nvSpPr>
        <p:spPr>
          <a:xfrm>
            <a:off x="11066078" y="4649504"/>
            <a:ext cx="447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</a:rPr>
              <a:t>(T)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5A46ED8-CC33-92DA-BB5F-BA0AADDCAD63}"/>
              </a:ext>
            </a:extLst>
          </p:cNvPr>
          <p:cNvGrpSpPr/>
          <p:nvPr/>
        </p:nvGrpSpPr>
        <p:grpSpPr>
          <a:xfrm>
            <a:off x="8101480" y="5268987"/>
            <a:ext cx="3762375" cy="1295400"/>
            <a:chOff x="7529768" y="4495989"/>
            <a:chExt cx="3762375" cy="12954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758A133-EE8F-9362-75B0-C499C60AB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9768" y="4495989"/>
              <a:ext cx="3762375" cy="1295400"/>
            </a:xfrm>
            <a:prstGeom prst="rect">
              <a:avLst/>
            </a:prstGeom>
          </p:spPr>
        </p:pic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178E529-1F46-85DF-FF3F-2704BD0624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74237" y="4908019"/>
              <a:ext cx="645765" cy="773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771427-CE94-EE53-199F-12CC2DDC49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9043" y="4929376"/>
              <a:ext cx="645765" cy="773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-787541" y="0"/>
            <a:ext cx="8386978" cy="4655175"/>
            <a:chOff x="-608432" y="573115"/>
            <a:chExt cx="8386978" cy="46551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192901" y="5953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413453" y="59531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-608432" y="3411767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5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2E92E0-772C-6B76-9AC6-C4B3999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842" y="1779145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60D950D-AE96-AF64-6A09-6F4158FB71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278" y="2631158"/>
            <a:ext cx="7105650" cy="116205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4623F5-7BD6-0B42-91E1-5DEC35AD8A93}"/>
              </a:ext>
            </a:extLst>
          </p:cNvPr>
          <p:cNvCxnSpPr/>
          <p:nvPr/>
        </p:nvCxnSpPr>
        <p:spPr>
          <a:xfrm>
            <a:off x="4347329" y="3357513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00FE23-0953-99DF-DD2C-9129EE6A5B5E}"/>
              </a:ext>
            </a:extLst>
          </p:cNvPr>
          <p:cNvCxnSpPr/>
          <p:nvPr/>
        </p:nvCxnSpPr>
        <p:spPr>
          <a:xfrm>
            <a:off x="6997832" y="3351228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17BFC32-6F67-1314-824E-5825AC785078}"/>
              </a:ext>
            </a:extLst>
          </p:cNvPr>
          <p:cNvSpPr txBox="1"/>
          <p:nvPr/>
        </p:nvSpPr>
        <p:spPr>
          <a:xfrm>
            <a:off x="4484631" y="3401290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Volume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352C05-E550-8F4B-C1B4-C837040A45B0}"/>
              </a:ext>
            </a:extLst>
          </p:cNvPr>
          <p:cNvSpPr txBox="1"/>
          <p:nvPr/>
        </p:nvSpPr>
        <p:spPr>
          <a:xfrm>
            <a:off x="7025786" y="3401290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Surfaces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A4F126-79CC-9470-CEE1-AAC1DFBF342F}"/>
              </a:ext>
            </a:extLst>
          </p:cNvPr>
          <p:cNvSpPr txBox="1"/>
          <p:nvPr/>
        </p:nvSpPr>
        <p:spPr>
          <a:xfrm>
            <a:off x="7281486" y="3553404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Cell Faces 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AE50773-6072-A483-4C21-EF9803BBBD36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061000-0B9E-8D93-1FB8-29BFEB41643B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C657C97-6A00-6014-6F32-DCCC2A922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006" y="3429000"/>
            <a:ext cx="2174436" cy="28440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3321" y="4220290"/>
            <a:ext cx="3563604" cy="229430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1124" y="4158136"/>
            <a:ext cx="3308995" cy="53290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BED347C-1B45-47A2-0696-3FF866CA0F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5341" y="129975"/>
            <a:ext cx="4893768" cy="21362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B346058-FEFA-FD1E-4CAE-90EE118F97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1957" y="2339838"/>
            <a:ext cx="2809941" cy="50705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006" y="1709667"/>
            <a:ext cx="2174436" cy="1540225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0E4E47D-D5B8-C141-16D5-C39B3CB0F06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ED467F5-D444-1A41-D334-718CE46F9493}"/>
              </a:ext>
            </a:extLst>
          </p:cNvPr>
          <p:cNvSpPr txBox="1"/>
          <p:nvPr/>
        </p:nvSpPr>
        <p:spPr>
          <a:xfrm>
            <a:off x="6556542" y="4827260"/>
            <a:ext cx="23468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solidFill>
                  <a:srgbClr val="FF0000"/>
                </a:solidFill>
                <a:latin typeface="CMBX12"/>
              </a:rPr>
              <a:t>4.4.1 Interpolation schemes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F1DB-6E83-6370-F797-933367EDED79}"/>
              </a:ext>
            </a:extLst>
          </p:cNvPr>
          <p:cNvSpPr txBox="1"/>
          <p:nvPr/>
        </p:nvSpPr>
        <p:spPr>
          <a:xfrm>
            <a:off x="6550297" y="5437818"/>
            <a:ext cx="610385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100" dirty="0">
                <a:solidFill>
                  <a:srgbClr val="0000FF"/>
                </a:solidFill>
              </a:rPr>
              <a:t>4.4.1.2 Schemes for vector fields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4.4.2 Surface normal gradient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4.4.3 Gradient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4.4.4 Laplacian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4.4.5 Divergence schemes</a:t>
            </a:r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33CCCBE2-B6DC-C6ED-85FD-D9EB35015757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87593" y="330438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670963" y="3813029"/>
            <a:ext cx="4431096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LID4096" sz="1200" dirty="0"/>
              <a:t>|| _upwind || _linear || _linearUpwind || _quick || _cubic ||</a:t>
            </a:r>
          </a:p>
        </p:txBody>
      </p:sp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3803</TotalTime>
  <Words>734</Words>
  <Application>Microsoft Office PowerPoint</Application>
  <PresentationFormat>Widescreen</PresentationFormat>
  <Paragraphs>192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CMBX12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68</cp:revision>
  <dcterms:created xsi:type="dcterms:W3CDTF">2026-05-20T13:22:55Z</dcterms:created>
  <dcterms:modified xsi:type="dcterms:W3CDTF">2026-09-11T17:44:18Z</dcterms:modified>
</cp:coreProperties>
</file>